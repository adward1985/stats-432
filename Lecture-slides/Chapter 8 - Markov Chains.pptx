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  <p:sldId id="266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95" r:id="rId26"/>
    <p:sldId id="260" r:id="rId27"/>
    <p:sldId id="285" r:id="rId28"/>
    <p:sldId id="286" r:id="rId29"/>
    <p:sldId id="287" r:id="rId30"/>
    <p:sldId id="292" r:id="rId31"/>
    <p:sldId id="289" r:id="rId32"/>
    <p:sldId id="290" r:id="rId33"/>
    <p:sldId id="291" r:id="rId34"/>
    <p:sldId id="294" r:id="rId35"/>
    <p:sldId id="296" r:id="rId36"/>
    <p:sldId id="29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CC"/>
    <a:srgbClr val="FF0105"/>
    <a:srgbClr val="6E4533"/>
    <a:srgbClr val="0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1A16-44FB-4423-894A-F66A1F39D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68836-2772-4BCF-B2F3-6D000790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BB549-3BF8-4B43-83D7-A7544EFC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9ACFA-3449-402B-AB48-83D0FE53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E530-1937-4B19-AD36-0B260D52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6223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1495-9256-4788-A586-98934E6D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D8D8A-B70D-45C3-A46E-F4819ECDA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DE2A9-4A84-4F08-BE72-7CFC2445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E06DA-9DC8-4793-BC47-9C689E603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51BCE-B2CA-4F24-8780-55BB6A0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0915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2A08-3B88-4201-A3D1-6BDC9B8F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3EE32-094D-4B31-AB95-191417A3B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B8DA0-D663-4E24-934F-6135F730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110B4-D817-40F8-9F21-BDE0D4509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697CB-226F-42BF-BBF2-F2F2C248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937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9C63-7A77-498E-83BB-825A373E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12B1-6869-455D-B787-B9A417FBE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E1666-C8DA-4597-BDE5-B7019BC51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AA25C-BDB9-464D-BCCE-032B748C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5FDBB-FFA2-493D-86F4-657D5C35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004DC-5B76-4F8B-A55D-41FFFB1E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2862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E6D5-DB99-4AE1-9B94-500558DC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516ED-4595-49FA-97B6-10F46A7F6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1667B-4C84-47E0-BA33-4050C747E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72F7C-B609-447E-B775-8D87D1CEA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D23A4-8485-45CF-80C2-800C912BB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570F9-574F-475C-A83C-715DA13E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1E06B-E77C-4A2E-9328-56FEFC5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2289E-8469-4B44-8EA8-40453D61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200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0214-BC12-4637-91FD-ABEFFFDE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C60F-7763-4B64-80D0-B86E318F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8352D-D8D8-4A00-9533-5A89F5B0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222F7-FF85-4E64-A7A2-D8696FDE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177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E5220-F724-45DF-BD91-FF4FED73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8AD07-CE0C-40CE-B4DC-5E80775E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2DCAA-7F03-4230-87D0-DFCBB226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9849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ED78-5F9D-4972-86C2-DBBDAC69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8E96-603F-4802-89C9-F0E54E9BC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7DE77-E66F-4DBA-AA14-2838B7C89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C6C43-9B09-4AE0-B204-C35DF9FF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72004-E7F5-443D-9E10-9E00093D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0DDD7-2203-4C2A-A616-1822962B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1364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44FA-760A-4BC3-88AE-28BAE062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16422-2B7E-4C80-A071-71D7F07B4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43CD3-A7DF-422B-B38B-5584DB389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FEF6D-2F08-4EAB-B7FF-ED24657E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BF7E0-0C0D-4B52-8EE6-83DCE5FB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A77BC-3EB6-444C-9450-AE99B931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7913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BF57-0A31-4322-854C-0987679D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9637E-E6B5-45C9-BDF4-333911E28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89F8-4819-45D8-8632-AF0BCE10F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A0AD8-4F2D-434B-966F-A33C5432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C6F59-FB29-41E5-8425-4269F8A3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877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AAA54-5E08-4105-AE7C-6EAB903A1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8EC6D-352B-481B-9D43-6D8549580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7FA9D-9083-415E-96E6-A372C034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67DDB-7799-4FBB-ABF3-182D0B99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7B6D7-00FB-44AA-9102-B1DBB62B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9520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09ADF-1E88-4AA7-82EE-F25AE7B7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5FA0E-2D97-4057-BE8C-FB41D5B5F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21B18-20A8-4107-B303-932A20192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F9836-DD01-4C5E-BB86-EF1CDD695ABF}" type="datetimeFigureOut">
              <a:rPr lang="en-NZ" smtClean="0"/>
              <a:t>29/09/2022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0607E-00D2-4003-84DE-BD9E5A839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F2476-C4A4-4643-9058-4C8BD8F66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40C3D-D086-448E-A2CD-10F99288F5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4188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0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7" Type="http://schemas.openxmlformats.org/officeDocument/2006/relationships/image" Target="../media/image1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0.png"/><Relationship Id="rId5" Type="http://schemas.openxmlformats.org/officeDocument/2006/relationships/image" Target="../media/image1090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2.png"/><Relationship Id="rId7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2.png"/><Relationship Id="rId7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10" Type="http://schemas.openxmlformats.org/officeDocument/2006/relationships/image" Target="../media/image134.png"/><Relationship Id="rId4" Type="http://schemas.openxmlformats.org/officeDocument/2006/relationships/image" Target="../media/image131.png"/><Relationship Id="rId9" Type="http://schemas.openxmlformats.org/officeDocument/2006/relationships/image" Target="../media/image1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35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STATS 432 </a:t>
            </a:r>
            <a:br>
              <a:rPr kumimoji="0" lang="en-NZ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NZ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8 </a:t>
            </a:r>
            <a:r>
              <a:rPr kumimoji="0" lang="en-NZ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4500" b="1" dirty="0">
                <a:solidFill>
                  <a:srgbClr val="FFC000"/>
                </a:solidFill>
                <a:latin typeface="Calibri" panose="020F0502020204030204"/>
              </a:rPr>
              <a:t>8.1 – Discrete State Space Markov Chains</a:t>
            </a:r>
            <a:endParaRPr kumimoji="0" lang="en-NZ" sz="4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8.1a – Definition of a Markov Chain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68512"/>
                <a:ext cx="11608680" cy="8602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Suppose we have a 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sequence of random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indexed by discrete time intervals 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t = 0, 1, … , ∞ </a:t>
                </a:r>
                <a:br>
                  <a:rPr lang="en-NZ" altLang="ja-JP" sz="2000" i="1" dirty="0">
                    <a:solidFill>
                      <a:prstClr val="black"/>
                    </a:solidFill>
                  </a:rPr>
                </a:br>
                <a:r>
                  <a:rPr lang="en-NZ" altLang="ja-JP" sz="2000" dirty="0">
                    <a:solidFill>
                      <a:prstClr val="black"/>
                    </a:solidFill>
                  </a:rPr>
                  <a:t>that take discrete values in</a:t>
                </a:r>
                <a:r>
                  <a:rPr lang="en-NZ" altLang="ja-JP" sz="2000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the (</a:t>
                </a:r>
                <a:r>
                  <a:rPr lang="en-NZ" altLang="ja-JP" sz="2000" b="1" dirty="0">
                    <a:solidFill>
                      <a:prstClr val="black"/>
                    </a:solidFill>
                  </a:rPr>
                  <a:t>finite or countable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) state space 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S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. </a:t>
                </a:r>
                <a:endParaRPr kumimoji="1" lang="en-US" altLang="ja-JP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68512"/>
                <a:ext cx="11608680" cy="860288"/>
              </a:xfrm>
              <a:prstGeom prst="rect">
                <a:avLst/>
              </a:prstGeom>
              <a:blipFill>
                <a:blip r:embed="rId3"/>
                <a:stretch>
                  <a:fillRect l="-525" b="-85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AF4A1B61-A050-C704-0176-6E23B12F97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688" y="2803419"/>
                <a:ext cx="11608680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, …,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NZ" altLang="ja-JP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NZ" altLang="ja-JP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ja-JP" sz="2000" b="1" dirty="0">
                  <a:solidFill>
                    <a:prstClr val="black"/>
                  </a:solidFill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AF4A1B61-A050-C704-0176-6E23B12F9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88" y="2803419"/>
                <a:ext cx="11608680" cy="607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6688076-7C64-9F03-3894-3E9C3D73268C}"/>
              </a:ext>
            </a:extLst>
          </p:cNvPr>
          <p:cNvSpPr txBox="1">
            <a:spLocks/>
          </p:cNvSpPr>
          <p:nvPr/>
        </p:nvSpPr>
        <p:spPr>
          <a:xfrm>
            <a:off x="153688" y="3230202"/>
            <a:ext cx="11608680" cy="5003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i.e. the state of the random variable at time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depends only on the state of the random variable at time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t-1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.</a:t>
            </a:r>
            <a:endParaRPr lang="en-NZ" altLang="ja-JP" sz="16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074D5AE-9F79-A112-4E1C-6F545D872576}"/>
              </a:ext>
            </a:extLst>
          </p:cNvPr>
          <p:cNvSpPr txBox="1">
            <a:spLocks/>
          </p:cNvSpPr>
          <p:nvPr/>
        </p:nvSpPr>
        <p:spPr>
          <a:xfrm>
            <a:off x="419547" y="3607970"/>
            <a:ext cx="11608680" cy="5003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… t</a:t>
            </a:r>
            <a:r>
              <a:rPr kumimoji="1" lang="en-NZ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hen this sequence is known as a Markov Chain (MC).</a:t>
            </a:r>
            <a:endParaRPr kumimoji="1" lang="en-US" altLang="ja-JP" sz="2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D3FAC3F-D1D6-4162-4A16-8FB194B0A4CF}"/>
              </a:ext>
            </a:extLst>
          </p:cNvPr>
          <p:cNvSpPr txBox="1">
            <a:spLocks/>
          </p:cNvSpPr>
          <p:nvPr/>
        </p:nvSpPr>
        <p:spPr>
          <a:xfrm>
            <a:off x="319464" y="4584511"/>
            <a:ext cx="11608680" cy="354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In the context of Stat 432 we will consider only Markov Chains that are:</a:t>
            </a:r>
            <a:endParaRPr kumimoji="1" lang="en-US" altLang="ja-JP" sz="2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961EFD6-A564-4A11-472B-6DD80286E8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752" y="5050364"/>
                <a:ext cx="11027391" cy="113229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NZ" altLang="ja-JP" sz="1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Discrete time </a:t>
                </a:r>
                <a:r>
                  <a:rPr lang="en-NZ" altLang="ja-JP" sz="16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- </a:t>
                </a:r>
                <a:r>
                  <a:rPr kumimoji="1" lang="en-NZ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transitions between states are made at discrete time intervals</a:t>
                </a:r>
                <a:endParaRPr lang="en-NZ" altLang="ja-JP" sz="1600" dirty="0">
                  <a:solidFill>
                    <a:prstClr val="black"/>
                  </a:solidFill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ja-JP" sz="1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First order </a:t>
                </a:r>
                <a:r>
                  <a:rPr lang="en-US" altLang="ja-JP" sz="16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- </a:t>
                </a:r>
                <a:r>
                  <a:rPr kumimoji="1" lang="en-US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state of the random variable at time </a:t>
                </a:r>
                <a:r>
                  <a:rPr kumimoji="1" lang="en-US" altLang="ja-JP" sz="16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</a:t>
                </a:r>
                <a:r>
                  <a:rPr kumimoji="1" lang="en-US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depends only on the state of the random variable at time </a:t>
                </a:r>
                <a:r>
                  <a:rPr kumimoji="1" lang="en-US" altLang="ja-JP" sz="16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t-1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ja-JP" sz="16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Time homogenous </a:t>
                </a:r>
                <a:r>
                  <a:rPr lang="en-US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- transition probabilities are constant over time, i.e.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sup>
                        </m:s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|</m:t>
                        </m:r>
                        <m:sSup>
                          <m:sSup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kumimoji="1" lang="en-US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=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sup>
                        </m:s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961EFD6-A564-4A11-472B-6DD80286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52" y="5050364"/>
                <a:ext cx="11027391" cy="1132293"/>
              </a:xfrm>
              <a:prstGeom prst="rect">
                <a:avLst/>
              </a:prstGeom>
              <a:blipFill>
                <a:blip r:embed="rId5"/>
                <a:stretch>
                  <a:fillRect l="-221" t="-161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4492F8C-378B-39D1-77E4-04C1325098D0}"/>
              </a:ext>
            </a:extLst>
          </p:cNvPr>
          <p:cNvSpPr txBox="1">
            <a:spLocks/>
          </p:cNvSpPr>
          <p:nvPr/>
        </p:nvSpPr>
        <p:spPr>
          <a:xfrm>
            <a:off x="319463" y="2311177"/>
            <a:ext cx="11608680" cy="4105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2000" dirty="0">
                <a:solidFill>
                  <a:prstClr val="black"/>
                </a:solidFill>
              </a:rPr>
              <a:t>If the sequence has the Markov property…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591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8.1b – Transition Probabilities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748159"/>
                <a:ext cx="11608680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discrete state space Markov Chain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can be defined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either by:</a:t>
                </a:r>
                <a:endParaRPr kumimoji="1" lang="en-US" altLang="ja-JP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748159"/>
                <a:ext cx="11608680" cy="607201"/>
              </a:xfrm>
              <a:prstGeom prst="rect">
                <a:avLst/>
              </a:prstGeom>
              <a:blipFill>
                <a:blip r:embed="rId3"/>
                <a:stretch>
                  <a:fillRect l="-5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32ACDEEC-0CFB-6193-0F6B-02C08FEADD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7881" y="1181413"/>
                <a:ext cx="11300346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transition matrix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𝒊𝒋</m:t>
                        </m:r>
                      </m:sub>
                    </m:sSub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describes the probability of the chain going from state </a:t>
                </a:r>
                <a:r>
                  <a:rPr kumimoji="1" lang="en-US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to state </a:t>
                </a:r>
                <a:r>
                  <a:rPr kumimoji="1" lang="en-US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marL="285750" marR="0" lvl="0" indent="-28575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 weighted directed graph </a:t>
                </a:r>
                <a:r>
                  <a:rPr lang="en-US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32ACDEEC-0CFB-6193-0F6B-02C08FEA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81" y="1181413"/>
                <a:ext cx="11300346" cy="607201"/>
              </a:xfrm>
              <a:prstGeom prst="rect">
                <a:avLst/>
              </a:prstGeom>
              <a:blipFill>
                <a:blip r:embed="rId4"/>
                <a:stretch>
                  <a:fillRect l="-324" t="-5051" b="-2626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27FB3197-7433-04A2-32B6-C64BB29AF9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66" y="2500630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27FB3197-7433-04A2-32B6-C64BB29A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66" y="2500630"/>
                <a:ext cx="4085230" cy="14152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A20E89A-5654-96A3-63EB-2E544859117D}"/>
              </a:ext>
            </a:extLst>
          </p:cNvPr>
          <p:cNvSpPr txBox="1">
            <a:spLocks/>
          </p:cNvSpPr>
          <p:nvPr/>
        </p:nvSpPr>
        <p:spPr>
          <a:xfrm>
            <a:off x="903816" y="21834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952514A-1239-087E-3CC2-D2162B209533}"/>
              </a:ext>
            </a:extLst>
          </p:cNvPr>
          <p:cNvSpPr txBox="1">
            <a:spLocks/>
          </p:cNvSpPr>
          <p:nvPr/>
        </p:nvSpPr>
        <p:spPr>
          <a:xfrm>
            <a:off x="1552085" y="21834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4EA33AB-4D05-99C1-69B0-C962412BF8D9}"/>
              </a:ext>
            </a:extLst>
          </p:cNvPr>
          <p:cNvSpPr txBox="1">
            <a:spLocks/>
          </p:cNvSpPr>
          <p:nvPr/>
        </p:nvSpPr>
        <p:spPr>
          <a:xfrm>
            <a:off x="2232546" y="21834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86D6D1B-64C2-9D5C-F038-E18659C36022}"/>
              </a:ext>
            </a:extLst>
          </p:cNvPr>
          <p:cNvSpPr txBox="1">
            <a:spLocks/>
          </p:cNvSpPr>
          <p:nvPr/>
        </p:nvSpPr>
        <p:spPr>
          <a:xfrm>
            <a:off x="2913007" y="22019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798D179-F334-C19D-DBC7-92F7C581FC07}"/>
              </a:ext>
            </a:extLst>
          </p:cNvPr>
          <p:cNvSpPr txBox="1">
            <a:spLocks/>
          </p:cNvSpPr>
          <p:nvPr/>
        </p:nvSpPr>
        <p:spPr>
          <a:xfrm>
            <a:off x="3561276" y="22019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487AD05-5CDD-6790-8CCB-9D5337B13586}"/>
              </a:ext>
            </a:extLst>
          </p:cNvPr>
          <p:cNvSpPr txBox="1">
            <a:spLocks/>
          </p:cNvSpPr>
          <p:nvPr/>
        </p:nvSpPr>
        <p:spPr>
          <a:xfrm>
            <a:off x="403746" y="24821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41C6F124-2D6F-78EE-B978-521DC3E7354D}"/>
              </a:ext>
            </a:extLst>
          </p:cNvPr>
          <p:cNvSpPr txBox="1">
            <a:spLocks/>
          </p:cNvSpPr>
          <p:nvPr/>
        </p:nvSpPr>
        <p:spPr>
          <a:xfrm>
            <a:off x="403746" y="274193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16ACD3F-DA31-822A-072E-A9BE591C9483}"/>
              </a:ext>
            </a:extLst>
          </p:cNvPr>
          <p:cNvSpPr txBox="1">
            <a:spLocks/>
          </p:cNvSpPr>
          <p:nvPr/>
        </p:nvSpPr>
        <p:spPr>
          <a:xfrm>
            <a:off x="403746" y="300177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960C1A-3477-0A4A-97FF-5BEB24ED1480}"/>
              </a:ext>
            </a:extLst>
          </p:cNvPr>
          <p:cNvSpPr txBox="1">
            <a:spLocks/>
          </p:cNvSpPr>
          <p:nvPr/>
        </p:nvSpPr>
        <p:spPr>
          <a:xfrm>
            <a:off x="403746" y="325696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0E5949-345E-9F69-7956-F04CFAE7D184}"/>
              </a:ext>
            </a:extLst>
          </p:cNvPr>
          <p:cNvSpPr txBox="1">
            <a:spLocks/>
          </p:cNvSpPr>
          <p:nvPr/>
        </p:nvSpPr>
        <p:spPr>
          <a:xfrm>
            <a:off x="409781" y="350058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EE82DF-97AA-B389-C21C-C6DEDA16C5A7}"/>
              </a:ext>
            </a:extLst>
          </p:cNvPr>
          <p:cNvSpPr/>
          <p:nvPr/>
        </p:nvSpPr>
        <p:spPr>
          <a:xfrm>
            <a:off x="7703814" y="178679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7B7255-CA19-36D4-89B2-B5450895A3F0}"/>
              </a:ext>
            </a:extLst>
          </p:cNvPr>
          <p:cNvSpPr/>
          <p:nvPr/>
        </p:nvSpPr>
        <p:spPr>
          <a:xfrm>
            <a:off x="9248285" y="249647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026EAD-4326-6AE1-2D9A-219D6C6F1666}"/>
              </a:ext>
            </a:extLst>
          </p:cNvPr>
          <p:cNvSpPr/>
          <p:nvPr/>
        </p:nvSpPr>
        <p:spPr>
          <a:xfrm>
            <a:off x="8518130" y="406938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B75DB1-E02E-717C-3F7E-5707970C648D}"/>
              </a:ext>
            </a:extLst>
          </p:cNvPr>
          <p:cNvSpPr/>
          <p:nvPr/>
        </p:nvSpPr>
        <p:spPr>
          <a:xfrm>
            <a:off x="6964559" y="406938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99EDC2-26C4-1D6C-0D14-F431F50DD516}"/>
              </a:ext>
            </a:extLst>
          </p:cNvPr>
          <p:cNvSpPr/>
          <p:nvPr/>
        </p:nvSpPr>
        <p:spPr>
          <a:xfrm>
            <a:off x="6186637" y="249647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519227-B342-F3C4-BB7B-420C15B3EED8}"/>
              </a:ext>
            </a:extLst>
          </p:cNvPr>
          <p:cNvCxnSpPr>
            <a:cxnSpLocks/>
          </p:cNvCxnSpPr>
          <p:nvPr/>
        </p:nvCxnSpPr>
        <p:spPr>
          <a:xfrm flipH="1">
            <a:off x="8896065" y="289806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A4BDC6-06EA-20A6-C00B-E5943695E911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8696599" y="282265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0F01C-A040-D445-20C9-8E43019B8A4F}"/>
              </a:ext>
            </a:extLst>
          </p:cNvPr>
          <p:cNvCxnSpPr>
            <a:cxnSpLocks/>
            <a:stCxn id="31" idx="7"/>
            <a:endCxn id="30" idx="1"/>
          </p:cNvCxnSpPr>
          <p:nvPr/>
        </p:nvCxnSpPr>
        <p:spPr>
          <a:xfrm>
            <a:off x="7267436" y="412534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38295-A643-28EA-B14B-98074FC1224B}"/>
              </a:ext>
            </a:extLst>
          </p:cNvPr>
          <p:cNvCxnSpPr>
            <a:cxnSpLocks/>
            <a:stCxn id="30" idx="3"/>
            <a:endCxn id="31" idx="5"/>
          </p:cNvCxnSpPr>
          <p:nvPr/>
        </p:nvCxnSpPr>
        <p:spPr>
          <a:xfrm flipH="1">
            <a:off x="7267436" y="439555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01A0FB-BADE-2434-6F8D-38CE920F97F8}"/>
              </a:ext>
            </a:extLst>
          </p:cNvPr>
          <p:cNvCxnSpPr>
            <a:cxnSpLocks/>
          </p:cNvCxnSpPr>
          <p:nvPr/>
        </p:nvCxnSpPr>
        <p:spPr>
          <a:xfrm>
            <a:off x="6664309" y="285849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FD1243-5601-2E82-C766-5FBA35CE44FF}"/>
              </a:ext>
            </a:extLst>
          </p:cNvPr>
          <p:cNvCxnSpPr>
            <a:cxnSpLocks/>
            <a:stCxn id="31" idx="2"/>
          </p:cNvCxnSpPr>
          <p:nvPr/>
        </p:nvCxnSpPr>
        <p:spPr>
          <a:xfrm flipH="1" flipV="1">
            <a:off x="6286281" y="288578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7CF5D2-32F7-EAF5-F0C6-30B2B8D48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513264" y="280252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BE5C31-6B79-6E13-3588-67BAB56EA158}"/>
              </a:ext>
            </a:extLst>
          </p:cNvPr>
          <p:cNvCxnSpPr>
            <a:cxnSpLocks/>
            <a:stCxn id="32" idx="0"/>
            <a:endCxn id="28" idx="1"/>
          </p:cNvCxnSpPr>
          <p:nvPr/>
        </p:nvCxnSpPr>
        <p:spPr>
          <a:xfrm flipV="1">
            <a:off x="6364058" y="184275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9E8CA3-1BD9-EA6C-BAE8-BEB35111236C}"/>
              </a:ext>
            </a:extLst>
          </p:cNvPr>
          <p:cNvCxnSpPr>
            <a:cxnSpLocks/>
            <a:stCxn id="28" idx="3"/>
            <a:endCxn id="32" idx="6"/>
          </p:cNvCxnSpPr>
          <p:nvPr/>
        </p:nvCxnSpPr>
        <p:spPr>
          <a:xfrm flipH="1">
            <a:off x="6541479" y="211296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E84BC4-1BFE-2413-537B-69A316D6072B}"/>
              </a:ext>
            </a:extLst>
          </p:cNvPr>
          <p:cNvCxnSpPr>
            <a:cxnSpLocks/>
            <a:stCxn id="28" idx="7"/>
            <a:endCxn id="29" idx="0"/>
          </p:cNvCxnSpPr>
          <p:nvPr/>
        </p:nvCxnSpPr>
        <p:spPr>
          <a:xfrm>
            <a:off x="8006691" y="184275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D69AA-65AA-F478-C18B-BD037F7CAEA0}"/>
              </a:ext>
            </a:extLst>
          </p:cNvPr>
          <p:cNvCxnSpPr>
            <a:cxnSpLocks/>
            <a:stCxn id="29" idx="2"/>
            <a:endCxn id="28" idx="5"/>
          </p:cNvCxnSpPr>
          <p:nvPr/>
        </p:nvCxnSpPr>
        <p:spPr>
          <a:xfrm flipH="1" flipV="1">
            <a:off x="8006691" y="211296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91F68B-B501-E764-2F7C-A2C8A4A15AA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6601580" y="268754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F990DB1-1C5E-9D44-9792-3D03187F45DD}"/>
              </a:ext>
            </a:extLst>
          </p:cNvPr>
          <p:cNvSpPr txBox="1">
            <a:spLocks/>
          </p:cNvSpPr>
          <p:nvPr/>
        </p:nvSpPr>
        <p:spPr>
          <a:xfrm>
            <a:off x="8570095" y="182851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B822F3F4-33E6-6374-4748-E073BDE9535B}"/>
              </a:ext>
            </a:extLst>
          </p:cNvPr>
          <p:cNvSpPr txBox="1">
            <a:spLocks/>
          </p:cNvSpPr>
          <p:nvPr/>
        </p:nvSpPr>
        <p:spPr>
          <a:xfrm>
            <a:off x="7117312" y="22537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0445A778-9787-10B6-EAC8-7E7E56882B3D}"/>
              </a:ext>
            </a:extLst>
          </p:cNvPr>
          <p:cNvSpPr txBox="1">
            <a:spLocks/>
          </p:cNvSpPr>
          <p:nvPr/>
        </p:nvSpPr>
        <p:spPr>
          <a:xfrm>
            <a:off x="9154584" y="3406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5F1F28D2-A52A-F44E-31F4-50D8A5B25FEF}"/>
              </a:ext>
            </a:extLst>
          </p:cNvPr>
          <p:cNvSpPr txBox="1">
            <a:spLocks/>
          </p:cNvSpPr>
          <p:nvPr/>
        </p:nvSpPr>
        <p:spPr>
          <a:xfrm>
            <a:off x="7560509" y="268754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30DCA69-BABB-6C47-7648-6FD80F258019}"/>
              </a:ext>
            </a:extLst>
          </p:cNvPr>
          <p:cNvSpPr txBox="1">
            <a:spLocks/>
          </p:cNvSpPr>
          <p:nvPr/>
        </p:nvSpPr>
        <p:spPr>
          <a:xfrm>
            <a:off x="8067929" y="230814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DA5CB488-6B48-AA8E-F6EC-403351E41A18}"/>
              </a:ext>
            </a:extLst>
          </p:cNvPr>
          <p:cNvSpPr txBox="1">
            <a:spLocks/>
          </p:cNvSpPr>
          <p:nvPr/>
        </p:nvSpPr>
        <p:spPr>
          <a:xfrm>
            <a:off x="8450850" y="310484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9942DC50-D231-B69B-922A-3CDF83585147}"/>
              </a:ext>
            </a:extLst>
          </p:cNvPr>
          <p:cNvSpPr txBox="1">
            <a:spLocks/>
          </p:cNvSpPr>
          <p:nvPr/>
        </p:nvSpPr>
        <p:spPr>
          <a:xfrm>
            <a:off x="8954858" y="454842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09B8E4-70B2-6653-64E0-F26D414205E8}"/>
              </a:ext>
            </a:extLst>
          </p:cNvPr>
          <p:cNvCxnSpPr>
            <a:cxnSpLocks/>
            <a:stCxn id="30" idx="4"/>
            <a:endCxn id="30" idx="6"/>
          </p:cNvCxnSpPr>
          <p:nvPr/>
        </p:nvCxnSpPr>
        <p:spPr>
          <a:xfrm rot="5400000" flipH="1" flipV="1">
            <a:off x="8688727" y="426727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FC523404-60BD-F233-F96C-8F7C2A9E2283}"/>
              </a:ext>
            </a:extLst>
          </p:cNvPr>
          <p:cNvSpPr txBox="1">
            <a:spLocks/>
          </p:cNvSpPr>
          <p:nvPr/>
        </p:nvSpPr>
        <p:spPr>
          <a:xfrm>
            <a:off x="7673544" y="444557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2EF0ABFE-16F5-E9B4-BD78-030B45E1D0B5}"/>
              </a:ext>
            </a:extLst>
          </p:cNvPr>
          <p:cNvSpPr txBox="1">
            <a:spLocks/>
          </p:cNvSpPr>
          <p:nvPr/>
        </p:nvSpPr>
        <p:spPr>
          <a:xfrm>
            <a:off x="7566984" y="377552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ECB10C11-1EB3-3F65-ED75-042041FF708B}"/>
              </a:ext>
            </a:extLst>
          </p:cNvPr>
          <p:cNvSpPr txBox="1">
            <a:spLocks/>
          </p:cNvSpPr>
          <p:nvPr/>
        </p:nvSpPr>
        <p:spPr>
          <a:xfrm>
            <a:off x="6002258" y="353233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CE954937-3054-A8F6-CE7B-49C4FE0D0F2D}"/>
              </a:ext>
            </a:extLst>
          </p:cNvPr>
          <p:cNvSpPr txBox="1">
            <a:spLocks/>
          </p:cNvSpPr>
          <p:nvPr/>
        </p:nvSpPr>
        <p:spPr>
          <a:xfrm>
            <a:off x="6601360" y="18702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447B1BE-4969-5FA1-79FF-E6D3403AA482}"/>
              </a:ext>
            </a:extLst>
          </p:cNvPr>
          <p:cNvSpPr txBox="1">
            <a:spLocks/>
          </p:cNvSpPr>
          <p:nvPr/>
        </p:nvSpPr>
        <p:spPr>
          <a:xfrm>
            <a:off x="7559191" y="316765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B0581357-EB65-3E1A-D908-E6211460E45C}"/>
              </a:ext>
            </a:extLst>
          </p:cNvPr>
          <p:cNvSpPr txBox="1">
            <a:spLocks/>
          </p:cNvSpPr>
          <p:nvPr/>
        </p:nvSpPr>
        <p:spPr>
          <a:xfrm>
            <a:off x="6853009" y="338298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242D5582-B0CB-00E4-61E4-D36DCE577E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3424" y="4162164"/>
                <a:ext cx="6511402" cy="73160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We note that transition matrices are always 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stochastic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, i.e.</a:t>
                </a: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∈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𝒊𝒋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∀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𝒊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 the rows of </a:t>
                </a:r>
                <a:r>
                  <a:rPr kumimoji="1" lang="en-US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always sum to one.</a:t>
                </a: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242D5582-B0CB-00E4-61E4-D36DCE577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4" y="4162164"/>
                <a:ext cx="6511402" cy="731606"/>
              </a:xfrm>
              <a:prstGeom prst="rect">
                <a:avLst/>
              </a:prstGeom>
              <a:blipFill>
                <a:blip r:embed="rId6"/>
                <a:stretch>
                  <a:fillRect l="-843" t="-22500" b="-825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E22E3E3-BA67-E6A3-793B-78FA446C83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7307" y="5292614"/>
                <a:ext cx="5131399" cy="92569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If,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in addition, all the columns of </a:t>
                </a:r>
                <a:r>
                  <a:rPr kumimoji="1" lang="en-NZ" altLang="ja-JP" sz="1800" b="1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sum to one</a:t>
                </a: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∈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𝒊𝒋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∀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𝒋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Then </a:t>
                </a:r>
                <a:r>
                  <a:rPr lang="en-US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said to be </a:t>
                </a:r>
                <a:r>
                  <a:rPr lang="en-US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doubly stochastic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E22E3E3-BA67-E6A3-793B-78FA446C8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07" y="5292614"/>
                <a:ext cx="5131399" cy="925698"/>
              </a:xfrm>
              <a:prstGeom prst="rect">
                <a:avLst/>
              </a:prstGeom>
              <a:blipFill>
                <a:blip r:embed="rId7"/>
                <a:stretch>
                  <a:fillRect l="-1069" t="-17763" b="-4407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7EA156C3-BAB9-3F15-9123-890B7DC9D9DA}"/>
              </a:ext>
            </a:extLst>
          </p:cNvPr>
          <p:cNvSpPr txBox="1">
            <a:spLocks/>
          </p:cNvSpPr>
          <p:nvPr/>
        </p:nvSpPr>
        <p:spPr>
          <a:xfrm rot="16200000">
            <a:off x="1169" y="3073254"/>
            <a:ext cx="761761" cy="2675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From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F20C3539-60F1-BE87-3326-F7C8DDA98541}"/>
              </a:ext>
            </a:extLst>
          </p:cNvPr>
          <p:cNvSpPr txBox="1">
            <a:spLocks/>
          </p:cNvSpPr>
          <p:nvPr/>
        </p:nvSpPr>
        <p:spPr>
          <a:xfrm>
            <a:off x="2174315" y="1926490"/>
            <a:ext cx="761761" cy="2675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To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3E0147B-995D-558A-81F0-F686AD440615}"/>
              </a:ext>
            </a:extLst>
          </p:cNvPr>
          <p:cNvSpPr txBox="1">
            <a:spLocks/>
          </p:cNvSpPr>
          <p:nvPr/>
        </p:nvSpPr>
        <p:spPr>
          <a:xfrm>
            <a:off x="4993491" y="5474962"/>
            <a:ext cx="5131399" cy="749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4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  <a:t>Note:</a:t>
            </a:r>
            <a:br>
              <a:rPr lang="en-NZ" altLang="ja-JP" sz="14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4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  <a:t>All transition matrices are stochastic.</a:t>
            </a:r>
            <a:br>
              <a:rPr lang="en-NZ" altLang="ja-JP" sz="14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4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  <a:t>There is no reason why they should be doubly stochastic.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52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8.1b – Transition Probabilities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EE82DF-97AA-B389-C21C-C6DEDA16C5A7}"/>
              </a:ext>
            </a:extLst>
          </p:cNvPr>
          <p:cNvSpPr/>
          <p:nvPr/>
        </p:nvSpPr>
        <p:spPr>
          <a:xfrm>
            <a:off x="9631766" y="144637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7B7255-CA19-36D4-89B2-B5450895A3F0}"/>
              </a:ext>
            </a:extLst>
          </p:cNvPr>
          <p:cNvSpPr/>
          <p:nvPr/>
        </p:nvSpPr>
        <p:spPr>
          <a:xfrm>
            <a:off x="11176237" y="2156059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026EAD-4326-6AE1-2D9A-219D6C6F1666}"/>
              </a:ext>
            </a:extLst>
          </p:cNvPr>
          <p:cNvSpPr/>
          <p:nvPr/>
        </p:nvSpPr>
        <p:spPr>
          <a:xfrm>
            <a:off x="10446082" y="372896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B75DB1-E02E-717C-3F7E-5707970C648D}"/>
              </a:ext>
            </a:extLst>
          </p:cNvPr>
          <p:cNvSpPr/>
          <p:nvPr/>
        </p:nvSpPr>
        <p:spPr>
          <a:xfrm>
            <a:off x="8892511" y="372896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99EDC2-26C4-1D6C-0D14-F431F50DD516}"/>
              </a:ext>
            </a:extLst>
          </p:cNvPr>
          <p:cNvSpPr/>
          <p:nvPr/>
        </p:nvSpPr>
        <p:spPr>
          <a:xfrm>
            <a:off x="8114589" y="2156059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519227-B342-F3C4-BB7B-420C15B3EED8}"/>
              </a:ext>
            </a:extLst>
          </p:cNvPr>
          <p:cNvCxnSpPr>
            <a:cxnSpLocks/>
          </p:cNvCxnSpPr>
          <p:nvPr/>
        </p:nvCxnSpPr>
        <p:spPr>
          <a:xfrm flipH="1">
            <a:off x="10824017" y="2557644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A4BDC6-06EA-20A6-C00B-E5943695E911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10624551" y="2482232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0F01C-A040-D445-20C9-8E43019B8A4F}"/>
              </a:ext>
            </a:extLst>
          </p:cNvPr>
          <p:cNvCxnSpPr>
            <a:cxnSpLocks/>
            <a:stCxn id="31" idx="7"/>
            <a:endCxn id="30" idx="1"/>
          </p:cNvCxnSpPr>
          <p:nvPr/>
        </p:nvCxnSpPr>
        <p:spPr>
          <a:xfrm>
            <a:off x="9195388" y="3784928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38295-A643-28EA-B14B-98074FC1224B}"/>
              </a:ext>
            </a:extLst>
          </p:cNvPr>
          <p:cNvCxnSpPr>
            <a:cxnSpLocks/>
            <a:stCxn id="30" idx="3"/>
            <a:endCxn id="31" idx="5"/>
          </p:cNvCxnSpPr>
          <p:nvPr/>
        </p:nvCxnSpPr>
        <p:spPr>
          <a:xfrm flipH="1">
            <a:off x="9195388" y="4055138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01A0FB-BADE-2434-6F8D-38CE920F97F8}"/>
              </a:ext>
            </a:extLst>
          </p:cNvPr>
          <p:cNvCxnSpPr>
            <a:cxnSpLocks/>
          </p:cNvCxnSpPr>
          <p:nvPr/>
        </p:nvCxnSpPr>
        <p:spPr>
          <a:xfrm>
            <a:off x="8592261" y="2518073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FD1243-5601-2E82-C766-5FBA35CE44FF}"/>
              </a:ext>
            </a:extLst>
          </p:cNvPr>
          <p:cNvCxnSpPr>
            <a:cxnSpLocks/>
            <a:stCxn id="31" idx="2"/>
          </p:cNvCxnSpPr>
          <p:nvPr/>
        </p:nvCxnSpPr>
        <p:spPr>
          <a:xfrm flipH="1" flipV="1">
            <a:off x="8214233" y="2545364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7CF5D2-32F7-EAF5-F0C6-30B2B8D48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441216" y="2462109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BE5C31-6B79-6E13-3588-67BAB56EA158}"/>
              </a:ext>
            </a:extLst>
          </p:cNvPr>
          <p:cNvCxnSpPr>
            <a:cxnSpLocks/>
            <a:stCxn id="32" idx="0"/>
            <a:endCxn id="28" idx="1"/>
          </p:cNvCxnSpPr>
          <p:nvPr/>
        </p:nvCxnSpPr>
        <p:spPr>
          <a:xfrm flipV="1">
            <a:off x="8292010" y="1502339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9E8CA3-1BD9-EA6C-BAE8-BEB35111236C}"/>
              </a:ext>
            </a:extLst>
          </p:cNvPr>
          <p:cNvCxnSpPr>
            <a:cxnSpLocks/>
            <a:stCxn id="28" idx="3"/>
            <a:endCxn id="32" idx="6"/>
          </p:cNvCxnSpPr>
          <p:nvPr/>
        </p:nvCxnSpPr>
        <p:spPr>
          <a:xfrm flipH="1">
            <a:off x="8469431" y="1772549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E84BC4-1BFE-2413-537B-69A316D6072B}"/>
              </a:ext>
            </a:extLst>
          </p:cNvPr>
          <p:cNvCxnSpPr>
            <a:cxnSpLocks/>
            <a:stCxn id="28" idx="7"/>
            <a:endCxn id="29" idx="0"/>
          </p:cNvCxnSpPr>
          <p:nvPr/>
        </p:nvCxnSpPr>
        <p:spPr>
          <a:xfrm>
            <a:off x="9934643" y="1502339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D69AA-65AA-F478-C18B-BD037F7CAEA0}"/>
              </a:ext>
            </a:extLst>
          </p:cNvPr>
          <p:cNvCxnSpPr>
            <a:cxnSpLocks/>
            <a:stCxn id="29" idx="2"/>
            <a:endCxn id="28" idx="5"/>
          </p:cNvCxnSpPr>
          <p:nvPr/>
        </p:nvCxnSpPr>
        <p:spPr>
          <a:xfrm flipH="1" flipV="1">
            <a:off x="9934643" y="1772549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91F68B-B501-E764-2F7C-A2C8A4A15AA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529532" y="2347127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F990DB1-1C5E-9D44-9792-3D03187F45DD}"/>
              </a:ext>
            </a:extLst>
          </p:cNvPr>
          <p:cNvSpPr txBox="1">
            <a:spLocks/>
          </p:cNvSpPr>
          <p:nvPr/>
        </p:nvSpPr>
        <p:spPr>
          <a:xfrm>
            <a:off x="10498047" y="148809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B822F3F4-33E6-6374-4748-E073BDE9535B}"/>
              </a:ext>
            </a:extLst>
          </p:cNvPr>
          <p:cNvSpPr txBox="1">
            <a:spLocks/>
          </p:cNvSpPr>
          <p:nvPr/>
        </p:nvSpPr>
        <p:spPr>
          <a:xfrm>
            <a:off x="9045264" y="191332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0445A778-9787-10B6-EAC8-7E7E56882B3D}"/>
              </a:ext>
            </a:extLst>
          </p:cNvPr>
          <p:cNvSpPr txBox="1">
            <a:spLocks/>
          </p:cNvSpPr>
          <p:nvPr/>
        </p:nvSpPr>
        <p:spPr>
          <a:xfrm>
            <a:off x="11082536" y="306602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5F1F28D2-A52A-F44E-31F4-50D8A5B25FEF}"/>
              </a:ext>
            </a:extLst>
          </p:cNvPr>
          <p:cNvSpPr txBox="1">
            <a:spLocks/>
          </p:cNvSpPr>
          <p:nvPr/>
        </p:nvSpPr>
        <p:spPr>
          <a:xfrm>
            <a:off x="9488461" y="234712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30DCA69-BABB-6C47-7648-6FD80F258019}"/>
              </a:ext>
            </a:extLst>
          </p:cNvPr>
          <p:cNvSpPr txBox="1">
            <a:spLocks/>
          </p:cNvSpPr>
          <p:nvPr/>
        </p:nvSpPr>
        <p:spPr>
          <a:xfrm>
            <a:off x="9995881" y="19677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DA5CB488-6B48-AA8E-F6EC-403351E41A18}"/>
              </a:ext>
            </a:extLst>
          </p:cNvPr>
          <p:cNvSpPr txBox="1">
            <a:spLocks/>
          </p:cNvSpPr>
          <p:nvPr/>
        </p:nvSpPr>
        <p:spPr>
          <a:xfrm>
            <a:off x="10378802" y="276442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9942DC50-D231-B69B-922A-3CDF83585147}"/>
              </a:ext>
            </a:extLst>
          </p:cNvPr>
          <p:cNvSpPr txBox="1">
            <a:spLocks/>
          </p:cNvSpPr>
          <p:nvPr/>
        </p:nvSpPr>
        <p:spPr>
          <a:xfrm>
            <a:off x="10882810" y="420800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09B8E4-70B2-6653-64E0-F26D414205E8}"/>
              </a:ext>
            </a:extLst>
          </p:cNvPr>
          <p:cNvCxnSpPr>
            <a:cxnSpLocks/>
            <a:stCxn id="30" idx="4"/>
            <a:endCxn id="30" idx="6"/>
          </p:cNvCxnSpPr>
          <p:nvPr/>
        </p:nvCxnSpPr>
        <p:spPr>
          <a:xfrm rot="5400000" flipH="1" flipV="1">
            <a:off x="10616679" y="3926856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FC523404-60BD-F233-F96C-8F7C2A9E2283}"/>
              </a:ext>
            </a:extLst>
          </p:cNvPr>
          <p:cNvSpPr txBox="1">
            <a:spLocks/>
          </p:cNvSpPr>
          <p:nvPr/>
        </p:nvSpPr>
        <p:spPr>
          <a:xfrm>
            <a:off x="9601496" y="410515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2EF0ABFE-16F5-E9B4-BD78-030B45E1D0B5}"/>
              </a:ext>
            </a:extLst>
          </p:cNvPr>
          <p:cNvSpPr txBox="1">
            <a:spLocks/>
          </p:cNvSpPr>
          <p:nvPr/>
        </p:nvSpPr>
        <p:spPr>
          <a:xfrm>
            <a:off x="9494936" y="34351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ECB10C11-1EB3-3F65-ED75-042041FF708B}"/>
              </a:ext>
            </a:extLst>
          </p:cNvPr>
          <p:cNvSpPr txBox="1">
            <a:spLocks/>
          </p:cNvSpPr>
          <p:nvPr/>
        </p:nvSpPr>
        <p:spPr>
          <a:xfrm>
            <a:off x="7930210" y="319191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CE954937-3054-A8F6-CE7B-49C4FE0D0F2D}"/>
              </a:ext>
            </a:extLst>
          </p:cNvPr>
          <p:cNvSpPr txBox="1">
            <a:spLocks/>
          </p:cNvSpPr>
          <p:nvPr/>
        </p:nvSpPr>
        <p:spPr>
          <a:xfrm>
            <a:off x="8529312" y="152981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447B1BE-4969-5FA1-79FF-E6D3403AA482}"/>
              </a:ext>
            </a:extLst>
          </p:cNvPr>
          <p:cNvSpPr txBox="1">
            <a:spLocks/>
          </p:cNvSpPr>
          <p:nvPr/>
        </p:nvSpPr>
        <p:spPr>
          <a:xfrm>
            <a:off x="9487143" y="282723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B0581357-EB65-3E1A-D908-E6211460E45C}"/>
              </a:ext>
            </a:extLst>
          </p:cNvPr>
          <p:cNvSpPr txBox="1">
            <a:spLocks/>
          </p:cNvSpPr>
          <p:nvPr/>
        </p:nvSpPr>
        <p:spPr>
          <a:xfrm>
            <a:off x="8780961" y="30425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45777DF9-0ADA-4D71-8378-ED848B43864C}"/>
              </a:ext>
            </a:extLst>
          </p:cNvPr>
          <p:cNvSpPr txBox="1">
            <a:spLocks/>
          </p:cNvSpPr>
          <p:nvPr/>
        </p:nvSpPr>
        <p:spPr>
          <a:xfrm>
            <a:off x="320416" y="938192"/>
            <a:ext cx="6262400" cy="21043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B050"/>
                </a:solidFill>
              </a:rPr>
              <a:t># 1.1a -  Defining state space and transition matrix.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library</a:t>
            </a:r>
            <a:r>
              <a:rPr lang="en-US" altLang="ja-JP" sz="1400" dirty="0">
                <a:solidFill>
                  <a:prstClr val="black"/>
                </a:solidFill>
              </a:rPr>
              <a:t>(</a:t>
            </a:r>
            <a:r>
              <a:rPr lang="en-US" altLang="ja-JP" sz="1400" dirty="0" err="1">
                <a:solidFill>
                  <a:prstClr val="black"/>
                </a:solidFill>
              </a:rPr>
              <a:t>markovchain</a:t>
            </a:r>
            <a:r>
              <a:rPr lang="en-US" altLang="ja-JP" sz="1400" dirty="0">
                <a:solidFill>
                  <a:prstClr val="black"/>
                </a:solidFill>
              </a:rPr>
              <a:t>)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 &lt;- c("1", "2", "3", "4" , "5")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prstClr val="black"/>
                </a:solidFill>
              </a:rPr>
              <a:t>P &lt;- matrix(c(</a:t>
            </a:r>
            <a:r>
              <a:rPr lang="en-US" altLang="ja-JP" sz="1400" dirty="0">
                <a:solidFill>
                  <a:srgbClr val="0070C0"/>
                </a:solidFill>
              </a:rPr>
              <a:t>0.00, 0.80, 0.00, 0.00, 0.20,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0.50, 0.00, 0.25, 0.00, 0.25,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0.00, 0.30, 0.30, 0.40, 0.00,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0.00, 0.00, 0.50, 0.00, 0.50,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0.50, 0.00, 0.25, 0.25, 0.00</a:t>
            </a:r>
            <a:r>
              <a:rPr lang="en-US" altLang="ja-JP" sz="1400" dirty="0">
                <a:solidFill>
                  <a:prstClr val="black"/>
                </a:solidFill>
              </a:rPr>
              <a:t>), </a:t>
            </a:r>
            <a:r>
              <a:rPr lang="en-US" altLang="ja-JP" sz="1400" dirty="0" err="1">
                <a:solidFill>
                  <a:prstClr val="black"/>
                </a:solidFill>
              </a:rPr>
              <a:t>nrow</a:t>
            </a:r>
            <a:r>
              <a:rPr lang="en-US" altLang="ja-JP" sz="1400" dirty="0">
                <a:solidFill>
                  <a:prstClr val="black"/>
                </a:solidFill>
              </a:rPr>
              <a:t>=</a:t>
            </a:r>
            <a:r>
              <a:rPr lang="en-US" altLang="ja-JP" sz="1400" dirty="0">
                <a:solidFill>
                  <a:srgbClr val="0070C0"/>
                </a:solidFill>
              </a:rPr>
              <a:t>5</a:t>
            </a:r>
            <a:r>
              <a:rPr lang="en-US" altLang="ja-JP" sz="1400" dirty="0">
                <a:solidFill>
                  <a:prstClr val="black"/>
                </a:solidFill>
              </a:rPr>
              <a:t>, </a:t>
            </a:r>
            <a:r>
              <a:rPr lang="en-US" altLang="ja-JP" sz="1400" dirty="0" err="1">
                <a:solidFill>
                  <a:prstClr val="black"/>
                </a:solidFill>
              </a:rPr>
              <a:t>byrow</a:t>
            </a:r>
            <a:r>
              <a:rPr lang="en-US" altLang="ja-JP" sz="1400" dirty="0">
                <a:solidFill>
                  <a:prstClr val="black"/>
                </a:solidFill>
              </a:rPr>
              <a:t>=</a:t>
            </a:r>
            <a:r>
              <a:rPr lang="en-US" altLang="ja-JP" sz="1400" dirty="0">
                <a:solidFill>
                  <a:srgbClr val="0070C0"/>
                </a:solidFill>
              </a:rPr>
              <a:t>TRUE</a:t>
            </a:r>
            <a:r>
              <a:rPr lang="en-US" altLang="ja-JP" sz="1400" dirty="0">
                <a:solidFill>
                  <a:prstClr val="black"/>
                </a:solidFill>
              </a:rPr>
              <a:t>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prstClr val="black"/>
                </a:solidFill>
              </a:rPr>
              <a:t>              </a:t>
            </a:r>
            <a:r>
              <a:rPr lang="en-US" altLang="ja-JP" sz="1400" dirty="0" err="1">
                <a:solidFill>
                  <a:prstClr val="black"/>
                </a:solidFill>
              </a:rPr>
              <a:t>dimnames</a:t>
            </a:r>
            <a:r>
              <a:rPr lang="en-US" altLang="ja-JP" sz="1400" dirty="0">
                <a:solidFill>
                  <a:prstClr val="black"/>
                </a:solidFill>
              </a:rPr>
              <a:t> = list(</a:t>
            </a: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, </a:t>
            </a: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)) 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E14DF4BC-0AE1-AD91-AEB2-BE486DFD7F4E}"/>
              </a:ext>
            </a:extLst>
          </p:cNvPr>
          <p:cNvSpPr txBox="1">
            <a:spLocks/>
          </p:cNvSpPr>
          <p:nvPr/>
        </p:nvSpPr>
        <p:spPr>
          <a:xfrm>
            <a:off x="319463" y="3232699"/>
            <a:ext cx="6262400" cy="5827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1.1b - Specifying that the transition matrix defines a Markov chain 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mc &lt;- new("</a:t>
            </a:r>
            <a:r>
              <a:rPr lang="en-US" altLang="ja-JP" sz="1400" dirty="0" err="1">
                <a:solidFill>
                  <a:schemeClr val="tx1"/>
                </a:solidFill>
              </a:rPr>
              <a:t>markovchain</a:t>
            </a:r>
            <a:r>
              <a:rPr lang="en-US" altLang="ja-JP" sz="1400" dirty="0">
                <a:solidFill>
                  <a:schemeClr val="tx1"/>
                </a:solidFill>
              </a:rPr>
              <a:t>", </a:t>
            </a:r>
            <a:r>
              <a:rPr lang="en-US" altLang="ja-JP" sz="1400" dirty="0" err="1">
                <a:solidFill>
                  <a:schemeClr val="tx1"/>
                </a:solidFill>
              </a:rPr>
              <a:t>transitionMatrix</a:t>
            </a:r>
            <a:r>
              <a:rPr lang="en-US" altLang="ja-JP" sz="1400" dirty="0">
                <a:solidFill>
                  <a:schemeClr val="tx1"/>
                </a:solidFill>
              </a:rPr>
              <a:t>=P)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DA4ECFE2-286E-DA4B-BABE-FF31576ACDE0}"/>
              </a:ext>
            </a:extLst>
          </p:cNvPr>
          <p:cNvSpPr txBox="1">
            <a:spLocks/>
          </p:cNvSpPr>
          <p:nvPr/>
        </p:nvSpPr>
        <p:spPr>
          <a:xfrm>
            <a:off x="319463" y="3965908"/>
            <a:ext cx="6262400" cy="7382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1.1c - Constructing a graph of the Markov chain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 err="1">
                <a:solidFill>
                  <a:schemeClr val="tx1"/>
                </a:solidFill>
              </a:rPr>
              <a:t>mc@transitionMatrix</a:t>
            </a:r>
            <a:r>
              <a:rPr lang="fr-FR" altLang="ja-JP" sz="1400" dirty="0">
                <a:solidFill>
                  <a:schemeClr val="tx1"/>
                </a:solidFill>
              </a:rPr>
              <a:t> &lt;- P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>
                <a:solidFill>
                  <a:schemeClr val="tx1"/>
                </a:solidFill>
              </a:rPr>
              <a:t>plot(mc)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7C55AE01-3835-E144-85DB-352E48E75E24}"/>
              </a:ext>
            </a:extLst>
          </p:cNvPr>
          <p:cNvSpPr txBox="1">
            <a:spLocks/>
          </p:cNvSpPr>
          <p:nvPr/>
        </p:nvSpPr>
        <p:spPr>
          <a:xfrm>
            <a:off x="319463" y="4854672"/>
            <a:ext cx="6262400" cy="7382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1.1d - Conducting a random walk on the Markov Chain stating a state 1 </a:t>
            </a:r>
            <a:r>
              <a:rPr lang="fr-FR" altLang="ja-JP" sz="1400" dirty="0" err="1">
                <a:solidFill>
                  <a:schemeClr val="tx1"/>
                </a:solidFill>
              </a:rPr>
              <a:t>markovchainSequence</a:t>
            </a:r>
            <a:r>
              <a:rPr lang="fr-FR" altLang="ja-JP" sz="1400" dirty="0">
                <a:solidFill>
                  <a:schemeClr val="tx1"/>
                </a:solidFill>
              </a:rPr>
              <a:t>(n=</a:t>
            </a:r>
            <a:r>
              <a:rPr lang="fr-FR" altLang="ja-JP" sz="1400" dirty="0">
                <a:solidFill>
                  <a:srgbClr val="0070C0"/>
                </a:solidFill>
              </a:rPr>
              <a:t>10</a:t>
            </a:r>
            <a:r>
              <a:rPr lang="fr-FR" altLang="ja-JP" sz="1400" dirty="0">
                <a:solidFill>
                  <a:schemeClr val="tx1"/>
                </a:solidFill>
              </a:rPr>
              <a:t>, </a:t>
            </a:r>
            <a:r>
              <a:rPr lang="fr-FR" altLang="ja-JP" sz="1400" dirty="0" err="1">
                <a:solidFill>
                  <a:schemeClr val="tx1"/>
                </a:solidFill>
              </a:rPr>
              <a:t>markovchain</a:t>
            </a:r>
            <a:r>
              <a:rPr lang="fr-FR" altLang="ja-JP" sz="1400" dirty="0">
                <a:solidFill>
                  <a:schemeClr val="tx1"/>
                </a:solidFill>
              </a:rPr>
              <a:t>=mc, t0="</a:t>
            </a:r>
            <a:r>
              <a:rPr lang="fr-FR" altLang="ja-JP" sz="1400" dirty="0">
                <a:solidFill>
                  <a:srgbClr val="0070C0"/>
                </a:solidFill>
              </a:rPr>
              <a:t>1</a:t>
            </a:r>
            <a:r>
              <a:rPr lang="fr-FR" altLang="ja-JP" sz="1400" dirty="0">
                <a:solidFill>
                  <a:schemeClr val="tx1"/>
                </a:solidFill>
              </a:rPr>
              <a:t>", 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>
                <a:solidFill>
                  <a:schemeClr val="tx1"/>
                </a:solidFill>
              </a:rPr>
              <a:t>                    </a:t>
            </a:r>
            <a:r>
              <a:rPr lang="fr-FR" altLang="ja-JP" sz="1400" dirty="0" err="1">
                <a:solidFill>
                  <a:schemeClr val="tx1"/>
                </a:solidFill>
              </a:rPr>
              <a:t>include</a:t>
            </a:r>
            <a:r>
              <a:rPr lang="fr-FR" altLang="ja-JP" sz="1400" dirty="0">
                <a:solidFill>
                  <a:schemeClr val="tx1"/>
                </a:solidFill>
              </a:rPr>
              <a:t>=</a:t>
            </a:r>
            <a:r>
              <a:rPr lang="fr-FR" altLang="ja-JP" sz="1400" dirty="0">
                <a:solidFill>
                  <a:srgbClr val="0070C0"/>
                </a:solidFill>
              </a:rPr>
              <a:t>TRUE</a:t>
            </a:r>
            <a:r>
              <a:rPr lang="fr-FR" altLang="ja-JP" sz="1400" dirty="0">
                <a:solidFill>
                  <a:schemeClr val="tx1"/>
                </a:solidFill>
              </a:rPr>
              <a:t>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0E0E54-CA6C-B8BA-88A6-33DDE0CC67D8}"/>
              </a:ext>
            </a:extLst>
          </p:cNvPr>
          <p:cNvSpPr txBox="1"/>
          <p:nvPr/>
        </p:nvSpPr>
        <p:spPr>
          <a:xfrm>
            <a:off x="1343742" y="5743436"/>
            <a:ext cx="611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 [1] "1" "2" "1" "5" "1" "2" "3" "3" "4" "5" "3"</a:t>
            </a: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A29143CE-5D95-CADC-FCE3-B34D96D55624}"/>
              </a:ext>
            </a:extLst>
          </p:cNvPr>
          <p:cNvSpPr txBox="1">
            <a:spLocks/>
          </p:cNvSpPr>
          <p:nvPr/>
        </p:nvSpPr>
        <p:spPr>
          <a:xfrm>
            <a:off x="2345361" y="6488487"/>
            <a:ext cx="7501278" cy="2833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2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Associated Code = 8.1 – Random Walk on a Markov Chain</a:t>
            </a:r>
            <a:endParaRPr kumimoji="1" lang="en-US" altLang="ja-JP" sz="12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72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8.1c – n-Step Transition Probabilities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04090"/>
                <a:ext cx="7445094" cy="4781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probability that the chain goes from state </a:t>
                </a:r>
                <a:r>
                  <a:rPr kumimoji="1" lang="en-NZ" altLang="ja-JP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to state </a:t>
                </a:r>
                <a:r>
                  <a:rPr kumimoji="1" lang="en-NZ" altLang="ja-JP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in </a:t>
                </a:r>
                <a:r>
                  <a:rPr kumimoji="1" lang="en-NZ" altLang="ja-JP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n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steps is denoted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b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𝒊𝒋</m:t>
                        </m:r>
                      </m:sub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NZ" altLang="ja-JP" sz="20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04090"/>
                <a:ext cx="7445094" cy="478151"/>
              </a:xfrm>
              <a:prstGeom prst="rect">
                <a:avLst/>
              </a:prstGeom>
              <a:blipFill>
                <a:blip r:embed="rId3"/>
                <a:stretch>
                  <a:fillRect l="-818" t="-7692" b="-846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7DB15E3-C611-E432-08D3-0FF7223160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623440"/>
                <a:ext cx="5248824" cy="11079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Kolmogorov-Chapman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equations state that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Sup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  <m:sup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𝒎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+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𝑘</m:t>
                          </m:r>
                          <m:r>
                            <a:rPr kumimoji="1" lang="en-NZ" altLang="ja-JP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𝑆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𝒌𝒋</m:t>
                              </m:r>
                            </m:sub>
                            <m:sup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NZ" altLang="ja-JP" sz="2000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7DB15E3-C611-E432-08D3-0FF722316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623440"/>
                <a:ext cx="5248824" cy="1107974"/>
              </a:xfrm>
              <a:prstGeom prst="rect">
                <a:avLst/>
              </a:prstGeom>
              <a:blipFill>
                <a:blip r:embed="rId4"/>
                <a:stretch>
                  <a:fillRect l="-1161" t="-27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0C6644-F1F1-54EA-7108-D0C07616C414}"/>
              </a:ext>
            </a:extLst>
          </p:cNvPr>
          <p:cNvCxnSpPr/>
          <p:nvPr/>
        </p:nvCxnSpPr>
        <p:spPr>
          <a:xfrm>
            <a:off x="8270543" y="830433"/>
            <a:ext cx="0" cy="24736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B24C65-7449-6DE8-910A-7F6049BCF8E3}"/>
              </a:ext>
            </a:extLst>
          </p:cNvPr>
          <p:cNvCxnSpPr>
            <a:cxnSpLocks/>
          </p:cNvCxnSpPr>
          <p:nvPr/>
        </p:nvCxnSpPr>
        <p:spPr>
          <a:xfrm>
            <a:off x="9350991" y="872151"/>
            <a:ext cx="0" cy="224087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10C5D6-36C0-78F4-1985-0A6B9E5049A0}"/>
              </a:ext>
            </a:extLst>
          </p:cNvPr>
          <p:cNvCxnSpPr>
            <a:cxnSpLocks/>
          </p:cNvCxnSpPr>
          <p:nvPr/>
        </p:nvCxnSpPr>
        <p:spPr>
          <a:xfrm>
            <a:off x="8088924" y="3113022"/>
            <a:ext cx="2952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492834-BD5A-018E-936D-6F2D54B6C668}"/>
              </a:ext>
            </a:extLst>
          </p:cNvPr>
          <p:cNvCxnSpPr>
            <a:cxnSpLocks/>
          </p:cNvCxnSpPr>
          <p:nvPr/>
        </p:nvCxnSpPr>
        <p:spPr>
          <a:xfrm>
            <a:off x="10335904" y="833480"/>
            <a:ext cx="0" cy="224087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A52EC1-85EC-A023-D6A9-5624EA178561}"/>
              </a:ext>
            </a:extLst>
          </p:cNvPr>
          <p:cNvCxnSpPr>
            <a:cxnSpLocks/>
          </p:cNvCxnSpPr>
          <p:nvPr/>
        </p:nvCxnSpPr>
        <p:spPr>
          <a:xfrm flipV="1">
            <a:off x="8270540" y="913869"/>
            <a:ext cx="1080451" cy="16621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352D20-3781-5B97-F89F-C7F24F358117}"/>
              </a:ext>
            </a:extLst>
          </p:cNvPr>
          <p:cNvCxnSpPr>
            <a:cxnSpLocks/>
          </p:cNvCxnSpPr>
          <p:nvPr/>
        </p:nvCxnSpPr>
        <p:spPr>
          <a:xfrm flipV="1">
            <a:off x="8270541" y="1443895"/>
            <a:ext cx="1080450" cy="1104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15FCA5-A53C-EAED-8ACD-62B53437839C}"/>
              </a:ext>
            </a:extLst>
          </p:cNvPr>
          <p:cNvCxnSpPr>
            <a:cxnSpLocks/>
          </p:cNvCxnSpPr>
          <p:nvPr/>
        </p:nvCxnSpPr>
        <p:spPr>
          <a:xfrm flipV="1">
            <a:off x="8279994" y="1992586"/>
            <a:ext cx="1070995" cy="5708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A08EE7-CE39-8F1E-0FD0-8CFDFABAE0AE}"/>
              </a:ext>
            </a:extLst>
          </p:cNvPr>
          <p:cNvCxnSpPr>
            <a:cxnSpLocks/>
          </p:cNvCxnSpPr>
          <p:nvPr/>
        </p:nvCxnSpPr>
        <p:spPr>
          <a:xfrm>
            <a:off x="8270541" y="2550253"/>
            <a:ext cx="10804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53C9AD-F152-C132-BD2D-7AC867007D94}"/>
              </a:ext>
            </a:extLst>
          </p:cNvPr>
          <p:cNvCxnSpPr>
            <a:cxnSpLocks/>
          </p:cNvCxnSpPr>
          <p:nvPr/>
        </p:nvCxnSpPr>
        <p:spPr>
          <a:xfrm>
            <a:off x="8270542" y="2565067"/>
            <a:ext cx="1080449" cy="309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439E1B-9A4A-EA05-14F1-78C8050975A6}"/>
              </a:ext>
            </a:extLst>
          </p:cNvPr>
          <p:cNvCxnSpPr>
            <a:cxnSpLocks/>
          </p:cNvCxnSpPr>
          <p:nvPr/>
        </p:nvCxnSpPr>
        <p:spPr>
          <a:xfrm flipV="1">
            <a:off x="9360435" y="1501137"/>
            <a:ext cx="959187" cy="1373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BD9339-1B52-8C5B-5962-25F701D80783}"/>
              </a:ext>
            </a:extLst>
          </p:cNvPr>
          <p:cNvCxnSpPr>
            <a:cxnSpLocks/>
          </p:cNvCxnSpPr>
          <p:nvPr/>
        </p:nvCxnSpPr>
        <p:spPr>
          <a:xfrm flipV="1">
            <a:off x="9350984" y="1455536"/>
            <a:ext cx="983211" cy="1069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4F3067-9D7B-D6E1-CCCA-55B7990B6BDC}"/>
              </a:ext>
            </a:extLst>
          </p:cNvPr>
          <p:cNvCxnSpPr>
            <a:cxnSpLocks/>
          </p:cNvCxnSpPr>
          <p:nvPr/>
        </p:nvCxnSpPr>
        <p:spPr>
          <a:xfrm flipV="1">
            <a:off x="9350987" y="1474090"/>
            <a:ext cx="983208" cy="518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02245F-B38B-31C3-2CA7-DAF6B90776F7}"/>
              </a:ext>
            </a:extLst>
          </p:cNvPr>
          <p:cNvCxnSpPr>
            <a:cxnSpLocks/>
          </p:cNvCxnSpPr>
          <p:nvPr/>
        </p:nvCxnSpPr>
        <p:spPr>
          <a:xfrm>
            <a:off x="9350986" y="1484026"/>
            <a:ext cx="10012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63D0DEB-558C-7E7D-F186-C3C4715314FE}"/>
              </a:ext>
            </a:extLst>
          </p:cNvPr>
          <p:cNvCxnSpPr>
            <a:cxnSpLocks/>
          </p:cNvCxnSpPr>
          <p:nvPr/>
        </p:nvCxnSpPr>
        <p:spPr>
          <a:xfrm>
            <a:off x="9350984" y="943516"/>
            <a:ext cx="1001203" cy="5420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2FCF2EF-8855-4180-1C3C-2A63E0A598F4}"/>
              </a:ext>
            </a:extLst>
          </p:cNvPr>
          <p:cNvSpPr/>
          <p:nvPr/>
        </p:nvSpPr>
        <p:spPr>
          <a:xfrm>
            <a:off x="7973424" y="2441356"/>
            <a:ext cx="258620" cy="278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/>
              <a:t>i</a:t>
            </a:r>
            <a:endParaRPr lang="en-NZ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A1D415-FDED-75DC-B333-1116E4D22791}"/>
              </a:ext>
            </a:extLst>
          </p:cNvPr>
          <p:cNvSpPr/>
          <p:nvPr/>
        </p:nvSpPr>
        <p:spPr>
          <a:xfrm>
            <a:off x="10364272" y="1351787"/>
            <a:ext cx="258620" cy="278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j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EB0578-5EC6-7E88-DA7C-848501614132}"/>
              </a:ext>
            </a:extLst>
          </p:cNvPr>
          <p:cNvSpPr txBox="1">
            <a:spLocks/>
          </p:cNvSpPr>
          <p:nvPr/>
        </p:nvSpPr>
        <p:spPr>
          <a:xfrm>
            <a:off x="9050734" y="312942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800" i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m</a:t>
            </a:r>
            <a:endParaRPr kumimoji="1" lang="en-US" altLang="ja-JP" sz="18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7D32F924-8E70-6A4A-FB8C-68450C4DF5C1}"/>
              </a:ext>
            </a:extLst>
          </p:cNvPr>
          <p:cNvSpPr txBox="1">
            <a:spLocks/>
          </p:cNvSpPr>
          <p:nvPr/>
        </p:nvSpPr>
        <p:spPr>
          <a:xfrm>
            <a:off x="10010060" y="313030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800" i="1" dirty="0" err="1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m+n</a:t>
            </a:r>
            <a:endParaRPr kumimoji="1" lang="en-US" altLang="ja-JP" sz="18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">
                <a:extLst>
                  <a:ext uri="{FF2B5EF4-FFF2-40B4-BE49-F238E27FC236}">
                    <a16:creationId xmlns:a16="http://schemas.microsoft.com/office/drawing/2014/main" id="{41639672-E25A-6C1D-B174-8231E8D8B0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520" y="2878680"/>
                <a:ext cx="5776536" cy="11079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In particular, this implies that…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180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𝑘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𝒊𝒌</m:t>
                              </m:r>
                            </m:sub>
                          </m:s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𝒌𝒋</m:t>
                              </m:r>
                            </m:sub>
                          </m:sSub>
                        </m:e>
                      </m:nary>
                      <m:r>
                        <a:rPr lang="en-NZ" altLang="ja-JP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6" name="Text Placeholder 5">
                <a:extLst>
                  <a:ext uri="{FF2B5EF4-FFF2-40B4-BE49-F238E27FC236}">
                    <a16:creationId xmlns:a16="http://schemas.microsoft.com/office/drawing/2014/main" id="{41639672-E25A-6C1D-B174-8231E8D8B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20" y="2878680"/>
                <a:ext cx="5776536" cy="1107974"/>
              </a:xfrm>
              <a:prstGeom prst="rect">
                <a:avLst/>
              </a:prstGeom>
              <a:blipFill>
                <a:blip r:embed="rId5"/>
                <a:stretch>
                  <a:fillRect l="-950" t="-27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720C9F87-D758-6FF1-CF50-81F2E105D1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520" y="4007785"/>
                <a:ext cx="5776537" cy="11079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…which this implies that…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180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𝑘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𝑆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𝒊𝒌</m:t>
                              </m:r>
                            </m:sub>
                            <m:sup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𝒌𝒋</m:t>
                              </m:r>
                            </m:sub>
                          </m:sSub>
                        </m:e>
                      </m:nary>
                      <m:r>
                        <a:rPr lang="en-NZ" altLang="ja-JP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720C9F87-D758-6FF1-CF50-81F2E105D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20" y="4007785"/>
                <a:ext cx="5776537" cy="1107974"/>
              </a:xfrm>
              <a:prstGeom prst="rect">
                <a:avLst/>
              </a:prstGeom>
              <a:blipFill>
                <a:blip r:embed="rId6"/>
                <a:stretch>
                  <a:fillRect l="-950" t="-27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9F5D1ACA-C4CC-CAE6-D36E-D35FFF80BA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520" y="5136890"/>
                <a:ext cx="5776537" cy="11079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…which by induction this implies that…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180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𝑘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𝑆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𝒊𝒌</m:t>
                              </m:r>
                            </m:sub>
                            <m:sup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𝒌𝒋</m:t>
                              </m:r>
                            </m:sub>
                          </m:sSub>
                        </m:e>
                      </m:nary>
                      <m:r>
                        <a:rPr lang="en-NZ" altLang="ja-JP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9F5D1ACA-C4CC-CAE6-D36E-D35FFF80B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20" y="5136890"/>
                <a:ext cx="5776537" cy="1107974"/>
              </a:xfrm>
              <a:prstGeom prst="rect">
                <a:avLst/>
              </a:prstGeom>
              <a:blipFill>
                <a:blip r:embed="rId7"/>
                <a:stretch>
                  <a:fillRect l="-950" t="-33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9042BDE5-915E-D334-22F1-CB2279A5E8C0}"/>
              </a:ext>
            </a:extLst>
          </p:cNvPr>
          <p:cNvSpPr txBox="1">
            <a:spLocks/>
          </p:cNvSpPr>
          <p:nvPr/>
        </p:nvSpPr>
        <p:spPr>
          <a:xfrm>
            <a:off x="6837527" y="4549581"/>
            <a:ext cx="4597647" cy="1504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If you want to find the probability of the chain going state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to state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j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in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n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steps…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Take the matrix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raise it to the power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n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and read off the </a:t>
            </a:r>
            <a:r>
              <a:rPr kumimoji="1" lang="en-NZ" altLang="ja-JP" sz="18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ij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)</a:t>
            </a:r>
            <a:r>
              <a:rPr kumimoji="1" lang="en-NZ" altLang="ja-JP" sz="1800" b="1" i="1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</a:t>
            </a:r>
            <a:r>
              <a:rPr kumimoji="1" lang="en-NZ" altLang="ja-JP" sz="180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element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981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 animBg="1"/>
      <p:bldP spid="32" grpId="0" animBg="1"/>
      <p:bldP spid="33" grpId="0"/>
      <p:bldP spid="34" grpId="0"/>
      <p:bldP spid="36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8.1d – Communication Classes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04090"/>
                <a:ext cx="11553074" cy="4781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We say that state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</a:t>
                </a:r>
                <a:r>
                  <a:rPr lang="en-NZ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accessible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from state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(denoted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→ j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)  if </a:t>
                </a:r>
                <a14:m>
                  <m:oMath xmlns:m="http://schemas.openxmlformats.org/officeDocument/2006/math">
                    <m:r>
                      <a:rPr lang="en-NZ" altLang="ja-JP" sz="1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𝒏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such that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04090"/>
                <a:ext cx="11553074" cy="478151"/>
              </a:xfrm>
              <a:prstGeom prst="rect">
                <a:avLst/>
              </a:prstGeom>
              <a:blipFill>
                <a:blip r:embed="rId3"/>
                <a:stretch>
                  <a:fillRect l="-422" b="-1025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F2BED61-A029-8E51-0899-3E9C5C6C5F38}"/>
              </a:ext>
            </a:extLst>
          </p:cNvPr>
          <p:cNvSpPr txBox="1">
            <a:spLocks/>
          </p:cNvSpPr>
          <p:nvPr/>
        </p:nvSpPr>
        <p:spPr>
          <a:xfrm>
            <a:off x="475151" y="1165773"/>
            <a:ext cx="6689923" cy="362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i.e. it is possible to reach state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j 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from state </a:t>
            </a:r>
            <a:r>
              <a:rPr kumimoji="1" lang="en-NZ" altLang="ja-JP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.</a:t>
            </a:r>
            <a:endParaRPr lang="en-NZ" altLang="ja-JP" sz="16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FE56CC0C-CAC0-89FF-527F-0AD491D383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702426"/>
                <a:ext cx="11553074" cy="4781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We say that state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communicate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(denoted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j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)  if </a:t>
                </a:r>
                <a14:m>
                  <m:oMath xmlns:m="http://schemas.openxmlformats.org/officeDocument/2006/math">
                    <m:r>
                      <a:rPr lang="en-NZ" altLang="ja-JP" sz="1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𝟐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such that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FE56CC0C-CAC0-89FF-527F-0AD491D38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702426"/>
                <a:ext cx="11553074" cy="478151"/>
              </a:xfrm>
              <a:prstGeom prst="rect">
                <a:avLst/>
              </a:prstGeom>
              <a:blipFill>
                <a:blip r:embed="rId4"/>
                <a:stretch>
                  <a:fillRect l="-422" b="-1012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A78B7A24-3239-EE00-E467-8FB723376DBC}"/>
              </a:ext>
            </a:extLst>
          </p:cNvPr>
          <p:cNvSpPr txBox="1">
            <a:spLocks/>
          </p:cNvSpPr>
          <p:nvPr/>
        </p:nvSpPr>
        <p:spPr>
          <a:xfrm>
            <a:off x="475151" y="2085687"/>
            <a:ext cx="5276119" cy="5003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i.e. it is possible to reach state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kumimoji="1" lang="en-NZ" altLang="ja-JP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from state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j</a:t>
            </a:r>
            <a:r>
              <a:rPr lang="en-NZ" altLang="ja-JP" sz="16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 and vice versa</a:t>
            </a:r>
            <a:endParaRPr lang="en-NZ" altLang="ja-JP" sz="16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C97C581A-9589-7C82-3BE8-B78DED3E4D4B}"/>
              </a:ext>
            </a:extLst>
          </p:cNvPr>
          <p:cNvSpPr txBox="1">
            <a:spLocks/>
          </p:cNvSpPr>
          <p:nvPr/>
        </p:nvSpPr>
        <p:spPr>
          <a:xfrm>
            <a:off x="319463" y="2563838"/>
            <a:ext cx="11553074" cy="4781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Communication is an equivalence relation, i.e.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1A89032F-A7DB-97C6-5B1E-88083A6141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1757" y="2881808"/>
                <a:ext cx="7972811" cy="105975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rabicPeriod"/>
                  <a:defRPr/>
                </a:pPr>
                <a:r>
                  <a:rPr kumimoji="1" lang="en-NZ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All states communicate with themselves (since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𝒊𝒊</m:t>
                        </m:r>
                      </m:sub>
                      <m:sup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1" lang="en-NZ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).</a:t>
                </a: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rabicPeriod"/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6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j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then  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 </a:t>
                </a:r>
                <a:r>
                  <a:rPr lang="en-NZ" altLang="ja-JP" sz="16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(symmetry)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endParaRPr lang="en-NZ" altLang="ja-JP" sz="16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rabicPeriod"/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6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j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and  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 </a:t>
                </a:r>
                <a:r>
                  <a:rPr lang="en-NZ" altLang="ja-JP" sz="16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k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then 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600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↔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k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(transitivity)</a:t>
                </a: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1A89032F-A7DB-97C6-5B1E-88083A614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57" y="2881808"/>
                <a:ext cx="7972811" cy="1059752"/>
              </a:xfrm>
              <a:prstGeom prst="rect">
                <a:avLst/>
              </a:prstGeom>
              <a:blipFill>
                <a:blip r:embed="rId5"/>
                <a:stretch>
                  <a:fillRect l="-45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E9F40AF2-8CE7-5E97-29B0-3FDC13A34E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271419"/>
                <a:ext cx="11553074" cy="75807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a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discrete state space Markov chain with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can be uniquely decomposed into a sequence of disjoint subsets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such that</a:t>
                </a:r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E9F40AF2-8CE7-5E97-29B0-3FDC13A34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271419"/>
                <a:ext cx="11553074" cy="758076"/>
              </a:xfrm>
              <a:prstGeom prst="rect">
                <a:avLst/>
              </a:prstGeom>
              <a:blipFill>
                <a:blip r:embed="rId6"/>
                <a:stretch>
                  <a:fillRect l="-422" b="-1209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E64C3231-AF73-CF20-B5D4-589B9AD973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0137" y="4985570"/>
                <a:ext cx="7972811" cy="12592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S</m:t>
                    </m:r>
                    <m:r>
                      <a:rPr lang="en-NZ" altLang="ja-JP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NZ" altLang="ja-JP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NZ" altLang="ja-JP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NZ" altLang="ja-JP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NZ" altLang="ja-JP" sz="16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NZ" altLang="ja-JP" sz="16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endParaRPr lang="en-NZ" altLang="ja-JP" sz="16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NZ" altLang="ja-JP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NZ" altLang="ja-JP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i</m:t>
                        </m:r>
                      </m:sub>
                    </m:sSub>
                    <m:r>
                      <a:rPr kumimoji="1" lang="en-NZ" altLang="ja-JP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∩</m:t>
                    </m:r>
                    <m:sSub>
                      <m:sSubPr>
                        <m:ctrlPr>
                          <a:rPr kumimoji="1" lang="en-NZ" altLang="ja-JP" sz="16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NZ" altLang="ja-JP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NZ" altLang="ja-JP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j</m:t>
                        </m:r>
                      </m:sub>
                    </m:sSub>
                    <m:r>
                      <a:rPr kumimoji="1" lang="en-NZ" altLang="ja-JP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=∅</m:t>
                    </m:r>
                  </m:oMath>
                </a14:m>
                <a:endParaRPr kumimoji="1" lang="en-NZ" altLang="ja-JP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kumimoji="1" lang="en-US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All states in each </a:t>
                </a:r>
                <a:r>
                  <a:rPr kumimoji="1" lang="en-US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kumimoji="1" lang="en-US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6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communicate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E64C3231-AF73-CF20-B5D4-589B9AD97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137" y="4985570"/>
                <a:ext cx="7972811" cy="1259294"/>
              </a:xfrm>
              <a:prstGeom prst="rect">
                <a:avLst/>
              </a:prstGeom>
              <a:blipFill>
                <a:blip r:embed="rId7"/>
                <a:stretch>
                  <a:fillRect l="-382" t="-218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08A5CB4F-A6D6-F656-C737-B31F2C997B02}"/>
              </a:ext>
            </a:extLst>
          </p:cNvPr>
          <p:cNvSpPr txBox="1">
            <a:spLocks/>
          </p:cNvSpPr>
          <p:nvPr/>
        </p:nvSpPr>
        <p:spPr>
          <a:xfrm>
            <a:off x="319463" y="3923411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1: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055F3C59-0AF3-4D3E-6BE5-3364006AAF7C}"/>
              </a:ext>
            </a:extLst>
          </p:cNvPr>
          <p:cNvSpPr txBox="1">
            <a:spLocks/>
          </p:cNvSpPr>
          <p:nvPr/>
        </p:nvSpPr>
        <p:spPr>
          <a:xfrm>
            <a:off x="319463" y="5862762"/>
            <a:ext cx="9779879" cy="3961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=&gt; You can always decompose a Markov chain into a disjoint sequence of</a:t>
            </a:r>
            <a:r>
              <a:rPr kumimoji="1" lang="en-NZ" altLang="ja-JP" sz="180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communication classes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77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1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8.1d – Communication Classes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8124"/>
            <a:ext cx="11553074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A Markov</a:t>
            </a:r>
            <a:r>
              <a:rPr kumimoji="1" lang="en-NZ" altLang="ja-JP" sz="18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chain in which all states communicate (equivalently for which there is only one communication class)</a:t>
            </a:r>
            <a:b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is called an </a:t>
            </a:r>
            <a:r>
              <a:rPr lang="en-NZ" altLang="ja-JP" sz="1800" b="1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  <a:t>irreducible Markov Chain.</a:t>
            </a: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2250733-88BC-5DC0-0B55-E1AAF64C97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602655"/>
                <a:ext cx="11553074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Markov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chain in which there is more than one communication class is called a </a:t>
                </a:r>
                <a:r>
                  <a:rPr lang="en-NZ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Markov Chain</a:t>
                </a:r>
                <a:br>
                  <a:rPr lang="en-NZ" altLang="ja-JP" sz="18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⊊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𝒊𝒋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∀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𝒊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𝒋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∉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</m:sSub>
                  </m:oMath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2250733-88BC-5DC0-0B55-E1AAF64C9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602655"/>
                <a:ext cx="11553074" cy="675343"/>
              </a:xfrm>
              <a:prstGeom prst="rect">
                <a:avLst/>
              </a:prstGeom>
              <a:blipFill>
                <a:blip r:embed="rId3"/>
                <a:stretch>
                  <a:fillRect l="-422" t="-5405" b="-99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DC0D51C3-C801-1364-8290-C1D9B47DAD21}"/>
              </a:ext>
            </a:extLst>
          </p:cNvPr>
          <p:cNvSpPr/>
          <p:nvPr/>
        </p:nvSpPr>
        <p:spPr>
          <a:xfrm>
            <a:off x="2021019" y="284005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3D5ACB-0813-6343-B28E-8F507CCB50F8}"/>
              </a:ext>
            </a:extLst>
          </p:cNvPr>
          <p:cNvSpPr/>
          <p:nvPr/>
        </p:nvSpPr>
        <p:spPr>
          <a:xfrm>
            <a:off x="3565490" y="354973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8086B6-9CBC-A4E0-665A-6E1BA0390E0C}"/>
              </a:ext>
            </a:extLst>
          </p:cNvPr>
          <p:cNvSpPr/>
          <p:nvPr/>
        </p:nvSpPr>
        <p:spPr>
          <a:xfrm>
            <a:off x="2835335" y="512264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B12F35-AE71-A1D3-78E3-4DEA3F4F7012}"/>
              </a:ext>
            </a:extLst>
          </p:cNvPr>
          <p:cNvSpPr/>
          <p:nvPr/>
        </p:nvSpPr>
        <p:spPr>
          <a:xfrm>
            <a:off x="1281764" y="512264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0CC10B-EE5F-A63E-BE41-076CE78BB0AD}"/>
              </a:ext>
            </a:extLst>
          </p:cNvPr>
          <p:cNvSpPr/>
          <p:nvPr/>
        </p:nvSpPr>
        <p:spPr>
          <a:xfrm>
            <a:off x="503842" y="354973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33ED3E-47BF-77E7-1D20-A44DABAC2DC1}"/>
              </a:ext>
            </a:extLst>
          </p:cNvPr>
          <p:cNvCxnSpPr>
            <a:cxnSpLocks/>
          </p:cNvCxnSpPr>
          <p:nvPr/>
        </p:nvCxnSpPr>
        <p:spPr>
          <a:xfrm flipH="1">
            <a:off x="3213270" y="395132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573B5A-004C-B1F6-66F6-AE4514187596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3013804" y="387591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ED8EB7-3FEE-089E-DB8B-2D5488DDE71D}"/>
              </a:ext>
            </a:extLst>
          </p:cNvPr>
          <p:cNvCxnSpPr>
            <a:cxnSpLocks/>
            <a:stCxn id="20" idx="7"/>
            <a:endCxn id="19" idx="1"/>
          </p:cNvCxnSpPr>
          <p:nvPr/>
        </p:nvCxnSpPr>
        <p:spPr>
          <a:xfrm>
            <a:off x="1584641" y="517860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029DC7-4F0C-D990-AFD3-65A3C347C9B6}"/>
              </a:ext>
            </a:extLst>
          </p:cNvPr>
          <p:cNvCxnSpPr>
            <a:cxnSpLocks/>
            <a:stCxn id="19" idx="3"/>
            <a:endCxn id="20" idx="5"/>
          </p:cNvCxnSpPr>
          <p:nvPr/>
        </p:nvCxnSpPr>
        <p:spPr>
          <a:xfrm flipH="1">
            <a:off x="1584641" y="544881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FE3B76-F125-E3E4-45D2-7675B4A517A9}"/>
              </a:ext>
            </a:extLst>
          </p:cNvPr>
          <p:cNvCxnSpPr>
            <a:cxnSpLocks/>
          </p:cNvCxnSpPr>
          <p:nvPr/>
        </p:nvCxnSpPr>
        <p:spPr>
          <a:xfrm>
            <a:off x="981514" y="391175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C8A3D3-3043-7081-CC59-E7E98701D7AA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603486" y="393904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71644D-8AAB-81E3-7A0F-BBDC19D7A3DF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30469" y="385578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50FA47-4151-8CF2-8883-D0E3B4A13472}"/>
              </a:ext>
            </a:extLst>
          </p:cNvPr>
          <p:cNvCxnSpPr>
            <a:cxnSpLocks/>
            <a:stCxn id="21" idx="0"/>
            <a:endCxn id="17" idx="1"/>
          </p:cNvCxnSpPr>
          <p:nvPr/>
        </p:nvCxnSpPr>
        <p:spPr>
          <a:xfrm flipV="1">
            <a:off x="681263" y="289601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BD5B8C3-1D5E-DD84-4B70-9E745942828B}"/>
              </a:ext>
            </a:extLst>
          </p:cNvPr>
          <p:cNvCxnSpPr>
            <a:cxnSpLocks/>
            <a:stCxn id="17" idx="3"/>
            <a:endCxn id="21" idx="6"/>
          </p:cNvCxnSpPr>
          <p:nvPr/>
        </p:nvCxnSpPr>
        <p:spPr>
          <a:xfrm flipH="1">
            <a:off x="858684" y="316622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B908A8-B84C-57A0-8B1A-AEBC7588B4D5}"/>
              </a:ext>
            </a:extLst>
          </p:cNvPr>
          <p:cNvCxnSpPr>
            <a:cxnSpLocks/>
            <a:stCxn id="17" idx="7"/>
            <a:endCxn id="18" idx="0"/>
          </p:cNvCxnSpPr>
          <p:nvPr/>
        </p:nvCxnSpPr>
        <p:spPr>
          <a:xfrm>
            <a:off x="2323896" y="289601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8D7D21-1CB4-AA4E-E1C9-3F8A8D93D553}"/>
              </a:ext>
            </a:extLst>
          </p:cNvPr>
          <p:cNvCxnSpPr>
            <a:cxnSpLocks/>
            <a:stCxn id="18" idx="2"/>
            <a:endCxn id="17" idx="5"/>
          </p:cNvCxnSpPr>
          <p:nvPr/>
        </p:nvCxnSpPr>
        <p:spPr>
          <a:xfrm flipH="1" flipV="1">
            <a:off x="2323896" y="316622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663103-968C-36AF-CF1B-6751BB98D040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18785" y="374080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56C70CD1-1C35-2DD5-A38A-D2280A5EFC6B}"/>
              </a:ext>
            </a:extLst>
          </p:cNvPr>
          <p:cNvSpPr txBox="1">
            <a:spLocks/>
          </p:cNvSpPr>
          <p:nvPr/>
        </p:nvSpPr>
        <p:spPr>
          <a:xfrm>
            <a:off x="2887300" y="288177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2131B9B-1FE5-BD00-DA7E-281D2FD60127}"/>
              </a:ext>
            </a:extLst>
          </p:cNvPr>
          <p:cNvSpPr txBox="1">
            <a:spLocks/>
          </p:cNvSpPr>
          <p:nvPr/>
        </p:nvSpPr>
        <p:spPr>
          <a:xfrm>
            <a:off x="1434517" y="330700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23C42D9B-E671-5A47-D4A0-676C34CA30F8}"/>
              </a:ext>
            </a:extLst>
          </p:cNvPr>
          <p:cNvSpPr txBox="1">
            <a:spLocks/>
          </p:cNvSpPr>
          <p:nvPr/>
        </p:nvSpPr>
        <p:spPr>
          <a:xfrm>
            <a:off x="3471789" y="445970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B7261994-A948-19EB-D0A1-0AE2576BAD0B}"/>
              </a:ext>
            </a:extLst>
          </p:cNvPr>
          <p:cNvSpPr txBox="1">
            <a:spLocks/>
          </p:cNvSpPr>
          <p:nvPr/>
        </p:nvSpPr>
        <p:spPr>
          <a:xfrm>
            <a:off x="1877714" y="374080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0C11C413-BAFC-70D6-EF7A-3EAD8B966AB3}"/>
              </a:ext>
            </a:extLst>
          </p:cNvPr>
          <p:cNvSpPr txBox="1">
            <a:spLocks/>
          </p:cNvSpPr>
          <p:nvPr/>
        </p:nvSpPr>
        <p:spPr>
          <a:xfrm>
            <a:off x="2385134" y="336140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75C75C00-BC20-649F-F7CB-CA4384AF2683}"/>
              </a:ext>
            </a:extLst>
          </p:cNvPr>
          <p:cNvSpPr txBox="1">
            <a:spLocks/>
          </p:cNvSpPr>
          <p:nvPr/>
        </p:nvSpPr>
        <p:spPr>
          <a:xfrm>
            <a:off x="2768055" y="415810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C466ED34-C181-3CC0-217A-B6508EF2097C}"/>
              </a:ext>
            </a:extLst>
          </p:cNvPr>
          <p:cNvSpPr txBox="1">
            <a:spLocks/>
          </p:cNvSpPr>
          <p:nvPr/>
        </p:nvSpPr>
        <p:spPr>
          <a:xfrm>
            <a:off x="3272063" y="560168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AA3A4959-072F-BBE9-1A2B-3586F88E72DA}"/>
              </a:ext>
            </a:extLst>
          </p:cNvPr>
          <p:cNvCxnSpPr>
            <a:cxnSpLocks/>
            <a:stCxn id="19" idx="4"/>
            <a:endCxn id="19" idx="6"/>
          </p:cNvCxnSpPr>
          <p:nvPr/>
        </p:nvCxnSpPr>
        <p:spPr>
          <a:xfrm rot="5400000" flipH="1" flipV="1">
            <a:off x="3005932" y="532053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9F2A75E2-7733-E962-131B-D0DA3EC21DDB}"/>
              </a:ext>
            </a:extLst>
          </p:cNvPr>
          <p:cNvSpPr txBox="1">
            <a:spLocks/>
          </p:cNvSpPr>
          <p:nvPr/>
        </p:nvSpPr>
        <p:spPr>
          <a:xfrm>
            <a:off x="1990749" y="549883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7F7E569F-64F5-B5A7-769A-2FDDFB7FB50B}"/>
              </a:ext>
            </a:extLst>
          </p:cNvPr>
          <p:cNvSpPr txBox="1">
            <a:spLocks/>
          </p:cNvSpPr>
          <p:nvPr/>
        </p:nvSpPr>
        <p:spPr>
          <a:xfrm>
            <a:off x="1884189" y="482878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94D9BCCB-2B56-246A-B6B2-160122FE7AAD}"/>
              </a:ext>
            </a:extLst>
          </p:cNvPr>
          <p:cNvSpPr txBox="1">
            <a:spLocks/>
          </p:cNvSpPr>
          <p:nvPr/>
        </p:nvSpPr>
        <p:spPr>
          <a:xfrm>
            <a:off x="319463" y="458559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842C5D49-30A9-70F2-0EA8-F62CD7D267B7}"/>
              </a:ext>
            </a:extLst>
          </p:cNvPr>
          <p:cNvSpPr txBox="1">
            <a:spLocks/>
          </p:cNvSpPr>
          <p:nvPr/>
        </p:nvSpPr>
        <p:spPr>
          <a:xfrm>
            <a:off x="918565" y="292349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702C131A-890B-23B6-361A-FA864F32417E}"/>
              </a:ext>
            </a:extLst>
          </p:cNvPr>
          <p:cNvSpPr txBox="1">
            <a:spLocks/>
          </p:cNvSpPr>
          <p:nvPr/>
        </p:nvSpPr>
        <p:spPr>
          <a:xfrm>
            <a:off x="1876396" y="422091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B7C8EF67-F1F6-2401-0AA4-430B06945332}"/>
              </a:ext>
            </a:extLst>
          </p:cNvPr>
          <p:cNvSpPr txBox="1">
            <a:spLocks/>
          </p:cNvSpPr>
          <p:nvPr/>
        </p:nvSpPr>
        <p:spPr>
          <a:xfrm>
            <a:off x="1170214" y="443624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68F21E2D-C5A6-8C88-0E8A-8EB24A25D6A3}"/>
              </a:ext>
            </a:extLst>
          </p:cNvPr>
          <p:cNvSpPr txBox="1">
            <a:spLocks/>
          </p:cNvSpPr>
          <p:nvPr/>
        </p:nvSpPr>
        <p:spPr>
          <a:xfrm>
            <a:off x="89298" y="2314683"/>
            <a:ext cx="4218283" cy="3752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Irreducible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58B7AF81-FF4F-ACC3-13A0-907C8A0C8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181" y="5930654"/>
                <a:ext cx="4218283" cy="4298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={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𝟐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𝟑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𝟒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𝟓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}</m:t>
                      </m:r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58B7AF81-FF4F-ACC3-13A0-907C8A0C8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81" y="5930654"/>
                <a:ext cx="4218283" cy="4298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E32B464C-4581-E181-C407-42DDC4DCD345}"/>
              </a:ext>
            </a:extLst>
          </p:cNvPr>
          <p:cNvSpPr/>
          <p:nvPr/>
        </p:nvSpPr>
        <p:spPr>
          <a:xfrm>
            <a:off x="6151373" y="318696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7FC217C-D9A1-B809-029B-EFA293D079A1}"/>
              </a:ext>
            </a:extLst>
          </p:cNvPr>
          <p:cNvSpPr/>
          <p:nvPr/>
        </p:nvSpPr>
        <p:spPr>
          <a:xfrm>
            <a:off x="6151373" y="4509419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A2E0554-E7B1-50CC-9814-F464BA8DAF72}"/>
              </a:ext>
            </a:extLst>
          </p:cNvPr>
          <p:cNvSpPr/>
          <p:nvPr/>
        </p:nvSpPr>
        <p:spPr>
          <a:xfrm>
            <a:off x="7515972" y="318696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86AA4E8-5CB8-6053-ABE5-C99C0816756E}"/>
              </a:ext>
            </a:extLst>
          </p:cNvPr>
          <p:cNvSpPr/>
          <p:nvPr/>
        </p:nvSpPr>
        <p:spPr>
          <a:xfrm>
            <a:off x="8880571" y="318696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B3A5A92-63A1-72E6-6E6B-CEA02747383E}"/>
              </a:ext>
            </a:extLst>
          </p:cNvPr>
          <p:cNvSpPr/>
          <p:nvPr/>
        </p:nvSpPr>
        <p:spPr>
          <a:xfrm>
            <a:off x="10355921" y="318696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45EC40-4FED-518F-C37A-A6201458174F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V="1">
            <a:off x="6203338" y="3513136"/>
            <a:ext cx="0" cy="10522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90926E-A262-0E4E-351D-84B137C0DD39}"/>
              </a:ext>
            </a:extLst>
          </p:cNvPr>
          <p:cNvCxnSpPr>
            <a:cxnSpLocks/>
            <a:stCxn id="59" idx="5"/>
            <a:endCxn id="60" idx="7"/>
          </p:cNvCxnSpPr>
          <p:nvPr/>
        </p:nvCxnSpPr>
        <p:spPr>
          <a:xfrm>
            <a:off x="6454250" y="3513136"/>
            <a:ext cx="0" cy="10522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AA92A3E6-0615-978F-FFB4-0B10DB691A10}"/>
              </a:ext>
            </a:extLst>
          </p:cNvPr>
          <p:cNvSpPr/>
          <p:nvPr/>
        </p:nvSpPr>
        <p:spPr>
          <a:xfrm>
            <a:off x="9551408" y="411637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73377A4-B284-6514-4F80-EE16319AB811}"/>
              </a:ext>
            </a:extLst>
          </p:cNvPr>
          <p:cNvSpPr/>
          <p:nvPr/>
        </p:nvSpPr>
        <p:spPr>
          <a:xfrm>
            <a:off x="8525729" y="489155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7333E6A-F7EF-ECDE-2CE5-A0F38238A879}"/>
              </a:ext>
            </a:extLst>
          </p:cNvPr>
          <p:cNvSpPr/>
          <p:nvPr/>
        </p:nvSpPr>
        <p:spPr>
          <a:xfrm>
            <a:off x="7611153" y="411637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8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31EFCEF-60AB-BAFF-A50F-DA40679A6686}"/>
              </a:ext>
            </a:extLst>
          </p:cNvPr>
          <p:cNvCxnSpPr>
            <a:cxnSpLocks/>
            <a:stCxn id="59" idx="6"/>
            <a:endCxn id="61" idx="2"/>
          </p:cNvCxnSpPr>
          <p:nvPr/>
        </p:nvCxnSpPr>
        <p:spPr>
          <a:xfrm>
            <a:off x="6506215" y="3378031"/>
            <a:ext cx="10097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CD12F0-8A58-0949-60E6-4E1BB214FB4F}"/>
              </a:ext>
            </a:extLst>
          </p:cNvPr>
          <p:cNvCxnSpPr>
            <a:cxnSpLocks/>
            <a:stCxn id="61" idx="7"/>
            <a:endCxn id="62" idx="1"/>
          </p:cNvCxnSpPr>
          <p:nvPr/>
        </p:nvCxnSpPr>
        <p:spPr>
          <a:xfrm>
            <a:off x="7818849" y="3242926"/>
            <a:ext cx="11136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9D61018-BBDB-DBD5-E5DE-27184B75F41D}"/>
              </a:ext>
            </a:extLst>
          </p:cNvPr>
          <p:cNvCxnSpPr>
            <a:cxnSpLocks/>
            <a:stCxn id="62" idx="3"/>
            <a:endCxn id="61" idx="5"/>
          </p:cNvCxnSpPr>
          <p:nvPr/>
        </p:nvCxnSpPr>
        <p:spPr>
          <a:xfrm flipH="1">
            <a:off x="7818849" y="3513136"/>
            <a:ext cx="11136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5FF8B6-91FE-DAA5-E9E5-4C11F26699CE}"/>
              </a:ext>
            </a:extLst>
          </p:cNvPr>
          <p:cNvCxnSpPr>
            <a:cxnSpLocks/>
            <a:stCxn id="62" idx="6"/>
            <a:endCxn id="63" idx="2"/>
          </p:cNvCxnSpPr>
          <p:nvPr/>
        </p:nvCxnSpPr>
        <p:spPr>
          <a:xfrm>
            <a:off x="9235413" y="3378031"/>
            <a:ext cx="11205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0BAD84B-2BBD-29B4-3D8A-731F4C07F37D}"/>
              </a:ext>
            </a:extLst>
          </p:cNvPr>
          <p:cNvCxnSpPr>
            <a:cxnSpLocks/>
            <a:stCxn id="63" idx="4"/>
            <a:endCxn id="66" idx="7"/>
          </p:cNvCxnSpPr>
          <p:nvPr/>
        </p:nvCxnSpPr>
        <p:spPr>
          <a:xfrm flipH="1">
            <a:off x="9854285" y="3569099"/>
            <a:ext cx="679057" cy="603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5FC60C-EFF4-AA8E-6C6E-762A99E83BE9}"/>
              </a:ext>
            </a:extLst>
          </p:cNvPr>
          <p:cNvCxnSpPr>
            <a:cxnSpLocks/>
            <a:stCxn id="66" idx="4"/>
            <a:endCxn id="67" idx="6"/>
          </p:cNvCxnSpPr>
          <p:nvPr/>
        </p:nvCxnSpPr>
        <p:spPr>
          <a:xfrm flipH="1">
            <a:off x="8880571" y="4498511"/>
            <a:ext cx="848258" cy="584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D95E312-88B3-6CCF-8D22-7032FA8ABE5A}"/>
              </a:ext>
            </a:extLst>
          </p:cNvPr>
          <p:cNvCxnSpPr>
            <a:cxnSpLocks/>
            <a:stCxn id="67" idx="0"/>
            <a:endCxn id="66" idx="2"/>
          </p:cNvCxnSpPr>
          <p:nvPr/>
        </p:nvCxnSpPr>
        <p:spPr>
          <a:xfrm flipV="1">
            <a:off x="8703150" y="4307443"/>
            <a:ext cx="848258" cy="584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0010C19-F685-D353-EC33-65A69F6AB4F3}"/>
              </a:ext>
            </a:extLst>
          </p:cNvPr>
          <p:cNvCxnSpPr>
            <a:cxnSpLocks/>
            <a:stCxn id="67" idx="1"/>
            <a:endCxn id="68" idx="5"/>
          </p:cNvCxnSpPr>
          <p:nvPr/>
        </p:nvCxnSpPr>
        <p:spPr>
          <a:xfrm flipH="1" flipV="1">
            <a:off x="7914030" y="4442548"/>
            <a:ext cx="663664" cy="5049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E184CE0-36B8-9CCC-5896-C1560F66C937}"/>
              </a:ext>
            </a:extLst>
          </p:cNvPr>
          <p:cNvCxnSpPr>
            <a:cxnSpLocks/>
            <a:stCxn id="68" idx="6"/>
            <a:endCxn id="66" idx="2"/>
          </p:cNvCxnSpPr>
          <p:nvPr/>
        </p:nvCxnSpPr>
        <p:spPr>
          <a:xfrm>
            <a:off x="7965995" y="4307443"/>
            <a:ext cx="15854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4204C5AE-2590-9977-501E-38645F802CE6}"/>
              </a:ext>
            </a:extLst>
          </p:cNvPr>
          <p:cNvSpPr txBox="1">
            <a:spLocks/>
          </p:cNvSpPr>
          <p:nvPr/>
        </p:nvSpPr>
        <p:spPr>
          <a:xfrm>
            <a:off x="6416587" y="2277347"/>
            <a:ext cx="4218283" cy="3752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800" b="1" u="sng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R</a:t>
            </a: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educible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 Placeholder 5">
                <a:extLst>
                  <a:ext uri="{FF2B5EF4-FFF2-40B4-BE49-F238E27FC236}">
                    <a16:creationId xmlns:a16="http://schemas.microsoft.com/office/drawing/2014/main" id="{7295E36B-0B2D-F885-5F64-FF9E5410D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4008" y="5930654"/>
                <a:ext cx="4218283" cy="4298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𝟒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}∪{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9" name="Text Placeholder 5">
                <a:extLst>
                  <a:ext uri="{FF2B5EF4-FFF2-40B4-BE49-F238E27FC236}">
                    <a16:creationId xmlns:a16="http://schemas.microsoft.com/office/drawing/2014/main" id="{7295E36B-0B2D-F885-5F64-FF9E5410D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08" y="5930654"/>
                <a:ext cx="4218283" cy="429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8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34" grpId="0"/>
      <p:bldP spid="36" grpId="0"/>
      <p:bldP spid="38" grpId="0"/>
      <p:bldP spid="39" grpId="0"/>
      <p:bldP spid="40" grpId="0"/>
      <p:bldP spid="42" grpId="0"/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 animBg="1"/>
      <p:bldP spid="60" grpId="0" animBg="1"/>
      <p:bldP spid="61" grpId="0" animBg="1"/>
      <p:bldP spid="62" grpId="0" animBg="1"/>
      <p:bldP spid="63" grpId="0" animBg="1"/>
      <p:bldP spid="66" grpId="0" animBg="1"/>
      <p:bldP spid="67" grpId="0" animBg="1"/>
      <p:bldP spid="68" grpId="0" animBg="1"/>
      <p:bldP spid="78" grpId="0"/>
      <p:bldP spid="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8.1e – Recurrence &amp; Transience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8124"/>
                <a:ext cx="11553074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𝑷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(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)</m:t>
                            </m:r>
                          </m:sup>
                        </m:s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𝒇𝒐𝒓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𝒔𝒐𝒎𝒆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≥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 | 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</m:d>
                          </m:sup>
                        </m:s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</m:e>
                    </m:d>
                  </m:oMath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the probability that the chain will return to state </a:t>
                </a:r>
                <a:r>
                  <a:rPr kumimoji="1" lang="en-US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at some point in the future given that it started there.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8124"/>
                <a:ext cx="11553074" cy="675343"/>
              </a:xfrm>
              <a:prstGeom prst="rect">
                <a:avLst/>
              </a:prstGeom>
              <a:blipFill>
                <a:blip r:embed="rId3"/>
                <a:stretch>
                  <a:fillRect l="-422" t="-901" b="-153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Placeholder 5">
                <a:extLst>
                  <a:ext uri="{FF2B5EF4-FFF2-40B4-BE49-F238E27FC236}">
                    <a16:creationId xmlns:a16="http://schemas.microsoft.com/office/drawing/2014/main" id="{94E9E909-D533-721B-566C-FA46DA4EAD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762844"/>
                <a:ext cx="11553074" cy="95306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then the chain is certain to </a:t>
                </a:r>
                <a:r>
                  <a:rPr lang="en-US" altLang="ja-JP" sz="1800" dirty="0">
                    <a:solidFill>
                      <a:prstClr val="black"/>
                    </a:solidFill>
                  </a:rPr>
                  <a:t>return to 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</a:rPr>
                  <a:t> at some point in the future.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known as a </a:t>
                </a:r>
                <a:r>
                  <a:rPr lang="en-US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recurrent state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By definition of the Markov property, the </a:t>
                </a:r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chain will visit a recurrent state an infinite number of times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 </a:t>
                </a:r>
              </a:p>
            </p:txBody>
          </p:sp>
        </mc:Choice>
        <mc:Fallback xmlns="">
          <p:sp>
            <p:nvSpPr>
              <p:cNvPr id="80" name="Text Placeholder 5">
                <a:extLst>
                  <a:ext uri="{FF2B5EF4-FFF2-40B4-BE49-F238E27FC236}">
                    <a16:creationId xmlns:a16="http://schemas.microsoft.com/office/drawing/2014/main" id="{94E9E909-D533-721B-566C-FA46DA4EA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762844"/>
                <a:ext cx="11553074" cy="953060"/>
              </a:xfrm>
              <a:prstGeom prst="rect">
                <a:avLst/>
              </a:prstGeom>
              <a:blipFill>
                <a:blip r:embed="rId4"/>
                <a:stretch>
                  <a:fillRect l="-422" t="-3185" b="-57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Placeholder 5">
                <a:extLst>
                  <a:ext uri="{FF2B5EF4-FFF2-40B4-BE49-F238E27FC236}">
                    <a16:creationId xmlns:a16="http://schemas.microsoft.com/office/drawing/2014/main" id="{088E14CC-985D-56E2-2FA4-8C8D91B02A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905002"/>
                <a:ext cx="11553074" cy="95306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&lt;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then the chain is not certain to </a:t>
                </a:r>
                <a:r>
                  <a:rPr lang="en-US" altLang="ja-JP" sz="1800" dirty="0">
                    <a:solidFill>
                      <a:prstClr val="black"/>
                    </a:solidFill>
                  </a:rPr>
                  <a:t>return to 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</a:rPr>
                  <a:t> at some point in the future.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known as a </a:t>
                </a:r>
                <a:r>
                  <a:rPr lang="en-US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transient state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 </a:t>
                </a:r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chain will visit a transient state only a finite number of times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 </a:t>
                </a:r>
              </a:p>
            </p:txBody>
          </p:sp>
        </mc:Choice>
        <mc:Fallback xmlns="">
          <p:sp>
            <p:nvSpPr>
              <p:cNvPr id="81" name="Text Placeholder 5">
                <a:extLst>
                  <a:ext uri="{FF2B5EF4-FFF2-40B4-BE49-F238E27FC236}">
                    <a16:creationId xmlns:a16="http://schemas.microsoft.com/office/drawing/2014/main" id="{088E14CC-985D-56E2-2FA4-8C8D91B02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905002"/>
                <a:ext cx="11553074" cy="953060"/>
              </a:xfrm>
              <a:prstGeom prst="rect">
                <a:avLst/>
              </a:prstGeom>
              <a:blipFill>
                <a:blip r:embed="rId5"/>
                <a:stretch>
                  <a:fillRect l="-422" t="-3846" b="-64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Placeholder 5">
                <a:extLst>
                  <a:ext uri="{FF2B5EF4-FFF2-40B4-BE49-F238E27FC236}">
                    <a16:creationId xmlns:a16="http://schemas.microsoft.com/office/drawing/2014/main" id="{AE2021A8-BD36-8C7C-6E52-5D2A236CBF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520019"/>
                <a:ext cx="11553074" cy="116086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a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discrete state space Markov chain with State Space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𝑺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For any communication class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all states are either recurrent or transient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if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b="1" i="1" dirty="0" err="1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i="1" dirty="0">
                    <a:solidFill>
                      <a:schemeClr val="bg2">
                        <a:lumMod val="50000"/>
                      </a:schemeClr>
                    </a:solidFill>
                  </a:rPr>
                  <a:t>↔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j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then either both are recurrent or both are transient.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3" name="Text Placeholder 5">
                <a:extLst>
                  <a:ext uri="{FF2B5EF4-FFF2-40B4-BE49-F238E27FC236}">
                    <a16:creationId xmlns:a16="http://schemas.microsoft.com/office/drawing/2014/main" id="{AE2021A8-BD36-8C7C-6E52-5D2A236CB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520019"/>
                <a:ext cx="11553074" cy="1160869"/>
              </a:xfrm>
              <a:prstGeom prst="rect">
                <a:avLst/>
              </a:prstGeom>
              <a:blipFill>
                <a:blip r:embed="rId6"/>
                <a:stretch>
                  <a:fillRect l="-422" t="-2356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6213B684-5D6A-E065-BD5A-5306EFE2BFCE}"/>
              </a:ext>
            </a:extLst>
          </p:cNvPr>
          <p:cNvSpPr txBox="1">
            <a:spLocks/>
          </p:cNvSpPr>
          <p:nvPr/>
        </p:nvSpPr>
        <p:spPr>
          <a:xfrm>
            <a:off x="319463" y="4172012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2: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C85D9EB-9E19-49BF-500D-F582197AAF88}"/>
              </a:ext>
            </a:extLst>
          </p:cNvPr>
          <p:cNvSpPr txBox="1">
            <a:spLocks/>
          </p:cNvSpPr>
          <p:nvPr/>
        </p:nvSpPr>
        <p:spPr>
          <a:xfrm>
            <a:off x="8167609" y="4821245"/>
            <a:ext cx="2794173" cy="581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“If two states communicate, </a:t>
            </a:r>
            <a:b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they share the same nature”</a:t>
            </a:r>
            <a:endParaRPr kumimoji="1" lang="en-US" altLang="ja-JP" sz="140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16C066C-44A8-FEB8-1169-2BDCB2367A55}"/>
              </a:ext>
            </a:extLst>
          </p:cNvPr>
          <p:cNvSpPr txBox="1">
            <a:spLocks/>
          </p:cNvSpPr>
          <p:nvPr/>
        </p:nvSpPr>
        <p:spPr>
          <a:xfrm>
            <a:off x="319463" y="5799785"/>
            <a:ext cx="11553074" cy="420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If all states in a Markov chain are recurrent, then we say that the chain is recurrent.</a:t>
            </a:r>
            <a:endParaRPr kumimoji="1" lang="en-US" altLang="ja-JP" sz="16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70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3" grpId="0"/>
      <p:bldP spid="85" grpId="0"/>
      <p:bldP spid="1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8.1e – Recurrence &amp; Transience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4DFE41-2A34-65F7-1D0A-A4CC0D257486}"/>
              </a:ext>
            </a:extLst>
          </p:cNvPr>
          <p:cNvSpPr/>
          <p:nvPr/>
        </p:nvSpPr>
        <p:spPr>
          <a:xfrm>
            <a:off x="491319" y="136029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15BD70-4C97-5440-2A3E-1E61DC7CB623}"/>
              </a:ext>
            </a:extLst>
          </p:cNvPr>
          <p:cNvSpPr/>
          <p:nvPr/>
        </p:nvSpPr>
        <p:spPr>
          <a:xfrm>
            <a:off x="1855918" y="136029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4A8EF2-5497-C6EF-4F27-94951AE390BE}"/>
              </a:ext>
            </a:extLst>
          </p:cNvPr>
          <p:cNvSpPr/>
          <p:nvPr/>
        </p:nvSpPr>
        <p:spPr>
          <a:xfrm>
            <a:off x="3998439" y="136029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786A83-E5CA-D2B0-A7D7-C992915870B2}"/>
              </a:ext>
            </a:extLst>
          </p:cNvPr>
          <p:cNvSpPr/>
          <p:nvPr/>
        </p:nvSpPr>
        <p:spPr>
          <a:xfrm>
            <a:off x="3122867" y="303146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8A8983-ECC3-3C78-CE26-48C74BF1F005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1148880" y="1803163"/>
            <a:ext cx="70703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0E2EAD-FEC1-9120-03AC-86A32C5EFE67}"/>
              </a:ext>
            </a:extLst>
          </p:cNvPr>
          <p:cNvCxnSpPr>
            <a:cxnSpLocks/>
            <a:stCxn id="12" idx="7"/>
            <a:endCxn id="13" idx="1"/>
          </p:cNvCxnSpPr>
          <p:nvPr/>
        </p:nvCxnSpPr>
        <p:spPr>
          <a:xfrm>
            <a:off x="2417181" y="1490009"/>
            <a:ext cx="16775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127D35-14FC-8AAB-603C-9C0951B3728F}"/>
              </a:ext>
            </a:extLst>
          </p:cNvPr>
          <p:cNvCxnSpPr>
            <a:cxnSpLocks/>
            <a:stCxn id="13" idx="3"/>
            <a:endCxn id="12" idx="5"/>
          </p:cNvCxnSpPr>
          <p:nvPr/>
        </p:nvCxnSpPr>
        <p:spPr>
          <a:xfrm flipH="1">
            <a:off x="2417181" y="2116317"/>
            <a:ext cx="16775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DC83F5-8A2A-C7C5-1888-ABC4323EDDE2}"/>
              </a:ext>
            </a:extLst>
          </p:cNvPr>
          <p:cNvCxnSpPr>
            <a:cxnSpLocks/>
            <a:stCxn id="13" idx="4"/>
            <a:endCxn id="14" idx="7"/>
          </p:cNvCxnSpPr>
          <p:nvPr/>
        </p:nvCxnSpPr>
        <p:spPr>
          <a:xfrm flipH="1">
            <a:off x="3684130" y="2246029"/>
            <a:ext cx="643090" cy="9151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C665F8-6FE6-B5A4-D303-BAB5CEA09C5A}"/>
              </a:ext>
            </a:extLst>
          </p:cNvPr>
          <p:cNvCxnSpPr>
            <a:cxnSpLocks/>
            <a:stCxn id="14" idx="1"/>
            <a:endCxn id="12" idx="4"/>
          </p:cNvCxnSpPr>
          <p:nvPr/>
        </p:nvCxnSpPr>
        <p:spPr>
          <a:xfrm flipH="1" flipV="1">
            <a:off x="2184699" y="2246029"/>
            <a:ext cx="1034466" cy="9151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C4AC434-5C21-AEC9-1AE8-4A7E4D2EA40E}"/>
              </a:ext>
            </a:extLst>
          </p:cNvPr>
          <p:cNvCxnSpPr>
            <a:cxnSpLocks/>
            <a:stCxn id="14" idx="4"/>
            <a:endCxn id="14" idx="6"/>
          </p:cNvCxnSpPr>
          <p:nvPr/>
        </p:nvCxnSpPr>
        <p:spPr>
          <a:xfrm rot="5400000" flipH="1" flipV="1">
            <a:off x="3394605" y="3531370"/>
            <a:ext cx="442866" cy="328780"/>
          </a:xfrm>
          <a:prstGeom prst="curvedConnector4">
            <a:avLst>
              <a:gd name="adj1" fmla="val -51618"/>
              <a:gd name="adj2" fmla="val 16953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D1235C8-B885-AC7A-176E-4BF9483AFD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3316338"/>
                <a:ext cx="2653783" cy="4298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D1235C8-B885-AC7A-176E-4BF9483A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316338"/>
                <a:ext cx="2653783" cy="429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4107E03-24C5-4CAF-99D3-35E90E7F4F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1472" y="1158746"/>
                <a:ext cx="6292840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)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𝒇𝒐𝒓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𝒔𝒐𝒎𝒆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≥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|  </m:t>
                          </m:r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4107E03-24C5-4CAF-99D3-35E90E7F4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472" y="1158746"/>
                <a:ext cx="6292840" cy="492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71292AA8-DEC5-D31F-86A7-2BDB0FB08D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6655" y="1623683"/>
                <a:ext cx="5304026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−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)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𝒇𝒐𝒓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𝒂𝒏𝒚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≥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|  </m:t>
                          </m:r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71292AA8-DEC5-D31F-86A7-2BDB0FB0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655" y="1623683"/>
                <a:ext cx="5304026" cy="492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F589D30-6A69-0872-58EC-C0B099B0A95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9262" y="1927043"/>
            <a:ext cx="442866" cy="328780"/>
          </a:xfrm>
          <a:prstGeom prst="curvedConnector4">
            <a:avLst>
              <a:gd name="adj1" fmla="val -51618"/>
              <a:gd name="adj2" fmla="val 16953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ECC7102-C4A9-1A58-9193-20F8517FDA70}"/>
              </a:ext>
            </a:extLst>
          </p:cNvPr>
          <p:cNvSpPr txBox="1">
            <a:spLocks/>
          </p:cNvSpPr>
          <p:nvPr/>
        </p:nvSpPr>
        <p:spPr>
          <a:xfrm>
            <a:off x="1173558" y="2378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0.9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4C15821-5DBD-2B45-5B80-09ED92913D1B}"/>
              </a:ext>
            </a:extLst>
          </p:cNvPr>
          <p:cNvSpPr txBox="1">
            <a:spLocks/>
          </p:cNvSpPr>
          <p:nvPr/>
        </p:nvSpPr>
        <p:spPr>
          <a:xfrm>
            <a:off x="1175571" y="138451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0.1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560F71A-5F17-8180-1A03-533E8C674A12}"/>
              </a:ext>
            </a:extLst>
          </p:cNvPr>
          <p:cNvSpPr txBox="1">
            <a:spLocks/>
          </p:cNvSpPr>
          <p:nvPr/>
        </p:nvSpPr>
        <p:spPr>
          <a:xfrm>
            <a:off x="2890385" y="114362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4D9BE33F-3631-3795-1A64-97C0EBA403DB}"/>
              </a:ext>
            </a:extLst>
          </p:cNvPr>
          <p:cNvSpPr txBox="1">
            <a:spLocks/>
          </p:cNvSpPr>
          <p:nvPr/>
        </p:nvSpPr>
        <p:spPr>
          <a:xfrm>
            <a:off x="2933768" y="209739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0.75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5E09D0D3-CCEE-8438-C981-51628395F30D}"/>
              </a:ext>
            </a:extLst>
          </p:cNvPr>
          <p:cNvCxnSpPr>
            <a:cxnSpLocks/>
            <a:stCxn id="12" idx="1"/>
            <a:endCxn id="12" idx="7"/>
          </p:cNvCxnSpPr>
          <p:nvPr/>
        </p:nvCxnSpPr>
        <p:spPr>
          <a:xfrm rot="5400000" flipH="1" flipV="1">
            <a:off x="2184698" y="1257527"/>
            <a:ext cx="12700" cy="464965"/>
          </a:xfrm>
          <a:prstGeom prst="curvedConnector3">
            <a:avLst>
              <a:gd name="adj1" fmla="val 43258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02704E8-DBF5-2DCB-D0DD-4EE797140BDC}"/>
              </a:ext>
            </a:extLst>
          </p:cNvPr>
          <p:cNvSpPr txBox="1">
            <a:spLocks/>
          </p:cNvSpPr>
          <p:nvPr/>
        </p:nvSpPr>
        <p:spPr>
          <a:xfrm>
            <a:off x="1542779" y="79230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95296600-D1DE-2D9B-BC9E-564CCCCE4E53}"/>
              </a:ext>
            </a:extLst>
          </p:cNvPr>
          <p:cNvSpPr txBox="1">
            <a:spLocks/>
          </p:cNvSpPr>
          <p:nvPr/>
        </p:nvSpPr>
        <p:spPr>
          <a:xfrm>
            <a:off x="3944644" y="25668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4C44DCB4-9360-9F08-158B-0DF4EE65022B}"/>
              </a:ext>
            </a:extLst>
          </p:cNvPr>
          <p:cNvSpPr txBox="1">
            <a:spLocks/>
          </p:cNvSpPr>
          <p:nvPr/>
        </p:nvSpPr>
        <p:spPr>
          <a:xfrm>
            <a:off x="3944644" y="36201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23197BA-2480-0635-CB97-7D4A8081BDE6}"/>
              </a:ext>
            </a:extLst>
          </p:cNvPr>
          <p:cNvSpPr txBox="1">
            <a:spLocks/>
          </p:cNvSpPr>
          <p:nvPr/>
        </p:nvSpPr>
        <p:spPr>
          <a:xfrm>
            <a:off x="2474597" y="284634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8B907654-F15D-D316-7BD4-780600E019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6655" y="2034901"/>
                <a:ext cx="5304026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−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𝟎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.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8B907654-F15D-D316-7BD4-780600E01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655" y="2034901"/>
                <a:ext cx="5304026" cy="492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158D5E3F-036B-C109-A93D-A1300D04A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6655" y="2396094"/>
                <a:ext cx="5304026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𝟎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.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𝟗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&lt;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158D5E3F-036B-C109-A93D-A1300D04A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655" y="2396094"/>
                <a:ext cx="5304026" cy="4926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A77CD5D9-3BAA-2CFC-04C8-0E690D5C0FAA}"/>
              </a:ext>
            </a:extLst>
          </p:cNvPr>
          <p:cNvSpPr txBox="1">
            <a:spLocks/>
          </p:cNvSpPr>
          <p:nvPr/>
        </p:nvSpPr>
        <p:spPr>
          <a:xfrm>
            <a:off x="6396655" y="2796102"/>
            <a:ext cx="5304026" cy="492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=&gt; 1 is a transient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05384764-2677-EE23-F0C7-B38C1596B7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7500" y="3473838"/>
                <a:ext cx="5945151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𝟐𝟐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)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𝒇𝒐𝒓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𝒔𝒐𝒎𝒆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≥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 |  </m:t>
                          </m:r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05384764-2677-EE23-F0C7-B38C1596B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500" y="3473838"/>
                <a:ext cx="5945151" cy="4926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Placeholder 5">
                <a:extLst>
                  <a:ext uri="{FF2B5EF4-FFF2-40B4-BE49-F238E27FC236}">
                    <a16:creationId xmlns:a16="http://schemas.microsoft.com/office/drawing/2014/main" id="{208AB48A-D242-58FD-F1EA-2F52C3A61B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7" y="3870220"/>
                <a:ext cx="5945151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func>
                        <m:func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NZ" altLang="ja-JP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𝒌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𝒇𝒐𝒓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𝒔𝒐𝒎𝒆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|  </m:t>
                              </m:r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0" name="Text Placeholder 5">
                <a:extLst>
                  <a:ext uri="{FF2B5EF4-FFF2-40B4-BE49-F238E27FC236}">
                    <a16:creationId xmlns:a16="http://schemas.microsoft.com/office/drawing/2014/main" id="{208AB48A-D242-58FD-F1EA-2F52C3A6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7" y="3870220"/>
                <a:ext cx="5945151" cy="4926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Placeholder 5">
                <a:extLst>
                  <a:ext uri="{FF2B5EF4-FFF2-40B4-BE49-F238E27FC236}">
                    <a16:creationId xmlns:a16="http://schemas.microsoft.com/office/drawing/2014/main" id="{2F039CC1-F16F-0B5C-F63F-8BB36351E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7" y="4368617"/>
                <a:ext cx="5960683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func>
                        <m:func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NZ" altLang="ja-JP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𝒌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−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𝒇𝒐𝒓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𝒂𝒏𝒚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|  </m:t>
                              </m:r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1" name="Text Placeholder 5">
                <a:extLst>
                  <a:ext uri="{FF2B5EF4-FFF2-40B4-BE49-F238E27FC236}">
                    <a16:creationId xmlns:a16="http://schemas.microsoft.com/office/drawing/2014/main" id="{2F039CC1-F16F-0B5C-F63F-8BB36351E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7" y="4368617"/>
                <a:ext cx="5960683" cy="492634"/>
              </a:xfrm>
              <a:prstGeom prst="rect">
                <a:avLst/>
              </a:prstGeom>
              <a:blipFill>
                <a:blip r:embed="rId10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Placeholder 5">
                <a:extLst>
                  <a:ext uri="{FF2B5EF4-FFF2-40B4-BE49-F238E27FC236}">
                    <a16:creationId xmlns:a16="http://schemas.microsoft.com/office/drawing/2014/main" id="{F8A96D23-97E3-43DC-A1CC-F5DF6E96F4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7" y="4890538"/>
                <a:ext cx="5945151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NZ" altLang="ja-JP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𝒌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⋅ </m:t>
                              </m:r>
                              <m:d>
                                <m:d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𝒌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</m:sup>
                      </m:s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2" name="Text Placeholder 5">
                <a:extLst>
                  <a:ext uri="{FF2B5EF4-FFF2-40B4-BE49-F238E27FC236}">
                    <a16:creationId xmlns:a16="http://schemas.microsoft.com/office/drawing/2014/main" id="{F8A96D23-97E3-43DC-A1CC-F5DF6E96F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7" y="4890538"/>
                <a:ext cx="5945151" cy="4926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Placeholder 5">
                <a:extLst>
                  <a:ext uri="{FF2B5EF4-FFF2-40B4-BE49-F238E27FC236}">
                    <a16:creationId xmlns:a16="http://schemas.microsoft.com/office/drawing/2014/main" id="{421DA2E9-6F51-2FD5-A329-F455317BAA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6" y="5447478"/>
                <a:ext cx="5945151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NZ" altLang="ja-JP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𝒌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−</m:t>
                              </m:r>
                              <m:f>
                                <m:fPr>
                                  <m:type m:val="skw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type m:val="skw"/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⋅ </m:t>
                              </m:r>
                              <m:d>
                                <m:d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num>
                                    <m:den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𝟏𝟎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𝒌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</m:sup>
                      </m:s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5" name="Text Placeholder 5">
                <a:extLst>
                  <a:ext uri="{FF2B5EF4-FFF2-40B4-BE49-F238E27FC236}">
                    <a16:creationId xmlns:a16="http://schemas.microsoft.com/office/drawing/2014/main" id="{421DA2E9-6F51-2FD5-A329-F455317B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6" y="5447478"/>
                <a:ext cx="5945151" cy="492634"/>
              </a:xfrm>
              <a:prstGeom prst="rect">
                <a:avLst/>
              </a:prstGeom>
              <a:blipFill>
                <a:blip r:embed="rId12"/>
                <a:stretch>
                  <a:fillRect t="-111250" b="-166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99FFF59F-2DD9-F782-9DE9-00440C93FA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5" y="5940112"/>
                <a:ext cx="5945151" cy="4926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𝟏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99FFF59F-2DD9-F782-9DE9-00440C93F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5" y="5940112"/>
                <a:ext cx="5945151" cy="4926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1F39162F-AC6B-0605-603F-50D7DFFDDC57}"/>
              </a:ext>
            </a:extLst>
          </p:cNvPr>
          <p:cNvSpPr txBox="1">
            <a:spLocks/>
          </p:cNvSpPr>
          <p:nvPr/>
        </p:nvSpPr>
        <p:spPr>
          <a:xfrm>
            <a:off x="6231314" y="6347572"/>
            <a:ext cx="5304026" cy="492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=&gt; 2 is a recurrent state =&gt; {2,3,4} is a recurrent class</a:t>
            </a:r>
          </a:p>
        </p:txBody>
      </p:sp>
    </p:spTree>
    <p:extLst>
      <p:ext uri="{BB962C8B-B14F-4D97-AF65-F5344CB8AC3E}">
        <p14:creationId xmlns:p14="http://schemas.microsoft.com/office/powerpoint/2010/main" val="13474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5" grpId="0"/>
      <p:bldP spid="56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8.1f – Expected Return Time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248AE07A-652A-A585-8DEF-B754BFCB6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8124"/>
                <a:ext cx="11553074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𝝉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𝒎𝒊𝒏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≥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 :  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𝒏</m:t>
                                </m:r>
                              </m:e>
                            </m:d>
                          </m:sup>
                        </m:s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 | 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</m:d>
                          </m:sup>
                        </m:s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</m:e>
                    </m:d>
                  </m:oMath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Hence the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random variable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𝒊𝒊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represents the time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of first return to 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given that the chain started at state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248AE07A-652A-A585-8DEF-B754BFCB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8124"/>
                <a:ext cx="11553074" cy="675343"/>
              </a:xfrm>
              <a:prstGeom prst="rect">
                <a:avLst/>
              </a:prstGeom>
              <a:blipFill>
                <a:blip r:embed="rId3"/>
                <a:stretch>
                  <a:fillRect l="-422" t="-901" b="-153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Placeholder 5">
                <a:extLst>
                  <a:ext uri="{FF2B5EF4-FFF2-40B4-BE49-F238E27FC236}">
                    <a16:creationId xmlns:a16="http://schemas.microsoft.com/office/drawing/2014/main" id="{D77FF0AC-0543-797C-08D7-47BB09E00B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753004"/>
                <a:ext cx="11553074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recurrent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state </a:t>
                </a:r>
                <a:r>
                  <a:rPr kumimoji="1" lang="en-US" altLang="ja-JP" sz="1800" b="1" i="1" u="none" strike="noStrike" kern="1200" cap="none" spc="0" normalizeH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said to be </a:t>
                </a:r>
                <a:r>
                  <a:rPr kumimoji="1" lang="en-US" altLang="ja-JP" sz="1800" b="1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positive recurrent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if the expected amount of time to return to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finite</a:t>
                </a: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𝝉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&lt;∞</m:t>
                    </m:r>
                  </m:oMath>
                </a14:m>
                <a:r>
                  <a:rPr kumimoji="1" lang="en-US" altLang="ja-JP" sz="1800" b="1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=&gt;  </a:t>
                </a:r>
                <a:r>
                  <a:rPr lang="en-US" altLang="ja-JP" sz="1800" b="1" i="1" noProof="0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positive recurrent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3" name="Text Placeholder 5">
                <a:extLst>
                  <a:ext uri="{FF2B5EF4-FFF2-40B4-BE49-F238E27FC236}">
                    <a16:creationId xmlns:a16="http://schemas.microsoft.com/office/drawing/2014/main" id="{D77FF0AC-0543-797C-08D7-47BB09E00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753004"/>
                <a:ext cx="11553074" cy="675343"/>
              </a:xfrm>
              <a:prstGeom prst="rect">
                <a:avLst/>
              </a:prstGeom>
              <a:blipFill>
                <a:blip r:embed="rId4"/>
                <a:stretch>
                  <a:fillRect l="-422" t="-5455" b="-1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Placeholder 5">
                <a:extLst>
                  <a:ext uri="{FF2B5EF4-FFF2-40B4-BE49-F238E27FC236}">
                    <a16:creationId xmlns:a16="http://schemas.microsoft.com/office/drawing/2014/main" id="{5DA68666-EA3C-EEB3-F26D-C29F04B8F6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29989"/>
                <a:ext cx="11553074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recurrent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state </a:t>
                </a:r>
                <a:r>
                  <a:rPr kumimoji="1" lang="en-US" altLang="ja-JP" sz="1800" b="1" i="1" u="none" strike="noStrike" kern="1200" cap="none" spc="0" normalizeH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said to be </a:t>
                </a:r>
                <a:r>
                  <a:rPr kumimoji="1" lang="en-US" altLang="ja-JP" sz="1800" b="1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null recurrent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if the expected amount of time to return to </a:t>
                </a:r>
                <a:r>
                  <a:rPr lang="en-US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infinite</a:t>
                </a: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𝝉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=∞</m:t>
                    </m:r>
                  </m:oMath>
                </a14:m>
                <a:r>
                  <a:rPr kumimoji="1" lang="en-US" altLang="ja-JP" sz="1800" b="1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=&gt;  </a:t>
                </a:r>
                <a:r>
                  <a:rPr lang="en-US" altLang="ja-JP" sz="1800" b="1" i="1" noProof="0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US" altLang="ja-JP" sz="18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null recurrent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4" name="Text Placeholder 5">
                <a:extLst>
                  <a:ext uri="{FF2B5EF4-FFF2-40B4-BE49-F238E27FC236}">
                    <a16:creationId xmlns:a16="http://schemas.microsoft.com/office/drawing/2014/main" id="{5DA68666-EA3C-EEB3-F26D-C29F04B8F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29989"/>
                <a:ext cx="11553074" cy="675343"/>
              </a:xfrm>
              <a:prstGeom prst="rect">
                <a:avLst/>
              </a:prstGeom>
              <a:blipFill>
                <a:blip r:embed="rId5"/>
                <a:stretch>
                  <a:fillRect l="-422" t="-5405" b="-90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90346F07-E7C7-BF3D-4A6D-E9C81F6145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027194"/>
                <a:ext cx="11553074" cy="116086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a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discrete state space Markov chain with State Space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𝑺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For any communication class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all states are either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transient, null recurrent or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positive recurrent.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if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b="1" i="1" dirty="0" err="1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i="1" dirty="0">
                    <a:solidFill>
                      <a:schemeClr val="bg2">
                        <a:lumMod val="50000"/>
                      </a:schemeClr>
                    </a:solidFill>
                  </a:rPr>
                  <a:t>↔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j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then either both are transient, both are null recurrent or both are positive recurrent.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90346F07-E7C7-BF3D-4A6D-E9C81F614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027194"/>
                <a:ext cx="11553074" cy="1160869"/>
              </a:xfrm>
              <a:prstGeom prst="rect">
                <a:avLst/>
              </a:prstGeom>
              <a:blipFill>
                <a:blip r:embed="rId6"/>
                <a:stretch>
                  <a:fillRect l="-422" t="-2368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690D0926-F1B7-01B9-7C1E-0BE11B30EBC6}"/>
              </a:ext>
            </a:extLst>
          </p:cNvPr>
          <p:cNvSpPr txBox="1">
            <a:spLocks/>
          </p:cNvSpPr>
          <p:nvPr/>
        </p:nvSpPr>
        <p:spPr>
          <a:xfrm>
            <a:off x="319463" y="3679187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3: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120F1CE5-B229-259B-31CC-99A621FB72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311603"/>
                <a:ext cx="11553074" cy="116086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particular, if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an irreducible Markov chain and all states are positive recurrent, 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then the chain is said to be positive recurrent.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120F1CE5-B229-259B-31CC-99A621FB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311603"/>
                <a:ext cx="11553074" cy="1160869"/>
              </a:xfrm>
              <a:prstGeom prst="rect">
                <a:avLst/>
              </a:prstGeom>
              <a:blipFill>
                <a:blip r:embed="rId7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8B3B321-B6F8-CEAC-9802-9BF8760952BF}"/>
              </a:ext>
            </a:extLst>
          </p:cNvPr>
          <p:cNvSpPr txBox="1">
            <a:spLocks/>
          </p:cNvSpPr>
          <p:nvPr/>
        </p:nvSpPr>
        <p:spPr>
          <a:xfrm>
            <a:off x="9397827" y="4438778"/>
            <a:ext cx="2794173" cy="581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“If two states communicate, </a:t>
            </a:r>
            <a:b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they share the same nature”</a:t>
            </a:r>
            <a:endParaRPr kumimoji="1" lang="en-US" altLang="ja-JP" sz="140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499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8" grpId="0"/>
      <p:bldP spid="59" grpId="0"/>
      <p:bldP spid="60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8.1g – Periodicity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248AE07A-652A-A585-8DEF-B754BFCB6437}"/>
              </a:ext>
            </a:extLst>
          </p:cNvPr>
          <p:cNvSpPr txBox="1">
            <a:spLocks/>
          </p:cNvSpPr>
          <p:nvPr/>
        </p:nvSpPr>
        <p:spPr>
          <a:xfrm>
            <a:off x="319463" y="956234"/>
            <a:ext cx="6640895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State </a:t>
            </a:r>
            <a:r>
              <a:rPr lang="en-NZ" altLang="ja-JP" sz="1800" b="1" i="1" dirty="0" err="1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has period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 = d(</a:t>
            </a:r>
            <a:r>
              <a:rPr lang="en-NZ" altLang="ja-JP" sz="1800" b="1" i="1" dirty="0" err="1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)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if any chain starting from </a:t>
            </a:r>
            <a:r>
              <a:rPr lang="en-NZ" altLang="ja-JP" sz="1800" b="1" i="1" dirty="0" err="1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can only return </a:t>
            </a:r>
            <a:b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to </a:t>
            </a:r>
            <a:r>
              <a:rPr lang="en-NZ" altLang="ja-JP" sz="1800" b="1" i="1" dirty="0" err="1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in multiples of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steps.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F8A34B-09A5-8C16-9992-5BBDC8835B86}"/>
              </a:ext>
            </a:extLst>
          </p:cNvPr>
          <p:cNvSpPr/>
          <p:nvPr/>
        </p:nvSpPr>
        <p:spPr>
          <a:xfrm>
            <a:off x="7749292" y="53863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B74A2C-FDE0-761E-F698-464C16FA9A23}"/>
              </a:ext>
            </a:extLst>
          </p:cNvPr>
          <p:cNvSpPr/>
          <p:nvPr/>
        </p:nvSpPr>
        <p:spPr>
          <a:xfrm>
            <a:off x="9891813" y="53863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7EC66A-6FD6-5E4F-8868-8E514A451159}"/>
              </a:ext>
            </a:extLst>
          </p:cNvPr>
          <p:cNvSpPr/>
          <p:nvPr/>
        </p:nvSpPr>
        <p:spPr>
          <a:xfrm>
            <a:off x="8867006" y="1395926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C14B58-61CD-32E6-3912-F39111356FB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406853" y="981497"/>
            <a:ext cx="14849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AE2E96-A9DF-954F-A632-B413AC8BBB46}"/>
              </a:ext>
            </a:extLst>
          </p:cNvPr>
          <p:cNvCxnSpPr>
            <a:cxnSpLocks/>
            <a:stCxn id="14" idx="2"/>
            <a:endCxn id="12" idx="4"/>
          </p:cNvCxnSpPr>
          <p:nvPr/>
        </p:nvCxnSpPr>
        <p:spPr>
          <a:xfrm flipH="1" flipV="1">
            <a:off x="8078073" y="1424363"/>
            <a:ext cx="788933" cy="4144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6ABD2D-8175-F587-A847-B5690E57E550}"/>
              </a:ext>
            </a:extLst>
          </p:cNvPr>
          <p:cNvCxnSpPr>
            <a:cxnSpLocks/>
            <a:stCxn id="13" idx="4"/>
            <a:endCxn id="14" idx="6"/>
          </p:cNvCxnSpPr>
          <p:nvPr/>
        </p:nvCxnSpPr>
        <p:spPr>
          <a:xfrm flipH="1">
            <a:off x="9524567" y="1424363"/>
            <a:ext cx="696027" cy="4144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25A7B15-A2D7-32B5-16A5-43B855F2EABB}"/>
              </a:ext>
            </a:extLst>
          </p:cNvPr>
          <p:cNvSpPr txBox="1">
            <a:spLocks/>
          </p:cNvSpPr>
          <p:nvPr/>
        </p:nvSpPr>
        <p:spPr>
          <a:xfrm>
            <a:off x="9772686" y="1722554"/>
            <a:ext cx="2210937" cy="559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d(1) = d(2) = d(3) = 3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2B9EFCF2-24E9-7D80-942E-5A28FFBFA7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838792"/>
                <a:ext cx="664089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Formally, the period of state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defined as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𝒅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𝒈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.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𝒄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.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𝒅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d>
                        <m:dPr>
                          <m:begChr m:val="{"/>
                          <m:endChr m:val="|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≥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sSubSup>
                        <m:sSub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𝒊𝒊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&gt;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𝟎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}</m:t>
                      </m:r>
                    </m:oMath>
                  </m:oMathPara>
                </a14:m>
                <a:endParaRPr kumimoji="1" lang="en-US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2B9EFCF2-24E9-7D80-942E-5A28FFBFA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838792"/>
                <a:ext cx="6640895" cy="675343"/>
              </a:xfrm>
              <a:prstGeom prst="rect">
                <a:avLst/>
              </a:prstGeom>
              <a:blipFill>
                <a:blip r:embed="rId3"/>
                <a:stretch>
                  <a:fillRect l="-734" t="-5455" b="-1363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1401F686-FE35-0E36-89F4-D7DFC365E180}"/>
              </a:ext>
            </a:extLst>
          </p:cNvPr>
          <p:cNvSpPr txBox="1">
            <a:spLocks/>
          </p:cNvSpPr>
          <p:nvPr/>
        </p:nvSpPr>
        <p:spPr>
          <a:xfrm>
            <a:off x="319462" y="2721350"/>
            <a:ext cx="6640895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d(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) &gt; 1 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we say that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is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periodic</a:t>
            </a:r>
            <a:b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d(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) = 1 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we say that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is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aperiodic</a:t>
            </a:r>
            <a:endParaRPr kumimoji="1" lang="en-US" altLang="ja-JP" sz="1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D0B0B751-281A-315A-362E-80537BA242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027194"/>
                <a:ext cx="11553074" cy="116086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a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discrete state space Markov chain with State Space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𝑺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For any communication class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all states have the same period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if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b="1" i="1" dirty="0" err="1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i="1" dirty="0">
                    <a:solidFill>
                      <a:schemeClr val="bg2">
                        <a:lumMod val="50000"/>
                      </a:schemeClr>
                    </a:solidFill>
                  </a:rPr>
                  <a:t>↔</a:t>
                </a:r>
                <a:r>
                  <a:rPr lang="en-NZ" altLang="ja-JP" sz="1600" b="1" i="1" dirty="0">
                    <a:solidFill>
                      <a:schemeClr val="bg2">
                        <a:lumMod val="50000"/>
                      </a:schemeClr>
                    </a:solidFill>
                  </a:rPr>
                  <a:t> j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then d(</a:t>
                </a:r>
                <a:r>
                  <a:rPr lang="en-NZ" altLang="ja-JP" sz="1600" dirty="0" err="1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) = d(j).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D0B0B751-281A-315A-362E-80537BA2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027194"/>
                <a:ext cx="11553074" cy="1160869"/>
              </a:xfrm>
              <a:prstGeom prst="rect">
                <a:avLst/>
              </a:prstGeom>
              <a:blipFill>
                <a:blip r:embed="rId4"/>
                <a:stretch>
                  <a:fillRect l="-422" t="-2368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81F1C38-5E49-8D29-A879-A0556D22A1C5}"/>
              </a:ext>
            </a:extLst>
          </p:cNvPr>
          <p:cNvSpPr txBox="1">
            <a:spLocks/>
          </p:cNvSpPr>
          <p:nvPr/>
        </p:nvSpPr>
        <p:spPr>
          <a:xfrm>
            <a:off x="319463" y="3679187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4: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96C00991-AD8E-BA54-DA6B-20D94C8E4C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311603"/>
                <a:ext cx="11553074" cy="116086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particular, if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an irreducible Markov chain and all states are aperiodic,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then the chain is said to be aperiodic.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96C00991-AD8E-BA54-DA6B-20D94C8E4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311603"/>
                <a:ext cx="11553074" cy="1160869"/>
              </a:xfrm>
              <a:prstGeom prst="rect">
                <a:avLst/>
              </a:prstGeom>
              <a:blipFill>
                <a:blip r:embed="rId5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37495EF-C981-3704-ED5F-DFE7CC8AC367}"/>
              </a:ext>
            </a:extLst>
          </p:cNvPr>
          <p:cNvSpPr txBox="1">
            <a:spLocks/>
          </p:cNvSpPr>
          <p:nvPr/>
        </p:nvSpPr>
        <p:spPr>
          <a:xfrm>
            <a:off x="8725799" y="4234409"/>
            <a:ext cx="2794173" cy="581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“If two states communicate, </a:t>
            </a:r>
            <a:b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4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they share the same nature”</a:t>
            </a:r>
            <a:endParaRPr kumimoji="1" lang="en-US" altLang="ja-JP" sz="140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333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8.1g – Periodicity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EB016F9-F870-AE60-DA96-DEE186B32FBB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248AE07A-652A-A585-8DEF-B754BFCB6437}"/>
              </a:ext>
            </a:extLst>
          </p:cNvPr>
          <p:cNvSpPr txBox="1">
            <a:spLocks/>
          </p:cNvSpPr>
          <p:nvPr/>
        </p:nvSpPr>
        <p:spPr>
          <a:xfrm>
            <a:off x="319462" y="956234"/>
            <a:ext cx="5971191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 following rules</a:t>
            </a:r>
            <a:r>
              <a:rPr kumimoji="1" lang="en-NZ" altLang="ja-JP" sz="18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offer some simple tests to determine whether an irreducible Markov chain is aperiodic: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3DC121F-6C99-7357-33CC-6D3A72BBF7A5}"/>
              </a:ext>
            </a:extLst>
          </p:cNvPr>
          <p:cNvSpPr/>
          <p:nvPr/>
        </p:nvSpPr>
        <p:spPr>
          <a:xfrm>
            <a:off x="7337713" y="95623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B58080-7525-FEC1-9D20-F10CF740F34D}"/>
              </a:ext>
            </a:extLst>
          </p:cNvPr>
          <p:cNvSpPr/>
          <p:nvPr/>
        </p:nvSpPr>
        <p:spPr>
          <a:xfrm>
            <a:off x="7337713" y="2278690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3FC4F2-462C-1F97-7736-790ABB5F9EF8}"/>
              </a:ext>
            </a:extLst>
          </p:cNvPr>
          <p:cNvSpPr/>
          <p:nvPr/>
        </p:nvSpPr>
        <p:spPr>
          <a:xfrm>
            <a:off x="8702312" y="95623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F76E6A-6814-EF43-67AF-42A4F48B97EB}"/>
              </a:ext>
            </a:extLst>
          </p:cNvPr>
          <p:cNvSpPr/>
          <p:nvPr/>
        </p:nvSpPr>
        <p:spPr>
          <a:xfrm>
            <a:off x="10066911" y="95623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00B404-7109-7D79-80F7-CC1C71C8F3FA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7389678" y="1282407"/>
            <a:ext cx="0" cy="10522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6100BC-3E69-232A-3399-36080DC539E0}"/>
              </a:ext>
            </a:extLst>
          </p:cNvPr>
          <p:cNvCxnSpPr>
            <a:cxnSpLocks/>
            <a:stCxn id="20" idx="7"/>
            <a:endCxn id="21" idx="3"/>
          </p:cNvCxnSpPr>
          <p:nvPr/>
        </p:nvCxnSpPr>
        <p:spPr>
          <a:xfrm flipV="1">
            <a:off x="7640590" y="1282407"/>
            <a:ext cx="1113687" cy="10522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49C7B95-D27D-35E6-A078-BD0A53F7BDCC}"/>
              </a:ext>
            </a:extLst>
          </p:cNvPr>
          <p:cNvSpPr/>
          <p:nvPr/>
        </p:nvSpPr>
        <p:spPr>
          <a:xfrm>
            <a:off x="10737748" y="188564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2C8B23-3F7F-243B-AE45-694EB2FCA167}"/>
              </a:ext>
            </a:extLst>
          </p:cNvPr>
          <p:cNvSpPr/>
          <p:nvPr/>
        </p:nvSpPr>
        <p:spPr>
          <a:xfrm>
            <a:off x="9712069" y="266082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8A0724-BC52-555F-0BE6-16F3FF96E834}"/>
              </a:ext>
            </a:extLst>
          </p:cNvPr>
          <p:cNvSpPr/>
          <p:nvPr/>
        </p:nvSpPr>
        <p:spPr>
          <a:xfrm>
            <a:off x="8797493" y="188564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0A1676-7AE1-2CD6-6FCE-6721125BEF1C}"/>
              </a:ext>
            </a:extLst>
          </p:cNvPr>
          <p:cNvCxnSpPr>
            <a:cxnSpLocks/>
            <a:stCxn id="21" idx="2"/>
            <a:endCxn id="19" idx="6"/>
          </p:cNvCxnSpPr>
          <p:nvPr/>
        </p:nvCxnSpPr>
        <p:spPr>
          <a:xfrm flipH="1">
            <a:off x="7692555" y="1147302"/>
            <a:ext cx="10097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33685D-D6D3-0DDB-186A-54A806456D30}"/>
              </a:ext>
            </a:extLst>
          </p:cNvPr>
          <p:cNvCxnSpPr>
            <a:cxnSpLocks/>
            <a:stCxn id="21" idx="7"/>
            <a:endCxn id="23" idx="1"/>
          </p:cNvCxnSpPr>
          <p:nvPr/>
        </p:nvCxnSpPr>
        <p:spPr>
          <a:xfrm>
            <a:off x="9005189" y="1012197"/>
            <a:ext cx="11136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FE5A99-C579-3BC7-B1C6-0F36EF323641}"/>
              </a:ext>
            </a:extLst>
          </p:cNvPr>
          <p:cNvCxnSpPr>
            <a:cxnSpLocks/>
            <a:stCxn id="23" idx="3"/>
            <a:endCxn id="21" idx="5"/>
          </p:cNvCxnSpPr>
          <p:nvPr/>
        </p:nvCxnSpPr>
        <p:spPr>
          <a:xfrm flipH="1">
            <a:off x="9005189" y="1282407"/>
            <a:ext cx="11136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1ED055-5677-E273-27EC-89C42EFD6690}"/>
              </a:ext>
            </a:extLst>
          </p:cNvPr>
          <p:cNvCxnSpPr>
            <a:cxnSpLocks/>
            <a:stCxn id="23" idx="6"/>
            <a:endCxn id="27" idx="0"/>
          </p:cNvCxnSpPr>
          <p:nvPr/>
        </p:nvCxnSpPr>
        <p:spPr>
          <a:xfrm>
            <a:off x="10421753" y="1147302"/>
            <a:ext cx="493416" cy="7383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A9DBDE-5F58-4B6D-A200-67B7B1A1B1C9}"/>
              </a:ext>
            </a:extLst>
          </p:cNvPr>
          <p:cNvCxnSpPr>
            <a:cxnSpLocks/>
            <a:stCxn id="27" idx="4"/>
            <a:endCxn id="28" idx="6"/>
          </p:cNvCxnSpPr>
          <p:nvPr/>
        </p:nvCxnSpPr>
        <p:spPr>
          <a:xfrm flipH="1">
            <a:off x="10066911" y="2267782"/>
            <a:ext cx="848258" cy="584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5FD157-CB63-5180-5E72-A74265EA9590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9889490" y="2076714"/>
            <a:ext cx="848258" cy="584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880B869-09A4-C973-CB79-113E8A1A6B2A}"/>
              </a:ext>
            </a:extLst>
          </p:cNvPr>
          <p:cNvCxnSpPr>
            <a:cxnSpLocks/>
            <a:stCxn id="28" idx="1"/>
            <a:endCxn id="29" idx="5"/>
          </p:cNvCxnSpPr>
          <p:nvPr/>
        </p:nvCxnSpPr>
        <p:spPr>
          <a:xfrm flipH="1" flipV="1">
            <a:off x="9100370" y="2211819"/>
            <a:ext cx="663664" cy="5049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C6AF397-277D-9848-11A3-825E344BED8D}"/>
              </a:ext>
            </a:extLst>
          </p:cNvPr>
          <p:cNvCxnSpPr>
            <a:cxnSpLocks/>
            <a:stCxn id="29" idx="6"/>
            <a:endCxn id="27" idx="2"/>
          </p:cNvCxnSpPr>
          <p:nvPr/>
        </p:nvCxnSpPr>
        <p:spPr>
          <a:xfrm>
            <a:off x="9152335" y="2076714"/>
            <a:ext cx="15854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933693BA-4448-70D5-0EE6-B3580AE30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0348" y="3375308"/>
                <a:ext cx="4218283" cy="4298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={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933693BA-4448-70D5-0EE6-B3580AE30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348" y="3375308"/>
                <a:ext cx="4218283" cy="429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D354FCD7-1DC2-7561-6453-08D12A5D0701}"/>
              </a:ext>
            </a:extLst>
          </p:cNvPr>
          <p:cNvCxnSpPr>
            <a:stCxn id="29" idx="1"/>
            <a:endCxn id="29" idx="7"/>
          </p:cNvCxnSpPr>
          <p:nvPr/>
        </p:nvCxnSpPr>
        <p:spPr>
          <a:xfrm rot="5400000" flipH="1" flipV="1">
            <a:off x="8974914" y="1816153"/>
            <a:ext cx="12700" cy="250912"/>
          </a:xfrm>
          <a:prstGeom prst="curvedConnector3">
            <a:avLst>
              <a:gd name="adj1" fmla="val 3315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9E082002-08BE-1F52-04CA-E1E563AC5F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7892" y="3805166"/>
                <a:ext cx="3472410" cy="11396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𝒅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𝒅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9E082002-08BE-1F52-04CA-E1E563AC5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892" y="3805166"/>
                <a:ext cx="3472410" cy="1139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7C3F5D-0E2B-950E-4C31-164671D1B468}"/>
              </a:ext>
            </a:extLst>
          </p:cNvPr>
          <p:cNvCxnSpPr>
            <a:cxnSpLocks/>
            <a:stCxn id="29" idx="2"/>
          </p:cNvCxnSpPr>
          <p:nvPr/>
        </p:nvCxnSpPr>
        <p:spPr>
          <a:xfrm flipH="1" flipV="1">
            <a:off x="7640490" y="1259528"/>
            <a:ext cx="1157003" cy="8171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A363EEFD-2A2C-2642-3E80-B8E7DD4E62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1952731"/>
                <a:ext cx="6803428" cy="5398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an irreducible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Markov chain with a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discrete state space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A363EEFD-2A2C-2642-3E80-B8E7DD4E6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952731"/>
                <a:ext cx="6803428" cy="539885"/>
              </a:xfrm>
              <a:prstGeom prst="rect">
                <a:avLst/>
              </a:prstGeom>
              <a:blipFill>
                <a:blip r:embed="rId5"/>
                <a:stretch>
                  <a:fillRect l="-71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Placeholder 5">
                <a:extLst>
                  <a:ext uri="{FF2B5EF4-FFF2-40B4-BE49-F238E27FC236}">
                    <a16:creationId xmlns:a16="http://schemas.microsoft.com/office/drawing/2014/main" id="{E1EDB5BB-2BF0-C409-1E20-F92926C89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7862" y="2643043"/>
                <a:ext cx="5971191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&gt;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for some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𝒊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(i.e.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there is self-loop) </a:t>
                </a:r>
                <a:b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 the chain is aperiodic.</a:t>
                </a:r>
              </a:p>
            </p:txBody>
          </p:sp>
        </mc:Choice>
        <mc:Fallback xmlns="">
          <p:sp>
            <p:nvSpPr>
              <p:cNvPr id="57" name="Text Placeholder 5">
                <a:extLst>
                  <a:ext uri="{FF2B5EF4-FFF2-40B4-BE49-F238E27FC236}">
                    <a16:creationId xmlns:a16="http://schemas.microsoft.com/office/drawing/2014/main" id="{E1EDB5BB-2BF0-C409-1E20-F92926C89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62" y="2643043"/>
                <a:ext cx="5971191" cy="675343"/>
              </a:xfrm>
              <a:prstGeom prst="rect">
                <a:avLst/>
              </a:prstGeom>
              <a:blipFill>
                <a:blip r:embed="rId6"/>
                <a:stretch>
                  <a:fillRect l="-715" t="-5455" b="-1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A3FE186E-E075-0DD4-5708-87BA46AB60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7861" y="3539615"/>
                <a:ext cx="5971191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lvl="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.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𝒄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.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𝒍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𝒎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𝒊𝒊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𝒍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bSup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&gt;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𝒊𝒊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chain is aperiodic.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58" name="Text Placeholder 5">
                <a:extLst>
                  <a:ext uri="{FF2B5EF4-FFF2-40B4-BE49-F238E27FC236}">
                    <a16:creationId xmlns:a16="http://schemas.microsoft.com/office/drawing/2014/main" id="{A3FE186E-E075-0DD4-5708-87BA46AB6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61" y="3539615"/>
                <a:ext cx="5971191" cy="675343"/>
              </a:xfrm>
              <a:prstGeom prst="rect">
                <a:avLst/>
              </a:prstGeom>
              <a:blipFill>
                <a:blip r:embed="rId7"/>
                <a:stretch>
                  <a:fillRect l="-715" b="-209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10F2E5AD-43B6-FC46-7A44-8BDE92479D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7860" y="4522522"/>
                <a:ext cx="5971191" cy="8948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lvl="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 </m:t>
                    </m:r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𝒏</m:t>
                    </m:r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∀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b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chain is aperiodic.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10F2E5AD-43B6-FC46-7A44-8BDE924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60" y="4522522"/>
                <a:ext cx="5971191" cy="894855"/>
              </a:xfrm>
              <a:prstGeom prst="rect">
                <a:avLst/>
              </a:prstGeom>
              <a:blipFill>
                <a:blip r:embed="rId8"/>
                <a:stretch>
                  <a:fillRect l="-7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16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8.1h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EE82DF-97AA-B389-C21C-C6DEDA16C5A7}"/>
              </a:ext>
            </a:extLst>
          </p:cNvPr>
          <p:cNvSpPr/>
          <p:nvPr/>
        </p:nvSpPr>
        <p:spPr>
          <a:xfrm>
            <a:off x="9631766" y="144637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7B7255-CA19-36D4-89B2-B5450895A3F0}"/>
              </a:ext>
            </a:extLst>
          </p:cNvPr>
          <p:cNvSpPr/>
          <p:nvPr/>
        </p:nvSpPr>
        <p:spPr>
          <a:xfrm>
            <a:off x="11176237" y="2156059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026EAD-4326-6AE1-2D9A-219D6C6F1666}"/>
              </a:ext>
            </a:extLst>
          </p:cNvPr>
          <p:cNvSpPr/>
          <p:nvPr/>
        </p:nvSpPr>
        <p:spPr>
          <a:xfrm>
            <a:off x="10446082" y="372896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B75DB1-E02E-717C-3F7E-5707970C648D}"/>
              </a:ext>
            </a:extLst>
          </p:cNvPr>
          <p:cNvSpPr/>
          <p:nvPr/>
        </p:nvSpPr>
        <p:spPr>
          <a:xfrm>
            <a:off x="8892511" y="3728965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99EDC2-26C4-1D6C-0D14-F431F50DD516}"/>
              </a:ext>
            </a:extLst>
          </p:cNvPr>
          <p:cNvSpPr/>
          <p:nvPr/>
        </p:nvSpPr>
        <p:spPr>
          <a:xfrm>
            <a:off x="8114589" y="2156059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519227-B342-F3C4-BB7B-420C15B3EED8}"/>
              </a:ext>
            </a:extLst>
          </p:cNvPr>
          <p:cNvCxnSpPr>
            <a:cxnSpLocks/>
          </p:cNvCxnSpPr>
          <p:nvPr/>
        </p:nvCxnSpPr>
        <p:spPr>
          <a:xfrm flipH="1">
            <a:off x="10824017" y="2557644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A4BDC6-06EA-20A6-C00B-E5943695E911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10624551" y="2482232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0F01C-A040-D445-20C9-8E43019B8A4F}"/>
              </a:ext>
            </a:extLst>
          </p:cNvPr>
          <p:cNvCxnSpPr>
            <a:cxnSpLocks/>
            <a:stCxn id="31" idx="7"/>
            <a:endCxn id="30" idx="1"/>
          </p:cNvCxnSpPr>
          <p:nvPr/>
        </p:nvCxnSpPr>
        <p:spPr>
          <a:xfrm>
            <a:off x="9195388" y="3784928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38295-A643-28EA-B14B-98074FC1224B}"/>
              </a:ext>
            </a:extLst>
          </p:cNvPr>
          <p:cNvCxnSpPr>
            <a:cxnSpLocks/>
            <a:stCxn id="30" idx="3"/>
            <a:endCxn id="31" idx="5"/>
          </p:cNvCxnSpPr>
          <p:nvPr/>
        </p:nvCxnSpPr>
        <p:spPr>
          <a:xfrm flipH="1">
            <a:off x="9195388" y="4055138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01A0FB-BADE-2434-6F8D-38CE920F97F8}"/>
              </a:ext>
            </a:extLst>
          </p:cNvPr>
          <p:cNvCxnSpPr>
            <a:cxnSpLocks/>
          </p:cNvCxnSpPr>
          <p:nvPr/>
        </p:nvCxnSpPr>
        <p:spPr>
          <a:xfrm>
            <a:off x="8592261" y="2518073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FD1243-5601-2E82-C766-5FBA35CE44FF}"/>
              </a:ext>
            </a:extLst>
          </p:cNvPr>
          <p:cNvCxnSpPr>
            <a:cxnSpLocks/>
            <a:stCxn id="31" idx="2"/>
          </p:cNvCxnSpPr>
          <p:nvPr/>
        </p:nvCxnSpPr>
        <p:spPr>
          <a:xfrm flipH="1" flipV="1">
            <a:off x="8214233" y="2545364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7CF5D2-32F7-EAF5-F0C6-30B2B8D48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441216" y="2462109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BE5C31-6B79-6E13-3588-67BAB56EA158}"/>
              </a:ext>
            </a:extLst>
          </p:cNvPr>
          <p:cNvCxnSpPr>
            <a:cxnSpLocks/>
            <a:stCxn id="32" idx="0"/>
            <a:endCxn id="28" idx="1"/>
          </p:cNvCxnSpPr>
          <p:nvPr/>
        </p:nvCxnSpPr>
        <p:spPr>
          <a:xfrm flipV="1">
            <a:off x="8292010" y="1502339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9E8CA3-1BD9-EA6C-BAE8-BEB35111236C}"/>
              </a:ext>
            </a:extLst>
          </p:cNvPr>
          <p:cNvCxnSpPr>
            <a:cxnSpLocks/>
            <a:stCxn id="28" idx="3"/>
            <a:endCxn id="32" idx="6"/>
          </p:cNvCxnSpPr>
          <p:nvPr/>
        </p:nvCxnSpPr>
        <p:spPr>
          <a:xfrm flipH="1">
            <a:off x="8469431" y="1772549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E84BC4-1BFE-2413-537B-69A316D6072B}"/>
              </a:ext>
            </a:extLst>
          </p:cNvPr>
          <p:cNvCxnSpPr>
            <a:cxnSpLocks/>
            <a:stCxn id="28" idx="7"/>
            <a:endCxn id="29" idx="0"/>
          </p:cNvCxnSpPr>
          <p:nvPr/>
        </p:nvCxnSpPr>
        <p:spPr>
          <a:xfrm>
            <a:off x="9934643" y="1502339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D69AA-65AA-F478-C18B-BD037F7CAEA0}"/>
              </a:ext>
            </a:extLst>
          </p:cNvPr>
          <p:cNvCxnSpPr>
            <a:cxnSpLocks/>
            <a:stCxn id="29" idx="2"/>
            <a:endCxn id="28" idx="5"/>
          </p:cNvCxnSpPr>
          <p:nvPr/>
        </p:nvCxnSpPr>
        <p:spPr>
          <a:xfrm flipH="1" flipV="1">
            <a:off x="9934643" y="1772549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91F68B-B501-E764-2F7C-A2C8A4A15AA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529532" y="2347127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F990DB1-1C5E-9D44-9792-3D03187F45DD}"/>
              </a:ext>
            </a:extLst>
          </p:cNvPr>
          <p:cNvSpPr txBox="1">
            <a:spLocks/>
          </p:cNvSpPr>
          <p:nvPr/>
        </p:nvSpPr>
        <p:spPr>
          <a:xfrm>
            <a:off x="10498047" y="148809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B822F3F4-33E6-6374-4748-E073BDE9535B}"/>
              </a:ext>
            </a:extLst>
          </p:cNvPr>
          <p:cNvSpPr txBox="1">
            <a:spLocks/>
          </p:cNvSpPr>
          <p:nvPr/>
        </p:nvSpPr>
        <p:spPr>
          <a:xfrm>
            <a:off x="9045264" y="191332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0445A778-9787-10B6-EAC8-7E7E56882B3D}"/>
              </a:ext>
            </a:extLst>
          </p:cNvPr>
          <p:cNvSpPr txBox="1">
            <a:spLocks/>
          </p:cNvSpPr>
          <p:nvPr/>
        </p:nvSpPr>
        <p:spPr>
          <a:xfrm>
            <a:off x="11082536" y="306602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5F1F28D2-A52A-F44E-31F4-50D8A5B25FEF}"/>
              </a:ext>
            </a:extLst>
          </p:cNvPr>
          <p:cNvSpPr txBox="1">
            <a:spLocks/>
          </p:cNvSpPr>
          <p:nvPr/>
        </p:nvSpPr>
        <p:spPr>
          <a:xfrm>
            <a:off x="9488461" y="234712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30DCA69-BABB-6C47-7648-6FD80F258019}"/>
              </a:ext>
            </a:extLst>
          </p:cNvPr>
          <p:cNvSpPr txBox="1">
            <a:spLocks/>
          </p:cNvSpPr>
          <p:nvPr/>
        </p:nvSpPr>
        <p:spPr>
          <a:xfrm>
            <a:off x="9995881" y="19677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DA5CB488-6B48-AA8E-F6EC-403351E41A18}"/>
              </a:ext>
            </a:extLst>
          </p:cNvPr>
          <p:cNvSpPr txBox="1">
            <a:spLocks/>
          </p:cNvSpPr>
          <p:nvPr/>
        </p:nvSpPr>
        <p:spPr>
          <a:xfrm>
            <a:off x="10378802" y="276442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9942DC50-D231-B69B-922A-3CDF83585147}"/>
              </a:ext>
            </a:extLst>
          </p:cNvPr>
          <p:cNvSpPr txBox="1">
            <a:spLocks/>
          </p:cNvSpPr>
          <p:nvPr/>
        </p:nvSpPr>
        <p:spPr>
          <a:xfrm>
            <a:off x="10882810" y="420800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09B8E4-70B2-6653-64E0-F26D414205E8}"/>
              </a:ext>
            </a:extLst>
          </p:cNvPr>
          <p:cNvCxnSpPr>
            <a:cxnSpLocks/>
            <a:stCxn id="30" idx="4"/>
            <a:endCxn id="30" idx="6"/>
          </p:cNvCxnSpPr>
          <p:nvPr/>
        </p:nvCxnSpPr>
        <p:spPr>
          <a:xfrm rot="5400000" flipH="1" flipV="1">
            <a:off x="10616679" y="3926856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FC523404-60BD-F233-F96C-8F7C2A9E2283}"/>
              </a:ext>
            </a:extLst>
          </p:cNvPr>
          <p:cNvSpPr txBox="1">
            <a:spLocks/>
          </p:cNvSpPr>
          <p:nvPr/>
        </p:nvSpPr>
        <p:spPr>
          <a:xfrm>
            <a:off x="9601496" y="410515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2EF0ABFE-16F5-E9B4-BD78-030B45E1D0B5}"/>
              </a:ext>
            </a:extLst>
          </p:cNvPr>
          <p:cNvSpPr txBox="1">
            <a:spLocks/>
          </p:cNvSpPr>
          <p:nvPr/>
        </p:nvSpPr>
        <p:spPr>
          <a:xfrm>
            <a:off x="9494936" y="34351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ECB10C11-1EB3-3F65-ED75-042041FF708B}"/>
              </a:ext>
            </a:extLst>
          </p:cNvPr>
          <p:cNvSpPr txBox="1">
            <a:spLocks/>
          </p:cNvSpPr>
          <p:nvPr/>
        </p:nvSpPr>
        <p:spPr>
          <a:xfrm>
            <a:off x="7930210" y="319191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CE954937-3054-A8F6-CE7B-49C4FE0D0F2D}"/>
              </a:ext>
            </a:extLst>
          </p:cNvPr>
          <p:cNvSpPr txBox="1">
            <a:spLocks/>
          </p:cNvSpPr>
          <p:nvPr/>
        </p:nvSpPr>
        <p:spPr>
          <a:xfrm>
            <a:off x="8529312" y="152981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447B1BE-4969-5FA1-79FF-E6D3403AA482}"/>
              </a:ext>
            </a:extLst>
          </p:cNvPr>
          <p:cNvSpPr txBox="1">
            <a:spLocks/>
          </p:cNvSpPr>
          <p:nvPr/>
        </p:nvSpPr>
        <p:spPr>
          <a:xfrm>
            <a:off x="9487143" y="282723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B0581357-EB65-3E1A-D908-E6211460E45C}"/>
              </a:ext>
            </a:extLst>
          </p:cNvPr>
          <p:cNvSpPr txBox="1">
            <a:spLocks/>
          </p:cNvSpPr>
          <p:nvPr/>
        </p:nvSpPr>
        <p:spPr>
          <a:xfrm>
            <a:off x="8780961" y="30425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45777DF9-0ADA-4D71-8378-ED848B43864C}"/>
              </a:ext>
            </a:extLst>
          </p:cNvPr>
          <p:cNvSpPr txBox="1">
            <a:spLocks/>
          </p:cNvSpPr>
          <p:nvPr/>
        </p:nvSpPr>
        <p:spPr>
          <a:xfrm>
            <a:off x="320416" y="938192"/>
            <a:ext cx="6262400" cy="21043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B050"/>
                </a:solidFill>
              </a:rPr>
              <a:t># 1.1a -  Defining state space and transition matrix.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library</a:t>
            </a:r>
            <a:r>
              <a:rPr lang="en-US" altLang="ja-JP" sz="1400" dirty="0">
                <a:solidFill>
                  <a:prstClr val="black"/>
                </a:solidFill>
              </a:rPr>
              <a:t>(</a:t>
            </a:r>
            <a:r>
              <a:rPr lang="en-US" altLang="ja-JP" sz="1400" dirty="0" err="1">
                <a:solidFill>
                  <a:prstClr val="black"/>
                </a:solidFill>
              </a:rPr>
              <a:t>markovchain</a:t>
            </a:r>
            <a:r>
              <a:rPr lang="en-US" altLang="ja-JP" sz="1400" dirty="0">
                <a:solidFill>
                  <a:prstClr val="black"/>
                </a:solidFill>
              </a:rPr>
              <a:t>)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 &lt;- c("1", "2", "3", "4" , "5")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prstClr val="black"/>
                </a:solidFill>
              </a:rPr>
              <a:t>P &lt;- matrix(c(</a:t>
            </a:r>
            <a:r>
              <a:rPr lang="en-US" altLang="ja-JP" sz="1400" dirty="0">
                <a:solidFill>
                  <a:srgbClr val="0070C0"/>
                </a:solidFill>
              </a:rPr>
              <a:t>0.00, 0.80, 0.00, 0.00, 0.20,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0.50, 0.00, 0.25, 0.00, 0.25,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0.00, 0.30, 0.30, 0.40, 0.00,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0.00, 0.00, 0.50, 0.00, 0.50,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rgbClr val="0070C0"/>
                </a:solidFill>
              </a:rPr>
              <a:t>              0.50, 0.00, 0.25, 0.25, 0.00</a:t>
            </a:r>
            <a:r>
              <a:rPr lang="en-US" altLang="ja-JP" sz="1400" dirty="0">
                <a:solidFill>
                  <a:prstClr val="black"/>
                </a:solidFill>
              </a:rPr>
              <a:t>), </a:t>
            </a:r>
            <a:r>
              <a:rPr lang="en-US" altLang="ja-JP" sz="1400" dirty="0" err="1">
                <a:solidFill>
                  <a:prstClr val="black"/>
                </a:solidFill>
              </a:rPr>
              <a:t>nrow</a:t>
            </a:r>
            <a:r>
              <a:rPr lang="en-US" altLang="ja-JP" sz="1400" dirty="0">
                <a:solidFill>
                  <a:prstClr val="black"/>
                </a:solidFill>
              </a:rPr>
              <a:t>=</a:t>
            </a:r>
            <a:r>
              <a:rPr lang="en-US" altLang="ja-JP" sz="1400" dirty="0">
                <a:solidFill>
                  <a:srgbClr val="0070C0"/>
                </a:solidFill>
              </a:rPr>
              <a:t>5</a:t>
            </a:r>
            <a:r>
              <a:rPr lang="en-US" altLang="ja-JP" sz="1400" dirty="0">
                <a:solidFill>
                  <a:prstClr val="black"/>
                </a:solidFill>
              </a:rPr>
              <a:t>, </a:t>
            </a:r>
            <a:r>
              <a:rPr lang="en-US" altLang="ja-JP" sz="1400" dirty="0" err="1">
                <a:solidFill>
                  <a:prstClr val="black"/>
                </a:solidFill>
              </a:rPr>
              <a:t>byrow</a:t>
            </a:r>
            <a:r>
              <a:rPr lang="en-US" altLang="ja-JP" sz="1400" dirty="0">
                <a:solidFill>
                  <a:prstClr val="black"/>
                </a:solidFill>
              </a:rPr>
              <a:t>=</a:t>
            </a:r>
            <a:r>
              <a:rPr lang="en-US" altLang="ja-JP" sz="1400" dirty="0">
                <a:solidFill>
                  <a:srgbClr val="0070C0"/>
                </a:solidFill>
              </a:rPr>
              <a:t>TRUE</a:t>
            </a:r>
            <a:r>
              <a:rPr lang="en-US" altLang="ja-JP" sz="1400" dirty="0">
                <a:solidFill>
                  <a:prstClr val="black"/>
                </a:solidFill>
              </a:rPr>
              <a:t>,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prstClr val="black"/>
                </a:solidFill>
              </a:rPr>
              <a:t>              </a:t>
            </a:r>
            <a:r>
              <a:rPr lang="en-US" altLang="ja-JP" sz="1400" dirty="0" err="1">
                <a:solidFill>
                  <a:prstClr val="black"/>
                </a:solidFill>
              </a:rPr>
              <a:t>dimnames</a:t>
            </a:r>
            <a:r>
              <a:rPr lang="en-US" altLang="ja-JP" sz="1400" dirty="0">
                <a:solidFill>
                  <a:prstClr val="black"/>
                </a:solidFill>
              </a:rPr>
              <a:t> = list(</a:t>
            </a: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, </a:t>
            </a:r>
            <a:r>
              <a:rPr lang="en-US" altLang="ja-JP" sz="1400" dirty="0" err="1">
                <a:solidFill>
                  <a:prstClr val="black"/>
                </a:solidFill>
              </a:rPr>
              <a:t>statenames</a:t>
            </a:r>
            <a:r>
              <a:rPr lang="en-US" altLang="ja-JP" sz="1400" dirty="0">
                <a:solidFill>
                  <a:prstClr val="black"/>
                </a:solidFill>
              </a:rPr>
              <a:t>)) 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E14DF4BC-0AE1-AD91-AEB2-BE486DFD7F4E}"/>
              </a:ext>
            </a:extLst>
          </p:cNvPr>
          <p:cNvSpPr txBox="1">
            <a:spLocks/>
          </p:cNvSpPr>
          <p:nvPr/>
        </p:nvSpPr>
        <p:spPr>
          <a:xfrm>
            <a:off x="319463" y="3232699"/>
            <a:ext cx="6262400" cy="5827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1.1b - Specifying that the transition matrix defines a Markov chain 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mc &lt;- new("</a:t>
            </a:r>
            <a:r>
              <a:rPr lang="en-US" altLang="ja-JP" sz="1400" dirty="0" err="1">
                <a:solidFill>
                  <a:schemeClr val="tx1"/>
                </a:solidFill>
              </a:rPr>
              <a:t>markovchain</a:t>
            </a:r>
            <a:r>
              <a:rPr lang="en-US" altLang="ja-JP" sz="1400" dirty="0">
                <a:solidFill>
                  <a:schemeClr val="tx1"/>
                </a:solidFill>
              </a:rPr>
              <a:t>", </a:t>
            </a:r>
            <a:r>
              <a:rPr lang="en-US" altLang="ja-JP" sz="1400" dirty="0" err="1">
                <a:solidFill>
                  <a:schemeClr val="tx1"/>
                </a:solidFill>
              </a:rPr>
              <a:t>transitionMatrix</a:t>
            </a:r>
            <a:r>
              <a:rPr lang="en-US" altLang="ja-JP" sz="1400" dirty="0">
                <a:solidFill>
                  <a:schemeClr val="tx1"/>
                </a:solidFill>
              </a:rPr>
              <a:t>=P)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DA4ECFE2-286E-DA4B-BABE-FF31576ACDE0}"/>
              </a:ext>
            </a:extLst>
          </p:cNvPr>
          <p:cNvSpPr txBox="1">
            <a:spLocks/>
          </p:cNvSpPr>
          <p:nvPr/>
        </p:nvSpPr>
        <p:spPr>
          <a:xfrm>
            <a:off x="319463" y="3965908"/>
            <a:ext cx="6262400" cy="7382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1.1c - Constructing a graph of the Markov chain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 err="1">
                <a:solidFill>
                  <a:schemeClr val="tx1"/>
                </a:solidFill>
              </a:rPr>
              <a:t>mc@transitionMatrix</a:t>
            </a:r>
            <a:r>
              <a:rPr lang="fr-FR" altLang="ja-JP" sz="1400" dirty="0">
                <a:solidFill>
                  <a:schemeClr val="tx1"/>
                </a:solidFill>
              </a:rPr>
              <a:t> &lt;- P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>
                <a:solidFill>
                  <a:schemeClr val="tx1"/>
                </a:solidFill>
              </a:rPr>
              <a:t>plot(mc)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7C55AE01-3835-E144-85DB-352E48E75E24}"/>
              </a:ext>
            </a:extLst>
          </p:cNvPr>
          <p:cNvSpPr txBox="1">
            <a:spLocks/>
          </p:cNvSpPr>
          <p:nvPr/>
        </p:nvSpPr>
        <p:spPr>
          <a:xfrm>
            <a:off x="319463" y="4854672"/>
            <a:ext cx="6262400" cy="7382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rgbClr val="00B050"/>
                </a:solidFill>
              </a:rPr>
              <a:t># 1.1d - Conducting a random walk on the Markov Chain stating a state 1 </a:t>
            </a:r>
            <a:r>
              <a:rPr lang="fr-FR" altLang="ja-JP" sz="1400" dirty="0" err="1">
                <a:solidFill>
                  <a:schemeClr val="tx1"/>
                </a:solidFill>
              </a:rPr>
              <a:t>markovchainSequence</a:t>
            </a:r>
            <a:r>
              <a:rPr lang="fr-FR" altLang="ja-JP" sz="1400" dirty="0">
                <a:solidFill>
                  <a:schemeClr val="tx1"/>
                </a:solidFill>
              </a:rPr>
              <a:t>(n=</a:t>
            </a:r>
            <a:r>
              <a:rPr lang="fr-FR" altLang="ja-JP" sz="1400" dirty="0">
                <a:solidFill>
                  <a:srgbClr val="0070C0"/>
                </a:solidFill>
              </a:rPr>
              <a:t>10</a:t>
            </a:r>
            <a:r>
              <a:rPr lang="fr-FR" altLang="ja-JP" sz="1400" dirty="0">
                <a:solidFill>
                  <a:schemeClr val="tx1"/>
                </a:solidFill>
              </a:rPr>
              <a:t>, </a:t>
            </a:r>
            <a:r>
              <a:rPr lang="fr-FR" altLang="ja-JP" sz="1400" dirty="0" err="1">
                <a:solidFill>
                  <a:schemeClr val="tx1"/>
                </a:solidFill>
              </a:rPr>
              <a:t>markovchain</a:t>
            </a:r>
            <a:r>
              <a:rPr lang="fr-FR" altLang="ja-JP" sz="1400" dirty="0">
                <a:solidFill>
                  <a:schemeClr val="tx1"/>
                </a:solidFill>
              </a:rPr>
              <a:t>=mc, t0="</a:t>
            </a:r>
            <a:r>
              <a:rPr lang="fr-FR" altLang="ja-JP" sz="1400" dirty="0">
                <a:solidFill>
                  <a:srgbClr val="0070C0"/>
                </a:solidFill>
              </a:rPr>
              <a:t>1</a:t>
            </a:r>
            <a:r>
              <a:rPr lang="fr-FR" altLang="ja-JP" sz="1400" dirty="0">
                <a:solidFill>
                  <a:schemeClr val="tx1"/>
                </a:solidFill>
              </a:rPr>
              <a:t>", </a:t>
            </a:r>
          </a:p>
          <a:p>
            <a:pPr lvl="0">
              <a:lnSpc>
                <a:spcPct val="100000"/>
              </a:lnSpc>
              <a:defRPr/>
            </a:pPr>
            <a:r>
              <a:rPr lang="fr-FR" altLang="ja-JP" sz="1400" dirty="0">
                <a:solidFill>
                  <a:schemeClr val="tx1"/>
                </a:solidFill>
              </a:rPr>
              <a:t>                    </a:t>
            </a:r>
            <a:r>
              <a:rPr lang="fr-FR" altLang="ja-JP" sz="1400" dirty="0" err="1">
                <a:solidFill>
                  <a:schemeClr val="tx1"/>
                </a:solidFill>
              </a:rPr>
              <a:t>include</a:t>
            </a:r>
            <a:r>
              <a:rPr lang="fr-FR" altLang="ja-JP" sz="1400" dirty="0">
                <a:solidFill>
                  <a:schemeClr val="tx1"/>
                </a:solidFill>
              </a:rPr>
              <a:t>=</a:t>
            </a:r>
            <a:r>
              <a:rPr lang="fr-FR" altLang="ja-JP" sz="1400" dirty="0">
                <a:solidFill>
                  <a:srgbClr val="0070C0"/>
                </a:solidFill>
              </a:rPr>
              <a:t>TRUE</a:t>
            </a:r>
            <a:r>
              <a:rPr lang="fr-FR" altLang="ja-JP" sz="1400" dirty="0">
                <a:solidFill>
                  <a:schemeClr val="tx1"/>
                </a:solidFill>
              </a:rPr>
              <a:t>)</a:t>
            </a:r>
            <a:endParaRPr kumimoji="1" lang="en-US" altLang="ja-JP" sz="1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0E0E54-CA6C-B8BA-88A6-33DDE0CC67D8}"/>
              </a:ext>
            </a:extLst>
          </p:cNvPr>
          <p:cNvSpPr txBox="1"/>
          <p:nvPr/>
        </p:nvSpPr>
        <p:spPr>
          <a:xfrm>
            <a:off x="1343742" y="5743436"/>
            <a:ext cx="611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 [1] "1" "2" "1" "5" "1" "2" "3" "3" "4" "5" "3"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224C2EC6-4E1F-E7BD-23FD-52AC9C2F9EEA}"/>
              </a:ext>
            </a:extLst>
          </p:cNvPr>
          <p:cNvSpPr txBox="1">
            <a:spLocks/>
          </p:cNvSpPr>
          <p:nvPr/>
        </p:nvSpPr>
        <p:spPr>
          <a:xfrm>
            <a:off x="6889027" y="706371"/>
            <a:ext cx="5139200" cy="5881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In </a:t>
            </a: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Section 8.1b 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we performed a random walk on this Markov chain starting at state 1.</a:t>
            </a:r>
            <a:endParaRPr kumimoji="1" lang="en-US" altLang="ja-JP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0116821B-B64C-8A71-9EEC-FB91E12B413D}"/>
              </a:ext>
            </a:extLst>
          </p:cNvPr>
          <p:cNvSpPr txBox="1">
            <a:spLocks/>
          </p:cNvSpPr>
          <p:nvPr/>
        </p:nvSpPr>
        <p:spPr>
          <a:xfrm>
            <a:off x="6889027" y="4694579"/>
            <a:ext cx="5139200" cy="6908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There is no reason why we had to start at state 1.</a:t>
            </a:r>
            <a:b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Indeed, we could have started the walk at any other state.</a:t>
            </a:r>
            <a:endParaRPr kumimoji="1" lang="en-US" altLang="ja-JP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D3FCC3BF-1784-9727-B9EC-2080DFDAFD8E}"/>
              </a:ext>
            </a:extLst>
          </p:cNvPr>
          <p:cNvSpPr txBox="1">
            <a:spLocks/>
          </p:cNvSpPr>
          <p:nvPr/>
        </p:nvSpPr>
        <p:spPr>
          <a:xfrm>
            <a:off x="6889027" y="5365229"/>
            <a:ext cx="5139200" cy="6908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In general, the starting state </a:t>
            </a:r>
            <a:r>
              <a:rPr lang="en-US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of a Markov chain is a random variable defined by a probability distribution </a:t>
            </a:r>
            <a:r>
              <a:rPr lang="en-US" altLang="ja-JP" sz="1600" b="1" i="1" u="sng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v</a:t>
            </a:r>
            <a:r>
              <a:rPr lang="en-US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.</a:t>
            </a:r>
            <a:endParaRPr kumimoji="1" lang="en-US" altLang="ja-JP" sz="160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7F162D3F-0FDC-95F9-284E-2E327090B7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4165" y="5940898"/>
                <a:ext cx="2205956" cy="52303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𝟎</m:t>
                          </m:r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p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~</m:t>
                      </m:r>
                      <m:bar>
                        <m:barPr>
                          <m:ctrlPr>
                            <a:rPr lang="en-US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bar>
                    </m:oMath>
                  </m:oMathPara>
                </a14:m>
                <a:endParaRPr kumimoji="1" lang="en-US" altLang="ja-JP" sz="18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7F162D3F-0FDC-95F9-284E-2E327090B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165" y="5940898"/>
                <a:ext cx="2205956" cy="523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49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2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8.1h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EE82DF-97AA-B389-C21C-C6DEDA16C5A7}"/>
              </a:ext>
            </a:extLst>
          </p:cNvPr>
          <p:cNvSpPr/>
          <p:nvPr/>
        </p:nvSpPr>
        <p:spPr>
          <a:xfrm>
            <a:off x="9602595" y="97588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7B7255-CA19-36D4-89B2-B5450895A3F0}"/>
              </a:ext>
            </a:extLst>
          </p:cNvPr>
          <p:cNvSpPr/>
          <p:nvPr/>
        </p:nvSpPr>
        <p:spPr>
          <a:xfrm>
            <a:off x="11147066" y="168556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026EAD-4326-6AE1-2D9A-219D6C6F1666}"/>
              </a:ext>
            </a:extLst>
          </p:cNvPr>
          <p:cNvSpPr/>
          <p:nvPr/>
        </p:nvSpPr>
        <p:spPr>
          <a:xfrm>
            <a:off x="10416911" y="3258472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B75DB1-E02E-717C-3F7E-5707970C648D}"/>
              </a:ext>
            </a:extLst>
          </p:cNvPr>
          <p:cNvSpPr/>
          <p:nvPr/>
        </p:nvSpPr>
        <p:spPr>
          <a:xfrm>
            <a:off x="8863340" y="3258472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99EDC2-26C4-1D6C-0D14-F431F50DD516}"/>
              </a:ext>
            </a:extLst>
          </p:cNvPr>
          <p:cNvSpPr/>
          <p:nvPr/>
        </p:nvSpPr>
        <p:spPr>
          <a:xfrm>
            <a:off x="8085418" y="1685566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519227-B342-F3C4-BB7B-420C15B3EED8}"/>
              </a:ext>
            </a:extLst>
          </p:cNvPr>
          <p:cNvCxnSpPr>
            <a:cxnSpLocks/>
          </p:cNvCxnSpPr>
          <p:nvPr/>
        </p:nvCxnSpPr>
        <p:spPr>
          <a:xfrm flipH="1">
            <a:off x="10794846" y="2087151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A4BDC6-06EA-20A6-C00B-E5943695E911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10595380" y="2011739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0F01C-A040-D445-20C9-8E43019B8A4F}"/>
              </a:ext>
            </a:extLst>
          </p:cNvPr>
          <p:cNvCxnSpPr>
            <a:cxnSpLocks/>
            <a:stCxn id="31" idx="7"/>
            <a:endCxn id="30" idx="1"/>
          </p:cNvCxnSpPr>
          <p:nvPr/>
        </p:nvCxnSpPr>
        <p:spPr>
          <a:xfrm>
            <a:off x="9166217" y="3314435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38295-A643-28EA-B14B-98074FC1224B}"/>
              </a:ext>
            </a:extLst>
          </p:cNvPr>
          <p:cNvCxnSpPr>
            <a:cxnSpLocks/>
            <a:stCxn id="30" idx="3"/>
            <a:endCxn id="31" idx="5"/>
          </p:cNvCxnSpPr>
          <p:nvPr/>
        </p:nvCxnSpPr>
        <p:spPr>
          <a:xfrm flipH="1">
            <a:off x="9166217" y="3584645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01A0FB-BADE-2434-6F8D-38CE920F97F8}"/>
              </a:ext>
            </a:extLst>
          </p:cNvPr>
          <p:cNvCxnSpPr>
            <a:cxnSpLocks/>
          </p:cNvCxnSpPr>
          <p:nvPr/>
        </p:nvCxnSpPr>
        <p:spPr>
          <a:xfrm>
            <a:off x="8563090" y="2047580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FD1243-5601-2E82-C766-5FBA35CE44FF}"/>
              </a:ext>
            </a:extLst>
          </p:cNvPr>
          <p:cNvCxnSpPr>
            <a:cxnSpLocks/>
            <a:stCxn id="31" idx="2"/>
          </p:cNvCxnSpPr>
          <p:nvPr/>
        </p:nvCxnSpPr>
        <p:spPr>
          <a:xfrm flipH="1" flipV="1">
            <a:off x="8185062" y="2074871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7CF5D2-32F7-EAF5-F0C6-30B2B8D48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412045" y="1991616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BE5C31-6B79-6E13-3588-67BAB56EA158}"/>
              </a:ext>
            </a:extLst>
          </p:cNvPr>
          <p:cNvCxnSpPr>
            <a:cxnSpLocks/>
            <a:stCxn id="32" idx="0"/>
            <a:endCxn id="28" idx="1"/>
          </p:cNvCxnSpPr>
          <p:nvPr/>
        </p:nvCxnSpPr>
        <p:spPr>
          <a:xfrm flipV="1">
            <a:off x="8262839" y="1031846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9E8CA3-1BD9-EA6C-BAE8-BEB35111236C}"/>
              </a:ext>
            </a:extLst>
          </p:cNvPr>
          <p:cNvCxnSpPr>
            <a:cxnSpLocks/>
            <a:stCxn id="28" idx="3"/>
            <a:endCxn id="32" idx="6"/>
          </p:cNvCxnSpPr>
          <p:nvPr/>
        </p:nvCxnSpPr>
        <p:spPr>
          <a:xfrm flipH="1">
            <a:off x="8440260" y="1302056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E84BC4-1BFE-2413-537B-69A316D6072B}"/>
              </a:ext>
            </a:extLst>
          </p:cNvPr>
          <p:cNvCxnSpPr>
            <a:cxnSpLocks/>
            <a:stCxn id="28" idx="7"/>
            <a:endCxn id="29" idx="0"/>
          </p:cNvCxnSpPr>
          <p:nvPr/>
        </p:nvCxnSpPr>
        <p:spPr>
          <a:xfrm>
            <a:off x="9905472" y="1031846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D69AA-65AA-F478-C18B-BD037F7CAEA0}"/>
              </a:ext>
            </a:extLst>
          </p:cNvPr>
          <p:cNvCxnSpPr>
            <a:cxnSpLocks/>
            <a:stCxn id="29" idx="2"/>
            <a:endCxn id="28" idx="5"/>
          </p:cNvCxnSpPr>
          <p:nvPr/>
        </p:nvCxnSpPr>
        <p:spPr>
          <a:xfrm flipH="1" flipV="1">
            <a:off x="9905472" y="1302056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91F68B-B501-E764-2F7C-A2C8A4A15AA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500361" y="1876634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F990DB1-1C5E-9D44-9792-3D03187F45DD}"/>
              </a:ext>
            </a:extLst>
          </p:cNvPr>
          <p:cNvSpPr txBox="1">
            <a:spLocks/>
          </p:cNvSpPr>
          <p:nvPr/>
        </p:nvSpPr>
        <p:spPr>
          <a:xfrm>
            <a:off x="10468876" y="101760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B822F3F4-33E6-6374-4748-E073BDE9535B}"/>
              </a:ext>
            </a:extLst>
          </p:cNvPr>
          <p:cNvSpPr txBox="1">
            <a:spLocks/>
          </p:cNvSpPr>
          <p:nvPr/>
        </p:nvSpPr>
        <p:spPr>
          <a:xfrm>
            <a:off x="9016093" y="144283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0445A778-9787-10B6-EAC8-7E7E56882B3D}"/>
              </a:ext>
            </a:extLst>
          </p:cNvPr>
          <p:cNvSpPr txBox="1">
            <a:spLocks/>
          </p:cNvSpPr>
          <p:nvPr/>
        </p:nvSpPr>
        <p:spPr>
          <a:xfrm>
            <a:off x="11053365" y="259553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5F1F28D2-A52A-F44E-31F4-50D8A5B25FEF}"/>
              </a:ext>
            </a:extLst>
          </p:cNvPr>
          <p:cNvSpPr txBox="1">
            <a:spLocks/>
          </p:cNvSpPr>
          <p:nvPr/>
        </p:nvSpPr>
        <p:spPr>
          <a:xfrm>
            <a:off x="9459290" y="187663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30DCA69-BABB-6C47-7648-6FD80F258019}"/>
              </a:ext>
            </a:extLst>
          </p:cNvPr>
          <p:cNvSpPr txBox="1">
            <a:spLocks/>
          </p:cNvSpPr>
          <p:nvPr/>
        </p:nvSpPr>
        <p:spPr>
          <a:xfrm>
            <a:off x="9966710" y="149723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DA5CB488-6B48-AA8E-F6EC-403351E41A18}"/>
              </a:ext>
            </a:extLst>
          </p:cNvPr>
          <p:cNvSpPr txBox="1">
            <a:spLocks/>
          </p:cNvSpPr>
          <p:nvPr/>
        </p:nvSpPr>
        <p:spPr>
          <a:xfrm>
            <a:off x="10349631" y="229393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9942DC50-D231-B69B-922A-3CDF83585147}"/>
              </a:ext>
            </a:extLst>
          </p:cNvPr>
          <p:cNvSpPr txBox="1">
            <a:spLocks/>
          </p:cNvSpPr>
          <p:nvPr/>
        </p:nvSpPr>
        <p:spPr>
          <a:xfrm>
            <a:off x="10853639" y="373751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09B8E4-70B2-6653-64E0-F26D414205E8}"/>
              </a:ext>
            </a:extLst>
          </p:cNvPr>
          <p:cNvCxnSpPr>
            <a:cxnSpLocks/>
            <a:stCxn id="30" idx="4"/>
            <a:endCxn id="30" idx="6"/>
          </p:cNvCxnSpPr>
          <p:nvPr/>
        </p:nvCxnSpPr>
        <p:spPr>
          <a:xfrm rot="5400000" flipH="1" flipV="1">
            <a:off x="10587508" y="3456363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FC523404-60BD-F233-F96C-8F7C2A9E2283}"/>
              </a:ext>
            </a:extLst>
          </p:cNvPr>
          <p:cNvSpPr txBox="1">
            <a:spLocks/>
          </p:cNvSpPr>
          <p:nvPr/>
        </p:nvSpPr>
        <p:spPr>
          <a:xfrm>
            <a:off x="9572325" y="36346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2EF0ABFE-16F5-E9B4-BD78-030B45E1D0B5}"/>
              </a:ext>
            </a:extLst>
          </p:cNvPr>
          <p:cNvSpPr txBox="1">
            <a:spLocks/>
          </p:cNvSpPr>
          <p:nvPr/>
        </p:nvSpPr>
        <p:spPr>
          <a:xfrm>
            <a:off x="9465765" y="296461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ECB10C11-1EB3-3F65-ED75-042041FF708B}"/>
              </a:ext>
            </a:extLst>
          </p:cNvPr>
          <p:cNvSpPr txBox="1">
            <a:spLocks/>
          </p:cNvSpPr>
          <p:nvPr/>
        </p:nvSpPr>
        <p:spPr>
          <a:xfrm>
            <a:off x="7901039" y="272142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CE954937-3054-A8F6-CE7B-49C4FE0D0F2D}"/>
              </a:ext>
            </a:extLst>
          </p:cNvPr>
          <p:cNvSpPr txBox="1">
            <a:spLocks/>
          </p:cNvSpPr>
          <p:nvPr/>
        </p:nvSpPr>
        <p:spPr>
          <a:xfrm>
            <a:off x="8500141" y="1059319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447B1BE-4969-5FA1-79FF-E6D3403AA482}"/>
              </a:ext>
            </a:extLst>
          </p:cNvPr>
          <p:cNvSpPr txBox="1">
            <a:spLocks/>
          </p:cNvSpPr>
          <p:nvPr/>
        </p:nvSpPr>
        <p:spPr>
          <a:xfrm>
            <a:off x="9457972" y="235674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B0581357-EB65-3E1A-D908-E6211460E45C}"/>
              </a:ext>
            </a:extLst>
          </p:cNvPr>
          <p:cNvSpPr txBox="1">
            <a:spLocks/>
          </p:cNvSpPr>
          <p:nvPr/>
        </p:nvSpPr>
        <p:spPr>
          <a:xfrm>
            <a:off x="8751790" y="257207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D3FCC3BF-1784-9727-B9EC-2080DFDAF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3008" y="944896"/>
                <a:ext cx="7259737" cy="10228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 vector</a:t>
                </a:r>
                <a:r>
                  <a:rPr lang="en-US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bar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𝒗</m:t>
                        </m:r>
                      </m:e>
                    </m:ba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d>
                      <m:d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, </m:t>
                        </m:r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𝟐</m:t>
                            </m:r>
                          </m:sub>
                        </m:sSub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, … </m:t>
                        </m:r>
                      </m:e>
                    </m:d>
                  </m:oMath>
                </a14:m>
                <a:r>
                  <a:rPr lang="en-US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said to be a probability distribution if</a:t>
                </a:r>
              </a:p>
              <a:p>
                <a:pPr marL="1085793" lvl="1" indent="-40005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romanUcPeriod"/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𝒗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  ∀ 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𝒋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1085793" lvl="1" indent="-40005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romanUcPeriod"/>
                  <a:defRPr/>
                </a:pPr>
                <a:r>
                  <a:rPr lang="en-US" altLang="ja-JP" sz="1800" dirty="0">
                    <a:solidFill>
                      <a:prstClr val="black"/>
                    </a:solidFill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∈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𝒋</m:t>
                            </m:r>
                          </m:sub>
                        </m:sSub>
                      </m:e>
                    </m:nary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=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lang="en-US" altLang="ja-JP" sz="18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b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D3FCC3BF-1784-9727-B9EC-2080DFDA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08" y="944896"/>
                <a:ext cx="7259737" cy="1022834"/>
              </a:xfrm>
              <a:prstGeom prst="rect">
                <a:avLst/>
              </a:prstGeom>
              <a:blipFill>
                <a:blip r:embed="rId3"/>
                <a:stretch>
                  <a:fillRect l="-924" t="-2381" b="-6369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">
                <a:extLst>
                  <a:ext uri="{FF2B5EF4-FFF2-40B4-BE49-F238E27FC236}">
                    <a16:creationId xmlns:a16="http://schemas.microsoft.com/office/drawing/2014/main" id="{DCF26AAB-D23B-4980-AE2A-594ACCF39D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4208010"/>
                <a:ext cx="11182445" cy="7294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For instance,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in terms of the adjacent Markov chain, </a:t>
                </a:r>
                <a:r>
                  <a:rPr kumimoji="1" lang="en-NZ" altLang="ja-JP" sz="2000" b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1800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could be distributed according to any of</a:t>
                </a:r>
                <a:r>
                  <a:rPr kumimoji="1" lang="en-US" altLang="ja-JP" sz="1800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three probability distributions listed below:</a:t>
                </a:r>
                <a:br>
                  <a:rPr kumimoji="1" lang="en-US" altLang="ja-JP" sz="1800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kumimoji="1" lang="en-US" altLang="ja-JP" sz="1800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US" altLang="ja-JP" sz="18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68" name="Text Placeholder 5">
                <a:extLst>
                  <a:ext uri="{FF2B5EF4-FFF2-40B4-BE49-F238E27FC236}">
                    <a16:creationId xmlns:a16="http://schemas.microsoft.com/office/drawing/2014/main" id="{DCF26AAB-D23B-4980-AE2A-594ACCF39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4208010"/>
                <a:ext cx="11182445" cy="729444"/>
              </a:xfrm>
              <a:prstGeom prst="rect">
                <a:avLst/>
              </a:prstGeom>
              <a:blipFill>
                <a:blip r:embed="rId4"/>
                <a:stretch>
                  <a:fillRect l="-545" t="-2500" b="-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Placeholder 5">
                <a:extLst>
                  <a:ext uri="{FF2B5EF4-FFF2-40B4-BE49-F238E27FC236}">
                    <a16:creationId xmlns:a16="http://schemas.microsoft.com/office/drawing/2014/main" id="{AF389BB4-536C-A38F-8CE3-C11E7646D9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3008" y="2122796"/>
                <a:ext cx="7259737" cy="191342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the initial random variable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~</m:t>
                    </m:r>
                    <m:bar>
                      <m:barPr>
                        <m:ctrlPr>
                          <a:rPr lang="en-US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kumimoji="1" lang="en-US" altLang="ja-JP" sz="1800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this means that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US" altLang="ja-JP" sz="200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800" b="1" i="1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𝑷</m:t>
                                    </m:r>
                                    <m:d>
                                      <m:dPr>
                                        <m:ctrlPr>
                                          <a:rPr kumimoji="1" lang="en-NZ" altLang="ja-JP" sz="1800" b="1" i="1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kumimoji="1" lang="en-NZ" altLang="ja-JP" sz="1800" b="1" i="1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NZ" altLang="ja-JP" sz="1800" b="1" i="1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𝑿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kumimoji="1" lang="en-NZ" altLang="ja-JP" sz="1800" b="1" i="1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kumimoji="1" lang="en-NZ" altLang="ja-JP" sz="1800" b="1" i="1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  <m:r>
                                          <a:rPr kumimoji="1" lang="en-NZ" altLang="ja-JP" sz="1800" b="1" i="1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  <m:t>=</m:t>
                                        </m:r>
                                        <m:r>
                                          <a:rPr kumimoji="1" lang="en-NZ" altLang="ja-JP" sz="1800" b="1" i="1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8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d>
                                      <m:dPr>
                                        <m:ctrlPr>
                                          <a:rPr lang="en-NZ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𝑿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  <m:r>
                                          <a:rPr lang="en-NZ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1" lang="en-US" altLang="ja-JP" sz="1800" b="1" i="1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  <m:d>
                                            <m:dPr>
                                              <m:ctrlP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NZ" altLang="ja-JP" sz="1800" b="1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NZ" altLang="ja-JP" sz="1800" b="1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NZ" altLang="ja-JP" sz="1800" b="1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NZ" altLang="ja-JP" sz="1800" b="1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  <m: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1" lang="en-US" altLang="ja-JP" sz="1800" b="1" i="1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𝑻</m:t>
                          </m:r>
                        </m:sup>
                      </m:sSup>
                      <m:r>
                        <a:rPr kumimoji="1" lang="en-NZ" altLang="ja-JP" sz="18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NZ" altLang="ja-JP" sz="18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2" name="Text Placeholder 5">
                <a:extLst>
                  <a:ext uri="{FF2B5EF4-FFF2-40B4-BE49-F238E27FC236}">
                    <a16:creationId xmlns:a16="http://schemas.microsoft.com/office/drawing/2014/main" id="{AF389BB4-536C-A38F-8CE3-C11E7646D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08" y="2122796"/>
                <a:ext cx="7259737" cy="1913420"/>
              </a:xfrm>
              <a:prstGeom prst="rect">
                <a:avLst/>
              </a:prstGeom>
              <a:blipFill>
                <a:blip r:embed="rId5"/>
                <a:stretch>
                  <a:fillRect l="-924" t="-31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Placeholder 5">
                <a:extLst>
                  <a:ext uri="{FF2B5EF4-FFF2-40B4-BE49-F238E27FC236}">
                    <a16:creationId xmlns:a16="http://schemas.microsoft.com/office/drawing/2014/main" id="{3E379AF6-1215-3169-6AC3-543E0140E9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555" y="4923039"/>
                <a:ext cx="5186087" cy="36472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US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bar>
                        </m:e>
                        <m:sub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 (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16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3" name="Text Placeholder 5">
                <a:extLst>
                  <a:ext uri="{FF2B5EF4-FFF2-40B4-BE49-F238E27FC236}">
                    <a16:creationId xmlns:a16="http://schemas.microsoft.com/office/drawing/2014/main" id="{3E379AF6-1215-3169-6AC3-543E0140E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55" y="4923039"/>
                <a:ext cx="5186087" cy="364722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Placeholder 5">
                <a:extLst>
                  <a:ext uri="{FF2B5EF4-FFF2-40B4-BE49-F238E27FC236}">
                    <a16:creationId xmlns:a16="http://schemas.microsoft.com/office/drawing/2014/main" id="{02C574DC-40F9-7DEE-1664-F2DCB6B9E0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556" y="5312259"/>
                <a:ext cx="5609608" cy="36472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US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bar>
                        </m:e>
                        <m:sub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 (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16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5" name="Text Placeholder 5">
                <a:extLst>
                  <a:ext uri="{FF2B5EF4-FFF2-40B4-BE49-F238E27FC236}">
                    <a16:creationId xmlns:a16="http://schemas.microsoft.com/office/drawing/2014/main" id="{02C574DC-40F9-7DEE-1664-F2DCB6B9E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56" y="5312259"/>
                <a:ext cx="5609608" cy="36472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Placeholder 5">
                <a:extLst>
                  <a:ext uri="{FF2B5EF4-FFF2-40B4-BE49-F238E27FC236}">
                    <a16:creationId xmlns:a16="http://schemas.microsoft.com/office/drawing/2014/main" id="{9009D745-6023-5B1C-5EEC-9C4FBC6152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556" y="5730743"/>
                <a:ext cx="5086444" cy="36472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US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bar>
                        </m:e>
                        <m:sub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 (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1600" b="1" i="1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6" name="Text Placeholder 5">
                <a:extLst>
                  <a:ext uri="{FF2B5EF4-FFF2-40B4-BE49-F238E27FC236}">
                    <a16:creationId xmlns:a16="http://schemas.microsoft.com/office/drawing/2014/main" id="{9009D745-6023-5B1C-5EEC-9C4FBC615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56" y="5730743"/>
                <a:ext cx="5086444" cy="36472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B94570E5-33A3-2B5D-92BC-C62690E4AD0D}"/>
              </a:ext>
            </a:extLst>
          </p:cNvPr>
          <p:cNvSpPr txBox="1">
            <a:spLocks/>
          </p:cNvSpPr>
          <p:nvPr/>
        </p:nvSpPr>
        <p:spPr>
          <a:xfrm>
            <a:off x="6195643" y="4961952"/>
            <a:ext cx="3262329" cy="3916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ea typeface="游ゴシック" panose="020B0400000000000000" pitchFamily="34" charset="-128"/>
              </a:rPr>
              <a:t>Start from state</a:t>
            </a:r>
            <a:r>
              <a:rPr kumimoji="1" lang="en-NZ" altLang="ja-JP" sz="1600" i="1" u="none" strike="noStrike" kern="1200" cap="none" spc="0" normalizeH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ea typeface="游ゴシック" panose="020B0400000000000000" pitchFamily="34" charset="-128"/>
              </a:rPr>
              <a:t> 1 with certainty</a:t>
            </a:r>
            <a:br>
              <a:rPr kumimoji="1" lang="en-US" altLang="ja-JP" sz="1600" i="1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endParaRPr kumimoji="1" lang="en-US" altLang="ja-JP" sz="1600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endParaRPr kumimoji="1" lang="en-US" altLang="ja-JP" sz="1600" b="1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6902083F-72D0-5566-6A13-D2E27524327B}"/>
              </a:ext>
            </a:extLst>
          </p:cNvPr>
          <p:cNvSpPr txBox="1">
            <a:spLocks/>
          </p:cNvSpPr>
          <p:nvPr/>
        </p:nvSpPr>
        <p:spPr>
          <a:xfrm>
            <a:off x="6195643" y="5319467"/>
            <a:ext cx="4398688" cy="3916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ea typeface="游ゴシック" panose="020B0400000000000000" pitchFamily="34" charset="-128"/>
              </a:rPr>
              <a:t>Equal chance of starting from any state</a:t>
            </a:r>
            <a:br>
              <a:rPr kumimoji="1" lang="en-US" altLang="ja-JP" sz="1600" i="1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endParaRPr kumimoji="1" lang="en-US" altLang="ja-JP" sz="1600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endParaRPr kumimoji="1" lang="en-US" altLang="ja-JP" sz="1600" b="1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79" name="Text Placeholder 5">
            <a:extLst>
              <a:ext uri="{FF2B5EF4-FFF2-40B4-BE49-F238E27FC236}">
                <a16:creationId xmlns:a16="http://schemas.microsoft.com/office/drawing/2014/main" id="{C700D4EB-31CA-64A5-2E7D-5C2673CF1B2A}"/>
              </a:ext>
            </a:extLst>
          </p:cNvPr>
          <p:cNvSpPr txBox="1">
            <a:spLocks/>
          </p:cNvSpPr>
          <p:nvPr/>
        </p:nvSpPr>
        <p:spPr>
          <a:xfrm>
            <a:off x="6195643" y="5690857"/>
            <a:ext cx="4398688" cy="3916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ea typeface="游ゴシック" panose="020B0400000000000000" pitchFamily="34" charset="-128"/>
              </a:rPr>
              <a:t>Most likely to start from state 4</a:t>
            </a:r>
            <a:br>
              <a:rPr kumimoji="1" lang="en-US" altLang="ja-JP" sz="1600" i="1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endParaRPr kumimoji="1" lang="en-US" altLang="ja-JP" sz="1600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endParaRPr kumimoji="1" lang="en-US" altLang="ja-JP" sz="1600" b="1" i="1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609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2" grpId="0"/>
      <p:bldP spid="73" grpId="0"/>
      <p:bldP spid="75" grpId="0"/>
      <p:bldP spid="76" grpId="0"/>
      <p:bldP spid="77" grpId="0"/>
      <p:bldP spid="78" grpId="0"/>
      <p:bldP spid="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8.1h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04090"/>
                <a:ext cx="11608680" cy="12157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be a discrete state space Markov Chain with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and transition matrix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P</a:t>
                </a:r>
                <a:r>
                  <a:rPr lang="en-NZ" altLang="ja-JP" sz="1800" i="1" dirty="0">
                    <a:solidFill>
                      <a:prstClr val="black"/>
                    </a:solidFill>
                  </a:rPr>
                  <a:t>.</a:t>
                </a:r>
                <a:endParaRPr lang="en-NZ" altLang="ja-JP" sz="18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are random variables in their own right.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We may ask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distributed, i.e.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kumimoji="1" lang="en-NZ" altLang="ja-JP" sz="17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7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7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7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7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</m:e>
                      </m:d>
                      <m:r>
                        <a:rPr kumimoji="1" lang="en-NZ" altLang="ja-JP" sz="17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?,  </m:t>
                      </m:r>
                      <m:r>
                        <m:rPr>
                          <m:brk m:alnAt="7"/>
                        </m:rP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7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7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7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7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?,  </m:t>
                      </m:r>
                      <m:r>
                        <m:rPr>
                          <m:brk m:alnAt="7"/>
                        </m:rP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7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7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7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7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?,  ⋯</m:t>
                      </m:r>
                    </m:oMath>
                  </m:oMathPara>
                </a14:m>
                <a:endParaRPr kumimoji="1" lang="en-US" altLang="ja-JP" sz="17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04090"/>
                <a:ext cx="11608680" cy="1215779"/>
              </a:xfrm>
              <a:prstGeom prst="rect">
                <a:avLst/>
              </a:prstGeom>
              <a:blipFill>
                <a:blip r:embed="rId3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completely determined by the transition matrix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and the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  <a:blipFill>
                <a:blip r:embed="rId4"/>
                <a:stretch>
                  <a:fillRect l="-420" t="-4000" b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71926"/>
                <a:ext cx="11608680" cy="7901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To see this, suppose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and consider how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is distributed.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By conditioning on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we have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71926"/>
                <a:ext cx="11608680" cy="790140"/>
              </a:xfrm>
              <a:prstGeom prst="rect">
                <a:avLst/>
              </a:prstGeom>
              <a:blipFill>
                <a:blip r:embed="rId5"/>
                <a:stretch>
                  <a:fillRect l="-420" t="-15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Placeholder 5">
                <a:extLst>
                  <a:ext uri="{FF2B5EF4-FFF2-40B4-BE49-F238E27FC236}">
                    <a16:creationId xmlns:a16="http://schemas.microsoft.com/office/drawing/2014/main" id="{25DFEBB4-E0C4-86C3-E435-DBF76E2E8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457615"/>
                <a:ext cx="11608680" cy="7901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kumimoji="1" lang="en-NZ" altLang="ja-JP" sz="18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e>
                      </m:d>
                      <m:r>
                        <a:rPr kumimoji="1" lang="en-NZ" altLang="ja-JP" sz="18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=   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(</m:t>
                                  </m:r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𝟏</m:t>
                                  </m:r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=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𝒋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|  </m:t>
                              </m:r>
                              <m:sSup>
                                <m:sSup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kumimoji="1" lang="en-NZ" altLang="ja-JP" sz="1800" b="1" i="1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NZ" altLang="ja-JP" sz="1800" b="1" i="1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=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𝒊</m:t>
                              </m:r>
                            </m:e>
                          </m:d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⋅  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= 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4" name="Text Placeholder 5">
                <a:extLst>
                  <a:ext uri="{FF2B5EF4-FFF2-40B4-BE49-F238E27FC236}">
                    <a16:creationId xmlns:a16="http://schemas.microsoft.com/office/drawing/2014/main" id="{25DFEBB4-E0C4-86C3-E435-DBF76E2E8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457615"/>
                <a:ext cx="11608680" cy="7901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5">
                <a:extLst>
                  <a:ext uri="{FF2B5EF4-FFF2-40B4-BE49-F238E27FC236}">
                    <a16:creationId xmlns:a16="http://schemas.microsoft.com/office/drawing/2014/main" id="{86854582-1D7C-5D9D-79B2-E87C1F63C0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391160"/>
                <a:ext cx="11608680" cy="5093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note that this last expression is simply the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lang="en-NZ" altLang="ja-JP" sz="1800" b="1" i="1" baseline="30000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element of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since </a:t>
                </a:r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5" name="Text Placeholder 5">
                <a:extLst>
                  <a:ext uri="{FF2B5EF4-FFF2-40B4-BE49-F238E27FC236}">
                    <a16:creationId xmlns:a16="http://schemas.microsoft.com/office/drawing/2014/main" id="{86854582-1D7C-5D9D-79B2-E87C1F63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391160"/>
                <a:ext cx="11608680" cy="509357"/>
              </a:xfrm>
              <a:prstGeom prst="rect">
                <a:avLst/>
              </a:prstGeom>
              <a:blipFill>
                <a:blip r:embed="rId7"/>
                <a:stretch>
                  <a:fillRect l="-420" t="-47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Placeholder 5">
                <a:extLst>
                  <a:ext uri="{FF2B5EF4-FFF2-40B4-BE49-F238E27FC236}">
                    <a16:creationId xmlns:a16="http://schemas.microsoft.com/office/drawing/2014/main" id="{53082D66-3764-9A3E-5C0C-4F8A23C753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793104"/>
                <a:ext cx="11283685" cy="10325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  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=   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,   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6" name="Text Placeholder 5">
                <a:extLst>
                  <a:ext uri="{FF2B5EF4-FFF2-40B4-BE49-F238E27FC236}">
                    <a16:creationId xmlns:a16="http://schemas.microsoft.com/office/drawing/2014/main" id="{53082D66-3764-9A3E-5C0C-4F8A23C75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793104"/>
                <a:ext cx="11283685" cy="10325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">
                <a:extLst>
                  <a:ext uri="{FF2B5EF4-FFF2-40B4-BE49-F238E27FC236}">
                    <a16:creationId xmlns:a16="http://schemas.microsoft.com/office/drawing/2014/main" id="{93705411-5D0B-BC0C-3D4C-286570C2E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825677"/>
                <a:ext cx="11608680" cy="5093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conclude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bar>
                      <m:bar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lang="en-NZ" altLang="ja-JP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">
                <a:extLst>
                  <a:ext uri="{FF2B5EF4-FFF2-40B4-BE49-F238E27FC236}">
                    <a16:creationId xmlns:a16="http://schemas.microsoft.com/office/drawing/2014/main" id="{93705411-5D0B-BC0C-3D4C-286570C2E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825677"/>
                <a:ext cx="11608680" cy="509357"/>
              </a:xfrm>
              <a:prstGeom prst="rect">
                <a:avLst/>
              </a:prstGeom>
              <a:blipFill>
                <a:blip r:embed="rId9"/>
                <a:stretch>
                  <a:fillRect l="-420" t="-24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24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/>
      <p:bldP spid="64" grpId="0"/>
      <p:bldP spid="65" grpId="0"/>
      <p:bldP spid="66" grpId="0"/>
      <p:bldP spid="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8.1h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04090"/>
                <a:ext cx="11608680" cy="12157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be a discrete state space Markov Chain with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and transition matrix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P</a:t>
                </a:r>
                <a:r>
                  <a:rPr lang="en-NZ" altLang="ja-JP" sz="1800" i="1" dirty="0">
                    <a:solidFill>
                      <a:prstClr val="black"/>
                    </a:solidFill>
                  </a:rPr>
                  <a:t>.</a:t>
                </a:r>
                <a:endParaRPr lang="en-NZ" altLang="ja-JP" sz="18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are random variables in their own right. We may ask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is distributed, i.e.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kumimoji="1" lang="en-NZ" altLang="ja-JP" sz="17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7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7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7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7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7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</m:e>
                      </m:d>
                      <m:r>
                        <a:rPr kumimoji="1" lang="en-NZ" altLang="ja-JP" sz="17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?,  </m:t>
                      </m:r>
                      <m:r>
                        <m:rPr>
                          <m:brk m:alnAt="7"/>
                        </m:rP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7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7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7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7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?,  </m:t>
                      </m:r>
                      <m:r>
                        <m:rPr>
                          <m:brk m:alnAt="7"/>
                        </m:rP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7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7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7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7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7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NZ" altLang="ja-JP" sz="17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7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?,  ⋯</m:t>
                      </m:r>
                    </m:oMath>
                  </m:oMathPara>
                </a14:m>
                <a:endParaRPr kumimoji="1" lang="en-US" altLang="ja-JP" sz="17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04090"/>
                <a:ext cx="11608680" cy="1215779"/>
              </a:xfrm>
              <a:prstGeom prst="rect">
                <a:avLst/>
              </a:prstGeom>
              <a:blipFill>
                <a:blip r:embed="rId3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completely determined by the transition matrix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and the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  <a:blipFill>
                <a:blip r:embed="rId4"/>
                <a:stretch>
                  <a:fillRect l="-420" t="-4000" b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71926"/>
                <a:ext cx="11608680" cy="7901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Likewise, suppose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and consider how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is distributed.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By conditioning on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we have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71926"/>
                <a:ext cx="11608680" cy="790140"/>
              </a:xfrm>
              <a:prstGeom prst="rect">
                <a:avLst/>
              </a:prstGeom>
              <a:blipFill>
                <a:blip r:embed="rId5"/>
                <a:stretch>
                  <a:fillRect l="-420" t="-15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Placeholder 5">
                <a:extLst>
                  <a:ext uri="{FF2B5EF4-FFF2-40B4-BE49-F238E27FC236}">
                    <a16:creationId xmlns:a16="http://schemas.microsoft.com/office/drawing/2014/main" id="{25DFEBB4-E0C4-86C3-E435-DBF76E2E8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457615"/>
                <a:ext cx="11608680" cy="7901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kumimoji="1" lang="en-NZ" altLang="ja-JP" sz="18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e>
                      </m:d>
                      <m:r>
                        <a:rPr kumimoji="1" lang="en-NZ" altLang="ja-JP" sz="1800" b="1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=   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(</m:t>
                                  </m:r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=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𝒋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|  </m:t>
                              </m:r>
                              <m:sSup>
                                <m:sSupPr>
                                  <m:ctrlP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NZ" altLang="ja-JP" sz="1800" b="1" i="1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kumimoji="1" lang="en-NZ" altLang="ja-JP" sz="1800" b="1" i="1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NZ" altLang="ja-JP" sz="1800" b="1" i="1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=</m:t>
                              </m:r>
                              <m: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𝒊</m:t>
                              </m:r>
                            </m:e>
                          </m:d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⋅  </m:t>
                          </m:r>
                          <m:r>
                            <a:rPr kumimoji="1" lang="en-NZ" altLang="ja-JP" sz="1800" b="1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NZ" altLang="ja-JP" sz="1800" b="1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= 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4" name="Text Placeholder 5">
                <a:extLst>
                  <a:ext uri="{FF2B5EF4-FFF2-40B4-BE49-F238E27FC236}">
                    <a16:creationId xmlns:a16="http://schemas.microsoft.com/office/drawing/2014/main" id="{25DFEBB4-E0C4-86C3-E435-DBF76E2E8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457615"/>
                <a:ext cx="11608680" cy="7901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5">
                <a:extLst>
                  <a:ext uri="{FF2B5EF4-FFF2-40B4-BE49-F238E27FC236}">
                    <a16:creationId xmlns:a16="http://schemas.microsoft.com/office/drawing/2014/main" id="{86854582-1D7C-5D9D-79B2-E87C1F63C0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264998"/>
                <a:ext cx="11608680" cy="5093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note that this last expression is simply the </a:t>
                </a:r>
                <a:r>
                  <a:rPr lang="en-NZ" altLang="ja-JP" sz="1800" b="1" i="1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lang="en-NZ" altLang="ja-JP" sz="1800" b="1" i="1" baseline="30000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element of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since </a:t>
                </a:r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5" name="Text Placeholder 5">
                <a:extLst>
                  <a:ext uri="{FF2B5EF4-FFF2-40B4-BE49-F238E27FC236}">
                    <a16:creationId xmlns:a16="http://schemas.microsoft.com/office/drawing/2014/main" id="{86854582-1D7C-5D9D-79B2-E87C1F63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264998"/>
                <a:ext cx="11608680" cy="509357"/>
              </a:xfrm>
              <a:prstGeom prst="rect">
                <a:avLst/>
              </a:prstGeom>
              <a:blipFill>
                <a:blip r:embed="rId7"/>
                <a:stretch>
                  <a:fillRect l="-420" t="-602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Placeholder 5">
                <a:extLst>
                  <a:ext uri="{FF2B5EF4-FFF2-40B4-BE49-F238E27FC236}">
                    <a16:creationId xmlns:a16="http://schemas.microsoft.com/office/drawing/2014/main" id="{53082D66-3764-9A3E-5C0C-4F8A23C753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6942"/>
                <a:ext cx="11283685" cy="10325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  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sub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  <m:sup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=   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  <m:sup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,   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6" name="Text Placeholder 5">
                <a:extLst>
                  <a:ext uri="{FF2B5EF4-FFF2-40B4-BE49-F238E27FC236}">
                    <a16:creationId xmlns:a16="http://schemas.microsoft.com/office/drawing/2014/main" id="{53082D66-3764-9A3E-5C0C-4F8A23C75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6942"/>
                <a:ext cx="11283685" cy="1032573"/>
              </a:xfrm>
              <a:prstGeom prst="rect">
                <a:avLst/>
              </a:prstGeom>
              <a:blipFill>
                <a:blip r:embed="rId8"/>
                <a:stretch>
                  <a:fillRect b="-295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">
                <a:extLst>
                  <a:ext uri="{FF2B5EF4-FFF2-40B4-BE49-F238E27FC236}">
                    <a16:creationId xmlns:a16="http://schemas.microsoft.com/office/drawing/2014/main" id="{93705411-5D0B-BC0C-3D4C-286570C2E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825677"/>
                <a:ext cx="3556501" cy="5093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conclude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bar>
                      <m:bar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lang="en-NZ" altLang="ja-JP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">
                <a:extLst>
                  <a:ext uri="{FF2B5EF4-FFF2-40B4-BE49-F238E27FC236}">
                    <a16:creationId xmlns:a16="http://schemas.microsoft.com/office/drawing/2014/main" id="{93705411-5D0B-BC0C-3D4C-286570C2E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825677"/>
                <a:ext cx="3556501" cy="509357"/>
              </a:xfrm>
              <a:prstGeom prst="rect">
                <a:avLst/>
              </a:prstGeom>
              <a:blipFill>
                <a:blip r:embed="rId9"/>
                <a:stretch>
                  <a:fillRect l="-1370" t="-24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8FC43-A22F-0C9F-7899-A6D48C6F91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5427" y="5907192"/>
                <a:ext cx="7008110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you want to know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b="1" dirty="0">
                    <a:solidFill>
                      <a:srgbClr val="C00000"/>
                    </a:solidFill>
                  </a:rPr>
                  <a:t> </a:t>
                </a:r>
                <a:r>
                  <a:rPr lang="en-NZ" altLang="ja-JP" sz="1800" dirty="0">
                    <a:solidFill>
                      <a:srgbClr val="C00000"/>
                    </a:solidFill>
                  </a:rPr>
                  <a:t>is distributed take the initial probability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lang="en-NZ" altLang="ja-JP" sz="1800" dirty="0">
                    <a:solidFill>
                      <a:srgbClr val="C00000"/>
                    </a:solidFill>
                  </a:rPr>
                  <a:t> and multiply it on the right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8FC43-A22F-0C9F-7899-A6D48C6F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427" y="5907192"/>
                <a:ext cx="7008110" cy="675343"/>
              </a:xfrm>
              <a:prstGeom prst="rect">
                <a:avLst/>
              </a:prstGeom>
              <a:blipFill>
                <a:blip r:embed="rId10"/>
                <a:stretch>
                  <a:fillRect l="-696" t="-2703" b="-1171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14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8.1i – Stationary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04091"/>
                <a:ext cx="11608680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be a discrete state space Markov Chain with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and transition matrix </a:t>
                </a:r>
                <a:r>
                  <a:rPr lang="en-NZ" altLang="ja-JP" sz="1800" b="1" i="1" dirty="0">
                    <a:solidFill>
                      <a:prstClr val="black"/>
                    </a:solidFill>
                  </a:rPr>
                  <a:t>P</a:t>
                </a:r>
                <a:r>
                  <a:rPr lang="en-NZ" altLang="ja-JP" sz="1800" i="1" dirty="0">
                    <a:solidFill>
                      <a:prstClr val="black"/>
                    </a:solidFill>
                  </a:rPr>
                  <a:t>.</a:t>
                </a:r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04091"/>
                <a:ext cx="11608680" cy="483142"/>
              </a:xfrm>
              <a:prstGeom prst="rect">
                <a:avLst/>
              </a:prstGeom>
              <a:blipFill>
                <a:blip r:embed="rId3"/>
                <a:stretch>
                  <a:fillRect l="-420" b="-886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219169"/>
                <a:ext cx="11608680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 probability distribution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is said to be a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stationary distribution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for the chain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219169"/>
                <a:ext cx="11608680" cy="483142"/>
              </a:xfrm>
              <a:prstGeom prst="rect">
                <a:avLst/>
              </a:prstGeom>
              <a:blipFill>
                <a:blip r:embed="rId4"/>
                <a:stretch>
                  <a:fillRect l="-420" t="-632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FEF8967-25BD-9129-7266-48AAF7B13593}"/>
              </a:ext>
            </a:extLst>
          </p:cNvPr>
          <p:cNvSpPr txBox="1">
            <a:spLocks/>
          </p:cNvSpPr>
          <p:nvPr/>
        </p:nvSpPr>
        <p:spPr>
          <a:xfrm>
            <a:off x="319461" y="1851922"/>
            <a:ext cx="9506926" cy="4831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800" dirty="0">
                <a:solidFill>
                  <a:prstClr val="black"/>
                </a:solidFill>
              </a:rPr>
              <a:t>Stationary distributions have the following  very useful property: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572C52D-B68A-3AAB-E81E-56DCA7D50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9187" y="2234208"/>
                <a:ext cx="5016813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</m:oMath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572C52D-B68A-3AAB-E81E-56DCA7D50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187" y="2234208"/>
                <a:ext cx="5016813" cy="483142"/>
              </a:xfrm>
              <a:prstGeom prst="rect">
                <a:avLst/>
              </a:prstGeom>
              <a:blipFill>
                <a:blip r:embed="rId5"/>
                <a:stretch>
                  <a:fillRect l="-972" t="-2532" b="-126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A392086-6710-399E-A453-E4B7EC94A3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724" y="2674813"/>
                <a:ext cx="5016813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⇒ 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A392086-6710-399E-A453-E4B7EC94A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24" y="2674813"/>
                <a:ext cx="5016813" cy="4831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DF754E-A2BB-0126-0D6B-A1DE6428DF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2072" y="3115418"/>
                <a:ext cx="4655465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DF754E-A2BB-0126-0D6B-A1DE6428D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72" y="3115418"/>
                <a:ext cx="4655465" cy="4831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4EFCDC0-5546-9800-AA72-31A1B30E0B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2071" y="3596386"/>
                <a:ext cx="6537278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4EFCDC0-5546-9800-AA72-31A1B30E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71" y="3596386"/>
                <a:ext cx="6537278" cy="4831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9CBBC46-1934-EF4C-3CFE-C4004D7CA5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2071" y="4318925"/>
                <a:ext cx="6537278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 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bar>
                        <m:bar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bar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9CBBC46-1934-EF4C-3CFE-C4004D7CA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71" y="4318925"/>
                <a:ext cx="6537278" cy="4831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8287AADF-D741-CF80-6DD6-7F51FAFD4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0824" y="3925860"/>
                <a:ext cx="276809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NZ" altLang="ja-JP" sz="1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8287AADF-D741-CF80-6DD6-7F51FAFD4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824" y="3925860"/>
                <a:ext cx="276809" cy="4831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B3C9CFD-05B6-C632-0AB4-3557FA56E2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1" y="5055450"/>
                <a:ext cx="10694281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In other words, </a:t>
                </a:r>
                <a:r>
                  <a:rPr lang="en-NZ" altLang="ja-JP" sz="1800" b="1" u="sng" dirty="0">
                    <a:solidFill>
                      <a:srgbClr val="C00000"/>
                    </a:solidFill>
                  </a:rPr>
                  <a:t>IF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then each random variable in the chain is also distributed according to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B3C9CFD-05B6-C632-0AB4-3557FA56E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1" y="5055450"/>
                <a:ext cx="10694281" cy="483142"/>
              </a:xfrm>
              <a:prstGeom prst="rect">
                <a:avLst/>
              </a:prstGeom>
              <a:blipFill>
                <a:blip r:embed="rId11"/>
                <a:stretch>
                  <a:fillRect l="-456" t="-1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9DC5808D-E615-48C5-7431-88846DA87B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0" y="5408896"/>
                <a:ext cx="10694281" cy="483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This is why 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is called a </a:t>
                </a:r>
                <a:r>
                  <a:rPr lang="en-NZ" altLang="ja-JP" sz="1800" i="1" dirty="0">
                    <a:solidFill>
                      <a:prstClr val="black"/>
                    </a:solidFill>
                  </a:rPr>
                  <a:t>stationary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distribution.</a:t>
                </a: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9DC5808D-E615-48C5-7431-88846DA87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0" y="5408896"/>
                <a:ext cx="10694281" cy="483142"/>
              </a:xfrm>
              <a:prstGeom prst="rect">
                <a:avLst/>
              </a:prstGeom>
              <a:blipFill>
                <a:blip r:embed="rId12"/>
                <a:stretch>
                  <a:fillRect l="-456" t="-5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2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8.1i – Stationary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C5DB1EF-3D38-69A3-69FA-49FE7C11C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492124"/>
                <a:ext cx="11553074" cy="8279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an </a:t>
                </a:r>
                <a:r>
                  <a:rPr lang="en-NZ" altLang="ja-JP" sz="18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irreducible, positive recurrent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Markov chain with discrete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transition matrix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=&gt;  </a:t>
                </a:r>
                <a14:m>
                  <m:oMath xmlns:m="http://schemas.openxmlformats.org/officeDocument/2006/math">
                    <m:r>
                      <a:rPr lang="en-NZ" altLang="ja-JP" sz="18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noProof="0" dirty="0">
                    <a:solidFill>
                      <a:prstClr val="black"/>
                    </a:solidFill>
                  </a:rPr>
                  <a:t>a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stationary distribution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r>
                          <a:rPr lang="en-NZ" altLang="ja-JP" sz="1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such that: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C5DB1EF-3D38-69A3-69FA-49FE7C11C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492124"/>
                <a:ext cx="11553074" cy="827996"/>
              </a:xfrm>
              <a:prstGeom prst="rect">
                <a:avLst/>
              </a:prstGeom>
              <a:blipFill>
                <a:blip r:embed="rId3"/>
                <a:stretch>
                  <a:fillRect l="-422" b="-220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17D7D53-CA65-ADE3-44B7-F84608AD0506}"/>
              </a:ext>
            </a:extLst>
          </p:cNvPr>
          <p:cNvSpPr txBox="1">
            <a:spLocks/>
          </p:cNvSpPr>
          <p:nvPr/>
        </p:nvSpPr>
        <p:spPr>
          <a:xfrm>
            <a:off x="319463" y="1144116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5: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1FD42AF6-2968-77C7-104E-B52711EB2A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0137" y="2240601"/>
                <a:ext cx="5674687" cy="8279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kumimoji="1" lang="en-US" altLang="ja-JP" sz="1800" b="1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𝝅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=  </m:t>
                    </m:r>
                    <m:func>
                      <m:funcPr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a:rPr kumimoji="1" lang="en-NZ" altLang="ja-JP" sz="1800" b="1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𝐥𝐢𝐦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𝒌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fPr>
                          <m:num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𝟏</m:t>
                            </m:r>
                          </m:num>
                          <m:den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𝒌</m:t>
                            </m:r>
                          </m:den>
                        </m:f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nary>
                          <m:naryPr>
                            <m:chr m:val="∑"/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𝒕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=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𝟏</m:t>
                            </m:r>
                          </m:sub>
                          <m:sup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𝒌</m:t>
                            </m:r>
                          </m:sup>
                          <m:e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𝑰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(</m:t>
                                    </m:r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=</m:t>
                                </m:r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𝒋</m:t>
                                </m:r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|  </m:t>
                                </m:r>
                                <m:sSup>
                                  <m:sSupPr>
                                    <m:ctrlP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𝑿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1" lang="en-NZ" altLang="ja-JP" sz="1800" b="1" i="1" u="none" strike="noStrike" kern="1200" cap="none" spc="0" normalizeH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NZ" altLang="ja-JP" sz="1800" b="1" i="1" u="none" strike="noStrike" kern="1200" cap="none" spc="0" normalizeH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游ゴシック" panose="020B0400000000000000" pitchFamily="34" charset="-128"/>
                                          </a:rPr>
                                          <m:t>𝟎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=</m:t>
                                </m:r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𝒋</m:t>
                                </m:r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1FD42AF6-2968-77C7-104E-B52711EB2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137" y="2240601"/>
                <a:ext cx="5674687" cy="827996"/>
              </a:xfrm>
              <a:prstGeom prst="rect">
                <a:avLst/>
              </a:prstGeom>
              <a:blipFill>
                <a:blip r:embed="rId4"/>
                <a:stretch>
                  <a:fillRect l="-859" t="-11111" b="-711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DA4226C7-A9B2-F02F-E191-80C82529AA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3116719"/>
                <a:ext cx="11553074" cy="7003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Furthermore,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a probability distribution such that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ja-JP" sz="1800" b="1" noProof="0" dirty="0">
                    <a:solidFill>
                      <a:schemeClr val="tx1"/>
                    </a:solidFill>
                  </a:rPr>
                  <a:t> 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b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in order to find the stationary distribution it suffices to find a solution to equation (</a:t>
                </a:r>
                <a:r>
                  <a:rPr kumimoji="1" lang="en-NZ" altLang="ja-JP" sz="1800" u="none" strike="noStrike" kern="1200" cap="none" spc="0" normalizeH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).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DA4226C7-A9B2-F02F-E191-80C82529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3116719"/>
                <a:ext cx="11553074" cy="700355"/>
              </a:xfrm>
              <a:prstGeom prst="rect">
                <a:avLst/>
              </a:prstGeom>
              <a:blipFill>
                <a:blip r:embed="rId5"/>
                <a:stretch>
                  <a:fillRect l="-475" t="-3478" b="-695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716D8C8-6CA9-74A8-351D-B0109B9E5A5B}"/>
              </a:ext>
            </a:extLst>
          </p:cNvPr>
          <p:cNvSpPr txBox="1">
            <a:spLocks/>
          </p:cNvSpPr>
          <p:nvPr/>
        </p:nvSpPr>
        <p:spPr>
          <a:xfrm>
            <a:off x="319463" y="4109122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Notes: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42D62C9F-63E1-A682-9915-8C9BD4B25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533095"/>
                <a:ext cx="11553074" cy="6490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Equation (ii) denotes that </a:t>
                </a: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a stationary distribution exists, </a:t>
                </a:r>
                <a:b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𝝅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sub>
                    </m:sSub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describes the long run proportion of time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chain spends in state </a:t>
                </a:r>
                <a:r>
                  <a:rPr kumimoji="1" lang="en-US" altLang="ja-JP" sz="1800" b="1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42D62C9F-63E1-A682-9915-8C9BD4B2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533095"/>
                <a:ext cx="11553074" cy="649007"/>
              </a:xfrm>
              <a:prstGeom prst="rect">
                <a:avLst/>
              </a:prstGeom>
              <a:blipFill>
                <a:blip r:embed="rId6"/>
                <a:stretch>
                  <a:fillRect l="-316" t="-5660" b="-1509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95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8.1i – Stationary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C5DB1EF-3D38-69A3-69FA-49FE7C11C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024" y="2595347"/>
                <a:ext cx="6968441" cy="648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𝟓𝟑𝟗𝟑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𝟑𝟏𝟒𝟔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𝟏𝟒𝟔𝟏</m:t>
                              </m:r>
                            </m:e>
                          </m:mr>
                        </m:m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a stationary distribution for this Markov chain since: </a:t>
                </a: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C5DB1EF-3D38-69A3-69FA-49FE7C11C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4" y="2595347"/>
                <a:ext cx="6968441" cy="648201"/>
              </a:xfrm>
              <a:prstGeom prst="rect">
                <a:avLst/>
              </a:prstGeom>
              <a:blipFill>
                <a:blip r:embed="rId3"/>
                <a:stretch>
                  <a:fillRect l="-787" b="-1603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7E4E933-4AC5-4FD4-A7FD-FA4BC6B27A8A}"/>
              </a:ext>
            </a:extLst>
          </p:cNvPr>
          <p:cNvSpPr/>
          <p:nvPr/>
        </p:nvSpPr>
        <p:spPr>
          <a:xfrm>
            <a:off x="7782365" y="1040751"/>
            <a:ext cx="601903" cy="64820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FF1753-AC1D-AC1E-B375-4C3671CCA4A5}"/>
              </a:ext>
            </a:extLst>
          </p:cNvPr>
          <p:cNvSpPr/>
          <p:nvPr/>
        </p:nvSpPr>
        <p:spPr>
          <a:xfrm>
            <a:off x="9326836" y="1750434"/>
            <a:ext cx="601903" cy="64820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EC5047-B3EF-2359-D34E-28DACADF5920}"/>
              </a:ext>
            </a:extLst>
          </p:cNvPr>
          <p:cNvSpPr/>
          <p:nvPr/>
        </p:nvSpPr>
        <p:spPr>
          <a:xfrm>
            <a:off x="6265188" y="1750434"/>
            <a:ext cx="601903" cy="64820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244B76-B165-F3E5-EB97-B97F5D5162F6}"/>
              </a:ext>
            </a:extLst>
          </p:cNvPr>
          <p:cNvCxnSpPr>
            <a:cxnSpLocks/>
            <a:stCxn id="18" idx="0"/>
            <a:endCxn id="13" idx="1"/>
          </p:cNvCxnSpPr>
          <p:nvPr/>
        </p:nvCxnSpPr>
        <p:spPr>
          <a:xfrm flipV="1">
            <a:off x="6566140" y="1135678"/>
            <a:ext cx="1304372" cy="6147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514546-55E6-B26A-0E92-26C9582888A4}"/>
              </a:ext>
            </a:extLst>
          </p:cNvPr>
          <p:cNvCxnSpPr>
            <a:cxnSpLocks/>
            <a:stCxn id="13" idx="3"/>
            <a:endCxn id="18" idx="6"/>
          </p:cNvCxnSpPr>
          <p:nvPr/>
        </p:nvCxnSpPr>
        <p:spPr>
          <a:xfrm flipH="1">
            <a:off x="6867091" y="1594025"/>
            <a:ext cx="1003421" cy="4805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13AB74-6DAF-574B-CD43-A1AFB8A96C61}"/>
              </a:ext>
            </a:extLst>
          </p:cNvPr>
          <p:cNvCxnSpPr>
            <a:cxnSpLocks/>
            <a:stCxn id="13" idx="7"/>
            <a:endCxn id="14" idx="0"/>
          </p:cNvCxnSpPr>
          <p:nvPr/>
        </p:nvCxnSpPr>
        <p:spPr>
          <a:xfrm>
            <a:off x="8296121" y="1135678"/>
            <a:ext cx="1331667" cy="6147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F08922-E699-A107-2493-E2CDC0AADB98}"/>
              </a:ext>
            </a:extLst>
          </p:cNvPr>
          <p:cNvCxnSpPr>
            <a:cxnSpLocks/>
            <a:stCxn id="14" idx="2"/>
            <a:endCxn id="13" idx="5"/>
          </p:cNvCxnSpPr>
          <p:nvPr/>
        </p:nvCxnSpPr>
        <p:spPr>
          <a:xfrm flipH="1" flipV="1">
            <a:off x="8296121" y="1594025"/>
            <a:ext cx="1030715" cy="4805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31931C-0957-7CE2-2D65-25F0B48F8539}"/>
              </a:ext>
            </a:extLst>
          </p:cNvPr>
          <p:cNvCxnSpPr>
            <a:cxnSpLocks/>
            <a:stCxn id="14" idx="3"/>
            <a:endCxn id="18" idx="5"/>
          </p:cNvCxnSpPr>
          <p:nvPr/>
        </p:nvCxnSpPr>
        <p:spPr>
          <a:xfrm flipH="1">
            <a:off x="6778944" y="2303708"/>
            <a:ext cx="263603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F930B3F-571B-774E-69AB-920A5E910D18}"/>
              </a:ext>
            </a:extLst>
          </p:cNvPr>
          <p:cNvSpPr txBox="1">
            <a:spLocks/>
          </p:cNvSpPr>
          <p:nvPr/>
        </p:nvSpPr>
        <p:spPr>
          <a:xfrm>
            <a:off x="6522017" y="1097085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A43A90B-D517-C5B6-76D0-72A05C47BDBA}"/>
              </a:ext>
            </a:extLst>
          </p:cNvPr>
          <p:cNvCxnSpPr>
            <a:cxnSpLocks/>
            <a:stCxn id="18" idx="6"/>
            <a:endCxn id="14" idx="2"/>
          </p:cNvCxnSpPr>
          <p:nvPr/>
        </p:nvCxnSpPr>
        <p:spPr>
          <a:xfrm>
            <a:off x="6867091" y="2074535"/>
            <a:ext cx="24597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B6864285-1CB2-9E74-80F6-C63F02B52E47}"/>
              </a:ext>
            </a:extLst>
          </p:cNvPr>
          <p:cNvSpPr txBox="1">
            <a:spLocks/>
          </p:cNvSpPr>
          <p:nvPr/>
        </p:nvSpPr>
        <p:spPr>
          <a:xfrm>
            <a:off x="5472858" y="2244487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0.6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89ACC514-E0EA-447A-2F74-EB807D08B527}"/>
              </a:ext>
            </a:extLst>
          </p:cNvPr>
          <p:cNvSpPr txBox="1">
            <a:spLocks/>
          </p:cNvSpPr>
          <p:nvPr/>
        </p:nvSpPr>
        <p:spPr>
          <a:xfrm>
            <a:off x="7571820" y="1762193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0.1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7A500C1C-1A48-4DC8-D84E-DF74ABDBA8BA}"/>
              </a:ext>
            </a:extLst>
          </p:cNvPr>
          <p:cNvSpPr txBox="1">
            <a:spLocks/>
          </p:cNvSpPr>
          <p:nvPr/>
        </p:nvSpPr>
        <p:spPr>
          <a:xfrm>
            <a:off x="6798175" y="1492018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72EC4A35-CB92-7C40-FE51-BC1F5C7FF306}"/>
              </a:ext>
            </a:extLst>
          </p:cNvPr>
          <p:cNvSpPr txBox="1">
            <a:spLocks/>
          </p:cNvSpPr>
          <p:nvPr/>
        </p:nvSpPr>
        <p:spPr>
          <a:xfrm>
            <a:off x="7571818" y="454358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6A6DCAD-9D45-83CA-0FEE-6F2500F47C80}"/>
              </a:ext>
            </a:extLst>
          </p:cNvPr>
          <p:cNvSpPr txBox="1">
            <a:spLocks/>
          </p:cNvSpPr>
          <p:nvPr/>
        </p:nvSpPr>
        <p:spPr>
          <a:xfrm>
            <a:off x="8617592" y="1097085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6AD7C9D3-348E-48B9-34A9-77F25F8821C3}"/>
              </a:ext>
            </a:extLst>
          </p:cNvPr>
          <p:cNvSpPr txBox="1">
            <a:spLocks/>
          </p:cNvSpPr>
          <p:nvPr/>
        </p:nvSpPr>
        <p:spPr>
          <a:xfrm>
            <a:off x="7571818" y="2244487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DAC08702-6151-193A-7557-C5C62FF80DD4}"/>
              </a:ext>
            </a:extLst>
          </p:cNvPr>
          <p:cNvSpPr txBox="1">
            <a:spLocks/>
          </p:cNvSpPr>
          <p:nvPr/>
        </p:nvSpPr>
        <p:spPr>
          <a:xfrm>
            <a:off x="8282352" y="1495688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BB6E9DF4-B7E6-36C4-4A83-F25E1FD57CBD}"/>
              </a:ext>
            </a:extLst>
          </p:cNvPr>
          <p:cNvSpPr txBox="1">
            <a:spLocks/>
          </p:cNvSpPr>
          <p:nvPr/>
        </p:nvSpPr>
        <p:spPr>
          <a:xfrm>
            <a:off x="9670778" y="2242521"/>
            <a:ext cx="1099631" cy="50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338E7D32-4E1F-79E1-EDEF-365A293DCC03}"/>
              </a:ext>
            </a:extLst>
          </p:cNvPr>
          <p:cNvCxnSpPr>
            <a:stCxn id="18" idx="3"/>
            <a:endCxn id="18" idx="5"/>
          </p:cNvCxnSpPr>
          <p:nvPr/>
        </p:nvCxnSpPr>
        <p:spPr>
          <a:xfrm rot="16200000" flipH="1">
            <a:off x="6566139" y="2090903"/>
            <a:ext cx="12700" cy="425609"/>
          </a:xfrm>
          <a:prstGeom prst="curvedConnector3">
            <a:avLst>
              <a:gd name="adj1" fmla="val 2547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03FE2D85-58C7-5645-D813-8618F4F8A2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21438" y="2089740"/>
            <a:ext cx="12700" cy="425609"/>
          </a:xfrm>
          <a:prstGeom prst="curvedConnector3">
            <a:avLst>
              <a:gd name="adj1" fmla="val 2547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C0BA15C-F064-8DC1-FD53-9D4250AB9E4B}"/>
              </a:ext>
            </a:extLst>
          </p:cNvPr>
          <p:cNvCxnSpPr>
            <a:stCxn id="13" idx="7"/>
            <a:endCxn id="13" idx="1"/>
          </p:cNvCxnSpPr>
          <p:nvPr/>
        </p:nvCxnSpPr>
        <p:spPr>
          <a:xfrm rot="16200000" flipV="1">
            <a:off x="8083317" y="922873"/>
            <a:ext cx="12700" cy="425609"/>
          </a:xfrm>
          <a:prstGeom prst="curvedConnector3">
            <a:avLst>
              <a:gd name="adj1" fmla="val 2547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Placeholder 5">
                <a:extLst>
                  <a:ext uri="{FF2B5EF4-FFF2-40B4-BE49-F238E27FC236}">
                    <a16:creationId xmlns:a16="http://schemas.microsoft.com/office/drawing/2014/main" id="{40CCA216-9143-7340-F056-41A1A5F5F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731" y="3853184"/>
                <a:ext cx="8867015" cy="648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𝟓𝟑𝟗𝟑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𝟑𝟏𝟒𝟔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𝟏𝟒𝟔𝟏</m:t>
                                </m:r>
                              </m:e>
                            </m:mr>
                          </m:m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𝟓𝟑𝟗𝟑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𝟑𝟏𝟒𝟔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𝟏𝟒𝟔𝟏</m:t>
                                </m:r>
                              </m:e>
                            </m:mr>
                          </m:m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3" name="Text Placeholder 5">
                <a:extLst>
                  <a:ext uri="{FF2B5EF4-FFF2-40B4-BE49-F238E27FC236}">
                    <a16:creationId xmlns:a16="http://schemas.microsoft.com/office/drawing/2014/main" id="{40CCA216-9143-7340-F056-41A1A5F5F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31" y="3853184"/>
                <a:ext cx="8867015" cy="648201"/>
              </a:xfrm>
              <a:prstGeom prst="rect">
                <a:avLst/>
              </a:prstGeom>
              <a:blipFill>
                <a:blip r:embed="rId4"/>
                <a:stretch>
                  <a:fillRect b="-198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BB72B961-1AA1-CDDB-FC02-4BDDADCABE36}"/>
              </a:ext>
            </a:extLst>
          </p:cNvPr>
          <p:cNvSpPr txBox="1">
            <a:spLocks/>
          </p:cNvSpPr>
          <p:nvPr/>
        </p:nvSpPr>
        <p:spPr>
          <a:xfrm>
            <a:off x="192041" y="4962611"/>
            <a:ext cx="10028553" cy="1445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Viewed over a long enough timeline, the chain will spend approximately:</a:t>
            </a:r>
          </a:p>
          <a:p>
            <a:pPr marL="971493" lvl="1" indent="-285750">
              <a:lnSpc>
                <a:spcPct val="100000"/>
              </a:lnSpc>
              <a:defRPr/>
            </a:pP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54% of the time in state 1</a:t>
            </a:r>
          </a:p>
          <a:p>
            <a:pPr marL="971493" lvl="1" indent="-285750">
              <a:lnSpc>
                <a:spcPct val="100000"/>
              </a:lnSpc>
              <a:defRPr/>
            </a:pP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31% of the time in state 2</a:t>
            </a:r>
          </a:p>
          <a:p>
            <a:pPr marL="971493" lvl="1" indent="-285750">
              <a:lnSpc>
                <a:spcPct val="100000"/>
              </a:lnSpc>
              <a:defRPr/>
            </a:pP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15% of the time in state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E02E6B7-B5A5-C1CE-F60B-D7B25928C1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5176" y="1172161"/>
                <a:ext cx="3608109" cy="99591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E02E6B7-B5A5-C1CE-F60B-D7B25928C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76" y="1172161"/>
                <a:ext cx="3608109" cy="995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53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73" grpId="0"/>
      <p:bldP spid="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8.1j – Limiting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C5DB1EF-3D38-69A3-69FA-49FE7C11C43B}"/>
              </a:ext>
            </a:extLst>
          </p:cNvPr>
          <p:cNvSpPr txBox="1">
            <a:spLocks/>
          </p:cNvSpPr>
          <p:nvPr/>
        </p:nvSpPr>
        <p:spPr>
          <a:xfrm>
            <a:off x="319463" y="938744"/>
            <a:ext cx="1118560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Stationary distributions are useful because: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DD69378B-A0FE-CAF0-A515-FCCEEA618F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1319" y="1426224"/>
                <a:ext cx="11185600" cy="164452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800" b="1" u="sng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</a:t>
                </a:r>
                <a:r>
                  <a:rPr lang="en-US" altLang="ja-JP" sz="18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~ </m:t>
                    </m:r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bar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𝝅</m:t>
                        </m:r>
                      </m:e>
                    </m:bar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    </a:t>
                </a:r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sym typeface="Wingdings" panose="05000000000000000000" pitchFamily="2" charset="2"/>
                  </a:rPr>
                  <a:t>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NZ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𝑿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NZ" altLang="ja-JP" sz="1800" b="1" i="1"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NZ" altLang="ja-JP" sz="1800" b="1" i="1"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𝟎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e>
                                        </m:d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NZ" altLang="ja-JP" sz="1800" b="1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𝝅</m:t>
                                            </m:r>
                                          </m:e>
                                          <m:sub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    </a:t>
                </a: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</a:t>
                </a:r>
                <a:r>
                  <a:rPr kumimoji="1" lang="en-US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      </a:t>
                </a:r>
                <a:r>
                  <a:rPr lang="en-US" altLang="ja-JP" sz="1800" b="1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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800" b="1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NZ" altLang="ja-JP" sz="1800" b="1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NZ" altLang="ja-JP" sz="1800" b="1" i="1" smtClean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NZ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NZ" altLang="ja-JP" sz="1800" b="1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𝑿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NZ" altLang="ja-JP" sz="1800" b="1" i="1"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NZ" altLang="ja-JP" sz="1800" b="1" i="1" smtClean="0"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𝒏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e>
                                        </m:d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e>
                                    <m:sub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𝝅</m:t>
                                            </m:r>
                                          </m:e>
                                          <m:sub>
                                            <m:r>
                                              <a:rPr lang="en-NZ" altLang="ja-JP" sz="1800" b="1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ja-JP" sz="1800" b="1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DD69378B-A0FE-CAF0-A515-FCCEEA618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9" y="1426224"/>
                <a:ext cx="11185600" cy="1644522"/>
              </a:xfrm>
              <a:prstGeom prst="rect">
                <a:avLst/>
              </a:prstGeom>
              <a:blipFill>
                <a:blip r:embed="rId3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8428FEA9-64B8-C35D-5367-89111E8E74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574580"/>
                <a:ext cx="11185600" cy="10687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However, we are going to need something more. We are going to need that…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→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𝒂𝒔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𝒏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→∞       ∀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𝒋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∈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</a:t>
                </a:r>
                <a:r>
                  <a:rPr lang="en-US" altLang="ja-JP" sz="1800" b="1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irrespective</a:t>
                </a:r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of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</m:t>
                    </m:r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distributed.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8428FEA9-64B8-C35D-5367-89111E8E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574580"/>
                <a:ext cx="11185600" cy="1068746"/>
              </a:xfrm>
              <a:prstGeom prst="rect">
                <a:avLst/>
              </a:prstGeom>
              <a:blipFill>
                <a:blip r:embed="rId4"/>
                <a:stretch>
                  <a:fillRect l="-436" t="-2841" b="-56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BCDE5FDC-90E8-A682-A4CF-524B75DF1E8D}"/>
              </a:ext>
            </a:extLst>
          </p:cNvPr>
          <p:cNvSpPr txBox="1">
            <a:spLocks/>
          </p:cNvSpPr>
          <p:nvPr/>
        </p:nvSpPr>
        <p:spPr>
          <a:xfrm>
            <a:off x="319463" y="4990166"/>
            <a:ext cx="11185600" cy="7025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To achieve this, in addition to our chain being irreducible and positive recurrent, </a:t>
            </a:r>
            <a:b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we are also going to have to ensure that it is </a:t>
            </a:r>
            <a:r>
              <a:rPr kumimoji="1" lang="en-NZ" altLang="ja-JP" sz="18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aperiodic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.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B4EBCB4B-A826-6FD2-9649-4CFCB8081B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85022" y="5692748"/>
                <a:ext cx="4951300" cy="702582"/>
              </a:xfrm>
              <a:prstGeom prst="rect">
                <a:avLst/>
              </a:prstGeom>
              <a:ln>
                <a:noFill/>
              </a:ln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i.e. there is no number</a:t>
                </a:r>
                <a:r>
                  <a:rPr kumimoji="1" lang="en-NZ" altLang="ja-JP" sz="160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&gt;</m:t>
                    </m:r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r>
                  <a:rPr kumimoji="1" lang="en-US" altLang="ja-JP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 the chain can only return to each</a:t>
                </a:r>
                <a:r>
                  <a:rPr kumimoji="1" lang="en-US" altLang="ja-JP" sz="160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state in multiples of </a:t>
                </a:r>
                <a:r>
                  <a:rPr kumimoji="1" lang="en-US" altLang="ja-JP" sz="1600" b="1" i="1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</a:t>
                </a:r>
                <a:r>
                  <a:rPr kumimoji="1" lang="en-US" altLang="ja-JP" sz="1600" u="none" strike="noStrike" kern="1200" cap="none" spc="0" normalizeH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steps</a:t>
                </a:r>
                <a:endParaRPr kumimoji="1" lang="en-US" altLang="ja-JP" sz="160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B4EBCB4B-A826-6FD2-9649-4CFCB8081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022" y="5692748"/>
                <a:ext cx="4951300" cy="702582"/>
              </a:xfrm>
              <a:prstGeom prst="rect">
                <a:avLst/>
              </a:prstGeom>
              <a:blipFill>
                <a:blip r:embed="rId5"/>
                <a:stretch>
                  <a:fillRect l="-615" t="-26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8129D95-A69B-3718-7B97-B3BE667B1E49}"/>
              </a:ext>
            </a:extLst>
          </p:cNvPr>
          <p:cNvCxnSpPr>
            <a:cxnSpLocks/>
          </p:cNvCxnSpPr>
          <p:nvPr/>
        </p:nvCxnSpPr>
        <p:spPr>
          <a:xfrm>
            <a:off x="4903519" y="5634991"/>
            <a:ext cx="625523" cy="409048"/>
          </a:xfrm>
          <a:prstGeom prst="bentConnector3">
            <a:avLst>
              <a:gd name="adj1" fmla="val 2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69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8.1j – Limiting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58DBD218-A4FD-432F-F641-D1FA0E33BC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314703"/>
                <a:ext cx="11553074" cy="11318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an irreducible, </a:t>
                </a:r>
                <a:r>
                  <a:rPr lang="en-NZ" altLang="ja-JP" sz="18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ergodic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(positive recurrent and aperiodic) Markov chain 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with discrete state space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transition matrix </a:t>
                </a:r>
                <a:r>
                  <a:rPr lang="en-NZ" altLang="ja-JP" sz="18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=&gt;  </a:t>
                </a:r>
                <a14:m>
                  <m:oMath xmlns:m="http://schemas.openxmlformats.org/officeDocument/2006/math">
                    <m:r>
                      <a:rPr lang="en-NZ" altLang="ja-JP" sz="18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800" noProof="0" dirty="0">
                    <a:solidFill>
                      <a:prstClr val="black"/>
                    </a:solidFill>
                  </a:rPr>
                  <a:t>a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limiting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distribution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NZ" altLang="ja-JP" sz="18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r>
                          <a:rPr lang="en-NZ" altLang="ja-JP" sz="18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such that: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58DBD218-A4FD-432F-F641-D1FA0E33B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314703"/>
                <a:ext cx="11553074" cy="1131871"/>
              </a:xfrm>
              <a:prstGeom prst="rect">
                <a:avLst/>
              </a:prstGeom>
              <a:blipFill>
                <a:blip r:embed="rId3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2DD793B-086F-6EFE-9255-EE105567F7DF}"/>
              </a:ext>
            </a:extLst>
          </p:cNvPr>
          <p:cNvSpPr txBox="1">
            <a:spLocks/>
          </p:cNvSpPr>
          <p:nvPr/>
        </p:nvSpPr>
        <p:spPr>
          <a:xfrm>
            <a:off x="319463" y="966696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6: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D9B25E9-9A72-F094-0893-F923187015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6615" y="2380583"/>
                <a:ext cx="5674687" cy="8279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kumimoji="1" lang="en-US" altLang="ja-JP" sz="1800" b="1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400050" lvl="0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𝝅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=  </m:t>
                    </m:r>
                    <m:func>
                      <m:funcPr>
                        <m:ctrlP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a:rPr kumimoji="1" lang="en-NZ" altLang="ja-JP" sz="1800" b="1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𝐥𝐢𝐦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  <m:d>
                          <m:dPr>
                            <m:endChr m:val="|"/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=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𝒋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</m:t>
                            </m:r>
                          </m:e>
                        </m:d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(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𝟎</m:t>
                            </m:r>
                            <m:r>
                              <a:rPr kumimoji="1" lang="en-NZ" altLang="ja-JP" sz="1800" b="1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)</m:t>
                            </m:r>
                          </m:sup>
                        </m:sSup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)    ∀  </m:t>
                        </m:r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∈</m:t>
                        </m:r>
                        <m:r>
                          <a:rPr kumimoji="1" lang="en-NZ" altLang="ja-JP" sz="18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e>
                    </m:func>
                  </m:oMath>
                </a14:m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D9B25E9-9A72-F094-0893-F92318701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15" y="2380583"/>
                <a:ext cx="5674687" cy="827996"/>
              </a:xfrm>
              <a:prstGeom prst="rect">
                <a:avLst/>
              </a:prstGeom>
              <a:blipFill>
                <a:blip r:embed="rId4"/>
                <a:stretch>
                  <a:fillRect l="-967" t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4DDBD2A8-022C-F0C2-7541-3D05F3A09D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208579"/>
                <a:ext cx="11553074" cy="7003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Furthermore,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a probability distribution such that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ja-JP" sz="1800" b="1" noProof="0" dirty="0">
                    <a:solidFill>
                      <a:schemeClr val="tx1"/>
                    </a:solidFill>
                  </a:rPr>
                  <a:t> 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then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ba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b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that in order to find the limiting distribution it suffices to find a solution to equation (</a:t>
                </a:r>
                <a:r>
                  <a:rPr kumimoji="1" lang="en-NZ" altLang="ja-JP" sz="1800" u="none" strike="noStrike" kern="1200" cap="none" spc="0" normalizeH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).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4DDBD2A8-022C-F0C2-7541-3D05F3A0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208579"/>
                <a:ext cx="11553074" cy="700355"/>
              </a:xfrm>
              <a:prstGeom prst="rect">
                <a:avLst/>
              </a:prstGeom>
              <a:blipFill>
                <a:blip r:embed="rId5"/>
                <a:stretch>
                  <a:fillRect l="-422" t="-3478" b="-695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6D37D311-BC27-6F35-46A9-C52F3E30D4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02380"/>
                <a:ext cx="11553074" cy="19331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From equation (</a:t>
                </a:r>
                <a:r>
                  <a:rPr lang="en-NZ" altLang="ja-JP" sz="1800" dirty="0" err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) it is immediate that any limiting distribution is also a stationary distribution</a:t>
                </a:r>
                <a:b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NZ" altLang="ja-JP" sz="18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From equation (ii) we  have that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sup>
                        </m:s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𝒂𝒔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     ∀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</a:rPr>
                  <a:t>  irrespective of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</a:rPr>
                  <a:t>is distributed.</a:t>
                </a:r>
                <a:br>
                  <a:rPr lang="en-US" altLang="ja-JP" sz="1800" dirty="0">
                    <a:solidFill>
                      <a:schemeClr val="tx1"/>
                    </a:solidFill>
                  </a:rPr>
                </a:br>
                <a:endParaRPr lang="en-US" altLang="ja-JP" sz="18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To illustrate the difference between stationary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and limiting distributions consider the following two examples.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6D37D311-BC27-6F35-46A9-C52F3E30D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02380"/>
                <a:ext cx="11553074" cy="1933103"/>
              </a:xfrm>
              <a:prstGeom prst="rect">
                <a:avLst/>
              </a:prstGeom>
              <a:blipFill>
                <a:blip r:embed="rId6"/>
                <a:stretch>
                  <a:fillRect l="-316" t="-18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86E03E7-B674-F64D-FD08-444A8FDE4BAA}"/>
              </a:ext>
            </a:extLst>
          </p:cNvPr>
          <p:cNvSpPr txBox="1">
            <a:spLocks/>
          </p:cNvSpPr>
          <p:nvPr/>
        </p:nvSpPr>
        <p:spPr>
          <a:xfrm>
            <a:off x="319463" y="4173622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Notes: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624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8.1j – Limiting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8DBD218-A4FD-432F-F641-D1FA0E33BC67}"/>
              </a:ext>
            </a:extLst>
          </p:cNvPr>
          <p:cNvSpPr txBox="1">
            <a:spLocks/>
          </p:cNvSpPr>
          <p:nvPr/>
        </p:nvSpPr>
        <p:spPr>
          <a:xfrm>
            <a:off x="319463" y="1251744"/>
            <a:ext cx="4184298" cy="473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Consider the Markov chain defined by: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F348AD-B967-ECC5-CDDA-4601BAB37E80}"/>
              </a:ext>
            </a:extLst>
          </p:cNvPr>
          <p:cNvSpPr/>
          <p:nvPr/>
        </p:nvSpPr>
        <p:spPr>
          <a:xfrm>
            <a:off x="5300475" y="1689833"/>
            <a:ext cx="601903" cy="64820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889D6B-B3DC-6B17-4715-F706E4CEBFDC}"/>
              </a:ext>
            </a:extLst>
          </p:cNvPr>
          <p:cNvSpPr/>
          <p:nvPr/>
        </p:nvSpPr>
        <p:spPr>
          <a:xfrm>
            <a:off x="4189529" y="1689832"/>
            <a:ext cx="601903" cy="64820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CC1F0D-B567-CB01-3B31-A9904350FF17}"/>
              </a:ext>
            </a:extLst>
          </p:cNvPr>
          <p:cNvCxnSpPr>
            <a:cxnSpLocks/>
            <a:stCxn id="17" idx="0"/>
            <a:endCxn id="16" idx="0"/>
          </p:cNvCxnSpPr>
          <p:nvPr/>
        </p:nvCxnSpPr>
        <p:spPr>
          <a:xfrm>
            <a:off x="4490481" y="1689832"/>
            <a:ext cx="111094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6E376B-BD0F-5A0C-843B-25B729B8167B}"/>
              </a:ext>
            </a:extLst>
          </p:cNvPr>
          <p:cNvCxnSpPr>
            <a:cxnSpLocks/>
            <a:stCxn id="16" idx="4"/>
            <a:endCxn id="17" idx="4"/>
          </p:cNvCxnSpPr>
          <p:nvPr/>
        </p:nvCxnSpPr>
        <p:spPr>
          <a:xfrm flipH="1" flipV="1">
            <a:off x="4490481" y="2338033"/>
            <a:ext cx="111094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505AE3DC-7A68-1DD2-7A8E-9C60A38524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18080" y="1724898"/>
                <a:ext cx="1957438" cy="613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505AE3DC-7A68-1DD2-7A8E-9C60A3852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080" y="1724898"/>
                <a:ext cx="1957438" cy="613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A85D419B-214E-8150-5672-D8FE93BE46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077" y="2584634"/>
                <a:ext cx="11282168" cy="6753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chain is irreducible and positive recurrent.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However, it is </a:t>
                </a:r>
                <a:r>
                  <a:rPr lang="en-NZ" altLang="ja-JP" sz="18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NOT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aperiodic since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𝟐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𝟐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</p:txBody>
          </p:sp>
        </mc:Choice>
        <mc:Fallback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A85D419B-214E-8150-5672-D8FE93BE4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77" y="2584634"/>
                <a:ext cx="11282168" cy="675339"/>
              </a:xfrm>
              <a:prstGeom prst="rect">
                <a:avLst/>
              </a:prstGeom>
              <a:blipFill>
                <a:blip r:embed="rId4"/>
                <a:stretch>
                  <a:fillRect l="-432" t="-5405" b="-90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194AA9BA-528A-4FDF-C981-2560757719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466229"/>
                <a:ext cx="11282168" cy="8247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As per 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Theorem 5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chain has stationary distribution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since 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194AA9BA-528A-4FDF-C981-256075771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466229"/>
                <a:ext cx="11282168" cy="824746"/>
              </a:xfrm>
              <a:prstGeom prst="rect">
                <a:avLst/>
              </a:prstGeom>
              <a:blipFill>
                <a:blip r:embed="rId5"/>
                <a:stretch>
                  <a:fillRect l="-432" t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48D6A23B-7B0F-7E1F-B65F-BED14647A6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6" y="3755262"/>
                <a:ext cx="8867015" cy="648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NZ" altLang="ja-JP" sz="1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48D6A23B-7B0F-7E1F-B65F-BED14647A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6" y="3755262"/>
                <a:ext cx="8867015" cy="648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C1A989BC-6AB8-7E63-03C4-ED044B4B32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576187"/>
                <a:ext cx="11282168" cy="4251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However, the chain does not have a limiting distribution* since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sup>
                    </m:sSup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then… 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C1A989BC-6AB8-7E63-03C4-ED044B4B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576187"/>
                <a:ext cx="11282168" cy="425117"/>
              </a:xfrm>
              <a:prstGeom prst="rect">
                <a:avLst/>
              </a:prstGeom>
              <a:blipFill>
                <a:blip r:embed="rId7"/>
                <a:stretch>
                  <a:fillRect l="-432" t="-4348" b="-144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02D05DD1-57D1-9211-2DA5-67A77901A8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18080" y="5009349"/>
                <a:ext cx="4594755" cy="8166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𝒐𝒅𝒅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𝒆𝒗𝒆𝒏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02D05DD1-57D1-9211-2DA5-67A77901A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080" y="5009349"/>
                <a:ext cx="4594755" cy="8166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23B96BB-95EB-A269-22CF-53D5BAA27D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25839" y="4997611"/>
                <a:ext cx="4594755" cy="8166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𝒐𝒅𝒅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𝒆𝒗𝒆𝒏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23B96BB-95EB-A269-22CF-53D5BAA27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839" y="4997611"/>
                <a:ext cx="4594755" cy="816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21D1943C-5DE0-61A5-B41D-867CB69C28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819747"/>
                <a:ext cx="11282168" cy="4251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8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 such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NZ" altLang="ja-JP" sz="1800" b="1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NZ" altLang="ja-JP" sz="1800" b="1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NZ" altLang="ja-JP" sz="1800" b="1" i="0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en-NZ" altLang="ja-JP" sz="1800" b="1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NZ" altLang="ja-JP" sz="1800" b="1" i="1" noProof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NZ" altLang="ja-JP" sz="1800" noProof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does not exist. A similar logic holds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sup>
                    </m:sSup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NZ" altLang="ja-JP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21D1943C-5DE0-61A5-B41D-867CB69C2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819747"/>
                <a:ext cx="11282168" cy="425117"/>
              </a:xfrm>
              <a:prstGeom prst="rect">
                <a:avLst/>
              </a:prstGeom>
              <a:blipFill>
                <a:blip r:embed="rId10"/>
                <a:stretch>
                  <a:fillRect l="-432" t="-1449" b="-173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2083AA9A-253D-CDF0-9C62-42DEF6F637C7}"/>
              </a:ext>
            </a:extLst>
          </p:cNvPr>
          <p:cNvSpPr txBox="1">
            <a:spLocks/>
          </p:cNvSpPr>
          <p:nvPr/>
        </p:nvSpPr>
        <p:spPr>
          <a:xfrm>
            <a:off x="332077" y="84535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EXAMPLE 1: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AABDD2F5-BD8D-8239-CA42-4439C81D2783}"/>
              </a:ext>
            </a:extLst>
          </p:cNvPr>
          <p:cNvSpPr txBox="1">
            <a:spLocks/>
          </p:cNvSpPr>
          <p:nvPr/>
        </p:nvSpPr>
        <p:spPr>
          <a:xfrm>
            <a:off x="5601426" y="6346744"/>
            <a:ext cx="5597257" cy="42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defRPr/>
            </a:pPr>
            <a:r>
              <a:rPr lang="en-NZ" altLang="ja-JP" sz="1200" noProof="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*Note that the fact that the chain has a stationary distribution which is not a limiting </a:t>
            </a:r>
            <a:br>
              <a:rPr lang="en-NZ" altLang="ja-JP" sz="1200" noProof="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200" noProof="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distribution does not contradict Theorem 6 because the chain is not aperiodic.</a:t>
            </a:r>
            <a:endParaRPr kumimoji="1" lang="en-US" altLang="ja-JP" sz="12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753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8.1j – Limiting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8DBD218-A4FD-432F-F641-D1FA0E33BC67}"/>
              </a:ext>
            </a:extLst>
          </p:cNvPr>
          <p:cNvSpPr txBox="1">
            <a:spLocks/>
          </p:cNvSpPr>
          <p:nvPr/>
        </p:nvSpPr>
        <p:spPr>
          <a:xfrm>
            <a:off x="319463" y="1251744"/>
            <a:ext cx="4184298" cy="473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Consider the Markov chain defined by: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2083AA9A-253D-CDF0-9C62-42DEF6F637C7}"/>
              </a:ext>
            </a:extLst>
          </p:cNvPr>
          <p:cNvSpPr txBox="1">
            <a:spLocks/>
          </p:cNvSpPr>
          <p:nvPr/>
        </p:nvSpPr>
        <p:spPr>
          <a:xfrm>
            <a:off x="332077" y="84535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EXAMPLE 2: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009B6D09-7FDE-BC70-973A-457D2A7AA5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03594" y="1077834"/>
                <a:ext cx="4184298" cy="12941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𝟑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𝟏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𝟏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𝟒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𝟏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𝟏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009B6D09-7FDE-BC70-973A-457D2A7AA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594" y="1077834"/>
                <a:ext cx="4184298" cy="1294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B718A04-E134-8981-2768-D7FDB5D699E2}"/>
              </a:ext>
            </a:extLst>
          </p:cNvPr>
          <p:cNvSpPr txBox="1">
            <a:spLocks/>
          </p:cNvSpPr>
          <p:nvPr/>
        </p:nvSpPr>
        <p:spPr>
          <a:xfrm>
            <a:off x="319463" y="1658133"/>
            <a:ext cx="3733922" cy="6753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 chain is irreducible and </a:t>
            </a:r>
            <a:r>
              <a:rPr kumimoji="1" lang="en-NZ" altLang="ja-JP" sz="1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ergodic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b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(positive recurrent and aperiodic)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94BEF3C-F4B7-304C-449E-CD2FD035C3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819616"/>
                <a:ext cx="11282168" cy="41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As per 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Theorem 6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chain has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limiting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distribution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since 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94BEF3C-F4B7-304C-449E-CD2FD035C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819616"/>
                <a:ext cx="11282168" cy="412373"/>
              </a:xfrm>
              <a:prstGeom prst="rect">
                <a:avLst/>
              </a:prstGeom>
              <a:blipFill>
                <a:blip r:embed="rId4"/>
                <a:stretch>
                  <a:fillRect l="-432" t="-7463" b="-149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DBB9D233-0844-770C-F83F-F8EF7F0A9A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231989"/>
                <a:ext cx="11553074" cy="12941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⋅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𝟑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𝟏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𝟏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𝟒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𝟏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𝟏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=  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DBB9D233-0844-770C-F83F-F8EF7F0A9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231989"/>
                <a:ext cx="11553074" cy="12941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DE55A8CA-034F-9486-90FA-776CBE561617}"/>
              </a:ext>
            </a:extLst>
          </p:cNvPr>
          <p:cNvSpPr txBox="1">
            <a:spLocks/>
          </p:cNvSpPr>
          <p:nvPr/>
        </p:nvSpPr>
        <p:spPr>
          <a:xfrm>
            <a:off x="332077" y="5346280"/>
            <a:ext cx="1618519" cy="41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Furthermore,</a:t>
            </a:r>
            <a:r>
              <a:rPr kumimoji="1" lang="en-NZ" altLang="ja-JP" sz="18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3F564E26-36C3-2F25-EC5A-00A37A66E9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6925" y="4840881"/>
                <a:ext cx="4981432" cy="12941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NZ" altLang="ja-JP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𝑷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</m:sup>
                          </m:sSup>
                        </m:e>
                      </m:func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𝟎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𝟎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𝟐</m:t>
                                            </m:r>
                                            <m:r>
                                              <a:rPr kumimoji="1" lang="en-NZ" altLang="ja-JP" sz="18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3F564E26-36C3-2F25-EC5A-00A37A66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925" y="4840881"/>
                <a:ext cx="4981432" cy="12941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9325298A-E1F4-D415-15B6-874282E587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6766" y="5199867"/>
                <a:ext cx="4537636" cy="935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NZ" altLang="ja-JP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bSup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func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   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00000"/>
                  </a:lnSpc>
                  <a:defRPr/>
                </a:pPr>
                <a:r>
                  <a:rPr lang="en-US" altLang="ja-JP" sz="1800" dirty="0">
                    <a:solidFill>
                      <a:schemeClr val="tx1"/>
                    </a:solidFill>
                  </a:rPr>
                  <a:t>irrespective of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</a:rPr>
                  <a:t>is distributed </a:t>
                </a: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9325298A-E1F4-D415-15B6-874282E58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766" y="5199867"/>
                <a:ext cx="4537636" cy="9351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F461AB-9576-9AA2-9E53-C3B21FBA145F}"/>
              </a:ext>
            </a:extLst>
          </p:cNvPr>
          <p:cNvSpPr txBox="1">
            <a:spLocks/>
          </p:cNvSpPr>
          <p:nvPr/>
        </p:nvSpPr>
        <p:spPr>
          <a:xfrm>
            <a:off x="6049736" y="5343586"/>
            <a:ext cx="851970" cy="41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sym typeface="Wingdings" panose="05000000000000000000" pitchFamily="2" charset="2"/>
              </a:rPr>
              <a:t>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lvl="0">
              <a:lnSpc>
                <a:spcPct val="100000"/>
              </a:lnSpc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US" altLang="ja-JP" sz="180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38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7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8.1k – Reversibility / Detailed Balance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61" name="Footer Placeholder 2">
            <a:extLst>
              <a:ext uri="{FF2B5EF4-FFF2-40B4-BE49-F238E27FC236}">
                <a16:creationId xmlns:a16="http://schemas.microsoft.com/office/drawing/2014/main" id="{5478CFBB-5577-3EFC-91DF-4D7EB30B325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8.1 – Discrete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58DBD218-A4FD-432F-F641-D1FA0E33BC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314703"/>
                <a:ext cx="11553074" cy="141624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be </a:t>
                </a: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an irreducible, ergodic (positive recurrent and aperiodic) Markov chain with discrete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transition matrix </a:t>
                </a:r>
                <a:r>
                  <a:rPr lang="en-NZ" altLang="ja-JP" sz="1800" b="1" i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</a:t>
                </a: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 </a:t>
                </a:r>
                <a:r>
                  <a:rPr lang="en-NZ" altLang="ja-JP" sz="1800" noProof="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b>
                                  <m:r>
                                    <a:rPr lang="en-NZ" altLang="ja-JP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NZ" altLang="ja-JP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r>
                          <a:rPr lang="en-NZ" altLang="ja-JP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NZ" altLang="ja-JP" sz="1800" dirty="0">
                    <a:solidFill>
                      <a:schemeClr val="tx1"/>
                    </a:solidFill>
                  </a:rPr>
                  <a:t> is </a:t>
                </a:r>
                <a:r>
                  <a:rPr lang="en-NZ" altLang="ja-JP" sz="1800" dirty="0">
                    <a:solidFill>
                      <a:srgbClr val="C00000"/>
                    </a:solidFill>
                  </a:rPr>
                  <a:t>reversible / has detailed balance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with respect to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P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, i.e.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   ∀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𝒊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𝒋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∈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a limiting distribution for the chain.</a:t>
                </a:r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58DBD218-A4FD-432F-F641-D1FA0E33B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314703"/>
                <a:ext cx="11553074" cy="1416245"/>
              </a:xfrm>
              <a:prstGeom prst="rect">
                <a:avLst/>
              </a:prstGeom>
              <a:blipFill>
                <a:blip r:embed="rId3"/>
                <a:stretch>
                  <a:fillRect l="-422" b="-172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2DD793B-086F-6EFE-9255-EE105567F7DF}"/>
              </a:ext>
            </a:extLst>
          </p:cNvPr>
          <p:cNvSpPr txBox="1">
            <a:spLocks/>
          </p:cNvSpPr>
          <p:nvPr/>
        </p:nvSpPr>
        <p:spPr>
          <a:xfrm>
            <a:off x="319463" y="966696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7: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86E03E7-B674-F64D-FD08-444A8FDE4BAA}"/>
              </a:ext>
            </a:extLst>
          </p:cNvPr>
          <p:cNvSpPr txBox="1">
            <a:spLocks/>
          </p:cNvSpPr>
          <p:nvPr/>
        </p:nvSpPr>
        <p:spPr>
          <a:xfrm>
            <a:off x="319463" y="2880316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Proof: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AD2938-4600-34CD-1EE6-B496E6E71E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1821" y="3367286"/>
                <a:ext cx="10780716" cy="4362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   ∀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𝒊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,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𝒋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∈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𝑺</m:t>
                      </m:r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AD2938-4600-34CD-1EE6-B496E6E71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821" y="3367286"/>
                <a:ext cx="10780716" cy="436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3848D8C-F609-588E-BAF9-150AD363F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873946"/>
                <a:ext cx="11553074" cy="9095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⇒  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𝒋𝒊</m:t>
                              </m:r>
                            </m:sub>
                          </m:sSub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=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∈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𝒋𝒊</m:t>
                              </m:r>
                            </m:sub>
                          </m:sSub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=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3848D8C-F609-588E-BAF9-150AD363F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873946"/>
                <a:ext cx="11553074" cy="909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B6515254-929E-3F2C-D1A9-A539A7F0C1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765323"/>
                <a:ext cx="11553074" cy="9095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Since the left-hand side is just the </a:t>
                </a:r>
                <a:r>
                  <a:rPr kumimoji="1" lang="en-US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j</a:t>
                </a:r>
                <a:r>
                  <a:rPr kumimoji="1" lang="en-US" altLang="ja-JP" sz="1800" b="1" i="1" u="none" strike="noStrike" kern="1200" cap="none" spc="0" normalizeH="0" baseline="3000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kumimoji="1" lang="en-US" altLang="ja-JP" sz="1800" b="1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80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element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we have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From </a:t>
                </a:r>
                <a:r>
                  <a:rPr lang="en-US" altLang="ja-JP" sz="18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Theorem 6</a:t>
                </a:r>
                <a:r>
                  <a:rPr lang="en-US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this is enough to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NZ" altLang="ja-JP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e>
                    </m:ba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the limiting distribution.</a:t>
                </a:r>
              </a:p>
            </p:txBody>
          </p:sp>
        </mc:Choice>
        <mc:Fallback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B6515254-929E-3F2C-D1A9-A539A7F0C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765323"/>
                <a:ext cx="11553074" cy="909584"/>
              </a:xfrm>
              <a:prstGeom prst="rect">
                <a:avLst/>
              </a:prstGeom>
              <a:blipFill>
                <a:blip r:embed="rId6"/>
                <a:stretch>
                  <a:fillRect l="-422" t="-335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26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4500" b="1" dirty="0">
                <a:solidFill>
                  <a:srgbClr val="FFC000"/>
                </a:solidFill>
                <a:latin typeface="Calibri" panose="020F0502020204030204"/>
              </a:rPr>
              <a:t>8.2 – Continuous State Space Markov Chains</a:t>
            </a:r>
            <a:endParaRPr kumimoji="0" lang="en-NZ" sz="4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8.2a – Definition of a Markov Chain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68512"/>
                <a:ext cx="11608680" cy="8602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Suppose we have a 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sequence of random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indexed by discrete time intervals 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t = 0, 1, … , ∞ </a:t>
                </a:r>
                <a:br>
                  <a:rPr lang="en-NZ" altLang="ja-JP" sz="2000" i="1" dirty="0">
                    <a:solidFill>
                      <a:prstClr val="black"/>
                    </a:solidFill>
                  </a:rPr>
                </a:br>
                <a:r>
                  <a:rPr lang="en-NZ" altLang="ja-JP" sz="2000" dirty="0">
                    <a:solidFill>
                      <a:prstClr val="black"/>
                    </a:solidFill>
                  </a:rPr>
                  <a:t>that take values in</a:t>
                </a:r>
                <a:r>
                  <a:rPr lang="en-NZ" altLang="ja-JP" sz="2000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the </a:t>
                </a:r>
                <a:r>
                  <a:rPr lang="en-NZ" altLang="ja-JP" sz="2000" b="1" dirty="0">
                    <a:solidFill>
                      <a:prstClr val="black"/>
                    </a:solidFill>
                  </a:rPr>
                  <a:t>continuous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 state space 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S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. If the sequence has the property that 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NZ" altLang="ja-JP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NZ" altLang="ja-JP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NZ" altLang="ja-JP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NZ" altLang="ja-JP" sz="2000" dirty="0">
                    <a:solidFill>
                      <a:prstClr val="black"/>
                    </a:solidFill>
                  </a:rPr>
                  <a:t>: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68512"/>
                <a:ext cx="11608680" cy="860288"/>
              </a:xfrm>
              <a:prstGeom prst="rect">
                <a:avLst/>
              </a:prstGeom>
              <a:blipFill>
                <a:blip r:embed="rId3"/>
                <a:stretch>
                  <a:fillRect l="-525" b="-85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AF4A1B61-A050-C704-0176-6E23B12F97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3857" y="1886236"/>
                <a:ext cx="11608680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, …,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NZ" altLang="ja-JP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NZ" altLang="ja-JP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ja-JP" sz="2000" b="1" dirty="0">
                  <a:solidFill>
                    <a:prstClr val="black"/>
                  </a:solidFill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AF4A1B61-A050-C704-0176-6E23B12F9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57" y="1886236"/>
                <a:ext cx="11608680" cy="607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6688076-7C64-9F03-3894-3E9C3D73268C}"/>
              </a:ext>
            </a:extLst>
          </p:cNvPr>
          <p:cNvSpPr txBox="1">
            <a:spLocks/>
          </p:cNvSpPr>
          <p:nvPr/>
        </p:nvSpPr>
        <p:spPr>
          <a:xfrm>
            <a:off x="263857" y="2411870"/>
            <a:ext cx="11608680" cy="5003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i.e. the state of the random variable at time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depends only on the state of the random variable at time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t-1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.</a:t>
            </a:r>
            <a:endParaRPr lang="en-NZ" altLang="ja-JP" sz="16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074D5AE-9F79-A112-4E1C-6F545D872576}"/>
              </a:ext>
            </a:extLst>
          </p:cNvPr>
          <p:cNvSpPr txBox="1">
            <a:spLocks/>
          </p:cNvSpPr>
          <p:nvPr/>
        </p:nvSpPr>
        <p:spPr>
          <a:xfrm>
            <a:off x="319463" y="2851724"/>
            <a:ext cx="11608680" cy="5003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Then this sequence is known as a Markov Chain (MC).</a:t>
            </a:r>
            <a:endParaRPr kumimoji="1" lang="en-US" altLang="ja-JP" sz="2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6D3FAC3F-D1D6-4162-4A16-8FB194B0A4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475872"/>
                <a:ext cx="11608680" cy="159814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For a continuous state space Markov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chain, the probability of transitioning from state </a:t>
                </a:r>
                <a:r>
                  <a:rPr kumimoji="1" lang="en-NZ" altLang="ja-JP" sz="2000" b="1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x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to any individual state </a:t>
                </a:r>
                <a:r>
                  <a:rPr kumimoji="1" lang="en-NZ" altLang="ja-JP" sz="2000" b="1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y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zero. Instead, transitions between states are represented by a 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transition kernel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𝒌</m:t>
                    </m:r>
                    <m:d>
                      <m:dPr>
                        <m:ctrlP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𝒙</m:t>
                        </m:r>
                        <m: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  ⋅ </m:t>
                        </m:r>
                      </m:e>
                    </m:d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:</m:t>
                    </m:r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→</m:t>
                    </m:r>
                    <m:d>
                      <m:dPr>
                        <m:begChr m:val="["/>
                        <m:ctrlP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kumimoji="1" lang="en-NZ" altLang="ja-JP" sz="20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, ∞</m:t>
                        </m:r>
                      </m:e>
                    </m:d>
                  </m:oMath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1200093" lvl="1" indent="-51435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romanLcPeriod"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𝒌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𝒙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𝒚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 ∀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𝒚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1200093" lvl="1" indent="-51435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romanLcPeriod"/>
                  <a:defRPr/>
                </a:pPr>
                <a:r>
                  <a:rPr kumimoji="1" lang="en-US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sub>
                      <m:sup/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𝒌</m:t>
                        </m:r>
                        <m:d>
                          <m:d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𝒙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,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𝒚</m:t>
                            </m:r>
                          </m:e>
                        </m:d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  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𝒅𝒚</m:t>
                        </m:r>
                      </m:e>
                    </m:nary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=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𝟏</m:t>
                    </m:r>
                  </m:oMath>
                </a14:m>
                <a:endParaRPr kumimoji="1" lang="en-US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6D3FAC3F-D1D6-4162-4A16-8FB194B0A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475872"/>
                <a:ext cx="11608680" cy="1598147"/>
              </a:xfrm>
              <a:prstGeom prst="rect">
                <a:avLst/>
              </a:prstGeom>
              <a:blipFill>
                <a:blip r:embed="rId5"/>
                <a:stretch>
                  <a:fillRect l="-525" t="-1908" b="-3091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54D4E70-0B19-BAD7-A838-530886982E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228861"/>
                <a:ext cx="11553074" cy="119923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2000" dirty="0">
                    <a:solidFill>
                      <a:prstClr val="black"/>
                    </a:solidFill>
                    <a:ea typeface="游ゴシック" panose="020B0400000000000000" pitchFamily="34" charset="-128"/>
                  </a:rPr>
                  <a:t>T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he probability that the chain transitions into the set of states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, 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 is given by  </a:t>
                </a:r>
                <a:endParaRPr lang="en-US" altLang="ja-JP" sz="2000" b="1" dirty="0">
                  <a:solidFill>
                    <a:prstClr val="black"/>
                  </a:solidFill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54D4E70-0B19-BAD7-A838-53088698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228861"/>
                <a:ext cx="11553074" cy="1199235"/>
              </a:xfrm>
              <a:prstGeom prst="rect">
                <a:avLst/>
              </a:prstGeom>
              <a:blipFill>
                <a:blip r:embed="rId6"/>
                <a:stretch>
                  <a:fillRect l="-527" t="-10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0B35E38-1344-5631-045A-19022A69C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2558" y="5607744"/>
                <a:ext cx="6261258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</m:nary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0B35E38-1344-5631-045A-19022A69C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558" y="5607744"/>
                <a:ext cx="6261258" cy="607201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50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EDC796D-43EB-C733-FC05-8CCDE1CF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777" y="3927618"/>
            <a:ext cx="3777266" cy="8572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3449A0-875E-F147-F78F-B95D897C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205" y="3060986"/>
            <a:ext cx="3777266" cy="8572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A5AE3E-18D8-70DF-FAAC-69610382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6205" y="3492091"/>
            <a:ext cx="3777266" cy="857225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8.2a – Definition of a Markov Chain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68512"/>
                <a:ext cx="11608680" cy="11059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For example,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consider the Markov chain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20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20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20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20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on </a:t>
                </a:r>
                <a14:m>
                  <m:oMath xmlns:m="http://schemas.openxmlformats.org/officeDocument/2006/math"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kumimoji="1" lang="en-NZ" altLang="ja-JP" sz="20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defined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and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transition kernel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en-US" altLang="ja-JP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68512"/>
                <a:ext cx="11608680" cy="1105948"/>
              </a:xfrm>
              <a:prstGeom prst="rect">
                <a:avLst/>
              </a:prstGeom>
              <a:blipFill>
                <a:blip r:embed="rId4"/>
                <a:stretch>
                  <a:fillRect l="-5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06782-4F51-EF3A-2043-16A8823B3CD9}"/>
              </a:ext>
            </a:extLst>
          </p:cNvPr>
          <p:cNvCxnSpPr>
            <a:cxnSpLocks/>
          </p:cNvCxnSpPr>
          <p:nvPr/>
        </p:nvCxnSpPr>
        <p:spPr>
          <a:xfrm>
            <a:off x="805217" y="2357651"/>
            <a:ext cx="0" cy="301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D4A4AB-85C0-83AE-8214-F2FF42C746CA}"/>
              </a:ext>
            </a:extLst>
          </p:cNvPr>
          <p:cNvCxnSpPr>
            <a:cxnSpLocks/>
          </p:cNvCxnSpPr>
          <p:nvPr/>
        </p:nvCxnSpPr>
        <p:spPr>
          <a:xfrm>
            <a:off x="559559" y="3865728"/>
            <a:ext cx="36439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ABF164-4EAB-A0E6-A749-F1401F3BE9F3}"/>
              </a:ext>
            </a:extLst>
          </p:cNvPr>
          <p:cNvCxnSpPr/>
          <p:nvPr/>
        </p:nvCxnSpPr>
        <p:spPr>
          <a:xfrm>
            <a:off x="1807633" y="2357651"/>
            <a:ext cx="0" cy="30161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94A747-46F1-EDA2-B3AB-254F5AE84976}"/>
              </a:ext>
            </a:extLst>
          </p:cNvPr>
          <p:cNvCxnSpPr/>
          <p:nvPr/>
        </p:nvCxnSpPr>
        <p:spPr>
          <a:xfrm>
            <a:off x="2706206" y="2412625"/>
            <a:ext cx="0" cy="30161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B6A0944D-5DE3-D8B7-6119-381006062E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1747" y="3935968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B6A0944D-5DE3-D8B7-6119-38100606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7" y="3935968"/>
                <a:ext cx="636896" cy="345085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217C28E0-D97E-8BCC-A5C7-2A50C9D7F2C0}"/>
              </a:ext>
            </a:extLst>
          </p:cNvPr>
          <p:cNvSpPr txBox="1">
            <a:spLocks/>
          </p:cNvSpPr>
          <p:nvPr/>
        </p:nvSpPr>
        <p:spPr>
          <a:xfrm>
            <a:off x="1522413" y="3865728"/>
            <a:ext cx="636896" cy="3450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20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=1</a:t>
            </a:r>
            <a:endParaRPr lang="en-NZ" altLang="ja-JP" sz="2000" b="1" i="1" dirty="0">
              <a:solidFill>
                <a:prstClr val="black"/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B789820-A81E-30FB-92D6-1BF0A735594E}"/>
              </a:ext>
            </a:extLst>
          </p:cNvPr>
          <p:cNvSpPr txBox="1">
            <a:spLocks/>
          </p:cNvSpPr>
          <p:nvPr/>
        </p:nvSpPr>
        <p:spPr>
          <a:xfrm>
            <a:off x="2411054" y="3865727"/>
            <a:ext cx="636896" cy="3450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20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=2</a:t>
            </a:r>
            <a:endParaRPr lang="en-NZ" altLang="ja-JP" sz="2000" b="1" i="1" dirty="0">
              <a:solidFill>
                <a:prstClr val="black"/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27DBB2-D0BB-8186-E036-F21B210BEB80}"/>
              </a:ext>
            </a:extLst>
          </p:cNvPr>
          <p:cNvSpPr/>
          <p:nvPr/>
        </p:nvSpPr>
        <p:spPr>
          <a:xfrm>
            <a:off x="680207" y="3756545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4B6282-982C-4A37-2D7D-44ED8B4C6ACB}"/>
              </a:ext>
            </a:extLst>
          </p:cNvPr>
          <p:cNvSpPr/>
          <p:nvPr/>
        </p:nvSpPr>
        <p:spPr>
          <a:xfrm>
            <a:off x="1698449" y="3301313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35D82F-6A1C-95E6-7A00-14AE161BDBE1}"/>
              </a:ext>
            </a:extLst>
          </p:cNvPr>
          <p:cNvSpPr/>
          <p:nvPr/>
        </p:nvSpPr>
        <p:spPr>
          <a:xfrm>
            <a:off x="2630941" y="4247048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Placeholder 5">
                <a:extLst>
                  <a:ext uri="{FF2B5EF4-FFF2-40B4-BE49-F238E27FC236}">
                    <a16:creationId xmlns:a16="http://schemas.microsoft.com/office/drawing/2014/main" id="{C214C048-B4FD-219A-0CA5-2BC78CB130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4611" y="2885989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 Placeholder 5">
                <a:extLst>
                  <a:ext uri="{FF2B5EF4-FFF2-40B4-BE49-F238E27FC236}">
                    <a16:creationId xmlns:a16="http://schemas.microsoft.com/office/drawing/2014/main" id="{C214C048-B4FD-219A-0CA5-2BC78CB13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611" y="2885989"/>
                <a:ext cx="636896" cy="34508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BB76C0DF-9935-0C84-FD59-A06C36420C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0942" y="4458492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BB76C0DF-9935-0C84-FD59-A06C36420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942" y="4458492"/>
                <a:ext cx="636896" cy="34508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B52CD5C0-8223-B0BB-52F9-582C8CEFFE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24703" y="2582407"/>
                <a:ext cx="6821303" cy="77537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Markov chain is equivalent to the random walk defined by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𝒕</m:t>
                            </m:r>
                          </m:e>
                        </m:d>
                      </m:sup>
                    </m:sSup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−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+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𝝐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−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where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p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2000" dirty="0">
                    <a:solidFill>
                      <a:prstClr val="black"/>
                    </a:solidFill>
                  </a:rPr>
                  <a:t>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B52CD5C0-8223-B0BB-52F9-582C8CEFF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703" y="2582407"/>
                <a:ext cx="6821303" cy="775372"/>
              </a:xfrm>
              <a:prstGeom prst="rect">
                <a:avLst/>
              </a:prstGeom>
              <a:blipFill>
                <a:blip r:embed="rId8"/>
                <a:stretch>
                  <a:fillRect l="-894" t="-4724" b="-787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Placeholder 5">
                <a:extLst>
                  <a:ext uri="{FF2B5EF4-FFF2-40B4-BE49-F238E27FC236}">
                    <a16:creationId xmlns:a16="http://schemas.microsoft.com/office/drawing/2014/main" id="{795EFF4B-041A-31EE-EF54-CB14ED580E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24703" y="3747809"/>
                <a:ext cx="5816917" cy="142136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For instance, we may calculate: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20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)= </m:t>
                      </m:r>
                      <m:nary>
                        <m:naryPr>
                          <m:limLoc m:val="undOvr"/>
                          <m:ctrl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</m:rad>
                            </m:den>
                          </m:f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NZ" altLang="ja-JP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20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NZ" altLang="ja-JP" sz="20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sup>
                          </m:sSup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20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</m:nary>
                    </m:oMath>
                  </m:oMathPara>
                </a14:m>
                <a:endParaRPr lang="en-NZ" altLang="ja-JP" sz="2000" b="1" i="1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>
          <p:sp>
            <p:nvSpPr>
              <p:cNvPr id="43" name="Text Placeholder 5">
                <a:extLst>
                  <a:ext uri="{FF2B5EF4-FFF2-40B4-BE49-F238E27FC236}">
                    <a16:creationId xmlns:a16="http://schemas.microsoft.com/office/drawing/2014/main" id="{795EFF4B-041A-31EE-EF54-CB14ED580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703" y="3747809"/>
                <a:ext cx="5816917" cy="1421366"/>
              </a:xfrm>
              <a:prstGeom prst="rect">
                <a:avLst/>
              </a:prstGeom>
              <a:blipFill>
                <a:blip r:embed="rId9"/>
                <a:stretch>
                  <a:fillRect l="-1048" t="-257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D5518F97-6D87-2632-C4D1-9E73B05ACF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24703" y="5169175"/>
                <a:ext cx="5816917" cy="39003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𝟑𝟒𝟏𝟑</m:t>
                    </m:r>
                  </m:oMath>
                </a14:m>
                <a:r>
                  <a:rPr kumimoji="1" lang="en-US" altLang="ja-JP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D5518F97-6D87-2632-C4D1-9E73B05AC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703" y="5169175"/>
                <a:ext cx="5816917" cy="3900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757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8.2b – n-step Transition Probabilities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B5509550-ED2F-F9AB-C499-FC60239448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68512"/>
                <a:ext cx="11608680" cy="5054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Let</a:t>
                </a:r>
                <a:r>
                  <a:rPr kumimoji="1" lang="en-NZ" altLang="ja-JP" sz="20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</m:sub>
                      <m:sup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20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be a Markov chain with continuous state space </a:t>
                </a:r>
                <a:r>
                  <a:rPr lang="en-NZ" altLang="ja-JP" sz="20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  <m:r>
                      <a:rPr lang="en-NZ" altLang="ja-JP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NZ" altLang="ja-JP" sz="2000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B5509550-ED2F-F9AB-C499-FC602394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68512"/>
                <a:ext cx="11608680" cy="505446"/>
              </a:xfrm>
              <a:prstGeom prst="rect">
                <a:avLst/>
              </a:prstGeom>
              <a:blipFill>
                <a:blip r:embed="rId3"/>
                <a:stretch>
                  <a:fillRect l="-525" b="-1325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1EFCB441-5A70-1A80-8439-E0F2EB0310FC}"/>
              </a:ext>
            </a:extLst>
          </p:cNvPr>
          <p:cNvSpPr txBox="1">
            <a:spLocks/>
          </p:cNvSpPr>
          <p:nvPr/>
        </p:nvSpPr>
        <p:spPr>
          <a:xfrm>
            <a:off x="319463" y="1734338"/>
            <a:ext cx="11553074" cy="473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en-NZ" altLang="ja-JP" sz="2000" dirty="0">
                <a:solidFill>
                  <a:prstClr val="black"/>
                </a:solidFill>
                <a:ea typeface="游ゴシック" panose="020B0400000000000000" pitchFamily="34" charset="-128"/>
              </a:rPr>
              <a:t>T</a:t>
            </a:r>
            <a:r>
              <a:rPr kumimoji="1" lang="en-NZ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</a:rPr>
              <a:t>he continuous versions of the Kolmogorov-Chapman equations are: </a:t>
            </a:r>
            <a:endParaRPr kumimoji="1" lang="en-US" altLang="ja-JP" sz="20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BFBE270C-8182-DB9B-6110-FB224F6B10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765" y="2123183"/>
                <a:ext cx="6261258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d>
                        <m:dPr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nary>
                        <m:naryPr>
                          <m:supHide m:val="on"/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sSup>
                        <m:sSupPr>
                          <m:ctrlPr>
                            <a:rPr lang="en-NZ" altLang="ja-JP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d>
                        <m:dPr>
                          <m:ctrlPr>
                            <a:rPr lang="en-NZ" altLang="ja-JP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NZ" altLang="ja-JP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</m:oMath>
                  </m:oMathPara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BFBE270C-8182-DB9B-6110-FB224F6B1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65" y="2123183"/>
                <a:ext cx="6261258" cy="607201"/>
              </a:xfrm>
              <a:prstGeom prst="rect">
                <a:avLst/>
              </a:prstGeom>
              <a:blipFill>
                <a:blip r:embed="rId4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9400F8D-94B4-0EF0-4268-672C68C2FBB6}"/>
              </a:ext>
            </a:extLst>
          </p:cNvPr>
          <p:cNvSpPr txBox="1">
            <a:spLocks/>
          </p:cNvSpPr>
          <p:nvPr/>
        </p:nvSpPr>
        <p:spPr>
          <a:xfrm>
            <a:off x="319463" y="2998459"/>
            <a:ext cx="3147068" cy="473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en-NZ" altLang="ja-JP" sz="2000" dirty="0">
                <a:solidFill>
                  <a:prstClr val="black"/>
                </a:solidFill>
                <a:ea typeface="游ゴシック" panose="020B0400000000000000" pitchFamily="34" charset="-128"/>
              </a:rPr>
              <a:t>In particular, we have</a:t>
            </a:r>
            <a:r>
              <a:rPr kumimoji="1" lang="en-NZ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</a:rPr>
              <a:t>: </a:t>
            </a:r>
            <a:endParaRPr kumimoji="1" lang="en-US" altLang="ja-JP" sz="20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Placeholder 5">
                <a:extLst>
                  <a:ext uri="{FF2B5EF4-FFF2-40B4-BE49-F238E27FC236}">
                    <a16:creationId xmlns:a16="http://schemas.microsoft.com/office/drawing/2014/main" id="{218B7219-4BF3-877C-6B6C-F685DCDCD0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858" y="3440453"/>
                <a:ext cx="6261258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nary>
                        <m:naryPr>
                          <m:supHide m:val="on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</m:oMath>
                  </m:oMathPara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8" name="Text Placeholder 5">
                <a:extLst>
                  <a:ext uri="{FF2B5EF4-FFF2-40B4-BE49-F238E27FC236}">
                    <a16:creationId xmlns:a16="http://schemas.microsoft.com/office/drawing/2014/main" id="{218B7219-4BF3-877C-6B6C-F685DCDCD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58" y="3440453"/>
                <a:ext cx="6261258" cy="607201"/>
              </a:xfrm>
              <a:prstGeom prst="rect">
                <a:avLst/>
              </a:prstGeom>
              <a:blipFill>
                <a:blip r:embed="rId5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2BB3DF17-BA2C-C23F-300D-1A21BEE73D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858" y="4154944"/>
                <a:ext cx="6261258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d>
                        <m:dPr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nary>
                        <m:naryPr>
                          <m:supHide m:val="on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</m:oMath>
                  </m:oMathPara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2BB3DF17-BA2C-C23F-300D-1A21BEE73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58" y="4154944"/>
                <a:ext cx="6261258" cy="607201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Placeholder 5">
                <a:extLst>
                  <a:ext uri="{FF2B5EF4-FFF2-40B4-BE49-F238E27FC236}">
                    <a16:creationId xmlns:a16="http://schemas.microsoft.com/office/drawing/2014/main" id="{7D56020D-CFD0-1CCC-8B23-9C097F57D0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2861" y="4767198"/>
                <a:ext cx="5975073" cy="8145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 </m:t>
                      </m:r>
                      <m:nary>
                        <m:naryPr>
                          <m:supHide m:val="on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  <m:sup/>
                                <m:e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d>
                                    <m:dPr>
                                      <m:ctrlPr>
                                        <a:rPr lang="en-NZ" altLang="ja-JP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NZ" altLang="ja-JP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nary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d>
                                <m:dPr>
                                  <m:ctrlP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NZ" altLang="ja-JP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𝒅𝒘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NZ" altLang="ja-JP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</m:oMath>
                  </m:oMathPara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0" name="Text Placeholder 5">
                <a:extLst>
                  <a:ext uri="{FF2B5EF4-FFF2-40B4-BE49-F238E27FC236}">
                    <a16:creationId xmlns:a16="http://schemas.microsoft.com/office/drawing/2014/main" id="{7D56020D-CFD0-1CCC-8B23-9C097F57D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861" y="4767198"/>
                <a:ext cx="5975073" cy="8145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5F1C20-AFA0-43F5-141F-9C926ECB6E0B}"/>
              </a:ext>
            </a:extLst>
          </p:cNvPr>
          <p:cNvCxnSpPr>
            <a:cxnSpLocks/>
          </p:cNvCxnSpPr>
          <p:nvPr/>
        </p:nvCxnSpPr>
        <p:spPr>
          <a:xfrm>
            <a:off x="8085738" y="3166590"/>
            <a:ext cx="0" cy="24736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63322A-6241-C459-082D-2A200E6E090E}"/>
              </a:ext>
            </a:extLst>
          </p:cNvPr>
          <p:cNvCxnSpPr>
            <a:cxnSpLocks/>
          </p:cNvCxnSpPr>
          <p:nvPr/>
        </p:nvCxnSpPr>
        <p:spPr>
          <a:xfrm>
            <a:off x="9166186" y="3208308"/>
            <a:ext cx="0" cy="2240871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86F8F14-E62D-4C42-4FBE-674862F9BDFB}"/>
              </a:ext>
            </a:extLst>
          </p:cNvPr>
          <p:cNvCxnSpPr>
            <a:cxnSpLocks/>
          </p:cNvCxnSpPr>
          <p:nvPr/>
        </p:nvCxnSpPr>
        <p:spPr>
          <a:xfrm>
            <a:off x="7904119" y="5449179"/>
            <a:ext cx="2952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E973878-07FC-A5F8-BCA1-B7E9344ADD8D}"/>
              </a:ext>
            </a:extLst>
          </p:cNvPr>
          <p:cNvCxnSpPr>
            <a:cxnSpLocks/>
          </p:cNvCxnSpPr>
          <p:nvPr/>
        </p:nvCxnSpPr>
        <p:spPr>
          <a:xfrm>
            <a:off x="10151099" y="3169637"/>
            <a:ext cx="0" cy="224087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2A16CD-F5B2-93DE-C49B-A39DBFD43098}"/>
              </a:ext>
            </a:extLst>
          </p:cNvPr>
          <p:cNvCxnSpPr>
            <a:cxnSpLocks/>
          </p:cNvCxnSpPr>
          <p:nvPr/>
        </p:nvCxnSpPr>
        <p:spPr>
          <a:xfrm flipV="1">
            <a:off x="8085735" y="3250026"/>
            <a:ext cx="1080451" cy="16621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A6F0BC8-F0AE-AF13-AD29-357866456ECC}"/>
              </a:ext>
            </a:extLst>
          </p:cNvPr>
          <p:cNvCxnSpPr>
            <a:cxnSpLocks/>
          </p:cNvCxnSpPr>
          <p:nvPr/>
        </p:nvCxnSpPr>
        <p:spPr>
          <a:xfrm flipV="1">
            <a:off x="8085736" y="3780052"/>
            <a:ext cx="1080450" cy="1104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9981E2-CBCA-2115-716F-D9BB9AF29879}"/>
              </a:ext>
            </a:extLst>
          </p:cNvPr>
          <p:cNvCxnSpPr>
            <a:cxnSpLocks/>
          </p:cNvCxnSpPr>
          <p:nvPr/>
        </p:nvCxnSpPr>
        <p:spPr>
          <a:xfrm flipV="1">
            <a:off x="8095189" y="4328743"/>
            <a:ext cx="1070995" cy="5708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6ED042-CC2D-17A3-E3CB-0100049E6A8C}"/>
              </a:ext>
            </a:extLst>
          </p:cNvPr>
          <p:cNvCxnSpPr>
            <a:cxnSpLocks/>
          </p:cNvCxnSpPr>
          <p:nvPr/>
        </p:nvCxnSpPr>
        <p:spPr>
          <a:xfrm>
            <a:off x="8085736" y="4886410"/>
            <a:ext cx="10804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9F0A953-AB0D-B63C-FFDA-CB4C8D7052E9}"/>
              </a:ext>
            </a:extLst>
          </p:cNvPr>
          <p:cNvCxnSpPr>
            <a:cxnSpLocks/>
          </p:cNvCxnSpPr>
          <p:nvPr/>
        </p:nvCxnSpPr>
        <p:spPr>
          <a:xfrm>
            <a:off x="8085737" y="4901224"/>
            <a:ext cx="1080449" cy="309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BD5417-A84E-636E-0EB1-61EECA90BE51}"/>
              </a:ext>
            </a:extLst>
          </p:cNvPr>
          <p:cNvCxnSpPr>
            <a:cxnSpLocks/>
          </p:cNvCxnSpPr>
          <p:nvPr/>
        </p:nvCxnSpPr>
        <p:spPr>
          <a:xfrm flipV="1">
            <a:off x="9175630" y="3837294"/>
            <a:ext cx="959187" cy="1373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5BDA20-C559-ECD7-4C27-41229EDFE4A2}"/>
              </a:ext>
            </a:extLst>
          </p:cNvPr>
          <p:cNvCxnSpPr>
            <a:cxnSpLocks/>
          </p:cNvCxnSpPr>
          <p:nvPr/>
        </p:nvCxnSpPr>
        <p:spPr>
          <a:xfrm flipV="1">
            <a:off x="9166179" y="3791693"/>
            <a:ext cx="983211" cy="1069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797B035-E286-B4A3-6766-B6E92ECA28B3}"/>
              </a:ext>
            </a:extLst>
          </p:cNvPr>
          <p:cNvCxnSpPr>
            <a:cxnSpLocks/>
          </p:cNvCxnSpPr>
          <p:nvPr/>
        </p:nvCxnSpPr>
        <p:spPr>
          <a:xfrm flipV="1">
            <a:off x="9166182" y="3810247"/>
            <a:ext cx="983208" cy="518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77B489A-658E-9330-048F-BDA398ADD730}"/>
              </a:ext>
            </a:extLst>
          </p:cNvPr>
          <p:cNvCxnSpPr>
            <a:cxnSpLocks/>
          </p:cNvCxnSpPr>
          <p:nvPr/>
        </p:nvCxnSpPr>
        <p:spPr>
          <a:xfrm>
            <a:off x="9166181" y="3820183"/>
            <a:ext cx="10012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4927EA-1078-5A88-71BA-88DA41569559}"/>
              </a:ext>
            </a:extLst>
          </p:cNvPr>
          <p:cNvCxnSpPr>
            <a:cxnSpLocks/>
          </p:cNvCxnSpPr>
          <p:nvPr/>
        </p:nvCxnSpPr>
        <p:spPr>
          <a:xfrm>
            <a:off x="9166179" y="3279673"/>
            <a:ext cx="1001203" cy="5420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77A1BE16-D8E4-C0A2-05C5-671FE2AD8CF5}"/>
              </a:ext>
            </a:extLst>
          </p:cNvPr>
          <p:cNvSpPr/>
          <p:nvPr/>
        </p:nvSpPr>
        <p:spPr>
          <a:xfrm>
            <a:off x="7788619" y="4777513"/>
            <a:ext cx="258620" cy="278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x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2DFC731-AC45-FDFF-3855-54DA3AB4B0E6}"/>
              </a:ext>
            </a:extLst>
          </p:cNvPr>
          <p:cNvSpPr/>
          <p:nvPr/>
        </p:nvSpPr>
        <p:spPr>
          <a:xfrm>
            <a:off x="10179467" y="3687944"/>
            <a:ext cx="258620" cy="278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y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76FAB683-0320-FDC2-D925-E97FE6ABBCEF}"/>
              </a:ext>
            </a:extLst>
          </p:cNvPr>
          <p:cNvSpPr txBox="1">
            <a:spLocks/>
          </p:cNvSpPr>
          <p:nvPr/>
        </p:nvSpPr>
        <p:spPr>
          <a:xfrm>
            <a:off x="8865929" y="546558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800" i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m</a:t>
            </a:r>
            <a:endParaRPr kumimoji="1" lang="en-US" altLang="ja-JP" sz="18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0B6BE505-BD43-6F5A-039D-8BA0534950FD}"/>
              </a:ext>
            </a:extLst>
          </p:cNvPr>
          <p:cNvSpPr txBox="1">
            <a:spLocks/>
          </p:cNvSpPr>
          <p:nvPr/>
        </p:nvSpPr>
        <p:spPr>
          <a:xfrm>
            <a:off x="9825255" y="546645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800" i="1" dirty="0" err="1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m+n</a:t>
            </a:r>
            <a:endParaRPr kumimoji="1" lang="en-US" altLang="ja-JP" sz="18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Placeholder 5">
                <a:extLst>
                  <a:ext uri="{FF2B5EF4-FFF2-40B4-BE49-F238E27FC236}">
                    <a16:creationId xmlns:a16="http://schemas.microsoft.com/office/drawing/2014/main" id="{9C83268D-1AD3-48DE-D413-2F78D1D73C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8506" y="2281389"/>
                <a:ext cx="2415346" cy="47309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bg2">
                        <a:lumMod val="50000"/>
                      </a:schemeClr>
                    </a:solidFill>
                    <a:ea typeface="游ゴシック" panose="020B0400000000000000" pitchFamily="34" charset="-128"/>
                  </a:rPr>
                  <a:t>Integrate over all possible intermediary states at </a:t>
                </a: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𝒕</m:t>
                    </m:r>
                    <m:r>
                      <a:rPr lang="en-NZ" altLang="ja-JP" sz="1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lang="en-NZ" altLang="ja-JP" sz="1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𝒎</m:t>
                    </m:r>
                  </m:oMath>
                </a14:m>
                <a:r>
                  <a:rPr kumimoji="1" lang="en-NZ" altLang="ja-JP" sz="1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ea typeface="游ゴシック" panose="020B0400000000000000" pitchFamily="34" charset="-128"/>
                  </a:rPr>
                  <a:t> </a:t>
                </a:r>
                <a:endParaRPr kumimoji="1" lang="en-US" altLang="ja-JP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1" name="Text Placeholder 5">
                <a:extLst>
                  <a:ext uri="{FF2B5EF4-FFF2-40B4-BE49-F238E27FC236}">
                    <a16:creationId xmlns:a16="http://schemas.microsoft.com/office/drawing/2014/main" id="{9C83268D-1AD3-48DE-D413-2F78D1D73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506" y="2281389"/>
                <a:ext cx="2415346" cy="473098"/>
              </a:xfrm>
              <a:prstGeom prst="rect">
                <a:avLst/>
              </a:prstGeom>
              <a:blipFill>
                <a:blip r:embed="rId8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CC145BB-7F01-D805-45D9-86115798243B}"/>
              </a:ext>
            </a:extLst>
          </p:cNvPr>
          <p:cNvCxnSpPr>
            <a:cxnSpLocks/>
            <a:stCxn id="81" idx="2"/>
          </p:cNvCxnSpPr>
          <p:nvPr/>
        </p:nvCxnSpPr>
        <p:spPr>
          <a:xfrm>
            <a:off x="9166179" y="2754487"/>
            <a:ext cx="0" cy="45223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9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85425"/>
                <a:ext cx="11608680" cy="60720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85425"/>
                <a:ext cx="11608680" cy="607202"/>
              </a:xfrm>
              <a:prstGeom prst="rect">
                <a:avLst/>
              </a:prstGeom>
              <a:blipFill>
                <a:blip r:embed="rId3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8.2c – Classification of Markov Chains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B7CE3BC9-29D2-84F7-F73A-C94D5C6074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643305"/>
                <a:ext cx="11608680" cy="12023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The chain is said to be </a:t>
                </a:r>
                <a:r>
                  <a:rPr lang="en-NZ" altLang="ja-JP" sz="1800" b="1" dirty="0">
                    <a:solidFill>
                      <a:srgbClr val="C00000"/>
                    </a:solidFill>
                  </a:rPr>
                  <a:t>irreducible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if it is possible to reach any non-negligible set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from any state, i.e.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∀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𝒙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and non-negligible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such that</a:t>
                </a:r>
              </a:p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&gt;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1800" b="1" dirty="0">
                  <a:solidFill>
                    <a:schemeClr val="tx1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B7CE3BC9-29D2-84F7-F73A-C94D5C607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643305"/>
                <a:ext cx="11608680" cy="1202334"/>
              </a:xfrm>
              <a:prstGeom prst="rect">
                <a:avLst/>
              </a:prstGeom>
              <a:blipFill>
                <a:blip r:embed="rId4"/>
                <a:stretch>
                  <a:fillRect l="-420" t="-30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BEC2BBFA-BB74-C266-6079-31B14DA40F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089452"/>
                <a:ext cx="11608680" cy="12023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The chain is said to be </a:t>
                </a:r>
                <a:r>
                  <a:rPr lang="en-NZ" altLang="ja-JP" sz="1800" b="1" dirty="0">
                    <a:solidFill>
                      <a:srgbClr val="C00000"/>
                    </a:solidFill>
                  </a:rPr>
                  <a:t>(Harris) Positive Recurrent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if for any non-negligible set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NZ" altLang="ja-JP" sz="18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NZ" altLang="ja-JP" sz="18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b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𝒊𝒏𝒇𝒊𝒏𝒕𝒆𝒍𝒚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𝒐𝒇𝒕𝒆𝒏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1800" b="1" dirty="0">
                  <a:solidFill>
                    <a:schemeClr val="tx1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i.e. the chain will return to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an infinite number of times</a:t>
                </a:r>
              </a:p>
            </p:txBody>
          </p:sp>
        </mc:Choice>
        <mc:Fallback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BEC2BBFA-BB74-C266-6079-31B14DA40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089452"/>
                <a:ext cx="11608680" cy="1202334"/>
              </a:xfrm>
              <a:prstGeom prst="rect">
                <a:avLst/>
              </a:prstGeom>
              <a:blipFill>
                <a:blip r:embed="rId5"/>
                <a:stretch>
                  <a:fillRect l="-420" t="-30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8AE91EA3-9A23-FE47-089D-F2E4976A81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2180"/>
                <a:ext cx="11608680" cy="7621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The chain is said to be </a:t>
                </a:r>
                <a:r>
                  <a:rPr lang="en-NZ" altLang="ja-JP" sz="1800" b="1" dirty="0">
                    <a:solidFill>
                      <a:srgbClr val="C00000"/>
                    </a:solidFill>
                  </a:rPr>
                  <a:t>aperiodic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if for any non-negligible set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</a:t>
                </a:r>
                <a:r>
                  <a:rPr kumimoji="1" lang="en-NZ" altLang="ja-JP" sz="180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g.c.d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of all possible return times to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𝑪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1,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∄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any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𝟐</m:t>
                    </m:r>
                  </m:oMath>
                </a14:m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 the chain can only return to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in multiples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𝒅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steps.</a:t>
                </a:r>
              </a:p>
            </p:txBody>
          </p:sp>
        </mc:Choice>
        <mc:Fallback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8AE91EA3-9A23-FE47-089D-F2E4976A8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2180"/>
                <a:ext cx="11608680" cy="762138"/>
              </a:xfrm>
              <a:prstGeom prst="rect">
                <a:avLst/>
              </a:prstGeom>
              <a:blipFill>
                <a:blip r:embed="rId6"/>
                <a:stretch>
                  <a:fillRect l="-420" t="-48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E4F3A450-799C-5E00-8AB2-50349AF81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365708"/>
                <a:ext cx="11608680" cy="7621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500" dirty="0">
                    <a:solidFill>
                      <a:schemeClr val="bg2">
                        <a:lumMod val="50000"/>
                      </a:schemeClr>
                    </a:solidFill>
                  </a:rPr>
                  <a:t>A sufficient condition for aperiodicity is that </a:t>
                </a:r>
                <a14:m>
                  <m:oMath xmlns:m="http://schemas.openxmlformats.org/officeDocument/2006/math"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5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5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5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5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kumimoji="1" lang="en-NZ" altLang="ja-JP" sz="15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5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in a neighbourhood of </a:t>
                </a:r>
                <a14:m>
                  <m:oMath xmlns:m="http://schemas.openxmlformats.org/officeDocument/2006/math"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𝒙</m:t>
                    </m:r>
                  </m:oMath>
                </a14:m>
                <a:r>
                  <a:rPr kumimoji="1" lang="en-NZ" altLang="ja-JP" sz="15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br>
                  <a:rPr kumimoji="1" lang="en-NZ" altLang="ja-JP" sz="15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NZ" altLang="ja-JP" sz="15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This means that the chain</a:t>
                </a:r>
                <a:r>
                  <a:rPr kumimoji="1" lang="en-NZ" altLang="ja-JP" sz="1500" u="none" strike="noStrike" kern="1200" cap="none" spc="0" normalizeH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can remain in a neighbourhood of </a:t>
                </a:r>
                <a14:m>
                  <m:oMath xmlns:m="http://schemas.openxmlformats.org/officeDocument/2006/math">
                    <m:r>
                      <a:rPr lang="en-NZ" altLang="ja-JP" sz="15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5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500" u="none" strike="noStrike" kern="1200" cap="none" spc="0" normalizeH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an arbitrary number of steps before visiting other sets.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500" baseline="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is the analogue of self-transitions </a:t>
                </a:r>
                <a:r>
                  <a:rPr lang="en-NZ" altLang="ja-JP" sz="150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within discrete state space Markov chains.</a:t>
                </a:r>
                <a:endParaRPr kumimoji="1" lang="en-NZ" altLang="ja-JP" sz="15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E4F3A450-799C-5E00-8AB2-50349AF8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365708"/>
                <a:ext cx="11608680" cy="762138"/>
              </a:xfrm>
              <a:prstGeom prst="rect">
                <a:avLst/>
              </a:prstGeom>
              <a:blipFill>
                <a:blip r:embed="rId7"/>
                <a:stretch>
                  <a:fillRect l="-210" t="-1600" b="-112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0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EDC796D-43EB-C733-FC05-8CCDE1CF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777" y="3927618"/>
            <a:ext cx="3777266" cy="8572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3449A0-875E-F147-F78F-B95D897C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205" y="3060986"/>
            <a:ext cx="3777266" cy="8572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A5AE3E-18D8-70DF-FAAC-69610382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6205" y="3492091"/>
            <a:ext cx="3777266" cy="857225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8.2d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68512"/>
                <a:ext cx="11608680" cy="11059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In </a:t>
                </a:r>
                <a:r>
                  <a:rPr kumimoji="1" lang="en-NZ" altLang="ja-JP" sz="20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Section 8.2a </a:t>
                </a: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we defined the 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Markov chain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20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20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20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20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20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by the transition kernel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NZ" altLang="ja-JP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</m:den>
                    </m:f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NZ" altLang="ja-JP" sz="20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NZ" altLang="ja-JP" sz="20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NZ" altLang="ja-JP" sz="20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p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  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and initial state</a:t>
                </a:r>
                <a:r>
                  <a:rPr lang="en-NZ" altLang="ja-JP" sz="2000" b="1" i="1" dirty="0">
                    <a:solidFill>
                      <a:prstClr val="black"/>
                    </a:solidFill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NZ" altLang="ja-JP" sz="2000" b="1" i="1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68512"/>
                <a:ext cx="11608680" cy="1105948"/>
              </a:xfrm>
              <a:prstGeom prst="rect">
                <a:avLst/>
              </a:prstGeom>
              <a:blipFill>
                <a:blip r:embed="rId4"/>
                <a:stretch>
                  <a:fillRect l="-5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06782-4F51-EF3A-2043-16A8823B3CD9}"/>
              </a:ext>
            </a:extLst>
          </p:cNvPr>
          <p:cNvCxnSpPr>
            <a:cxnSpLocks/>
          </p:cNvCxnSpPr>
          <p:nvPr/>
        </p:nvCxnSpPr>
        <p:spPr>
          <a:xfrm>
            <a:off x="805217" y="2357651"/>
            <a:ext cx="0" cy="301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D4A4AB-85C0-83AE-8214-F2FF42C746CA}"/>
              </a:ext>
            </a:extLst>
          </p:cNvPr>
          <p:cNvCxnSpPr>
            <a:cxnSpLocks/>
          </p:cNvCxnSpPr>
          <p:nvPr/>
        </p:nvCxnSpPr>
        <p:spPr>
          <a:xfrm>
            <a:off x="559559" y="3865728"/>
            <a:ext cx="36439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ABF164-4EAB-A0E6-A749-F1401F3BE9F3}"/>
              </a:ext>
            </a:extLst>
          </p:cNvPr>
          <p:cNvCxnSpPr/>
          <p:nvPr/>
        </p:nvCxnSpPr>
        <p:spPr>
          <a:xfrm>
            <a:off x="1807633" y="2357651"/>
            <a:ext cx="0" cy="30161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94A747-46F1-EDA2-B3AB-254F5AE84976}"/>
              </a:ext>
            </a:extLst>
          </p:cNvPr>
          <p:cNvCxnSpPr/>
          <p:nvPr/>
        </p:nvCxnSpPr>
        <p:spPr>
          <a:xfrm>
            <a:off x="2706206" y="2412625"/>
            <a:ext cx="0" cy="301615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B6A0944D-5DE3-D8B7-6119-381006062E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1747" y="3935968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B6A0944D-5DE3-D8B7-6119-38100606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7" y="3935968"/>
                <a:ext cx="636896" cy="345085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217C28E0-D97E-8BCC-A5C7-2A50C9D7F2C0}"/>
              </a:ext>
            </a:extLst>
          </p:cNvPr>
          <p:cNvSpPr txBox="1">
            <a:spLocks/>
          </p:cNvSpPr>
          <p:nvPr/>
        </p:nvSpPr>
        <p:spPr>
          <a:xfrm>
            <a:off x="1522413" y="3865728"/>
            <a:ext cx="636896" cy="3450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20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=1</a:t>
            </a:r>
            <a:endParaRPr lang="en-NZ" altLang="ja-JP" sz="2000" b="1" i="1" dirty="0">
              <a:solidFill>
                <a:prstClr val="black"/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B789820-A81E-30FB-92D6-1BF0A735594E}"/>
              </a:ext>
            </a:extLst>
          </p:cNvPr>
          <p:cNvSpPr txBox="1">
            <a:spLocks/>
          </p:cNvSpPr>
          <p:nvPr/>
        </p:nvSpPr>
        <p:spPr>
          <a:xfrm>
            <a:off x="2411054" y="3865727"/>
            <a:ext cx="636896" cy="3450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20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t</a:t>
            </a:r>
            <a:r>
              <a:rPr kumimoji="1" lang="en-NZ" altLang="ja-JP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=2</a:t>
            </a:r>
            <a:endParaRPr lang="en-NZ" altLang="ja-JP" sz="2000" b="1" i="1" dirty="0">
              <a:solidFill>
                <a:prstClr val="black"/>
              </a:solidFill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27DBB2-D0BB-8186-E036-F21B210BEB80}"/>
              </a:ext>
            </a:extLst>
          </p:cNvPr>
          <p:cNvSpPr/>
          <p:nvPr/>
        </p:nvSpPr>
        <p:spPr>
          <a:xfrm>
            <a:off x="680207" y="3756545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4B6282-982C-4A37-2D7D-44ED8B4C6ACB}"/>
              </a:ext>
            </a:extLst>
          </p:cNvPr>
          <p:cNvSpPr/>
          <p:nvPr/>
        </p:nvSpPr>
        <p:spPr>
          <a:xfrm>
            <a:off x="1698449" y="3301313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35D82F-6A1C-95E6-7A00-14AE161BDBE1}"/>
              </a:ext>
            </a:extLst>
          </p:cNvPr>
          <p:cNvSpPr/>
          <p:nvPr/>
        </p:nvSpPr>
        <p:spPr>
          <a:xfrm>
            <a:off x="2630941" y="4247048"/>
            <a:ext cx="218364" cy="2183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Placeholder 5">
                <a:extLst>
                  <a:ext uri="{FF2B5EF4-FFF2-40B4-BE49-F238E27FC236}">
                    <a16:creationId xmlns:a16="http://schemas.microsoft.com/office/drawing/2014/main" id="{C214C048-B4FD-219A-0CA5-2BC78CB130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4611" y="2885989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 Placeholder 5">
                <a:extLst>
                  <a:ext uri="{FF2B5EF4-FFF2-40B4-BE49-F238E27FC236}">
                    <a16:creationId xmlns:a16="http://schemas.microsoft.com/office/drawing/2014/main" id="{C214C048-B4FD-219A-0CA5-2BC78CB13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611" y="2885989"/>
                <a:ext cx="636896" cy="34508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BB76C0DF-9935-0C84-FD59-A06C36420C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0942" y="4458492"/>
                <a:ext cx="636896" cy="3450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41" name="Text Placeholder 5">
                <a:extLst>
                  <a:ext uri="{FF2B5EF4-FFF2-40B4-BE49-F238E27FC236}">
                    <a16:creationId xmlns:a16="http://schemas.microsoft.com/office/drawing/2014/main" id="{BB76C0DF-9935-0C84-FD59-A06C36420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942" y="4458492"/>
                <a:ext cx="636896" cy="34508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52C6E505-2523-5356-3F9C-F480D44F843D}"/>
              </a:ext>
            </a:extLst>
          </p:cNvPr>
          <p:cNvSpPr txBox="1">
            <a:spLocks/>
          </p:cNvSpPr>
          <p:nvPr/>
        </p:nvSpPr>
        <p:spPr>
          <a:xfrm>
            <a:off x="4780472" y="2429683"/>
            <a:ext cx="7147671" cy="10899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However, there is no reason that the chain should have to start at 0.</a:t>
            </a:r>
            <a:b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Indeed, we could have started the chain at any other point on the real line.</a:t>
            </a:r>
            <a:endParaRPr lang="en-NZ" altLang="ja-JP" sz="2000" dirty="0">
              <a:solidFill>
                <a:prstClr val="black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609C8BEB-EE2A-F832-F2A7-D36837C83A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109" y="3825428"/>
                <a:ext cx="7147671" cy="7340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general, the starting state of a Markov chain is a random variable defined by a probability density function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𝝍</m:t>
                    </m:r>
                    <m:d>
                      <m:d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𝒚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: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→[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 ∞)</m:t>
                    </m:r>
                  </m:oMath>
                </a14:m>
                <a:r>
                  <a:rPr lang="en-NZ" altLang="ja-JP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2000" dirty="0">
                    <a:solidFill>
                      <a:prstClr val="black"/>
                    </a:solidFill>
                  </a:rPr>
                  <a:t>with the properties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609C8BEB-EE2A-F832-F2A7-D36837C83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09" y="3825428"/>
                <a:ext cx="7147671" cy="734032"/>
              </a:xfrm>
              <a:prstGeom prst="rect">
                <a:avLst/>
              </a:prstGeom>
              <a:blipFill>
                <a:blip r:embed="rId8"/>
                <a:stretch>
                  <a:fillRect l="-853" t="-5000" r="-1364" b="-525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DE3C507C-8577-6D46-13B4-D0337627C9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45089" y="4865211"/>
                <a:ext cx="3348786" cy="67067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lvl="0" indent="-5143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kumimoji="1" lang="en-NZ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𝝍</m:t>
                    </m:r>
                    <m:d>
                      <m:dPr>
                        <m:ctrlP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𝒚</m:t>
                        </m:r>
                      </m:e>
                    </m:d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≥</m:t>
                    </m:r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𝟎</m:t>
                    </m:r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    ∀  </m:t>
                    </m:r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𝒚</m:t>
                    </m:r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∈</m:t>
                    </m:r>
                    <m:r>
                      <a:rPr kumimoji="1" lang="en-NZ" altLang="ja-JP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</m:oMath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514350" lvl="0" indent="-5143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lang="en-US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naryPr>
                      <m:sub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𝑺</m:t>
                        </m:r>
                      </m:sub>
                      <m:sup/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𝝍</m:t>
                        </m:r>
                        <m:d>
                          <m:dPr>
                            <m:ctrlP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r>
                              <a:rPr lang="en-NZ" altLang="ja-JP" sz="20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𝒚</m:t>
                            </m:r>
                          </m:e>
                        </m:d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𝒅𝒚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 =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e>
                    </m:nary>
                  </m:oMath>
                </a14:m>
                <a:endParaRPr kumimoji="1" lang="en-US" altLang="ja-JP" sz="2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DE3C507C-8577-6D46-13B4-D0337627C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089" y="4865211"/>
                <a:ext cx="3348786" cy="670677"/>
              </a:xfrm>
              <a:prstGeom prst="rect">
                <a:avLst/>
              </a:prstGeom>
              <a:blipFill>
                <a:blip r:embed="rId9"/>
                <a:stretch>
                  <a:fillRect l="-2004" t="-48182" b="-14545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97BE2EAD-51B0-6873-1E2B-EAEACCDC4E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109" y="5927079"/>
                <a:ext cx="7147671" cy="7340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2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lang="en-NZ" altLang="ja-JP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~ 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𝝍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(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𝒚</m:t>
                    </m:r>
                    <m:r>
                      <a:rPr lang="en-NZ" altLang="ja-JP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)</m:t>
                    </m:r>
                  </m:oMath>
                </a14:m>
                <a:endParaRPr lang="en-NZ" altLang="ja-JP" sz="2000" b="1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97BE2EAD-51B0-6873-1E2B-EAEACCDC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09" y="5927079"/>
                <a:ext cx="7147671" cy="734032"/>
              </a:xfrm>
              <a:prstGeom prst="rect">
                <a:avLst/>
              </a:prstGeom>
              <a:blipFill>
                <a:blip r:embed="rId10"/>
                <a:stretch>
                  <a:fillRect l="-853" t="-247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65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85425"/>
                <a:ext cx="11608680" cy="11406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are random variables in their own right.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We may ask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distributed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endParaRPr kumimoji="1" lang="en-NZ" altLang="ja-JP" sz="180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85425"/>
                <a:ext cx="11608680" cy="1140600"/>
              </a:xfrm>
              <a:prstGeom prst="rect">
                <a:avLst/>
              </a:prstGeom>
              <a:blipFill>
                <a:blip r:embed="rId3"/>
                <a:stretch>
                  <a:fillRect l="-420" b="-53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Again, t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completely determined by the transition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kernel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and the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2817012-CB20-B3CD-7E90-DD618C49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170881"/>
                <a:ext cx="11608680" cy="456189"/>
              </a:xfrm>
              <a:prstGeom prst="rect">
                <a:avLst/>
              </a:prstGeom>
              <a:blipFill>
                <a:blip r:embed="rId4"/>
                <a:stretch>
                  <a:fillRect l="-420" t="-4000" b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8047" y="2771926"/>
                <a:ext cx="11000095" cy="4561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𝝍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then</a:t>
                </a: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47" y="2771926"/>
                <a:ext cx="11000095" cy="456189"/>
              </a:xfrm>
              <a:prstGeom prst="rect">
                <a:avLst/>
              </a:prstGeom>
              <a:blipFill>
                <a:blip r:embed="rId5"/>
                <a:stretch>
                  <a:fillRect l="-443" t="-5333" b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8.2d – Probability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FAC258-366D-E558-5CE1-33CAB389A6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7" y="3239918"/>
                <a:ext cx="1038594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FAC258-366D-E558-5CE1-33CAB389A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7" y="3239918"/>
                <a:ext cx="10385945" cy="6753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71962F54-10FE-E8DE-77C0-E8D34E66E4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6" y="3915261"/>
                <a:ext cx="1038594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71962F54-10FE-E8DE-77C0-E8D34E66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6" y="3915261"/>
                <a:ext cx="10385945" cy="675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7419F63-0DFC-7C23-AAE7-F3C4397795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6" y="4940078"/>
                <a:ext cx="5513698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 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7419F63-0DFC-7C23-AAE7-F3C439779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6" y="4940078"/>
                <a:ext cx="5513698" cy="6753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4EB900FB-F234-110A-99AC-0B2AE66998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6828" y="4534015"/>
                <a:ext cx="782473" cy="5149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4EB900FB-F234-110A-99AC-0B2AE6699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828" y="4534015"/>
                <a:ext cx="782473" cy="51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95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/>
      <p:bldP spid="15" grpId="0"/>
      <p:bldP spid="16" grpId="0"/>
      <p:bldP spid="17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85424"/>
                <a:ext cx="11608680" cy="13200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 probability density function</a:t>
                </a:r>
                <a:r>
                  <a:rPr lang="en-NZ" altLang="ja-JP" sz="18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𝒚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: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𝟎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 ∞</m:t>
                        </m:r>
                      </m:e>
                    </m:d>
                  </m:oMath>
                </a14:m>
                <a:r>
                  <a:rPr kumimoji="1" lang="en-NZ" altLang="ja-JP" sz="1800" b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said to be a stationary distribution for the chain if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𝝅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𝒚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 </m:t>
                      </m:r>
                      <m:nary>
                        <m:naryPr>
                          <m:supHide m:val="on"/>
                          <m:ctrlP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naryPr>
                        <m:sub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𝒌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𝒙</m:t>
                              </m:r>
                              <m:r>
                                <a:rPr kumimoji="1" lang="en-NZ" altLang="ja-JP" sz="1800" b="1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,</m:t>
                              </m:r>
                              <m:r>
                                <a:rPr kumimoji="1" lang="en-NZ" altLang="ja-JP" sz="1800" b="1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𝒚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𝝅</m:t>
                          </m:r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e>
                      </m:nary>
                      <m:r>
                        <a:rPr kumimoji="1" lang="en-NZ" altLang="ja-JP" sz="1800" b="1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r>
                        <a:rPr kumimoji="1" lang="en-NZ" altLang="ja-JP" sz="1800" b="1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𝒅𝒙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85424"/>
                <a:ext cx="11608680" cy="1320039"/>
              </a:xfrm>
              <a:prstGeom prst="rect">
                <a:avLst/>
              </a:prstGeom>
              <a:blipFill>
                <a:blip r:embed="rId3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32817012-CB20-B3CD-7E90-DD618C49B5EB}"/>
              </a:ext>
            </a:extLst>
          </p:cNvPr>
          <p:cNvSpPr txBox="1">
            <a:spLocks/>
          </p:cNvSpPr>
          <p:nvPr/>
        </p:nvSpPr>
        <p:spPr>
          <a:xfrm>
            <a:off x="319463" y="2247507"/>
            <a:ext cx="11608680" cy="456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Again, stationary distributions have the following very useful property:</a:t>
            </a:r>
            <a:endParaRPr lang="en-NZ" altLang="ja-JP" sz="1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8046" y="2635566"/>
                <a:ext cx="11000095" cy="4561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then</a:t>
                </a: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34B812D5-01C8-7345-C404-BBE5573C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46" y="2635566"/>
                <a:ext cx="11000095" cy="456189"/>
              </a:xfrm>
              <a:prstGeom prst="rect">
                <a:avLst/>
              </a:prstGeom>
              <a:blipFill>
                <a:blip r:embed="rId4"/>
                <a:stretch>
                  <a:fillRect l="-443" t="-4000" b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8.2e – Stationary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FAC258-366D-E558-5CE1-33CAB389A6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5" y="3048484"/>
                <a:ext cx="1038594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FAC258-366D-E558-5CE1-33CAB389A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5" y="3048484"/>
                <a:ext cx="10385945" cy="6753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71962F54-10FE-E8DE-77C0-E8D34E66E4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5" y="3765389"/>
                <a:ext cx="1038594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d>
                                    <m:d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d>
                                    <m:d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d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.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𝒅𝒛</m:t>
                                  </m:r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71962F54-10FE-E8DE-77C0-E8D34E66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5" y="3765389"/>
                <a:ext cx="10385945" cy="6753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D178B6C-A040-F5A4-E127-94BABF7BFF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233" y="4490665"/>
                <a:ext cx="9689907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  <m:sup/>
                                <m:e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d>
                                    <m:dPr>
                                      <m:ctrlP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1800" b="1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18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18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𝒅𝒙</m:t>
                                  </m:r>
                                </m:e>
                              </m:nary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nary>
                        <m:naryPr>
                          <m:supHide m:val="on"/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nary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𝒅𝒛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D178B6C-A040-F5A4-E127-94BABF7BF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33" y="4490665"/>
                <a:ext cx="9689907" cy="675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6499AF46-6FF2-393C-3D36-98BB765FFB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5" y="5569521"/>
                <a:ext cx="5513698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=  …  =   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6499AF46-6FF2-393C-3D36-98BB765F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5" y="5569521"/>
                <a:ext cx="5513698" cy="6753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DDE1CAE4-06C0-E3BF-D592-D8F254933A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6827" y="5163458"/>
                <a:ext cx="782473" cy="5149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NZ" altLang="ja-JP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DDE1CAE4-06C0-E3BF-D592-D8F254933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827" y="5163458"/>
                <a:ext cx="782473" cy="51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6DD6C82-71AA-F8E1-19D7-58A5EE848D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8221" y="5516164"/>
                <a:ext cx="4831307" cy="98489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600" dirty="0">
                    <a:solidFill>
                      <a:srgbClr val="C00000"/>
                    </a:solidFill>
                  </a:rPr>
                  <a:t> then each random variable in the chain </a:t>
                </a:r>
                <a:br>
                  <a:rPr lang="en-NZ" altLang="ja-JP" sz="1600" dirty="0">
                    <a:solidFill>
                      <a:srgbClr val="C00000"/>
                    </a:solidFill>
                  </a:rPr>
                </a:br>
                <a:r>
                  <a:rPr lang="en-NZ" altLang="ja-JP" sz="1600" dirty="0">
                    <a:solidFill>
                      <a:srgbClr val="C00000"/>
                    </a:solidFill>
                  </a:rPr>
                  <a:t>is also distributed according to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NZ" altLang="ja-JP" sz="16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NZ" altLang="ja-JP" sz="1600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rgbClr val="C00000"/>
                    </a:solidFill>
                  </a:rPr>
                  <a:t>This is why 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600" dirty="0">
                    <a:solidFill>
                      <a:srgbClr val="C00000"/>
                    </a:solidFill>
                  </a:rPr>
                  <a:t> is called a </a:t>
                </a:r>
                <a:r>
                  <a:rPr lang="en-NZ" altLang="ja-JP" sz="1600" i="1" dirty="0">
                    <a:solidFill>
                      <a:srgbClr val="C00000"/>
                    </a:solidFill>
                  </a:rPr>
                  <a:t>stationary</a:t>
                </a:r>
                <a:r>
                  <a:rPr lang="en-NZ" altLang="ja-JP" sz="1600" dirty="0">
                    <a:solidFill>
                      <a:srgbClr val="C00000"/>
                    </a:solidFill>
                  </a:rPr>
                  <a:t> distribution.</a:t>
                </a: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16DD6C82-71AA-F8E1-19D7-58A5EE84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221" y="5516164"/>
                <a:ext cx="4831307" cy="984898"/>
              </a:xfrm>
              <a:prstGeom prst="rect">
                <a:avLst/>
              </a:prstGeom>
              <a:blipFill>
                <a:blip r:embed="rId10"/>
                <a:stretch>
                  <a:fillRect l="-631" t="-62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03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/>
      <p:bldP spid="15" grpId="0"/>
      <p:bldP spid="16" grpId="0"/>
      <p:bldP spid="19" grpId="0"/>
      <p:bldP spid="20" grpId="0"/>
      <p:bldP spid="21" grpId="0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85425"/>
                <a:ext cx="1160868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Stationary distributions are useful because </a:t>
                </a:r>
                <a:r>
                  <a:rPr lang="en-NZ" altLang="ja-JP" sz="1800" b="1" u="sng" dirty="0">
                    <a:solidFill>
                      <a:srgbClr val="C00000"/>
                    </a:solidFill>
                  </a:rPr>
                  <a:t>IF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 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59" name="Text Placeholder 5">
                <a:extLst>
                  <a:ext uri="{FF2B5EF4-FFF2-40B4-BE49-F238E27FC236}">
                    <a16:creationId xmlns:a16="http://schemas.microsoft.com/office/drawing/2014/main" id="{8479C17F-E03C-6AEB-1F3E-44257C645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85425"/>
                <a:ext cx="11608680" cy="365125"/>
              </a:xfrm>
              <a:prstGeom prst="rect">
                <a:avLst/>
              </a:prstGeom>
              <a:blipFill>
                <a:blip r:embed="rId3"/>
                <a:stretch>
                  <a:fillRect l="-420" t="-5000" b="-3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8.2f – Limiting Distributions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D4054A4-7709-6155-AB03-FBE99A558A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349197"/>
                <a:ext cx="11608680" cy="102566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However, we are going to need that…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𝒌</m:t>
                          </m:r>
                        </m:e>
                        <m:sup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𝒚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→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𝝅</m:t>
                      </m:r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𝒚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𝒂𝒔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𝒏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→∞</m:t>
                      </m:r>
                    </m:oMath>
                  </m:oMathPara>
                </a14:m>
                <a:endParaRPr kumimoji="1" lang="en-NZ" altLang="ja-JP" sz="18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 irrespective of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distributed.</a:t>
                </a:r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D4054A4-7709-6155-AB03-FBE99A558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349197"/>
                <a:ext cx="11608680" cy="1025660"/>
              </a:xfrm>
              <a:prstGeom prst="rect">
                <a:avLst/>
              </a:prstGeom>
              <a:blipFill>
                <a:blip r:embed="rId4"/>
                <a:stretch>
                  <a:fillRect l="-420" t="-2959" b="-118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B775FDF-79C5-0B16-817B-AF59F3B9D5F7}"/>
              </a:ext>
            </a:extLst>
          </p:cNvPr>
          <p:cNvSpPr txBox="1">
            <a:spLocks/>
          </p:cNvSpPr>
          <p:nvPr/>
        </p:nvSpPr>
        <p:spPr>
          <a:xfrm>
            <a:off x="319463" y="247350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</a:t>
            </a:r>
            <a:r>
              <a:rPr lang="en-NZ" altLang="ja-JP" sz="1800" b="1" u="sng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8</a:t>
            </a: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801695"/>
                <a:ext cx="11608680" cy="3380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NZ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If the chain is </a:t>
                </a:r>
                <a:r>
                  <a:rPr kumimoji="1" lang="en-NZ" altLang="ja-JP" sz="1800" b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irreducible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:r>
                  <a:rPr kumimoji="1" lang="en-NZ" altLang="ja-JP" sz="1800" b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ergodic</a:t>
                </a: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(Harris positive recurrent and aperiodic)</a:t>
                </a:r>
              </a:p>
              <a:p>
                <a:pPr marL="285750" lvl="0" indent="-285750">
                  <a:lnSpc>
                    <a:spcPct val="100000"/>
                  </a:lnSpc>
                  <a:buFont typeface="Symbol" panose="05050102010706020507" pitchFamily="18" charset="2"/>
                  <a:buChar char="Þ"/>
                  <a:defRPr/>
                </a:pP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∃</m:t>
                    </m:r>
                  </m:oMath>
                </a14:m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 unique limiting distribution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∞</m:t>
                        </m:r>
                      </m:e>
                    </m:d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 that:</a:t>
                </a:r>
              </a:p>
              <a:p>
                <a:pPr marL="1085793" lvl="1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kumimoji="1" lang="en-NZ" altLang="ja-JP" sz="18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nary>
                      <m:naryPr>
                        <m:supHide m:val="on"/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/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d>
                          <m:dPr>
                            <m:ctrlP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𝒅𝒙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  <a:p>
                <a:pPr marL="1085793" lvl="1" indent="-400050">
                  <a:lnSpc>
                    <a:spcPct val="100000"/>
                  </a:lnSpc>
                  <a:buFont typeface="+mj-lt"/>
                  <a:buAutoNum type="romanLcPeriod"/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NZ" altLang="ja-JP" sz="1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		i.e. the n</a:t>
                </a:r>
                <a:r>
                  <a:rPr lang="en-NZ" altLang="ja-JP" sz="1600" baseline="30000" dirty="0">
                    <a:solidFill>
                      <a:schemeClr val="bg2">
                        <a:lumMod val="50000"/>
                      </a:schemeClr>
                    </a:solidFill>
                  </a:rPr>
                  <a:t>th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-step transition kernel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d>
                          <m:dPr>
                            <m:ctrlP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6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converges to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in the total variation norm such that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b="1" dirty="0">
                    <a:solidFill>
                      <a:schemeClr val="bg2">
                        <a:lumMod val="50000"/>
                      </a:schemeClr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∃  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NZ" altLang="ja-JP" sz="1600" b="1" dirty="0">
                    <a:solidFill>
                      <a:schemeClr val="bg2">
                        <a:lumMod val="50000"/>
                      </a:schemeClr>
                    </a:solidFill>
                  </a:rPr>
                  <a:t> 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such that if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NZ" altLang="ja-JP" sz="1600" b="1" dirty="0">
                    <a:solidFill>
                      <a:schemeClr val="bg2">
                        <a:lumMod val="50000"/>
                      </a:schemeClr>
                    </a:solidFill>
                  </a:rPr>
                  <a:t>  </a:t>
                </a:r>
                <a:r>
                  <a:rPr lang="en-NZ" altLang="ja-JP" sz="1600" dirty="0">
                    <a:solidFill>
                      <a:schemeClr val="bg2">
                        <a:lumMod val="50000"/>
                      </a:schemeClr>
                    </a:solidFill>
                  </a:rPr>
                  <a:t>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𝑻𝑽</m:t>
                        </m:r>
                      </m:sub>
                    </m:sSub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 </m:t>
                    </m:r>
                    <m:func>
                      <m:funcPr>
                        <m:ctrlP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NZ" altLang="ja-JP" sz="1600" b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𝐬𝐮𝐩</m:t>
                            </m:r>
                          </m:e>
                          <m:lim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lim>
                        </m:limLow>
                      </m:fName>
                      <m:e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d>
                              <m:dPr>
                                <m:ctrlP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1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NZ" altLang="ja-JP" sz="1600" b="1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NZ" altLang="ja-JP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 &lt;</m:t>
                    </m:r>
                    <m:r>
                      <a:rPr lang="en-NZ" altLang="ja-JP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endParaRPr lang="en-NZ" altLang="ja-JP" sz="18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Furthermore,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is a probability density function satisfying equation (</a:t>
                </a:r>
                <a:r>
                  <a:rPr lang="en-NZ" altLang="ja-JP" sz="1800" dirty="0" err="1">
                    <a:solidFill>
                      <a:prstClr val="black"/>
                    </a:solidFill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)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such that in order to find the limiting distribution it suffices to find a solution to equation (</a:t>
                </a:r>
                <a:r>
                  <a:rPr lang="en-NZ" altLang="ja-JP" sz="1800" dirty="0" err="1">
                    <a:solidFill>
                      <a:prstClr val="black"/>
                    </a:solidFill>
                  </a:rPr>
                  <a:t>i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).</a:t>
                </a:r>
                <a:br>
                  <a:rPr lang="en-NZ" altLang="ja-JP" sz="1800" b="1" dirty="0">
                    <a:solidFill>
                      <a:prstClr val="black"/>
                    </a:solidFill>
                  </a:rPr>
                </a:br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801695"/>
                <a:ext cx="11608680" cy="3380961"/>
              </a:xfrm>
              <a:prstGeom prst="rect">
                <a:avLst/>
              </a:prstGeom>
              <a:blipFill>
                <a:blip r:embed="rId5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94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8.2g – Reversibility / Detailed Balance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B775FDF-79C5-0B16-817B-AF59F3B9D5F7}"/>
              </a:ext>
            </a:extLst>
          </p:cNvPr>
          <p:cNvSpPr txBox="1">
            <a:spLocks/>
          </p:cNvSpPr>
          <p:nvPr/>
        </p:nvSpPr>
        <p:spPr>
          <a:xfrm>
            <a:off x="291660" y="98888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</a:t>
            </a:r>
            <a:r>
              <a:rPr lang="en-NZ" altLang="ja-JP" sz="1800" b="1" u="sng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9</a:t>
            </a: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60" y="1317075"/>
                <a:ext cx="11608680" cy="14397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an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irreducible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and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ergodic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(Harris positive recurrent and aperiodic)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 If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reversible / exhibits detailed balance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with respect to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k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, i.e.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is a limiting distribution for the chain.</a:t>
                </a:r>
                <a:br>
                  <a:rPr lang="en-NZ" altLang="ja-JP" sz="1800" b="1" dirty="0">
                    <a:solidFill>
                      <a:prstClr val="black"/>
                    </a:solidFill>
                  </a:rPr>
                </a:br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60" y="1317075"/>
                <a:ext cx="11608680" cy="1439773"/>
              </a:xfrm>
              <a:prstGeom prst="rect">
                <a:avLst/>
              </a:prstGeom>
              <a:blipFill>
                <a:blip r:embed="rId3"/>
                <a:stretch>
                  <a:fillRect l="-473" b="-12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F4F8693-98BE-A0F3-D56C-95F978CF235D}"/>
              </a:ext>
            </a:extLst>
          </p:cNvPr>
          <p:cNvSpPr txBox="1">
            <a:spLocks/>
          </p:cNvSpPr>
          <p:nvPr/>
        </p:nvSpPr>
        <p:spPr>
          <a:xfrm>
            <a:off x="319463" y="302335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Proof: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BA40B15-43AC-E24D-13C3-D354DBA6ED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334" y="3511947"/>
                <a:ext cx="579802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=     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BA40B15-43AC-E24D-13C3-D354DBA6E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34" y="3511947"/>
                <a:ext cx="5798024" cy="365126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477FF6A-D3D2-0F9C-E0E0-64489FA65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6076" y="4034470"/>
                <a:ext cx="8821697" cy="80339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 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477FF6A-D3D2-0F9C-E0E0-64489FA65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76" y="4034470"/>
                <a:ext cx="8821697" cy="803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250A1A-DAA2-6B9A-B939-84FBC2DE2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5" y="4861986"/>
                <a:ext cx="10260053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By 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Theorem 8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this is enough to show that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schemeClr val="tx1"/>
                    </a:solidFill>
                  </a:rPr>
                  <a:t> is the limiting distribution.</a:t>
                </a:r>
              </a:p>
            </p:txBody>
          </p:sp>
        </mc:Choice>
        <mc:Fallback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250A1A-DAA2-6B9A-B939-84FBC2DE2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5" y="4861986"/>
                <a:ext cx="10260053" cy="365126"/>
              </a:xfrm>
              <a:prstGeom prst="rect">
                <a:avLst/>
              </a:prstGeom>
              <a:blipFill>
                <a:blip r:embed="rId6"/>
                <a:stretch>
                  <a:fillRect l="-475" t="-10169" b="-2881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75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8.2g – Reversibility / Detailed Balance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8.2 – Continuous State Space MCs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B775FDF-79C5-0B16-817B-AF59F3B9D5F7}"/>
              </a:ext>
            </a:extLst>
          </p:cNvPr>
          <p:cNvSpPr txBox="1">
            <a:spLocks/>
          </p:cNvSpPr>
          <p:nvPr/>
        </p:nvSpPr>
        <p:spPr>
          <a:xfrm>
            <a:off x="291660" y="98888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Theorem </a:t>
            </a:r>
            <a:r>
              <a:rPr lang="en-NZ" altLang="ja-JP" sz="1800" b="1" u="sng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9</a:t>
            </a:r>
            <a:r>
              <a:rPr kumimoji="1" lang="en-NZ" altLang="ja-JP" sz="18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:</a:t>
            </a:r>
            <a:endParaRPr kumimoji="1" lang="en-US" altLang="ja-JP" sz="1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60" y="1317075"/>
                <a:ext cx="11608680" cy="14397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Let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NZ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be an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irreducible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and </a:t>
                </a:r>
                <a:r>
                  <a:rPr lang="en-NZ" altLang="ja-JP" sz="1800" b="1" dirty="0">
                    <a:solidFill>
                      <a:prstClr val="black"/>
                    </a:solidFill>
                  </a:rPr>
                  <a:t>ergodic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(Harris positive recurrent and aperiodic)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Markov chain with continuous state space </a:t>
                </a:r>
                <a:r>
                  <a:rPr lang="en-NZ" altLang="ja-JP" sz="1800" b="1" i="1" dirty="0">
                    <a:solidFill>
                      <a:schemeClr val="tx1"/>
                    </a:solidFill>
                  </a:rPr>
                  <a:t>S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and a transition kernel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⋅ </m:t>
                        </m:r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∞</m:t>
                        </m:r>
                      </m:e>
                    </m:d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 If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reversible / exhibits detailed balance 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with respect to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k</a:t>
                </a:r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, i.e.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b="1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is a limiting distribution for the chain.</a:t>
                </a:r>
                <a:br>
                  <a:rPr lang="en-NZ" altLang="ja-JP" sz="1800" b="1" dirty="0">
                    <a:solidFill>
                      <a:prstClr val="black"/>
                    </a:solidFill>
                  </a:rPr>
                </a:br>
                <a:endParaRPr lang="en-NZ" altLang="ja-JP" sz="1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A3C8931-7A7D-F717-7F05-552DAB758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60" y="1317075"/>
                <a:ext cx="11608680" cy="1439773"/>
              </a:xfrm>
              <a:prstGeom prst="rect">
                <a:avLst/>
              </a:prstGeom>
              <a:blipFill>
                <a:blip r:embed="rId3"/>
                <a:stretch>
                  <a:fillRect l="-473" b="-12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F4F8693-98BE-A0F3-D56C-95F978CF235D}"/>
              </a:ext>
            </a:extLst>
          </p:cNvPr>
          <p:cNvSpPr txBox="1">
            <a:spLocks/>
          </p:cNvSpPr>
          <p:nvPr/>
        </p:nvSpPr>
        <p:spPr>
          <a:xfrm>
            <a:off x="319463" y="2865424"/>
            <a:ext cx="174134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Proof:</a:t>
            </a:r>
            <a:endParaRPr kumimoji="1" lang="en-US" altLang="ja-JP" sz="1800" b="1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BA40B15-43AC-E24D-13C3-D354DBA6ED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334" y="3354017"/>
                <a:ext cx="579802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=     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BA40B15-43AC-E24D-13C3-D354DBA6E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34" y="3354017"/>
                <a:ext cx="5798024" cy="365126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477FF6A-D3D2-0F9C-E0E0-64489FA65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6076" y="3876540"/>
                <a:ext cx="8821697" cy="80339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 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pHide m:val="on"/>
                          <m:ctrlP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477FF6A-D3D2-0F9C-E0E0-64489FA65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76" y="3876540"/>
                <a:ext cx="8821697" cy="803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250A1A-DAA2-6B9A-B939-84FBC2DE2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6" y="4597255"/>
                <a:ext cx="10260053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By </a:t>
                </a:r>
                <a:r>
                  <a:rPr lang="en-NZ" altLang="ja-JP" sz="1800" b="1" dirty="0">
                    <a:solidFill>
                      <a:schemeClr val="tx1"/>
                    </a:solidFill>
                  </a:rPr>
                  <a:t>Theorem 8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 this is enough to show that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schemeClr val="tx1"/>
                    </a:solidFill>
                  </a:rPr>
                  <a:t> is the limiting distribution.</a:t>
                </a:r>
              </a:p>
            </p:txBody>
          </p:sp>
        </mc:Choice>
        <mc:Fallback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7250A1A-DAA2-6B9A-B939-84FBC2DE2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6" y="4597255"/>
                <a:ext cx="10260053" cy="365126"/>
              </a:xfrm>
              <a:prstGeom prst="rect">
                <a:avLst/>
              </a:prstGeom>
              <a:blipFill>
                <a:blip r:embed="rId6"/>
                <a:stretch>
                  <a:fillRect l="-475" t="-8333"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18440959-EA47-EAEE-492D-C3D95AA38E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218" y="5193961"/>
                <a:ext cx="11199247" cy="91504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rgbClr val="C00000"/>
                    </a:solidFill>
                  </a:rPr>
                  <a:t>If we have an irreducible and ergodic, continuous state space Markov chain with transition kernel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,.)</m:t>
                    </m:r>
                  </m:oMath>
                </a14:m>
                <a:br>
                  <a:rPr lang="en-NZ" altLang="ja-JP" sz="1800" dirty="0">
                    <a:solidFill>
                      <a:srgbClr val="C00000"/>
                    </a:solidFill>
                  </a:rPr>
                </a:br>
                <a:r>
                  <a:rPr lang="en-NZ" altLang="ja-JP" sz="1800" dirty="0">
                    <a:solidFill>
                      <a:srgbClr val="C00000"/>
                    </a:solidFill>
                  </a:rPr>
                  <a:t>and if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NZ" altLang="ja-JP" sz="18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srgbClr val="C00000"/>
                    </a:solidFill>
                  </a:rPr>
                  <a:t> exhibits detailed balance with respect to </a:t>
                </a:r>
                <a:r>
                  <a:rPr lang="en-NZ" altLang="ja-JP" sz="1800" b="1" i="1" dirty="0">
                    <a:solidFill>
                      <a:srgbClr val="C00000"/>
                    </a:solidFill>
                  </a:rPr>
                  <a:t>k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rgbClr val="C00000"/>
                    </a:solidFill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b="1" dirty="0">
                    <a:solidFill>
                      <a:srgbClr val="C00000"/>
                    </a:solidFill>
                  </a:rPr>
                  <a:t> </a:t>
                </a:r>
                <a:r>
                  <a:rPr lang="en-NZ" altLang="ja-JP" sz="1800" dirty="0">
                    <a:solidFill>
                      <a:srgbClr val="C00000"/>
                    </a:solidFill>
                  </a:rPr>
                  <a:t>as</a:t>
                </a:r>
                <a:r>
                  <a:rPr lang="en-NZ" altLang="ja-JP" sz="1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NZ" altLang="ja-JP" sz="1800" b="1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18440959-EA47-EAEE-492D-C3D95AA38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18" y="5193961"/>
                <a:ext cx="11199247" cy="915045"/>
              </a:xfrm>
              <a:prstGeom prst="rect">
                <a:avLst/>
              </a:prstGeom>
              <a:blipFill>
                <a:blip r:embed="rId7"/>
                <a:stretch>
                  <a:fillRect l="-435" t="-3333" b="-10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42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18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5341</Words>
  <Application>Microsoft Office PowerPoint</Application>
  <PresentationFormat>Widescreen</PresentationFormat>
  <Paragraphs>655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Coo Hew</vt:lpstr>
      <vt:lpstr>Gidole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51</cp:revision>
  <dcterms:created xsi:type="dcterms:W3CDTF">2022-04-14T21:34:16Z</dcterms:created>
  <dcterms:modified xsi:type="dcterms:W3CDTF">2022-09-29T11:10:17Z</dcterms:modified>
</cp:coreProperties>
</file>