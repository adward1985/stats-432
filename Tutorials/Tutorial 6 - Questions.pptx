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6BA3"/>
    <a:srgbClr val="F3F3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6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14/10/2022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62EA98-769C-341F-DDBA-A30F7B5BB2C9}"/>
              </a:ext>
            </a:extLst>
          </p:cNvPr>
          <p:cNvSpPr txBox="1"/>
          <p:nvPr/>
        </p:nvSpPr>
        <p:spPr>
          <a:xfrm>
            <a:off x="4038600" y="4646474"/>
            <a:ext cx="69234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6 – Convergence Diagnostics </a:t>
            </a:r>
            <a:br>
              <a:rPr lang="en-NZ" sz="2800" dirty="0">
                <a:solidFill>
                  <a:schemeClr val="bg1"/>
                </a:solidFill>
              </a:rPr>
            </a:br>
            <a:r>
              <a:rPr lang="en-NZ" sz="2800" dirty="0">
                <a:solidFill>
                  <a:schemeClr val="bg1"/>
                </a:solidFill>
              </a:rPr>
              <a:t>&amp; Gibbs Sampling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Convergence Diagnostics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continuous random variable 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defined by the probability density function…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3287" y="1346900"/>
                <a:ext cx="7105427" cy="90054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6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6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𝟏𝟖</m:t>
                                    </m:r>
                                  </m:den>
                                </m:f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6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NZ" altLang="ja-JP" sz="16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∉[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6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NZ" altLang="ja-JP" sz="16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Z" altLang="ja-JP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287" y="1346900"/>
                <a:ext cx="7105427" cy="9005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2555724"/>
            <a:ext cx="11615496" cy="6131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 a function in R which uses 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uniform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random walk proposal density within the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Metropolis-Hastings algorithm to produce a sequence of observations drawn from the above distribution. Your function must have the following arguments…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2BF756BA-A763-B8D5-AF3E-C43C51DD8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3222729"/>
            <a:ext cx="5105400" cy="412541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(n, start,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proposal_width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DF6E3E6-E697-3962-85F8-307FE96A743E}"/>
              </a:ext>
            </a:extLst>
          </p:cNvPr>
          <p:cNvSpPr txBox="1">
            <a:spLocks/>
          </p:cNvSpPr>
          <p:nvPr/>
        </p:nvSpPr>
        <p:spPr>
          <a:xfrm>
            <a:off x="705080" y="3817887"/>
            <a:ext cx="11486920" cy="118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6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… w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 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defines the number of observations to be drawn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start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defines the starting position of the chain</a:t>
            </a:r>
          </a:p>
          <a:p>
            <a:pPr marL="971493" lvl="1" indent="-28575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ja-JP" sz="1600" b="1" i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</a:t>
            </a:r>
            <a:r>
              <a:rPr kumimoji="1" lang="en-US" altLang="ja-JP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roposal_width</a:t>
            </a:r>
            <a:r>
              <a:rPr kumimoji="1" lang="en-US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defines the width of the uniform proposal density.</a:t>
            </a:r>
          </a:p>
        </p:txBody>
      </p:sp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805989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the algorithm you produced in Question 1 with the parameters…</a:t>
            </a: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30D1A9D-E809-A7E4-E137-98EA52FAF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716" y="1206347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Met_Hat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 =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</a:t>
            </a:r>
            <a:r>
              <a:rPr lang="en-NZ" sz="15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NZ" sz="15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0.15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882DA-CA2B-D294-8C16-97413C5F860B}"/>
              </a:ext>
            </a:extLst>
          </p:cNvPr>
          <p:cNvSpPr txBox="1">
            <a:spLocks/>
          </p:cNvSpPr>
          <p:nvPr/>
        </p:nvSpPr>
        <p:spPr>
          <a:xfrm>
            <a:off x="319464" y="2559732"/>
            <a:ext cx="11615496" cy="36851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Calculate the acceptance rate of the chain.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Construct a time series plot of the post-burn-in elements of the chain.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 an autocorrelation plot of 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the post-burn-in elements of the chain.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Convert the post-burn-in elements of the chain to an ‘</a:t>
            </a:r>
            <a:r>
              <a:rPr lang="en-NZ" altLang="ja-JP" sz="1500" dirty="0" err="1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mcmc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’ object and obtain basic summary statistics.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a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Time Series Diagnostic test on the post-burn-in elements of the chain and construct the associated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Conduct a Gelman &amp; Rubin Multiple Sequence Diagnostic Test using four separate chains with starting values 0, 1, 2 &amp; 3. 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Obtain the associated Gelman &amp; Rubin plot.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Perform the Heidelberger &amp; Welch Diagnostic test for convergence.</a:t>
            </a:r>
            <a:b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Based on the answers to the above, what do you conclude?</a:t>
            </a:r>
          </a:p>
        </p:txBody>
      </p:sp>
    </p:spTree>
    <p:extLst>
      <p:ext uri="{BB962C8B-B14F-4D97-AF65-F5344CB8AC3E}">
        <p14:creationId xmlns:p14="http://schemas.microsoft.com/office/powerpoint/2010/main" val="30434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3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2396DE6-E527-EF3E-4DC0-D5795024294D}"/>
              </a:ext>
            </a:extLst>
          </p:cNvPr>
          <p:cNvSpPr txBox="1">
            <a:spLocks/>
          </p:cNvSpPr>
          <p:nvPr/>
        </p:nvSpPr>
        <p:spPr>
          <a:xfrm>
            <a:off x="319464" y="805989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the algorithm you produced in Question 1 with the parameters…</a:t>
            </a: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30D1A9D-E809-A7E4-E137-98EA52FAF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716" y="1206347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5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5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Met_Hat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 =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lang="en-NZ" sz="15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</a:t>
            </a:r>
            <a:r>
              <a:rPr lang="en-NZ" sz="15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NZ" sz="15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4.5</a:t>
            </a:r>
            <a:r>
              <a:rPr lang="en-NZ" sz="15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882DA-CA2B-D294-8C16-97413C5F860B}"/>
              </a:ext>
            </a:extLst>
          </p:cNvPr>
          <p:cNvSpPr txBox="1">
            <a:spLocks/>
          </p:cNvSpPr>
          <p:nvPr/>
        </p:nvSpPr>
        <p:spPr>
          <a:xfrm>
            <a:off x="319464" y="2559731"/>
            <a:ext cx="11615496" cy="38080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Calculate the acceptance rate of the chain.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Construct a time series plot of the post-burn-in elements of the chain.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 an autocorrelation plot of 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the post-burn-in elements of the chain.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Convert the post-burn-in elements of the chain to an ‘</a:t>
            </a:r>
            <a:r>
              <a:rPr lang="en-NZ" altLang="ja-JP" sz="1500" dirty="0" err="1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mcmc</a:t>
            </a: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’ object and obtain basic summary statistics.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a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Time Series Diagnostic test on the post-burn-in elements of the chain and construct the associated </a:t>
            </a:r>
            <a:r>
              <a:rPr kumimoji="1" lang="en-NZ" altLang="ja-JP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Geweke</a:t>
            </a:r>
            <a: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plot.</a:t>
            </a:r>
            <a:br>
              <a:rPr kumimoji="1" lang="en-NZ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NZ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Conduct a Gelman &amp; Rubin Multiple Sequence Diagnostic Test using four separate chains with starting values 0, 1, 2 &amp; 3. 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Obtain the associated Gelman &amp; Rubin plot.</a:t>
            </a:r>
            <a:br>
              <a:rPr lang="en-NZ" altLang="ja-JP" sz="15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endParaRPr lang="en-NZ" altLang="ja-JP" sz="15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Perform the Heidelberger &amp; Welch Diagnostic test for convergence.</a:t>
            </a:r>
            <a:b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endParaRPr kumimoji="1" lang="en-US" altLang="ja-JP" sz="1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US" altLang="ja-JP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Based on the answers to the above, can we definitively conclude that the chain has converged to its target distribution?</a:t>
            </a:r>
          </a:p>
        </p:txBody>
      </p:sp>
    </p:spTree>
    <p:extLst>
      <p:ext uri="{BB962C8B-B14F-4D97-AF65-F5344CB8AC3E}">
        <p14:creationId xmlns:p14="http://schemas.microsoft.com/office/powerpoint/2010/main" val="407330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921169"/>
            <a:ext cx="121045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Gibbs Sampling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on page 79 of the Course Notes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7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2D285F1D-A56F-426A-EC94-4C261EAF60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1179326"/>
                <a:ext cx="11417614" cy="92345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NZ" altLang="ja-JP" sz="16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𝚪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𝒂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𝒃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kumimoji="1" lang="en-NZ" altLang="ja-JP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𝚪</m:t>
                                    </m:r>
                                    <m:d>
                                      <m:dPr>
                                        <m:ctrlPr>
                                          <a:rPr kumimoji="1" lang="en-NZ" altLang="ja-JP" sz="1600" b="1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𝚪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𝒃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𝒂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𝟏</m:t>
                                        </m:r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 −</m:t>
                                        </m:r>
                                        <m:r>
                                          <a:rPr kumimoji="1" lang="en-NZ" altLang="ja-JP" sz="1600" b="1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70C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𝒃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∈[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𝜽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∉[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e>
                            </m:mr>
                          </m:m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2D285F1D-A56F-426A-EC94-4C261EAF6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1179326"/>
                <a:ext cx="11417614" cy="923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863647"/>
                <a:ext cx="1141761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the random variable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𝑩𝒆𝒕𝒂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𝒂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𝒃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which has the following probability density function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863647"/>
                <a:ext cx="11417614" cy="365126"/>
              </a:xfrm>
              <a:prstGeom prst="rect">
                <a:avLst/>
              </a:prstGeom>
              <a:blipFill>
                <a:blip r:embed="rId4"/>
                <a:stretch>
                  <a:fillRect l="-267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6117A48-6168-3755-5BB0-A572BE720C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2296395"/>
                <a:ext cx="11417614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Also consider the random variable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𝑩𝒊𝒏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which has probability density function</a:t>
                </a: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6117A48-6168-3755-5BB0-A572BE720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2296395"/>
                <a:ext cx="11417614" cy="365126"/>
              </a:xfrm>
              <a:prstGeom prst="rect">
                <a:avLst/>
              </a:prstGeom>
              <a:blipFill>
                <a:blip r:embed="rId5"/>
                <a:stretch>
                  <a:fillRect l="-321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357165E-010B-3B89-5D49-E85AB7902B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2531567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)=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357165E-010B-3B89-5D49-E85AB7902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2531567"/>
                <a:ext cx="11417614" cy="8149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0584F8A-F04E-1190-D1C5-11BC23C51B87}"/>
              </a:ext>
            </a:extLst>
          </p:cNvPr>
          <p:cNvSpPr txBox="1">
            <a:spLocks/>
          </p:cNvSpPr>
          <p:nvPr/>
        </p:nvSpPr>
        <p:spPr>
          <a:xfrm>
            <a:off x="387193" y="3417299"/>
            <a:ext cx="11417614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This gives rise to the joint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8C12FE1-B50E-A335-8CD8-EBFB77619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672165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,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)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 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NZ" altLang="ja-JP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𝒃</m:t>
                              </m:r>
                            </m:e>
                          </m:d>
                        </m:num>
                        <m:den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kumimoji="1" lang="en-NZ" altLang="ja-JP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𝒃</m:t>
                              </m:r>
                            </m:e>
                          </m:d>
                        </m:den>
                      </m:f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𝒂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+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𝒃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8C12FE1-B50E-A335-8CD8-EBFB77619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672165"/>
                <a:ext cx="11417614" cy="8149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D7F3AD17-6254-4489-D756-12D8E278B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4696626"/>
                <a:ext cx="11417614" cy="6120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To derive the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|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we pick out all the terms in the joint distribution that involve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treat  all the terms involving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𝒙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as a constant. In this way we obtain </a:t>
                </a: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D7F3AD17-6254-4489-D756-12D8E278B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4696626"/>
                <a:ext cx="11417614" cy="612025"/>
              </a:xfrm>
              <a:prstGeom prst="rect">
                <a:avLst/>
              </a:prstGeom>
              <a:blipFill>
                <a:blip r:embed="rId8"/>
                <a:stretch>
                  <a:fillRect l="-321" t="-1980" b="-108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752A30-B37F-C007-5D47-EC16D377F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09" y="5278697"/>
                <a:ext cx="8604407" cy="39997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𝑪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𝒂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+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𝒃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752A30-B37F-C007-5D47-EC16D377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09" y="5278697"/>
                <a:ext cx="8604407" cy="399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C4D61FDF-201A-2ADA-D214-1222D7F7E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93688" y="5164732"/>
                <a:ext cx="2457872" cy="6120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where   </a:t>
                </a:r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3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𝑪</m:t>
                    </m:r>
                    <m:r>
                      <a:rPr kumimoji="1" lang="en-NZ" altLang="ja-JP" sz="13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NZ" altLang="ja-JP" sz="1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NZ" altLang="ja-JP" sz="1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</m:e>
                          </m:mr>
                          <m:mr>
                            <m:e>
                              <m:r>
                                <a:rPr kumimoji="1" lang="en-NZ" altLang="ja-JP" sz="1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𝑪</m:t>
                              </m:r>
                            </m:e>
                          </m:mr>
                          <m:mr>
                            <m:e>
                              <m:r>
                                <a:rPr kumimoji="1" lang="en-NZ" altLang="ja-JP" sz="1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</m:e>
                          </m:mr>
                        </m:m>
                      </m:e>
                    </m:d>
                    <m:r>
                      <a:rPr kumimoji="1" lang="en-NZ" altLang="ja-JP" sz="1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f>
                      <m:fPr>
                        <m:ctrlPr>
                          <a:rPr kumimoji="1" lang="en-NZ" altLang="ja-JP" sz="1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1" lang="en-NZ" altLang="ja-JP" sz="13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𝚪</m:t>
                        </m:r>
                        <m:d>
                          <m:dPr>
                            <m:ctrlP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  <m: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  <m: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𝒃</m:t>
                            </m:r>
                          </m:e>
                        </m:d>
                      </m:num>
                      <m:den>
                        <m:r>
                          <a:rPr kumimoji="1" lang="en-NZ" altLang="ja-JP" sz="1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𝜞</m:t>
                        </m:r>
                        <m:d>
                          <m:dPr>
                            <m:ctrlP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𝒂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kumimoji="1" lang="en-NZ" altLang="ja-JP" sz="13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𝚪</m:t>
                        </m:r>
                        <m:d>
                          <m:dPr>
                            <m:ctrlP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3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endParaRPr kumimoji="1" lang="en-NZ" altLang="ja-JP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C4D61FDF-201A-2ADA-D214-1222D7F7E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688" y="5164732"/>
                <a:ext cx="2457872" cy="612025"/>
              </a:xfrm>
              <a:prstGeom prst="rect">
                <a:avLst/>
              </a:prstGeom>
              <a:blipFill>
                <a:blip r:embed="rId10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618E7ECD-53DE-DAC1-6DF2-8A1F6C00D9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5757142"/>
                <a:ext cx="11417614" cy="4255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i.e.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𝑩𝒆𝒕𝒂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𝒂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−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𝒃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618E7ECD-53DE-DAC1-6DF2-8A1F6C00D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5757142"/>
                <a:ext cx="11417614" cy="425515"/>
              </a:xfrm>
              <a:prstGeom prst="rect">
                <a:avLst/>
              </a:prstGeom>
              <a:blipFill>
                <a:blip r:embed="rId11"/>
                <a:stretch>
                  <a:fillRect l="-321" t="-42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691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CF6098-B432-F04E-AE1C-CB5C0ACE2904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2E05483-DFA8-4FE3-68F9-8C6CE638EB79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63647"/>
                <a:ext cx="11708763" cy="954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Given that the conditional distributions   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𝑩𝒊𝒏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and   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𝜽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|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𝑿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𝑩𝒆𝒕𝒂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𝒂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−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𝒃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</a:t>
                </a:r>
                <a:b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are known and easy to sample from, create a function in R that uses the method of Gibbs sampling to obtain a sequence of observations drawn from the joint probability density function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493335A3-1242-C1A2-C5C7-CF3C6084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63647"/>
                <a:ext cx="11708763" cy="954136"/>
              </a:xfrm>
              <a:prstGeom prst="rect">
                <a:avLst/>
              </a:prstGeom>
              <a:blipFill>
                <a:blip r:embed="rId3"/>
                <a:stretch>
                  <a:fillRect l="-260" t="-192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765F948-4494-162F-F403-CB9E101E54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3" y="1609637"/>
                <a:ext cx="11417614" cy="8149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,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|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𝒙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|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𝜽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)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  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𝑪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NZ" altLang="ja-JP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𝒃</m:t>
                              </m:r>
                            </m:e>
                          </m:d>
                        </m:num>
                        <m:den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kumimoji="1" lang="en-NZ" altLang="ja-JP" sz="1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𝚪</m:t>
                          </m:r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𝒃</m:t>
                              </m:r>
                            </m:e>
                          </m:d>
                        </m:den>
                      </m:f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𝒂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+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𝒃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765F948-4494-162F-F403-CB9E101E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3" y="1609637"/>
                <a:ext cx="11417614" cy="814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3">
            <a:extLst>
              <a:ext uri="{FF2B5EF4-FFF2-40B4-BE49-F238E27FC236}">
                <a16:creationId xmlns:a16="http://schemas.microsoft.com/office/drawing/2014/main" id="{39E702AF-2B39-271E-CA08-5B99C7BA4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2680692"/>
            <a:ext cx="5105400" cy="412541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Gibbs_Algorithm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niterations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n, a, b)</a:t>
            </a:r>
            <a:endParaRPr kumimoji="0" lang="en-NZ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484F26B-8EEC-F4E6-0BD1-DDE1DEA66BE2}"/>
              </a:ext>
            </a:extLst>
          </p:cNvPr>
          <p:cNvSpPr txBox="1">
            <a:spLocks/>
          </p:cNvSpPr>
          <p:nvPr/>
        </p:nvSpPr>
        <p:spPr>
          <a:xfrm>
            <a:off x="678342" y="2291860"/>
            <a:ext cx="9655480" cy="4125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Your function must contain the following arguments…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6EA7AA56-1A1F-9F26-6122-622B4AD4DE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342" y="3128602"/>
                <a:ext cx="10878352" cy="64875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… where ‘</a:t>
                </a:r>
                <a:r>
                  <a:rPr kumimoji="1" lang="en-NZ" altLang="ja-JP" sz="16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niterations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’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the length of the chain to be produced, 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‘n’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parameter of the binomial distribution and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 &amp; b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are the parameters of the </a:t>
                </a:r>
                <a14:m>
                  <m:oMath xmlns:m="http://schemas.openxmlformats.org/officeDocument/2006/math"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𝐵𝑒𝑡𝑎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(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𝑎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𝑏</m:t>
                    </m:r>
                    <m:r>
                      <a:rPr kumimoji="1" lang="en-NZ" altLang="ja-JP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distribution.</a:t>
                </a: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6EA7AA56-1A1F-9F26-6122-622B4AD4D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42" y="3128602"/>
                <a:ext cx="10878352" cy="648755"/>
              </a:xfrm>
              <a:prstGeom prst="rect">
                <a:avLst/>
              </a:prstGeom>
              <a:blipFill>
                <a:blip r:embed="rId5"/>
                <a:stretch>
                  <a:fillRect l="-280" t="-2804" r="-616" b="-93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241207C-69D8-2DAD-B09C-EE4E0575F1A1}"/>
              </a:ext>
            </a:extLst>
          </p:cNvPr>
          <p:cNvSpPr txBox="1">
            <a:spLocks/>
          </p:cNvSpPr>
          <p:nvPr/>
        </p:nvSpPr>
        <p:spPr>
          <a:xfrm>
            <a:off x="387193" y="4007584"/>
            <a:ext cx="11708763" cy="341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your code with the parameters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1F936F7A-3651-1C10-3DFB-EA5BD32BA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142" y="4396416"/>
            <a:ext cx="6884567" cy="1129229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Gibbs_Result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Gibbs_Algorithm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niterations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NZ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 = 15, a = 3, b = 7)</a:t>
            </a:r>
            <a:endParaRPr kumimoji="0" lang="en-NZ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3C50B6B1-1D3E-FA4E-F20C-03AF5B1BFC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192" y="5652601"/>
                <a:ext cx="11708763" cy="80160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3"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Produce time series plots, autocorrelation plots and histograms of the variables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𝜽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separately.</a:t>
                </a: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3C50B6B1-1D3E-FA4E-F20C-03AF5B1BF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2" y="5652601"/>
                <a:ext cx="11708763" cy="801606"/>
              </a:xfrm>
              <a:prstGeom prst="rect">
                <a:avLst/>
              </a:prstGeom>
              <a:blipFill>
                <a:blip r:embed="rId6"/>
                <a:stretch>
                  <a:fillRect l="-313" t="-227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52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5699</TotalTime>
  <Words>923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127</cp:revision>
  <dcterms:created xsi:type="dcterms:W3CDTF">2022-02-19T23:15:01Z</dcterms:created>
  <dcterms:modified xsi:type="dcterms:W3CDTF">2022-10-13T20:33:40Z</dcterms:modified>
</cp:coreProperties>
</file>