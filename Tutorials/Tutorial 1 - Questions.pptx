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344"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CC"/>
    <a:srgbClr val="DE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87" d="100"/>
          <a:sy n="87" d="100"/>
        </p:scale>
        <p:origin x="726"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317D-B4B3-49FF-A581-52DA3797B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617D1B94-82C5-46E5-9EE1-28AB8A733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6EE43B2-B15D-4099-8746-DD99E50DB4FB}"/>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5" name="Footer Placeholder 4">
            <a:extLst>
              <a:ext uri="{FF2B5EF4-FFF2-40B4-BE49-F238E27FC236}">
                <a16:creationId xmlns:a16="http://schemas.microsoft.com/office/drawing/2014/main" id="{4025FC5E-0CE5-4FB9-9BB4-ECE697CDDB9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777D2AF-5F8C-4771-98FC-EF00D77150BD}"/>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08445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83CE-5E9A-473E-8F92-32291246D8F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833230B0-AC0C-4B6E-A4F5-4FAC675DD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EBAEB70-DC6E-4EE4-ABDB-D9F4B1250064}"/>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5" name="Footer Placeholder 4">
            <a:extLst>
              <a:ext uri="{FF2B5EF4-FFF2-40B4-BE49-F238E27FC236}">
                <a16:creationId xmlns:a16="http://schemas.microsoft.com/office/drawing/2014/main" id="{0AC9991B-0CBC-41B9-80F8-8DEAEE723B5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B4DD3A1-1FE1-4787-A35A-C16B93D6A33E}"/>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43992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4EA0-3971-4A70-AC19-921C78D902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62611F5-0784-4CBC-8768-D25827C13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B5F23-A571-41AA-B1EC-A876E11F8012}"/>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5" name="Footer Placeholder 4">
            <a:extLst>
              <a:ext uri="{FF2B5EF4-FFF2-40B4-BE49-F238E27FC236}">
                <a16:creationId xmlns:a16="http://schemas.microsoft.com/office/drawing/2014/main" id="{05AC112F-CDEB-4D92-ADE3-86AB8B71919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C9C8463-30EC-4EEA-A19B-D84CED3241F4}"/>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69060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69F9-639E-4E86-B905-361A72031D1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2E7B1BF-80D7-4904-ACB2-42BD379AA3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9F29B174-563E-4F48-B5C9-95A627200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2711DC02-87F0-4A1D-814B-64EFA7C0B0B8}"/>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6" name="Footer Placeholder 5">
            <a:extLst>
              <a:ext uri="{FF2B5EF4-FFF2-40B4-BE49-F238E27FC236}">
                <a16:creationId xmlns:a16="http://schemas.microsoft.com/office/drawing/2014/main" id="{7248FCFA-D637-43EC-A9A3-E70338057CE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84529AD-9E9D-4052-B7D9-D0ABBD46544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27183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600E-542F-4FAC-AAB5-8EC98DEDC74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42A7919A-1454-4109-8BB4-8CC19322D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8D27C1-A966-4D82-8362-CDDD918F28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60123ED-5724-478B-AD91-AB6F0B860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8748A-2608-4871-83D6-9304E2F0E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59AE35C4-EDAF-4BD6-9BFC-1EA10B4AD446}"/>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8" name="Footer Placeholder 7">
            <a:extLst>
              <a:ext uri="{FF2B5EF4-FFF2-40B4-BE49-F238E27FC236}">
                <a16:creationId xmlns:a16="http://schemas.microsoft.com/office/drawing/2014/main" id="{C3FD6A4F-56CD-4B0A-B844-E166B45261D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EF330B7D-9487-4FC0-9C56-2353E1DE7A6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960082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C3C4-2906-41C1-88A2-141162399764}"/>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C00F41E-FA6F-4E2A-82C4-91AA30005091}"/>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4" name="Footer Placeholder 3">
            <a:extLst>
              <a:ext uri="{FF2B5EF4-FFF2-40B4-BE49-F238E27FC236}">
                <a16:creationId xmlns:a16="http://schemas.microsoft.com/office/drawing/2014/main" id="{7FF7A56E-0DBD-4EA3-8EDD-71A7BE875146}"/>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2F5D2D90-D199-4D9E-8339-CDC5C773A0D2}"/>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71906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15A83-8386-4308-93A9-38AC8CB47362}"/>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3" name="Footer Placeholder 2">
            <a:extLst>
              <a:ext uri="{FF2B5EF4-FFF2-40B4-BE49-F238E27FC236}">
                <a16:creationId xmlns:a16="http://schemas.microsoft.com/office/drawing/2014/main" id="{02A18E28-C4E7-438B-8852-AAC550790CF8}"/>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A7789BCA-AF1F-4251-9148-6DC5AFDAD1EF}"/>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89886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047F-40DD-4BDF-9001-58E69C283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302E97F-46A8-4EA1-BCDC-A7C11AC8A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CD83CF31-99FA-4CD7-88D6-06ACA4199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09333-1C32-4955-A275-956BBBC468CF}"/>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6" name="Footer Placeholder 5">
            <a:extLst>
              <a:ext uri="{FF2B5EF4-FFF2-40B4-BE49-F238E27FC236}">
                <a16:creationId xmlns:a16="http://schemas.microsoft.com/office/drawing/2014/main" id="{4A3C1F9E-9626-4A35-A52E-454BC798DD5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2912061-68AF-49E0-BFE2-B0BDDAE2C13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138086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44005-25DC-4DE2-9B63-AFDA0D59C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4FA3A2AC-6C82-44DD-87D0-DA52CB41B2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3F6E4F4-5787-4725-861E-C195BB844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202CCB-120B-4DD2-94BC-7891091CC8C4}"/>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6" name="Footer Placeholder 5">
            <a:extLst>
              <a:ext uri="{FF2B5EF4-FFF2-40B4-BE49-F238E27FC236}">
                <a16:creationId xmlns:a16="http://schemas.microsoft.com/office/drawing/2014/main" id="{E466A5B3-8827-476F-8183-918928FCD4B7}"/>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1A53B3C-10A8-4EA5-B6F7-D5CCA0B99E2B}"/>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4034996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F9CB-509B-46B8-B7D2-F360A55F5A7E}"/>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BF0ECD0-22A1-406D-8DC1-17433E09BB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CDCFA5C-D24C-41B7-94F5-D416A1233975}"/>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5" name="Footer Placeholder 4">
            <a:extLst>
              <a:ext uri="{FF2B5EF4-FFF2-40B4-BE49-F238E27FC236}">
                <a16:creationId xmlns:a16="http://schemas.microsoft.com/office/drawing/2014/main" id="{44157DE0-7248-42FF-9572-C708D27A7A8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1AFB283-1E90-4BE8-911F-1C7EFE656FE8}"/>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6164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E2739-245C-4111-A3C2-73970E912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4D012DF-D28D-4996-81BE-C8A9519B43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B93C28B-C11D-4ED0-8304-E677041EB680}"/>
              </a:ext>
            </a:extLst>
          </p:cNvPr>
          <p:cNvSpPr>
            <a:spLocks noGrp="1"/>
          </p:cNvSpPr>
          <p:nvPr>
            <p:ph type="dt" sz="half" idx="10"/>
          </p:nvPr>
        </p:nvSpPr>
        <p:spPr/>
        <p:txBody>
          <a:bodyPr/>
          <a:lstStyle/>
          <a:p>
            <a:fld id="{B3EA4C4C-8F90-4540-BA9B-F7C8969CE244}" type="datetimeFigureOut">
              <a:rPr lang="en-NZ" smtClean="0"/>
              <a:t>25/08/2022</a:t>
            </a:fld>
            <a:endParaRPr lang="en-NZ"/>
          </a:p>
        </p:txBody>
      </p:sp>
      <p:sp>
        <p:nvSpPr>
          <p:cNvPr id="5" name="Footer Placeholder 4">
            <a:extLst>
              <a:ext uri="{FF2B5EF4-FFF2-40B4-BE49-F238E27FC236}">
                <a16:creationId xmlns:a16="http://schemas.microsoft.com/office/drawing/2014/main" id="{83E24285-CE19-4637-BFEA-02DA1668BA8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482C048-E851-4CE1-8616-62FDD1483A5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780827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A7951-8353-4D37-9B17-202BEBF3F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B06BFE0-9436-4E6B-AF5B-C732AEE495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234AF23-4F70-4BD2-943B-70BE8CCE5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A4C4C-8F90-4540-BA9B-F7C8969CE244}" type="datetimeFigureOut">
              <a:rPr lang="en-NZ" smtClean="0"/>
              <a:t>25/08/2022</a:t>
            </a:fld>
            <a:endParaRPr lang="en-NZ"/>
          </a:p>
        </p:txBody>
      </p:sp>
      <p:sp>
        <p:nvSpPr>
          <p:cNvPr id="5" name="Footer Placeholder 4">
            <a:extLst>
              <a:ext uri="{FF2B5EF4-FFF2-40B4-BE49-F238E27FC236}">
                <a16:creationId xmlns:a16="http://schemas.microsoft.com/office/drawing/2014/main" id="{D8C99E8B-B066-44AE-9836-C6C32D09A7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E0E5CC73-3019-45C0-9430-8C08AD9C2C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492C7C-3FC3-4F92-9C7C-A099A49FCCC9}" type="slidenum">
              <a:rPr lang="en-NZ" smtClean="0"/>
              <a:t>‹#›</a:t>
            </a:fld>
            <a:endParaRPr lang="en-NZ"/>
          </a:p>
        </p:txBody>
      </p:sp>
    </p:spTree>
    <p:extLst>
      <p:ext uri="{BB962C8B-B14F-4D97-AF65-F5344CB8AC3E}">
        <p14:creationId xmlns:p14="http://schemas.microsoft.com/office/powerpoint/2010/main" val="974031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algn="ctr"/>
            <a:r>
              <a:rPr lang="en-NZ" sz="3500" b="1" u="sng" dirty="0">
                <a:solidFill>
                  <a:schemeClr val="bg1"/>
                </a:solidFill>
              </a:rPr>
              <a:t>STATS 432 </a:t>
            </a:r>
            <a:br>
              <a:rPr lang="en-NZ" sz="3500" b="1" dirty="0">
                <a:solidFill>
                  <a:schemeClr val="bg1"/>
                </a:solidFill>
              </a:rPr>
            </a:br>
            <a:r>
              <a:rPr lang="en-NZ" sz="3500" dirty="0">
                <a:solidFill>
                  <a:schemeClr val="bg1"/>
                </a:solidFill>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algn="ctr"/>
            <a:r>
              <a:rPr lang="en-NZ" sz="2800" dirty="0">
                <a:solidFill>
                  <a:schemeClr val="bg1"/>
                </a:solidFill>
              </a:rPr>
              <a:t>Tutorial 1 – Permutation Testing (Part I)</a:t>
            </a: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2</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1:</a:t>
            </a:r>
            <a:endParaRPr lang="ja-JP" altLang="en-US" b="1" u="sng" dirty="0">
              <a:latin typeface="+mn-lt"/>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745051"/>
            <a:ext cx="11615496" cy="107865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rgbClr val="0070C0"/>
                </a:solidFill>
              </a:rPr>
              <a:t>A researcher is interested in whether alcohol consumption affects the level of the chemical secretin produced by the pancreas.</a:t>
            </a:r>
          </a:p>
          <a:p>
            <a:pPr algn="just">
              <a:lnSpc>
                <a:spcPct val="100000"/>
              </a:lnSpc>
            </a:pPr>
            <a:r>
              <a:rPr lang="en-US" altLang="ja-JP" sz="1600" dirty="0">
                <a:solidFill>
                  <a:srgbClr val="0070C0"/>
                </a:solidFill>
              </a:rPr>
              <a:t>He takes a random sample of 300 study participants and classifies them as ‘Non-Drinkers’, ‘Moderate Drinkers’ or ‘Heavy Drinkers’ based on their weekly alcohol consumption. 100 study participants are assigned to each group. The level of secretin (in mgs) produced by each study participant over the course of 1 hour is then measured. The results of this process are recorded in the data set entitled ‘Secretin.csv’.</a:t>
            </a: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2186170"/>
            <a:ext cx="11466386" cy="15541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a:pPr>
            <a:r>
              <a:rPr lang="en-US" altLang="ja-JP" sz="1400" dirty="0">
                <a:solidFill>
                  <a:srgbClr val="0070C0"/>
                </a:solidFill>
              </a:rPr>
              <a:t>Read the data into R and create a histogram of the data in each group.</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r>
              <a:rPr lang="en-US" altLang="ja-JP" sz="1400" dirty="0">
                <a:solidFill>
                  <a:srgbClr val="0070C0"/>
                </a:solidFill>
              </a:rPr>
              <a:t>Create a linear model, modelling secretin production as a function of  alcohol consumption. Construct a QQ-Plot of the residuals of this model. What does this tell us about whether the data in each group is normally distributed?</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r>
              <a:rPr lang="en-US" altLang="ja-JP" sz="1400" dirty="0">
                <a:solidFill>
                  <a:srgbClr val="0070C0"/>
                </a:solidFill>
              </a:rPr>
              <a:t>Conduct a Shapiro-Wilks test on the residuals of the linear model. What do you conclude?</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endParaRPr lang="en-US" altLang="ja-JP" sz="1400" dirty="0">
              <a:solidFill>
                <a:srgbClr val="0070C0"/>
              </a:solidFill>
            </a:endParaRPr>
          </a:p>
        </p:txBody>
      </p:sp>
      <p:sp>
        <p:nvSpPr>
          <p:cNvPr id="15" name="Text Placeholder 5">
            <a:extLst>
              <a:ext uri="{FF2B5EF4-FFF2-40B4-BE49-F238E27FC236}">
                <a16:creationId xmlns:a16="http://schemas.microsoft.com/office/drawing/2014/main" id="{502534FC-984B-32CD-6FE7-E0FEB1D460D7}"/>
              </a:ext>
            </a:extLst>
          </p:cNvPr>
          <p:cNvSpPr txBox="1">
            <a:spLocks/>
          </p:cNvSpPr>
          <p:nvPr/>
        </p:nvSpPr>
        <p:spPr>
          <a:xfrm>
            <a:off x="319463" y="1888948"/>
            <a:ext cx="190512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Testing Normality:</a:t>
            </a:r>
          </a:p>
        </p:txBody>
      </p:sp>
      <p:sp>
        <p:nvSpPr>
          <p:cNvPr id="21" name="Text Placeholder 5">
            <a:extLst>
              <a:ext uri="{FF2B5EF4-FFF2-40B4-BE49-F238E27FC236}">
                <a16:creationId xmlns:a16="http://schemas.microsoft.com/office/drawing/2014/main" id="{1527AF04-9253-12C2-08B3-6841BD31BBEE}"/>
              </a:ext>
            </a:extLst>
          </p:cNvPr>
          <p:cNvSpPr txBox="1">
            <a:spLocks/>
          </p:cNvSpPr>
          <p:nvPr/>
        </p:nvSpPr>
        <p:spPr>
          <a:xfrm>
            <a:off x="319463" y="3667578"/>
            <a:ext cx="324260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Testing Homogeneity of Variance</a:t>
            </a:r>
          </a:p>
        </p:txBody>
      </p:sp>
      <p:sp>
        <p:nvSpPr>
          <p:cNvPr id="22" name="Text Placeholder 5">
            <a:extLst>
              <a:ext uri="{FF2B5EF4-FFF2-40B4-BE49-F238E27FC236}">
                <a16:creationId xmlns:a16="http://schemas.microsoft.com/office/drawing/2014/main" id="{C13B368B-C374-DC90-1508-FF70455C7053}"/>
              </a:ext>
            </a:extLst>
          </p:cNvPr>
          <p:cNvSpPr txBox="1">
            <a:spLocks/>
          </p:cNvSpPr>
          <p:nvPr/>
        </p:nvSpPr>
        <p:spPr>
          <a:xfrm>
            <a:off x="319463" y="3991720"/>
            <a:ext cx="11466386" cy="13979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4"/>
            </a:pPr>
            <a:r>
              <a:rPr lang="en-US" altLang="ja-JP" sz="1400" dirty="0">
                <a:solidFill>
                  <a:srgbClr val="0070C0"/>
                </a:solidFill>
              </a:rPr>
              <a:t>Construct a box plot of the data from each group.</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r>
              <a:rPr lang="en-US" altLang="ja-JP" sz="1400" dirty="0">
                <a:solidFill>
                  <a:srgbClr val="0070C0"/>
                </a:solidFill>
              </a:rPr>
              <a:t>Construct a residual-vs-fitted value plot using the output of the model constructed in part b). What does this tell you as to whether the data in each group arises from distributions with the same variance?</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r>
              <a:rPr lang="en-US" altLang="ja-JP" sz="1400" dirty="0">
                <a:solidFill>
                  <a:srgbClr val="0070C0"/>
                </a:solidFill>
              </a:rPr>
              <a:t>Conduct a </a:t>
            </a:r>
            <a:r>
              <a:rPr lang="en-US" altLang="ja-JP" sz="1400" dirty="0" err="1">
                <a:solidFill>
                  <a:srgbClr val="0070C0"/>
                </a:solidFill>
              </a:rPr>
              <a:t>Levene’s</a:t>
            </a:r>
            <a:r>
              <a:rPr lang="en-US" altLang="ja-JP" sz="1400" dirty="0">
                <a:solidFill>
                  <a:srgbClr val="0070C0"/>
                </a:solidFill>
              </a:rPr>
              <a:t> test to test whether the data in each group arises from distributions with the same variance? What do you conclude?</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endParaRPr lang="en-US" altLang="ja-JP" sz="1400" dirty="0">
              <a:solidFill>
                <a:srgbClr val="0070C0"/>
              </a:solidFill>
            </a:endParaRPr>
          </a:p>
        </p:txBody>
      </p:sp>
      <p:sp>
        <p:nvSpPr>
          <p:cNvPr id="23" name="Text Placeholder 5">
            <a:extLst>
              <a:ext uri="{FF2B5EF4-FFF2-40B4-BE49-F238E27FC236}">
                <a16:creationId xmlns:a16="http://schemas.microsoft.com/office/drawing/2014/main" id="{13443187-A36F-AB98-25A8-6740295DD293}"/>
              </a:ext>
            </a:extLst>
          </p:cNvPr>
          <p:cNvSpPr txBox="1">
            <a:spLocks/>
          </p:cNvSpPr>
          <p:nvPr/>
        </p:nvSpPr>
        <p:spPr>
          <a:xfrm>
            <a:off x="319463" y="5486806"/>
            <a:ext cx="324260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One Way ANOVA</a:t>
            </a:r>
          </a:p>
        </p:txBody>
      </p:sp>
      <p:sp>
        <p:nvSpPr>
          <p:cNvPr id="24" name="Text Placeholder 5">
            <a:extLst>
              <a:ext uri="{FF2B5EF4-FFF2-40B4-BE49-F238E27FC236}">
                <a16:creationId xmlns:a16="http://schemas.microsoft.com/office/drawing/2014/main" id="{21B4666A-AA7B-D42E-B79E-49571F603676}"/>
              </a:ext>
            </a:extLst>
          </p:cNvPr>
          <p:cNvSpPr txBox="1">
            <a:spLocks/>
          </p:cNvSpPr>
          <p:nvPr/>
        </p:nvSpPr>
        <p:spPr>
          <a:xfrm>
            <a:off x="319463" y="5795361"/>
            <a:ext cx="11655565" cy="5446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7"/>
            </a:pPr>
            <a:r>
              <a:rPr lang="en-US" altLang="ja-JP" sz="1400" dirty="0">
                <a:solidFill>
                  <a:srgbClr val="0070C0"/>
                </a:solidFill>
              </a:rPr>
              <a:t>Given that the conditions of one-way ANOVA are satisfied, test whether the mean level of secretin produced by study participants in each group is the same. Specify the hypotheses being tested, the F-statistic, degrees of freedom, p-value and conclusion you reach.</a:t>
            </a:r>
          </a:p>
          <a:p>
            <a:pPr marL="342900" indent="-342900" algn="just">
              <a:lnSpc>
                <a:spcPct val="100000"/>
              </a:lnSpc>
              <a:buFont typeface="+mj-lt"/>
              <a:buAutoNum type="alphaLcParenR" startAt="7"/>
            </a:pPr>
            <a:endParaRPr lang="en-US" altLang="ja-JP" sz="1400" dirty="0">
              <a:solidFill>
                <a:srgbClr val="0070C0"/>
              </a:solidFill>
            </a:endParaRPr>
          </a:p>
          <a:p>
            <a:pPr marL="342900" indent="-342900" algn="just">
              <a:lnSpc>
                <a:spcPct val="100000"/>
              </a:lnSpc>
              <a:buFont typeface="+mj-lt"/>
              <a:buAutoNum type="alphaLcParenR" startAt="7"/>
            </a:pPr>
            <a:endParaRPr lang="en-US" altLang="ja-JP" sz="1400" dirty="0">
              <a:solidFill>
                <a:srgbClr val="0070C0"/>
              </a:solidFill>
            </a:endParaRPr>
          </a:p>
        </p:txBody>
      </p:sp>
    </p:spTree>
    <p:extLst>
      <p:ext uri="{BB962C8B-B14F-4D97-AF65-F5344CB8AC3E}">
        <p14:creationId xmlns:p14="http://schemas.microsoft.com/office/powerpoint/2010/main" val="1360837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2</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2:</a:t>
            </a:r>
            <a:endParaRPr lang="ja-JP" altLang="en-US" b="1" u="sng" dirty="0">
              <a:latin typeface="+mn-lt"/>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745051"/>
            <a:ext cx="11615496" cy="89245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A company is interested in whether the mean hourly number of incoming calls differs across its three call Centres (A, B &amp; C). The company records the number of incoming calls at each Centre over 50 separate 1-hour periods. The data pertaining to this experiment is recorded in the data set called ‘Incoming Calls.csv’ </a:t>
            </a:r>
            <a:r>
              <a:rPr lang="en-US" altLang="ja-JP" sz="1600" dirty="0">
                <a:solidFill>
                  <a:srgbClr val="0070C0"/>
                </a:solidFill>
              </a:rPr>
              <a:t>. </a:t>
            </a: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2010003"/>
            <a:ext cx="11466386" cy="15541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a:pPr>
            <a:r>
              <a:rPr lang="en-US" altLang="ja-JP" sz="1400" dirty="0">
                <a:solidFill>
                  <a:srgbClr val="0070C0"/>
                </a:solidFill>
              </a:rPr>
              <a:t>Read the data into R and create a histogram of the data in each group.</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r>
              <a:rPr lang="en-US" altLang="ja-JP" sz="1400" dirty="0">
                <a:solidFill>
                  <a:srgbClr val="0070C0"/>
                </a:solidFill>
              </a:rPr>
              <a:t>Create a linear model, modelling the number of incoming calls as a function of call </a:t>
            </a:r>
            <a:r>
              <a:rPr lang="en-US" altLang="ja-JP" sz="1400" dirty="0" err="1">
                <a:solidFill>
                  <a:srgbClr val="0070C0"/>
                </a:solidFill>
              </a:rPr>
              <a:t>centre</a:t>
            </a:r>
            <a:r>
              <a:rPr lang="en-US" altLang="ja-JP" sz="1400" dirty="0">
                <a:solidFill>
                  <a:srgbClr val="0070C0"/>
                </a:solidFill>
              </a:rPr>
              <a:t>. Construct a QQ-Plot of the residuals of this model. What does this tell us about whether the data in each group is normally distributed?</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r>
              <a:rPr lang="en-US" altLang="ja-JP" sz="1400" dirty="0">
                <a:solidFill>
                  <a:srgbClr val="0070C0"/>
                </a:solidFill>
              </a:rPr>
              <a:t>Conduct a Shapiro-Wilks test on the residuals of the linear model. What do you conclude?</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endParaRPr lang="en-US" altLang="ja-JP" sz="1400" dirty="0">
              <a:solidFill>
                <a:srgbClr val="0070C0"/>
              </a:solidFill>
            </a:endParaRPr>
          </a:p>
        </p:txBody>
      </p:sp>
      <p:sp>
        <p:nvSpPr>
          <p:cNvPr id="15" name="Text Placeholder 5">
            <a:extLst>
              <a:ext uri="{FF2B5EF4-FFF2-40B4-BE49-F238E27FC236}">
                <a16:creationId xmlns:a16="http://schemas.microsoft.com/office/drawing/2014/main" id="{502534FC-984B-32CD-6FE7-E0FEB1D460D7}"/>
              </a:ext>
            </a:extLst>
          </p:cNvPr>
          <p:cNvSpPr txBox="1">
            <a:spLocks/>
          </p:cNvSpPr>
          <p:nvPr/>
        </p:nvSpPr>
        <p:spPr>
          <a:xfrm>
            <a:off x="319463" y="1695321"/>
            <a:ext cx="190512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Testing Normality:</a:t>
            </a:r>
          </a:p>
        </p:txBody>
      </p:sp>
      <p:sp>
        <p:nvSpPr>
          <p:cNvPr id="21" name="Text Placeholder 5">
            <a:extLst>
              <a:ext uri="{FF2B5EF4-FFF2-40B4-BE49-F238E27FC236}">
                <a16:creationId xmlns:a16="http://schemas.microsoft.com/office/drawing/2014/main" id="{1527AF04-9253-12C2-08B3-6841BD31BBEE}"/>
              </a:ext>
            </a:extLst>
          </p:cNvPr>
          <p:cNvSpPr txBox="1">
            <a:spLocks/>
          </p:cNvSpPr>
          <p:nvPr/>
        </p:nvSpPr>
        <p:spPr>
          <a:xfrm>
            <a:off x="319463" y="3667578"/>
            <a:ext cx="324260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Testing Homogeneity of Variance</a:t>
            </a:r>
          </a:p>
        </p:txBody>
      </p:sp>
      <p:sp>
        <p:nvSpPr>
          <p:cNvPr id="22" name="Text Placeholder 5">
            <a:extLst>
              <a:ext uri="{FF2B5EF4-FFF2-40B4-BE49-F238E27FC236}">
                <a16:creationId xmlns:a16="http://schemas.microsoft.com/office/drawing/2014/main" id="{C13B368B-C374-DC90-1508-FF70455C7053}"/>
              </a:ext>
            </a:extLst>
          </p:cNvPr>
          <p:cNvSpPr txBox="1">
            <a:spLocks/>
          </p:cNvSpPr>
          <p:nvPr/>
        </p:nvSpPr>
        <p:spPr>
          <a:xfrm>
            <a:off x="319463" y="3991720"/>
            <a:ext cx="11466386" cy="13979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4"/>
            </a:pPr>
            <a:r>
              <a:rPr lang="en-US" altLang="ja-JP" sz="1400" dirty="0">
                <a:solidFill>
                  <a:srgbClr val="0070C0"/>
                </a:solidFill>
              </a:rPr>
              <a:t>Construct a box plot of the data from each group.</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r>
              <a:rPr lang="en-US" altLang="ja-JP" sz="1400" dirty="0">
                <a:solidFill>
                  <a:srgbClr val="0070C0"/>
                </a:solidFill>
              </a:rPr>
              <a:t>Construct a residual-vs-fitted value plot using the output of the model constructed in part b). What does this tell you as to whether the data in each group arises from distributions with the same variance?</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r>
              <a:rPr lang="en-US" altLang="ja-JP" sz="1400" dirty="0">
                <a:solidFill>
                  <a:srgbClr val="0070C0"/>
                </a:solidFill>
              </a:rPr>
              <a:t>Conduct a </a:t>
            </a:r>
            <a:r>
              <a:rPr lang="en-US" altLang="ja-JP" sz="1400" dirty="0" err="1">
                <a:solidFill>
                  <a:srgbClr val="0070C0"/>
                </a:solidFill>
              </a:rPr>
              <a:t>Levene’s</a:t>
            </a:r>
            <a:r>
              <a:rPr lang="en-US" altLang="ja-JP" sz="1400" dirty="0">
                <a:solidFill>
                  <a:srgbClr val="0070C0"/>
                </a:solidFill>
              </a:rPr>
              <a:t> test to test whether the data in each group arises from distributions with the same variance? What do you conclude?</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endParaRPr lang="en-US" altLang="ja-JP" sz="1400" dirty="0">
              <a:solidFill>
                <a:srgbClr val="0070C0"/>
              </a:solidFill>
            </a:endParaRPr>
          </a:p>
        </p:txBody>
      </p:sp>
      <p:sp>
        <p:nvSpPr>
          <p:cNvPr id="23" name="Text Placeholder 5">
            <a:extLst>
              <a:ext uri="{FF2B5EF4-FFF2-40B4-BE49-F238E27FC236}">
                <a16:creationId xmlns:a16="http://schemas.microsoft.com/office/drawing/2014/main" id="{13443187-A36F-AB98-25A8-6740295DD293}"/>
              </a:ext>
            </a:extLst>
          </p:cNvPr>
          <p:cNvSpPr txBox="1">
            <a:spLocks/>
          </p:cNvSpPr>
          <p:nvPr/>
        </p:nvSpPr>
        <p:spPr>
          <a:xfrm>
            <a:off x="319463" y="5486806"/>
            <a:ext cx="324260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Permutation Test</a:t>
            </a:r>
          </a:p>
        </p:txBody>
      </p:sp>
      <p:sp>
        <p:nvSpPr>
          <p:cNvPr id="24" name="Text Placeholder 5">
            <a:extLst>
              <a:ext uri="{FF2B5EF4-FFF2-40B4-BE49-F238E27FC236}">
                <a16:creationId xmlns:a16="http://schemas.microsoft.com/office/drawing/2014/main" id="{21B4666A-AA7B-D42E-B79E-49571F603676}"/>
              </a:ext>
            </a:extLst>
          </p:cNvPr>
          <p:cNvSpPr txBox="1">
            <a:spLocks/>
          </p:cNvSpPr>
          <p:nvPr/>
        </p:nvSpPr>
        <p:spPr>
          <a:xfrm>
            <a:off x="319463" y="5795361"/>
            <a:ext cx="11655565" cy="5446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7"/>
            </a:pPr>
            <a:r>
              <a:rPr lang="en-US" altLang="ja-JP" sz="1400" dirty="0">
                <a:solidFill>
                  <a:srgbClr val="0070C0"/>
                </a:solidFill>
              </a:rPr>
              <a:t>Given that the conditions of one-way ANOVA are violated, conduct a permutation test to test whether the mean hourly number of incoming calls is the same across all three call </a:t>
            </a:r>
            <a:r>
              <a:rPr lang="en-US" altLang="ja-JP" sz="1400" dirty="0" err="1">
                <a:solidFill>
                  <a:srgbClr val="0070C0"/>
                </a:solidFill>
              </a:rPr>
              <a:t>centres</a:t>
            </a:r>
            <a:r>
              <a:rPr lang="en-US" altLang="ja-JP" sz="1400" dirty="0">
                <a:solidFill>
                  <a:srgbClr val="0070C0"/>
                </a:solidFill>
              </a:rPr>
              <a:t>. Specify the hypotheses being tested, the p-value of the test and the conclusion you reach.</a:t>
            </a:r>
          </a:p>
          <a:p>
            <a:pPr marL="342900" indent="-342900" algn="just">
              <a:lnSpc>
                <a:spcPct val="100000"/>
              </a:lnSpc>
              <a:buFont typeface="+mj-lt"/>
              <a:buAutoNum type="alphaLcParenR" startAt="7"/>
            </a:pPr>
            <a:endParaRPr lang="en-US" altLang="ja-JP" sz="1400" dirty="0">
              <a:solidFill>
                <a:srgbClr val="0070C0"/>
              </a:solidFill>
            </a:endParaRPr>
          </a:p>
          <a:p>
            <a:pPr marL="342900" indent="-342900" algn="just">
              <a:lnSpc>
                <a:spcPct val="100000"/>
              </a:lnSpc>
              <a:buFont typeface="+mj-lt"/>
              <a:buAutoNum type="alphaLcParenR" startAt="7"/>
            </a:pPr>
            <a:endParaRPr lang="en-US" altLang="ja-JP" sz="1400" dirty="0">
              <a:solidFill>
                <a:srgbClr val="0070C0"/>
              </a:solidFill>
            </a:endParaRPr>
          </a:p>
        </p:txBody>
      </p:sp>
    </p:spTree>
    <p:extLst>
      <p:ext uri="{BB962C8B-B14F-4D97-AF65-F5344CB8AC3E}">
        <p14:creationId xmlns:p14="http://schemas.microsoft.com/office/powerpoint/2010/main" val="1051146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4345</TotalTime>
  <Words>603</Words>
  <Application>Microsoft Office PowerPoint</Application>
  <PresentationFormat>Widescreen</PresentationFormat>
  <Paragraphs>39</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Light</vt:lpstr>
      <vt:lpstr>Coo Hew</vt:lpstr>
      <vt:lpstr>Gidole</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94</cp:revision>
  <dcterms:created xsi:type="dcterms:W3CDTF">2022-02-19T23:15:01Z</dcterms:created>
  <dcterms:modified xsi:type="dcterms:W3CDTF">2022-08-25T11:05:59Z</dcterms:modified>
</cp:coreProperties>
</file>