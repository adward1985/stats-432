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63" r:id="rId6"/>
    <p:sldId id="261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6BA3"/>
    <a:srgbClr val="F3F3FF"/>
    <a:srgbClr val="DEDDDD"/>
    <a:srgbClr val="FF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6" y="-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317D-B4B3-49FF-A581-52DA3797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1B94-82C5-46E5-9EE1-28AB8A73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43B2-B15D-4099-8746-DD99E50D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FC5E-0CE5-4FB9-9BB4-ECE697C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D2AF-5F8C-4771-98FC-EF00D77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44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83CE-5E9A-473E-8F92-32291246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0B0-AC0C-4B6E-A4F5-4FAC675D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EB70-DC6E-4EE4-ABDB-D9F4B125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991B-0CBC-41B9-80F8-8DEAEE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D3A1-1FE1-4787-A35A-C16B93D6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992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EA0-3971-4A70-AC19-921C78D9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11F5-0784-4CBC-8768-D25827C1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5F23-A571-41AA-B1EC-A876E11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112F-CDEB-4D92-ADE3-86AB8B71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8463-30EC-4EEA-A19B-D84CED3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060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69F9-639E-4E86-B905-361A720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B1BF-80D7-4904-ACB2-42BD379A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B174-563E-4F48-B5C9-95A62720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DC02-87F0-4A1D-814B-64EFA7C0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FCFA-D637-43EC-A9A3-E703380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29AD-9E9D-4052-B7D9-D0ABBD4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183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0E-542F-4FAC-AAB5-8EC98DED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919A-1454-4109-8BB4-8CC19322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27C1-A966-4D82-8362-CDDD918F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23ED-5724-478B-AD91-AB6F0B86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8748A-2608-4871-83D6-9304E2F0E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E35C4-EDAF-4BD6-9BFC-1EA10B4A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6A4F-56CD-4B0A-B844-E166B452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0B7D-9487-4FC0-9C56-2353E1D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600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3C4-2906-41C1-88A2-14116239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0F41E-FA6F-4E2A-82C4-91AA3000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A56E-0DBD-4EA3-8EDD-71A7BE87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D2D90-D199-4D9E-8339-CDC5C773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90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5A83-8386-4308-93A9-38AC8CB4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18E28-C4E7-438B-8852-AAC55079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9BCA-AF1F-4251-9148-6DC5AFDA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98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047F-40DD-4BDF-9001-58E69C28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E97F-46A8-4EA1-BCDC-A7C11AC8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CF31-99FA-4CD7-88D6-06ACA4199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9333-1C32-4955-A275-956BBBC4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C1F9E-9626-4A35-A52E-454BC798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061-68AF-49E0-BFE2-B0BDDAE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8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4005-25DC-4DE2-9B63-AFDA0D59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A2AC-6C82-44DD-87D0-DA52CB41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6E4F4-5787-4725-861E-C195BB84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2CCB-120B-4DD2-94BC-7891091C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A5B3-8827-476F-8183-918928F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3B3C-10A8-4EA5-B6F7-D5CCA0B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49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F9CB-509B-46B8-B7D2-F360A55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ECD0-22A1-406D-8DC1-17433E09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FA5C-D24C-41B7-94F5-D416A1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7DE0-7248-42FF-9572-C708D27A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B283-1E90-4BE8-911F-1C7EFE6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6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2739-245C-4111-A3C2-73970E91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012DF-D28D-4996-81BE-C8A9519B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C28B-C11D-4ED0-8304-E677041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4285-CE19-4637-BFEA-02DA1668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C048-E851-4CE1-8616-62FDD148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08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A7951-8353-4D37-9B17-202BEBF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FE0-9436-4E6B-AF5B-C732AEE49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AF23-4F70-4BD2-943B-70BE8CCE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4C4C-8F90-4540-BA9B-F7C8969CE244}" type="datetimeFigureOut">
              <a:rPr lang="en-NZ" smtClean="0"/>
              <a:t>9/10/2022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9E8B-B066-44AE-9836-C6C32D09A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CC73-3019-45C0-9430-8C08AD9C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40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hyperlink" Target="https://www.wolframalpha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500" b="1" u="sng" dirty="0">
                <a:solidFill>
                  <a:schemeClr val="bg1"/>
                </a:solidFill>
              </a:rPr>
              <a:t>STATS 432 </a:t>
            </a:r>
            <a:br>
              <a:rPr lang="en-NZ" sz="3500" b="1" dirty="0">
                <a:solidFill>
                  <a:schemeClr val="bg1"/>
                </a:solidFill>
              </a:rPr>
            </a:br>
            <a:r>
              <a:rPr lang="en-NZ" sz="3500" dirty="0">
                <a:solidFill>
                  <a:schemeClr val="bg1"/>
                </a:solidFill>
              </a:rPr>
              <a:t>Computational Statistics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15834-4C1C-48A4-9F77-1A195C7F3F70}"/>
              </a:ext>
            </a:extLst>
          </p:cNvPr>
          <p:cNvSpPr txBox="1"/>
          <p:nvPr/>
        </p:nvSpPr>
        <p:spPr>
          <a:xfrm>
            <a:off x="4038600" y="4646474"/>
            <a:ext cx="692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Tutorial 5 – Metropolis-Hastings Algorithm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303658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 1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32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4" y="940568"/>
            <a:ext cx="1161549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continuous random variable </a:t>
            </a:r>
            <a:r>
              <a:rPr kumimoji="1" lang="en-US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defined by the following probability density function…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CE0328F-3BE9-D2D0-3941-D4D0E66AE9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3287" y="1346900"/>
                <a:ext cx="7105427" cy="126378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NZ" altLang="ja-JP" sz="1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d>
                        <m:dPr>
                          <m:begChr m:val="{"/>
                          <m:endChr m:val=""/>
                          <m:ctrlPr>
                            <a:rPr lang="en-NZ" altLang="ja-JP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Z" altLang="ja-JP" sz="1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NZ" altLang="ja-JP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NZ" altLang="ja-JP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num>
                                  <m:den>
                                    <m:r>
                                      <a:rPr lang="en-NZ" altLang="ja-JP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den>
                                </m:f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NZ" altLang="ja-JP" sz="18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18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NZ" altLang="ja-JP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NZ" altLang="ja-JP" sz="18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NZ" altLang="ja-JP" sz="18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NZ" altLang="ja-JP" sz="18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NZ" altLang="ja-JP" sz="18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−</m:t>
                                        </m:r>
                                        <m:r>
                                          <a:rPr lang="en-NZ" altLang="ja-JP" sz="1800" b="1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NZ" altLang="ja-JP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  <m:mr>
                              <m:e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𝒊𝒇</m:t>
                                </m:r>
                              </m:e>
                              <m:e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∉[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Z" altLang="ja-JP" sz="1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BCE0328F-3BE9-D2D0-3941-D4D0E66AE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287" y="1346900"/>
                <a:ext cx="7105427" cy="12637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13158F46-5B9B-739F-F519-B1C3809478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2555724"/>
                <a:ext cx="11615496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Analytically calculate the value of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𝑬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[</m:t>
                    </m:r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]</m:t>
                    </m:r>
                  </m:oMath>
                </a14:m>
                <a:r>
                  <a:rPr kumimoji="1" lang="en-US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.</m:t>
                    </m:r>
                  </m:oMath>
                </a14:m>
                <a:r>
                  <a:rPr kumimoji="1" lang="en-US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following formulas will help you</a:t>
                </a: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13158F46-5B9B-739F-F519-B1C380947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2555724"/>
                <a:ext cx="11615496" cy="365125"/>
              </a:xfrm>
              <a:prstGeom prst="rect">
                <a:avLst/>
              </a:prstGeom>
              <a:blipFill>
                <a:blip r:embed="rId4"/>
                <a:stretch>
                  <a:fillRect l="-420" t="-6667" b="-2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D2B4278F-EC65-5D61-F8CA-BDC4FD9C1F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3816" y="3012898"/>
                <a:ext cx="2917323" cy="111520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nary>
                        <m:naryPr>
                          <m:limLoc m:val="undOvr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𝒂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𝒃</m:t>
                          </m:r>
                        </m:sup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𝒙</m:t>
                              </m:r>
                            </m:e>
                          </m:d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D2B4278F-EC65-5D61-F8CA-BDC4FD9C1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6" y="3012898"/>
                <a:ext cx="2917323" cy="11152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1A0EAD6D-A4F9-C445-DB4C-C831214CE9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37339" y="3012897"/>
                <a:ext cx="2917323" cy="111520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𝑿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nary>
                        <m:naryPr>
                          <m:limLoc m:val="undOvr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𝒂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𝒃</m:t>
                          </m:r>
                        </m:sup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𝒙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𝟐</m:t>
                              </m:r>
                            </m:sup>
                          </m:s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𝒇</m:t>
                              </m:r>
                            </m:e>
                            <m:sub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𝒙</m:t>
                              </m:r>
                            </m:e>
                          </m:d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1A0EAD6D-A4F9-C445-DB4C-C831214CE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339" y="3012897"/>
                <a:ext cx="2917323" cy="11152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31A7B3AC-F501-4143-84DC-FD2580738F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80950" y="3330770"/>
                <a:ext cx="4054010" cy="47945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𝑿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−</m:t>
                      </m:r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 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31A7B3AC-F501-4143-84DC-FD2580738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950" y="3330770"/>
                <a:ext cx="4054010" cy="4794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C152942-F736-F036-6171-F0B30B6B48DE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5 – Q1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083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C5953D-DEAE-E713-9F77-17A5629AA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36" y="1347076"/>
            <a:ext cx="8658225" cy="4600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96AEBBE4-C496-007B-6C55-D6DF83A3EA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869" y="918740"/>
                <a:ext cx="5203600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NZ" altLang="ja-JP" sz="1800" dirty="0">
                    <a:solidFill>
                      <a:srgbClr val="0070C0"/>
                    </a:solidFill>
                    <a:ea typeface="游ゴシック" panose="020B0400000000000000" pitchFamily="34" charset="-128"/>
                  </a:rPr>
                  <a:t>Calculation of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</m:d>
                  </m:oMath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96AEBBE4-C496-007B-6C55-D6DF83A3E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69" y="918740"/>
                <a:ext cx="5203600" cy="365125"/>
              </a:xfrm>
              <a:prstGeom prst="rect">
                <a:avLst/>
              </a:prstGeom>
              <a:blipFill>
                <a:blip r:embed="rId4"/>
                <a:stretch>
                  <a:fillRect l="-1055" t="-10000" b="-2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AD250C5-84EA-48A4-CC28-E90DBE5D757E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5 – Q1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75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96AEBBE4-C496-007B-6C55-D6DF83A3EA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869" y="918740"/>
                <a:ext cx="524454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NZ" altLang="ja-JP" sz="1800" dirty="0">
                    <a:solidFill>
                      <a:srgbClr val="0070C0"/>
                    </a:solidFill>
                    <a:ea typeface="游ゴシック" panose="020B0400000000000000" pitchFamily="34" charset="-128"/>
                  </a:rPr>
                  <a:t>Calculation of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𝑿</m:t>
                            </m:r>
                          </m:e>
                          <m:sup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96AEBBE4-C496-007B-6C55-D6DF83A3E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69" y="918740"/>
                <a:ext cx="5244543" cy="365125"/>
              </a:xfrm>
              <a:prstGeom prst="rect">
                <a:avLst/>
              </a:prstGeom>
              <a:blipFill>
                <a:blip r:embed="rId3"/>
                <a:stretch>
                  <a:fillRect l="-1047" t="-3333" b="-3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17AC9D2-A535-5945-9C02-D8D6F8BDF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94" y="1338961"/>
            <a:ext cx="9639300" cy="3829050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BBF132E-1B18-6962-FBEF-19106BA345B1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5 – Q1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C6572D27-F1F6-5758-14A5-15CEFB1D25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869" y="5274136"/>
                <a:ext cx="10717296" cy="80239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𝑿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−</m:t>
                      </m:r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 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𝟐</m:t>
                          </m:r>
                        </m:sup>
                      </m:sSup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=  </m:t>
                      </m:r>
                      <m:f>
                        <m:f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𝟕𝟎𝟐</m:t>
                          </m:r>
                        </m:num>
                        <m:den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𝟐𝟏𝟕</m:t>
                          </m:r>
                        </m:den>
                      </m:f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 −  </m:t>
                      </m:r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𝟏𝟏𝟏</m:t>
                                  </m:r>
                                </m:num>
                                <m:den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𝟔𝟐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𝟐</m:t>
                          </m:r>
                        </m:sup>
                      </m:sSup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≈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𝟎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.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𝟎𝟐𝟗𝟖</m:t>
                      </m:r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C6572D27-F1F6-5758-14A5-15CEFB1D2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69" y="5274136"/>
                <a:ext cx="10717296" cy="8023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74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D7C04F2C-CBC7-C171-1A45-3AFF7C4977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6" y="865220"/>
                <a:ext cx="11376667" cy="9240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 algn="just">
                  <a:lnSpc>
                    <a:spcPct val="100000"/>
                  </a:lnSpc>
                  <a:buFont typeface="+mj-lt"/>
                  <a:buAutoNum type="alphaLcParenR" startAt="2"/>
                  <a:defRPr/>
                </a:pPr>
                <a:r>
                  <a:rPr lang="en-NZ" altLang="ja-JP" sz="1800" dirty="0">
                    <a:solidFill>
                      <a:srgbClr val="0070C0"/>
                    </a:solidFill>
                  </a:rPr>
                  <a:t>Create a function in R which uses a </a:t>
                </a:r>
                <a:r>
                  <a:rPr lang="en-NZ" altLang="ja-JP" sz="1800" b="1" dirty="0">
                    <a:solidFill>
                      <a:srgbClr val="0070C0"/>
                    </a:solidFill>
                  </a:rPr>
                  <a:t>normal random walk proposal density </a:t>
                </a:r>
                <a:r>
                  <a:rPr lang="en-NZ" altLang="ja-JP" sz="1800" dirty="0">
                    <a:solidFill>
                      <a:srgbClr val="0070C0"/>
                    </a:solidFill>
                  </a:rPr>
                  <a:t>within the Metropolis-Hastings algorithm to produce a sequence of observations drawn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dirty="0">
                    <a:solidFill>
                      <a:srgbClr val="0070C0"/>
                    </a:solidFill>
                  </a:rPr>
                  <a:t>. Your function must have the following arguments…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D7C04F2C-CBC7-C171-1A45-3AFF7C497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6" y="865220"/>
                <a:ext cx="11376667" cy="924086"/>
              </a:xfrm>
              <a:prstGeom prst="rect">
                <a:avLst/>
              </a:prstGeom>
              <a:blipFill>
                <a:blip r:embed="rId2"/>
                <a:stretch>
                  <a:fillRect l="-428" t="-3947" r="-42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3">
            <a:extLst>
              <a:ext uri="{FF2B5EF4-FFF2-40B4-BE49-F238E27FC236}">
                <a16:creationId xmlns:a16="http://schemas.microsoft.com/office/drawing/2014/main" id="{BD68759C-FBEC-7CE6-C1D3-C538CC84E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583" y="1572693"/>
            <a:ext cx="6282836" cy="322224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6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n, start,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proposal_sd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N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DBF1BA5-5B48-BEE4-FBFB-6CE5CED9C727}"/>
              </a:ext>
            </a:extLst>
          </p:cNvPr>
          <p:cNvSpPr txBox="1">
            <a:spLocks/>
          </p:cNvSpPr>
          <p:nvPr/>
        </p:nvSpPr>
        <p:spPr>
          <a:xfrm>
            <a:off x="682390" y="1989354"/>
            <a:ext cx="11013743" cy="6724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defRPr/>
            </a:pP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… w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here ‘</a:t>
            </a:r>
            <a:r>
              <a:rPr kumimoji="1" lang="en-US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n’ </a:t>
            </a:r>
            <a:r>
              <a:rPr kumimoji="1" lang="en-US" altLang="ja-JP" sz="1800" b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the number of observations to be produced, 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‘</a:t>
            </a:r>
            <a:r>
              <a:rPr lang="en-US" altLang="ja-JP" sz="1800" i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start</a:t>
            </a:r>
            <a:r>
              <a:rPr kumimoji="1" lang="en-US" altLang="ja-JP" sz="1800" b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 is the starting value of the chain and 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‘</a:t>
            </a:r>
            <a:r>
              <a:rPr lang="en-US" altLang="ja-JP" sz="1800" i="1" dirty="0" err="1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proposal_sd</a:t>
            </a:r>
            <a:r>
              <a:rPr kumimoji="1" lang="en-US" altLang="ja-JP" sz="1800" b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 is the standard deviation of the normal proposal density</a:t>
            </a:r>
          </a:p>
        </p:txBody>
      </p:sp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6673E53-1407-D732-94B9-14598FE76E9E}"/>
              </a:ext>
            </a:extLst>
          </p:cNvPr>
          <p:cNvSpPr txBox="1">
            <a:spLocks/>
          </p:cNvSpPr>
          <p:nvPr/>
        </p:nvSpPr>
        <p:spPr>
          <a:xfrm>
            <a:off x="407666" y="3181466"/>
            <a:ext cx="11376667" cy="4158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00000"/>
              </a:lnSpc>
              <a:buFont typeface="+mj-lt"/>
              <a:buAutoNum type="alphaLcParenR" startAt="3"/>
              <a:defRPr/>
            </a:pPr>
            <a:r>
              <a:rPr lang="en-NZ" altLang="ja-JP" sz="1800" dirty="0">
                <a:solidFill>
                  <a:srgbClr val="0070C0"/>
                </a:solidFill>
              </a:rPr>
              <a:t>Run your algorithm with the following parameters….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8A135096-B0E9-8E36-AE58-FF03AB390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835" y="3651326"/>
            <a:ext cx="8837620" cy="1054208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&lt;- 1000    </a:t>
            </a:r>
            <a:r>
              <a:rPr lang="en-NZ" sz="14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burn-in</a:t>
            </a:r>
            <a:b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&lt;- 9000    </a:t>
            </a:r>
            <a:r>
              <a:rPr lang="en-NZ" sz="14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post-burn-in chain</a:t>
            </a:r>
            <a:br>
              <a:rPr lang="en-NZ" sz="14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lang="en-NZ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NZ" sz="14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lang="en-NZ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</a:t>
            </a:r>
            <a:r>
              <a:rPr lang="en-NZ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</a:t>
            </a: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start = 1.5, </a:t>
            </a: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proposal_sd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0.25)</a:t>
            </a:r>
            <a:endParaRPr lang="en-NZ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F4556F5-F456-14D6-19C4-85E6A0901421}"/>
              </a:ext>
            </a:extLst>
          </p:cNvPr>
          <p:cNvSpPr txBox="1">
            <a:spLocks/>
          </p:cNvSpPr>
          <p:nvPr/>
        </p:nvSpPr>
        <p:spPr>
          <a:xfrm>
            <a:off x="407666" y="5455030"/>
            <a:ext cx="11376667" cy="4158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0000"/>
              </a:lnSpc>
              <a:buFont typeface="+mj-lt"/>
              <a:buAutoNum type="alphaLcParenR" startAt="4"/>
              <a:defRPr/>
            </a:pPr>
            <a:r>
              <a:rPr lang="en-NZ" altLang="ja-JP" sz="1800" dirty="0">
                <a:solidFill>
                  <a:srgbClr val="0070C0"/>
                </a:solidFill>
              </a:rPr>
              <a:t>Specify the acceptance rate of the algorithm.</a:t>
            </a:r>
            <a:br>
              <a:rPr lang="en-NZ" altLang="ja-JP" sz="1800" dirty="0">
                <a:solidFill>
                  <a:srgbClr val="0070C0"/>
                </a:solidFill>
              </a:rPr>
            </a:br>
            <a:endParaRPr lang="en-NZ" altLang="ja-JP" sz="1800" dirty="0">
              <a:solidFill>
                <a:srgbClr val="0070C0"/>
              </a:solidFill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1D874CF-0AEC-E25A-0F87-3BCE3DB16204}"/>
              </a:ext>
            </a:extLst>
          </p:cNvPr>
          <p:cNvSpPr txBox="1">
            <a:spLocks/>
          </p:cNvSpPr>
          <p:nvPr/>
        </p:nvSpPr>
        <p:spPr>
          <a:xfrm>
            <a:off x="407664" y="4795018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See Section 2.1b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752AC1-C791-3133-F8EC-2402A9C355B4}"/>
              </a:ext>
            </a:extLst>
          </p:cNvPr>
          <p:cNvSpPr txBox="1">
            <a:spLocks/>
          </p:cNvSpPr>
          <p:nvPr/>
        </p:nvSpPr>
        <p:spPr>
          <a:xfrm>
            <a:off x="2072691" y="5813456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See Section 2.1c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0A9584E-D015-93A3-4C50-1CB48F965429}"/>
              </a:ext>
            </a:extLst>
          </p:cNvPr>
          <p:cNvSpPr txBox="1">
            <a:spLocks/>
          </p:cNvSpPr>
          <p:nvPr/>
        </p:nvSpPr>
        <p:spPr>
          <a:xfrm>
            <a:off x="2072691" y="6188348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Acceptance rate = 0.5062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031C3BE-F161-F70A-148A-D928FF79E754}"/>
              </a:ext>
            </a:extLst>
          </p:cNvPr>
          <p:cNvSpPr txBox="1">
            <a:spLocks/>
          </p:cNvSpPr>
          <p:nvPr/>
        </p:nvSpPr>
        <p:spPr>
          <a:xfrm>
            <a:off x="319464" y="2612108"/>
            <a:ext cx="270111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See Section 1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348EB25-DDFB-B790-F6DD-96857CD8F0B9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5 – Q1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73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 animBg="1"/>
      <p:bldP spid="11" grpId="0"/>
      <p:bldP spid="2" grpId="0"/>
      <p:bldP spid="7" grpId="0"/>
      <p:bldP spid="8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10A8CC3-DC22-E95C-7CFA-73487BD6F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364" y="1232511"/>
            <a:ext cx="7247272" cy="5428600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6673E53-1407-D732-94B9-14598FE76E9E}"/>
              </a:ext>
            </a:extLst>
          </p:cNvPr>
          <p:cNvSpPr txBox="1">
            <a:spLocks/>
          </p:cNvSpPr>
          <p:nvPr/>
        </p:nvSpPr>
        <p:spPr>
          <a:xfrm>
            <a:off x="319464" y="962840"/>
            <a:ext cx="11376667" cy="4158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00000"/>
              </a:lnSpc>
              <a:buFont typeface="+mj-lt"/>
              <a:buAutoNum type="alphaLcParenR" startAt="5"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Create a time series plot of all elements in the chain AFTER the burn-in.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CDCC9A6-3754-0E05-E98C-AA3420EED829}"/>
              </a:ext>
            </a:extLst>
          </p:cNvPr>
          <p:cNvSpPr txBox="1">
            <a:spLocks/>
          </p:cNvSpPr>
          <p:nvPr/>
        </p:nvSpPr>
        <p:spPr>
          <a:xfrm>
            <a:off x="547257" y="3571919"/>
            <a:ext cx="1592741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See Section 2.1d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DF49556-CEFC-86A9-6146-0D1A51D5CBAD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5 – Q1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06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010E85-3A7A-B473-F8FB-385E8A9B7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428" y="1346825"/>
            <a:ext cx="7857143" cy="5314286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6673E53-1407-D732-94B9-14598FE76E9E}"/>
              </a:ext>
            </a:extLst>
          </p:cNvPr>
          <p:cNvSpPr txBox="1">
            <a:spLocks/>
          </p:cNvSpPr>
          <p:nvPr/>
        </p:nvSpPr>
        <p:spPr>
          <a:xfrm>
            <a:off x="319464" y="962840"/>
            <a:ext cx="11376667" cy="4158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0000"/>
              </a:lnSpc>
              <a:buFont typeface="+mj-lt"/>
              <a:buAutoNum type="alphaLcParenR" startAt="6"/>
              <a:defRPr/>
            </a:pP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Create an autocorrelation plot of all elements in the chain AFTER the burn-in.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CDCC9A6-3754-0E05-E98C-AA3420EED829}"/>
              </a:ext>
            </a:extLst>
          </p:cNvPr>
          <p:cNvSpPr txBox="1">
            <a:spLocks/>
          </p:cNvSpPr>
          <p:nvPr/>
        </p:nvSpPr>
        <p:spPr>
          <a:xfrm>
            <a:off x="547257" y="3571919"/>
            <a:ext cx="1592741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600" dirty="0">
                <a:solidFill>
                  <a:schemeClr val="tx1"/>
                </a:solidFill>
              </a:rPr>
              <a:t>See Section 2.1e of the code</a:t>
            </a:r>
            <a:endParaRPr lang="en-US" altLang="ja-JP" sz="1600" b="1" i="1" dirty="0">
              <a:solidFill>
                <a:schemeClr val="tx1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F9ED89-4358-F50A-88BB-DB234DA88406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5 – Q1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28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4D98BF78-35AE-9F45-70C7-D35FAF9BAD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949341"/>
                <a:ext cx="11376667" cy="6753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7"/>
                  <a:defRPr/>
                </a:pP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Use the post burn-in values of the chain to approximate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𝑬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[</m:t>
                    </m:r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]</m:t>
                    </m:r>
                  </m:oMath>
                </a14:m>
                <a:r>
                  <a:rPr kumimoji="1" lang="en-US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</m:d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.</m:t>
                    </m:r>
                  </m:oMath>
                </a14:m>
                <a:r>
                  <a:rPr kumimoji="1" lang="en-US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US" altLang="ja-JP" sz="1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Comp</a:t>
                </a: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are your results to the actual values calculated in part a). </a:t>
                </a:r>
                <a:endParaRPr kumimoji="1" lang="en-US" altLang="ja-JP" sz="180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4D98BF78-35AE-9F45-70C7-D35FAF9BA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949341"/>
                <a:ext cx="11376667" cy="675344"/>
              </a:xfrm>
              <a:prstGeom prst="rect">
                <a:avLst/>
              </a:prstGeom>
              <a:blipFill>
                <a:blip r:embed="rId3"/>
                <a:stretch>
                  <a:fillRect l="-428" t="-4505" b="-991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A3B8FAC-D048-CD53-5FB9-C61676B61A7B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5 – Q1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9C477669-C8D6-8A55-2B3D-812D61D63D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1683833"/>
                <a:ext cx="11608680" cy="15854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600" dirty="0">
                    <a:solidFill>
                      <a:schemeClr val="tx1"/>
                    </a:solidFill>
                  </a:rPr>
                  <a:t>The Ergodic theorem says… If you want to evaluate  </a:t>
                </a:r>
                <a:endParaRPr lang="en-NZ" altLang="ja-JP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≡  </m:t>
                      </m:r>
                      <m:nary>
                        <m:naryPr>
                          <m:supHide m:val="on"/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en-NZ" altLang="ja-JP" sz="1600" b="1" dirty="0">
                  <a:solidFill>
                    <a:schemeClr val="tx1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this can be approximated by taking a large number of observations of </a:t>
                </a:r>
                <a:r>
                  <a:rPr lang="en-US" altLang="ja-JP" sz="1600" b="1" i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X</a:t>
                </a: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distributed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sz="16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and calculating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</m:acc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  </m:t>
                      </m:r>
                      <m:f>
                        <m:f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NZ" altLang="ja-JP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US" altLang="ja-JP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9C477669-C8D6-8A55-2B3D-812D61D63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1683833"/>
                <a:ext cx="11608680" cy="1585442"/>
              </a:xfrm>
              <a:prstGeom prst="rect">
                <a:avLst/>
              </a:prstGeom>
              <a:blipFill>
                <a:blip r:embed="rId4"/>
                <a:stretch>
                  <a:fillRect l="-262" t="-47692" b="-4384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6FA00EB3-5DF1-3D63-4BFA-BC8B713B5A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660" y="3472547"/>
                <a:ext cx="11608680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600" dirty="0">
                    <a:solidFill>
                      <a:schemeClr val="tx1"/>
                    </a:solidFill>
                  </a:rPr>
                  <a:t>The sequence of observations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NZ" altLang="ja-JP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NZ" altLang="ja-JP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NZ" altLang="ja-JP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𝟎𝟎𝟏</m:t>
                        </m:r>
                      </m:sub>
                      <m:sup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𝟎𝟎𝟎</m:t>
                        </m:r>
                      </m:sup>
                    </m:sSubSup>
                  </m:oMath>
                </a14:m>
                <a:r>
                  <a:rPr lang="en-NZ" altLang="ja-JP" sz="1600" b="0" dirty="0">
                    <a:solidFill>
                      <a:schemeClr val="tx1"/>
                    </a:solidFill>
                  </a:rPr>
                  <a:t> constructed in our Metropolis-Hastings algorithm are distributed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600" b="1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600" dirty="0">
                    <a:solidFill>
                      <a:schemeClr val="tx1"/>
                    </a:solidFill>
                  </a:rPr>
                  <a:t>Therefore, </a:t>
                </a:r>
                <a14:m>
                  <m:oMath xmlns:m="http://schemas.openxmlformats.org/officeDocument/2006/math"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NZ" altLang="ja-JP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NZ" altLang="ja-JP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NZ" altLang="ja-JP" sz="1600" b="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NZ" altLang="ja-JP" sz="1600" b="1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600" b="0" dirty="0">
                    <a:solidFill>
                      <a:schemeClr val="tx1"/>
                    </a:solidFill>
                  </a:rPr>
                  <a:t>can be approximated as follows</a:t>
                </a:r>
                <a:r>
                  <a:rPr lang="en-US" altLang="ja-JP" sz="16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…</a:t>
                </a:r>
                <a:endParaRPr lang="en-NZ" altLang="ja-JP" sz="16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6FA00EB3-5DF1-3D63-4BFA-BC8B713B5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60" y="3472547"/>
                <a:ext cx="11608680" cy="675343"/>
              </a:xfrm>
              <a:prstGeom prst="rect">
                <a:avLst/>
              </a:prstGeom>
              <a:blipFill>
                <a:blip r:embed="rId5"/>
                <a:stretch>
                  <a:fillRect l="-315" b="-10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98592487-5AA6-923A-F690-0A3CCCE74A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3466" y="4228840"/>
                <a:ext cx="4050263" cy="80342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nary>
                        <m:naryPr>
                          <m:limLoc m:val="undOvr"/>
                          <m:ctrl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𝟗𝟎𝟎𝟎</m:t>
                          </m:r>
                        </m:den>
                      </m:f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𝟎𝟎𝟏</m:t>
                          </m:r>
                        </m:sub>
                        <m:sup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𝟎𝟎𝟎𝟎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ja-JP" sz="15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98592487-5AA6-923A-F690-0A3CCCE74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6" y="4228840"/>
                <a:ext cx="4050263" cy="8034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63EA0E75-01CE-7E61-9D47-4D7D133118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3467" y="5027990"/>
                <a:ext cx="6468532" cy="80342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NZ" altLang="ja-JP" sz="15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sSup>
                            <m:sSupPr>
                              <m:ctrlP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5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15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𝟗𝟎𝟎𝟎</m:t>
                          </m:r>
                        </m:den>
                      </m:f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𝟎𝟎𝟏</m:t>
                          </m:r>
                        </m:sub>
                        <m:sup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𝟎𝟎𝟎𝟎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kumimoji="1" lang="en-US" altLang="ja-JP" sz="15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63EA0E75-01CE-7E61-9D47-4D7D13311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7" y="5027990"/>
                <a:ext cx="6468532" cy="8034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3AE3381E-A386-4CD0-AEA8-8ECCD60006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3263" y="5843191"/>
                <a:ext cx="2793093" cy="36991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5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kumimoji="1" lang="en-NZ" altLang="ja-JP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</m:e>
                      </m:d>
                      <m:r>
                        <a:rPr kumimoji="1" lang="en-NZ" altLang="ja-JP" sz="15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 </m:t>
                      </m:r>
                      <m:r>
                        <a:rPr kumimoji="1" lang="en-NZ" altLang="ja-JP" sz="15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NZ" altLang="ja-JP" sz="15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5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𝑿</m:t>
                              </m:r>
                            </m:e>
                            <m:sup>
                              <m:r>
                                <a:rPr kumimoji="1" lang="en-NZ" altLang="ja-JP" sz="15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kumimoji="1" lang="en-NZ" altLang="ja-JP" sz="15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−</m:t>
                      </m:r>
                      <m:sSup>
                        <m:sSupPr>
                          <m:ctrlPr>
                            <a:rPr kumimoji="1" lang="en-NZ" altLang="ja-JP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NZ" altLang="ja-JP" sz="15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5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 </m:t>
                              </m:r>
                              <m:r>
                                <a:rPr kumimoji="1" lang="en-NZ" altLang="ja-JP" sz="15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5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5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kumimoji="1" lang="en-NZ" altLang="ja-JP" sz="15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kumimoji="1" lang="en-NZ" altLang="ja-JP" sz="15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kumimoji="1" lang="en-US" altLang="ja-JP" sz="1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3AE3381E-A386-4CD0-AEA8-8ECCD6000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63" y="5843191"/>
                <a:ext cx="2793093" cy="3699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EADC47FF-41FB-BBCB-5CB0-40736DF394C4}"/>
              </a:ext>
            </a:extLst>
          </p:cNvPr>
          <p:cNvSpPr txBox="1">
            <a:spLocks/>
          </p:cNvSpPr>
          <p:nvPr/>
        </p:nvSpPr>
        <p:spPr>
          <a:xfrm>
            <a:off x="8804051" y="5490720"/>
            <a:ext cx="2591729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dirty="0">
                <a:solidFill>
                  <a:schemeClr val="bg2">
                    <a:lumMod val="50000"/>
                  </a:schemeClr>
                </a:solidFill>
              </a:rPr>
              <a:t>See Section 3 of the code</a:t>
            </a:r>
            <a:endParaRPr lang="en-US" altLang="ja-JP" sz="1600" b="1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CE17B6C2-139D-40BA-9D02-95B3D36DF18F}"/>
              </a:ext>
            </a:extLst>
          </p:cNvPr>
          <p:cNvSpPr txBox="1">
            <a:spLocks/>
          </p:cNvSpPr>
          <p:nvPr/>
        </p:nvSpPr>
        <p:spPr>
          <a:xfrm>
            <a:off x="8292568" y="4924274"/>
            <a:ext cx="3693919" cy="5054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1600" dirty="0">
                <a:solidFill>
                  <a:schemeClr val="tx1"/>
                </a:solidFill>
              </a:rPr>
              <a:t>These values are very close to the true values calculated analytically in part a).</a:t>
            </a:r>
            <a:endParaRPr lang="en-NZ" altLang="ja-JP" sz="1600" b="0" dirty="0">
              <a:solidFill>
                <a:schemeClr val="tx1"/>
              </a:solidFill>
            </a:endParaRP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7D136C5F-6FC8-1834-F5C3-B7E74E203A31}"/>
              </a:ext>
            </a:extLst>
          </p:cNvPr>
          <p:cNvSpPr/>
          <p:nvPr/>
        </p:nvSpPr>
        <p:spPr>
          <a:xfrm>
            <a:off x="7901453" y="4469750"/>
            <a:ext cx="286603" cy="17348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A41F0D3D-11C2-92F5-4D36-B4B48777A4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7939" y="4480535"/>
                <a:ext cx="1651883" cy="37489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𝟕𝟖𝟗𝟖𝟓𝟔</m:t>
                      </m:r>
                    </m:oMath>
                  </m:oMathPara>
                </a14:m>
                <a:endParaRPr lang="en-US" altLang="ja-JP" sz="1600" b="1" i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A41F0D3D-11C2-92F5-4D36-B4B48777A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939" y="4480535"/>
                <a:ext cx="1651883" cy="3748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0EB7A326-0684-F80B-E4C2-7A7EF97FED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0914" y="5308172"/>
                <a:ext cx="1651883" cy="37489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𝟐𝟑𝟒𝟕𝟏𝟐</m:t>
                      </m:r>
                    </m:oMath>
                  </m:oMathPara>
                </a14:m>
                <a:endParaRPr lang="en-US" altLang="ja-JP" sz="1600" b="1" i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0EB7A326-0684-F80B-E4C2-7A7EF97FE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914" y="5308172"/>
                <a:ext cx="1651883" cy="37489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93419359-B849-0149-5C14-A83AE0E1B0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96356" y="5843708"/>
                <a:ext cx="4538133" cy="37489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𝟐𝟑𝟒𝟕𝟏𝟐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𝟕𝟖𝟗𝟖𝟓</m:t>
                      </m:r>
                      <m:sSup>
                        <m:sSupPr>
                          <m:ctrlPr>
                            <a:rPr lang="en-NZ" altLang="ja-JP" sz="16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6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n-NZ" altLang="ja-JP" sz="16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𝟎𝟑𝟏𝟏𝟐𝟕𝟓𝟔</m:t>
                      </m:r>
                    </m:oMath>
                  </m:oMathPara>
                </a14:m>
                <a:endParaRPr lang="en-US" altLang="ja-JP" sz="1600" b="1" i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93419359-B849-0149-5C14-A83AE0E1B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356" y="5843708"/>
                <a:ext cx="4538133" cy="37489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764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7" grpId="0"/>
      <p:bldP spid="19" grpId="0"/>
      <p:bldP spid="21" grpId="0"/>
      <p:bldP spid="23" grpId="0"/>
      <p:bldP spid="25" grpId="0"/>
      <p:bldP spid="26" grpId="0" animBg="1"/>
      <p:bldP spid="2" grpId="0"/>
      <p:bldP spid="3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303658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 2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045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7C04F2C-CBC7-C171-1A45-3AFF7C49776D}"/>
              </a:ext>
            </a:extLst>
          </p:cNvPr>
          <p:cNvSpPr txBox="1">
            <a:spLocks/>
          </p:cNvSpPr>
          <p:nvPr/>
        </p:nvSpPr>
        <p:spPr>
          <a:xfrm>
            <a:off x="319466" y="865220"/>
            <a:ext cx="11376667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00000"/>
              </a:lnSpc>
              <a:buFont typeface="+mj-lt"/>
              <a:buAutoNum type="alphaLcParenR"/>
              <a:defRPr/>
            </a:pPr>
            <a:r>
              <a:rPr lang="en-NZ" altLang="ja-JP" sz="1800" dirty="0">
                <a:solidFill>
                  <a:srgbClr val="0070C0"/>
                </a:solidFill>
              </a:rPr>
              <a:t>Save the code you produced for Question 1 as a new (differently named) R file.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2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348EB25-DDFB-B790-F6DD-96857CD8F0B9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5 – Q2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F60C1096-771F-490C-0F52-EA72F70C77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1532107"/>
                <a:ext cx="11376667" cy="9240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 algn="just">
                  <a:lnSpc>
                    <a:spcPct val="100000"/>
                  </a:lnSpc>
                  <a:buFont typeface="+mj-lt"/>
                  <a:buAutoNum type="alphaLcParenR" startAt="2"/>
                  <a:defRPr/>
                </a:pPr>
                <a:r>
                  <a:rPr lang="en-NZ" altLang="ja-JP" sz="1800" dirty="0">
                    <a:solidFill>
                      <a:srgbClr val="0070C0"/>
                    </a:solidFill>
                  </a:rPr>
                  <a:t>Create a function in R which uses a </a:t>
                </a:r>
                <a:r>
                  <a:rPr lang="en-NZ" altLang="ja-JP" sz="1800" b="1" dirty="0">
                    <a:solidFill>
                      <a:srgbClr val="0070C0"/>
                    </a:solidFill>
                  </a:rPr>
                  <a:t>uniform independence sampler</a:t>
                </a:r>
                <a:r>
                  <a:rPr lang="en-NZ" altLang="ja-JP" sz="1800" dirty="0">
                    <a:solidFill>
                      <a:srgbClr val="0070C0"/>
                    </a:solidFill>
                  </a:rPr>
                  <a:t> within the Metropolis-Hastings algorithm to produce a sequence of observations drawn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dirty="0">
                    <a:solidFill>
                      <a:srgbClr val="0070C0"/>
                    </a:solidFill>
                  </a:rPr>
                  <a:t>. Your function must have the following arguments…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F60C1096-771F-490C-0F52-EA72F70C7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1532107"/>
                <a:ext cx="11376667" cy="924086"/>
              </a:xfrm>
              <a:prstGeom prst="rect">
                <a:avLst/>
              </a:prstGeom>
              <a:blipFill>
                <a:blip r:embed="rId3"/>
                <a:stretch>
                  <a:fillRect l="-428" t="-3289" r="-42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3">
            <a:extLst>
              <a:ext uri="{FF2B5EF4-FFF2-40B4-BE49-F238E27FC236}">
                <a16:creationId xmlns:a16="http://schemas.microsoft.com/office/drawing/2014/main" id="{ADD37EC3-04EB-38F4-E1FD-A54BF51BB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581" y="2239580"/>
            <a:ext cx="6282836" cy="322224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MetHat1 &lt;- </a:t>
            </a:r>
            <a:r>
              <a:rPr lang="en-NZ" sz="16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 n, start)</a:t>
            </a:r>
            <a:endParaRPr lang="en-N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B5BBD365-1C1D-636E-6E60-5A5AB4D37A02}"/>
              </a:ext>
            </a:extLst>
          </p:cNvPr>
          <p:cNvSpPr txBox="1">
            <a:spLocks/>
          </p:cNvSpPr>
          <p:nvPr/>
        </p:nvSpPr>
        <p:spPr>
          <a:xfrm>
            <a:off x="682388" y="2656241"/>
            <a:ext cx="11013743" cy="4158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defRPr/>
            </a:pP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… w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here ‘</a:t>
            </a:r>
            <a:r>
              <a:rPr kumimoji="1" lang="en-US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n’ </a:t>
            </a:r>
            <a:r>
              <a:rPr kumimoji="1" lang="en-US" altLang="ja-JP" sz="1800" b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the number of observations to be produced and 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‘</a:t>
            </a:r>
            <a:r>
              <a:rPr lang="en-US" altLang="ja-JP" sz="1800" i="1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start</a:t>
            </a:r>
            <a:r>
              <a:rPr kumimoji="1" lang="en-US" altLang="ja-JP" sz="1800" b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’ is the starting value of the chain.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6F44FABD-F968-5F3B-D566-58E0EF6A74C5}"/>
              </a:ext>
            </a:extLst>
          </p:cNvPr>
          <p:cNvSpPr txBox="1">
            <a:spLocks/>
          </p:cNvSpPr>
          <p:nvPr/>
        </p:nvSpPr>
        <p:spPr>
          <a:xfrm>
            <a:off x="319464" y="3355049"/>
            <a:ext cx="11376667" cy="4158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00000"/>
              </a:lnSpc>
              <a:buFont typeface="+mj-lt"/>
              <a:buAutoNum type="alphaLcParenR" startAt="3"/>
              <a:defRPr/>
            </a:pPr>
            <a:r>
              <a:rPr lang="en-NZ" altLang="ja-JP" sz="1800" dirty="0">
                <a:solidFill>
                  <a:srgbClr val="0070C0"/>
                </a:solidFill>
              </a:rPr>
              <a:t>Run your algorithm with the following parameters….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id="{0C8BD5FC-0D54-F8DE-56D2-C01D3C4BA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633" y="3824909"/>
            <a:ext cx="8837620" cy="1054208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&lt;- 1000    </a:t>
            </a:r>
            <a:r>
              <a:rPr lang="en-NZ" sz="14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burn-in</a:t>
            </a:r>
            <a:b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&lt;- 9000    </a:t>
            </a:r>
            <a:r>
              <a:rPr lang="en-NZ" sz="14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Length of post-burn-in chain</a:t>
            </a:r>
            <a:br>
              <a:rPr lang="en-NZ" sz="1400" dirty="0">
                <a:solidFill>
                  <a:srgbClr val="5381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set.seed</a:t>
            </a:r>
            <a:r>
              <a:rPr lang="en-NZ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NZ" sz="1400" dirty="0">
                <a:solidFill>
                  <a:srgbClr val="2E74B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12345</a:t>
            </a:r>
            <a:r>
              <a:rPr lang="en-NZ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MH_Output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NZ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MetHat1( 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= </a:t>
            </a: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burnin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NZ" sz="14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mcmc</a:t>
            </a:r>
            <a:r>
              <a:rPr lang="en-NZ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start = 1.5)</a:t>
            </a:r>
            <a:endParaRPr lang="en-NZ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CB2AACE1-C01F-5695-33B1-298D7B8577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193215"/>
                <a:ext cx="11376667" cy="134226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 startAt="4"/>
                  <a:defRPr/>
                </a:pP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Use the post burn-in values of the chain to approximate the integral</a:t>
                </a:r>
                <a:b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num>
                      <m:den>
                        <m: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𝟑𝟏</m:t>
                        </m:r>
                      </m:den>
                    </m:f>
                    <m:nary>
                      <m:naryPr>
                        <m:limLoc m:val="undOvr"/>
                        <m:ctrlP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  <m:e>
                        <m: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𝒍𝒏</m:t>
                        </m:r>
                        <m: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NZ" altLang="ja-JP" sz="1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NZ" altLang="ja-JP" sz="18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rad>
                        <m:r>
                          <a:rPr lang="en-NZ" altLang="ja-JP" sz="18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18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NZ" altLang="ja-JP" sz="18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NZ" altLang="ja-JP" sz="18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m:rPr>
                            <m:brk m:alnAt="7"/>
                          </m:rP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18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NZ" altLang="ja-JP" sz="18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  <m:sup>
                            <m:r>
                              <a:rPr lang="en-NZ" altLang="ja-JP" sz="18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NZ" altLang="ja-JP" sz="1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</m:oMath>
                </a14:m>
                <a:endParaRPr lang="en-US" altLang="ja-JP" sz="18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kumimoji="1" lang="en-US" altLang="ja-JP" sz="180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CB2AACE1-C01F-5695-33B1-298D7B857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193215"/>
                <a:ext cx="11376667" cy="1342268"/>
              </a:xfrm>
              <a:prstGeom prst="rect">
                <a:avLst/>
              </a:prstGeom>
              <a:blipFill>
                <a:blip r:embed="rId4"/>
                <a:stretch>
                  <a:fillRect l="-428" t="-272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152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7C04F2C-CBC7-C171-1A45-3AFF7C49776D}"/>
              </a:ext>
            </a:extLst>
          </p:cNvPr>
          <p:cNvSpPr txBox="1">
            <a:spLocks/>
          </p:cNvSpPr>
          <p:nvPr/>
        </p:nvSpPr>
        <p:spPr>
          <a:xfrm>
            <a:off x="319466" y="865220"/>
            <a:ext cx="11376667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defRPr/>
            </a:pPr>
            <a:r>
              <a:rPr lang="en-NZ" altLang="ja-JP" sz="1600" dirty="0">
                <a:solidFill>
                  <a:schemeClr val="tx1"/>
                </a:solidFill>
              </a:rPr>
              <a:t>In order to answer parts a) – c) all we need to do is change </a:t>
            </a:r>
            <a:r>
              <a:rPr lang="en-NZ" altLang="ja-JP" sz="1600" b="1" dirty="0">
                <a:solidFill>
                  <a:schemeClr val="tx1"/>
                </a:solidFill>
              </a:rPr>
              <a:t>Section 1.1c1 </a:t>
            </a:r>
            <a:r>
              <a:rPr lang="en-NZ" altLang="ja-JP" sz="1600" dirty="0">
                <a:solidFill>
                  <a:schemeClr val="tx1"/>
                </a:solidFill>
              </a:rPr>
              <a:t>of the code 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2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348EB25-DDFB-B790-F6DD-96857CD8F0B9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5 – Q2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ADD37EC3-04EB-38F4-E1FD-A54BF51BB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06" y="1541891"/>
            <a:ext cx="6282836" cy="322224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 &lt;-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rnorm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(1,  mean=x[i-1], 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proposal_sd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  <a:endParaRPr lang="en-N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43FA9471-F35A-E2F4-5488-9212C4DE0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606" y="2234117"/>
            <a:ext cx="6282836" cy="322224"/>
          </a:xfrm>
          <a:prstGeom prst="rect">
            <a:avLst/>
          </a:prstGeom>
          <a:solidFill>
            <a:srgbClr val="F3F3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 &lt;- 1 + </a:t>
            </a:r>
            <a:r>
              <a:rPr lang="en-NZ" sz="16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runif</a:t>
            </a:r>
            <a:r>
              <a:rPr lang="en-NZ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(1)</a:t>
            </a:r>
            <a:endParaRPr lang="en-NZ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FC3948C-F469-DF04-EE2A-0724DE3C727B}"/>
              </a:ext>
            </a:extLst>
          </p:cNvPr>
          <p:cNvSpPr txBox="1">
            <a:spLocks/>
          </p:cNvSpPr>
          <p:nvPr/>
        </p:nvSpPr>
        <p:spPr>
          <a:xfrm>
            <a:off x="3011606" y="1176766"/>
            <a:ext cx="628283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lang="en-NZ" altLang="ja-JP" sz="1800" b="1" dirty="0">
                <a:solidFill>
                  <a:schemeClr val="tx1"/>
                </a:solidFill>
              </a:rPr>
              <a:t>From</a:t>
            </a:r>
            <a:endParaRPr kumimoji="1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FE01CB5-FF9D-EB64-3058-CF0EEA43FFC3}"/>
              </a:ext>
            </a:extLst>
          </p:cNvPr>
          <p:cNvSpPr txBox="1">
            <a:spLocks/>
          </p:cNvSpPr>
          <p:nvPr/>
        </p:nvSpPr>
        <p:spPr>
          <a:xfrm>
            <a:off x="3011606" y="1924912"/>
            <a:ext cx="628283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lang="en-NZ" altLang="ja-JP" sz="1800" b="1" dirty="0">
                <a:solidFill>
                  <a:schemeClr val="tx1"/>
                </a:solidFill>
              </a:rPr>
              <a:t>To</a:t>
            </a:r>
            <a:endParaRPr kumimoji="1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D04C752-D51F-42ED-09A1-0588B8360225}"/>
              </a:ext>
            </a:extLst>
          </p:cNvPr>
          <p:cNvSpPr txBox="1">
            <a:spLocks/>
          </p:cNvSpPr>
          <p:nvPr/>
        </p:nvSpPr>
        <p:spPr>
          <a:xfrm>
            <a:off x="9444251" y="1559787"/>
            <a:ext cx="258397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chemeClr val="bg2">
                    <a:lumMod val="50000"/>
                  </a:schemeClr>
                </a:solidFill>
              </a:rPr>
              <a:t>Normal Random Walk Sampler</a:t>
            </a: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170F6B9-3BCF-801C-E7FD-7A003FF04F87}"/>
              </a:ext>
            </a:extLst>
          </p:cNvPr>
          <p:cNvSpPr txBox="1">
            <a:spLocks/>
          </p:cNvSpPr>
          <p:nvPr/>
        </p:nvSpPr>
        <p:spPr>
          <a:xfrm>
            <a:off x="9444251" y="2234117"/>
            <a:ext cx="2583976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chemeClr val="bg2">
                    <a:lumMod val="50000"/>
                  </a:schemeClr>
                </a:solidFill>
              </a:rPr>
              <a:t>Uniform Independence Sampler</a:t>
            </a:r>
            <a:endParaRPr kumimoji="1" lang="en-US" altLang="ja-JP" sz="14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87913F07-6563-4E55-76DF-9FFBC4812B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8684" y="2882677"/>
                <a:ext cx="11608680" cy="15854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600" dirty="0">
                    <a:solidFill>
                      <a:schemeClr val="tx1"/>
                    </a:solidFill>
                  </a:rPr>
                  <a:t>In order to answer part d)… The Ergodic theorem says that if you want to evaluate the integral  </a:t>
                </a:r>
                <a:endParaRPr lang="en-NZ" altLang="ja-JP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≡  </m:t>
                      </m:r>
                      <m:nary>
                        <m:naryPr>
                          <m:supHide m:val="on"/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en-NZ" altLang="ja-JP" sz="1600" b="1" dirty="0">
                  <a:solidFill>
                    <a:schemeClr val="tx1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this can be approximated by taking a large number of observations of </a:t>
                </a:r>
                <a:r>
                  <a:rPr lang="en-US" altLang="ja-JP" sz="1600" b="1" i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X</a:t>
                </a: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distributed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ja-JP" sz="1600" b="1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and calculating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</m:acc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  </m:t>
                      </m:r>
                      <m:f>
                        <m:f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NZ" altLang="ja-JP" sz="16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US" altLang="ja-JP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87913F07-6563-4E55-76DF-9FFBC4812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84" y="2882677"/>
                <a:ext cx="11608680" cy="1585442"/>
              </a:xfrm>
              <a:prstGeom prst="rect">
                <a:avLst/>
              </a:prstGeom>
              <a:blipFill>
                <a:blip r:embed="rId3"/>
                <a:stretch>
                  <a:fillRect l="-262" t="-47692" b="-4384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6B844C15-5C04-3190-2D96-AB6B39285D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459" y="4640766"/>
                <a:ext cx="11608680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600" dirty="0">
                    <a:solidFill>
                      <a:schemeClr val="tx1"/>
                    </a:solidFill>
                  </a:rPr>
                  <a:t>The sequence of observations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NZ" altLang="ja-JP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NZ" altLang="ja-JP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NZ" altLang="ja-JP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𝟎𝟎𝟏</m:t>
                        </m:r>
                      </m:sub>
                      <m:sup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𝟎𝟎𝟎</m:t>
                        </m:r>
                      </m:sup>
                    </m:sSubSup>
                  </m:oMath>
                </a14:m>
                <a:r>
                  <a:rPr lang="en-NZ" altLang="ja-JP" sz="1600" b="0" dirty="0">
                    <a:solidFill>
                      <a:schemeClr val="tx1"/>
                    </a:solidFill>
                  </a:rPr>
                  <a:t> constructed in our Metropolis-Hastings algorithm are distributed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600" b="1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600" dirty="0">
                    <a:solidFill>
                      <a:schemeClr val="tx1"/>
                    </a:solidFill>
                  </a:rPr>
                  <a:t>Therefore, the desired integral </a:t>
                </a:r>
                <a:r>
                  <a:rPr lang="en-NZ" altLang="ja-JP" sz="1600" b="0" dirty="0">
                    <a:solidFill>
                      <a:schemeClr val="tx1"/>
                    </a:solidFill>
                  </a:rPr>
                  <a:t>can be approximated as</a:t>
                </a:r>
                <a:r>
                  <a:rPr lang="en-US" altLang="ja-JP" sz="16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…</a:t>
                </a:r>
                <a:endParaRPr lang="en-NZ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6B844C15-5C04-3190-2D96-AB6B39285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59" y="4640766"/>
                <a:ext cx="11608680" cy="675343"/>
              </a:xfrm>
              <a:prstGeom prst="rect">
                <a:avLst/>
              </a:prstGeom>
              <a:blipFill>
                <a:blip r:embed="rId4"/>
                <a:stretch>
                  <a:fillRect l="-262" b="-630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097B16ED-CD19-0B00-6630-5BC603C932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8550" y="5378567"/>
                <a:ext cx="4898019" cy="80342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𝟑𝟎</m:t>
                          </m:r>
                        </m:num>
                        <m:den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𝟑𝟏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𝒍𝒏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m:rPr>
                              <m:brk m:alnAt="7"/>
                            </m:r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NZ" altLang="ja-JP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NZ" altLang="ja-JP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NZ" altLang="ja-JP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NZ" altLang="ja-JP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NZ" altLang="ja-JP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𝟗𝟎𝟎𝟎</m:t>
                          </m:r>
                        </m:den>
                      </m:f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𝟎𝟎𝟏</m:t>
                          </m:r>
                        </m:sub>
                        <m:sup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𝟎𝟎𝟎𝟎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5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𝐥𝐧</m:t>
                              </m:r>
                              <m:r>
                                <a:rPr lang="en-NZ" altLang="ja-JP" sz="15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NZ" altLang="ja-JP" sz="15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NZ" altLang="ja-JP" sz="1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ja-JP" sz="1500" b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097B16ED-CD19-0B00-6630-5BC603C93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50" y="5378567"/>
                <a:ext cx="4898019" cy="8034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9108290C-34FB-03AA-223B-66B2F8F8DE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30757" y="5651090"/>
                <a:ext cx="1651883" cy="37489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𝟐𝟖𝟖𝟕𝟏𝟖𝟏</m:t>
                      </m:r>
                    </m:oMath>
                  </m:oMathPara>
                </a14:m>
                <a:endParaRPr lang="en-US" altLang="ja-JP" sz="1600" b="1" i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9108290C-34FB-03AA-223B-66B2F8F8D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757" y="5651090"/>
                <a:ext cx="1651883" cy="3748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9ACC3EC-3C4B-268E-0E34-6972F5C2778E}"/>
              </a:ext>
            </a:extLst>
          </p:cNvPr>
          <p:cNvSpPr txBox="1">
            <a:spLocks/>
          </p:cNvSpPr>
          <p:nvPr/>
        </p:nvSpPr>
        <p:spPr>
          <a:xfrm>
            <a:off x="7383287" y="5650694"/>
            <a:ext cx="4428852" cy="3748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1400" dirty="0">
                <a:solidFill>
                  <a:schemeClr val="tx1"/>
                </a:solidFill>
                <a:hlinkClick r:id="rId7"/>
              </a:rPr>
              <a:t>Wolfram Alpha </a:t>
            </a:r>
            <a:r>
              <a:rPr lang="en-US" altLang="ja-JP" sz="1400" dirty="0">
                <a:solidFill>
                  <a:schemeClr val="bg2">
                    <a:lumMod val="50000"/>
                  </a:schemeClr>
                </a:solidFill>
              </a:rPr>
              <a:t>evaluates this integral as 0.28867</a:t>
            </a:r>
          </a:p>
        </p:txBody>
      </p:sp>
    </p:spTree>
    <p:extLst>
      <p:ext uri="{BB962C8B-B14F-4D97-AF65-F5344CB8AC3E}">
        <p14:creationId xmlns:p14="http://schemas.microsoft.com/office/powerpoint/2010/main" val="351457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5908</TotalTime>
  <Words>893</Words>
  <Application>Microsoft Office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123</cp:revision>
  <dcterms:created xsi:type="dcterms:W3CDTF">2022-02-19T23:15:01Z</dcterms:created>
  <dcterms:modified xsi:type="dcterms:W3CDTF">2022-10-09T06:54:02Z</dcterms:modified>
</cp:coreProperties>
</file>