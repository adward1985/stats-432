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260" r:id="rId4"/>
    <p:sldId id="258" r:id="rId5"/>
    <p:sldId id="261" r:id="rId6"/>
    <p:sldId id="265" r:id="rId7"/>
    <p:sldId id="262" r:id="rId8"/>
    <p:sldId id="263" r:id="rId9"/>
    <p:sldId id="264" r:id="rId10"/>
    <p:sldId id="363" r:id="rId11"/>
    <p:sldId id="362" r:id="rId12"/>
    <p:sldId id="364" r:id="rId13"/>
    <p:sldId id="365" r:id="rId14"/>
    <p:sldId id="366" r:id="rId15"/>
    <p:sldId id="3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CC"/>
    <a:srgbClr val="DE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87" d="100"/>
          <a:sy n="87" d="100"/>
        </p:scale>
        <p:origin x="726" y="6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Sheet1!$G$2</c:f>
              <c:strCache>
                <c:ptCount val="1"/>
                <c:pt idx="0">
                  <c:v>Male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Sheet1!$H$1:$J$1</c:f>
              <c:strCache>
                <c:ptCount val="3"/>
                <c:pt idx="0">
                  <c:v>Dosage 10mgs</c:v>
                </c:pt>
                <c:pt idx="1">
                  <c:v>Dosage 20mgs</c:v>
                </c:pt>
                <c:pt idx="2">
                  <c:v>Dosage 30mgs</c:v>
                </c:pt>
              </c:strCache>
            </c:strRef>
          </c:cat>
          <c:val>
            <c:numRef>
              <c:f>Sheet1!$H$2:$J$2</c:f>
              <c:numCache>
                <c:formatCode>0.00</c:formatCode>
                <c:ptCount val="3"/>
                <c:pt idx="0">
                  <c:v>82.666666666666671</c:v>
                </c:pt>
                <c:pt idx="1">
                  <c:v>79</c:v>
                </c:pt>
                <c:pt idx="2">
                  <c:v>73.444444444444443</c:v>
                </c:pt>
              </c:numCache>
            </c:numRef>
          </c:val>
          <c:smooth val="0"/>
          <c:extLst>
            <c:ext xmlns:c16="http://schemas.microsoft.com/office/drawing/2014/chart" uri="{C3380CC4-5D6E-409C-BE32-E72D297353CC}">
              <c16:uniqueId val="{00000000-241D-434A-A181-A9E15DFC1842}"/>
            </c:ext>
          </c:extLst>
        </c:ser>
        <c:ser>
          <c:idx val="1"/>
          <c:order val="1"/>
          <c:tx>
            <c:strRef>
              <c:f>Sheet1!$G$3</c:f>
              <c:strCache>
                <c:ptCount val="1"/>
                <c:pt idx="0">
                  <c:v>Female</c:v>
                </c:pt>
              </c:strCache>
            </c:strRef>
          </c:tx>
          <c:spPr>
            <a:ln w="28575" cap="rnd">
              <a:solidFill>
                <a:srgbClr val="00B0F0"/>
              </a:solidFill>
              <a:round/>
            </a:ln>
            <a:effectLst/>
          </c:spPr>
          <c:marker>
            <c:symbol val="circle"/>
            <c:size val="5"/>
            <c:spPr>
              <a:solidFill>
                <a:srgbClr val="00B0F0"/>
              </a:solidFill>
              <a:ln w="9525">
                <a:solidFill>
                  <a:srgbClr val="00B0F0"/>
                </a:solidFill>
              </a:ln>
              <a:effectLst/>
            </c:spPr>
          </c:marker>
          <c:cat>
            <c:strRef>
              <c:f>Sheet1!$H$1:$J$1</c:f>
              <c:strCache>
                <c:ptCount val="3"/>
                <c:pt idx="0">
                  <c:v>Dosage 10mgs</c:v>
                </c:pt>
                <c:pt idx="1">
                  <c:v>Dosage 20mgs</c:v>
                </c:pt>
                <c:pt idx="2">
                  <c:v>Dosage 30mgs</c:v>
                </c:pt>
              </c:strCache>
            </c:strRef>
          </c:cat>
          <c:val>
            <c:numRef>
              <c:f>Sheet1!$H$3:$J$3</c:f>
              <c:numCache>
                <c:formatCode>0.00</c:formatCode>
                <c:ptCount val="3"/>
                <c:pt idx="0">
                  <c:v>72.142857142857139</c:v>
                </c:pt>
                <c:pt idx="1">
                  <c:v>69.555555555555557</c:v>
                </c:pt>
                <c:pt idx="2">
                  <c:v>65.625</c:v>
                </c:pt>
              </c:numCache>
            </c:numRef>
          </c:val>
          <c:smooth val="0"/>
          <c:extLst>
            <c:ext xmlns:c16="http://schemas.microsoft.com/office/drawing/2014/chart" uri="{C3380CC4-5D6E-409C-BE32-E72D297353CC}">
              <c16:uniqueId val="{00000001-241D-434A-A181-A9E15DFC1842}"/>
            </c:ext>
          </c:extLst>
        </c:ser>
        <c:dLbls>
          <c:showLegendKey val="0"/>
          <c:showVal val="0"/>
          <c:showCatName val="0"/>
          <c:showSerName val="0"/>
          <c:showPercent val="0"/>
          <c:showBubbleSize val="0"/>
        </c:dLbls>
        <c:marker val="1"/>
        <c:smooth val="0"/>
        <c:axId val="433040848"/>
        <c:axId val="433041264"/>
      </c:lineChart>
      <c:catAx>
        <c:axId val="433040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433041264"/>
        <c:crosses val="autoZero"/>
        <c:auto val="1"/>
        <c:lblAlgn val="ctr"/>
        <c:lblOffset val="100"/>
        <c:noMultiLvlLbl val="0"/>
      </c:catAx>
      <c:valAx>
        <c:axId val="433041264"/>
        <c:scaling>
          <c:orientation val="minMax"/>
          <c:min val="4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Cholesterol Level in mgs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304084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18/09/2022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chart" Target="../charts/chart1.xml"/><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9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0.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Tutorial 2 – Permutation Testing (Part II)</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690336"/>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Question 1 – Permutation Testing in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Two-way ANOVA Context</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65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2"/>
            <a:ext cx="11615496" cy="9390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400" dirty="0">
                <a:solidFill>
                  <a:srgbClr val="0070C0"/>
                </a:solidFill>
              </a:rPr>
              <a:t>A study is conducted to test whether different dosages of Atorvastatin (10mgs, 20mgs, 30mgs) have any effect on the level of cholesterol within the blood stream of patients. The table below shows the level of cholesterol in patient’s blood streams after taking specified dosages of Atorvastatin each day for a month. This data is also available in the data set entitled ‘Cholesterol.csv’. Since cholesterol levels are likely to be affected by biological sex, the effect of dosage on cholesterol levels must be assessed </a:t>
            </a:r>
            <a:r>
              <a:rPr lang="en-US" altLang="ja-JP" sz="1400" b="1" dirty="0">
                <a:solidFill>
                  <a:srgbClr val="0070C0"/>
                </a:solidFill>
              </a:rPr>
              <a:t>controlling for sex</a:t>
            </a:r>
            <a:r>
              <a:rPr lang="en-US" altLang="ja-JP" sz="1400" dirty="0">
                <a:solidFill>
                  <a:srgbClr val="0070C0"/>
                </a:solidFill>
              </a:rPr>
              <a:t>.</a:t>
            </a: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862316" y="1971881"/>
            <a:ext cx="7718816" cy="223217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mj-lt"/>
              <a:buAutoNum type="alphaLcParenR"/>
            </a:pPr>
            <a:r>
              <a:rPr lang="en-US" altLang="ja-JP" sz="1400" dirty="0">
                <a:solidFill>
                  <a:srgbClr val="0070C0"/>
                </a:solidFill>
              </a:rPr>
              <a:t>Specify the response variable, factors and factor levels present in this study.</a:t>
            </a:r>
          </a:p>
          <a:p>
            <a:pPr marL="342900" indent="-342900">
              <a:lnSpc>
                <a:spcPct val="100000"/>
              </a:lnSpc>
              <a:buFont typeface="+mj-lt"/>
              <a:buAutoNum type="alphaLcParenR"/>
            </a:pPr>
            <a:endParaRPr lang="en-US" altLang="ja-JP" sz="1400" dirty="0">
              <a:solidFill>
                <a:srgbClr val="0070C0"/>
              </a:solidFill>
            </a:endParaRPr>
          </a:p>
          <a:p>
            <a:pPr marL="342900" indent="-342900">
              <a:lnSpc>
                <a:spcPct val="100000"/>
              </a:lnSpc>
              <a:buFont typeface="+mj-lt"/>
              <a:buAutoNum type="alphaLcParenR"/>
            </a:pPr>
            <a:r>
              <a:rPr lang="en-US" altLang="ja-JP" sz="1400" dirty="0">
                <a:solidFill>
                  <a:srgbClr val="0070C0"/>
                </a:solidFill>
              </a:rPr>
              <a:t>Write down the two-way ANOVA model as it applies in this instance.</a:t>
            </a:r>
            <a:br>
              <a:rPr lang="en-US" altLang="ja-JP" sz="1400" dirty="0">
                <a:solidFill>
                  <a:srgbClr val="0070C0"/>
                </a:solidFill>
              </a:rPr>
            </a:br>
            <a:endParaRPr lang="en-US" altLang="ja-JP" sz="1400" dirty="0">
              <a:solidFill>
                <a:srgbClr val="0070C0"/>
              </a:solidFill>
            </a:endParaRPr>
          </a:p>
          <a:p>
            <a:pPr marL="342900" indent="-342900">
              <a:lnSpc>
                <a:spcPct val="100000"/>
              </a:lnSpc>
              <a:buFont typeface="+mj-lt"/>
              <a:buAutoNum type="alphaLcParenR"/>
            </a:pPr>
            <a:r>
              <a:rPr lang="en-US" altLang="ja-JP" sz="1400" dirty="0">
                <a:solidFill>
                  <a:srgbClr val="0070C0"/>
                </a:solidFill>
              </a:rPr>
              <a:t>Construct a marginal means plot. What does this suggest with regards to the presence on an interaction term between dosage and sex?</a:t>
            </a:r>
            <a:br>
              <a:rPr lang="en-US" altLang="ja-JP" sz="1400" dirty="0">
                <a:solidFill>
                  <a:srgbClr val="0070C0"/>
                </a:solidFill>
              </a:rPr>
            </a:br>
            <a:endParaRPr lang="en-US" altLang="ja-JP" sz="1400" dirty="0">
              <a:solidFill>
                <a:srgbClr val="0070C0"/>
              </a:solidFill>
            </a:endParaRPr>
          </a:p>
          <a:p>
            <a:pPr marL="342900" indent="-342900">
              <a:lnSpc>
                <a:spcPct val="100000"/>
              </a:lnSpc>
              <a:buFont typeface="+mj-lt"/>
              <a:buAutoNum type="alphaLcParenR"/>
            </a:pPr>
            <a:r>
              <a:rPr lang="en-US" altLang="ja-JP" sz="1400" dirty="0">
                <a:solidFill>
                  <a:srgbClr val="0070C0"/>
                </a:solidFill>
              </a:rPr>
              <a:t>Conduct normal theory two-way ANOVA, to test for the effects of sex, dosage </a:t>
            </a:r>
            <a:r>
              <a:rPr lang="en-US" altLang="ja-JP" sz="1400" b="1" dirty="0">
                <a:solidFill>
                  <a:srgbClr val="0070C0"/>
                </a:solidFill>
              </a:rPr>
              <a:t>controlling for sex </a:t>
            </a:r>
            <a:r>
              <a:rPr lang="en-US" altLang="ja-JP" sz="1400" dirty="0">
                <a:solidFill>
                  <a:srgbClr val="0070C0"/>
                </a:solidFill>
              </a:rPr>
              <a:t>and the presence of any interaction between dosage and sex? Will it matter in which order the factors are entered into the model in this instance?</a:t>
            </a:r>
          </a:p>
          <a:p>
            <a:pPr marL="342900" indent="-342900">
              <a:lnSpc>
                <a:spcPct val="100000"/>
              </a:lnSpc>
              <a:buFont typeface="+mj-lt"/>
              <a:buAutoNum type="alphaLcParenR"/>
            </a:pPr>
            <a:endParaRPr lang="en-US" altLang="ja-JP" sz="1400" dirty="0">
              <a:solidFill>
                <a:srgbClr val="0070C0"/>
              </a:solidFill>
            </a:endParaRPr>
          </a:p>
        </p:txBody>
      </p:sp>
      <p:sp>
        <p:nvSpPr>
          <p:cNvPr id="3" name="Text Placeholder 5">
            <a:extLst>
              <a:ext uri="{FF2B5EF4-FFF2-40B4-BE49-F238E27FC236}">
                <a16:creationId xmlns:a16="http://schemas.microsoft.com/office/drawing/2014/main" id="{9228428E-C662-CAF0-10F7-FDEB4689FF02}"/>
              </a:ext>
            </a:extLst>
          </p:cNvPr>
          <p:cNvSpPr txBox="1">
            <a:spLocks/>
          </p:cNvSpPr>
          <p:nvPr/>
        </p:nvSpPr>
        <p:spPr>
          <a:xfrm>
            <a:off x="3862316" y="1684125"/>
            <a:ext cx="4625576"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Normal Theory Two-Way ANOVA:</a:t>
            </a:r>
          </a:p>
        </p:txBody>
      </p:sp>
      <p:sp>
        <p:nvSpPr>
          <p:cNvPr id="8" name="Text Placeholder 5">
            <a:extLst>
              <a:ext uri="{FF2B5EF4-FFF2-40B4-BE49-F238E27FC236}">
                <a16:creationId xmlns:a16="http://schemas.microsoft.com/office/drawing/2014/main" id="{B6378C8C-7471-CC3E-45C8-9D1A863AC7FE}"/>
              </a:ext>
            </a:extLst>
          </p:cNvPr>
          <p:cNvSpPr txBox="1">
            <a:spLocks/>
          </p:cNvSpPr>
          <p:nvPr/>
        </p:nvSpPr>
        <p:spPr>
          <a:xfrm>
            <a:off x="3862316" y="4273482"/>
            <a:ext cx="4710435"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Permutation Testing:</a:t>
            </a:r>
          </a:p>
        </p:txBody>
      </p:sp>
      <p:sp>
        <p:nvSpPr>
          <p:cNvPr id="9" name="Text Placeholder 5">
            <a:extLst>
              <a:ext uri="{FF2B5EF4-FFF2-40B4-BE49-F238E27FC236}">
                <a16:creationId xmlns:a16="http://schemas.microsoft.com/office/drawing/2014/main" id="{6594744B-AA76-FC39-BBCA-38E07ECA9683}"/>
              </a:ext>
            </a:extLst>
          </p:cNvPr>
          <p:cNvSpPr txBox="1">
            <a:spLocks/>
          </p:cNvSpPr>
          <p:nvPr/>
        </p:nvSpPr>
        <p:spPr>
          <a:xfrm>
            <a:off x="3862316" y="4532219"/>
            <a:ext cx="7718816" cy="19771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0070C0"/>
                </a:solidFill>
              </a:rPr>
              <a:t>Due to the small sample size in some cells, there is concern that the conditions of normal theory two-way ANOVA (i.e. independence, normality and homogeneity of variance) may not be satisfied. Conduct permutation tests to:</a:t>
            </a:r>
          </a:p>
          <a:p>
            <a:pPr>
              <a:lnSpc>
                <a:spcPct val="100000"/>
              </a:lnSpc>
            </a:pPr>
            <a:endParaRPr lang="en-US" altLang="ja-JP" sz="1400" dirty="0">
              <a:solidFill>
                <a:srgbClr val="0070C0"/>
              </a:solidFill>
            </a:endParaRPr>
          </a:p>
          <a:p>
            <a:pPr marL="342900" indent="-342900">
              <a:lnSpc>
                <a:spcPct val="100000"/>
              </a:lnSpc>
              <a:buFont typeface="+mj-lt"/>
              <a:buAutoNum type="alphaLcParenR" startAt="5"/>
            </a:pPr>
            <a:r>
              <a:rPr lang="en-US" altLang="ja-JP" sz="1400" dirty="0">
                <a:solidFill>
                  <a:srgbClr val="0070C0"/>
                </a:solidFill>
              </a:rPr>
              <a:t>Test for interaction effects using Ter </a:t>
            </a:r>
            <a:r>
              <a:rPr lang="en-US" altLang="ja-JP" sz="1400" dirty="0" err="1">
                <a:solidFill>
                  <a:srgbClr val="0070C0"/>
                </a:solidFill>
              </a:rPr>
              <a:t>Braak’s</a:t>
            </a:r>
            <a:r>
              <a:rPr lang="en-US" altLang="ja-JP" sz="1400" dirty="0">
                <a:solidFill>
                  <a:srgbClr val="0070C0"/>
                </a:solidFill>
              </a:rPr>
              <a:t> method.</a:t>
            </a:r>
            <a:br>
              <a:rPr lang="en-US" altLang="ja-JP" sz="1400" dirty="0">
                <a:solidFill>
                  <a:srgbClr val="0070C0"/>
                </a:solidFill>
              </a:rPr>
            </a:br>
            <a:endParaRPr lang="en-US" altLang="ja-JP" sz="1400" dirty="0">
              <a:solidFill>
                <a:srgbClr val="0070C0"/>
              </a:solidFill>
            </a:endParaRPr>
          </a:p>
          <a:p>
            <a:pPr marL="342900" indent="-342900">
              <a:lnSpc>
                <a:spcPct val="100000"/>
              </a:lnSpc>
              <a:buFont typeface="+mj-lt"/>
              <a:buAutoNum type="alphaLcParenR" startAt="5"/>
            </a:pPr>
            <a:r>
              <a:rPr lang="en-US" altLang="ja-JP" sz="1400" dirty="0">
                <a:solidFill>
                  <a:srgbClr val="0070C0"/>
                </a:solidFill>
              </a:rPr>
              <a:t>Test for the effect of sex on cholesterol alone.</a:t>
            </a:r>
            <a:br>
              <a:rPr lang="en-US" altLang="ja-JP" sz="1400" dirty="0">
                <a:solidFill>
                  <a:srgbClr val="0070C0"/>
                </a:solidFill>
              </a:rPr>
            </a:br>
            <a:endParaRPr lang="en-US" altLang="ja-JP" sz="1400" dirty="0">
              <a:solidFill>
                <a:srgbClr val="0070C0"/>
              </a:solidFill>
            </a:endParaRPr>
          </a:p>
          <a:p>
            <a:pPr marL="342900" indent="-342900">
              <a:lnSpc>
                <a:spcPct val="100000"/>
              </a:lnSpc>
              <a:buFont typeface="+mj-lt"/>
              <a:buAutoNum type="alphaLcParenR" startAt="5"/>
            </a:pPr>
            <a:r>
              <a:rPr lang="en-US" altLang="ja-JP" sz="1400" dirty="0">
                <a:solidFill>
                  <a:srgbClr val="0070C0"/>
                </a:solidFill>
              </a:rPr>
              <a:t>Test for the effect of dosage controlling for sex.</a:t>
            </a:r>
          </a:p>
        </p:txBody>
      </p:sp>
      <p:graphicFrame>
        <p:nvGraphicFramePr>
          <p:cNvPr id="10" name="Table 9">
            <a:extLst>
              <a:ext uri="{FF2B5EF4-FFF2-40B4-BE49-F238E27FC236}">
                <a16:creationId xmlns:a16="http://schemas.microsoft.com/office/drawing/2014/main" id="{21B55116-D758-B1F9-8022-7561A2F7F2A5}"/>
              </a:ext>
            </a:extLst>
          </p:cNvPr>
          <p:cNvGraphicFramePr>
            <a:graphicFrameLocks noGrp="1"/>
          </p:cNvGraphicFramePr>
          <p:nvPr>
            <p:extLst>
              <p:ext uri="{D42A27DB-BD31-4B8C-83A1-F6EECF244321}">
                <p14:modId xmlns:p14="http://schemas.microsoft.com/office/powerpoint/2010/main" val="2286612503"/>
              </p:ext>
            </p:extLst>
          </p:nvPr>
        </p:nvGraphicFramePr>
        <p:xfrm>
          <a:off x="406151" y="1823703"/>
          <a:ext cx="3213100" cy="4358952"/>
        </p:xfrm>
        <a:graphic>
          <a:graphicData uri="http://schemas.openxmlformats.org/drawingml/2006/table">
            <a:tbl>
              <a:tblPr firstRow="1" firstCol="1" bandRow="1">
                <a:tableStyleId>{5C22544A-7EE6-4342-B048-85BDC9FD1C3A}</a:tableStyleId>
              </a:tblPr>
              <a:tblGrid>
                <a:gridCol w="573869">
                  <a:extLst>
                    <a:ext uri="{9D8B030D-6E8A-4147-A177-3AD203B41FA5}">
                      <a16:colId xmlns:a16="http://schemas.microsoft.com/office/drawing/2014/main" val="1659444516"/>
                    </a:ext>
                  </a:extLst>
                </a:gridCol>
                <a:gridCol w="835831">
                  <a:extLst>
                    <a:ext uri="{9D8B030D-6E8A-4147-A177-3AD203B41FA5}">
                      <a16:colId xmlns:a16="http://schemas.microsoft.com/office/drawing/2014/main" val="1590401375"/>
                    </a:ext>
                  </a:extLst>
                </a:gridCol>
                <a:gridCol w="901700">
                  <a:extLst>
                    <a:ext uri="{9D8B030D-6E8A-4147-A177-3AD203B41FA5}">
                      <a16:colId xmlns:a16="http://schemas.microsoft.com/office/drawing/2014/main" val="667814405"/>
                    </a:ext>
                  </a:extLst>
                </a:gridCol>
                <a:gridCol w="901700">
                  <a:extLst>
                    <a:ext uri="{9D8B030D-6E8A-4147-A177-3AD203B41FA5}">
                      <a16:colId xmlns:a16="http://schemas.microsoft.com/office/drawing/2014/main" val="1126257905"/>
                    </a:ext>
                  </a:extLst>
                </a:gridCol>
              </a:tblGrid>
              <a:tr h="402562">
                <a:tc>
                  <a:txBody>
                    <a:bodyPr/>
                    <a:lstStyle/>
                    <a:p>
                      <a:pPr>
                        <a:lnSpc>
                          <a:spcPct val="107000"/>
                        </a:lnSpc>
                      </a:pPr>
                      <a:endParaRPr lang="en-NZ" sz="11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Dosage 10mgs</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20mgs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30mgs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35967317"/>
                  </a:ext>
                </a:extLst>
              </a:tr>
              <a:tr h="22951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71</a:t>
                      </a:r>
                    </a:p>
                  </a:txBody>
                  <a:tcPr marL="9525" marR="9525" marT="9525" marB="0" anchor="ctr"/>
                </a:tc>
                <a:extLst>
                  <a:ext uri="{0D108BD9-81ED-4DB2-BD59-A6C34878D82A}">
                    <a16:rowId xmlns:a16="http://schemas.microsoft.com/office/drawing/2014/main" val="34737088"/>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65</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67</a:t>
                      </a:r>
                    </a:p>
                  </a:txBody>
                  <a:tcPr marL="9525" marR="9525" marT="9525" marB="0" anchor="ctr"/>
                </a:tc>
                <a:extLst>
                  <a:ext uri="{0D108BD9-81ED-4DB2-BD59-A6C34878D82A}">
                    <a16:rowId xmlns:a16="http://schemas.microsoft.com/office/drawing/2014/main" val="2427662414"/>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80</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81</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extLst>
                  <a:ext uri="{0D108BD9-81ED-4DB2-BD59-A6C34878D82A}">
                    <a16:rowId xmlns:a16="http://schemas.microsoft.com/office/drawing/2014/main" val="3372802481"/>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73</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80</a:t>
                      </a:r>
                    </a:p>
                  </a:txBody>
                  <a:tcPr marL="9525" marR="9525" marT="9525" marB="0" anchor="ctr"/>
                </a:tc>
                <a:extLst>
                  <a:ext uri="{0D108BD9-81ED-4DB2-BD59-A6C34878D82A}">
                    <a16:rowId xmlns:a16="http://schemas.microsoft.com/office/drawing/2014/main" val="2506817266"/>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83</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82</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82</a:t>
                      </a:r>
                    </a:p>
                  </a:txBody>
                  <a:tcPr marL="9525" marR="9525" marT="9525" marB="0" anchor="ctr"/>
                </a:tc>
                <a:extLst>
                  <a:ext uri="{0D108BD9-81ED-4DB2-BD59-A6C34878D82A}">
                    <a16:rowId xmlns:a16="http://schemas.microsoft.com/office/drawing/2014/main" val="2506423521"/>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85</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1618157351"/>
                  </a:ext>
                </a:extLst>
              </a:tr>
              <a:tr h="218585">
                <a:tc>
                  <a:txBody>
                    <a:bodyPr/>
                    <a:lstStyle/>
                    <a:p>
                      <a:pPr algn="ctr">
                        <a:lnSpc>
                          <a:spcPct val="107000"/>
                        </a:lnSpc>
                        <a:spcAft>
                          <a:spcPts val="800"/>
                        </a:spcAft>
                      </a:pPr>
                      <a:r>
                        <a:rPr lang="en-NZ" sz="1100" dirty="0">
                          <a:effectLst/>
                          <a:latin typeface="Calibri" panose="020F0502020204030204" pitchFamily="34" charset="0"/>
                          <a:ea typeface="Calibri" panose="020F0502020204030204" pitchFamily="34" charset="0"/>
                          <a:cs typeface="Times New Roman" panose="02020603050405020304" pitchFamily="18" charset="0"/>
                        </a:rPr>
                        <a:t>Male</a:t>
                      </a: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86</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76</a:t>
                      </a:r>
                    </a:p>
                  </a:txBody>
                  <a:tcPr marL="9525" marR="9525" marT="9525" marB="0" anchor="ctr"/>
                </a:tc>
                <a:extLst>
                  <a:ext uri="{0D108BD9-81ED-4DB2-BD59-A6C34878D82A}">
                    <a16:rowId xmlns:a16="http://schemas.microsoft.com/office/drawing/2014/main" val="2736700117"/>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73</a:t>
                      </a:r>
                    </a:p>
                  </a:txBody>
                  <a:tcPr marL="9525" marR="9525" marT="9525" marB="0" anchor="ctr"/>
                </a:tc>
                <a:extLst>
                  <a:ext uri="{0D108BD9-81ED-4DB2-BD59-A6C34878D82A}">
                    <a16:rowId xmlns:a16="http://schemas.microsoft.com/office/drawing/2014/main" val="2657871065"/>
                  </a:ext>
                </a:extLst>
              </a:tr>
              <a:tr h="22951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71</a:t>
                      </a:r>
                    </a:p>
                  </a:txBody>
                  <a:tcPr marL="9525" marR="9525" marT="9525" marB="0" anchor="ctr"/>
                </a:tc>
                <a:extLst>
                  <a:ext uri="{0D108BD9-81ED-4DB2-BD59-A6C34878D82A}">
                    <a16:rowId xmlns:a16="http://schemas.microsoft.com/office/drawing/2014/main" val="4044509371"/>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79</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66</a:t>
                      </a:r>
                    </a:p>
                  </a:txBody>
                  <a:tcPr marL="9525" marR="9525" marT="9525" marB="0" anchor="ctr"/>
                </a:tc>
                <a:extLst>
                  <a:ext uri="{0D108BD9-81ED-4DB2-BD59-A6C34878D82A}">
                    <a16:rowId xmlns:a16="http://schemas.microsoft.com/office/drawing/2014/main" val="4201916131"/>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57</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1960043920"/>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83</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2957139029"/>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53</a:t>
                      </a:r>
                    </a:p>
                  </a:txBody>
                  <a:tcPr marL="9525" marR="9525" marT="9525" marB="0" anchor="ctr"/>
                </a:tc>
                <a:extLst>
                  <a:ext uri="{0D108BD9-81ED-4DB2-BD59-A6C34878D82A}">
                    <a16:rowId xmlns:a16="http://schemas.microsoft.com/office/drawing/2014/main" val="995622970"/>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1012086593"/>
                  </a:ext>
                </a:extLst>
              </a:tr>
              <a:tr h="218585">
                <a:tc>
                  <a:txBody>
                    <a:bodyPr/>
                    <a:lstStyle/>
                    <a:p>
                      <a:pPr algn="ctr">
                        <a:lnSpc>
                          <a:spcPct val="107000"/>
                        </a:lnSpc>
                        <a:spcAft>
                          <a:spcPts val="800"/>
                        </a:spcAft>
                      </a:pPr>
                      <a:r>
                        <a:rPr lang="en-NZ" sz="1100" dirty="0">
                          <a:effectLst/>
                          <a:latin typeface="Calibri" panose="020F0502020204030204" pitchFamily="34" charset="0"/>
                          <a:ea typeface="Calibri" panose="020F0502020204030204" pitchFamily="34" charset="0"/>
                          <a:cs typeface="Times New Roman" panose="02020603050405020304" pitchFamily="18" charset="0"/>
                        </a:rPr>
                        <a:t>Female</a:t>
                      </a: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2587854458"/>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76</a:t>
                      </a:r>
                    </a:p>
                  </a:txBody>
                  <a:tcPr marL="9525" marR="9525" marT="9525" marB="0" anchor="ctr"/>
                </a:tc>
                <a:extLst>
                  <a:ext uri="{0D108BD9-81ED-4DB2-BD59-A6C34878D82A}">
                    <a16:rowId xmlns:a16="http://schemas.microsoft.com/office/drawing/2014/main" val="2859074407"/>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extLst>
                  <a:ext uri="{0D108BD9-81ED-4DB2-BD59-A6C34878D82A}">
                    <a16:rowId xmlns:a16="http://schemas.microsoft.com/office/drawing/2014/main" val="1074928605"/>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extLst>
                  <a:ext uri="{0D108BD9-81ED-4DB2-BD59-A6C34878D82A}">
                    <a16:rowId xmlns:a16="http://schemas.microsoft.com/office/drawing/2014/main" val="3516153935"/>
                  </a:ext>
                </a:extLst>
              </a:tr>
            </a:tbl>
          </a:graphicData>
        </a:graphic>
      </p:graphicFrame>
      <p:sp>
        <p:nvSpPr>
          <p:cNvPr id="12" name="Text Placeholder 5">
            <a:extLst>
              <a:ext uri="{FF2B5EF4-FFF2-40B4-BE49-F238E27FC236}">
                <a16:creationId xmlns:a16="http://schemas.microsoft.com/office/drawing/2014/main" id="{8EDA1BE1-5087-4134-0B80-0CFEE4ED0EA0}"/>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36083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529080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just" defTabSz="914324" rtl="0" eaLnBrk="1" fontAlgn="auto" latinLnBrk="0" hangingPunct="1">
              <a:lnSpc>
                <a:spcPct val="100000"/>
              </a:lnSpc>
              <a:spcBef>
                <a:spcPts val="0"/>
              </a:spcBef>
              <a:spcAft>
                <a:spcPts val="0"/>
              </a:spcAft>
              <a:buClrTx/>
              <a:buSzTx/>
              <a:buFont typeface="+mj-lt"/>
              <a:buAutoNum type="alphaLcParenR"/>
              <a:tabLst/>
              <a:defRPr/>
            </a:pPr>
            <a:r>
              <a:rPr lang="en-US" altLang="ja-JP" sz="1600" dirty="0">
                <a:solidFill>
                  <a:srgbClr val="0070C0"/>
                </a:solidFill>
              </a:rPr>
              <a:t>Specify the response variable, factors and factor levels present in this study</a:t>
            </a:r>
            <a:r>
              <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5918578" y="4006280"/>
            <a:ext cx="5290802"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1.1a1 of the code</a:t>
            </a:r>
            <a:endParaRPr kumimoji="1" lang="en-US" altLang="ja-JP" sz="1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3" name="Text Placeholder 5">
            <a:extLst>
              <a:ext uri="{FF2B5EF4-FFF2-40B4-BE49-F238E27FC236}">
                <a16:creationId xmlns:a16="http://schemas.microsoft.com/office/drawing/2014/main" id="{36A5D4CA-F554-AD4E-BBA6-48ABECFF95D0}"/>
              </a:ext>
            </a:extLst>
          </p:cNvPr>
          <p:cNvSpPr txBox="1">
            <a:spLocks/>
          </p:cNvSpPr>
          <p:nvPr/>
        </p:nvSpPr>
        <p:spPr>
          <a:xfrm>
            <a:off x="627776" y="1624441"/>
            <a:ext cx="5290802" cy="13946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Response Variable:</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Cholesterol level of patients (in mgs)</a:t>
            </a:r>
          </a:p>
          <a:p>
            <a:pPr lvl="0" algn="just">
              <a:lnSpc>
                <a:spcPct val="100000"/>
              </a:lnSpc>
              <a:defRPr/>
            </a:pPr>
            <a:r>
              <a:rPr lang="en-NZ" altLang="ja-JP" sz="1600" b="1" dirty="0">
                <a:solidFill>
                  <a:prstClr val="black"/>
                </a:solidFill>
                <a:latin typeface="Calibri" panose="020F0502020204030204"/>
                <a:ea typeface="游ゴシック" panose="020B0400000000000000" pitchFamily="34" charset="-128"/>
              </a:rPr>
              <a:t>Factor A:		</a:t>
            </a:r>
            <a:r>
              <a:rPr lang="en-NZ" altLang="ja-JP" sz="1600" dirty="0">
                <a:solidFill>
                  <a:prstClr val="black"/>
                </a:solidFill>
              </a:rPr>
              <a:t>Sex</a:t>
            </a:r>
            <a:endParaRPr lang="en-NZ" altLang="ja-JP" sz="1600"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Factor A Levels:</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lang="en-NZ" altLang="ja-JP" sz="1600" noProof="0" dirty="0">
                <a:solidFill>
                  <a:prstClr val="black"/>
                </a:solidFill>
                <a:latin typeface="Calibri" panose="020F0502020204030204"/>
                <a:ea typeface="游ゴシック" panose="020B0400000000000000" pitchFamily="34" charset="-128"/>
              </a:rPr>
              <a:t>Male, Female </a:t>
            </a:r>
            <a:r>
              <a:rPr kumimoji="1" lang="en-NZ" altLang="ja-JP" sz="160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(a=2)</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b="1" dirty="0">
                <a:solidFill>
                  <a:prstClr val="black"/>
                </a:solidFill>
                <a:latin typeface="Calibri" panose="020F0502020204030204"/>
                <a:ea typeface="游ゴシック" panose="020B0400000000000000" pitchFamily="34" charset="-128"/>
              </a:rPr>
              <a:t>Factor B:</a:t>
            </a:r>
            <a:r>
              <a:rPr lang="en-NZ" altLang="ja-JP" sz="1600" b="1" i="1" dirty="0">
                <a:solidFill>
                  <a:prstClr val="black"/>
                </a:solidFill>
                <a:latin typeface="Calibri" panose="020F0502020204030204"/>
                <a:ea typeface="游ゴシック" panose="020B0400000000000000" pitchFamily="34" charset="-128"/>
              </a:rPr>
              <a:t>		</a:t>
            </a:r>
            <a:r>
              <a:rPr lang="en-NZ" altLang="ja-JP" sz="1600" dirty="0">
                <a:solidFill>
                  <a:prstClr val="black"/>
                </a:solidFill>
                <a:latin typeface="Calibri" panose="020F0502020204030204"/>
                <a:ea typeface="游ゴシック" panose="020B0400000000000000" pitchFamily="34" charset="-128"/>
              </a:rPr>
              <a:t>Dosage of Atorvastatin</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Facto</a:t>
            </a:r>
            <a:r>
              <a:rPr lang="en-NZ" altLang="ja-JP" sz="1600" b="1" dirty="0">
                <a:solidFill>
                  <a:prstClr val="black"/>
                </a:solidFill>
                <a:latin typeface="Calibri" panose="020F0502020204030204"/>
                <a:ea typeface="游ゴシック" panose="020B0400000000000000" pitchFamily="34" charset="-128"/>
              </a:rPr>
              <a:t>r B Levels:</a:t>
            </a:r>
            <a:r>
              <a:rPr lang="en-NZ" altLang="ja-JP" sz="1600" i="1" dirty="0">
                <a:solidFill>
                  <a:prstClr val="black"/>
                </a:solidFill>
                <a:latin typeface="Calibri" panose="020F0502020204030204"/>
                <a:ea typeface="游ゴシック" panose="020B0400000000000000" pitchFamily="34" charset="-128"/>
              </a:rPr>
              <a:t>	</a:t>
            </a:r>
            <a:r>
              <a:rPr lang="en-NZ" altLang="ja-JP" sz="1600" dirty="0">
                <a:solidFill>
                  <a:prstClr val="black"/>
                </a:solidFill>
                <a:latin typeface="Calibri" panose="020F0502020204030204"/>
                <a:ea typeface="游ゴシック" panose="020B0400000000000000" pitchFamily="34" charset="-128"/>
              </a:rPr>
              <a:t>10mgs, 20mgs, 30mgs </a:t>
            </a:r>
            <a:r>
              <a:rPr lang="en-NZ" altLang="ja-JP" sz="1600" i="1" dirty="0">
                <a:solidFill>
                  <a:prstClr val="black"/>
                </a:solidFill>
                <a:latin typeface="Calibri" panose="020F0502020204030204"/>
                <a:ea typeface="游ゴシック" panose="020B0400000000000000" pitchFamily="34" charset="-128"/>
              </a:rPr>
              <a:t>(b=3)</a:t>
            </a:r>
            <a:endParaRPr kumimoji="1" lang="en-NZ" altLang="ja-JP" sz="1600" b="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7" name="Text Placeholder 5">
            <a:extLst>
              <a:ext uri="{FF2B5EF4-FFF2-40B4-BE49-F238E27FC236}">
                <a16:creationId xmlns:a16="http://schemas.microsoft.com/office/drawing/2014/main" id="{830A56AA-6B7C-6991-F3E2-3F9F63F3BCE1}"/>
              </a:ext>
            </a:extLst>
          </p:cNvPr>
          <p:cNvSpPr txBox="1">
            <a:spLocks/>
          </p:cNvSpPr>
          <p:nvPr/>
        </p:nvSpPr>
        <p:spPr>
          <a:xfrm>
            <a:off x="6096000" y="979108"/>
            <a:ext cx="5290802"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algn="just" defTabSz="914324" rtl="0" eaLnBrk="1" fontAlgn="auto" latinLnBrk="0" hangingPunct="1">
              <a:lnSpc>
                <a:spcPct val="100000"/>
              </a:lnSpc>
              <a:spcBef>
                <a:spcPts val="0"/>
              </a:spcBef>
              <a:spcAft>
                <a:spcPts val="0"/>
              </a:spcAft>
              <a:buClrTx/>
              <a:buSzTx/>
              <a:buFont typeface="+mj-lt"/>
              <a:buAutoNum type="alphaLcParenR" startAt="2"/>
              <a:tabLst/>
              <a:defRPr/>
            </a:pPr>
            <a:r>
              <a:rPr lang="en-US" altLang="ja-JP" sz="1600" dirty="0">
                <a:solidFill>
                  <a:srgbClr val="0070C0"/>
                </a:solidFill>
              </a:rPr>
              <a:t>Write down the two-way ANOVA model as it applies in this instance</a:t>
            </a:r>
            <a:r>
              <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t>
            </a:r>
          </a:p>
        </p:txBody>
      </p:sp>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4AA703FA-48C0-06A5-D2AB-E45EC1071D49}"/>
                  </a:ext>
                </a:extLst>
              </p:cNvPr>
              <p:cNvSpPr txBox="1">
                <a:spLocks/>
              </p:cNvSpPr>
              <p:nvPr/>
            </p:nvSpPr>
            <p:spPr>
              <a:xfrm>
                <a:off x="6449076" y="1582793"/>
                <a:ext cx="5462638"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𝒀</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𝝁</m:t>
                      </m:r>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𝜷</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𝒋</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d>
                            <m:d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𝜶𝜷</m:t>
                              </m:r>
                            </m:e>
                          </m:d>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m:t>
                          </m:r>
                        </m:sub>
                      </m:s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sSub>
                        <m:sSubPr>
                          <m:ctrlP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𝝐</m:t>
                          </m:r>
                        </m:e>
                        <m:sub>
                          <m:r>
                            <a:rPr kumimoji="1" lang="en-NZ" altLang="ja-JP" sz="18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𝒊𝒋𝒌</m:t>
                          </m:r>
                        </m:sub>
                      </m:sSub>
                    </m:oMath>
                  </m:oMathPara>
                </a14:m>
                <a:endParaRPr kumimoji="1" lang="en-NZ" altLang="ja-JP" sz="18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8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4AA703FA-48C0-06A5-D2AB-E45EC1071D49}"/>
                  </a:ext>
                </a:extLst>
              </p:cNvPr>
              <p:cNvSpPr txBox="1">
                <a:spLocks noRot="1" noChangeAspect="1" noMove="1" noResize="1" noEditPoints="1" noAdjustHandles="1" noChangeArrowheads="1" noChangeShapeType="1" noTextEdit="1"/>
              </p:cNvSpPr>
              <p:nvPr/>
            </p:nvSpPr>
            <p:spPr>
              <a:xfrm>
                <a:off x="6449076" y="1582793"/>
                <a:ext cx="5462638" cy="474953"/>
              </a:xfrm>
              <a:prstGeom prst="rect">
                <a:avLst/>
              </a:prstGeom>
              <a:blipFill>
                <a:blip r:embed="rId4"/>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2C804053-E2FC-53FF-44C1-05B92ACD9541}"/>
                  </a:ext>
                </a:extLst>
              </p:cNvPr>
              <p:cNvSpPr txBox="1">
                <a:spLocks/>
              </p:cNvSpPr>
              <p:nvPr/>
            </p:nvSpPr>
            <p:spPr>
              <a:xfrm>
                <a:off x="9180395" y="2113089"/>
                <a:ext cx="1296558"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𝒊</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𝟐</m:t>
                        </m:r>
                      </m:sup>
                      <m:e>
                        <m:sSub>
                          <m:sSubPr>
                            <m:ctrl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𝜶</m:t>
                            </m:r>
                          </m:e>
                          <m:sub>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𝒊</m:t>
                            </m:r>
                          </m:sub>
                        </m:sSub>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9" name="Text Placeholder 5">
                <a:extLst>
                  <a:ext uri="{FF2B5EF4-FFF2-40B4-BE49-F238E27FC236}">
                    <a16:creationId xmlns:a16="http://schemas.microsoft.com/office/drawing/2014/main" id="{2C804053-E2FC-53FF-44C1-05B92ACD9541}"/>
                  </a:ext>
                </a:extLst>
              </p:cNvPr>
              <p:cNvSpPr txBox="1">
                <a:spLocks noRot="1" noChangeAspect="1" noMove="1" noResize="1" noEditPoints="1" noAdjustHandles="1" noChangeArrowheads="1" noChangeShapeType="1" noTextEdit="1"/>
              </p:cNvSpPr>
              <p:nvPr/>
            </p:nvSpPr>
            <p:spPr>
              <a:xfrm>
                <a:off x="9180395" y="2113089"/>
                <a:ext cx="1296558" cy="444936"/>
              </a:xfrm>
              <a:prstGeom prst="rect">
                <a:avLst/>
              </a:prstGeom>
              <a:blipFill>
                <a:blip r:embed="rId5"/>
                <a:stretch>
                  <a:fillRect l="-17840" t="-67123" b="-8356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0" name="Text Placeholder 5">
                <a:extLst>
                  <a:ext uri="{FF2B5EF4-FFF2-40B4-BE49-F238E27FC236}">
                    <a16:creationId xmlns:a16="http://schemas.microsoft.com/office/drawing/2014/main" id="{F2A59128-6575-444E-36C1-38C2D5FF083F}"/>
                  </a:ext>
                </a:extLst>
              </p:cNvPr>
              <p:cNvSpPr txBox="1">
                <a:spLocks/>
              </p:cNvSpPr>
              <p:nvPr/>
            </p:nvSpPr>
            <p:spPr>
              <a:xfrm>
                <a:off x="10360252" y="2113089"/>
                <a:ext cx="140509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nary>
                      <m:naryPr>
                        <m:chr m:val="∑"/>
                        <m:ctrl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naryPr>
                      <m:sub>
                        <m:r>
                          <m:rPr>
                            <m:brk m:alnAt="23"/>
                          </m:r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𝒋</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𝟏</m:t>
                        </m:r>
                      </m:sub>
                      <m:sup>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𝟑</m:t>
                        </m:r>
                      </m:sup>
                      <m:e>
                        <m:sSub>
                          <m:sSubPr>
                            <m:ctrl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𝜷</m:t>
                            </m:r>
                          </m:e>
                          <m:sub>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𝒋</m:t>
                            </m:r>
                          </m:sub>
                        </m:sSub>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𝟎</m:t>
                        </m:r>
                      </m:e>
                    </m:nary>
                  </m:oMath>
                </a14:m>
                <a:r>
                  <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0" name="Text Placeholder 5">
                <a:extLst>
                  <a:ext uri="{FF2B5EF4-FFF2-40B4-BE49-F238E27FC236}">
                    <a16:creationId xmlns:a16="http://schemas.microsoft.com/office/drawing/2014/main" id="{F2A59128-6575-444E-36C1-38C2D5FF083F}"/>
                  </a:ext>
                </a:extLst>
              </p:cNvPr>
              <p:cNvSpPr txBox="1">
                <a:spLocks noRot="1" noChangeAspect="1" noMove="1" noResize="1" noEditPoints="1" noAdjustHandles="1" noChangeArrowheads="1" noChangeShapeType="1" noTextEdit="1"/>
              </p:cNvSpPr>
              <p:nvPr/>
            </p:nvSpPr>
            <p:spPr>
              <a:xfrm>
                <a:off x="10360252" y="2113089"/>
                <a:ext cx="1405094" cy="444936"/>
              </a:xfrm>
              <a:prstGeom prst="rect">
                <a:avLst/>
              </a:prstGeom>
              <a:blipFill>
                <a:blip r:embed="rId6"/>
                <a:stretch>
                  <a:fillRect l="-16522" t="-67123" b="-8356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1AE9D445-9BEE-675F-EFC4-2B2EAD4F1B9B}"/>
                  </a:ext>
                </a:extLst>
              </p:cNvPr>
              <p:cNvSpPr txBox="1">
                <a:spLocks/>
              </p:cNvSpPr>
              <p:nvPr/>
            </p:nvSpPr>
            <p:spPr>
              <a:xfrm>
                <a:off x="6420031" y="2116535"/>
                <a:ext cx="2760364" cy="44493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defRPr/>
                </a:pPr>
                <a14:m>
                  <m:oMathPara xmlns:m="http://schemas.openxmlformats.org/officeDocument/2006/math">
                    <m:oMathParaPr>
                      <m:jc m:val="centerGroup"/>
                    </m:oMathParaPr>
                    <m:oMath xmlns:m="http://schemas.openxmlformats.org/officeDocument/2006/math">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  </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𝒊</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𝟏</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 </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𝟐</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   </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𝒋</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𝟏</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𝟐</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𝟑</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   </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𝒌</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m:t>
                      </m:r>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𝒌</m:t>
                      </m:r>
                      <m:d>
                        <m:dPr>
                          <m:ctrlP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dPr>
                        <m:e>
                          <m:r>
                            <a:rPr kumimoji="1" lang="en-NZ" altLang="ja-JP" sz="14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𝒊𝒋</m:t>
                          </m:r>
                        </m:e>
                      </m:d>
                    </m:oMath>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𝝐</m:t>
                          </m:r>
                        </m:e>
                        <m:sub>
                          <m:r>
                            <a:rPr lang="en-NZ" altLang="ja-JP" sz="1400" b="1" i="1">
                              <a:solidFill>
                                <a:schemeClr val="tx1"/>
                              </a:solidFill>
                              <a:latin typeface="Cambria Math" panose="02040503050406030204" pitchFamily="18" charset="0"/>
                            </a:rPr>
                            <m:t>𝒊𝒋𝒌</m:t>
                          </m:r>
                        </m:sub>
                      </m:sSub>
                      <m:r>
                        <a:rPr lang="en-NZ" altLang="ja-JP" sz="1400" b="1" i="1">
                          <a:solidFill>
                            <a:schemeClr val="tx1"/>
                          </a:solidFill>
                          <a:latin typeface="Cambria Math" panose="02040503050406030204" pitchFamily="18" charset="0"/>
                        </a:rPr>
                        <m:t> ~ </m:t>
                      </m:r>
                      <m:r>
                        <a:rPr lang="en-NZ" altLang="ja-JP" sz="1400" b="1" i="1">
                          <a:solidFill>
                            <a:schemeClr val="tx1"/>
                          </a:solidFill>
                          <a:latin typeface="Cambria Math" panose="02040503050406030204" pitchFamily="18" charset="0"/>
                        </a:rPr>
                        <m:t>𝑵</m:t>
                      </m:r>
                      <m:r>
                        <a:rPr lang="en-NZ" altLang="ja-JP" sz="1400" b="1" i="1">
                          <a:solidFill>
                            <a:schemeClr val="tx1"/>
                          </a:solidFill>
                          <a:latin typeface="Cambria Math" panose="02040503050406030204" pitchFamily="18" charset="0"/>
                        </a:rPr>
                        <m:t>(</m:t>
                      </m:r>
                      <m:r>
                        <a:rPr lang="en-NZ" altLang="ja-JP" sz="1400" b="1" i="1">
                          <a:solidFill>
                            <a:schemeClr val="tx1"/>
                          </a:solidFill>
                          <a:latin typeface="Cambria Math" panose="02040503050406030204" pitchFamily="18" charset="0"/>
                        </a:rPr>
                        <m:t>𝟎</m:t>
                      </m:r>
                      <m:r>
                        <a:rPr lang="en-NZ" altLang="ja-JP" sz="1400" b="1" i="1">
                          <a:solidFill>
                            <a:schemeClr val="tx1"/>
                          </a:solidFill>
                          <a:latin typeface="Cambria Math" panose="02040503050406030204" pitchFamily="18" charset="0"/>
                        </a:rPr>
                        <m:t>, </m:t>
                      </m:r>
                      <m:sSup>
                        <m:sSupPr>
                          <m:ctrlPr>
                            <a:rPr lang="en-NZ" altLang="ja-JP" sz="1400" b="1" i="1">
                              <a:solidFill>
                                <a:schemeClr val="tx1"/>
                              </a:solidFill>
                              <a:latin typeface="Cambria Math" panose="02040503050406030204" pitchFamily="18" charset="0"/>
                            </a:rPr>
                          </m:ctrlPr>
                        </m:sSupPr>
                        <m:e>
                          <m:r>
                            <a:rPr lang="en-NZ" altLang="ja-JP" sz="1400" b="1" i="1">
                              <a:solidFill>
                                <a:schemeClr val="tx1"/>
                              </a:solidFill>
                              <a:latin typeface="Cambria Math" panose="02040503050406030204" pitchFamily="18" charset="0"/>
                            </a:rPr>
                            <m:t>𝝈</m:t>
                          </m:r>
                        </m:e>
                        <m:sup>
                          <m:r>
                            <a:rPr lang="en-NZ" altLang="ja-JP" sz="1400" b="1" i="1">
                              <a:solidFill>
                                <a:schemeClr val="tx1"/>
                              </a:solidFill>
                              <a:latin typeface="Cambria Math" panose="02040503050406030204" pitchFamily="18" charset="0"/>
                            </a:rPr>
                            <m:t>𝟐</m:t>
                          </m:r>
                        </m:sup>
                      </m:sSup>
                      <m:r>
                        <a:rPr lang="en-NZ" altLang="ja-JP" sz="1400" b="1" i="1">
                          <a:solidFill>
                            <a:schemeClr val="tx1"/>
                          </a:solidFill>
                          <a:latin typeface="Cambria Math" panose="02040503050406030204" pitchFamily="18" charset="0"/>
                        </a:rPr>
                        <m:t>)</m:t>
                      </m:r>
                    </m:oMath>
                  </m:oMathPara>
                </a14:m>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2" name="Text Placeholder 5">
                <a:extLst>
                  <a:ext uri="{FF2B5EF4-FFF2-40B4-BE49-F238E27FC236}">
                    <a16:creationId xmlns:a16="http://schemas.microsoft.com/office/drawing/2014/main" id="{1AE9D445-9BEE-675F-EFC4-2B2EAD4F1B9B}"/>
                  </a:ext>
                </a:extLst>
              </p:cNvPr>
              <p:cNvSpPr txBox="1">
                <a:spLocks noRot="1" noChangeAspect="1" noMove="1" noResize="1" noEditPoints="1" noAdjustHandles="1" noChangeArrowheads="1" noChangeShapeType="1" noTextEdit="1"/>
              </p:cNvSpPr>
              <p:nvPr/>
            </p:nvSpPr>
            <p:spPr>
              <a:xfrm>
                <a:off x="6420031" y="2116535"/>
                <a:ext cx="2760364" cy="444936"/>
              </a:xfrm>
              <a:prstGeom prst="rect">
                <a:avLst/>
              </a:prstGeom>
              <a:blipFill>
                <a:blip r:embed="rId7"/>
                <a:stretch>
                  <a:fillRect b="-26027"/>
                </a:stretch>
              </a:blipFill>
            </p:spPr>
            <p:txBody>
              <a:bodyPr/>
              <a:lstStyle/>
              <a:p>
                <a:r>
                  <a:rPr lang="en-NZ">
                    <a:noFill/>
                  </a:rPr>
                  <a:t> </a:t>
                </a:r>
              </a:p>
            </p:txBody>
          </p:sp>
        </mc:Fallback>
      </mc:AlternateContent>
      <p:sp>
        <p:nvSpPr>
          <p:cNvPr id="13" name="Text Placeholder 5">
            <a:extLst>
              <a:ext uri="{FF2B5EF4-FFF2-40B4-BE49-F238E27FC236}">
                <a16:creationId xmlns:a16="http://schemas.microsoft.com/office/drawing/2014/main" id="{ABD22924-5D97-CECE-99BB-FA86CA28DE80}"/>
              </a:ext>
            </a:extLst>
          </p:cNvPr>
          <p:cNvSpPr txBox="1">
            <a:spLocks/>
          </p:cNvSpPr>
          <p:nvPr/>
        </p:nvSpPr>
        <p:spPr>
          <a:xfrm>
            <a:off x="319463" y="3265136"/>
            <a:ext cx="6433778" cy="5262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gn="just">
              <a:lnSpc>
                <a:spcPct val="100000"/>
              </a:lnSpc>
              <a:buFont typeface="+mj-lt"/>
              <a:buAutoNum type="alphaLcParenR" startAt="3"/>
            </a:pPr>
            <a:r>
              <a:rPr lang="en-US" altLang="ja-JP" sz="1600" dirty="0">
                <a:solidFill>
                  <a:srgbClr val="0070C0"/>
                </a:solidFill>
              </a:rPr>
              <a:t>Construct a marginal means plot. What does this suggest with regards to the presence on an interaction term between dosage and sex?</a:t>
            </a:r>
            <a:endParaRPr kumimoji="1" lang="en-US" altLang="ja-JP" sz="16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graphicFrame>
        <p:nvGraphicFramePr>
          <p:cNvPr id="15" name="Table 14">
            <a:extLst>
              <a:ext uri="{FF2B5EF4-FFF2-40B4-BE49-F238E27FC236}">
                <a16:creationId xmlns:a16="http://schemas.microsoft.com/office/drawing/2014/main" id="{7DABB7B9-CB53-08FF-93E5-244783A0E7DB}"/>
              </a:ext>
            </a:extLst>
          </p:cNvPr>
          <p:cNvGraphicFramePr>
            <a:graphicFrameLocks noGrp="1"/>
          </p:cNvGraphicFramePr>
          <p:nvPr>
            <p:extLst>
              <p:ext uri="{D42A27DB-BD31-4B8C-83A1-F6EECF244321}">
                <p14:modId xmlns:p14="http://schemas.microsoft.com/office/powerpoint/2010/main" val="4094579213"/>
              </p:ext>
            </p:extLst>
          </p:nvPr>
        </p:nvGraphicFramePr>
        <p:xfrm>
          <a:off x="5918578" y="4344452"/>
          <a:ext cx="5290803" cy="1114135"/>
        </p:xfrm>
        <a:graphic>
          <a:graphicData uri="http://schemas.openxmlformats.org/drawingml/2006/table">
            <a:tbl>
              <a:tblPr firstRow="1" firstCol="1" bandRow="1">
                <a:tableStyleId>{5C22544A-7EE6-4342-B048-85BDC9FD1C3A}</a:tableStyleId>
              </a:tblPr>
              <a:tblGrid>
                <a:gridCol w="1055426">
                  <a:extLst>
                    <a:ext uri="{9D8B030D-6E8A-4147-A177-3AD203B41FA5}">
                      <a16:colId xmlns:a16="http://schemas.microsoft.com/office/drawing/2014/main" val="3074826136"/>
                    </a:ext>
                  </a:extLst>
                </a:gridCol>
                <a:gridCol w="1265835">
                  <a:extLst>
                    <a:ext uri="{9D8B030D-6E8A-4147-A177-3AD203B41FA5}">
                      <a16:colId xmlns:a16="http://schemas.microsoft.com/office/drawing/2014/main" val="387258914"/>
                    </a:ext>
                  </a:extLst>
                </a:gridCol>
                <a:gridCol w="1484771">
                  <a:extLst>
                    <a:ext uri="{9D8B030D-6E8A-4147-A177-3AD203B41FA5}">
                      <a16:colId xmlns:a16="http://schemas.microsoft.com/office/drawing/2014/main" val="2306200820"/>
                    </a:ext>
                  </a:extLst>
                </a:gridCol>
                <a:gridCol w="1484771">
                  <a:extLst>
                    <a:ext uri="{9D8B030D-6E8A-4147-A177-3AD203B41FA5}">
                      <a16:colId xmlns:a16="http://schemas.microsoft.com/office/drawing/2014/main" val="650978296"/>
                    </a:ext>
                  </a:extLst>
                </a:gridCol>
              </a:tblGrid>
              <a:tr h="445901">
                <a:tc>
                  <a:txBody>
                    <a:bodyPr/>
                    <a:lstStyle/>
                    <a:p>
                      <a:pPr>
                        <a:lnSpc>
                          <a:spcPct val="107000"/>
                        </a:lnSpc>
                      </a:pPr>
                      <a:endParaRPr lang="en-NZ" sz="1200" dirty="0">
                        <a:effectLst/>
                        <a:latin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10mgs</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20mgs</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NZ" sz="2000" dirty="0">
                          <a:effectLst/>
                        </a:rPr>
                        <a:t>30mgs</a:t>
                      </a:r>
                      <a:endParaRPr lang="en-NZ"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38439194"/>
                  </a:ext>
                </a:extLst>
              </a:tr>
              <a:tr h="334117">
                <a:tc>
                  <a:txBody>
                    <a:bodyPr/>
                    <a:lstStyle/>
                    <a:p>
                      <a:pPr algn="ctr">
                        <a:lnSpc>
                          <a:spcPct val="107000"/>
                        </a:lnSpc>
                        <a:spcAft>
                          <a:spcPts val="800"/>
                        </a:spcAft>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Male</a:t>
                      </a:r>
                    </a:p>
                  </a:txBody>
                  <a:tcPr marL="68580" marR="68580" marT="0" marB="0" anchor="ctr"/>
                </a:tc>
                <a:tc>
                  <a:txBody>
                    <a:bodyPr/>
                    <a:lstStyle/>
                    <a:p>
                      <a:pPr algn="ctr" fontAlgn="ctr"/>
                      <a:r>
                        <a:rPr lang="en-NZ" sz="1400" b="0" i="0" u="none" strike="noStrike">
                          <a:solidFill>
                            <a:srgbClr val="000000"/>
                          </a:solidFill>
                          <a:effectLst/>
                          <a:latin typeface="Calibri" panose="020F0502020204030204" pitchFamily="34" charset="0"/>
                        </a:rPr>
                        <a:t>82.67</a:t>
                      </a:r>
                    </a:p>
                  </a:txBody>
                  <a:tcPr marL="9525" marR="9525" marT="9525" marB="0" anchor="ctr"/>
                </a:tc>
                <a:tc>
                  <a:txBody>
                    <a:bodyPr/>
                    <a:lstStyle/>
                    <a:p>
                      <a:pPr algn="ctr" fontAlgn="ctr"/>
                      <a:r>
                        <a:rPr lang="en-NZ" sz="1400" b="0" i="0" u="none" strike="noStrike">
                          <a:solidFill>
                            <a:srgbClr val="000000"/>
                          </a:solidFill>
                          <a:effectLst/>
                          <a:latin typeface="Calibri" panose="020F0502020204030204" pitchFamily="34" charset="0"/>
                        </a:rPr>
                        <a:t>79.00</a:t>
                      </a:r>
                    </a:p>
                  </a:txBody>
                  <a:tcPr marL="9525" marR="9525" marT="9525" marB="0" anchor="ctr"/>
                </a:tc>
                <a:tc>
                  <a:txBody>
                    <a:bodyPr/>
                    <a:lstStyle/>
                    <a:p>
                      <a:pPr algn="ctr" fontAlgn="ctr"/>
                      <a:r>
                        <a:rPr lang="en-NZ" sz="1400" b="0" i="0" u="none" strike="noStrike">
                          <a:solidFill>
                            <a:srgbClr val="000000"/>
                          </a:solidFill>
                          <a:effectLst/>
                          <a:latin typeface="Calibri" panose="020F0502020204030204" pitchFamily="34" charset="0"/>
                        </a:rPr>
                        <a:t>73.44</a:t>
                      </a:r>
                    </a:p>
                  </a:txBody>
                  <a:tcPr marL="9525" marR="9525" marT="9525" marB="0" anchor="ctr"/>
                </a:tc>
                <a:extLst>
                  <a:ext uri="{0D108BD9-81ED-4DB2-BD59-A6C34878D82A}">
                    <a16:rowId xmlns:a16="http://schemas.microsoft.com/office/drawing/2014/main" val="3572944342"/>
                  </a:ext>
                </a:extLst>
              </a:tr>
              <a:tr h="334117">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NZ" sz="2000" baseline="0" dirty="0">
                          <a:effectLst/>
                          <a:latin typeface="Calibri" panose="020F0502020204030204" pitchFamily="34" charset="0"/>
                          <a:ea typeface="Calibri" panose="020F0502020204030204" pitchFamily="34" charset="0"/>
                          <a:cs typeface="Times New Roman" panose="02020603050405020304" pitchFamily="18" charset="0"/>
                        </a:rPr>
                        <a:t>Female</a:t>
                      </a:r>
                    </a:p>
                  </a:txBody>
                  <a:tcPr marL="68580" marR="68580" marT="0" marB="0" anchor="ctr"/>
                </a:tc>
                <a:tc>
                  <a:txBody>
                    <a:bodyPr/>
                    <a:lstStyle/>
                    <a:p>
                      <a:pPr algn="ctr" fontAlgn="ctr"/>
                      <a:r>
                        <a:rPr lang="en-NZ" sz="1400" b="0" i="0" u="none" strike="noStrike">
                          <a:solidFill>
                            <a:srgbClr val="000000"/>
                          </a:solidFill>
                          <a:effectLst/>
                          <a:latin typeface="Calibri" panose="020F0502020204030204" pitchFamily="34" charset="0"/>
                        </a:rPr>
                        <a:t>72.14</a:t>
                      </a:r>
                    </a:p>
                  </a:txBody>
                  <a:tcPr marL="9525" marR="9525" marT="9525" marB="0" anchor="ctr"/>
                </a:tc>
                <a:tc>
                  <a:txBody>
                    <a:bodyPr/>
                    <a:lstStyle/>
                    <a:p>
                      <a:pPr algn="ctr" fontAlgn="ctr"/>
                      <a:r>
                        <a:rPr lang="en-NZ" sz="1400" b="0" i="0" u="none" strike="noStrike">
                          <a:solidFill>
                            <a:srgbClr val="000000"/>
                          </a:solidFill>
                          <a:effectLst/>
                          <a:latin typeface="Calibri" panose="020F0502020204030204" pitchFamily="34" charset="0"/>
                        </a:rPr>
                        <a:t>69.56</a:t>
                      </a:r>
                    </a:p>
                  </a:txBody>
                  <a:tcPr marL="9525" marR="9525" marT="9525" marB="0" anchor="ctr"/>
                </a:tc>
                <a:tc>
                  <a:txBody>
                    <a:bodyPr/>
                    <a:lstStyle/>
                    <a:p>
                      <a:pPr algn="ctr" fontAlgn="ctr"/>
                      <a:r>
                        <a:rPr lang="en-NZ" sz="1400" b="0" i="0" u="none" strike="noStrike" dirty="0">
                          <a:solidFill>
                            <a:srgbClr val="000000"/>
                          </a:solidFill>
                          <a:effectLst/>
                          <a:latin typeface="Calibri" panose="020F0502020204030204" pitchFamily="34" charset="0"/>
                        </a:rPr>
                        <a:t>65.63</a:t>
                      </a:r>
                    </a:p>
                  </a:txBody>
                  <a:tcPr marL="9525" marR="9525" marT="9525" marB="0" anchor="ctr"/>
                </a:tc>
                <a:extLst>
                  <a:ext uri="{0D108BD9-81ED-4DB2-BD59-A6C34878D82A}">
                    <a16:rowId xmlns:a16="http://schemas.microsoft.com/office/drawing/2014/main" val="746888167"/>
                  </a:ext>
                </a:extLst>
              </a:tr>
            </a:tbl>
          </a:graphicData>
        </a:graphic>
      </p:graphicFrame>
      <p:sp>
        <p:nvSpPr>
          <p:cNvPr id="16" name="Text Placeholder 5">
            <a:extLst>
              <a:ext uri="{FF2B5EF4-FFF2-40B4-BE49-F238E27FC236}">
                <a16:creationId xmlns:a16="http://schemas.microsoft.com/office/drawing/2014/main" id="{A7F3FBF9-5F3F-04CA-6993-E0F7469A154D}"/>
              </a:ext>
            </a:extLst>
          </p:cNvPr>
          <p:cNvSpPr txBox="1">
            <a:spLocks/>
          </p:cNvSpPr>
          <p:nvPr/>
        </p:nvSpPr>
        <p:spPr>
          <a:xfrm>
            <a:off x="5918578" y="5617339"/>
            <a:ext cx="5468224" cy="483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Marginal means plot suggests no evidence of interaction between dosage and sex.</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graphicFrame>
        <p:nvGraphicFramePr>
          <p:cNvPr id="18" name="Chart 17">
            <a:extLst>
              <a:ext uri="{FF2B5EF4-FFF2-40B4-BE49-F238E27FC236}">
                <a16:creationId xmlns:a16="http://schemas.microsoft.com/office/drawing/2014/main" id="{CF4E60A8-E244-A83F-1E57-71AE16DCC05A}"/>
              </a:ext>
            </a:extLst>
          </p:cNvPr>
          <p:cNvGraphicFramePr>
            <a:graphicFrameLocks/>
          </p:cNvGraphicFramePr>
          <p:nvPr>
            <p:extLst>
              <p:ext uri="{D42A27DB-BD31-4B8C-83A1-F6EECF244321}">
                <p14:modId xmlns:p14="http://schemas.microsoft.com/office/powerpoint/2010/main" val="1942171142"/>
              </p:ext>
            </p:extLst>
          </p:nvPr>
        </p:nvGraphicFramePr>
        <p:xfrm>
          <a:off x="609540" y="3839426"/>
          <a:ext cx="4710648" cy="2538694"/>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83591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P spid="7" grpId="0"/>
      <p:bldP spid="8" grpId="0"/>
      <p:bldP spid="9" grpId="0"/>
      <p:bldP spid="10" grpId="0"/>
      <p:bldP spid="12" grpId="0"/>
      <p:bldP spid="13" grpId="0"/>
      <p:bldP spid="16" grpId="0"/>
      <p:bldGraphic spid="18"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5">
            <a:extLst>
              <a:ext uri="{FF2B5EF4-FFF2-40B4-BE49-F238E27FC236}">
                <a16:creationId xmlns:a16="http://schemas.microsoft.com/office/drawing/2014/main" id="{12AF838E-EF3F-E859-0FD4-19C44A139ECE}"/>
              </a:ext>
            </a:extLst>
          </p:cNvPr>
          <p:cNvSpPr txBox="1">
            <a:spLocks/>
          </p:cNvSpPr>
          <p:nvPr/>
        </p:nvSpPr>
        <p:spPr>
          <a:xfrm>
            <a:off x="648926" y="1423933"/>
            <a:ext cx="11076418" cy="47322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r>
              <a:rPr lang="en-NZ" altLang="ja-JP" sz="1400" dirty="0">
                <a:solidFill>
                  <a:prstClr val="black"/>
                </a:solidFill>
              </a:rPr>
              <a:t>Since cholesterol levels are likely to be affected by biological sex, the effect of dosage on cholesterol levels must be assessed controlling for sex. </a:t>
            </a:r>
            <a:br>
              <a:rPr lang="en-NZ" altLang="ja-JP" sz="1400" dirty="0">
                <a:solidFill>
                  <a:prstClr val="black"/>
                </a:solidFill>
              </a:rPr>
            </a:b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As such, sex should be entered into the model first.</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pic>
        <p:nvPicPr>
          <p:cNvPr id="7" name="Picture 6">
            <a:extLst>
              <a:ext uri="{FF2B5EF4-FFF2-40B4-BE49-F238E27FC236}">
                <a16:creationId xmlns:a16="http://schemas.microsoft.com/office/drawing/2014/main" id="{B201BAAC-72FC-5674-278B-23B19CD402F3}"/>
              </a:ext>
            </a:extLst>
          </p:cNvPr>
          <p:cNvPicPr>
            <a:picLocks noChangeAspect="1"/>
          </p:cNvPicPr>
          <p:nvPr/>
        </p:nvPicPr>
        <p:blipFill>
          <a:blip r:embed="rId2"/>
          <a:stretch>
            <a:fillRect/>
          </a:stretch>
        </p:blipFill>
        <p:spPr>
          <a:xfrm>
            <a:off x="772100" y="2546894"/>
            <a:ext cx="5657610" cy="1624042"/>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836539"/>
            <a:ext cx="11076418"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mj-lt"/>
              <a:buAutoNum type="alphaLcParenR" startAt="4"/>
            </a:pPr>
            <a:r>
              <a:rPr lang="en-US" altLang="ja-JP" sz="1600" dirty="0">
                <a:solidFill>
                  <a:srgbClr val="0070C0"/>
                </a:solidFill>
              </a:rPr>
              <a:t>Conduct normal theory two-way ANOVA to test for the effects of sex, dosage </a:t>
            </a:r>
            <a:r>
              <a:rPr lang="en-US" altLang="ja-JP" sz="1600" b="1" dirty="0">
                <a:solidFill>
                  <a:srgbClr val="0070C0"/>
                </a:solidFill>
              </a:rPr>
              <a:t>controlling for sex </a:t>
            </a:r>
            <a:r>
              <a:rPr lang="en-US" altLang="ja-JP" sz="1600" dirty="0">
                <a:solidFill>
                  <a:srgbClr val="0070C0"/>
                </a:solidFill>
              </a:rPr>
              <a:t>and the presence of any interaction between dosage and sex? Will it matter in which order the factors are entered into the model in this instance?</a:t>
            </a:r>
          </a:p>
        </p:txBody>
      </p:sp>
      <p:sp>
        <p:nvSpPr>
          <p:cNvPr id="17" name="Text Placeholder 5">
            <a:extLst>
              <a:ext uri="{FF2B5EF4-FFF2-40B4-BE49-F238E27FC236}">
                <a16:creationId xmlns:a16="http://schemas.microsoft.com/office/drawing/2014/main" id="{BF281220-BC4A-79DF-7793-A242CF02F34F}"/>
              </a:ext>
            </a:extLst>
          </p:cNvPr>
          <p:cNvSpPr txBox="1">
            <a:spLocks/>
          </p:cNvSpPr>
          <p:nvPr/>
        </p:nvSpPr>
        <p:spPr>
          <a:xfrm>
            <a:off x="648926" y="1957983"/>
            <a:ext cx="5290802"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1.1b of the code</a:t>
            </a:r>
            <a:endParaRPr kumimoji="1" lang="en-US" altLang="ja-JP" sz="1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18" name="Rectangle 17">
            <a:extLst>
              <a:ext uri="{FF2B5EF4-FFF2-40B4-BE49-F238E27FC236}">
                <a16:creationId xmlns:a16="http://schemas.microsoft.com/office/drawing/2014/main" id="{B8511B2B-78F0-1A77-48CF-571F6D5C6A35}"/>
              </a:ext>
            </a:extLst>
          </p:cNvPr>
          <p:cNvSpPr/>
          <p:nvPr/>
        </p:nvSpPr>
        <p:spPr>
          <a:xfrm>
            <a:off x="704591" y="2317066"/>
            <a:ext cx="5792629" cy="2044476"/>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1" name="Text Placeholder 5">
            <a:extLst>
              <a:ext uri="{FF2B5EF4-FFF2-40B4-BE49-F238E27FC236}">
                <a16:creationId xmlns:a16="http://schemas.microsoft.com/office/drawing/2014/main" id="{A4CB6569-1249-4A3F-9D04-7AD25F06479A}"/>
              </a:ext>
            </a:extLst>
          </p:cNvPr>
          <p:cNvSpPr txBox="1">
            <a:spLocks/>
          </p:cNvSpPr>
          <p:nvPr/>
        </p:nvSpPr>
        <p:spPr>
          <a:xfrm>
            <a:off x="6733540" y="2317066"/>
            <a:ext cx="5208746" cy="5324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marR="0" lvl="0" indent="-285750" defTabSz="9143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NZ" altLang="ja-JP" sz="1400" dirty="0">
                <a:solidFill>
                  <a:prstClr val="black"/>
                </a:solidFill>
                <a:latin typeface="Calibri" panose="020F0502020204030204"/>
                <a:ea typeface="游ゴシック" panose="020B0400000000000000" pitchFamily="34" charset="-128"/>
              </a:rPr>
              <a:t>No evidence for an interaction between sex and dosage</a:t>
            </a:r>
            <a:br>
              <a:rPr lang="en-NZ" altLang="ja-JP" sz="1400" dirty="0">
                <a:solidFill>
                  <a:prstClr val="black"/>
                </a:solidFill>
                <a:latin typeface="Calibri" panose="020F0502020204030204"/>
                <a:ea typeface="游ゴシック" panose="020B0400000000000000" pitchFamily="34" charset="-128"/>
              </a:rPr>
            </a:br>
            <a:r>
              <a:rPr lang="en-NZ" altLang="ja-JP" sz="1400" dirty="0">
                <a:solidFill>
                  <a:prstClr val="black"/>
                </a:solidFill>
                <a:latin typeface="Calibri" panose="020F0502020204030204"/>
                <a:ea typeface="游ゴシック" panose="020B0400000000000000" pitchFamily="34" charset="-128"/>
              </a:rPr>
              <a:t>F = 0.168, </a:t>
            </a:r>
            <a:r>
              <a:rPr lang="en-NZ" altLang="ja-JP" sz="1400" dirty="0" err="1">
                <a:solidFill>
                  <a:prstClr val="black"/>
                </a:solidFill>
                <a:latin typeface="Calibri" panose="020F0502020204030204"/>
                <a:ea typeface="游ゴシック" panose="020B0400000000000000" pitchFamily="34" charset="-128"/>
              </a:rPr>
              <a:t>df</a:t>
            </a:r>
            <a:r>
              <a:rPr lang="en-NZ" altLang="ja-JP" sz="1400" dirty="0">
                <a:solidFill>
                  <a:prstClr val="black"/>
                </a:solidFill>
                <a:latin typeface="Calibri" panose="020F0502020204030204"/>
                <a:ea typeface="游ゴシック" panose="020B0400000000000000" pitchFamily="34" charset="-128"/>
              </a:rPr>
              <a:t> = (2,42), p-value = 0.8462</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0DDF12FE-5D63-710F-720E-2FBE217E9C10}"/>
                  </a:ext>
                </a:extLst>
              </p:cNvPr>
              <p:cNvSpPr txBox="1">
                <a:spLocks/>
              </p:cNvSpPr>
              <p:nvPr/>
            </p:nvSpPr>
            <p:spPr>
              <a:xfrm>
                <a:off x="648926" y="4788531"/>
                <a:ext cx="3379738" cy="47924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𝑯</m:t>
                          </m:r>
                        </m:e>
                        <m:sub>
                          <m:r>
                            <a:rPr lang="en-NZ" altLang="ja-JP" sz="1400" b="1" i="1" smtClean="0">
                              <a:solidFill>
                                <a:schemeClr val="tx1"/>
                              </a:solidFill>
                              <a:latin typeface="Cambria Math" panose="02040503050406030204" pitchFamily="18" charset="0"/>
                            </a:rPr>
                            <m:t>𝟎</m:t>
                          </m:r>
                        </m:sub>
                      </m:sSub>
                      <m:r>
                        <a:rPr lang="en-NZ" altLang="ja-JP" sz="1400" b="1" i="1" smtClean="0">
                          <a:solidFill>
                            <a:schemeClr val="tx1"/>
                          </a:solidFill>
                          <a:latin typeface="Cambria Math" panose="02040503050406030204" pitchFamily="18" charset="0"/>
                        </a:rPr>
                        <m:t> :  </m:t>
                      </m:r>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𝜶𝜷</m:t>
                          </m:r>
                          <m:r>
                            <a:rPr lang="en-NZ" altLang="ja-JP" sz="1400" b="1" i="1" smtClean="0">
                              <a:solidFill>
                                <a:schemeClr val="tx1"/>
                              </a:solidFill>
                              <a:latin typeface="Cambria Math" panose="02040503050406030204" pitchFamily="18" charset="0"/>
                            </a:rPr>
                            <m:t>)</m:t>
                          </m:r>
                        </m:e>
                        <m:sub>
                          <m:r>
                            <a:rPr lang="en-NZ" altLang="ja-JP" sz="1400" b="1" i="1" smtClean="0">
                              <a:solidFill>
                                <a:schemeClr val="tx1"/>
                              </a:solidFill>
                              <a:latin typeface="Cambria Math" panose="02040503050406030204" pitchFamily="18" charset="0"/>
                            </a:rPr>
                            <m:t>𝒊𝒋</m:t>
                          </m:r>
                        </m:sub>
                      </m:sSub>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𝟎</m:t>
                      </m:r>
                      <m:r>
                        <a:rPr lang="en-NZ" altLang="ja-JP" sz="1400" b="1" i="1" smtClean="0">
                          <a:solidFill>
                            <a:schemeClr val="tx1"/>
                          </a:solidFill>
                          <a:latin typeface="Cambria Math" panose="02040503050406030204" pitchFamily="18" charset="0"/>
                        </a:rPr>
                        <m:t>     ∀  </m:t>
                      </m:r>
                      <m:r>
                        <a:rPr lang="en-NZ" altLang="ja-JP" sz="1400" b="1" i="1" smtClean="0">
                          <a:solidFill>
                            <a:schemeClr val="tx1"/>
                          </a:solidFill>
                          <a:latin typeface="Cambria Math" panose="02040503050406030204" pitchFamily="18" charset="0"/>
                        </a:rPr>
                        <m:t>𝒊</m:t>
                      </m:r>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𝒋</m:t>
                      </m:r>
                    </m:oMath>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𝑯</m:t>
                          </m:r>
                        </m:e>
                        <m:sub>
                          <m:r>
                            <a:rPr lang="en-NZ" altLang="ja-JP" sz="1400" b="1" i="1" smtClean="0">
                              <a:solidFill>
                                <a:schemeClr val="tx1"/>
                              </a:solidFill>
                              <a:latin typeface="Cambria Math" panose="02040503050406030204" pitchFamily="18" charset="0"/>
                            </a:rPr>
                            <m:t>𝟏</m:t>
                          </m:r>
                        </m:sub>
                      </m:sSub>
                      <m:r>
                        <a:rPr lang="en-NZ" altLang="ja-JP" sz="1400" b="1" i="1">
                          <a:solidFill>
                            <a:schemeClr val="tx1"/>
                          </a:solidFill>
                          <a:latin typeface="Cambria Math" panose="02040503050406030204" pitchFamily="18" charset="0"/>
                        </a:rPr>
                        <m:t> :</m:t>
                      </m:r>
                      <m:sSub>
                        <m:sSubPr>
                          <m:ctrlPr>
                            <a:rPr lang="en-NZ" altLang="ja-JP" sz="1400" b="1" i="1">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   </m:t>
                          </m:r>
                          <m:r>
                            <a:rPr lang="en-NZ" altLang="ja-JP" sz="1400" b="1" i="1">
                              <a:solidFill>
                                <a:schemeClr val="tx1"/>
                              </a:solidFill>
                              <a:latin typeface="Cambria Math" panose="02040503050406030204" pitchFamily="18" charset="0"/>
                            </a:rPr>
                            <m:t>(</m:t>
                          </m:r>
                          <m:r>
                            <a:rPr lang="en-NZ" altLang="ja-JP" sz="1400" b="1" i="1">
                              <a:solidFill>
                                <a:schemeClr val="tx1"/>
                              </a:solidFill>
                              <a:latin typeface="Cambria Math" panose="02040503050406030204" pitchFamily="18" charset="0"/>
                            </a:rPr>
                            <m:t>𝜶𝜷</m:t>
                          </m:r>
                          <m:r>
                            <a:rPr lang="en-NZ" altLang="ja-JP" sz="1400" b="1" i="1">
                              <a:solidFill>
                                <a:schemeClr val="tx1"/>
                              </a:solidFill>
                              <a:latin typeface="Cambria Math" panose="02040503050406030204" pitchFamily="18" charset="0"/>
                            </a:rPr>
                            <m:t>)</m:t>
                          </m:r>
                        </m:e>
                        <m:sub>
                          <m:r>
                            <a:rPr lang="en-NZ" altLang="ja-JP" sz="1400" b="1" i="1">
                              <a:solidFill>
                                <a:schemeClr val="tx1"/>
                              </a:solidFill>
                              <a:latin typeface="Cambria Math" panose="02040503050406030204" pitchFamily="18" charset="0"/>
                            </a:rPr>
                            <m:t>𝒊𝒋</m:t>
                          </m:r>
                        </m:sub>
                      </m:sSub>
                      <m:r>
                        <a:rPr lang="en-NZ" altLang="ja-JP" sz="1400" b="1" i="1" smtClean="0">
                          <a:solidFill>
                            <a:schemeClr val="tx1"/>
                          </a:solidFill>
                          <a:latin typeface="Cambria Math" panose="02040503050406030204" pitchFamily="18" charset="0"/>
                        </a:rPr>
                        <m:t> ≠</m:t>
                      </m:r>
                      <m:r>
                        <a:rPr lang="en-NZ" altLang="ja-JP" sz="1400" b="1" i="1">
                          <a:solidFill>
                            <a:schemeClr val="tx1"/>
                          </a:solidFill>
                          <a:latin typeface="Cambria Math" panose="02040503050406030204" pitchFamily="18" charset="0"/>
                        </a:rPr>
                        <m:t>𝟎</m:t>
                      </m:r>
                      <m:r>
                        <a:rPr lang="en-NZ" altLang="ja-JP" sz="1400" b="1" i="1" smtClean="0">
                          <a:solidFill>
                            <a:schemeClr val="tx1"/>
                          </a:solidFill>
                          <a:latin typeface="Cambria Math" panose="02040503050406030204" pitchFamily="18" charset="0"/>
                        </a:rPr>
                        <m:t>  </m:t>
                      </m:r>
                      <m:r>
                        <a:rPr lang="en-NZ" altLang="ja-JP" sz="1400" b="1" i="1">
                          <a:solidFill>
                            <a:schemeClr val="tx1"/>
                          </a:solidFill>
                          <a:latin typeface="Cambria Math" panose="02040503050406030204" pitchFamily="18" charset="0"/>
                        </a:rPr>
                        <m:t>𝒇𝒐𝒓</m:t>
                      </m:r>
                      <m:r>
                        <a:rPr lang="en-NZ" altLang="ja-JP" sz="1400" b="1" i="1">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𝒔𝒐𝒎𝒆</m:t>
                      </m:r>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𝒊</m:t>
                      </m:r>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𝒋</m:t>
                      </m:r>
                    </m:oMath>
                  </m:oMathPara>
                </a14:m>
                <a:br>
                  <a:rPr lang="en-NZ" altLang="ja-JP" sz="1400" b="1" i="1" dirty="0">
                    <a:solidFill>
                      <a:schemeClr val="tx1"/>
                    </a:solidFill>
                    <a:latin typeface="Cambria Math" panose="02040503050406030204" pitchFamily="18" charset="0"/>
                  </a:rPr>
                </a:br>
                <a:endParaRPr lang="en-NZ" altLang="ja-JP" sz="1400" b="1" dirty="0">
                  <a:solidFill>
                    <a:schemeClr val="tx1"/>
                  </a:solidFill>
                </a:endParaRPr>
              </a:p>
            </p:txBody>
          </p:sp>
        </mc:Choice>
        <mc:Fallback xmlns="">
          <p:sp>
            <p:nvSpPr>
              <p:cNvPr id="3" name="Text Placeholder 5">
                <a:extLst>
                  <a:ext uri="{FF2B5EF4-FFF2-40B4-BE49-F238E27FC236}">
                    <a16:creationId xmlns:a16="http://schemas.microsoft.com/office/drawing/2014/main" id="{0DDF12FE-5D63-710F-720E-2FBE217E9C10}"/>
                  </a:ext>
                </a:extLst>
              </p:cNvPr>
              <p:cNvSpPr txBox="1">
                <a:spLocks noRot="1" noChangeAspect="1" noMove="1" noResize="1" noEditPoints="1" noAdjustHandles="1" noChangeArrowheads="1" noChangeShapeType="1" noTextEdit="1"/>
              </p:cNvSpPr>
              <p:nvPr/>
            </p:nvSpPr>
            <p:spPr>
              <a:xfrm>
                <a:off x="648926" y="4788531"/>
                <a:ext cx="3379738" cy="479244"/>
              </a:xfrm>
              <a:prstGeom prst="rect">
                <a:avLst/>
              </a:prstGeom>
              <a:blipFill>
                <a:blip r:embed="rId4"/>
                <a:stretch>
                  <a:fillRect b="-1923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D68E9554-65F3-FF54-231A-26EAC1657BDA}"/>
                  </a:ext>
                </a:extLst>
              </p:cNvPr>
              <p:cNvSpPr txBox="1">
                <a:spLocks/>
              </p:cNvSpPr>
              <p:nvPr/>
            </p:nvSpPr>
            <p:spPr>
              <a:xfrm>
                <a:off x="648926" y="5654164"/>
                <a:ext cx="2849601"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𝑯</m:t>
                          </m:r>
                        </m:e>
                        <m:sub>
                          <m:r>
                            <a:rPr lang="en-NZ" altLang="ja-JP" sz="1400" b="1" i="1" smtClean="0">
                              <a:solidFill>
                                <a:schemeClr val="tx1"/>
                              </a:solidFill>
                              <a:latin typeface="Cambria Math" panose="02040503050406030204" pitchFamily="18" charset="0"/>
                            </a:rPr>
                            <m:t>𝟎</m:t>
                          </m:r>
                        </m:sub>
                      </m:sSub>
                      <m:r>
                        <a:rPr lang="en-NZ" altLang="ja-JP" sz="1400" b="1" i="1" smtClean="0">
                          <a:solidFill>
                            <a:schemeClr val="tx1"/>
                          </a:solidFill>
                          <a:latin typeface="Cambria Math" panose="02040503050406030204" pitchFamily="18" charset="0"/>
                        </a:rPr>
                        <m:t> :  </m:t>
                      </m:r>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𝜶</m:t>
                          </m:r>
                        </m:e>
                        <m:sub>
                          <m:r>
                            <a:rPr lang="en-NZ" altLang="ja-JP" sz="1400" b="1" i="1" smtClean="0">
                              <a:solidFill>
                                <a:schemeClr val="tx1"/>
                              </a:solidFill>
                              <a:latin typeface="Cambria Math" panose="02040503050406030204" pitchFamily="18" charset="0"/>
                            </a:rPr>
                            <m:t>𝒊</m:t>
                          </m:r>
                        </m:sub>
                      </m:sSub>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𝟎</m:t>
                      </m:r>
                      <m:r>
                        <a:rPr lang="en-NZ" altLang="ja-JP" sz="1400" b="1" i="1" smtClean="0">
                          <a:solidFill>
                            <a:schemeClr val="tx1"/>
                          </a:solidFill>
                          <a:latin typeface="Cambria Math" panose="02040503050406030204" pitchFamily="18" charset="0"/>
                        </a:rPr>
                        <m:t>     ∀  </m:t>
                      </m:r>
                      <m:r>
                        <a:rPr lang="en-NZ" altLang="ja-JP" sz="1400" b="1" i="1" smtClean="0">
                          <a:solidFill>
                            <a:schemeClr val="tx1"/>
                          </a:solidFill>
                          <a:latin typeface="Cambria Math" panose="02040503050406030204" pitchFamily="18" charset="0"/>
                        </a:rPr>
                        <m:t>𝒊</m:t>
                      </m:r>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𝟏</m:t>
                      </m:r>
                      <m:r>
                        <a:rPr lang="en-NZ" altLang="ja-JP" sz="1400" b="1" i="1" smtClean="0">
                          <a:solidFill>
                            <a:schemeClr val="tx1"/>
                          </a:solidFill>
                          <a:latin typeface="Cambria Math" panose="02040503050406030204" pitchFamily="18" charset="0"/>
                        </a:rPr>
                        <m:t>, …, </m:t>
                      </m:r>
                      <m:r>
                        <a:rPr lang="en-NZ" altLang="ja-JP" sz="1400" b="1" i="1" smtClean="0">
                          <a:solidFill>
                            <a:schemeClr val="tx1"/>
                          </a:solidFill>
                          <a:latin typeface="Cambria Math" panose="02040503050406030204" pitchFamily="18" charset="0"/>
                        </a:rPr>
                        <m:t>𝒂</m:t>
                      </m:r>
                    </m:oMath>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𝑯</m:t>
                          </m:r>
                        </m:e>
                        <m:sub>
                          <m:r>
                            <a:rPr lang="en-NZ" altLang="ja-JP" sz="1400" b="1" i="1" smtClean="0">
                              <a:solidFill>
                                <a:schemeClr val="tx1"/>
                              </a:solidFill>
                              <a:latin typeface="Cambria Math" panose="02040503050406030204" pitchFamily="18" charset="0"/>
                            </a:rPr>
                            <m:t>𝟏</m:t>
                          </m:r>
                        </m:sub>
                      </m:sSub>
                      <m:r>
                        <a:rPr lang="en-NZ" altLang="ja-JP" sz="1400" b="1" i="1">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  </m:t>
                      </m:r>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𝜶</m:t>
                          </m:r>
                        </m:e>
                        <m:sub>
                          <m:r>
                            <a:rPr lang="en-NZ" altLang="ja-JP" sz="1400" b="1" i="1" smtClean="0">
                              <a:solidFill>
                                <a:schemeClr val="tx1"/>
                              </a:solidFill>
                              <a:latin typeface="Cambria Math" panose="02040503050406030204" pitchFamily="18" charset="0"/>
                            </a:rPr>
                            <m:t>𝒊</m:t>
                          </m:r>
                        </m:sub>
                      </m:sSub>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𝟎</m:t>
                      </m:r>
                      <m:r>
                        <a:rPr lang="en-NZ" altLang="ja-JP" sz="1400" b="1" i="1">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𝒇𝒐𝒓</m:t>
                      </m:r>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𝒔𝒐𝒎𝒆</m:t>
                      </m:r>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𝒊</m:t>
                      </m:r>
                    </m:oMath>
                  </m:oMathPara>
                </a14:m>
                <a:br>
                  <a:rPr lang="en-NZ" altLang="ja-JP" sz="1400" b="1" i="1" dirty="0">
                    <a:solidFill>
                      <a:schemeClr val="tx1"/>
                    </a:solidFill>
                    <a:latin typeface="Cambria Math" panose="02040503050406030204" pitchFamily="18" charset="0"/>
                  </a:rPr>
                </a:br>
                <a:endParaRPr lang="en-NZ" altLang="ja-JP" sz="1400" b="1" dirty="0">
                  <a:solidFill>
                    <a:schemeClr val="tx1"/>
                  </a:solidFill>
                </a:endParaRPr>
              </a:p>
            </p:txBody>
          </p:sp>
        </mc:Choice>
        <mc:Fallback xmlns="">
          <p:sp>
            <p:nvSpPr>
              <p:cNvPr id="8" name="Text Placeholder 5">
                <a:extLst>
                  <a:ext uri="{FF2B5EF4-FFF2-40B4-BE49-F238E27FC236}">
                    <a16:creationId xmlns:a16="http://schemas.microsoft.com/office/drawing/2014/main" id="{D68E9554-65F3-FF54-231A-26EAC1657BDA}"/>
                  </a:ext>
                </a:extLst>
              </p:cNvPr>
              <p:cNvSpPr txBox="1">
                <a:spLocks noRot="1" noChangeAspect="1" noMove="1" noResize="1" noEditPoints="1" noAdjustHandles="1" noChangeArrowheads="1" noChangeShapeType="1" noTextEdit="1"/>
              </p:cNvSpPr>
              <p:nvPr/>
            </p:nvSpPr>
            <p:spPr>
              <a:xfrm>
                <a:off x="648926" y="5654164"/>
                <a:ext cx="2849601" cy="695961"/>
              </a:xfrm>
              <a:prstGeom prst="rect">
                <a:avLst/>
              </a:prstGeom>
              <a:blipFill>
                <a:blip r:embed="rId5"/>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71EAE0E0-82A8-20D2-2048-7C47FF3E1EBE}"/>
                  </a:ext>
                </a:extLst>
              </p:cNvPr>
              <p:cNvSpPr txBox="1">
                <a:spLocks/>
              </p:cNvSpPr>
              <p:nvPr/>
            </p:nvSpPr>
            <p:spPr>
              <a:xfrm>
                <a:off x="3647619" y="5654164"/>
                <a:ext cx="2849601" cy="66198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𝑯</m:t>
                          </m:r>
                        </m:e>
                        <m:sub>
                          <m:r>
                            <a:rPr lang="en-NZ" altLang="ja-JP" sz="1400" b="1" i="1" smtClean="0">
                              <a:solidFill>
                                <a:schemeClr val="tx1"/>
                              </a:solidFill>
                              <a:latin typeface="Cambria Math" panose="02040503050406030204" pitchFamily="18" charset="0"/>
                            </a:rPr>
                            <m:t>𝟎</m:t>
                          </m:r>
                        </m:sub>
                      </m:sSub>
                      <m:r>
                        <a:rPr lang="en-NZ" altLang="ja-JP" sz="1400" b="1" i="1" smtClean="0">
                          <a:solidFill>
                            <a:schemeClr val="tx1"/>
                          </a:solidFill>
                          <a:latin typeface="Cambria Math" panose="02040503050406030204" pitchFamily="18" charset="0"/>
                        </a:rPr>
                        <m:t> :  </m:t>
                      </m:r>
                      <m:sSub>
                        <m:sSubPr>
                          <m:ctrlPr>
                            <a:rPr lang="en-NZ" altLang="ja-JP" sz="1400" b="1" i="1" smtClean="0">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𝜷</m:t>
                          </m:r>
                        </m:e>
                        <m:sub>
                          <m:r>
                            <a:rPr lang="en-NZ" altLang="ja-JP" sz="1400" b="1" i="1" smtClean="0">
                              <a:solidFill>
                                <a:schemeClr val="tx1"/>
                              </a:solidFill>
                              <a:latin typeface="Cambria Math" panose="02040503050406030204" pitchFamily="18" charset="0"/>
                            </a:rPr>
                            <m:t>𝒋</m:t>
                          </m:r>
                        </m:sub>
                      </m:sSub>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𝟎</m:t>
                      </m:r>
                      <m:r>
                        <a:rPr lang="en-NZ" altLang="ja-JP" sz="1400" b="1" i="1" smtClean="0">
                          <a:solidFill>
                            <a:schemeClr val="tx1"/>
                          </a:solidFill>
                          <a:latin typeface="Cambria Math" panose="02040503050406030204" pitchFamily="18" charset="0"/>
                        </a:rPr>
                        <m:t>     ∀  </m:t>
                      </m:r>
                      <m:r>
                        <a:rPr lang="en-NZ" altLang="ja-JP" sz="1400" b="1" i="1" smtClean="0">
                          <a:solidFill>
                            <a:schemeClr val="tx1"/>
                          </a:solidFill>
                          <a:latin typeface="Cambria Math" panose="02040503050406030204" pitchFamily="18" charset="0"/>
                        </a:rPr>
                        <m:t>𝒋</m:t>
                      </m:r>
                      <m:r>
                        <a:rPr lang="en-NZ" altLang="ja-JP" sz="1400" b="1" i="1" smtClean="0">
                          <a:solidFill>
                            <a:schemeClr val="tx1"/>
                          </a:solidFill>
                          <a:latin typeface="Cambria Math" panose="02040503050406030204" pitchFamily="18" charset="0"/>
                        </a:rPr>
                        <m:t>=</m:t>
                      </m:r>
                      <m:r>
                        <a:rPr lang="en-NZ" altLang="ja-JP" sz="1400" b="1" i="1" smtClean="0">
                          <a:solidFill>
                            <a:schemeClr val="tx1"/>
                          </a:solidFill>
                          <a:latin typeface="Cambria Math" panose="02040503050406030204" pitchFamily="18" charset="0"/>
                        </a:rPr>
                        <m:t>𝟏</m:t>
                      </m:r>
                      <m:r>
                        <a:rPr lang="en-NZ" altLang="ja-JP" sz="1400" b="1" i="1" smtClean="0">
                          <a:solidFill>
                            <a:schemeClr val="tx1"/>
                          </a:solidFill>
                          <a:latin typeface="Cambria Math" panose="02040503050406030204" pitchFamily="18" charset="0"/>
                        </a:rPr>
                        <m:t>, …, </m:t>
                      </m:r>
                      <m:r>
                        <a:rPr lang="en-NZ" altLang="ja-JP" sz="1400" b="1" i="1" smtClean="0">
                          <a:solidFill>
                            <a:schemeClr val="tx1"/>
                          </a:solidFill>
                          <a:latin typeface="Cambria Math" panose="02040503050406030204" pitchFamily="18" charset="0"/>
                        </a:rPr>
                        <m:t>𝒃</m:t>
                      </m:r>
                    </m:oMath>
                    <m:oMath xmlns:m="http://schemas.openxmlformats.org/officeDocument/2006/math">
                      <m:sSub>
                        <m:sSubPr>
                          <m:ctrlPr>
                            <a:rPr lang="en-NZ" altLang="ja-JP" sz="1400" b="1" i="1">
                              <a:solidFill>
                                <a:schemeClr val="tx1"/>
                              </a:solidFill>
                              <a:latin typeface="Cambria Math" panose="02040503050406030204" pitchFamily="18" charset="0"/>
                            </a:rPr>
                          </m:ctrlPr>
                        </m:sSubPr>
                        <m:e>
                          <m:r>
                            <a:rPr lang="en-NZ" altLang="ja-JP" sz="1400" b="1" i="1">
                              <a:solidFill>
                                <a:schemeClr val="tx1"/>
                              </a:solidFill>
                              <a:latin typeface="Cambria Math" panose="02040503050406030204" pitchFamily="18" charset="0"/>
                            </a:rPr>
                            <m:t>𝑯</m:t>
                          </m:r>
                        </m:e>
                        <m:sub>
                          <m:r>
                            <a:rPr lang="en-NZ" altLang="ja-JP" sz="1400" b="1" i="1" smtClean="0">
                              <a:solidFill>
                                <a:schemeClr val="tx1"/>
                              </a:solidFill>
                              <a:latin typeface="Cambria Math" panose="02040503050406030204" pitchFamily="18" charset="0"/>
                            </a:rPr>
                            <m:t>𝟏</m:t>
                          </m:r>
                        </m:sub>
                      </m:sSub>
                      <m:r>
                        <a:rPr lang="en-NZ" altLang="ja-JP" sz="1400" b="1" i="1">
                          <a:solidFill>
                            <a:schemeClr val="tx1"/>
                          </a:solidFill>
                          <a:latin typeface="Cambria Math" panose="02040503050406030204" pitchFamily="18" charset="0"/>
                        </a:rPr>
                        <m:t> :</m:t>
                      </m:r>
                      <m:sSub>
                        <m:sSubPr>
                          <m:ctrlPr>
                            <a:rPr lang="en-NZ" altLang="ja-JP" sz="1400" b="1" i="1">
                              <a:solidFill>
                                <a:schemeClr val="tx1"/>
                              </a:solidFill>
                              <a:latin typeface="Cambria Math" panose="02040503050406030204" pitchFamily="18" charset="0"/>
                            </a:rPr>
                          </m:ctrlPr>
                        </m:sSubPr>
                        <m:e>
                          <m:r>
                            <a:rPr lang="en-NZ" altLang="ja-JP" sz="1400" b="1" i="1" smtClean="0">
                              <a:solidFill>
                                <a:schemeClr val="tx1"/>
                              </a:solidFill>
                              <a:latin typeface="Cambria Math" panose="02040503050406030204" pitchFamily="18" charset="0"/>
                            </a:rPr>
                            <m:t>   </m:t>
                          </m:r>
                          <m:r>
                            <a:rPr lang="en-NZ" altLang="ja-JP" sz="1400" b="1" i="1">
                              <a:solidFill>
                                <a:schemeClr val="tx1"/>
                              </a:solidFill>
                              <a:latin typeface="Cambria Math" panose="02040503050406030204" pitchFamily="18" charset="0"/>
                            </a:rPr>
                            <m:t>𝜷</m:t>
                          </m:r>
                        </m:e>
                        <m:sub>
                          <m:r>
                            <a:rPr lang="en-NZ" altLang="ja-JP" sz="1400" b="1" i="1">
                              <a:solidFill>
                                <a:schemeClr val="tx1"/>
                              </a:solidFill>
                              <a:latin typeface="Cambria Math" panose="02040503050406030204" pitchFamily="18" charset="0"/>
                            </a:rPr>
                            <m:t>𝒋</m:t>
                          </m:r>
                        </m:sub>
                      </m:sSub>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𝟎</m:t>
                      </m:r>
                      <m:r>
                        <a:rPr lang="en-NZ" altLang="ja-JP" sz="1400" b="1" i="1">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𝒇𝒐𝒓</m:t>
                      </m:r>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𝒔𝒐𝒎𝒆</m:t>
                      </m:r>
                      <m:r>
                        <a:rPr lang="en-NZ" altLang="ja-JP" sz="1400" b="1" i="1" smtClean="0">
                          <a:solidFill>
                            <a:schemeClr val="tx1"/>
                          </a:solidFill>
                          <a:latin typeface="Cambria Math" panose="02040503050406030204" pitchFamily="18" charset="0"/>
                        </a:rPr>
                        <m:t> </m:t>
                      </m:r>
                      <m:r>
                        <a:rPr lang="en-NZ" altLang="ja-JP" sz="1400" b="1" i="1" smtClean="0">
                          <a:solidFill>
                            <a:schemeClr val="tx1"/>
                          </a:solidFill>
                          <a:latin typeface="Cambria Math" panose="02040503050406030204" pitchFamily="18" charset="0"/>
                        </a:rPr>
                        <m:t>𝒋</m:t>
                      </m:r>
                    </m:oMath>
                  </m:oMathPara>
                </a14:m>
                <a:br>
                  <a:rPr lang="en-NZ" altLang="ja-JP" sz="1400" b="1" i="1" dirty="0">
                    <a:solidFill>
                      <a:schemeClr val="tx1"/>
                    </a:solidFill>
                    <a:latin typeface="Cambria Math" panose="02040503050406030204" pitchFamily="18" charset="0"/>
                  </a:rPr>
                </a:br>
                <a:endParaRPr lang="en-NZ" altLang="ja-JP" sz="1400" b="1" dirty="0">
                  <a:solidFill>
                    <a:schemeClr val="tx1"/>
                  </a:solidFill>
                </a:endParaRPr>
              </a:p>
            </p:txBody>
          </p:sp>
        </mc:Choice>
        <mc:Fallback xmlns="">
          <p:sp>
            <p:nvSpPr>
              <p:cNvPr id="9" name="Text Placeholder 5">
                <a:extLst>
                  <a:ext uri="{FF2B5EF4-FFF2-40B4-BE49-F238E27FC236}">
                    <a16:creationId xmlns:a16="http://schemas.microsoft.com/office/drawing/2014/main" id="{71EAE0E0-82A8-20D2-2048-7C47FF3E1EBE}"/>
                  </a:ext>
                </a:extLst>
              </p:cNvPr>
              <p:cNvSpPr txBox="1">
                <a:spLocks noRot="1" noChangeAspect="1" noMove="1" noResize="1" noEditPoints="1" noAdjustHandles="1" noChangeArrowheads="1" noChangeShapeType="1" noTextEdit="1"/>
              </p:cNvSpPr>
              <p:nvPr/>
            </p:nvSpPr>
            <p:spPr>
              <a:xfrm>
                <a:off x="3647619" y="5654164"/>
                <a:ext cx="2849601" cy="661983"/>
              </a:xfrm>
              <a:prstGeom prst="rect">
                <a:avLst/>
              </a:prstGeom>
              <a:blipFill>
                <a:blip r:embed="rId6"/>
                <a:stretch>
                  <a:fillRect/>
                </a:stretch>
              </a:blipFill>
            </p:spPr>
            <p:txBody>
              <a:bodyPr/>
              <a:lstStyle/>
              <a:p>
                <a:r>
                  <a:rPr lang="en-NZ">
                    <a:noFill/>
                  </a:rPr>
                  <a:t> </a:t>
                </a:r>
              </a:p>
            </p:txBody>
          </p:sp>
        </mc:Fallback>
      </mc:AlternateContent>
      <p:sp>
        <p:nvSpPr>
          <p:cNvPr id="10" name="Text Placeholder 5">
            <a:extLst>
              <a:ext uri="{FF2B5EF4-FFF2-40B4-BE49-F238E27FC236}">
                <a16:creationId xmlns:a16="http://schemas.microsoft.com/office/drawing/2014/main" id="{32FE2C70-5643-AD1A-7831-8F43BC0038D2}"/>
              </a:ext>
            </a:extLst>
          </p:cNvPr>
          <p:cNvSpPr txBox="1">
            <a:spLocks/>
          </p:cNvSpPr>
          <p:nvPr/>
        </p:nvSpPr>
        <p:spPr>
          <a:xfrm>
            <a:off x="648926" y="4473697"/>
            <a:ext cx="3875851"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Is there any interaction between factors?</a:t>
            </a:r>
            <a:endParaRPr kumimoji="1" lang="en-NZ" altLang="ja-JP" sz="14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12" name="Text Placeholder 5">
            <a:extLst>
              <a:ext uri="{FF2B5EF4-FFF2-40B4-BE49-F238E27FC236}">
                <a16:creationId xmlns:a16="http://schemas.microsoft.com/office/drawing/2014/main" id="{5932AC31-14A6-2AF3-6AA9-260D9830D44B}"/>
              </a:ext>
            </a:extLst>
          </p:cNvPr>
          <p:cNvSpPr txBox="1">
            <a:spLocks/>
          </p:cNvSpPr>
          <p:nvPr/>
        </p:nvSpPr>
        <p:spPr>
          <a:xfrm>
            <a:off x="651234" y="5447930"/>
            <a:ext cx="3377430"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Does factor A have any effect on Y?</a:t>
            </a:r>
            <a:endParaRPr kumimoji="1" lang="en-NZ" altLang="ja-JP" sz="14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13" name="Text Placeholder 5">
            <a:extLst>
              <a:ext uri="{FF2B5EF4-FFF2-40B4-BE49-F238E27FC236}">
                <a16:creationId xmlns:a16="http://schemas.microsoft.com/office/drawing/2014/main" id="{55E56A81-9CA4-B0E5-8105-70723E8BE5B8}"/>
              </a:ext>
            </a:extLst>
          </p:cNvPr>
          <p:cNvSpPr txBox="1">
            <a:spLocks/>
          </p:cNvSpPr>
          <p:nvPr/>
        </p:nvSpPr>
        <p:spPr>
          <a:xfrm>
            <a:off x="3657582" y="5456229"/>
            <a:ext cx="3996679" cy="39792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rPr>
              <a:t>Does factor B have any effect on Y conditional on A?</a:t>
            </a:r>
            <a:endParaRPr kumimoji="1" lang="en-NZ" altLang="ja-JP" sz="1400" b="1"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p:sp>
        <p:nvSpPr>
          <p:cNvPr id="15" name="Text Placeholder 5">
            <a:extLst>
              <a:ext uri="{FF2B5EF4-FFF2-40B4-BE49-F238E27FC236}">
                <a16:creationId xmlns:a16="http://schemas.microsoft.com/office/drawing/2014/main" id="{336B0C71-662A-1C14-7165-353F62CC0B39}"/>
              </a:ext>
            </a:extLst>
          </p:cNvPr>
          <p:cNvSpPr txBox="1">
            <a:spLocks/>
          </p:cNvSpPr>
          <p:nvPr/>
        </p:nvSpPr>
        <p:spPr>
          <a:xfrm>
            <a:off x="6733540" y="3047038"/>
            <a:ext cx="5208746" cy="53247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400" dirty="0">
                <a:solidFill>
                  <a:prstClr val="black"/>
                </a:solidFill>
              </a:rPr>
              <a:t>Very strong evidence for an effect of sex on cholesterol level</a:t>
            </a:r>
            <a:br>
              <a:rPr lang="en-NZ" altLang="ja-JP" sz="1400" dirty="0">
                <a:solidFill>
                  <a:prstClr val="black"/>
                </a:solidFill>
              </a:rPr>
            </a:br>
            <a:r>
              <a:rPr lang="en-NZ" altLang="ja-JP" sz="1400" dirty="0">
                <a:solidFill>
                  <a:prstClr val="black"/>
                </a:solidFill>
              </a:rPr>
              <a:t>F = 22.887, </a:t>
            </a:r>
            <a:r>
              <a:rPr lang="en-NZ" altLang="ja-JP" sz="1400" dirty="0" err="1">
                <a:solidFill>
                  <a:prstClr val="black"/>
                </a:solidFill>
              </a:rPr>
              <a:t>df</a:t>
            </a:r>
            <a:r>
              <a:rPr lang="en-NZ" altLang="ja-JP" sz="1400" dirty="0">
                <a:solidFill>
                  <a:prstClr val="black"/>
                </a:solidFill>
              </a:rPr>
              <a:t> = (1,42), p-value = 2.14e-05</a:t>
            </a:r>
            <a:endParaRPr lang="en-US" altLang="ja-JP" sz="1400" b="1" i="1" dirty="0">
              <a:solidFill>
                <a:prstClr val="black"/>
              </a:solidFill>
            </a:endParaRPr>
          </a:p>
        </p:txBody>
      </p:sp>
      <p:sp>
        <p:nvSpPr>
          <p:cNvPr id="16" name="Text Placeholder 5">
            <a:extLst>
              <a:ext uri="{FF2B5EF4-FFF2-40B4-BE49-F238E27FC236}">
                <a16:creationId xmlns:a16="http://schemas.microsoft.com/office/drawing/2014/main" id="{82D3A675-8B7A-52B0-0545-6F5C7712A758}"/>
              </a:ext>
            </a:extLst>
          </p:cNvPr>
          <p:cNvSpPr txBox="1">
            <a:spLocks/>
          </p:cNvSpPr>
          <p:nvPr/>
        </p:nvSpPr>
        <p:spPr>
          <a:xfrm>
            <a:off x="6733540" y="3742535"/>
            <a:ext cx="5208746" cy="50110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lnSpc>
                <a:spcPct val="100000"/>
              </a:lnSpc>
              <a:buFont typeface="Arial" panose="020B0604020202020204" pitchFamily="34" charset="0"/>
              <a:buChar char="•"/>
            </a:pPr>
            <a:r>
              <a:rPr lang="en-NZ" altLang="ja-JP" sz="1400" dirty="0">
                <a:solidFill>
                  <a:prstClr val="black"/>
                </a:solidFill>
              </a:rPr>
              <a:t>Very strong evidence for an effect of dosage on cholesterol </a:t>
            </a:r>
            <a:br>
              <a:rPr lang="en-NZ" altLang="ja-JP" sz="1400" dirty="0">
                <a:solidFill>
                  <a:prstClr val="black"/>
                </a:solidFill>
              </a:rPr>
            </a:br>
            <a:r>
              <a:rPr lang="en-NZ" altLang="ja-JP" sz="1400" dirty="0">
                <a:solidFill>
                  <a:prstClr val="black"/>
                </a:solidFill>
              </a:rPr>
              <a:t>levels after controlling for sex</a:t>
            </a:r>
            <a:br>
              <a:rPr lang="en-NZ" altLang="ja-JP" sz="1400" dirty="0">
                <a:solidFill>
                  <a:prstClr val="black"/>
                </a:solidFill>
              </a:rPr>
            </a:br>
            <a:r>
              <a:rPr lang="en-NZ" altLang="ja-JP" sz="1400" dirty="0">
                <a:solidFill>
                  <a:prstClr val="black"/>
                </a:solidFill>
              </a:rPr>
              <a:t>F = 5.905, </a:t>
            </a:r>
            <a:r>
              <a:rPr lang="en-NZ" altLang="ja-JP" sz="1400" dirty="0" err="1">
                <a:solidFill>
                  <a:prstClr val="black"/>
                </a:solidFill>
              </a:rPr>
              <a:t>df</a:t>
            </a:r>
            <a:r>
              <a:rPr lang="en-NZ" altLang="ja-JP" sz="1400" dirty="0">
                <a:solidFill>
                  <a:prstClr val="black"/>
                </a:solidFill>
              </a:rPr>
              <a:t> = (2,42), p-value = 0.0055</a:t>
            </a:r>
            <a:endParaRPr kumimoji="1" lang="en-US"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211614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animBg="1"/>
      <p:bldP spid="21" grpId="0"/>
      <p:bldP spid="3" grpId="0"/>
      <p:bldP spid="8" grpId="0"/>
      <p:bldP spid="9" grpId="0"/>
      <p:bldP spid="10" grpId="0"/>
      <p:bldP spid="12" grpId="0"/>
      <p:bldP spid="13"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6</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9" name="Text Placeholder 5">
            <a:extLst>
              <a:ext uri="{FF2B5EF4-FFF2-40B4-BE49-F238E27FC236}">
                <a16:creationId xmlns:a16="http://schemas.microsoft.com/office/drawing/2014/main" id="{6594744B-AA76-FC39-BBCA-38E07ECA9683}"/>
              </a:ext>
            </a:extLst>
          </p:cNvPr>
          <p:cNvSpPr txBox="1">
            <a:spLocks/>
          </p:cNvSpPr>
          <p:nvPr/>
        </p:nvSpPr>
        <p:spPr>
          <a:xfrm>
            <a:off x="319463" y="952771"/>
            <a:ext cx="11466386" cy="60720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600" dirty="0">
                <a:solidFill>
                  <a:srgbClr val="0070C0"/>
                </a:solidFill>
              </a:rPr>
              <a:t>Due to the small sample size in some cells, there is concern that the conditions of normal theory two-way ANOVA (i.e. independence, normality and homogeneity of variance) may not be satisfied. If so, the results of normal theory two-way ANOVA will be meaningless.</a:t>
            </a:r>
          </a:p>
        </p:txBody>
      </p:sp>
      <p:graphicFrame>
        <p:nvGraphicFramePr>
          <p:cNvPr id="10" name="Table 9">
            <a:extLst>
              <a:ext uri="{FF2B5EF4-FFF2-40B4-BE49-F238E27FC236}">
                <a16:creationId xmlns:a16="http://schemas.microsoft.com/office/drawing/2014/main" id="{21B55116-D758-B1F9-8022-7561A2F7F2A5}"/>
              </a:ext>
            </a:extLst>
          </p:cNvPr>
          <p:cNvGraphicFramePr>
            <a:graphicFrameLocks noGrp="1"/>
          </p:cNvGraphicFramePr>
          <p:nvPr/>
        </p:nvGraphicFramePr>
        <p:xfrm>
          <a:off x="406151" y="1823703"/>
          <a:ext cx="3213100" cy="4358952"/>
        </p:xfrm>
        <a:graphic>
          <a:graphicData uri="http://schemas.openxmlformats.org/drawingml/2006/table">
            <a:tbl>
              <a:tblPr firstRow="1" firstCol="1" bandRow="1">
                <a:tableStyleId>{5C22544A-7EE6-4342-B048-85BDC9FD1C3A}</a:tableStyleId>
              </a:tblPr>
              <a:tblGrid>
                <a:gridCol w="573869">
                  <a:extLst>
                    <a:ext uri="{9D8B030D-6E8A-4147-A177-3AD203B41FA5}">
                      <a16:colId xmlns:a16="http://schemas.microsoft.com/office/drawing/2014/main" val="1659444516"/>
                    </a:ext>
                  </a:extLst>
                </a:gridCol>
                <a:gridCol w="835831">
                  <a:extLst>
                    <a:ext uri="{9D8B030D-6E8A-4147-A177-3AD203B41FA5}">
                      <a16:colId xmlns:a16="http://schemas.microsoft.com/office/drawing/2014/main" val="1590401375"/>
                    </a:ext>
                  </a:extLst>
                </a:gridCol>
                <a:gridCol w="901700">
                  <a:extLst>
                    <a:ext uri="{9D8B030D-6E8A-4147-A177-3AD203B41FA5}">
                      <a16:colId xmlns:a16="http://schemas.microsoft.com/office/drawing/2014/main" val="667814405"/>
                    </a:ext>
                  </a:extLst>
                </a:gridCol>
                <a:gridCol w="901700">
                  <a:extLst>
                    <a:ext uri="{9D8B030D-6E8A-4147-A177-3AD203B41FA5}">
                      <a16:colId xmlns:a16="http://schemas.microsoft.com/office/drawing/2014/main" val="1126257905"/>
                    </a:ext>
                  </a:extLst>
                </a:gridCol>
              </a:tblGrid>
              <a:tr h="402562">
                <a:tc>
                  <a:txBody>
                    <a:bodyPr/>
                    <a:lstStyle/>
                    <a:p>
                      <a:pPr>
                        <a:lnSpc>
                          <a:spcPct val="107000"/>
                        </a:lnSpc>
                      </a:pPr>
                      <a:endParaRPr lang="en-NZ" sz="11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dirty="0">
                          <a:effectLst/>
                        </a:rPr>
                        <a:t>Dosage 10mgs</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20mgs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NZ" sz="1100">
                          <a:effectLst/>
                        </a:rPr>
                        <a:t>Dosage 30mgs</a:t>
                      </a:r>
                      <a:endParaRPr lang="en-NZ"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435967317"/>
                  </a:ext>
                </a:extLst>
              </a:tr>
              <a:tr h="22951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71</a:t>
                      </a:r>
                    </a:p>
                  </a:txBody>
                  <a:tcPr marL="9525" marR="9525" marT="9525" marB="0" anchor="ctr"/>
                </a:tc>
                <a:extLst>
                  <a:ext uri="{0D108BD9-81ED-4DB2-BD59-A6C34878D82A}">
                    <a16:rowId xmlns:a16="http://schemas.microsoft.com/office/drawing/2014/main" val="34737088"/>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65</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67</a:t>
                      </a:r>
                    </a:p>
                  </a:txBody>
                  <a:tcPr marL="9525" marR="9525" marT="9525" marB="0" anchor="ctr"/>
                </a:tc>
                <a:extLst>
                  <a:ext uri="{0D108BD9-81ED-4DB2-BD59-A6C34878D82A}">
                    <a16:rowId xmlns:a16="http://schemas.microsoft.com/office/drawing/2014/main" val="2427662414"/>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80</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81</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extLst>
                  <a:ext uri="{0D108BD9-81ED-4DB2-BD59-A6C34878D82A}">
                    <a16:rowId xmlns:a16="http://schemas.microsoft.com/office/drawing/2014/main" val="3372802481"/>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73</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80</a:t>
                      </a:r>
                    </a:p>
                  </a:txBody>
                  <a:tcPr marL="9525" marR="9525" marT="9525" marB="0" anchor="ctr"/>
                </a:tc>
                <a:extLst>
                  <a:ext uri="{0D108BD9-81ED-4DB2-BD59-A6C34878D82A}">
                    <a16:rowId xmlns:a16="http://schemas.microsoft.com/office/drawing/2014/main" val="2506817266"/>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83</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82</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82</a:t>
                      </a:r>
                    </a:p>
                  </a:txBody>
                  <a:tcPr marL="9525" marR="9525" marT="9525" marB="0" anchor="ctr"/>
                </a:tc>
                <a:extLst>
                  <a:ext uri="{0D108BD9-81ED-4DB2-BD59-A6C34878D82A}">
                    <a16:rowId xmlns:a16="http://schemas.microsoft.com/office/drawing/2014/main" val="2506423521"/>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85</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1618157351"/>
                  </a:ext>
                </a:extLst>
              </a:tr>
              <a:tr h="218585">
                <a:tc>
                  <a:txBody>
                    <a:bodyPr/>
                    <a:lstStyle/>
                    <a:p>
                      <a:pPr algn="ctr">
                        <a:lnSpc>
                          <a:spcPct val="107000"/>
                        </a:lnSpc>
                        <a:spcAft>
                          <a:spcPts val="800"/>
                        </a:spcAft>
                      </a:pPr>
                      <a:r>
                        <a:rPr lang="en-NZ" sz="1100" dirty="0">
                          <a:effectLst/>
                          <a:latin typeface="Calibri" panose="020F0502020204030204" pitchFamily="34" charset="0"/>
                          <a:ea typeface="Calibri" panose="020F0502020204030204" pitchFamily="34" charset="0"/>
                          <a:cs typeface="Times New Roman" panose="02020603050405020304" pitchFamily="18" charset="0"/>
                        </a:rPr>
                        <a:t>Male</a:t>
                      </a: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86</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76</a:t>
                      </a:r>
                    </a:p>
                  </a:txBody>
                  <a:tcPr marL="9525" marR="9525" marT="9525" marB="0" anchor="ctr"/>
                </a:tc>
                <a:extLst>
                  <a:ext uri="{0D108BD9-81ED-4DB2-BD59-A6C34878D82A}">
                    <a16:rowId xmlns:a16="http://schemas.microsoft.com/office/drawing/2014/main" val="2736700117"/>
                  </a:ext>
                </a:extLst>
              </a:tr>
              <a:tr h="21858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73</a:t>
                      </a:r>
                    </a:p>
                  </a:txBody>
                  <a:tcPr marL="9525" marR="9525" marT="9525" marB="0" anchor="ctr"/>
                </a:tc>
                <a:extLst>
                  <a:ext uri="{0D108BD9-81ED-4DB2-BD59-A6C34878D82A}">
                    <a16:rowId xmlns:a16="http://schemas.microsoft.com/office/drawing/2014/main" val="2657871065"/>
                  </a:ext>
                </a:extLst>
              </a:tr>
              <a:tr h="229515">
                <a:tc>
                  <a:txBody>
                    <a:bodyPr/>
                    <a:lstStyle/>
                    <a:p>
                      <a:pPr algn="ctr">
                        <a:lnSpc>
                          <a:spcPct val="107000"/>
                        </a:lnSpc>
                        <a:spcAft>
                          <a:spcPts val="800"/>
                        </a:spcAft>
                      </a:pPr>
                      <a:r>
                        <a:rPr lang="en-NZ" sz="1100" dirty="0">
                          <a:effectLst/>
                        </a:rPr>
                        <a:t>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82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71</a:t>
                      </a:r>
                    </a:p>
                  </a:txBody>
                  <a:tcPr marL="9525" marR="9525" marT="9525" marB="0" anchor="ctr"/>
                </a:tc>
                <a:extLst>
                  <a:ext uri="{0D108BD9-81ED-4DB2-BD59-A6C34878D82A}">
                    <a16:rowId xmlns:a16="http://schemas.microsoft.com/office/drawing/2014/main" val="4044509371"/>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79</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66</a:t>
                      </a:r>
                    </a:p>
                  </a:txBody>
                  <a:tcPr marL="9525" marR="9525" marT="9525" marB="0" anchor="ctr"/>
                </a:tc>
                <a:extLst>
                  <a:ext uri="{0D108BD9-81ED-4DB2-BD59-A6C34878D82A}">
                    <a16:rowId xmlns:a16="http://schemas.microsoft.com/office/drawing/2014/main" val="4201916131"/>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57</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1960043920"/>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83</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69</a:t>
                      </a:r>
                    </a:p>
                  </a:txBody>
                  <a:tcPr marL="9525" marR="9525" marT="9525" marB="0" anchor="ctr"/>
                </a:tc>
                <a:extLst>
                  <a:ext uri="{0D108BD9-81ED-4DB2-BD59-A6C34878D82A}">
                    <a16:rowId xmlns:a16="http://schemas.microsoft.com/office/drawing/2014/main" val="2957139029"/>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53</a:t>
                      </a:r>
                    </a:p>
                  </a:txBody>
                  <a:tcPr marL="9525" marR="9525" marT="9525" marB="0" anchor="ctr"/>
                </a:tc>
                <a:extLst>
                  <a:ext uri="{0D108BD9-81ED-4DB2-BD59-A6C34878D82A}">
                    <a16:rowId xmlns:a16="http://schemas.microsoft.com/office/drawing/2014/main" val="995622970"/>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74</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65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1012086593"/>
                  </a:ext>
                </a:extLst>
              </a:tr>
              <a:tr h="218585">
                <a:tc>
                  <a:txBody>
                    <a:bodyPr/>
                    <a:lstStyle/>
                    <a:p>
                      <a:pPr algn="ctr">
                        <a:lnSpc>
                          <a:spcPct val="107000"/>
                        </a:lnSpc>
                        <a:spcAft>
                          <a:spcPts val="800"/>
                        </a:spcAft>
                      </a:pPr>
                      <a:r>
                        <a:rPr lang="en-NZ" sz="1100" dirty="0">
                          <a:effectLst/>
                          <a:latin typeface="Calibri" panose="020F0502020204030204" pitchFamily="34" charset="0"/>
                          <a:ea typeface="Calibri" panose="020F0502020204030204" pitchFamily="34" charset="0"/>
                          <a:cs typeface="Times New Roman" panose="02020603050405020304" pitchFamily="18" charset="0"/>
                        </a:rPr>
                        <a:t>Female</a:t>
                      </a: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59</a:t>
                      </a:r>
                    </a:p>
                  </a:txBody>
                  <a:tcPr marL="9525" marR="9525" marT="9525" marB="0" anchor="ctr"/>
                </a:tc>
                <a:extLst>
                  <a:ext uri="{0D108BD9-81ED-4DB2-BD59-A6C34878D82A}">
                    <a16:rowId xmlns:a16="http://schemas.microsoft.com/office/drawing/2014/main" val="2587854458"/>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a:solidFill>
                            <a:srgbClr val="000000"/>
                          </a:solidFill>
                          <a:effectLst/>
                          <a:latin typeface="Calibri" panose="020F0502020204030204" pitchFamily="34" charset="0"/>
                        </a:rPr>
                        <a:t>62</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68</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76</a:t>
                      </a:r>
                    </a:p>
                  </a:txBody>
                  <a:tcPr marL="9525" marR="9525" marT="9525" marB="0" anchor="ctr"/>
                </a:tc>
                <a:extLst>
                  <a:ext uri="{0D108BD9-81ED-4DB2-BD59-A6C34878D82A}">
                    <a16:rowId xmlns:a16="http://schemas.microsoft.com/office/drawing/2014/main" val="2859074407"/>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a:solidFill>
                            <a:srgbClr val="000000"/>
                          </a:solidFill>
                          <a:effectLst/>
                          <a:latin typeface="Calibri" panose="020F0502020204030204" pitchFamily="34" charset="0"/>
                        </a:rPr>
                        <a:t>72</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74</a:t>
                      </a:r>
                    </a:p>
                  </a:txBody>
                  <a:tcPr marL="9525" marR="9525" marT="9525" marB="0" anchor="ctr"/>
                </a:tc>
                <a:extLst>
                  <a:ext uri="{0D108BD9-81ED-4DB2-BD59-A6C34878D82A}">
                    <a16:rowId xmlns:a16="http://schemas.microsoft.com/office/drawing/2014/main" val="1074928605"/>
                  </a:ext>
                </a:extLst>
              </a:tr>
              <a:tr h="218585">
                <a:tc>
                  <a:txBody>
                    <a:bodyPr/>
                    <a:lstStyle/>
                    <a:p>
                      <a:pPr algn="ctr">
                        <a:lnSpc>
                          <a:spcPct val="107000"/>
                        </a:lnSpc>
                        <a:spcAft>
                          <a:spcPts val="800"/>
                        </a:spcAft>
                      </a:pPr>
                      <a:r>
                        <a:rPr lang="en-NZ" sz="1100" dirty="0">
                          <a:effectLst/>
                        </a:rPr>
                        <a:t>Female</a:t>
                      </a:r>
                      <a:endParaRPr lang="en-NZ"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75</a:t>
                      </a:r>
                    </a:p>
                  </a:txBody>
                  <a:tcPr marL="9525" marR="9525" marT="9525" marB="0" anchor="ctr"/>
                </a:tc>
                <a:tc>
                  <a:txBody>
                    <a:bodyPr/>
                    <a:lstStyle/>
                    <a:p>
                      <a:pPr algn="ctr" fontAlgn="ctr"/>
                      <a:r>
                        <a:rPr lang="en-NZ" sz="1100" b="0" i="0" u="none" strike="noStrike" dirty="0">
                          <a:solidFill>
                            <a:srgbClr val="000000"/>
                          </a:solidFill>
                          <a:effectLst/>
                          <a:latin typeface="Calibri" panose="020F0502020204030204" pitchFamily="34" charset="0"/>
                        </a:rPr>
                        <a:t>-</a:t>
                      </a:r>
                    </a:p>
                  </a:txBody>
                  <a:tcPr marL="9525" marR="9525" marT="9525" marB="0" anchor="ctr"/>
                </a:tc>
                <a:extLst>
                  <a:ext uri="{0D108BD9-81ED-4DB2-BD59-A6C34878D82A}">
                    <a16:rowId xmlns:a16="http://schemas.microsoft.com/office/drawing/2014/main" val="3516153935"/>
                  </a:ext>
                </a:extLst>
              </a:tr>
            </a:tbl>
          </a:graphicData>
        </a:graphic>
      </p:graphicFrame>
      <p:sp>
        <p:nvSpPr>
          <p:cNvPr id="12" name="Text Placeholder 5">
            <a:extLst>
              <a:ext uri="{FF2B5EF4-FFF2-40B4-BE49-F238E27FC236}">
                <a16:creationId xmlns:a16="http://schemas.microsoft.com/office/drawing/2014/main" id="{8EDA1BE1-5087-4134-0B80-0CFEE4ED0EA0}"/>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2" name="Text Placeholder 5">
            <a:extLst>
              <a:ext uri="{FF2B5EF4-FFF2-40B4-BE49-F238E27FC236}">
                <a16:creationId xmlns:a16="http://schemas.microsoft.com/office/drawing/2014/main" id="{A95A90E8-4BE4-FE0F-228E-3E76149EF5D5}"/>
              </a:ext>
            </a:extLst>
          </p:cNvPr>
          <p:cNvSpPr txBox="1">
            <a:spLocks/>
          </p:cNvSpPr>
          <p:nvPr/>
        </p:nvSpPr>
        <p:spPr>
          <a:xfrm>
            <a:off x="3985479" y="2076092"/>
            <a:ext cx="7249099" cy="13730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600" dirty="0">
                <a:solidFill>
                  <a:srgbClr val="0070C0"/>
                </a:solidFill>
              </a:rPr>
              <a:t>We will have to test for…</a:t>
            </a:r>
          </a:p>
          <a:p>
            <a:pPr marL="971493" lvl="1" indent="-285750">
              <a:lnSpc>
                <a:spcPct val="100000"/>
              </a:lnSpc>
            </a:pPr>
            <a:r>
              <a:rPr lang="en-US" altLang="ja-JP" sz="1400" dirty="0">
                <a:solidFill>
                  <a:srgbClr val="0070C0"/>
                </a:solidFill>
              </a:rPr>
              <a:t>Interaction between sex and dosage</a:t>
            </a:r>
          </a:p>
          <a:p>
            <a:pPr marL="971493" lvl="1" indent="-285750">
              <a:lnSpc>
                <a:spcPct val="100000"/>
              </a:lnSpc>
            </a:pPr>
            <a:r>
              <a:rPr lang="en-US" altLang="ja-JP" sz="1400" dirty="0">
                <a:solidFill>
                  <a:srgbClr val="0070C0"/>
                </a:solidFill>
              </a:rPr>
              <a:t>The effect of sex on cholesterol levels</a:t>
            </a:r>
          </a:p>
          <a:p>
            <a:pPr marL="971493" lvl="1" indent="-285750">
              <a:lnSpc>
                <a:spcPct val="100000"/>
              </a:lnSpc>
            </a:pPr>
            <a:r>
              <a:rPr lang="en-US" altLang="ja-JP" sz="1400" dirty="0">
                <a:solidFill>
                  <a:srgbClr val="0070C0"/>
                </a:solidFill>
              </a:rPr>
              <a:t>The effect of dosage on cholesterol levels controlling for sex </a:t>
            </a:r>
          </a:p>
        </p:txBody>
      </p:sp>
      <p:sp>
        <p:nvSpPr>
          <p:cNvPr id="13" name="Text Placeholder 5">
            <a:extLst>
              <a:ext uri="{FF2B5EF4-FFF2-40B4-BE49-F238E27FC236}">
                <a16:creationId xmlns:a16="http://schemas.microsoft.com/office/drawing/2014/main" id="{E6C18C3F-C084-325F-1ED6-EA095CB6FC45}"/>
              </a:ext>
            </a:extLst>
          </p:cNvPr>
          <p:cNvSpPr txBox="1">
            <a:spLocks/>
          </p:cNvSpPr>
          <p:nvPr/>
        </p:nvSpPr>
        <p:spPr>
          <a:xfrm>
            <a:off x="3985479" y="3356942"/>
            <a:ext cx="7249099" cy="4609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600" dirty="0">
                <a:solidFill>
                  <a:srgbClr val="0070C0"/>
                </a:solidFill>
              </a:rPr>
              <a:t>… by conducting permutation tests.</a:t>
            </a:r>
          </a:p>
        </p:txBody>
      </p:sp>
    </p:spTree>
    <p:extLst>
      <p:ext uri="{BB962C8B-B14F-4D97-AF65-F5344CB8AC3E}">
        <p14:creationId xmlns:p14="http://schemas.microsoft.com/office/powerpoint/2010/main" val="306561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A7B64E7-30B3-76C7-D0B0-AFB5E42BE253}"/>
              </a:ext>
            </a:extLst>
          </p:cNvPr>
          <p:cNvPicPr>
            <a:picLocks noChangeAspect="1"/>
          </p:cNvPicPr>
          <p:nvPr/>
        </p:nvPicPr>
        <p:blipFill>
          <a:blip r:embed="rId2"/>
          <a:stretch>
            <a:fillRect/>
          </a:stretch>
        </p:blipFill>
        <p:spPr>
          <a:xfrm>
            <a:off x="662404" y="2139827"/>
            <a:ext cx="6112773" cy="3571875"/>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076418" cy="4190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mj-lt"/>
              <a:buAutoNum type="alphaLcParenR" startAt="5"/>
            </a:pPr>
            <a:r>
              <a:rPr lang="en-US" altLang="ja-JP" sz="1600" dirty="0">
                <a:solidFill>
                  <a:srgbClr val="0070C0"/>
                </a:solidFill>
              </a:rPr>
              <a:t>Conduct a permutation test to test for interaction effects using Ter </a:t>
            </a:r>
            <a:r>
              <a:rPr lang="en-US" altLang="ja-JP" sz="1600" dirty="0" err="1">
                <a:solidFill>
                  <a:srgbClr val="0070C0"/>
                </a:solidFill>
              </a:rPr>
              <a:t>Braak’s</a:t>
            </a:r>
            <a:r>
              <a:rPr lang="en-US" altLang="ja-JP" sz="1600" dirty="0">
                <a:solidFill>
                  <a:srgbClr val="0070C0"/>
                </a:solidFill>
              </a:rPr>
              <a:t> method.</a:t>
            </a:r>
          </a:p>
        </p:txBody>
      </p:sp>
      <p:sp>
        <p:nvSpPr>
          <p:cNvPr id="17" name="Text Placeholder 5">
            <a:extLst>
              <a:ext uri="{FF2B5EF4-FFF2-40B4-BE49-F238E27FC236}">
                <a16:creationId xmlns:a16="http://schemas.microsoft.com/office/drawing/2014/main" id="{BF281220-BC4A-79DF-7793-A242CF02F34F}"/>
              </a:ext>
            </a:extLst>
          </p:cNvPr>
          <p:cNvSpPr txBox="1">
            <a:spLocks/>
          </p:cNvSpPr>
          <p:nvPr/>
        </p:nvSpPr>
        <p:spPr>
          <a:xfrm>
            <a:off x="662404" y="1485830"/>
            <a:ext cx="5290802"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2 of the code</a:t>
            </a:r>
            <a:endParaRPr kumimoji="1" lang="en-US" altLang="ja-JP" sz="1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9FBFB94C-5A3A-86BF-D54C-DEB4A16DF304}"/>
                  </a:ext>
                </a:extLst>
              </p:cNvPr>
              <p:cNvSpPr txBox="1">
                <a:spLocks/>
              </p:cNvSpPr>
              <p:nvPr/>
            </p:nvSpPr>
            <p:spPr>
              <a:xfrm>
                <a:off x="6744888" y="2269663"/>
                <a:ext cx="4812214" cy="5446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m:t>
                    </m:r>
                  </m:oMath>
                </a14:m>
                <a:r>
                  <a:rPr lang="en-NZ" altLang="ja-JP" sz="16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There is no interaction between sex and dosage</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oMath>
                </a14:m>
                <a:r>
                  <a:rPr lang="en-US" altLang="ja-JP" sz="1600" b="1" i="1" dirty="0">
                    <a:solidFill>
                      <a:schemeClr val="tx1"/>
                    </a:solidFill>
                  </a:rPr>
                  <a:t> </a:t>
                </a:r>
                <a:r>
                  <a:rPr lang="en-NZ" altLang="ja-JP" sz="1600" dirty="0">
                    <a:solidFill>
                      <a:schemeClr val="tx1"/>
                    </a:solidFill>
                    <a:latin typeface="Cambria Math" panose="02040503050406030204" pitchFamily="18" charset="0"/>
                  </a:rPr>
                  <a:t>There is an interaction between sex and dosage</a:t>
                </a:r>
                <a:endParaRPr lang="en-US" altLang="ja-JP" sz="1600" dirty="0">
                  <a:solidFill>
                    <a:schemeClr val="tx1"/>
                  </a:solidFill>
                </a:endParaRPr>
              </a:p>
            </p:txBody>
          </p:sp>
        </mc:Choice>
        <mc:Fallback xmlns="">
          <p:sp>
            <p:nvSpPr>
              <p:cNvPr id="3" name="Text Placeholder 5">
                <a:extLst>
                  <a:ext uri="{FF2B5EF4-FFF2-40B4-BE49-F238E27FC236}">
                    <a16:creationId xmlns:a16="http://schemas.microsoft.com/office/drawing/2014/main" id="{9FBFB94C-5A3A-86BF-D54C-DEB4A16DF304}"/>
                  </a:ext>
                </a:extLst>
              </p:cNvPr>
              <p:cNvSpPr txBox="1">
                <a:spLocks noRot="1" noChangeAspect="1" noMove="1" noResize="1" noEditPoints="1" noAdjustHandles="1" noChangeArrowheads="1" noChangeShapeType="1" noTextEdit="1"/>
              </p:cNvSpPr>
              <p:nvPr/>
            </p:nvSpPr>
            <p:spPr>
              <a:xfrm>
                <a:off x="6744888" y="2269663"/>
                <a:ext cx="4812214" cy="544680"/>
              </a:xfrm>
              <a:prstGeom prst="rect">
                <a:avLst/>
              </a:prstGeom>
              <a:blipFill>
                <a:blip r:embed="rId4"/>
                <a:stretch>
                  <a:fillRect t="-4444" b="-17778"/>
                </a:stretch>
              </a:blipFill>
            </p:spPr>
            <p:txBody>
              <a:bodyPr/>
              <a:lstStyle/>
              <a:p>
                <a:r>
                  <a:rPr lang="en-NZ">
                    <a:noFill/>
                  </a:rPr>
                  <a:t> </a:t>
                </a:r>
              </a:p>
            </p:txBody>
          </p:sp>
        </mc:Fallback>
      </mc:AlternateContent>
      <p:sp>
        <p:nvSpPr>
          <p:cNvPr id="8" name="Text Placeholder 5">
            <a:extLst>
              <a:ext uri="{FF2B5EF4-FFF2-40B4-BE49-F238E27FC236}">
                <a16:creationId xmlns:a16="http://schemas.microsoft.com/office/drawing/2014/main" id="{932C18B9-CCA2-6ED1-DF3B-C001344A3921}"/>
              </a:ext>
            </a:extLst>
          </p:cNvPr>
          <p:cNvSpPr txBox="1">
            <a:spLocks/>
          </p:cNvSpPr>
          <p:nvPr/>
        </p:nvSpPr>
        <p:spPr>
          <a:xfrm>
            <a:off x="565244" y="1751026"/>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p:txBody>
      </p:sp>
      <p:sp>
        <p:nvSpPr>
          <p:cNvPr id="9" name="Text Placeholder 5">
            <a:extLst>
              <a:ext uri="{FF2B5EF4-FFF2-40B4-BE49-F238E27FC236}">
                <a16:creationId xmlns:a16="http://schemas.microsoft.com/office/drawing/2014/main" id="{D1CC194F-E9D4-F732-5EE5-24E572A58235}"/>
              </a:ext>
            </a:extLst>
          </p:cNvPr>
          <p:cNvSpPr txBox="1">
            <a:spLocks/>
          </p:cNvSpPr>
          <p:nvPr/>
        </p:nvSpPr>
        <p:spPr>
          <a:xfrm>
            <a:off x="1504998" y="2349940"/>
            <a:ext cx="1695293"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C00000"/>
                </a:solidFill>
              </a:rPr>
              <a:t>F</a:t>
            </a:r>
            <a:r>
              <a:rPr lang="en-NZ" altLang="ja-JP" sz="1800" b="1" i="1" baseline="-25000" dirty="0">
                <a:solidFill>
                  <a:srgbClr val="C00000"/>
                </a:solidFill>
              </a:rPr>
              <a:t>obs</a:t>
            </a:r>
            <a:r>
              <a:rPr lang="en-NZ" altLang="ja-JP" sz="1800" b="1" i="1" dirty="0">
                <a:solidFill>
                  <a:srgbClr val="C00000"/>
                </a:solidFill>
              </a:rPr>
              <a:t> = 0.1678</a:t>
            </a:r>
          </a:p>
          <a:p>
            <a:pPr algn="just">
              <a:lnSpc>
                <a:spcPct val="100000"/>
              </a:lnSpc>
            </a:pPr>
            <a:r>
              <a:rPr lang="en-NZ" altLang="ja-JP" sz="1800" b="1" i="1" dirty="0">
                <a:solidFill>
                  <a:srgbClr val="C00000"/>
                </a:solidFill>
              </a:rPr>
              <a:t>  </a:t>
            </a:r>
          </a:p>
          <a:p>
            <a:pPr algn="just">
              <a:lnSpc>
                <a:spcPct val="100000"/>
              </a:lnSpc>
            </a:pPr>
            <a:endParaRPr lang="en-NZ" altLang="ja-JP" sz="1800" b="1" i="1" dirty="0">
              <a:solidFill>
                <a:srgbClr val="C00000"/>
              </a:solidFill>
            </a:endParaRPr>
          </a:p>
          <a:p>
            <a:pPr algn="just">
              <a:lnSpc>
                <a:spcPct val="100000"/>
              </a:lnSpc>
            </a:pPr>
            <a:endParaRPr lang="en-NZ" altLang="ja-JP" sz="1800" b="1" i="1" dirty="0">
              <a:solidFill>
                <a:srgbClr val="C00000"/>
              </a:solidFill>
            </a:endParaRPr>
          </a:p>
        </p:txBody>
      </p:sp>
      <p:sp>
        <p:nvSpPr>
          <p:cNvPr id="10" name="Text Placeholder 5">
            <a:extLst>
              <a:ext uri="{FF2B5EF4-FFF2-40B4-BE49-F238E27FC236}">
                <a16:creationId xmlns:a16="http://schemas.microsoft.com/office/drawing/2014/main" id="{0B890B06-4FA3-13A3-7A8C-8F191C67BBBD}"/>
              </a:ext>
            </a:extLst>
          </p:cNvPr>
          <p:cNvSpPr txBox="1">
            <a:spLocks/>
          </p:cNvSpPr>
          <p:nvPr/>
        </p:nvSpPr>
        <p:spPr>
          <a:xfrm>
            <a:off x="7006345" y="4267258"/>
            <a:ext cx="4435028" cy="14592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Permutation test yields no evidence against H</a:t>
            </a:r>
            <a:r>
              <a:rPr lang="en-NZ" altLang="ja-JP" sz="1600" baseline="-25000" dirty="0">
                <a:solidFill>
                  <a:schemeClr val="tx1"/>
                </a:solidFill>
              </a:rPr>
              <a:t>0</a:t>
            </a:r>
            <a:r>
              <a:rPr lang="en-NZ" altLang="ja-JP" sz="1600" dirty="0">
                <a:solidFill>
                  <a:schemeClr val="tx1"/>
                </a:solidFill>
              </a:rPr>
              <a:t>.</a:t>
            </a:r>
            <a:br>
              <a:rPr lang="en-NZ" altLang="ja-JP" sz="1600" dirty="0">
                <a:solidFill>
                  <a:schemeClr val="tx1"/>
                </a:solidFill>
              </a:rPr>
            </a:br>
            <a:br>
              <a:rPr lang="en-NZ" altLang="ja-JP" sz="1600" dirty="0">
                <a:solidFill>
                  <a:schemeClr val="tx1"/>
                </a:solidFill>
              </a:rPr>
            </a:br>
            <a:r>
              <a:rPr lang="en-NZ" altLang="ja-JP" sz="1600" dirty="0">
                <a:solidFill>
                  <a:schemeClr val="tx1"/>
                </a:solidFill>
              </a:rPr>
              <a:t>Conclude that there is no </a:t>
            </a:r>
            <a:r>
              <a:rPr lang="en-NZ" altLang="ja-JP" sz="1600" dirty="0">
                <a:solidFill>
                  <a:schemeClr val="tx1"/>
                </a:solidFill>
                <a:latin typeface="Cambria Math" panose="02040503050406030204" pitchFamily="18" charset="0"/>
              </a:rPr>
              <a:t>interaction between sex and dosage</a:t>
            </a:r>
            <a:endParaRPr lang="en-NZ" altLang="ja-JP" sz="1600" dirty="0">
              <a:solidFill>
                <a:schemeClr val="tx1"/>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B91B0857-C106-A681-D123-BD0C899EA39B}"/>
                  </a:ext>
                </a:extLst>
              </p:cNvPr>
              <p:cNvSpPr txBox="1">
                <a:spLocks/>
              </p:cNvSpPr>
              <p:nvPr/>
            </p:nvSpPr>
            <p:spPr>
              <a:xfrm>
                <a:off x="7006345" y="3020880"/>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i="1" dirty="0">
                    <a:solidFill>
                      <a:schemeClr val="tx1"/>
                    </a:solidFill>
                  </a:rPr>
                  <a:t>F</a:t>
                </a:r>
                <a:r>
                  <a:rPr lang="en-NZ" altLang="ja-JP" sz="1600" b="1" i="1" baseline="-25000" dirty="0" err="1">
                    <a:solidFill>
                      <a:schemeClr val="tx1"/>
                    </a:solidFill>
                  </a:rPr>
                  <a:t>Obs</a:t>
                </a:r>
                <a:r>
                  <a:rPr lang="en-NZ" altLang="ja-JP" sz="1600" b="1" i="1" dirty="0">
                    <a:solidFill>
                      <a:schemeClr val="tx1"/>
                    </a:solidFill>
                  </a:rPr>
                  <a:t>  </a:t>
                </a:r>
                <a:r>
                  <a:rPr lang="en-NZ" altLang="ja-JP" sz="1600" dirty="0">
                    <a:solidFill>
                      <a:schemeClr val="tx1"/>
                    </a:solidFill>
                  </a:rPr>
                  <a:t>lies in the 16.9</a:t>
                </a:r>
                <a:r>
                  <a:rPr lang="en-NZ" altLang="ja-JP" sz="1600" baseline="30000" dirty="0">
                    <a:solidFill>
                      <a:schemeClr val="tx1"/>
                    </a:solidFill>
                  </a:rPr>
                  <a:t>th</a:t>
                </a:r>
                <a:r>
                  <a:rPr lang="en-NZ" altLang="ja-JP" sz="1600" dirty="0">
                    <a:solidFill>
                      <a:schemeClr val="tx1"/>
                    </a:solidFill>
                  </a:rPr>
                  <a:t> percentile of F-statistic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𝟖𝟑𝟏</m:t>
                      </m:r>
                    </m:oMath>
                  </m:oMathPara>
                </a14:m>
                <a:endParaRPr lang="en-NZ" altLang="ja-JP" sz="1600" b="1" dirty="0">
                  <a:solidFill>
                    <a:schemeClr val="tx1"/>
                  </a:solidFill>
                </a:endParaRPr>
              </a:p>
            </p:txBody>
          </p:sp>
        </mc:Choice>
        <mc:Fallback xmlns="">
          <p:sp>
            <p:nvSpPr>
              <p:cNvPr id="12" name="Text Placeholder 5">
                <a:extLst>
                  <a:ext uri="{FF2B5EF4-FFF2-40B4-BE49-F238E27FC236}">
                    <a16:creationId xmlns:a16="http://schemas.microsoft.com/office/drawing/2014/main" id="{B91B0857-C106-A681-D123-BD0C899EA39B}"/>
                  </a:ext>
                </a:extLst>
              </p:cNvPr>
              <p:cNvSpPr txBox="1">
                <a:spLocks noRot="1" noChangeAspect="1" noMove="1" noResize="1" noEditPoints="1" noAdjustHandles="1" noChangeArrowheads="1" noChangeShapeType="1" noTextEdit="1"/>
              </p:cNvSpPr>
              <p:nvPr/>
            </p:nvSpPr>
            <p:spPr>
              <a:xfrm>
                <a:off x="7006345" y="3020880"/>
                <a:ext cx="4132719" cy="1169215"/>
              </a:xfrm>
              <a:prstGeom prst="rect">
                <a:avLst/>
              </a:prstGeom>
              <a:blipFill>
                <a:blip r:embed="rId5"/>
                <a:stretch>
                  <a:fillRect l="-737" t="-1571" r="-885"/>
                </a:stretch>
              </a:blipFill>
            </p:spPr>
            <p:txBody>
              <a:bodyPr/>
              <a:lstStyle/>
              <a:p>
                <a:r>
                  <a:rPr lang="en-NZ">
                    <a:noFill/>
                  </a:rPr>
                  <a:t> </a:t>
                </a:r>
              </a:p>
            </p:txBody>
          </p:sp>
        </mc:Fallback>
      </mc:AlternateContent>
    </p:spTree>
    <p:extLst>
      <p:ext uri="{BB962C8B-B14F-4D97-AF65-F5344CB8AC3E}">
        <p14:creationId xmlns:p14="http://schemas.microsoft.com/office/powerpoint/2010/main" val="1500730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P spid="8" grpId="0"/>
      <p:bldP spid="9" grpId="0"/>
      <p:bldP spid="10"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2CF4CFE-22E6-5853-0E00-8BECD118CB76}"/>
              </a:ext>
            </a:extLst>
          </p:cNvPr>
          <p:cNvPicPr>
            <a:picLocks noChangeAspect="1"/>
          </p:cNvPicPr>
          <p:nvPr/>
        </p:nvPicPr>
        <p:blipFill>
          <a:blip r:embed="rId2"/>
          <a:stretch>
            <a:fillRect/>
          </a:stretch>
        </p:blipFill>
        <p:spPr>
          <a:xfrm>
            <a:off x="355642" y="2278735"/>
            <a:ext cx="6409564" cy="3606738"/>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076418" cy="3157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mj-lt"/>
              <a:buAutoNum type="alphaLcParenR" startAt="6"/>
            </a:pPr>
            <a:r>
              <a:rPr lang="en-US" altLang="ja-JP" sz="1600" dirty="0">
                <a:solidFill>
                  <a:srgbClr val="0070C0"/>
                </a:solidFill>
              </a:rPr>
              <a:t>Conduct a permutation test to test for the effect of sex on cholesterol alone.</a:t>
            </a:r>
          </a:p>
        </p:txBody>
      </p:sp>
      <p:sp>
        <p:nvSpPr>
          <p:cNvPr id="17" name="Text Placeholder 5">
            <a:extLst>
              <a:ext uri="{FF2B5EF4-FFF2-40B4-BE49-F238E27FC236}">
                <a16:creationId xmlns:a16="http://schemas.microsoft.com/office/drawing/2014/main" id="{BF281220-BC4A-79DF-7793-A242CF02F34F}"/>
              </a:ext>
            </a:extLst>
          </p:cNvPr>
          <p:cNvSpPr txBox="1">
            <a:spLocks/>
          </p:cNvSpPr>
          <p:nvPr/>
        </p:nvSpPr>
        <p:spPr>
          <a:xfrm>
            <a:off x="662404" y="1485830"/>
            <a:ext cx="5290802"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3 of the code</a:t>
            </a:r>
            <a:endParaRPr kumimoji="1" lang="en-US" altLang="ja-JP" sz="1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9FBFB94C-5A3A-86BF-D54C-DEB4A16DF304}"/>
                  </a:ext>
                </a:extLst>
              </p:cNvPr>
              <p:cNvSpPr txBox="1">
                <a:spLocks/>
              </p:cNvSpPr>
              <p:nvPr/>
            </p:nvSpPr>
            <p:spPr>
              <a:xfrm>
                <a:off x="6744888" y="2269663"/>
                <a:ext cx="4812214" cy="5446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m:t>
                    </m:r>
                  </m:oMath>
                </a14:m>
                <a:r>
                  <a:rPr lang="en-NZ" altLang="ja-JP" sz="16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There is no effect of sex on cholesterol levels</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oMath>
                </a14:m>
                <a:r>
                  <a:rPr lang="en-US" altLang="ja-JP" sz="1600" b="1" i="1" dirty="0">
                    <a:solidFill>
                      <a:schemeClr val="tx1"/>
                    </a:solidFill>
                  </a:rPr>
                  <a:t> </a:t>
                </a:r>
                <a:r>
                  <a:rPr lang="en-NZ" altLang="ja-JP" sz="1600" dirty="0">
                    <a:solidFill>
                      <a:schemeClr val="tx1"/>
                    </a:solidFill>
                    <a:latin typeface="Cambria Math" panose="02040503050406030204" pitchFamily="18" charset="0"/>
                  </a:rPr>
                  <a:t>There is an effect of sex on cholesterol levels</a:t>
                </a:r>
                <a:endParaRPr lang="en-US" altLang="ja-JP" sz="1600" dirty="0">
                  <a:solidFill>
                    <a:schemeClr val="tx1"/>
                  </a:solidFill>
                </a:endParaRPr>
              </a:p>
            </p:txBody>
          </p:sp>
        </mc:Choice>
        <mc:Fallback xmlns="">
          <p:sp>
            <p:nvSpPr>
              <p:cNvPr id="3" name="Text Placeholder 5">
                <a:extLst>
                  <a:ext uri="{FF2B5EF4-FFF2-40B4-BE49-F238E27FC236}">
                    <a16:creationId xmlns:a16="http://schemas.microsoft.com/office/drawing/2014/main" id="{9FBFB94C-5A3A-86BF-D54C-DEB4A16DF304}"/>
                  </a:ext>
                </a:extLst>
              </p:cNvPr>
              <p:cNvSpPr txBox="1">
                <a:spLocks noRot="1" noChangeAspect="1" noMove="1" noResize="1" noEditPoints="1" noAdjustHandles="1" noChangeArrowheads="1" noChangeShapeType="1" noTextEdit="1"/>
              </p:cNvSpPr>
              <p:nvPr/>
            </p:nvSpPr>
            <p:spPr>
              <a:xfrm>
                <a:off x="6744888" y="2269663"/>
                <a:ext cx="4812214" cy="544680"/>
              </a:xfrm>
              <a:prstGeom prst="rect">
                <a:avLst/>
              </a:prstGeom>
              <a:blipFill>
                <a:blip r:embed="rId4"/>
                <a:stretch>
                  <a:fillRect t="-4444" b="-17778"/>
                </a:stretch>
              </a:blipFill>
            </p:spPr>
            <p:txBody>
              <a:bodyPr/>
              <a:lstStyle/>
              <a:p>
                <a:r>
                  <a:rPr lang="en-NZ">
                    <a:noFill/>
                  </a:rPr>
                  <a:t> </a:t>
                </a:r>
              </a:p>
            </p:txBody>
          </p:sp>
        </mc:Fallback>
      </mc:AlternateContent>
      <p:sp>
        <p:nvSpPr>
          <p:cNvPr id="8" name="Text Placeholder 5">
            <a:extLst>
              <a:ext uri="{FF2B5EF4-FFF2-40B4-BE49-F238E27FC236}">
                <a16:creationId xmlns:a16="http://schemas.microsoft.com/office/drawing/2014/main" id="{932C18B9-CCA2-6ED1-DF3B-C001344A3921}"/>
              </a:ext>
            </a:extLst>
          </p:cNvPr>
          <p:cNvSpPr txBox="1">
            <a:spLocks/>
          </p:cNvSpPr>
          <p:nvPr/>
        </p:nvSpPr>
        <p:spPr>
          <a:xfrm>
            <a:off x="565244" y="1751026"/>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p:txBody>
      </p:sp>
      <p:sp>
        <p:nvSpPr>
          <p:cNvPr id="9" name="Text Placeholder 5">
            <a:extLst>
              <a:ext uri="{FF2B5EF4-FFF2-40B4-BE49-F238E27FC236}">
                <a16:creationId xmlns:a16="http://schemas.microsoft.com/office/drawing/2014/main" id="{D1CC194F-E9D4-F732-5EE5-24E572A58235}"/>
              </a:ext>
            </a:extLst>
          </p:cNvPr>
          <p:cNvSpPr txBox="1">
            <a:spLocks/>
          </p:cNvSpPr>
          <p:nvPr/>
        </p:nvSpPr>
        <p:spPr>
          <a:xfrm>
            <a:off x="5083798" y="2690474"/>
            <a:ext cx="135743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C00000"/>
                </a:solidFill>
              </a:rPr>
              <a:t>F</a:t>
            </a:r>
            <a:r>
              <a:rPr lang="en-NZ" altLang="ja-JP" sz="1800" b="1" i="1" baseline="-25000" dirty="0">
                <a:solidFill>
                  <a:srgbClr val="C00000"/>
                </a:solidFill>
              </a:rPr>
              <a:t>obs</a:t>
            </a:r>
            <a:r>
              <a:rPr lang="en-NZ" altLang="ja-JP" sz="1800" b="1" i="1" dirty="0">
                <a:solidFill>
                  <a:srgbClr val="C00000"/>
                </a:solidFill>
              </a:rPr>
              <a:t> = 19.44</a:t>
            </a:r>
          </a:p>
          <a:p>
            <a:pPr algn="just">
              <a:lnSpc>
                <a:spcPct val="100000"/>
              </a:lnSpc>
            </a:pPr>
            <a:r>
              <a:rPr lang="en-NZ" altLang="ja-JP" sz="1800" b="1" i="1" dirty="0">
                <a:solidFill>
                  <a:srgbClr val="C00000"/>
                </a:solidFill>
              </a:rPr>
              <a:t>  </a:t>
            </a:r>
          </a:p>
          <a:p>
            <a:pPr algn="just">
              <a:lnSpc>
                <a:spcPct val="100000"/>
              </a:lnSpc>
            </a:pPr>
            <a:endParaRPr lang="en-NZ" altLang="ja-JP" sz="1800" b="1" i="1" dirty="0">
              <a:solidFill>
                <a:srgbClr val="C00000"/>
              </a:solidFill>
            </a:endParaRPr>
          </a:p>
          <a:p>
            <a:pPr algn="just">
              <a:lnSpc>
                <a:spcPct val="100000"/>
              </a:lnSpc>
            </a:pPr>
            <a:endParaRPr lang="en-NZ" altLang="ja-JP" sz="1800" b="1" i="1" dirty="0">
              <a:solidFill>
                <a:srgbClr val="C00000"/>
              </a:solidFill>
            </a:endParaRPr>
          </a:p>
        </p:txBody>
      </p:sp>
      <p:sp>
        <p:nvSpPr>
          <p:cNvPr id="10" name="Text Placeholder 5">
            <a:extLst>
              <a:ext uri="{FF2B5EF4-FFF2-40B4-BE49-F238E27FC236}">
                <a16:creationId xmlns:a16="http://schemas.microsoft.com/office/drawing/2014/main" id="{0B890B06-4FA3-13A3-7A8C-8F191C67BBBD}"/>
              </a:ext>
            </a:extLst>
          </p:cNvPr>
          <p:cNvSpPr txBox="1">
            <a:spLocks/>
          </p:cNvSpPr>
          <p:nvPr/>
        </p:nvSpPr>
        <p:spPr>
          <a:xfrm>
            <a:off x="7006345" y="4267258"/>
            <a:ext cx="4435028" cy="14592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Permutation test yields very strong evidence against H</a:t>
            </a:r>
            <a:r>
              <a:rPr lang="en-NZ" altLang="ja-JP" sz="1600" baseline="-25000" dirty="0">
                <a:solidFill>
                  <a:schemeClr val="tx1"/>
                </a:solidFill>
              </a:rPr>
              <a:t>0</a:t>
            </a:r>
            <a:r>
              <a:rPr lang="en-NZ" altLang="ja-JP" sz="1600" dirty="0">
                <a:solidFill>
                  <a:schemeClr val="tx1"/>
                </a:solidFill>
              </a:rPr>
              <a:t>.</a:t>
            </a:r>
            <a:br>
              <a:rPr lang="en-NZ" altLang="ja-JP" sz="1600" dirty="0">
                <a:solidFill>
                  <a:schemeClr val="tx1"/>
                </a:solidFill>
              </a:rPr>
            </a:br>
            <a:br>
              <a:rPr lang="en-NZ" altLang="ja-JP" sz="1600" dirty="0">
                <a:solidFill>
                  <a:schemeClr val="tx1"/>
                </a:solidFill>
              </a:rPr>
            </a:br>
            <a:r>
              <a:rPr lang="en-NZ" altLang="ja-JP" sz="1600" dirty="0">
                <a:solidFill>
                  <a:schemeClr val="tx1"/>
                </a:solidFill>
              </a:rPr>
              <a:t>Conclude that there is </a:t>
            </a:r>
            <a:r>
              <a:rPr lang="en-NZ" altLang="ja-JP" sz="1600" dirty="0">
                <a:solidFill>
                  <a:schemeClr val="tx1"/>
                </a:solidFill>
                <a:latin typeface="Cambria Math" panose="02040503050406030204" pitchFamily="18" charset="0"/>
              </a:rPr>
              <a:t>an effect of sex on cholesterol levels.</a:t>
            </a:r>
            <a:endParaRPr lang="en-NZ" altLang="ja-JP" sz="1600" dirty="0">
              <a:solidFill>
                <a:schemeClr val="tx1"/>
              </a:solidFill>
            </a:endParaRP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B91B0857-C106-A681-D123-BD0C899EA39B}"/>
                  </a:ext>
                </a:extLst>
              </p:cNvPr>
              <p:cNvSpPr txBox="1">
                <a:spLocks/>
              </p:cNvSpPr>
              <p:nvPr/>
            </p:nvSpPr>
            <p:spPr>
              <a:xfrm>
                <a:off x="7006345" y="3020880"/>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i="1" dirty="0" err="1">
                    <a:solidFill>
                      <a:schemeClr val="tx1"/>
                    </a:solidFill>
                  </a:rPr>
                  <a:t>F</a:t>
                </a:r>
                <a:r>
                  <a:rPr lang="en-NZ" altLang="ja-JP" sz="1600" b="1" i="1" baseline="-25000" dirty="0" err="1">
                    <a:solidFill>
                      <a:schemeClr val="tx1"/>
                    </a:solidFill>
                  </a:rPr>
                  <a:t>Obs</a:t>
                </a:r>
                <a:r>
                  <a:rPr lang="en-NZ" altLang="ja-JP" sz="1600" b="1" i="1" dirty="0">
                    <a:solidFill>
                      <a:schemeClr val="tx1"/>
                    </a:solidFill>
                  </a:rPr>
                  <a:t>  </a:t>
                </a:r>
                <a:r>
                  <a:rPr lang="en-NZ" altLang="ja-JP" sz="1600" dirty="0">
                    <a:solidFill>
                      <a:schemeClr val="tx1"/>
                    </a:solidFill>
                  </a:rPr>
                  <a:t>is greater that all F-statistics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oMath>
                  </m:oMathPara>
                </a14:m>
                <a:endParaRPr lang="en-NZ" altLang="ja-JP" sz="1600" b="1" dirty="0">
                  <a:solidFill>
                    <a:schemeClr val="tx1"/>
                  </a:solidFill>
                </a:endParaRPr>
              </a:p>
            </p:txBody>
          </p:sp>
        </mc:Choice>
        <mc:Fallback xmlns="">
          <p:sp>
            <p:nvSpPr>
              <p:cNvPr id="12" name="Text Placeholder 5">
                <a:extLst>
                  <a:ext uri="{FF2B5EF4-FFF2-40B4-BE49-F238E27FC236}">
                    <a16:creationId xmlns:a16="http://schemas.microsoft.com/office/drawing/2014/main" id="{B91B0857-C106-A681-D123-BD0C899EA39B}"/>
                  </a:ext>
                </a:extLst>
              </p:cNvPr>
              <p:cNvSpPr txBox="1">
                <a:spLocks noRot="1" noChangeAspect="1" noMove="1" noResize="1" noEditPoints="1" noAdjustHandles="1" noChangeArrowheads="1" noChangeShapeType="1" noTextEdit="1"/>
              </p:cNvSpPr>
              <p:nvPr/>
            </p:nvSpPr>
            <p:spPr>
              <a:xfrm>
                <a:off x="7006345" y="3020880"/>
                <a:ext cx="4132719" cy="1169215"/>
              </a:xfrm>
              <a:prstGeom prst="rect">
                <a:avLst/>
              </a:prstGeom>
              <a:blipFill>
                <a:blip r:embed="rId5"/>
                <a:stretch>
                  <a:fillRect l="-737" t="-1571" r="-885"/>
                </a:stretch>
              </a:blipFill>
            </p:spPr>
            <p:txBody>
              <a:bodyPr/>
              <a:lstStyle/>
              <a:p>
                <a:r>
                  <a:rPr lang="en-NZ">
                    <a:noFill/>
                  </a:rPr>
                  <a:t> </a:t>
                </a:r>
              </a:p>
            </p:txBody>
          </p:sp>
        </mc:Fallback>
      </mc:AlternateContent>
    </p:spTree>
    <p:extLst>
      <p:ext uri="{BB962C8B-B14F-4D97-AF65-F5344CB8AC3E}">
        <p14:creationId xmlns:p14="http://schemas.microsoft.com/office/powerpoint/2010/main" val="391130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P spid="8" grpId="0"/>
      <p:bldP spid="9" grpId="0"/>
      <p:bldP spid="10"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5EA77AD-9E8C-DCFD-89F6-4EC5AE11EDDC}"/>
              </a:ext>
            </a:extLst>
          </p:cNvPr>
          <p:cNvPicPr>
            <a:picLocks noChangeAspect="1"/>
          </p:cNvPicPr>
          <p:nvPr/>
        </p:nvPicPr>
        <p:blipFill>
          <a:blip r:embed="rId2"/>
          <a:stretch>
            <a:fillRect/>
          </a:stretch>
        </p:blipFill>
        <p:spPr>
          <a:xfrm>
            <a:off x="455342" y="2325755"/>
            <a:ext cx="6370103" cy="3655798"/>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1</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1:</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076418" cy="41909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00000"/>
              </a:lnSpc>
              <a:buFont typeface="+mj-lt"/>
              <a:buAutoNum type="alphaLcParenR" startAt="7"/>
            </a:pPr>
            <a:r>
              <a:rPr lang="en-US" altLang="ja-JP" sz="1600" dirty="0">
                <a:solidFill>
                  <a:srgbClr val="0070C0"/>
                </a:solidFill>
              </a:rPr>
              <a:t>Test for the effect of dosage controlling for sex.</a:t>
            </a:r>
          </a:p>
        </p:txBody>
      </p:sp>
      <p:sp>
        <p:nvSpPr>
          <p:cNvPr id="17" name="Text Placeholder 5">
            <a:extLst>
              <a:ext uri="{FF2B5EF4-FFF2-40B4-BE49-F238E27FC236}">
                <a16:creationId xmlns:a16="http://schemas.microsoft.com/office/drawing/2014/main" id="{BF281220-BC4A-79DF-7793-A242CF02F34F}"/>
              </a:ext>
            </a:extLst>
          </p:cNvPr>
          <p:cNvSpPr txBox="1">
            <a:spLocks/>
          </p:cNvSpPr>
          <p:nvPr/>
        </p:nvSpPr>
        <p:spPr>
          <a:xfrm>
            <a:off x="662404" y="1485830"/>
            <a:ext cx="5290802"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See Section 4 of the code</a:t>
            </a:r>
            <a:endParaRPr kumimoji="1" lang="en-US" altLang="ja-JP" sz="12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9FBFB94C-5A3A-86BF-D54C-DEB4A16DF304}"/>
                  </a:ext>
                </a:extLst>
              </p:cNvPr>
              <p:cNvSpPr txBox="1">
                <a:spLocks/>
              </p:cNvSpPr>
              <p:nvPr/>
            </p:nvSpPr>
            <p:spPr>
              <a:xfrm>
                <a:off x="6652703" y="2287471"/>
                <a:ext cx="5142312" cy="65624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m:t>
                    </m:r>
                  </m:oMath>
                </a14:m>
                <a:r>
                  <a:rPr lang="en-NZ" altLang="ja-JP" sz="1600" b="1" i="1" dirty="0">
                    <a:solidFill>
                      <a:schemeClr val="tx1"/>
                    </a:solidFill>
                    <a:latin typeface="Cambria Math" panose="02040503050406030204" pitchFamily="18" charset="0"/>
                  </a:rPr>
                  <a:t> </a:t>
                </a:r>
                <a:r>
                  <a:rPr lang="en-NZ" altLang="ja-JP" sz="1200" dirty="0">
                    <a:solidFill>
                      <a:schemeClr val="tx1"/>
                    </a:solidFill>
                    <a:latin typeface="Cambria Math" panose="02040503050406030204" pitchFamily="18" charset="0"/>
                  </a:rPr>
                  <a:t>There is no effect of dosage on cholesterol after controlling for sex</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oMath>
                </a14:m>
                <a:r>
                  <a:rPr lang="en-US" altLang="ja-JP" sz="1600" b="1" i="1" dirty="0">
                    <a:solidFill>
                      <a:schemeClr val="tx1"/>
                    </a:solidFill>
                  </a:rPr>
                  <a:t> </a:t>
                </a:r>
                <a:r>
                  <a:rPr lang="en-NZ" altLang="ja-JP" sz="1200" dirty="0">
                    <a:solidFill>
                      <a:schemeClr val="tx1"/>
                    </a:solidFill>
                    <a:latin typeface="Cambria Math" panose="02040503050406030204" pitchFamily="18" charset="0"/>
                  </a:rPr>
                  <a:t>There is an effect of dosage on cholesterol after  controlling for sex</a:t>
                </a:r>
                <a:endParaRPr lang="en-US" altLang="ja-JP" sz="1200" dirty="0">
                  <a:solidFill>
                    <a:schemeClr val="tx1"/>
                  </a:solidFill>
                </a:endParaRPr>
              </a:p>
            </p:txBody>
          </p:sp>
        </mc:Choice>
        <mc:Fallback xmlns="">
          <p:sp>
            <p:nvSpPr>
              <p:cNvPr id="3" name="Text Placeholder 5">
                <a:extLst>
                  <a:ext uri="{FF2B5EF4-FFF2-40B4-BE49-F238E27FC236}">
                    <a16:creationId xmlns:a16="http://schemas.microsoft.com/office/drawing/2014/main" id="{9FBFB94C-5A3A-86BF-D54C-DEB4A16DF304}"/>
                  </a:ext>
                </a:extLst>
              </p:cNvPr>
              <p:cNvSpPr txBox="1">
                <a:spLocks noRot="1" noChangeAspect="1" noMove="1" noResize="1" noEditPoints="1" noAdjustHandles="1" noChangeArrowheads="1" noChangeShapeType="1" noTextEdit="1"/>
              </p:cNvSpPr>
              <p:nvPr/>
            </p:nvSpPr>
            <p:spPr>
              <a:xfrm>
                <a:off x="6652703" y="2287471"/>
                <a:ext cx="5142312" cy="656246"/>
              </a:xfrm>
              <a:prstGeom prst="rect">
                <a:avLst/>
              </a:prstGeom>
              <a:blipFill>
                <a:blip r:embed="rId4"/>
                <a:stretch>
                  <a:fillRect/>
                </a:stretch>
              </a:blipFill>
            </p:spPr>
            <p:txBody>
              <a:bodyPr/>
              <a:lstStyle/>
              <a:p>
                <a:r>
                  <a:rPr lang="en-NZ">
                    <a:noFill/>
                  </a:rPr>
                  <a:t> </a:t>
                </a:r>
              </a:p>
            </p:txBody>
          </p:sp>
        </mc:Fallback>
      </mc:AlternateContent>
      <p:sp>
        <p:nvSpPr>
          <p:cNvPr id="8" name="Text Placeholder 5">
            <a:extLst>
              <a:ext uri="{FF2B5EF4-FFF2-40B4-BE49-F238E27FC236}">
                <a16:creationId xmlns:a16="http://schemas.microsoft.com/office/drawing/2014/main" id="{932C18B9-CCA2-6ED1-DF3B-C001344A3921}"/>
              </a:ext>
            </a:extLst>
          </p:cNvPr>
          <p:cNvSpPr txBox="1">
            <a:spLocks/>
          </p:cNvSpPr>
          <p:nvPr/>
        </p:nvSpPr>
        <p:spPr>
          <a:xfrm>
            <a:off x="565244" y="1751026"/>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p:txBody>
      </p:sp>
      <p:sp>
        <p:nvSpPr>
          <p:cNvPr id="9" name="Text Placeholder 5">
            <a:extLst>
              <a:ext uri="{FF2B5EF4-FFF2-40B4-BE49-F238E27FC236}">
                <a16:creationId xmlns:a16="http://schemas.microsoft.com/office/drawing/2014/main" id="{D1CC194F-E9D4-F732-5EE5-24E572A58235}"/>
              </a:ext>
            </a:extLst>
          </p:cNvPr>
          <p:cNvSpPr txBox="1">
            <a:spLocks/>
          </p:cNvSpPr>
          <p:nvPr/>
        </p:nvSpPr>
        <p:spPr>
          <a:xfrm>
            <a:off x="4591736" y="2278864"/>
            <a:ext cx="135743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C00000"/>
                </a:solidFill>
              </a:rPr>
              <a:t>F</a:t>
            </a:r>
            <a:r>
              <a:rPr lang="en-NZ" altLang="ja-JP" sz="1800" b="1" i="1" baseline="-25000" dirty="0">
                <a:solidFill>
                  <a:srgbClr val="C00000"/>
                </a:solidFill>
              </a:rPr>
              <a:t>obs</a:t>
            </a:r>
            <a:r>
              <a:rPr lang="en-NZ" altLang="ja-JP" sz="1800" b="1" i="1" dirty="0">
                <a:solidFill>
                  <a:srgbClr val="C00000"/>
                </a:solidFill>
              </a:rPr>
              <a:t> = 6.137</a:t>
            </a:r>
          </a:p>
          <a:p>
            <a:pPr algn="just">
              <a:lnSpc>
                <a:spcPct val="100000"/>
              </a:lnSpc>
            </a:pPr>
            <a:r>
              <a:rPr lang="en-NZ" altLang="ja-JP" sz="1800" b="1" i="1" dirty="0">
                <a:solidFill>
                  <a:srgbClr val="C00000"/>
                </a:solidFill>
              </a:rPr>
              <a:t>  </a:t>
            </a:r>
          </a:p>
          <a:p>
            <a:pPr algn="just">
              <a:lnSpc>
                <a:spcPct val="100000"/>
              </a:lnSpc>
            </a:pPr>
            <a:endParaRPr lang="en-NZ" altLang="ja-JP" sz="1800" b="1" i="1" dirty="0">
              <a:solidFill>
                <a:srgbClr val="C00000"/>
              </a:solidFill>
            </a:endParaRPr>
          </a:p>
          <a:p>
            <a:pPr algn="just">
              <a:lnSpc>
                <a:spcPct val="100000"/>
              </a:lnSpc>
            </a:pPr>
            <a:endParaRPr lang="en-NZ" altLang="ja-JP" sz="1800" b="1" i="1" dirty="0">
              <a:solidFill>
                <a:srgbClr val="C00000"/>
              </a:solidFill>
            </a:endParaRPr>
          </a:p>
        </p:txBody>
      </p:sp>
      <p:sp>
        <p:nvSpPr>
          <p:cNvPr id="10" name="Text Placeholder 5">
            <a:extLst>
              <a:ext uri="{FF2B5EF4-FFF2-40B4-BE49-F238E27FC236}">
                <a16:creationId xmlns:a16="http://schemas.microsoft.com/office/drawing/2014/main" id="{0B890B06-4FA3-13A3-7A8C-8F191C67BBBD}"/>
              </a:ext>
            </a:extLst>
          </p:cNvPr>
          <p:cNvSpPr txBox="1">
            <a:spLocks/>
          </p:cNvSpPr>
          <p:nvPr/>
        </p:nvSpPr>
        <p:spPr>
          <a:xfrm>
            <a:off x="7006345" y="4267258"/>
            <a:ext cx="4435028" cy="14592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Permutation test yields very strong evidence against H</a:t>
            </a:r>
            <a:r>
              <a:rPr lang="en-NZ" altLang="ja-JP" sz="1600" baseline="-25000" dirty="0">
                <a:solidFill>
                  <a:schemeClr val="tx1"/>
                </a:solidFill>
              </a:rPr>
              <a:t>0</a:t>
            </a:r>
            <a:r>
              <a:rPr lang="en-NZ" altLang="ja-JP" sz="1600" dirty="0">
                <a:solidFill>
                  <a:schemeClr val="tx1"/>
                </a:solidFill>
              </a:rPr>
              <a:t>.</a:t>
            </a:r>
            <a:br>
              <a:rPr lang="en-NZ" altLang="ja-JP" sz="1600" dirty="0">
                <a:solidFill>
                  <a:schemeClr val="tx1"/>
                </a:solidFill>
              </a:rPr>
            </a:br>
            <a:br>
              <a:rPr lang="en-NZ" altLang="ja-JP" sz="1600" dirty="0">
                <a:solidFill>
                  <a:schemeClr val="tx1"/>
                </a:solidFill>
              </a:rPr>
            </a:br>
            <a:r>
              <a:rPr lang="en-NZ" altLang="ja-JP" sz="1600" dirty="0">
                <a:solidFill>
                  <a:schemeClr val="tx1"/>
                </a:solidFill>
              </a:rPr>
              <a:t>Conclude that there is an effect of dosage on cholesterol after controlling for sex.</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B91B0857-C106-A681-D123-BD0C899EA39B}"/>
                  </a:ext>
                </a:extLst>
              </p:cNvPr>
              <p:cNvSpPr txBox="1">
                <a:spLocks/>
              </p:cNvSpPr>
              <p:nvPr/>
            </p:nvSpPr>
            <p:spPr>
              <a:xfrm>
                <a:off x="7006345" y="3020880"/>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i="1" dirty="0">
                    <a:solidFill>
                      <a:schemeClr val="tx1"/>
                    </a:solidFill>
                  </a:rPr>
                  <a:t>F</a:t>
                </a:r>
                <a:r>
                  <a:rPr lang="en-NZ" altLang="ja-JP" sz="1600" b="1" i="1" baseline="-25000" dirty="0" err="1">
                    <a:solidFill>
                      <a:schemeClr val="tx1"/>
                    </a:solidFill>
                  </a:rPr>
                  <a:t>Obs</a:t>
                </a:r>
                <a:r>
                  <a:rPr lang="en-NZ" altLang="ja-JP" sz="1600" b="1" i="1" dirty="0">
                    <a:solidFill>
                      <a:schemeClr val="tx1"/>
                    </a:solidFill>
                  </a:rPr>
                  <a:t>  </a:t>
                </a:r>
                <a:r>
                  <a:rPr lang="en-NZ" altLang="ja-JP" sz="1600" dirty="0">
                    <a:solidFill>
                      <a:schemeClr val="tx1"/>
                    </a:solidFill>
                  </a:rPr>
                  <a:t>lies in the 99.3</a:t>
                </a:r>
                <a:r>
                  <a:rPr lang="en-NZ" altLang="ja-JP" sz="1600" baseline="30000" dirty="0">
                    <a:solidFill>
                      <a:schemeClr val="tx1"/>
                    </a:solidFill>
                  </a:rPr>
                  <a:t>rd</a:t>
                </a:r>
                <a:r>
                  <a:rPr lang="en-NZ" altLang="ja-JP" sz="1600" dirty="0">
                    <a:solidFill>
                      <a:schemeClr val="tx1"/>
                    </a:solidFill>
                  </a:rPr>
                  <a:t> percentile of F-statistic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𝟎𝟎𝟕</m:t>
                      </m:r>
                    </m:oMath>
                  </m:oMathPara>
                </a14:m>
                <a:endParaRPr lang="en-NZ" altLang="ja-JP" sz="1600" b="1" dirty="0">
                  <a:solidFill>
                    <a:schemeClr val="tx1"/>
                  </a:solidFill>
                </a:endParaRPr>
              </a:p>
            </p:txBody>
          </p:sp>
        </mc:Choice>
        <mc:Fallback xmlns="">
          <p:sp>
            <p:nvSpPr>
              <p:cNvPr id="12" name="Text Placeholder 5">
                <a:extLst>
                  <a:ext uri="{FF2B5EF4-FFF2-40B4-BE49-F238E27FC236}">
                    <a16:creationId xmlns:a16="http://schemas.microsoft.com/office/drawing/2014/main" id="{B91B0857-C106-A681-D123-BD0C899EA39B}"/>
                  </a:ext>
                </a:extLst>
              </p:cNvPr>
              <p:cNvSpPr txBox="1">
                <a:spLocks noRot="1" noChangeAspect="1" noMove="1" noResize="1" noEditPoints="1" noAdjustHandles="1" noChangeArrowheads="1" noChangeShapeType="1" noTextEdit="1"/>
              </p:cNvSpPr>
              <p:nvPr/>
            </p:nvSpPr>
            <p:spPr>
              <a:xfrm>
                <a:off x="7006345" y="3020880"/>
                <a:ext cx="4132719" cy="1169215"/>
              </a:xfrm>
              <a:prstGeom prst="rect">
                <a:avLst/>
              </a:prstGeom>
              <a:blipFill>
                <a:blip r:embed="rId5"/>
                <a:stretch>
                  <a:fillRect l="-737" t="-1571" r="-885"/>
                </a:stretch>
              </a:blipFill>
            </p:spPr>
            <p:txBody>
              <a:bodyPr/>
              <a:lstStyle/>
              <a:p>
                <a:r>
                  <a:rPr lang="en-NZ">
                    <a:noFill/>
                  </a:rPr>
                  <a:t> </a:t>
                </a:r>
              </a:p>
            </p:txBody>
          </p:sp>
        </mc:Fallback>
      </mc:AlternateContent>
    </p:spTree>
    <p:extLst>
      <p:ext uri="{BB962C8B-B14F-4D97-AF65-F5344CB8AC3E}">
        <p14:creationId xmlns:p14="http://schemas.microsoft.com/office/powerpoint/2010/main" val="789513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P spid="8" grpId="0"/>
      <p:bldP spid="9" grpId="0"/>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690336"/>
            <a:ext cx="12104586" cy="14773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Question 2 – Permutation Testing </a:t>
            </a:r>
            <a:b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br>
            <a:r>
              <a:rPr kumimoji="0" lang="en-NZ" sz="4500" b="1" i="0" u="none" strike="noStrike" kern="1200" cap="none" spc="0" normalizeH="0" baseline="0" noProof="0" dirty="0">
                <a:ln>
                  <a:noFill/>
                </a:ln>
                <a:solidFill>
                  <a:srgbClr val="FFC000"/>
                </a:solidFill>
                <a:effectLst/>
                <a:uLnTx/>
                <a:uFillTx/>
                <a:latin typeface="Calibri" panose="020F0502020204030204"/>
                <a:ea typeface="+mn-ea"/>
                <a:cs typeface="+mn-cs"/>
              </a:rPr>
              <a:t>in a GLM Context</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166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A84B4E2F-2E74-AE69-4443-4E5B60BCC543}"/>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 – Bonus Question</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8CBB2B85-F0DF-FA42-DBB0-9399DD56C398}"/>
                  </a:ext>
                </a:extLst>
              </p:cNvPr>
              <p:cNvSpPr txBox="1">
                <a:spLocks/>
              </p:cNvSpPr>
              <p:nvPr/>
            </p:nvSpPr>
            <p:spPr>
              <a:xfrm>
                <a:off x="319463" y="853664"/>
                <a:ext cx="11335725" cy="125537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response variable </a:t>
                </a:r>
                <a:r>
                  <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Y</a:t>
                </a: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can be modelled as a function of five dependent variables </a:t>
                </a:r>
                <a14:m>
                  <m:oMath xmlns:m="http://schemas.openxmlformats.org/officeDocument/2006/math">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𝟏</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𝟑</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𝟒</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ea typeface="游ゴシック" panose="020B0400000000000000" pitchFamily="34" charset="-128"/>
                            <a:cs typeface="+mn-cs"/>
                          </a:rPr>
                          <m:t>𝟓</m:t>
                        </m:r>
                      </m:sub>
                    </m:sSub>
                  </m:oMath>
                </a14:m>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and </a:t>
                </a:r>
                <a14:m>
                  <m:oMath xmlns:m="http://schemas.openxmlformats.org/officeDocument/2006/math">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𝟔</m:t>
                        </m:r>
                      </m:sub>
                    </m:sSub>
                  </m:oMath>
                </a14:m>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A researcher interested in the quantity that </a:t>
                </a:r>
                <a:r>
                  <a:rPr kumimoji="1" lang="en-NZ" altLang="ja-JP" sz="17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Y</a:t>
                </a:r>
                <a:r>
                  <a:rPr kumimoji="1" lang="en-NZ" altLang="ja-JP" sz="17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represents creates two models:</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14:m>
                  <m:oMath xmlns:m="http://schemas.openxmlformats.org/officeDocument/2006/math">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oMath>
                </a14:m>
                <a:r>
                  <a:rPr kumimoji="1" lang="en-NZ" altLang="ja-JP" sz="17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700" b="1" i="0" u="none" strike="noStrike" kern="1200" cap="none" spc="0" normalizeH="0" noProof="0" dirty="0">
                    <a:ln>
                      <a:noFill/>
                    </a:ln>
                    <a:solidFill>
                      <a:srgbClr val="0070C0"/>
                    </a:solidFill>
                    <a:effectLst/>
                    <a:uLnTx/>
                    <a:uFillTx/>
                    <a:latin typeface="Calibri" panose="020F0502020204030204"/>
                    <a:ea typeface="游ゴシック" panose="020B0400000000000000" pitchFamily="34" charset="-128"/>
                    <a:cs typeface="+mn-cs"/>
                  </a:rPr>
                  <a:t>   </a:t>
                </a: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(Reduced model)</a:t>
                </a:r>
              </a:p>
              <a:p>
                <a:pPr lvl="0" algn="just">
                  <a:lnSpc>
                    <a:spcPct val="100000"/>
                  </a:lnSpc>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a:t>
                </a:r>
                <a14:m>
                  <m:oMath xmlns:m="http://schemas.openxmlformats.org/officeDocument/2006/math">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𝒀</m:t>
                    </m:r>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𝟏</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𝟐</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𝟑</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𝟒</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𝟒</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𝜷</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𝟓</m:t>
                        </m:r>
                      </m:sub>
                    </m:sSub>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 </m:t>
                    </m:r>
                    <m:sSub>
                      <m:sSubPr>
                        <m:ctrlP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ctrlPr>
                      </m:sSubPr>
                      <m:e>
                        <m:r>
                          <a:rPr kumimoji="1" lang="en-NZ" altLang="ja-JP" sz="1700" b="1" i="1" u="none" strike="noStrike" kern="1200" cap="none" spc="0" normalizeH="0" baseline="0" noProof="0">
                            <a:ln>
                              <a:noFill/>
                            </a:ln>
                            <a:solidFill>
                              <a:srgbClr val="0070C0"/>
                            </a:solidFill>
                            <a:effectLst/>
                            <a:uLnTx/>
                            <a:uFillTx/>
                            <a:latin typeface="Cambria Math" panose="02040503050406030204" pitchFamily="18" charset="0"/>
                            <a:cs typeface="+mn-cs"/>
                          </a:rPr>
                          <m:t>𝑿</m:t>
                        </m:r>
                      </m:e>
                      <m: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𝟓</m:t>
                        </m:r>
                      </m:sub>
                    </m:sSub>
                    <m:r>
                      <a:rPr kumimoji="1" lang="en-NZ" altLang="ja-JP" sz="17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sSub>
                      <m:sSubPr>
                        <m:ctrlPr>
                          <a:rPr lang="en-NZ" altLang="ja-JP" sz="1700" b="1" i="1">
                            <a:solidFill>
                              <a:srgbClr val="0070C0"/>
                            </a:solidFill>
                            <a:latin typeface="Cambria Math" panose="02040503050406030204" pitchFamily="18" charset="0"/>
                          </a:rPr>
                        </m:ctrlPr>
                      </m:sSubPr>
                      <m:e>
                        <m:r>
                          <a:rPr lang="en-NZ" altLang="ja-JP" sz="1700" b="1" i="1">
                            <a:solidFill>
                              <a:srgbClr val="0070C0"/>
                            </a:solidFill>
                            <a:latin typeface="Cambria Math" panose="02040503050406030204" pitchFamily="18" charset="0"/>
                          </a:rPr>
                          <m:t>𝜷</m:t>
                        </m:r>
                      </m:e>
                      <m:sub>
                        <m:r>
                          <a:rPr lang="en-NZ" altLang="ja-JP" sz="1700" b="1" i="1" smtClean="0">
                            <a:solidFill>
                              <a:srgbClr val="0070C0"/>
                            </a:solidFill>
                            <a:latin typeface="Cambria Math" panose="02040503050406030204" pitchFamily="18" charset="0"/>
                          </a:rPr>
                          <m:t>𝟔</m:t>
                        </m:r>
                      </m:sub>
                    </m:sSub>
                    <m:r>
                      <a:rPr lang="en-NZ" altLang="ja-JP" sz="1700" b="1" i="1">
                        <a:solidFill>
                          <a:srgbClr val="0070C0"/>
                        </a:solidFill>
                        <a:latin typeface="Cambria Math" panose="02040503050406030204" pitchFamily="18" charset="0"/>
                      </a:rPr>
                      <m:t> </m:t>
                    </m:r>
                    <m:sSub>
                      <m:sSubPr>
                        <m:ctrlPr>
                          <a:rPr lang="en-NZ" altLang="ja-JP" sz="1700" b="1" i="1">
                            <a:solidFill>
                              <a:srgbClr val="0070C0"/>
                            </a:solidFill>
                            <a:latin typeface="Cambria Math" panose="02040503050406030204" pitchFamily="18" charset="0"/>
                          </a:rPr>
                        </m:ctrlPr>
                      </m:sSubPr>
                      <m:e>
                        <m:r>
                          <a:rPr lang="en-NZ" altLang="ja-JP" sz="1700" b="1" i="1">
                            <a:solidFill>
                              <a:srgbClr val="0070C0"/>
                            </a:solidFill>
                            <a:latin typeface="Cambria Math" panose="02040503050406030204" pitchFamily="18" charset="0"/>
                          </a:rPr>
                          <m:t>𝑿</m:t>
                        </m:r>
                      </m:e>
                      <m:sub>
                        <m:r>
                          <a:rPr lang="en-NZ" altLang="ja-JP" sz="1700" b="1" i="1" smtClean="0">
                            <a:solidFill>
                              <a:srgbClr val="0070C0"/>
                            </a:solidFill>
                            <a:latin typeface="Cambria Math" panose="02040503050406030204" pitchFamily="18" charset="0"/>
                          </a:rPr>
                          <m:t>𝟔</m:t>
                        </m:r>
                      </m:sub>
                    </m:sSub>
                  </m:oMath>
                </a14:m>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(Complete model)</a:t>
                </a:r>
              </a:p>
            </p:txBody>
          </p:sp>
        </mc:Choice>
        <mc:Fallback xmlns="">
          <p:sp>
            <p:nvSpPr>
              <p:cNvPr id="17" name="Text Placeholder 5">
                <a:extLst>
                  <a:ext uri="{FF2B5EF4-FFF2-40B4-BE49-F238E27FC236}">
                    <a16:creationId xmlns:a16="http://schemas.microsoft.com/office/drawing/2014/main" id="{8CBB2B85-F0DF-FA42-DBB0-9399DD56C398}"/>
                  </a:ext>
                </a:extLst>
              </p:cNvPr>
              <p:cNvSpPr txBox="1">
                <a:spLocks noRot="1" noChangeAspect="1" noMove="1" noResize="1" noEditPoints="1" noAdjustHandles="1" noChangeArrowheads="1" noChangeShapeType="1" noTextEdit="1"/>
              </p:cNvSpPr>
              <p:nvPr/>
            </p:nvSpPr>
            <p:spPr>
              <a:xfrm>
                <a:off x="319463" y="853664"/>
                <a:ext cx="11335725" cy="1255372"/>
              </a:xfrm>
              <a:prstGeom prst="rect">
                <a:avLst/>
              </a:prstGeom>
              <a:blipFill>
                <a:blip r:embed="rId2"/>
                <a:stretch>
                  <a:fillRect l="-323" t="-1456" b="-1456"/>
                </a:stretch>
              </a:blipFill>
            </p:spPr>
            <p:txBody>
              <a:bodyPr/>
              <a:lstStyle/>
              <a:p>
                <a:r>
                  <a:rPr lang="en-NZ">
                    <a:noFill/>
                  </a:rPr>
                  <a:t> </a:t>
                </a:r>
              </a:p>
            </p:txBody>
          </p:sp>
        </mc:Fallback>
      </mc:AlternateContent>
      <p:sp>
        <p:nvSpPr>
          <p:cNvPr id="20" name="Text Placeholder 5">
            <a:extLst>
              <a:ext uri="{FF2B5EF4-FFF2-40B4-BE49-F238E27FC236}">
                <a16:creationId xmlns:a16="http://schemas.microsoft.com/office/drawing/2014/main" id="{CF3D2647-1B86-FF55-A9ED-CD9FB98A6B30}"/>
              </a:ext>
            </a:extLst>
          </p:cNvPr>
          <p:cNvSpPr txBox="1">
            <a:spLocks/>
          </p:cNvSpPr>
          <p:nvPr/>
        </p:nvSpPr>
        <p:spPr>
          <a:xfrm>
            <a:off x="3973150" y="2175472"/>
            <a:ext cx="7844049"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7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The data pertaining to this experiment can be found in the data set entitled ‘Reg Coeff.csv’. A snapshot is shown adjacent. </a:t>
            </a:r>
            <a:endParaRPr kumimoji="1" lang="en-NZ" altLang="ja-JP" sz="1700" b="0"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pic>
        <p:nvPicPr>
          <p:cNvPr id="30" name="Picture 2" descr="Te Herenga Waka—Victoria University of Wellington | Universities New  Zealand - Te Pōkai Tara">
            <a:extLst>
              <a:ext uri="{FF2B5EF4-FFF2-40B4-BE49-F238E27FC236}">
                <a16:creationId xmlns:a16="http://schemas.microsoft.com/office/drawing/2014/main" id="{C36E6104-5F5D-4901-E826-9C5300C39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32" name="Slide Number Placeholder 3">
            <a:extLst>
              <a:ext uri="{FF2B5EF4-FFF2-40B4-BE49-F238E27FC236}">
                <a16:creationId xmlns:a16="http://schemas.microsoft.com/office/drawing/2014/main" id="{1A05F1B7-2E15-E3A8-0E9A-8D1F1594C7F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 name="Footer Placeholder 2">
            <a:extLst>
              <a:ext uri="{FF2B5EF4-FFF2-40B4-BE49-F238E27FC236}">
                <a16:creationId xmlns:a16="http://schemas.microsoft.com/office/drawing/2014/main" id="{DCCD3E9C-32AF-5328-BCC7-924EEA7316E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 name="Title 6">
            <a:extLst>
              <a:ext uri="{FF2B5EF4-FFF2-40B4-BE49-F238E27FC236}">
                <a16:creationId xmlns:a16="http://schemas.microsoft.com/office/drawing/2014/main" id="{EE65C608-4AEC-D11B-2423-28834C2377C4}"/>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graphicFrame>
        <p:nvGraphicFramePr>
          <p:cNvPr id="5" name="Table 4">
            <a:extLst>
              <a:ext uri="{FF2B5EF4-FFF2-40B4-BE49-F238E27FC236}">
                <a16:creationId xmlns:a16="http://schemas.microsoft.com/office/drawing/2014/main" id="{E8A3057C-7E94-86FF-3E04-95B11D66870D}"/>
              </a:ext>
            </a:extLst>
          </p:cNvPr>
          <p:cNvGraphicFramePr>
            <a:graphicFrameLocks noGrp="1"/>
          </p:cNvGraphicFramePr>
          <p:nvPr>
            <p:extLst>
              <p:ext uri="{D42A27DB-BD31-4B8C-83A1-F6EECF244321}">
                <p14:modId xmlns:p14="http://schemas.microsoft.com/office/powerpoint/2010/main" val="1186764435"/>
              </p:ext>
            </p:extLst>
          </p:nvPr>
        </p:nvGraphicFramePr>
        <p:xfrm>
          <a:off x="319463" y="2231696"/>
          <a:ext cx="3467100" cy="3238500"/>
        </p:xfrm>
        <a:graphic>
          <a:graphicData uri="http://schemas.openxmlformats.org/drawingml/2006/table">
            <a:tbl>
              <a:tblPr/>
              <a:tblGrid>
                <a:gridCol w="495300">
                  <a:extLst>
                    <a:ext uri="{9D8B030D-6E8A-4147-A177-3AD203B41FA5}">
                      <a16:colId xmlns:a16="http://schemas.microsoft.com/office/drawing/2014/main" val="420914911"/>
                    </a:ext>
                  </a:extLst>
                </a:gridCol>
                <a:gridCol w="495300">
                  <a:extLst>
                    <a:ext uri="{9D8B030D-6E8A-4147-A177-3AD203B41FA5}">
                      <a16:colId xmlns:a16="http://schemas.microsoft.com/office/drawing/2014/main" val="1756428940"/>
                    </a:ext>
                  </a:extLst>
                </a:gridCol>
                <a:gridCol w="495300">
                  <a:extLst>
                    <a:ext uri="{9D8B030D-6E8A-4147-A177-3AD203B41FA5}">
                      <a16:colId xmlns:a16="http://schemas.microsoft.com/office/drawing/2014/main" val="585506359"/>
                    </a:ext>
                  </a:extLst>
                </a:gridCol>
                <a:gridCol w="495300">
                  <a:extLst>
                    <a:ext uri="{9D8B030D-6E8A-4147-A177-3AD203B41FA5}">
                      <a16:colId xmlns:a16="http://schemas.microsoft.com/office/drawing/2014/main" val="4011663683"/>
                    </a:ext>
                  </a:extLst>
                </a:gridCol>
                <a:gridCol w="495300">
                  <a:extLst>
                    <a:ext uri="{9D8B030D-6E8A-4147-A177-3AD203B41FA5}">
                      <a16:colId xmlns:a16="http://schemas.microsoft.com/office/drawing/2014/main" val="1589192787"/>
                    </a:ext>
                  </a:extLst>
                </a:gridCol>
                <a:gridCol w="495300">
                  <a:extLst>
                    <a:ext uri="{9D8B030D-6E8A-4147-A177-3AD203B41FA5}">
                      <a16:colId xmlns:a16="http://schemas.microsoft.com/office/drawing/2014/main" val="3027366313"/>
                    </a:ext>
                  </a:extLst>
                </a:gridCol>
                <a:gridCol w="495300">
                  <a:extLst>
                    <a:ext uri="{9D8B030D-6E8A-4147-A177-3AD203B41FA5}">
                      <a16:colId xmlns:a16="http://schemas.microsoft.com/office/drawing/2014/main" val="278278703"/>
                    </a:ext>
                  </a:extLst>
                </a:gridCol>
              </a:tblGrid>
              <a:tr h="190500">
                <a:tc>
                  <a:txBody>
                    <a:bodyPr/>
                    <a:lstStyle/>
                    <a:p>
                      <a:pPr algn="ctr" fontAlgn="ctr"/>
                      <a:r>
                        <a:rPr lang="en-NZ" sz="1100" b="1" i="0" u="none" strike="noStrike">
                          <a:solidFill>
                            <a:srgbClr val="FFFFFF"/>
                          </a:solidFill>
                          <a:effectLst/>
                          <a:latin typeface="Calibri" panose="020F0502020204030204" pitchFamily="34" charset="0"/>
                        </a:rPr>
                        <a: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X1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X2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FFFF"/>
                          </a:solidFill>
                          <a:effectLst/>
                          <a:latin typeface="Calibri" panose="020F0502020204030204" pitchFamily="34" charset="0"/>
                        </a:rPr>
                        <a:t>X3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0000"/>
                          </a:solidFill>
                          <a:effectLst/>
                          <a:latin typeface="Calibri" panose="020F0502020204030204" pitchFamily="34" charset="0"/>
                        </a:rPr>
                        <a:t>X4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0000"/>
                          </a:solidFill>
                          <a:effectLst/>
                          <a:latin typeface="Calibri" panose="020F0502020204030204" pitchFamily="34" charset="0"/>
                        </a:rPr>
                        <a:t>X5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tc>
                  <a:txBody>
                    <a:bodyPr/>
                    <a:lstStyle/>
                    <a:p>
                      <a:pPr algn="ctr" fontAlgn="ctr"/>
                      <a:r>
                        <a:rPr lang="en-NZ" sz="1100" b="1" i="0" u="none" strike="noStrike">
                          <a:solidFill>
                            <a:srgbClr val="FF0000"/>
                          </a:solidFill>
                          <a:effectLst/>
                          <a:latin typeface="Calibri" panose="020F0502020204030204" pitchFamily="34" charset="0"/>
                        </a:rPr>
                        <a:t>X6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2060"/>
                    </a:solidFill>
                  </a:tcPr>
                </a:tc>
                <a:extLst>
                  <a:ext uri="{0D108BD9-81ED-4DB2-BD59-A6C34878D82A}">
                    <a16:rowId xmlns:a16="http://schemas.microsoft.com/office/drawing/2014/main" val="1485165368"/>
                  </a:ext>
                </a:extLst>
              </a:tr>
              <a:tr h="190500">
                <a:tc>
                  <a:txBody>
                    <a:bodyPr/>
                    <a:lstStyle/>
                    <a:p>
                      <a:pPr algn="ctr" fontAlgn="ctr"/>
                      <a:r>
                        <a:rPr lang="en-NZ" sz="1100" b="0" i="0" u="none" strike="noStrike">
                          <a:solidFill>
                            <a:srgbClr val="000000"/>
                          </a:solidFill>
                          <a:effectLst/>
                          <a:latin typeface="Calibri" panose="020F0502020204030204" pitchFamily="34" charset="0"/>
                        </a:rPr>
                        <a:t>-9.3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90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72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849627483"/>
                  </a:ext>
                </a:extLst>
              </a:tr>
              <a:tr h="190500">
                <a:tc>
                  <a:txBody>
                    <a:bodyPr/>
                    <a:lstStyle/>
                    <a:p>
                      <a:pPr algn="ctr" fontAlgn="ctr"/>
                      <a:r>
                        <a:rPr lang="en-NZ" sz="1100" b="0" i="0" u="none" strike="noStrike">
                          <a:solidFill>
                            <a:srgbClr val="000000"/>
                          </a:solidFill>
                          <a:effectLst/>
                          <a:latin typeface="Calibri" panose="020F0502020204030204" pitchFamily="34" charset="0"/>
                        </a:rPr>
                        <a:t>55.3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702072829"/>
                  </a:ext>
                </a:extLst>
              </a:tr>
              <a:tr h="190500">
                <a:tc>
                  <a:txBody>
                    <a:bodyPr/>
                    <a:lstStyle/>
                    <a:p>
                      <a:pPr algn="ctr" fontAlgn="ctr"/>
                      <a:r>
                        <a:rPr lang="en-NZ" sz="1100" b="0" i="0" u="none" strike="noStrike">
                          <a:solidFill>
                            <a:srgbClr val="000000"/>
                          </a:solidFill>
                          <a:effectLst/>
                          <a:latin typeface="Calibri" panose="020F0502020204030204" pitchFamily="34" charset="0"/>
                        </a:rPr>
                        <a:t>26.1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101052126"/>
                  </a:ext>
                </a:extLst>
              </a:tr>
              <a:tr h="190500">
                <a:tc>
                  <a:txBody>
                    <a:bodyPr/>
                    <a:lstStyle/>
                    <a:p>
                      <a:pPr algn="ctr" fontAlgn="ctr"/>
                      <a:r>
                        <a:rPr lang="en-NZ" sz="1100" b="0" i="0" u="none" strike="noStrike">
                          <a:solidFill>
                            <a:srgbClr val="000000"/>
                          </a:solidFill>
                          <a:effectLst/>
                          <a:latin typeface="Calibri" panose="020F0502020204030204" pitchFamily="34" charset="0"/>
                        </a:rPr>
                        <a:t>105.3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534621548"/>
                  </a:ext>
                </a:extLst>
              </a:tr>
              <a:tr h="190500">
                <a:tc>
                  <a:txBody>
                    <a:bodyPr/>
                    <a:lstStyle/>
                    <a:p>
                      <a:pPr algn="ctr" fontAlgn="ctr"/>
                      <a:r>
                        <a:rPr lang="en-NZ" sz="1100" b="0" i="0" u="none" strike="noStrike">
                          <a:solidFill>
                            <a:srgbClr val="000000"/>
                          </a:solidFill>
                          <a:effectLst/>
                          <a:latin typeface="Calibri" panose="020F0502020204030204" pitchFamily="34" charset="0"/>
                        </a:rPr>
                        <a:t>46.3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005325526"/>
                  </a:ext>
                </a:extLst>
              </a:tr>
              <a:tr h="190500">
                <a:tc>
                  <a:txBody>
                    <a:bodyPr/>
                    <a:lstStyle/>
                    <a:p>
                      <a:pPr algn="ctr" fontAlgn="ctr"/>
                      <a:r>
                        <a:rPr lang="en-NZ" sz="1100" b="0" i="0" u="none" strike="noStrike">
                          <a:solidFill>
                            <a:srgbClr val="000000"/>
                          </a:solidFill>
                          <a:effectLst/>
                          <a:latin typeface="Calibri" panose="020F0502020204030204" pitchFamily="34" charset="0"/>
                        </a:rPr>
                        <a:t>252.6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94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18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625596436"/>
                  </a:ext>
                </a:extLst>
              </a:tr>
              <a:tr h="190500">
                <a:tc>
                  <a:txBody>
                    <a:bodyPr/>
                    <a:lstStyle/>
                    <a:p>
                      <a:pPr algn="ctr" fontAlgn="ctr"/>
                      <a:r>
                        <a:rPr lang="en-NZ" sz="1100" b="0" i="0" u="none" strike="noStrike">
                          <a:solidFill>
                            <a:srgbClr val="000000"/>
                          </a:solidFill>
                          <a:effectLst/>
                          <a:latin typeface="Calibri" panose="020F0502020204030204" pitchFamily="34" charset="0"/>
                        </a:rPr>
                        <a:t>264.4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000370512"/>
                  </a:ext>
                </a:extLst>
              </a:tr>
              <a:tr h="190500">
                <a:tc>
                  <a:txBody>
                    <a:bodyPr/>
                    <a:lstStyle/>
                    <a:p>
                      <a:pPr algn="ctr" fontAlgn="ctr"/>
                      <a:r>
                        <a:rPr lang="en-NZ" sz="1100" b="0" i="0" u="none" strike="noStrike">
                          <a:solidFill>
                            <a:srgbClr val="000000"/>
                          </a:solidFill>
                          <a:effectLst/>
                          <a:latin typeface="Calibri" panose="020F0502020204030204" pitchFamily="34" charset="0"/>
                        </a:rPr>
                        <a:t>144.4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29671704"/>
                  </a:ext>
                </a:extLst>
              </a:tr>
              <a:tr h="190500">
                <a:tc>
                  <a:txBody>
                    <a:bodyPr/>
                    <a:lstStyle/>
                    <a:p>
                      <a:pPr algn="ctr" fontAlgn="ctr"/>
                      <a:r>
                        <a:rPr lang="en-NZ" sz="1100" b="0" i="0" u="none" strike="noStrike">
                          <a:solidFill>
                            <a:srgbClr val="000000"/>
                          </a:solidFill>
                          <a:effectLst/>
                          <a:latin typeface="Calibri" panose="020F0502020204030204" pitchFamily="34" charset="0"/>
                        </a:rPr>
                        <a:t>208.7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28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92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11118897"/>
                  </a:ext>
                </a:extLst>
              </a:tr>
              <a:tr h="190500">
                <a:tc>
                  <a:txBody>
                    <a:bodyPr/>
                    <a:lstStyle/>
                    <a:p>
                      <a:pPr algn="ctr" fontAlgn="ctr"/>
                      <a:r>
                        <a:rPr lang="en-NZ" sz="1100" b="0" i="0" u="none" strike="noStrike">
                          <a:solidFill>
                            <a:srgbClr val="000000"/>
                          </a:solidFill>
                          <a:effectLst/>
                          <a:latin typeface="Calibri" panose="020F0502020204030204" pitchFamily="34" charset="0"/>
                        </a:rPr>
                        <a:t>148.8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22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48484333"/>
                  </a:ext>
                </a:extLst>
              </a:tr>
              <a:tr h="190500">
                <a:tc>
                  <a:txBody>
                    <a:bodyPr/>
                    <a:lstStyle/>
                    <a:p>
                      <a:pPr algn="ctr" fontAlgn="ctr"/>
                      <a:r>
                        <a:rPr lang="en-NZ" sz="1100" b="0" i="0" u="none" strike="noStrike">
                          <a:solidFill>
                            <a:srgbClr val="000000"/>
                          </a:solidFill>
                          <a:effectLst/>
                          <a:latin typeface="Calibri" panose="020F0502020204030204" pitchFamily="34" charset="0"/>
                        </a:rPr>
                        <a:t>67.3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504372604"/>
                  </a:ext>
                </a:extLst>
              </a:tr>
              <a:tr h="190500">
                <a:tc>
                  <a:txBody>
                    <a:bodyPr/>
                    <a:lstStyle/>
                    <a:p>
                      <a:pPr algn="ctr" fontAlgn="ctr"/>
                      <a:r>
                        <a:rPr lang="en-NZ" sz="1100" b="0" i="0" u="none" strike="noStrike">
                          <a:solidFill>
                            <a:srgbClr val="000000"/>
                          </a:solidFill>
                          <a:effectLst/>
                          <a:latin typeface="Calibri" panose="020F0502020204030204" pitchFamily="34" charset="0"/>
                        </a:rPr>
                        <a:t>68.1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19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870539633"/>
                  </a:ext>
                </a:extLst>
              </a:tr>
              <a:tr h="190500">
                <a:tc>
                  <a:txBody>
                    <a:bodyPr/>
                    <a:lstStyle/>
                    <a:p>
                      <a:pPr algn="ctr" fontAlgn="ctr"/>
                      <a:r>
                        <a:rPr lang="en-NZ" sz="1100" b="0" i="0" u="none" strike="noStrike">
                          <a:solidFill>
                            <a:srgbClr val="000000"/>
                          </a:solidFill>
                          <a:effectLst/>
                          <a:latin typeface="Calibri" panose="020F0502020204030204" pitchFamily="34" charset="0"/>
                        </a:rPr>
                        <a:t>111.4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85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29175941"/>
                  </a:ext>
                </a:extLst>
              </a:tr>
              <a:tr h="190500">
                <a:tc>
                  <a:txBody>
                    <a:bodyPr/>
                    <a:lstStyle/>
                    <a:p>
                      <a:pPr algn="ctr" fontAlgn="ctr"/>
                      <a:r>
                        <a:rPr lang="en-NZ" sz="1100" b="0" i="0" u="none" strike="noStrike">
                          <a:solidFill>
                            <a:srgbClr val="000000"/>
                          </a:solidFill>
                          <a:effectLst/>
                          <a:latin typeface="Calibri" panose="020F0502020204030204" pitchFamily="34" charset="0"/>
                        </a:rPr>
                        <a:t>226.6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43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4171645109"/>
                  </a:ext>
                </a:extLst>
              </a:tr>
              <a:tr h="190500">
                <a:tc>
                  <a:txBody>
                    <a:bodyPr/>
                    <a:lstStyle/>
                    <a:p>
                      <a:pPr algn="ctr" fontAlgn="ctr"/>
                      <a:r>
                        <a:rPr lang="en-NZ" sz="1100" b="0" i="0" u="none" strike="noStrike">
                          <a:solidFill>
                            <a:srgbClr val="000000"/>
                          </a:solidFill>
                          <a:effectLst/>
                          <a:latin typeface="Calibri" panose="020F0502020204030204" pitchFamily="34" charset="0"/>
                        </a:rPr>
                        <a:t>240.8</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73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66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36</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32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819785426"/>
                  </a:ext>
                </a:extLst>
              </a:tr>
              <a:tr h="190500">
                <a:tc>
                  <a:txBody>
                    <a:bodyPr/>
                    <a:lstStyle/>
                    <a:p>
                      <a:pPr algn="ctr" fontAlgn="ctr"/>
                      <a:r>
                        <a:rPr lang="en-NZ" sz="1100" b="0" i="0" u="none" strike="noStrike">
                          <a:solidFill>
                            <a:srgbClr val="000000"/>
                          </a:solidFill>
                          <a:effectLst/>
                          <a:latin typeface="Calibri" panose="020F0502020204030204" pitchFamily="34" charset="0"/>
                        </a:rPr>
                        <a:t>120.7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87</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33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000000"/>
                          </a:solidFill>
                          <a:effectLst/>
                          <a:latin typeface="Calibri" panose="020F0502020204030204" pitchFamily="34" charset="0"/>
                        </a:rPr>
                        <a:t>13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63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a:solidFill>
                            <a:srgbClr val="FF0000"/>
                          </a:solidFill>
                          <a:effectLst/>
                          <a:latin typeface="Calibri" panose="020F0502020204030204" pitchFamily="34" charset="0"/>
                        </a:rPr>
                        <a:t>55</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tc>
                  <a:txBody>
                    <a:bodyPr/>
                    <a:lstStyle/>
                    <a:p>
                      <a:pPr algn="ctr" fontAlgn="ctr"/>
                      <a:r>
                        <a:rPr lang="en-NZ" sz="1100" b="0" i="0" u="none" strike="noStrike" dirty="0">
                          <a:solidFill>
                            <a:srgbClr val="FF0000"/>
                          </a:solidFill>
                          <a:effectLst/>
                          <a:latin typeface="Calibri" panose="020F0502020204030204" pitchFamily="34" charset="0"/>
                        </a:rPr>
                        <a:t>69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DEBF7"/>
                    </a:solidFill>
                  </a:tcPr>
                </a:tc>
                <a:extLst>
                  <a:ext uri="{0D108BD9-81ED-4DB2-BD59-A6C34878D82A}">
                    <a16:rowId xmlns:a16="http://schemas.microsoft.com/office/drawing/2014/main" val="106551590"/>
                  </a:ext>
                </a:extLst>
              </a:tr>
            </a:tbl>
          </a:graphicData>
        </a:graphic>
      </p:graphicFrame>
      <p:sp>
        <p:nvSpPr>
          <p:cNvPr id="6" name="Text Placeholder 5">
            <a:extLst>
              <a:ext uri="{FF2B5EF4-FFF2-40B4-BE49-F238E27FC236}">
                <a16:creationId xmlns:a16="http://schemas.microsoft.com/office/drawing/2014/main" id="{7AD31821-4C25-EF66-E3A8-3C5664DC8990}"/>
              </a:ext>
            </a:extLst>
          </p:cNvPr>
          <p:cNvSpPr txBox="1">
            <a:spLocks/>
          </p:cNvSpPr>
          <p:nvPr/>
        </p:nvSpPr>
        <p:spPr>
          <a:xfrm>
            <a:off x="3973149" y="2985916"/>
            <a:ext cx="7844049" cy="301842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Read the data set into R and construct a correlation plot of all variables.</a:t>
            </a:r>
            <a:br>
              <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Comment on the graphs produced.</a:t>
            </a:r>
            <a:br>
              <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endPar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defTabSz="914324" rtl="0" eaLnBrk="1" fontAlgn="auto" latinLnBrk="0" hangingPunct="1">
              <a:lnSpc>
                <a:spcPct val="100000"/>
              </a:lnSpc>
              <a:spcBef>
                <a:spcPts val="0"/>
              </a:spcBef>
              <a:spcAft>
                <a:spcPts val="0"/>
              </a:spcAft>
              <a:buClrTx/>
              <a:buSzTx/>
              <a:buFont typeface="+mj-lt"/>
              <a:buAutoNum type="alphaLcParenR"/>
              <a:tabLst/>
              <a:defRPr/>
            </a:pPr>
            <a:r>
              <a:rPr lang="en-NZ" altLang="ja-JP" sz="1600" dirty="0">
                <a:solidFill>
                  <a:srgbClr val="0070C0"/>
                </a:solidFill>
                <a:latin typeface="Calibri" panose="020F0502020204030204"/>
                <a:ea typeface="游ゴシック" panose="020B0400000000000000" pitchFamily="34" charset="-128"/>
              </a:rPr>
              <a:t>Conduct a normal theory likelihood ratio test. State the hypothesis being tested, the F-statistic, degrees of freedom, p-value and conclusion of the test.</a:t>
            </a:r>
            <a:br>
              <a:rPr lang="en-NZ" altLang="ja-JP" sz="1600" dirty="0">
                <a:solidFill>
                  <a:srgbClr val="0070C0"/>
                </a:solidFill>
                <a:latin typeface="Calibri" panose="020F0502020204030204"/>
                <a:ea typeface="游ゴシック" panose="020B0400000000000000" pitchFamily="34" charset="-128"/>
              </a:rPr>
            </a:br>
            <a:endParaRPr lang="en-NZ" altLang="ja-JP" sz="1600" dirty="0">
              <a:solidFill>
                <a:srgbClr val="0070C0"/>
              </a:solidFill>
              <a:latin typeface="Calibri" panose="020F0502020204030204"/>
              <a:ea typeface="游ゴシック" panose="020B0400000000000000" pitchFamily="34" charset="-128"/>
            </a:endParaRPr>
          </a:p>
          <a:p>
            <a:pPr marL="342900" marR="0" lvl="0" indent="-342900"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Construct a QQ-plot of the residuals of the reduced model. </a:t>
            </a:r>
            <a:r>
              <a:rPr lang="en-NZ" altLang="ja-JP" sz="1600" dirty="0">
                <a:solidFill>
                  <a:srgbClr val="0070C0"/>
                </a:solidFill>
                <a:latin typeface="Calibri" panose="020F0502020204030204"/>
                <a:ea typeface="游ゴシック" panose="020B0400000000000000" pitchFamily="34" charset="-128"/>
              </a:rPr>
              <a:t>Are the residuals normally distributed? Is your analysis from part b) valid?</a:t>
            </a:r>
          </a:p>
          <a:p>
            <a:pPr marL="342900" marR="0" lvl="0" indent="-342900" defTabSz="914324" rtl="0" eaLnBrk="1" fontAlgn="auto" latinLnBrk="0" hangingPunct="1">
              <a:lnSpc>
                <a:spcPct val="100000"/>
              </a:lnSpc>
              <a:spcBef>
                <a:spcPts val="0"/>
              </a:spcBef>
              <a:spcAft>
                <a:spcPts val="0"/>
              </a:spcAft>
              <a:buClrTx/>
              <a:buSzTx/>
              <a:buFont typeface="+mj-lt"/>
              <a:buAutoNum type="alphaLcParenR"/>
              <a:tabLst/>
              <a:defRPr/>
            </a:pPr>
            <a:endPar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a:p>
            <a:pPr marL="342900" marR="0" lvl="0" indent="-342900" defTabSz="914324" rtl="0" eaLnBrk="1" fontAlgn="auto" latinLnBrk="0" hangingPunct="1">
              <a:lnSpc>
                <a:spcPct val="100000"/>
              </a:lnSpc>
              <a:spcBef>
                <a:spcPts val="0"/>
              </a:spcBef>
              <a:spcAft>
                <a:spcPts val="0"/>
              </a:spcAft>
              <a:buClrTx/>
              <a:buSzTx/>
              <a:buFont typeface="+mj-lt"/>
              <a:buAutoNum type="alphaLcParenR"/>
              <a:tabLst/>
              <a:defRPr/>
            </a:pPr>
            <a:r>
              <a:rPr lang="en-NZ" altLang="ja-JP" sz="1600" dirty="0">
                <a:solidFill>
                  <a:srgbClr val="0070C0"/>
                </a:solidFill>
                <a:latin typeface="Calibri" panose="020F0502020204030204"/>
                <a:ea typeface="游ゴシック" panose="020B0400000000000000" pitchFamily="34" charset="-128"/>
              </a:rPr>
              <a:t>Conduct a permutation based likelihood ratio test to test between the reduced and complete model.</a:t>
            </a:r>
            <a:endPar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34803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3B5EAE6-E128-2CCB-1A81-EBA63A416802}"/>
              </a:ext>
            </a:extLst>
          </p:cNvPr>
          <p:cNvPicPr>
            <a:picLocks noChangeAspect="1"/>
          </p:cNvPicPr>
          <p:nvPr/>
        </p:nvPicPr>
        <p:blipFill>
          <a:blip r:embed="rId2"/>
          <a:stretch>
            <a:fillRect/>
          </a:stretch>
        </p:blipFill>
        <p:spPr>
          <a:xfrm>
            <a:off x="594153" y="1600845"/>
            <a:ext cx="7619048" cy="4609524"/>
          </a:xfrm>
          <a:prstGeom prst="rect">
            <a:avLst/>
          </a:prstGeom>
        </p:spPr>
      </p:pic>
      <p:pic>
        <p:nvPicPr>
          <p:cNvPr id="30" name="Picture 2" descr="Te Herenga Waka—Victoria University of Wellington | Universities New  Zealand - Te Pōkai Tara">
            <a:extLst>
              <a:ext uri="{FF2B5EF4-FFF2-40B4-BE49-F238E27FC236}">
                <a16:creationId xmlns:a16="http://schemas.microsoft.com/office/drawing/2014/main" id="{C36E6104-5F5D-4901-E826-9C5300C39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32" name="Slide Number Placeholder 3">
            <a:extLst>
              <a:ext uri="{FF2B5EF4-FFF2-40B4-BE49-F238E27FC236}">
                <a16:creationId xmlns:a16="http://schemas.microsoft.com/office/drawing/2014/main" id="{1A05F1B7-2E15-E3A8-0E9A-8D1F1594C7F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 name="Footer Placeholder 2">
            <a:extLst>
              <a:ext uri="{FF2B5EF4-FFF2-40B4-BE49-F238E27FC236}">
                <a16:creationId xmlns:a16="http://schemas.microsoft.com/office/drawing/2014/main" id="{DCCD3E9C-32AF-5328-BCC7-924EEA7316E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 name="Title 6">
            <a:extLst>
              <a:ext uri="{FF2B5EF4-FFF2-40B4-BE49-F238E27FC236}">
                <a16:creationId xmlns:a16="http://schemas.microsoft.com/office/drawing/2014/main" id="{EE65C608-4AEC-D11B-2423-28834C2377C4}"/>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7AD31821-4C25-EF66-E3A8-3C5664DC8990}"/>
              </a:ext>
            </a:extLst>
          </p:cNvPr>
          <p:cNvSpPr txBox="1">
            <a:spLocks/>
          </p:cNvSpPr>
          <p:nvPr/>
        </p:nvSpPr>
        <p:spPr>
          <a:xfrm>
            <a:off x="319463" y="925762"/>
            <a:ext cx="1088469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lphaLcParenR"/>
              <a:tabLst/>
              <a:defRPr/>
            </a:pPr>
            <a:r>
              <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Read the data set into R and construct a correlation plot of all variables. Comment on the graphs produced?</a:t>
            </a:r>
          </a:p>
        </p:txBody>
      </p:sp>
      <p:sp>
        <p:nvSpPr>
          <p:cNvPr id="4" name="Text Placeholder 5">
            <a:extLst>
              <a:ext uri="{FF2B5EF4-FFF2-40B4-BE49-F238E27FC236}">
                <a16:creationId xmlns:a16="http://schemas.microsoft.com/office/drawing/2014/main" id="{31EF4397-4E0F-4E44-B878-140990B21533}"/>
              </a:ext>
            </a:extLst>
          </p:cNvPr>
          <p:cNvSpPr txBox="1">
            <a:spLocks/>
          </p:cNvSpPr>
          <p:nvPr/>
        </p:nvSpPr>
        <p:spPr>
          <a:xfrm>
            <a:off x="689081" y="1274757"/>
            <a:ext cx="275919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b="1" dirty="0">
                <a:solidFill>
                  <a:schemeClr val="tx1"/>
                </a:solidFill>
              </a:rPr>
              <a:t>See Section 1.1a of the code </a:t>
            </a: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C421F29C-7E8D-3B7B-83C3-E6BE3BE89795}"/>
                  </a:ext>
                </a:extLst>
              </p:cNvPr>
              <p:cNvSpPr txBox="1">
                <a:spLocks/>
              </p:cNvSpPr>
              <p:nvPr/>
            </p:nvSpPr>
            <p:spPr>
              <a:xfrm>
                <a:off x="8453113" y="1765385"/>
                <a:ext cx="2671297" cy="933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Y</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seems to exhibit a weak</a:t>
                </a:r>
                <a:r>
                  <a:rPr kumimoji="1" lang="en-NZ" altLang="ja-JP" sz="16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relationship with </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variables</a:t>
                </a:r>
                <a:r>
                  <a:rPr kumimoji="1" lang="en-NZ" altLang="ja-JP" sz="16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𝟒</m:t>
                        </m:r>
                      </m:sub>
                    </m:sSub>
                  </m:oMath>
                </a14:m>
                <a:r>
                  <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and</a:t>
                </a:r>
                <a:r>
                  <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𝟓</m:t>
                        </m:r>
                      </m:sub>
                    </m:sSub>
                  </m:oMath>
                </a14:m>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t>
                </a:r>
                <a:endPar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9" name="Text Placeholder 5">
                <a:extLst>
                  <a:ext uri="{FF2B5EF4-FFF2-40B4-BE49-F238E27FC236}">
                    <a16:creationId xmlns:a16="http://schemas.microsoft.com/office/drawing/2014/main" id="{C421F29C-7E8D-3B7B-83C3-E6BE3BE89795}"/>
                  </a:ext>
                </a:extLst>
              </p:cNvPr>
              <p:cNvSpPr txBox="1">
                <a:spLocks noRot="1" noChangeAspect="1" noMove="1" noResize="1" noEditPoints="1" noAdjustHandles="1" noChangeArrowheads="1" noChangeShapeType="1" noTextEdit="1"/>
              </p:cNvSpPr>
              <p:nvPr/>
            </p:nvSpPr>
            <p:spPr>
              <a:xfrm>
                <a:off x="8453113" y="1765385"/>
                <a:ext cx="2671297" cy="933748"/>
              </a:xfrm>
              <a:prstGeom prst="rect">
                <a:avLst/>
              </a:prstGeom>
              <a:blipFill>
                <a:blip r:embed="rId4"/>
                <a:stretch>
                  <a:fillRect l="-1370" t="-1961"/>
                </a:stretch>
              </a:blipFill>
            </p:spPr>
            <p:txBody>
              <a:bodyPr/>
              <a:lstStyle/>
              <a:p>
                <a:r>
                  <a:rPr lang="en-NZ">
                    <a:noFill/>
                  </a:rPr>
                  <a:t> </a:t>
                </a:r>
              </a:p>
            </p:txBody>
          </p:sp>
        </mc:Fallback>
      </mc:AlternateContent>
      <p:sp>
        <p:nvSpPr>
          <p:cNvPr id="10" name="Oval 9">
            <a:extLst>
              <a:ext uri="{FF2B5EF4-FFF2-40B4-BE49-F238E27FC236}">
                <a16:creationId xmlns:a16="http://schemas.microsoft.com/office/drawing/2014/main" id="{9A51C40B-78D9-0CC4-9539-320216069734}"/>
              </a:ext>
            </a:extLst>
          </p:cNvPr>
          <p:cNvSpPr/>
          <p:nvPr/>
        </p:nvSpPr>
        <p:spPr>
          <a:xfrm>
            <a:off x="4863343" y="2005070"/>
            <a:ext cx="1967115" cy="5949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11" name="Text Placeholder 5">
                <a:extLst>
                  <a:ext uri="{FF2B5EF4-FFF2-40B4-BE49-F238E27FC236}">
                    <a16:creationId xmlns:a16="http://schemas.microsoft.com/office/drawing/2014/main" id="{7F1823CA-BE79-FF2F-2E2B-3BBE0D197BEC}"/>
                  </a:ext>
                </a:extLst>
              </p:cNvPr>
              <p:cNvSpPr txBox="1">
                <a:spLocks/>
              </p:cNvSpPr>
              <p:nvPr/>
            </p:nvSpPr>
            <p:spPr>
              <a:xfrm>
                <a:off x="8487892" y="3060471"/>
                <a:ext cx="2671297" cy="933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lang="en-NZ" altLang="ja-JP" sz="1600" dirty="0">
                    <a:solidFill>
                      <a:schemeClr val="tx1"/>
                    </a:solidFill>
                    <a:latin typeface="Calibri" panose="020F0502020204030204"/>
                    <a:ea typeface="游ゴシック" panose="020B0400000000000000" pitchFamily="34" charset="-128"/>
                  </a:rPr>
                  <a:t>Variables</a:t>
                </a:r>
                <a:r>
                  <a:rPr kumimoji="1" lang="en-NZ" altLang="ja-JP" sz="16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𝟒</m:t>
                        </m:r>
                      </m:sub>
                    </m:sSub>
                  </m:oMath>
                </a14:m>
                <a:r>
                  <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and</a:t>
                </a:r>
                <a:r>
                  <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baseline="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𝟓</m:t>
                        </m:r>
                      </m:sub>
                    </m:sSub>
                  </m:oMath>
                </a14:m>
                <a:r>
                  <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are very strongly correlated with each other.</a:t>
                </a:r>
              </a:p>
            </p:txBody>
          </p:sp>
        </mc:Choice>
        <mc:Fallback xmlns="">
          <p:sp>
            <p:nvSpPr>
              <p:cNvPr id="11" name="Text Placeholder 5">
                <a:extLst>
                  <a:ext uri="{FF2B5EF4-FFF2-40B4-BE49-F238E27FC236}">
                    <a16:creationId xmlns:a16="http://schemas.microsoft.com/office/drawing/2014/main" id="{7F1823CA-BE79-FF2F-2E2B-3BBE0D197BEC}"/>
                  </a:ext>
                </a:extLst>
              </p:cNvPr>
              <p:cNvSpPr txBox="1">
                <a:spLocks noRot="1" noChangeAspect="1" noMove="1" noResize="1" noEditPoints="1" noAdjustHandles="1" noChangeArrowheads="1" noChangeShapeType="1" noTextEdit="1"/>
              </p:cNvSpPr>
              <p:nvPr/>
            </p:nvSpPr>
            <p:spPr>
              <a:xfrm>
                <a:off x="8487892" y="3060471"/>
                <a:ext cx="2671297" cy="933748"/>
              </a:xfrm>
              <a:prstGeom prst="rect">
                <a:avLst/>
              </a:prstGeom>
              <a:blipFill>
                <a:blip r:embed="rId5"/>
                <a:stretch>
                  <a:fillRect l="-1139" t="-1961"/>
                </a:stretch>
              </a:blipFill>
            </p:spPr>
            <p:txBody>
              <a:bodyPr/>
              <a:lstStyle/>
              <a:p>
                <a:r>
                  <a:rPr lang="en-NZ">
                    <a:noFill/>
                  </a:rPr>
                  <a:t> </a:t>
                </a:r>
              </a:p>
            </p:txBody>
          </p:sp>
        </mc:Fallback>
      </mc:AlternateContent>
      <p:sp>
        <p:nvSpPr>
          <p:cNvPr id="12" name="Oval 11">
            <a:extLst>
              <a:ext uri="{FF2B5EF4-FFF2-40B4-BE49-F238E27FC236}">
                <a16:creationId xmlns:a16="http://schemas.microsoft.com/office/drawing/2014/main" id="{400BFB6E-72A8-C7E8-01E0-F69AA792B646}"/>
              </a:ext>
            </a:extLst>
          </p:cNvPr>
          <p:cNvSpPr/>
          <p:nvPr/>
        </p:nvSpPr>
        <p:spPr>
          <a:xfrm>
            <a:off x="5794871" y="4074669"/>
            <a:ext cx="1035587" cy="5949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3" name="Oval 12">
            <a:extLst>
              <a:ext uri="{FF2B5EF4-FFF2-40B4-BE49-F238E27FC236}">
                <a16:creationId xmlns:a16="http://schemas.microsoft.com/office/drawing/2014/main" id="{A2E054EB-D026-EFBC-F930-8AA1F6A5966E}"/>
              </a:ext>
            </a:extLst>
          </p:cNvPr>
          <p:cNvSpPr/>
          <p:nvPr/>
        </p:nvSpPr>
        <p:spPr>
          <a:xfrm>
            <a:off x="1033093" y="5159748"/>
            <a:ext cx="1035587" cy="59491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159D576C-0773-B867-19EF-1086AEC58673}"/>
                  </a:ext>
                </a:extLst>
              </p:cNvPr>
              <p:cNvSpPr txBox="1">
                <a:spLocks/>
              </p:cNvSpPr>
              <p:nvPr/>
            </p:nvSpPr>
            <p:spPr>
              <a:xfrm>
                <a:off x="8453113" y="4820911"/>
                <a:ext cx="2671297" cy="93374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Y</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seems to exhibit no </a:t>
                </a:r>
                <a:r>
                  <a:rPr kumimoji="1" lang="en-NZ" altLang="ja-JP" sz="16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relationship with </a:t>
                </a:r>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variable</a:t>
                </a:r>
                <a:r>
                  <a:rPr kumimoji="1" lang="en-NZ" altLang="ja-JP" sz="1600" i="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ctrlPr>
                      </m:sSubPr>
                      <m:e>
                        <m: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𝑿</m:t>
                        </m:r>
                      </m:e>
                      <m:sub>
                        <m:r>
                          <a:rPr kumimoji="1" lang="en-NZ" altLang="ja-JP" sz="1600" b="1" i="1" u="none" strike="noStrike" kern="1200" cap="none" spc="0" normalizeH="0" noProof="0" smtClean="0">
                            <a:ln>
                              <a:noFill/>
                            </a:ln>
                            <a:solidFill>
                              <a:schemeClr val="tx1"/>
                            </a:solidFill>
                            <a:effectLst/>
                            <a:uLnTx/>
                            <a:uFillTx/>
                            <a:latin typeface="Cambria Math" panose="02040503050406030204" pitchFamily="18" charset="0"/>
                            <a:ea typeface="游ゴシック" panose="020B0400000000000000" pitchFamily="34" charset="-128"/>
                            <a:cs typeface="+mn-cs"/>
                          </a:rPr>
                          <m:t>𝟔</m:t>
                        </m:r>
                      </m:sub>
                    </m:sSub>
                  </m:oMath>
                </a14:m>
                <a:r>
                  <a:rPr kumimoji="1" lang="en-NZ" altLang="ja-JP" sz="160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a:t>
                </a:r>
                <a:endParaRPr kumimoji="1" lang="en-NZ" altLang="ja-JP" sz="16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159D576C-0773-B867-19EF-1086AEC58673}"/>
                  </a:ext>
                </a:extLst>
              </p:cNvPr>
              <p:cNvSpPr txBox="1">
                <a:spLocks noRot="1" noChangeAspect="1" noMove="1" noResize="1" noEditPoints="1" noAdjustHandles="1" noChangeArrowheads="1" noChangeShapeType="1" noTextEdit="1"/>
              </p:cNvSpPr>
              <p:nvPr/>
            </p:nvSpPr>
            <p:spPr>
              <a:xfrm>
                <a:off x="8453113" y="4820911"/>
                <a:ext cx="2671297" cy="933748"/>
              </a:xfrm>
              <a:prstGeom prst="rect">
                <a:avLst/>
              </a:prstGeom>
              <a:blipFill>
                <a:blip r:embed="rId6"/>
                <a:stretch>
                  <a:fillRect l="-1370" t="-1961"/>
                </a:stretch>
              </a:blipFill>
            </p:spPr>
            <p:txBody>
              <a:bodyPr/>
              <a:lstStyle/>
              <a:p>
                <a:r>
                  <a:rPr lang="en-NZ">
                    <a:noFill/>
                  </a:rPr>
                  <a:t> </a:t>
                </a:r>
              </a:p>
            </p:txBody>
          </p:sp>
        </mc:Fallback>
      </mc:AlternateContent>
      <p:cxnSp>
        <p:nvCxnSpPr>
          <p:cNvPr id="18" name="Straight Arrow Connector 17">
            <a:extLst>
              <a:ext uri="{FF2B5EF4-FFF2-40B4-BE49-F238E27FC236}">
                <a16:creationId xmlns:a16="http://schemas.microsoft.com/office/drawing/2014/main" id="{1607313B-81AC-213E-2C4B-225F2D0B3C97}"/>
              </a:ext>
            </a:extLst>
          </p:cNvPr>
          <p:cNvCxnSpPr>
            <a:stCxn id="10" idx="7"/>
          </p:cNvCxnSpPr>
          <p:nvPr/>
        </p:nvCxnSpPr>
        <p:spPr>
          <a:xfrm flipV="1">
            <a:off x="6542381" y="1883884"/>
            <a:ext cx="1910732" cy="20830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259F95E-2155-BD03-7C46-02EB3C324723}"/>
              </a:ext>
            </a:extLst>
          </p:cNvPr>
          <p:cNvCxnSpPr>
            <a:cxnSpLocks/>
            <a:endCxn id="11" idx="1"/>
          </p:cNvCxnSpPr>
          <p:nvPr/>
        </p:nvCxnSpPr>
        <p:spPr>
          <a:xfrm flipV="1">
            <a:off x="6694781" y="3527345"/>
            <a:ext cx="1793111" cy="67476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4697290-AAA0-2B61-A77F-6C8817F53C02}"/>
              </a:ext>
            </a:extLst>
          </p:cNvPr>
          <p:cNvCxnSpPr>
            <a:cxnSpLocks/>
            <a:stCxn id="13" idx="6"/>
            <a:endCxn id="14" idx="1"/>
          </p:cNvCxnSpPr>
          <p:nvPr/>
        </p:nvCxnSpPr>
        <p:spPr>
          <a:xfrm flipV="1">
            <a:off x="2068680" y="5287785"/>
            <a:ext cx="6384433" cy="1694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FFB1634E-6B1F-C1C2-72F6-FE12613DE1B9}"/>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 – Bonus Question</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212593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animBg="1"/>
      <p:bldP spid="11" grpId="0"/>
      <p:bldP spid="12" grpId="0" animBg="1"/>
      <p:bldP spid="13" grpId="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 descr="Te Herenga Waka—Victoria University of Wellington | Universities New  Zealand - Te Pōkai Tara">
            <a:extLst>
              <a:ext uri="{FF2B5EF4-FFF2-40B4-BE49-F238E27FC236}">
                <a16:creationId xmlns:a16="http://schemas.microsoft.com/office/drawing/2014/main" id="{C36E6104-5F5D-4901-E826-9C5300C39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32" name="Slide Number Placeholder 3">
            <a:extLst>
              <a:ext uri="{FF2B5EF4-FFF2-40B4-BE49-F238E27FC236}">
                <a16:creationId xmlns:a16="http://schemas.microsoft.com/office/drawing/2014/main" id="{1A05F1B7-2E15-E3A8-0E9A-8D1F1594C7F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 name="Footer Placeholder 2">
            <a:extLst>
              <a:ext uri="{FF2B5EF4-FFF2-40B4-BE49-F238E27FC236}">
                <a16:creationId xmlns:a16="http://schemas.microsoft.com/office/drawing/2014/main" id="{DCCD3E9C-32AF-5328-BCC7-924EEA7316E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 name="Title 6">
            <a:extLst>
              <a:ext uri="{FF2B5EF4-FFF2-40B4-BE49-F238E27FC236}">
                <a16:creationId xmlns:a16="http://schemas.microsoft.com/office/drawing/2014/main" id="{EE65C608-4AEC-D11B-2423-28834C2377C4}"/>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7AD31821-4C25-EF66-E3A8-3C5664DC8990}"/>
              </a:ext>
            </a:extLst>
          </p:cNvPr>
          <p:cNvSpPr txBox="1">
            <a:spLocks/>
          </p:cNvSpPr>
          <p:nvPr/>
        </p:nvSpPr>
        <p:spPr>
          <a:xfrm>
            <a:off x="319463" y="925762"/>
            <a:ext cx="10884691"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lphaLcParenR" startAt="2"/>
              <a:tabLst/>
              <a:defRPr/>
            </a:pPr>
            <a:r>
              <a:rPr lang="en-NZ" altLang="ja-JP" sz="1600" dirty="0">
                <a:solidFill>
                  <a:srgbClr val="0070C0"/>
                </a:solidFill>
                <a:latin typeface="Calibri" panose="020F0502020204030204"/>
                <a:ea typeface="游ゴシック" panose="020B0400000000000000" pitchFamily="34" charset="-128"/>
              </a:rPr>
              <a:t>Conduct a normal theory likelihood ratio test. State the hypothesis being tested, the F-statistic, degrees of freedom, p-value and conclusion of the test.</a:t>
            </a:r>
            <a:endParaRPr kumimoji="1" lang="en-NZ" altLang="ja-JP" sz="1600" b="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p:sp>
        <p:nvSpPr>
          <p:cNvPr id="4" name="Text Placeholder 5">
            <a:extLst>
              <a:ext uri="{FF2B5EF4-FFF2-40B4-BE49-F238E27FC236}">
                <a16:creationId xmlns:a16="http://schemas.microsoft.com/office/drawing/2014/main" id="{31EF4397-4E0F-4E44-B878-140990B21533}"/>
              </a:ext>
            </a:extLst>
          </p:cNvPr>
          <p:cNvSpPr txBox="1">
            <a:spLocks/>
          </p:cNvSpPr>
          <p:nvPr/>
        </p:nvSpPr>
        <p:spPr>
          <a:xfrm>
            <a:off x="678064" y="1611107"/>
            <a:ext cx="275919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b="1" dirty="0">
                <a:solidFill>
                  <a:schemeClr val="tx1"/>
                </a:solidFill>
              </a:rPr>
              <a:t>See Section 1.1 of the code </a:t>
            </a:r>
          </a:p>
        </p:txBody>
      </p:sp>
      <p:sp>
        <p:nvSpPr>
          <p:cNvPr id="5" name="Text Placeholder 5">
            <a:extLst>
              <a:ext uri="{FF2B5EF4-FFF2-40B4-BE49-F238E27FC236}">
                <a16:creationId xmlns:a16="http://schemas.microsoft.com/office/drawing/2014/main" id="{22779EAC-316F-826E-148F-D8CA0CB828CF}"/>
              </a:ext>
            </a:extLst>
          </p:cNvPr>
          <p:cNvSpPr txBox="1">
            <a:spLocks/>
          </p:cNvSpPr>
          <p:nvPr/>
        </p:nvSpPr>
        <p:spPr>
          <a:xfrm>
            <a:off x="563060" y="1962064"/>
            <a:ext cx="5336520" cy="3248895"/>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400" dirty="0">
                <a:solidFill>
                  <a:schemeClr val="accent6">
                    <a:lumMod val="75000"/>
                  </a:schemeClr>
                </a:solidFill>
              </a:rPr>
              <a:t># 1.1b - Obtain SSE for complete model</a:t>
            </a:r>
          </a:p>
          <a:p>
            <a:pPr lvl="0" algn="just">
              <a:lnSpc>
                <a:spcPct val="100000"/>
              </a:lnSpc>
              <a:defRPr/>
            </a:pPr>
            <a:r>
              <a:rPr lang="en-NZ" altLang="ja-JP" sz="1400" dirty="0">
                <a:solidFill>
                  <a:prstClr val="black"/>
                </a:solidFill>
              </a:rPr>
              <a:t>&gt; Reg1b &lt;- </a:t>
            </a:r>
            <a:r>
              <a:rPr lang="en-NZ" altLang="ja-JP" sz="1400" dirty="0" err="1">
                <a:solidFill>
                  <a:prstClr val="black"/>
                </a:solidFill>
              </a:rPr>
              <a:t>lm</a:t>
            </a:r>
            <a:r>
              <a:rPr lang="en-NZ" altLang="ja-JP" sz="1400" dirty="0">
                <a:solidFill>
                  <a:prstClr val="black"/>
                </a:solidFill>
              </a:rPr>
              <a:t>(Y ~ X1 + X2 + X3 + X4 + X5 + X6, data = Reg1a)</a:t>
            </a:r>
          </a:p>
          <a:p>
            <a:pPr lvl="0" algn="just">
              <a:lnSpc>
                <a:spcPct val="100000"/>
              </a:lnSpc>
              <a:defRPr/>
            </a:pPr>
            <a:r>
              <a:rPr lang="en-NZ" altLang="ja-JP" sz="1400" dirty="0">
                <a:solidFill>
                  <a:prstClr val="black"/>
                </a:solidFill>
              </a:rPr>
              <a:t>       &gt; Reg1b1 &lt;- sum( </a:t>
            </a:r>
            <a:r>
              <a:rPr lang="en-NZ" altLang="ja-JP" sz="1400" dirty="0" err="1">
                <a:solidFill>
                  <a:prstClr val="black"/>
                </a:solidFill>
              </a:rPr>
              <a:t>resid</a:t>
            </a:r>
            <a:r>
              <a:rPr lang="en-NZ" altLang="ja-JP" sz="1400" dirty="0">
                <a:solidFill>
                  <a:prstClr val="black"/>
                </a:solidFill>
              </a:rPr>
              <a:t>(Reg1b)^2 )</a:t>
            </a:r>
          </a:p>
          <a:p>
            <a:pPr lvl="0" algn="just">
              <a:lnSpc>
                <a:spcPct val="100000"/>
              </a:lnSpc>
              <a:defRPr/>
            </a:pPr>
            <a:r>
              <a:rPr lang="en-NZ" altLang="ja-JP" sz="1400" dirty="0">
                <a:solidFill>
                  <a:prstClr val="black"/>
                </a:solidFill>
              </a:rPr>
              <a:t>  </a:t>
            </a:r>
          </a:p>
          <a:p>
            <a:pPr lvl="0" algn="just">
              <a:lnSpc>
                <a:spcPct val="100000"/>
              </a:lnSpc>
              <a:defRPr/>
            </a:pPr>
            <a:r>
              <a:rPr lang="en-NZ" altLang="ja-JP" sz="1400" dirty="0">
                <a:solidFill>
                  <a:schemeClr val="accent6">
                    <a:lumMod val="75000"/>
                  </a:schemeClr>
                </a:solidFill>
              </a:rPr>
              <a:t># 1.1c - Obtain SSE for reduced model</a:t>
            </a:r>
          </a:p>
          <a:p>
            <a:pPr lvl="0" algn="just">
              <a:lnSpc>
                <a:spcPct val="100000"/>
              </a:lnSpc>
              <a:defRPr/>
            </a:pPr>
            <a:r>
              <a:rPr lang="en-NZ" altLang="ja-JP" sz="1400" dirty="0">
                <a:solidFill>
                  <a:prstClr val="black"/>
                </a:solidFill>
              </a:rPr>
              <a:t>&gt; Reg1c &lt;- </a:t>
            </a:r>
            <a:r>
              <a:rPr lang="en-NZ" altLang="ja-JP" sz="1400" dirty="0" err="1">
                <a:solidFill>
                  <a:prstClr val="black"/>
                </a:solidFill>
              </a:rPr>
              <a:t>lm</a:t>
            </a:r>
            <a:r>
              <a:rPr lang="en-NZ" altLang="ja-JP" sz="1400" dirty="0">
                <a:solidFill>
                  <a:prstClr val="black"/>
                </a:solidFill>
              </a:rPr>
              <a:t>(Y ~ X1 + X2 + X3, data = Reg1a)</a:t>
            </a:r>
          </a:p>
          <a:p>
            <a:pPr lvl="0" algn="just">
              <a:lnSpc>
                <a:spcPct val="100000"/>
              </a:lnSpc>
              <a:defRPr/>
            </a:pPr>
            <a:r>
              <a:rPr lang="en-NZ" altLang="ja-JP" sz="1400" dirty="0">
                <a:solidFill>
                  <a:prstClr val="black"/>
                </a:solidFill>
              </a:rPr>
              <a:t>       &gt; Reg1c1 &lt;- sum( </a:t>
            </a:r>
            <a:r>
              <a:rPr lang="en-NZ" altLang="ja-JP" sz="1400" dirty="0" err="1">
                <a:solidFill>
                  <a:prstClr val="black"/>
                </a:solidFill>
              </a:rPr>
              <a:t>resid</a:t>
            </a:r>
            <a:r>
              <a:rPr lang="en-NZ" altLang="ja-JP" sz="1400" dirty="0">
                <a:solidFill>
                  <a:prstClr val="black"/>
                </a:solidFill>
              </a:rPr>
              <a:t>(Reg1c)^2 )</a:t>
            </a:r>
          </a:p>
          <a:p>
            <a:pPr lvl="0" algn="just">
              <a:lnSpc>
                <a:spcPct val="100000"/>
              </a:lnSpc>
              <a:defRPr/>
            </a:pPr>
            <a:r>
              <a:rPr lang="en-NZ" altLang="ja-JP" sz="1400" dirty="0">
                <a:solidFill>
                  <a:prstClr val="black"/>
                </a:solidFill>
              </a:rPr>
              <a:t>  </a:t>
            </a:r>
          </a:p>
          <a:p>
            <a:pPr lvl="0" algn="just">
              <a:lnSpc>
                <a:spcPct val="100000"/>
              </a:lnSpc>
              <a:defRPr/>
            </a:pPr>
            <a:endParaRPr lang="en-NZ" altLang="ja-JP" sz="1400" dirty="0">
              <a:solidFill>
                <a:prstClr val="black"/>
              </a:solidFill>
            </a:endParaRPr>
          </a:p>
          <a:p>
            <a:pPr lvl="0" algn="just">
              <a:lnSpc>
                <a:spcPct val="100000"/>
              </a:lnSpc>
              <a:defRPr/>
            </a:pPr>
            <a:r>
              <a:rPr lang="en-NZ" altLang="ja-JP" sz="1400" dirty="0">
                <a:solidFill>
                  <a:schemeClr val="accent6">
                    <a:lumMod val="75000"/>
                  </a:schemeClr>
                </a:solidFill>
              </a:rPr>
              <a:t># 1.1d - Obtain F-statistic for initial sample</a:t>
            </a:r>
          </a:p>
          <a:p>
            <a:pPr lvl="0" algn="just">
              <a:lnSpc>
                <a:spcPct val="100000"/>
              </a:lnSpc>
              <a:defRPr/>
            </a:pPr>
            <a:r>
              <a:rPr lang="en-NZ" altLang="ja-JP" sz="1400" dirty="0">
                <a:solidFill>
                  <a:prstClr val="black"/>
                </a:solidFill>
              </a:rPr>
              <a:t>&gt; Reg1d &lt;-  ( (Reg1c1 - Reg1b1) / 3 ) / (Reg1b1 / (n - p)  )</a:t>
            </a:r>
          </a:p>
          <a:p>
            <a:pPr lvl="0" algn="just">
              <a:lnSpc>
                <a:spcPct val="100000"/>
              </a:lnSpc>
              <a:defRPr/>
            </a:pPr>
            <a:endParaRPr lang="en-NZ" altLang="ja-JP" sz="1400" dirty="0">
              <a:solidFill>
                <a:prstClr val="black"/>
              </a:solidFill>
            </a:endParaRPr>
          </a:p>
          <a:p>
            <a:pPr lvl="0" algn="just">
              <a:lnSpc>
                <a:spcPct val="100000"/>
              </a:lnSpc>
              <a:defRPr/>
            </a:pPr>
            <a:r>
              <a:rPr lang="en-NZ" altLang="ja-JP" sz="1400" dirty="0">
                <a:solidFill>
                  <a:schemeClr val="accent6">
                    <a:lumMod val="75000"/>
                  </a:schemeClr>
                </a:solidFill>
              </a:rPr>
              <a:t># 1.1e - Obtain p-value for the test</a:t>
            </a:r>
          </a:p>
          <a:p>
            <a:pPr lvl="0" algn="just">
              <a:lnSpc>
                <a:spcPct val="100000"/>
              </a:lnSpc>
              <a:defRPr/>
            </a:pPr>
            <a:r>
              <a:rPr lang="en-NZ" altLang="ja-JP" sz="1400" dirty="0">
                <a:solidFill>
                  <a:prstClr val="black"/>
                </a:solidFill>
              </a:rPr>
              <a:t>&gt; 1 - pf(Reg1d, 3, n-p  )</a:t>
            </a:r>
          </a:p>
        </p:txBody>
      </p:sp>
      <mc:AlternateContent xmlns:mc="http://schemas.openxmlformats.org/markup-compatibility/2006" xmlns:a14="http://schemas.microsoft.com/office/drawing/2010/main">
        <mc:Choice Requires="a14">
          <p:sp>
            <p:nvSpPr>
              <p:cNvPr id="7" name="Text Placeholder 5">
                <a:extLst>
                  <a:ext uri="{FF2B5EF4-FFF2-40B4-BE49-F238E27FC236}">
                    <a16:creationId xmlns:a16="http://schemas.microsoft.com/office/drawing/2014/main" id="{B0026BEC-A5B6-43CF-C89B-95FC509AC5C5}"/>
                  </a:ext>
                </a:extLst>
              </p:cNvPr>
              <p:cNvSpPr txBox="1">
                <a:spLocks/>
              </p:cNvSpPr>
              <p:nvPr/>
            </p:nvSpPr>
            <p:spPr>
              <a:xfrm>
                <a:off x="6292422" y="1972927"/>
                <a:ext cx="4189864"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𝑯</m:t>
                        </m:r>
                      </m:e>
                      <m:sub>
                        <m: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oMath>
                </a14:m>
                <a:r>
                  <a:rPr kumimoji="1" lang="en-NZ" altLang="ja-JP" sz="1200" b="1" i="1" u="none" strike="noStrike" kern="1200" cap="none" spc="0" normalizeH="0" baseline="0" noProof="0" dirty="0">
                    <a:ln>
                      <a:noFill/>
                    </a:ln>
                    <a:solidFill>
                      <a:srgbClr val="0070C0"/>
                    </a:solidFill>
                    <a:effectLst/>
                    <a:uLnTx/>
                    <a:uFillTx/>
                    <a:latin typeface="Cambria Math" panose="02040503050406030204" pitchFamily="18" charset="0"/>
                    <a:ea typeface="游ゴシック" panose="020B0400000000000000" pitchFamily="34" charset="-128"/>
                    <a:cs typeface="+mn-cs"/>
                  </a:rPr>
                  <a:t> </a:t>
                </a:r>
                <a:r>
                  <a:rPr kumimoji="1" lang="en-NZ" altLang="ja-JP" sz="1200" b="0" i="0" u="none" strike="noStrike" kern="1200" cap="none" spc="0" normalizeH="0" baseline="0" noProof="0" dirty="0">
                    <a:ln>
                      <a:noFill/>
                    </a:ln>
                    <a:solidFill>
                      <a:srgbClr val="0070C0"/>
                    </a:solidFill>
                    <a:effectLst/>
                    <a:uLnTx/>
                    <a:uFillTx/>
                    <a:latin typeface="Cambria Math" panose="02040503050406030204" pitchFamily="18" charset="0"/>
                    <a:ea typeface="游ゴシック" panose="020B0400000000000000" pitchFamily="34" charset="-128"/>
                    <a:cs typeface="+mn-cs"/>
                  </a:rPr>
                  <a:t>The true model is the reduced model</a:t>
                </a:r>
                <a:br>
                  <a:rPr kumimoji="1" lang="en-NZ" altLang="ja-JP" sz="12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Para xmlns:m="http://schemas.openxmlformats.org/officeDocument/2006/math">
                    <m:oMathParaPr>
                      <m:jc m:val="left"/>
                    </m:oMathParaPr>
                    <m:oMath xmlns:m="http://schemas.openxmlformats.org/officeDocument/2006/math">
                      <m:sSub>
                        <m:sSubPr>
                          <m:ctrlPr>
                            <a:rPr kumimoji="1" lang="en-NZ" altLang="ja-JP" sz="12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2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200" b="1" i="1" u="none" strike="noStrike" kern="1200" cap="none" spc="0" normalizeH="0" baseline="0" noProof="0">
                          <a:ln>
                            <a:noFill/>
                          </a:ln>
                          <a:solidFill>
                            <a:prstClr val="black"/>
                          </a:solidFill>
                          <a:effectLst/>
                          <a:uLnTx/>
                          <a:uFillTx/>
                          <a:latin typeface="Cambria Math" panose="02040503050406030204" pitchFamily="18" charset="0"/>
                          <a:cs typeface="+mn-cs"/>
                        </a:rPr>
                        <m:t> :</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The</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true</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model</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is</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the</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200" b="0" i="0"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complete</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2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model</m:t>
                      </m:r>
                    </m:oMath>
                  </m:oMathPara>
                </a14:m>
                <a:endParaRPr kumimoji="1" lang="en-NZ" altLang="ja-JP" sz="12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7" name="Text Placeholder 5">
                <a:extLst>
                  <a:ext uri="{FF2B5EF4-FFF2-40B4-BE49-F238E27FC236}">
                    <a16:creationId xmlns:a16="http://schemas.microsoft.com/office/drawing/2014/main" id="{B0026BEC-A5B6-43CF-C89B-95FC509AC5C5}"/>
                  </a:ext>
                </a:extLst>
              </p:cNvPr>
              <p:cNvSpPr txBox="1">
                <a:spLocks noRot="1" noChangeAspect="1" noMove="1" noResize="1" noEditPoints="1" noAdjustHandles="1" noChangeArrowheads="1" noChangeShapeType="1" noTextEdit="1"/>
              </p:cNvSpPr>
              <p:nvPr/>
            </p:nvSpPr>
            <p:spPr>
              <a:xfrm>
                <a:off x="6292422" y="1972927"/>
                <a:ext cx="4189864" cy="695961"/>
              </a:xfrm>
              <a:prstGeom prst="rect">
                <a:avLst/>
              </a:prstGeom>
              <a:blipFill>
                <a:blip r:embed="rId3"/>
                <a:stretch>
                  <a:fillRect t="-877"/>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98445B44-E5AA-BC0A-05C1-53FA48B7E8AA}"/>
                  </a:ext>
                </a:extLst>
              </p:cNvPr>
              <p:cNvSpPr txBox="1">
                <a:spLocks/>
              </p:cNvSpPr>
              <p:nvPr/>
            </p:nvSpPr>
            <p:spPr>
              <a:xfrm>
                <a:off x="6292422" y="2576985"/>
                <a:ext cx="5539694" cy="5250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𝑯</m:t>
                        </m:r>
                      </m:e>
                      <m:sub>
                        <m: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2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 </m:t>
                    </m:r>
                  </m:oMath>
                </a14:m>
                <a:r>
                  <a:rPr kumimoji="1" lang="en-NZ" altLang="ja-JP" sz="1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The extra predictors in the complete model have </a:t>
                </a:r>
                <a:r>
                  <a:rPr kumimoji="1" lang="en-NZ" altLang="ja-JP" sz="1200" b="1"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no</a:t>
                </a:r>
                <a:r>
                  <a:rPr kumimoji="1" lang="en-NZ" altLang="ja-JP" sz="1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relationship with </a:t>
                </a:r>
                <a:r>
                  <a:rPr kumimoji="1" lang="en-NZ" altLang="ja-JP" sz="12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Y</a:t>
                </a:r>
                <a:r>
                  <a:rPr kumimoji="1" lang="en-NZ" altLang="ja-JP" sz="12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 when the variables in the reduced model are accounted for.</a:t>
                </a:r>
                <a:endParaRPr kumimoji="1" lang="en-NZ" altLang="ja-JP" sz="1200" b="1" i="1"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98445B44-E5AA-BC0A-05C1-53FA48B7E8AA}"/>
                  </a:ext>
                </a:extLst>
              </p:cNvPr>
              <p:cNvSpPr txBox="1">
                <a:spLocks noRot="1" noChangeAspect="1" noMove="1" noResize="1" noEditPoints="1" noAdjustHandles="1" noChangeArrowheads="1" noChangeShapeType="1" noTextEdit="1"/>
              </p:cNvSpPr>
              <p:nvPr/>
            </p:nvSpPr>
            <p:spPr>
              <a:xfrm>
                <a:off x="6292422" y="2576985"/>
                <a:ext cx="5539694" cy="525075"/>
              </a:xfrm>
              <a:prstGeom prst="rect">
                <a:avLst/>
              </a:prstGeom>
              <a:blipFill>
                <a:blip r:embed="rId4"/>
                <a:stretch>
                  <a:fillRect t="-1163"/>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A6D4A99-A990-BF02-C8F7-3806E51BC69F}"/>
                  </a:ext>
                </a:extLst>
              </p:cNvPr>
              <p:cNvSpPr txBox="1">
                <a:spLocks/>
              </p:cNvSpPr>
              <p:nvPr/>
            </p:nvSpPr>
            <p:spPr>
              <a:xfrm>
                <a:off x="6292422" y="3052018"/>
                <a:ext cx="5539694" cy="5250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200" b="1"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1" lang="en-NZ" altLang="ja-JP" sz="12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𝑯</m:t>
                        </m:r>
                      </m:e>
                      <m:sub>
                        <m:r>
                          <a:rPr kumimoji="1" lang="en-NZ" altLang="ja-JP" sz="1200" b="1" i="1" u="none" strike="noStrike" kern="1200" cap="none" spc="0" normalizeH="0" baseline="0" noProof="0" smtClean="0">
                            <a:ln>
                              <a:noFill/>
                            </a:ln>
                            <a:solidFill>
                              <a:schemeClr val="tx1"/>
                            </a:solidFill>
                            <a:effectLst/>
                            <a:uLnTx/>
                            <a:uFillTx/>
                            <a:latin typeface="Cambria Math" panose="02040503050406030204" pitchFamily="18" charset="0"/>
                            <a:cs typeface="+mn-cs"/>
                          </a:rPr>
                          <m:t>𝟏</m:t>
                        </m:r>
                      </m:sub>
                    </m:sSub>
                    <m:r>
                      <a:rPr kumimoji="1" lang="en-NZ" altLang="ja-JP" sz="1200" b="1" i="1" u="none" strike="noStrike" kern="1200" cap="none" spc="0" normalizeH="0" baseline="0" noProof="0" smtClean="0">
                        <a:ln>
                          <a:noFill/>
                        </a:ln>
                        <a:solidFill>
                          <a:schemeClr val="tx1"/>
                        </a:solidFill>
                        <a:effectLst/>
                        <a:uLnTx/>
                        <a:uFillTx/>
                        <a:latin typeface="Cambria Math" panose="02040503050406030204" pitchFamily="18" charset="0"/>
                        <a:cs typeface="+mn-cs"/>
                      </a:rPr>
                      <m:t> : </m:t>
                    </m:r>
                  </m:oMath>
                </a14:m>
                <a:r>
                  <a:rPr kumimoji="1" lang="en-NZ" altLang="ja-JP" sz="12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The extra predictors in the complete model have </a:t>
                </a:r>
                <a:r>
                  <a:rPr kumimoji="1" lang="en-NZ" altLang="ja-JP" sz="12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some</a:t>
                </a:r>
                <a:r>
                  <a:rPr kumimoji="1" lang="en-NZ" altLang="ja-JP" sz="12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relationship with </a:t>
                </a:r>
                <a:r>
                  <a:rPr kumimoji="1" lang="en-NZ" altLang="ja-JP" sz="12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Y</a:t>
                </a:r>
                <a:r>
                  <a:rPr kumimoji="1" lang="en-NZ" altLang="ja-JP" sz="12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even when the variables in the reduced model are accounted for.</a:t>
                </a:r>
                <a:endParaRPr kumimoji="1" lang="en-NZ" altLang="ja-JP" sz="12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5A6D4A99-A990-BF02-C8F7-3806E51BC69F}"/>
                  </a:ext>
                </a:extLst>
              </p:cNvPr>
              <p:cNvSpPr txBox="1">
                <a:spLocks noRot="1" noChangeAspect="1" noMove="1" noResize="1" noEditPoints="1" noAdjustHandles="1" noChangeArrowheads="1" noChangeShapeType="1" noTextEdit="1"/>
              </p:cNvSpPr>
              <p:nvPr/>
            </p:nvSpPr>
            <p:spPr>
              <a:xfrm>
                <a:off x="6292422" y="3052018"/>
                <a:ext cx="5539694" cy="525075"/>
              </a:xfrm>
              <a:prstGeom prst="rect">
                <a:avLst/>
              </a:prstGeom>
              <a:blipFill>
                <a:blip r:embed="rId5"/>
                <a:stretch>
                  <a:fillRect t="-1163"/>
                </a:stretch>
              </a:blipFill>
            </p:spPr>
            <p:txBody>
              <a:bodyPr/>
              <a:lstStyle/>
              <a:p>
                <a:r>
                  <a:rPr lang="en-NZ">
                    <a:noFill/>
                  </a:rPr>
                  <a:t> </a:t>
                </a:r>
              </a:p>
            </p:txBody>
          </p:sp>
        </mc:Fallback>
      </mc:AlternateContent>
      <p:sp>
        <p:nvSpPr>
          <p:cNvPr id="21" name="Text Placeholder 5">
            <a:extLst>
              <a:ext uri="{FF2B5EF4-FFF2-40B4-BE49-F238E27FC236}">
                <a16:creationId xmlns:a16="http://schemas.microsoft.com/office/drawing/2014/main" id="{DDB01BD2-A51B-CA0A-CD71-83BD3F35CEDA}"/>
              </a:ext>
            </a:extLst>
          </p:cNvPr>
          <p:cNvSpPr txBox="1">
            <a:spLocks/>
          </p:cNvSpPr>
          <p:nvPr/>
        </p:nvSpPr>
        <p:spPr>
          <a:xfrm>
            <a:off x="6394009" y="3688098"/>
            <a:ext cx="5336520" cy="18125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F-Statistic = 5.089205   </a:t>
            </a: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on   </a:t>
            </a:r>
            <a:r>
              <a:rPr kumimoji="1" lang="en-NZ" altLang="ja-JP" sz="1400" b="1" i="1" u="none" strike="noStrike" kern="1200" cap="none" spc="0" normalizeH="0" baseline="0" noProof="0" dirty="0" err="1">
                <a:ln>
                  <a:noFill/>
                </a:ln>
                <a:solidFill>
                  <a:prstClr val="black"/>
                </a:solidFill>
                <a:effectLst/>
                <a:uLnTx/>
                <a:uFillTx/>
                <a:latin typeface="Calibri" panose="020F0502020204030204"/>
                <a:ea typeface="游ゴシック" panose="020B0400000000000000" pitchFamily="34" charset="-128"/>
                <a:cs typeface="+mn-cs"/>
              </a:rPr>
              <a:t>df</a:t>
            </a: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=(3, 96)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-&gt;  </a:t>
            </a: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p-value = 0.00262</a:t>
            </a:r>
            <a:endParaRPr lang="en-NZ" altLang="ja-JP" sz="1400" b="1" i="1" dirty="0">
              <a:solidFill>
                <a:prstClr val="black"/>
              </a:solidFill>
              <a:latin typeface="Calibri" panose="020F0502020204030204"/>
              <a:ea typeface="游ゴシック" panose="020B0400000000000000" pitchFamily="34" charset="-128"/>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Strong evidence against </a:t>
            </a:r>
            <a:r>
              <a:rPr kumimoji="1" lang="en-NZ" altLang="ja-JP" sz="14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H</a:t>
            </a:r>
            <a:r>
              <a:rPr kumimoji="1" lang="en-NZ" altLang="ja-JP" sz="1400" b="1" i="1" u="none" strike="noStrike" kern="1200" cap="none" spc="0" normalizeH="0" baseline="-25000" noProof="0" dirty="0">
                <a:ln>
                  <a:noFill/>
                </a:ln>
                <a:solidFill>
                  <a:prstClr val="black"/>
                </a:solidFill>
                <a:effectLst/>
                <a:uLnTx/>
                <a:uFillTx/>
                <a:latin typeface="Calibri" panose="020F0502020204030204"/>
                <a:ea typeface="游ゴシック" panose="020B0400000000000000" pitchFamily="34" charset="-128"/>
                <a:cs typeface="+mn-cs"/>
              </a:rPr>
              <a:t>0</a:t>
            </a:r>
            <a:endParaRPr kumimoji="1" lang="en-NZ" altLang="ja-JP" sz="140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br>
              <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br>
            <a:r>
              <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Conclude that the </a:t>
            </a:r>
            <a:r>
              <a:rPr kumimoji="1" lang="en-NZ" altLang="ja-JP" sz="14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extra predictors in the complete model have </a:t>
            </a:r>
            <a:r>
              <a:rPr kumimoji="1" lang="en-NZ" altLang="ja-JP" sz="1400" b="1"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some</a:t>
            </a:r>
            <a:r>
              <a:rPr kumimoji="1" lang="en-NZ" altLang="ja-JP" sz="14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relationship with </a:t>
            </a:r>
            <a:r>
              <a:rPr kumimoji="1" lang="en-NZ" altLang="ja-JP" sz="1400" b="1" i="1"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Y</a:t>
            </a:r>
            <a:r>
              <a:rPr kumimoji="1" lang="en-NZ" altLang="ja-JP" sz="1400" b="0" i="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 even when the variables in the reduced model are accounted for.</a:t>
            </a:r>
            <a:endPar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p:sp>
        <p:nvSpPr>
          <p:cNvPr id="8" name="Text Placeholder 5">
            <a:extLst>
              <a:ext uri="{FF2B5EF4-FFF2-40B4-BE49-F238E27FC236}">
                <a16:creationId xmlns:a16="http://schemas.microsoft.com/office/drawing/2014/main" id="{31A40A06-A1E0-99E7-DBA2-05EF3322C1D2}"/>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 – Bonus Question</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88822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p:bldP spid="16"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375A453-AA42-0C2C-53DE-4CE696A492F4}"/>
              </a:ext>
            </a:extLst>
          </p:cNvPr>
          <p:cNvPicPr>
            <a:picLocks noChangeAspect="1"/>
          </p:cNvPicPr>
          <p:nvPr/>
        </p:nvPicPr>
        <p:blipFill>
          <a:blip r:embed="rId2"/>
          <a:stretch>
            <a:fillRect/>
          </a:stretch>
        </p:blipFill>
        <p:spPr>
          <a:xfrm>
            <a:off x="670793" y="2605204"/>
            <a:ext cx="5532940" cy="3946228"/>
          </a:xfrm>
          <a:prstGeom prst="rect">
            <a:avLst/>
          </a:prstGeom>
        </p:spPr>
      </p:pic>
      <p:pic>
        <p:nvPicPr>
          <p:cNvPr id="30" name="Picture 2" descr="Te Herenga Waka—Victoria University of Wellington | Universities New  Zealand - Te Pōkai Tara">
            <a:extLst>
              <a:ext uri="{FF2B5EF4-FFF2-40B4-BE49-F238E27FC236}">
                <a16:creationId xmlns:a16="http://schemas.microsoft.com/office/drawing/2014/main" id="{C36E6104-5F5D-4901-E826-9C5300C39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32" name="Slide Number Placeholder 3">
            <a:extLst>
              <a:ext uri="{FF2B5EF4-FFF2-40B4-BE49-F238E27FC236}">
                <a16:creationId xmlns:a16="http://schemas.microsoft.com/office/drawing/2014/main" id="{1A05F1B7-2E15-E3A8-0E9A-8D1F1594C7F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 name="Footer Placeholder 2">
            <a:extLst>
              <a:ext uri="{FF2B5EF4-FFF2-40B4-BE49-F238E27FC236}">
                <a16:creationId xmlns:a16="http://schemas.microsoft.com/office/drawing/2014/main" id="{DCCD3E9C-32AF-5328-BCC7-924EEA7316E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 name="Title 6">
            <a:extLst>
              <a:ext uri="{FF2B5EF4-FFF2-40B4-BE49-F238E27FC236}">
                <a16:creationId xmlns:a16="http://schemas.microsoft.com/office/drawing/2014/main" id="{EE65C608-4AEC-D11B-2423-28834C2377C4}"/>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7AD31821-4C25-EF66-E3A8-3C5664DC8990}"/>
              </a:ext>
            </a:extLst>
          </p:cNvPr>
          <p:cNvSpPr txBox="1">
            <a:spLocks/>
          </p:cNvSpPr>
          <p:nvPr/>
        </p:nvSpPr>
        <p:spPr>
          <a:xfrm>
            <a:off x="319463" y="925762"/>
            <a:ext cx="10884691" cy="5250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marR="0" lvl="0" indent="-342900" defTabSz="914324" rtl="0" eaLnBrk="1" fontAlgn="auto" latinLnBrk="0" hangingPunct="1">
              <a:lnSpc>
                <a:spcPct val="100000"/>
              </a:lnSpc>
              <a:spcBef>
                <a:spcPts val="0"/>
              </a:spcBef>
              <a:spcAft>
                <a:spcPts val="0"/>
              </a:spcAft>
              <a:buClrTx/>
              <a:buSzTx/>
              <a:buFont typeface="+mj-lt"/>
              <a:buAutoNum type="alphaLcParenR" startAt="3"/>
              <a:tabLst/>
              <a:defRPr/>
            </a:pPr>
            <a:r>
              <a:rPr lang="en-NZ" altLang="ja-JP" sz="1600" dirty="0">
                <a:solidFill>
                  <a:srgbClr val="0070C0"/>
                </a:solidFill>
                <a:latin typeface="Calibri" panose="020F0502020204030204"/>
                <a:ea typeface="游ゴシック" panose="020B0400000000000000" pitchFamily="34" charset="-128"/>
              </a:rPr>
              <a:t>Construct a QQ-plot of the residuals of the reduced model. Are the residuals normally distributed? </a:t>
            </a:r>
            <a:br>
              <a:rPr lang="en-NZ" altLang="ja-JP" sz="1600" dirty="0">
                <a:solidFill>
                  <a:srgbClr val="0070C0"/>
                </a:solidFill>
                <a:latin typeface="Calibri" panose="020F0502020204030204"/>
                <a:ea typeface="游ゴシック" panose="020B0400000000000000" pitchFamily="34" charset="-128"/>
              </a:rPr>
            </a:br>
            <a:r>
              <a:rPr lang="en-NZ" altLang="ja-JP" sz="1600" dirty="0">
                <a:solidFill>
                  <a:srgbClr val="0070C0"/>
                </a:solidFill>
                <a:latin typeface="Calibri" panose="020F0502020204030204"/>
                <a:ea typeface="游ゴシック" panose="020B0400000000000000" pitchFamily="34" charset="-128"/>
              </a:rPr>
              <a:t>Is your analysis from part b) valid?</a:t>
            </a:r>
          </a:p>
        </p:txBody>
      </p:sp>
      <p:sp>
        <p:nvSpPr>
          <p:cNvPr id="4" name="Text Placeholder 5">
            <a:extLst>
              <a:ext uri="{FF2B5EF4-FFF2-40B4-BE49-F238E27FC236}">
                <a16:creationId xmlns:a16="http://schemas.microsoft.com/office/drawing/2014/main" id="{31EF4397-4E0F-4E44-B878-140990B21533}"/>
              </a:ext>
            </a:extLst>
          </p:cNvPr>
          <p:cNvSpPr txBox="1">
            <a:spLocks/>
          </p:cNvSpPr>
          <p:nvPr/>
        </p:nvSpPr>
        <p:spPr>
          <a:xfrm>
            <a:off x="678064" y="1611107"/>
            <a:ext cx="275919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b="1" dirty="0">
                <a:solidFill>
                  <a:schemeClr val="tx1"/>
                </a:solidFill>
              </a:rPr>
              <a:t>See Section 1.1f of the code </a:t>
            </a:r>
          </a:p>
        </p:txBody>
      </p:sp>
      <p:sp>
        <p:nvSpPr>
          <p:cNvPr id="5" name="Text Placeholder 5">
            <a:extLst>
              <a:ext uri="{FF2B5EF4-FFF2-40B4-BE49-F238E27FC236}">
                <a16:creationId xmlns:a16="http://schemas.microsoft.com/office/drawing/2014/main" id="{22779EAC-316F-826E-148F-D8CA0CB828CF}"/>
              </a:ext>
            </a:extLst>
          </p:cNvPr>
          <p:cNvSpPr txBox="1">
            <a:spLocks/>
          </p:cNvSpPr>
          <p:nvPr/>
        </p:nvSpPr>
        <p:spPr>
          <a:xfrm>
            <a:off x="563060" y="1962064"/>
            <a:ext cx="5452150" cy="858254"/>
          </a:xfrm>
          <a:prstGeom prst="rect">
            <a:avLst/>
          </a:prstGeom>
          <a:solidFill>
            <a:srgbClr val="F3F3FF"/>
          </a:solidFill>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just">
              <a:lnSpc>
                <a:spcPct val="100000"/>
              </a:lnSpc>
              <a:defRPr/>
            </a:pPr>
            <a:r>
              <a:rPr lang="en-NZ" altLang="ja-JP" sz="1400" dirty="0">
                <a:solidFill>
                  <a:schemeClr val="accent6">
                    <a:lumMod val="75000"/>
                  </a:schemeClr>
                </a:solidFill>
              </a:rPr>
              <a:t># 1.1f - Construct a QQ-Plot of residuals from the reduced model</a:t>
            </a:r>
            <a:br>
              <a:rPr lang="en-NZ" altLang="ja-JP" sz="1400" dirty="0">
                <a:solidFill>
                  <a:schemeClr val="accent6">
                    <a:lumMod val="75000"/>
                  </a:schemeClr>
                </a:solidFill>
              </a:rPr>
            </a:br>
            <a:r>
              <a:rPr lang="en-NZ" altLang="ja-JP" sz="1400" dirty="0">
                <a:solidFill>
                  <a:prstClr val="black"/>
                </a:solidFill>
              </a:rPr>
              <a:t>&gt; </a:t>
            </a:r>
            <a:r>
              <a:rPr lang="en-NZ" altLang="ja-JP" sz="1400" dirty="0" err="1">
                <a:solidFill>
                  <a:prstClr val="black"/>
                </a:solidFill>
              </a:rPr>
              <a:t>qqnorm</a:t>
            </a:r>
            <a:r>
              <a:rPr lang="en-NZ" altLang="ja-JP" sz="1400" dirty="0">
                <a:solidFill>
                  <a:prstClr val="black"/>
                </a:solidFill>
              </a:rPr>
              <a:t>(Reg1c$res, main="")</a:t>
            </a:r>
          </a:p>
          <a:p>
            <a:pPr lvl="0" algn="just">
              <a:lnSpc>
                <a:spcPct val="100000"/>
              </a:lnSpc>
              <a:defRPr/>
            </a:pPr>
            <a:r>
              <a:rPr lang="en-NZ" altLang="ja-JP" sz="1400" dirty="0">
                <a:solidFill>
                  <a:prstClr val="black"/>
                </a:solidFill>
              </a:rPr>
              <a:t>&gt; </a:t>
            </a:r>
            <a:r>
              <a:rPr lang="en-NZ" altLang="ja-JP" sz="1400" dirty="0" err="1">
                <a:solidFill>
                  <a:prstClr val="black"/>
                </a:solidFill>
              </a:rPr>
              <a:t>qqline</a:t>
            </a:r>
            <a:r>
              <a:rPr lang="en-NZ" altLang="ja-JP" sz="1400" dirty="0">
                <a:solidFill>
                  <a:prstClr val="black"/>
                </a:solidFill>
              </a:rPr>
              <a:t>(Reg1c$res)  </a:t>
            </a:r>
          </a:p>
        </p:txBody>
      </p:sp>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DDB01BD2-A51B-CA0A-CD71-83BD3F35CEDA}"/>
                  </a:ext>
                </a:extLst>
              </p:cNvPr>
              <p:cNvSpPr txBox="1">
                <a:spLocks/>
              </p:cNvSpPr>
              <p:nvPr/>
            </p:nvSpPr>
            <p:spPr>
              <a:xfrm>
                <a:off x="6691707" y="1919663"/>
                <a:ext cx="4512447" cy="98879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defRPr/>
                </a:pPr>
                <a:r>
                  <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rPr>
                  <a:t>The</a:t>
                </a:r>
                <a:r>
                  <a:rPr kumimoji="1" lang="en-NZ" altLang="ja-JP" sz="1400" u="none" strike="noStrike" kern="1200" cap="none" spc="0" normalizeH="0" noProof="0" dirty="0">
                    <a:ln>
                      <a:noFill/>
                    </a:ln>
                    <a:solidFill>
                      <a:schemeClr val="tx1"/>
                    </a:solidFill>
                    <a:effectLst/>
                    <a:uLnTx/>
                    <a:uFillTx/>
                    <a:latin typeface="Calibri" panose="020F0502020204030204"/>
                    <a:ea typeface="游ゴシック" panose="020B0400000000000000" pitchFamily="34" charset="-128"/>
                    <a:cs typeface="+mn-cs"/>
                  </a:rPr>
                  <a:t> results of a normal theory likelihood ratio test are </a:t>
                </a:r>
                <a:r>
                  <a:rPr lang="en-NZ" altLang="ja-JP" sz="1400" dirty="0">
                    <a:solidFill>
                      <a:prstClr val="black"/>
                    </a:solidFill>
                  </a:rPr>
                  <a:t>only valid if </a:t>
                </a:r>
                <a14:m>
                  <m:oMath xmlns:m="http://schemas.openxmlformats.org/officeDocument/2006/math">
                    <m:sSub>
                      <m:sSubPr>
                        <m:ctrlPr>
                          <a:rPr lang="en-NZ" altLang="ja-JP" sz="1400" b="1" i="1">
                            <a:solidFill>
                              <a:prstClr val="black"/>
                            </a:solidFill>
                            <a:latin typeface="Cambria Math" panose="02040503050406030204" pitchFamily="18" charset="0"/>
                          </a:rPr>
                        </m:ctrlPr>
                      </m:sSubPr>
                      <m:e>
                        <m:r>
                          <a:rPr lang="en-NZ" altLang="ja-JP" sz="1400" b="1" i="1">
                            <a:solidFill>
                              <a:prstClr val="black"/>
                            </a:solidFill>
                            <a:latin typeface="Cambria Math" panose="02040503050406030204" pitchFamily="18" charset="0"/>
                          </a:rPr>
                          <m:t>𝝐</m:t>
                        </m:r>
                      </m:e>
                      <m:sub>
                        <m:r>
                          <a:rPr lang="en-NZ" altLang="ja-JP" sz="1400" b="1" i="1">
                            <a:solidFill>
                              <a:prstClr val="black"/>
                            </a:solidFill>
                            <a:latin typeface="Cambria Math" panose="02040503050406030204" pitchFamily="18" charset="0"/>
                          </a:rPr>
                          <m:t>𝒊</m:t>
                        </m:r>
                      </m:sub>
                    </m:sSub>
                    <m:r>
                      <a:rPr lang="en-NZ" altLang="ja-JP" sz="1400" b="1" i="1">
                        <a:solidFill>
                          <a:prstClr val="black"/>
                        </a:solidFill>
                        <a:latin typeface="Cambria Math" panose="02040503050406030204" pitchFamily="18" charset="0"/>
                      </a:rPr>
                      <m:t> </m:t>
                    </m:r>
                    <m:r>
                      <a:rPr lang="en-NZ" altLang="ja-JP" sz="1400" b="1" i="1">
                        <a:solidFill>
                          <a:prstClr val="black"/>
                        </a:solidFill>
                        <a:latin typeface="Cambria Math" panose="02040503050406030204" pitchFamily="18" charset="0"/>
                        <a:ea typeface="Cambria Math" panose="02040503050406030204" pitchFamily="18" charset="0"/>
                      </a:rPr>
                      <m:t>~ </m:t>
                    </m:r>
                    <m:r>
                      <a:rPr lang="en-NZ" altLang="ja-JP" sz="1400" b="1" i="1">
                        <a:solidFill>
                          <a:prstClr val="black"/>
                        </a:solidFill>
                        <a:latin typeface="Cambria Math" panose="02040503050406030204" pitchFamily="18" charset="0"/>
                        <a:ea typeface="Cambria Math" panose="02040503050406030204" pitchFamily="18" charset="0"/>
                      </a:rPr>
                      <m:t>𝑵</m:t>
                    </m:r>
                    <m:d>
                      <m:dPr>
                        <m:ctrlPr>
                          <a:rPr lang="en-NZ" altLang="ja-JP" sz="1400" b="1" i="1">
                            <a:solidFill>
                              <a:prstClr val="black"/>
                            </a:solidFill>
                            <a:latin typeface="Cambria Math" panose="02040503050406030204" pitchFamily="18" charset="0"/>
                            <a:ea typeface="Cambria Math" panose="02040503050406030204" pitchFamily="18" charset="0"/>
                          </a:rPr>
                        </m:ctrlPr>
                      </m:dPr>
                      <m:e>
                        <m:r>
                          <a:rPr lang="en-NZ" altLang="ja-JP" sz="1400" b="1" i="1">
                            <a:solidFill>
                              <a:prstClr val="black"/>
                            </a:solidFill>
                            <a:latin typeface="Cambria Math" panose="02040503050406030204" pitchFamily="18" charset="0"/>
                            <a:ea typeface="Cambria Math" panose="02040503050406030204" pitchFamily="18" charset="0"/>
                          </a:rPr>
                          <m:t>𝟎</m:t>
                        </m:r>
                        <m:r>
                          <a:rPr lang="en-NZ" altLang="ja-JP" sz="1400" b="1" i="1">
                            <a:solidFill>
                              <a:prstClr val="black"/>
                            </a:solidFill>
                            <a:latin typeface="Cambria Math" panose="02040503050406030204" pitchFamily="18" charset="0"/>
                            <a:ea typeface="Cambria Math" panose="02040503050406030204" pitchFamily="18" charset="0"/>
                          </a:rPr>
                          <m:t>, </m:t>
                        </m:r>
                        <m:sSup>
                          <m:sSupPr>
                            <m:ctrlPr>
                              <a:rPr lang="en-NZ" altLang="ja-JP" sz="1400" b="1" i="1">
                                <a:solidFill>
                                  <a:prstClr val="black"/>
                                </a:solidFill>
                                <a:latin typeface="Cambria Math" panose="02040503050406030204" pitchFamily="18" charset="0"/>
                                <a:ea typeface="Cambria Math" panose="02040503050406030204" pitchFamily="18" charset="0"/>
                              </a:rPr>
                            </m:ctrlPr>
                          </m:sSupPr>
                          <m:e>
                            <m:r>
                              <a:rPr lang="en-NZ" altLang="ja-JP" sz="1400" b="1" i="1">
                                <a:solidFill>
                                  <a:prstClr val="black"/>
                                </a:solidFill>
                                <a:latin typeface="Cambria Math" panose="02040503050406030204" pitchFamily="18" charset="0"/>
                                <a:ea typeface="Cambria Math" panose="02040503050406030204" pitchFamily="18" charset="0"/>
                              </a:rPr>
                              <m:t>𝝈</m:t>
                            </m:r>
                          </m:e>
                          <m:sup>
                            <m:r>
                              <a:rPr lang="en-NZ" altLang="ja-JP" sz="1400" b="1" i="1">
                                <a:solidFill>
                                  <a:prstClr val="black"/>
                                </a:solidFill>
                                <a:latin typeface="Cambria Math" panose="02040503050406030204" pitchFamily="18" charset="0"/>
                                <a:ea typeface="Cambria Math" panose="02040503050406030204" pitchFamily="18" charset="0"/>
                              </a:rPr>
                              <m:t>𝟐</m:t>
                            </m:r>
                          </m:sup>
                        </m:sSup>
                      </m:e>
                    </m:d>
                  </m:oMath>
                </a14:m>
                <a:r>
                  <a:rPr lang="en-NZ" altLang="ja-JP" sz="1400" dirty="0">
                    <a:solidFill>
                      <a:prstClr val="black"/>
                    </a:solidFill>
                  </a:rPr>
                  <a:t>. A normal QQ-plot of residuals suggests that this condition is not satisfied. So we must conduct a permutation test to determine between the reduced and complete model.</a:t>
                </a:r>
                <a:endParaRPr lang="en-NZ" altLang="ja-JP" sz="1400" i="1" dirty="0">
                  <a:solidFill>
                    <a:srgbClr val="C00000"/>
                  </a:solidFill>
                </a:endParaRPr>
              </a:p>
              <a:p>
                <a:pPr lvl="0" algn="just">
                  <a:lnSpc>
                    <a:spcPct val="100000"/>
                  </a:lnSpc>
                  <a:defRPr/>
                </a:pPr>
                <a:endParaRPr kumimoji="1" lang="en-NZ" altLang="ja-JP" sz="1400" u="none" strike="noStrike" kern="1200" cap="none" spc="0" normalizeH="0" baseline="0" noProof="0" dirty="0">
                  <a:ln>
                    <a:noFill/>
                  </a:ln>
                  <a:solidFill>
                    <a:schemeClr val="tx1"/>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DDB01BD2-A51B-CA0A-CD71-83BD3F35CEDA}"/>
                  </a:ext>
                </a:extLst>
              </p:cNvPr>
              <p:cNvSpPr txBox="1">
                <a:spLocks noRot="1" noChangeAspect="1" noMove="1" noResize="1" noEditPoints="1" noAdjustHandles="1" noChangeArrowheads="1" noChangeShapeType="1" noTextEdit="1"/>
              </p:cNvSpPr>
              <p:nvPr/>
            </p:nvSpPr>
            <p:spPr>
              <a:xfrm>
                <a:off x="6691707" y="1919663"/>
                <a:ext cx="4512447" cy="988790"/>
              </a:xfrm>
              <a:prstGeom prst="rect">
                <a:avLst/>
              </a:prstGeom>
              <a:blipFill>
                <a:blip r:embed="rId4"/>
                <a:stretch>
                  <a:fillRect l="-405" t="-1235" r="-405" b="-26543"/>
                </a:stretch>
              </a:blipFill>
            </p:spPr>
            <p:txBody>
              <a:bodyPr/>
              <a:lstStyle/>
              <a:p>
                <a:r>
                  <a:rPr lang="en-NZ">
                    <a:noFill/>
                  </a:rPr>
                  <a:t> </a:t>
                </a:r>
              </a:p>
            </p:txBody>
          </p:sp>
        </mc:Fallback>
      </mc:AlternateContent>
      <p:sp>
        <p:nvSpPr>
          <p:cNvPr id="7" name="Text Placeholder 5">
            <a:extLst>
              <a:ext uri="{FF2B5EF4-FFF2-40B4-BE49-F238E27FC236}">
                <a16:creationId xmlns:a16="http://schemas.microsoft.com/office/drawing/2014/main" id="{94D3A85F-0506-F58A-4628-54C39CE6985D}"/>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 – Bonus Question</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4778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1861212-C3AA-5088-EAED-D1020AC6B0DE}"/>
              </a:ext>
            </a:extLst>
          </p:cNvPr>
          <p:cNvPicPr>
            <a:picLocks noChangeAspect="1"/>
          </p:cNvPicPr>
          <p:nvPr/>
        </p:nvPicPr>
        <p:blipFill>
          <a:blip r:embed="rId2"/>
          <a:stretch>
            <a:fillRect/>
          </a:stretch>
        </p:blipFill>
        <p:spPr>
          <a:xfrm>
            <a:off x="518686" y="2937030"/>
            <a:ext cx="6429375" cy="3400425"/>
          </a:xfrm>
          <a:prstGeom prst="rect">
            <a:avLst/>
          </a:prstGeom>
        </p:spPr>
      </p:pic>
      <p:pic>
        <p:nvPicPr>
          <p:cNvPr id="30" name="Picture 2" descr="Te Herenga Waka—Victoria University of Wellington | Universities New  Zealand - Te Pōkai Tara">
            <a:extLst>
              <a:ext uri="{FF2B5EF4-FFF2-40B4-BE49-F238E27FC236}">
                <a16:creationId xmlns:a16="http://schemas.microsoft.com/office/drawing/2014/main" id="{C36E6104-5F5D-4901-E826-9C5300C394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32" name="Slide Number Placeholder 3">
            <a:extLst>
              <a:ext uri="{FF2B5EF4-FFF2-40B4-BE49-F238E27FC236}">
                <a16:creationId xmlns:a16="http://schemas.microsoft.com/office/drawing/2014/main" id="{1A05F1B7-2E15-E3A8-0E9A-8D1F1594C7FD}"/>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2" name="Footer Placeholder 2">
            <a:extLst>
              <a:ext uri="{FF2B5EF4-FFF2-40B4-BE49-F238E27FC236}">
                <a16:creationId xmlns:a16="http://schemas.microsoft.com/office/drawing/2014/main" id="{DCCD3E9C-32AF-5328-BCC7-924EEA7316E3}"/>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rPr>
              <a:t>Question 2</a:t>
            </a:r>
            <a:endParaRPr kumimoji="1" lang="ja-JP" altLang="en-US" sz="1600" b="0" i="0" u="none" strike="noStrike" kern="1200" cap="none" spc="0" normalizeH="0" baseline="0" noProof="0" dirty="0">
              <a:ln>
                <a:noFill/>
              </a:ln>
              <a:solidFill>
                <a:srgbClr val="DEDDDD"/>
              </a:solidFill>
              <a:effectLst/>
              <a:uLnTx/>
              <a:uFillTx/>
              <a:latin typeface="Gidole"/>
              <a:ea typeface="游ゴシック" panose="020B0400000000000000" pitchFamily="34" charset="-128"/>
              <a:cs typeface="+mn-cs"/>
            </a:endParaRPr>
          </a:p>
        </p:txBody>
      </p:sp>
      <p:sp>
        <p:nvSpPr>
          <p:cNvPr id="3" name="Title 6">
            <a:extLst>
              <a:ext uri="{FF2B5EF4-FFF2-40B4-BE49-F238E27FC236}">
                <a16:creationId xmlns:a16="http://schemas.microsoft.com/office/drawing/2014/main" id="{EE65C608-4AEC-D11B-2423-28834C2377C4}"/>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kumimoji="1" lang="en-US" altLang="ja-JP"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rPr>
              <a:t>Question 2:</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6" name="Text Placeholder 5">
            <a:extLst>
              <a:ext uri="{FF2B5EF4-FFF2-40B4-BE49-F238E27FC236}">
                <a16:creationId xmlns:a16="http://schemas.microsoft.com/office/drawing/2014/main" id="{7AD31821-4C25-EF66-E3A8-3C5664DC8990}"/>
              </a:ext>
            </a:extLst>
          </p:cNvPr>
          <p:cNvSpPr txBox="1">
            <a:spLocks/>
          </p:cNvSpPr>
          <p:nvPr/>
        </p:nvSpPr>
        <p:spPr>
          <a:xfrm>
            <a:off x="319463" y="925762"/>
            <a:ext cx="10884691" cy="52507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lvl="0" indent="-342900">
              <a:lnSpc>
                <a:spcPct val="100000"/>
              </a:lnSpc>
              <a:buFont typeface="+mj-lt"/>
              <a:buAutoNum type="alphaLcParenR" startAt="4"/>
              <a:defRPr/>
            </a:pPr>
            <a:r>
              <a:rPr lang="en-NZ" altLang="ja-JP" sz="1600" dirty="0">
                <a:solidFill>
                  <a:srgbClr val="0070C0"/>
                </a:solidFill>
              </a:rPr>
              <a:t>Conduct a permutation based likelihood ratio test to test between the reduced and complete model.</a:t>
            </a:r>
          </a:p>
        </p:txBody>
      </p:sp>
      <p:sp>
        <p:nvSpPr>
          <p:cNvPr id="4" name="Text Placeholder 5">
            <a:extLst>
              <a:ext uri="{FF2B5EF4-FFF2-40B4-BE49-F238E27FC236}">
                <a16:creationId xmlns:a16="http://schemas.microsoft.com/office/drawing/2014/main" id="{31EF4397-4E0F-4E44-B878-140990B21533}"/>
              </a:ext>
            </a:extLst>
          </p:cNvPr>
          <p:cNvSpPr txBox="1">
            <a:spLocks/>
          </p:cNvSpPr>
          <p:nvPr/>
        </p:nvSpPr>
        <p:spPr>
          <a:xfrm>
            <a:off x="633997" y="1450837"/>
            <a:ext cx="275919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400" b="1" dirty="0">
                <a:solidFill>
                  <a:schemeClr val="tx1"/>
                </a:solidFill>
              </a:rPr>
              <a:t>See Section 2 of the code </a:t>
            </a:r>
          </a:p>
        </p:txBody>
      </p:sp>
      <p:sp>
        <p:nvSpPr>
          <p:cNvPr id="11" name="Text Placeholder 5">
            <a:extLst>
              <a:ext uri="{FF2B5EF4-FFF2-40B4-BE49-F238E27FC236}">
                <a16:creationId xmlns:a16="http://schemas.microsoft.com/office/drawing/2014/main" id="{458C9126-C38C-E52F-E59F-DFEAC4559982}"/>
              </a:ext>
            </a:extLst>
          </p:cNvPr>
          <p:cNvSpPr txBox="1">
            <a:spLocks/>
          </p:cNvSpPr>
          <p:nvPr/>
        </p:nvSpPr>
        <p:spPr>
          <a:xfrm>
            <a:off x="633997" y="2632263"/>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p:txBody>
      </p:sp>
      <mc:AlternateContent xmlns:mc="http://schemas.openxmlformats.org/markup-compatibility/2006" xmlns:a14="http://schemas.microsoft.com/office/drawing/2010/main">
        <mc:Choice Requires="a14">
          <p:sp>
            <p:nvSpPr>
              <p:cNvPr id="12" name="Text Placeholder 5">
                <a:extLst>
                  <a:ext uri="{FF2B5EF4-FFF2-40B4-BE49-F238E27FC236}">
                    <a16:creationId xmlns:a16="http://schemas.microsoft.com/office/drawing/2014/main" id="{10FF2FE2-54CC-33B2-5C91-4847523F9019}"/>
                  </a:ext>
                </a:extLst>
              </p:cNvPr>
              <p:cNvSpPr txBox="1">
                <a:spLocks/>
              </p:cNvSpPr>
              <p:nvPr/>
            </p:nvSpPr>
            <p:spPr>
              <a:xfrm>
                <a:off x="7386137" y="2537856"/>
                <a:ext cx="4460649" cy="339438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rPr>
                          <m:t>𝑭</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rPr>
                          <m:t>𝑶𝒃𝒔</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lies in the </a:t>
                </a:r>
                <a:r>
                  <a:rPr lang="en-NZ" altLang="ja-JP" sz="1600" dirty="0">
                    <a:solidFill>
                      <a:prstClr val="black"/>
                    </a:solidFill>
                    <a:latin typeface="Calibri" panose="020F0502020204030204"/>
                    <a:ea typeface="游ゴシック" panose="020B0400000000000000" pitchFamily="34" charset="-128"/>
                  </a:rPr>
                  <a:t>99</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.6</a:t>
                </a:r>
                <a:r>
                  <a:rPr kumimoji="1" lang="en-NZ" altLang="ja-JP" sz="1600" b="0" i="0" u="none" strike="noStrike" kern="1200" cap="none" spc="0" normalizeH="0" baseline="30000" noProof="0" dirty="0">
                    <a:ln>
                      <a:noFill/>
                    </a:ln>
                    <a:solidFill>
                      <a:prstClr val="black"/>
                    </a:solidFill>
                    <a:effectLst/>
                    <a:uLnTx/>
                    <a:uFillTx/>
                    <a:latin typeface="Calibri" panose="020F0502020204030204"/>
                    <a:ea typeface="游ゴシック" panose="020B0400000000000000" pitchFamily="34" charset="-128"/>
                  </a:rPr>
                  <a:t>th</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percentile</a:t>
                </a:r>
                <a:r>
                  <a:rPr kumimoji="1" lang="en-NZ" altLang="ja-JP" sz="1600" b="0" i="0" u="none" strike="noStrike" kern="1200" cap="none" spc="0" normalizeH="0" noProof="0" dirty="0">
                    <a:ln>
                      <a:noFill/>
                    </a:ln>
                    <a:solidFill>
                      <a:prstClr val="black"/>
                    </a:solidFill>
                    <a:effectLst/>
                    <a:uLnTx/>
                    <a:uFillTx/>
                    <a:latin typeface="Calibri" panose="020F0502020204030204"/>
                    <a:ea typeface="游ゴシック" panose="020B0400000000000000" pitchFamily="34" charset="-128"/>
                  </a:rPr>
                  <a:t> of test statistics produced from 1,000 reordered samples.</a:t>
                </a:r>
                <a:endPar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nSpc>
                    <a:spcPct val="100000"/>
                  </a:lnSpc>
                  <a:defRPr/>
                </a:pPr>
                <a:endParaRPr lang="en-NZ" altLang="ja-JP" sz="200" dirty="0">
                  <a:solidFill>
                    <a:prstClr val="black"/>
                  </a:solidFill>
                  <a:latin typeface="Calibri" panose="020F0502020204030204"/>
                  <a:ea typeface="游ゴシック" panose="020B0400000000000000" pitchFamily="34" charset="-128"/>
                </a:endParaRPr>
              </a:p>
              <a:p>
                <a:pPr lvl="0">
                  <a:lnSpc>
                    <a:spcPct val="100000"/>
                  </a:lnSpc>
                  <a:defRPr/>
                </a:pPr>
                <a:endParaRPr kumimoji="1" lang="en-NZ" altLang="ja-JP" sz="2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endParaRPr>
              </a:p>
              <a:p>
                <a:pPr lvl="0" algn="ctr">
                  <a:lnSpc>
                    <a:spcPct val="100000"/>
                  </a:lnSpc>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rPr>
                  <a:t> </a:t>
                </a:r>
                <a14:m>
                  <m:oMath xmlns:m="http://schemas.openxmlformats.org/officeDocument/2006/math">
                    <m:r>
                      <a:rPr lang="en-NZ" altLang="ja-JP" sz="1600" b="1" i="1" smtClean="0">
                        <a:solidFill>
                          <a:prstClr val="black"/>
                        </a:solidFill>
                        <a:latin typeface="Cambria Math" panose="02040503050406030204" pitchFamily="18" charset="0"/>
                      </a:rPr>
                      <m:t>𝒑𝒗𝒂𝒍𝒖𝒆</m:t>
                    </m:r>
                    <m:r>
                      <a:rPr lang="en-NZ" altLang="ja-JP" sz="1600" b="1" i="1" smtClean="0">
                        <a:solidFill>
                          <a:prstClr val="black"/>
                        </a:solidFill>
                        <a:latin typeface="Cambria Math" panose="02040503050406030204" pitchFamily="18" charset="0"/>
                      </a:rPr>
                      <m:t>= </m:t>
                    </m:r>
                    <m:f>
                      <m:fPr>
                        <m:type m:val="lin"/>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rPr>
                        </m:ctrlPr>
                      </m:fPr>
                      <m:num>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 </m:t>
                            </m:r>
                            <m:sSup>
                              <m:sSupPr>
                                <m:ctrlPr>
                                  <a:rPr lang="en-NZ" altLang="ja-JP" sz="1600" b="1" i="1">
                                    <a:solidFill>
                                      <a:prstClr val="black"/>
                                    </a:solidFill>
                                    <a:latin typeface="Cambria Math" panose="02040503050406030204" pitchFamily="18" charset="0"/>
                                  </a:rPr>
                                </m:ctrlPr>
                              </m:sSupPr>
                              <m:e>
                                <m:r>
                                  <a:rPr lang="en-NZ" altLang="ja-JP" sz="1600" b="1" i="1">
                                    <a:solidFill>
                                      <a:prstClr val="black"/>
                                    </a:solidFill>
                                    <a:latin typeface="Cambria Math" panose="02040503050406030204" pitchFamily="18" charset="0"/>
                                  </a:rPr>
                                  <m:t>𝑭</m:t>
                                </m:r>
                              </m:e>
                              <m:sup>
                                <m:d>
                                  <m:dPr>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𝒊</m:t>
                                    </m:r>
                                  </m:e>
                                </m:d>
                              </m:sup>
                            </m:sSup>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𝑭</m:t>
                                </m:r>
                              </m:e>
                              <m:sub>
                                <m:r>
                                  <a:rPr lang="en-NZ" altLang="ja-JP" sz="1600" b="1" i="1">
                                    <a:solidFill>
                                      <a:prstClr val="black"/>
                                    </a:solidFill>
                                    <a:latin typeface="Cambria Math" panose="02040503050406030204" pitchFamily="18" charset="0"/>
                                  </a:rPr>
                                  <m:t>𝑶𝒃𝒔</m:t>
                                </m:r>
                              </m:sub>
                            </m:sSub>
                            <m:r>
                              <a:rPr lang="en-NZ" altLang="ja-JP" sz="1600" b="1" i="1">
                                <a:solidFill>
                                  <a:prstClr val="black"/>
                                </a:solidFill>
                                <a:latin typeface="Cambria Math" panose="02040503050406030204" pitchFamily="18" charset="0"/>
                              </a:rPr>
                              <m:t> </m:t>
                            </m:r>
                          </m:e>
                        </m:d>
                        <m:r>
                          <a:rPr lang="en-NZ" altLang="ja-JP" sz="1600" b="1" i="1" smtClean="0">
                            <a:solidFill>
                              <a:prstClr val="black"/>
                            </a:solidFill>
                            <a:latin typeface="Cambria Math" panose="02040503050406030204" pitchFamily="18" charset="0"/>
                          </a:rPr>
                          <m:t> </m:t>
                        </m:r>
                      </m:num>
                      <m:den>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rPr>
                          <m:t>𝑳</m:t>
                        </m:r>
                      </m:den>
                    </m:f>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𝟎</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𝟎𝟎𝟒</m:t>
                    </m:r>
                  </m:oMath>
                </a14:m>
                <a:endParaRPr lang="en-NZ" altLang="ja-JP" sz="1600" b="1" i="1" dirty="0">
                  <a:solidFill>
                    <a:srgbClr val="C00000"/>
                  </a:solidFill>
                  <a:latin typeface="Calibri" panose="020F0502020204030204"/>
                  <a:ea typeface="游ゴシック" panose="020B0400000000000000" pitchFamily="34" charset="-128"/>
                </a:endParaRPr>
              </a:p>
              <a:p>
                <a:pPr>
                  <a:lnSpc>
                    <a:spcPct val="100000"/>
                  </a:lnSpc>
                  <a:defRPr/>
                </a:pPr>
                <a:r>
                  <a:rPr lang="en-NZ" altLang="ja-JP" sz="1600" dirty="0">
                    <a:solidFill>
                      <a:prstClr val="black"/>
                    </a:solidFill>
                  </a:rPr>
                  <a:t>Permutation test yields very strong evidence against the null hypothesis that the true model is the reduced model.</a:t>
                </a:r>
              </a:p>
              <a:p>
                <a:pPr>
                  <a:lnSpc>
                    <a:spcPct val="100000"/>
                  </a:lnSpc>
                  <a:defRPr/>
                </a:pPr>
                <a:endParaRPr lang="en-NZ" altLang="ja-JP" sz="1600" dirty="0">
                  <a:solidFill>
                    <a:prstClr val="black"/>
                  </a:solidFill>
                </a:endParaRPr>
              </a:p>
              <a:p>
                <a:pPr>
                  <a:lnSpc>
                    <a:spcPct val="100000"/>
                  </a:lnSpc>
                  <a:defRPr/>
                </a:pPr>
                <a:r>
                  <a:rPr lang="en-NZ" altLang="ja-JP" sz="1600" b="1" u="sng" dirty="0">
                    <a:solidFill>
                      <a:prstClr val="black"/>
                    </a:solidFill>
                  </a:rPr>
                  <a:t>Conclusion:</a:t>
                </a:r>
                <a:br>
                  <a:rPr lang="en-NZ" altLang="ja-JP" sz="1600" dirty="0">
                    <a:solidFill>
                      <a:prstClr val="black"/>
                    </a:solidFill>
                  </a:rPr>
                </a:br>
                <a:r>
                  <a:rPr lang="en-NZ" altLang="ja-JP" sz="1600" dirty="0">
                    <a:solidFill>
                      <a:prstClr val="black"/>
                    </a:solidFill>
                  </a:rPr>
                  <a:t>At least one of the variables </a:t>
                </a:r>
                <a14:m>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𝟒</m:t>
                        </m:r>
                      </m:sub>
                    </m:sSub>
                    <m:r>
                      <a:rPr lang="en-NZ" altLang="ja-JP" sz="1600" b="0" i="0" smtClean="0">
                        <a:solidFill>
                          <a:prstClr val="black"/>
                        </a:solidFill>
                        <a:latin typeface="Cambria Math" panose="02040503050406030204" pitchFamily="18" charset="0"/>
                      </a:rPr>
                      <m:t>,  </m:t>
                    </m:r>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𝟓</m:t>
                        </m:r>
                      </m:sub>
                    </m:sSub>
                  </m:oMath>
                </a14:m>
                <a:r>
                  <a:rPr lang="en-NZ" altLang="ja-JP" sz="1600" b="1" dirty="0">
                    <a:solidFill>
                      <a:prstClr val="black"/>
                    </a:solidFill>
                  </a:rPr>
                  <a:t> </a:t>
                </a:r>
                <a:r>
                  <a:rPr lang="en-NZ" altLang="ja-JP" sz="1600" dirty="0">
                    <a:solidFill>
                      <a:prstClr val="black"/>
                    </a:solidFill>
                  </a:rPr>
                  <a:t>and </a:t>
                </a:r>
                <a14:m>
                  <m:oMath xmlns:m="http://schemas.openxmlformats.org/officeDocument/2006/math">
                    <m:sSub>
                      <m:sSubPr>
                        <m:ctrlPr>
                          <a:rPr lang="en-NZ" altLang="ja-JP" sz="1600" b="1" i="1" smtClean="0">
                            <a:solidFill>
                              <a:prstClr val="black"/>
                            </a:solidFill>
                            <a:latin typeface="Cambria Math" panose="02040503050406030204" pitchFamily="18" charset="0"/>
                          </a:rPr>
                        </m:ctrlPr>
                      </m:sSubPr>
                      <m:e>
                        <m:r>
                          <a:rPr lang="en-NZ" altLang="ja-JP" sz="1600" b="1" i="1" smtClean="0">
                            <a:solidFill>
                              <a:prstClr val="black"/>
                            </a:solidFill>
                            <a:latin typeface="Cambria Math" panose="02040503050406030204" pitchFamily="18" charset="0"/>
                          </a:rPr>
                          <m:t>𝑿</m:t>
                        </m:r>
                      </m:e>
                      <m:sub>
                        <m:r>
                          <a:rPr lang="en-NZ" altLang="ja-JP" sz="1600" b="1" i="1" smtClean="0">
                            <a:solidFill>
                              <a:prstClr val="black"/>
                            </a:solidFill>
                            <a:latin typeface="Cambria Math" panose="02040503050406030204" pitchFamily="18" charset="0"/>
                          </a:rPr>
                          <m:t>𝟔</m:t>
                        </m:r>
                      </m:sub>
                    </m:sSub>
                  </m:oMath>
                </a14:m>
                <a:r>
                  <a:rPr lang="en-NZ" altLang="ja-JP" sz="1600" b="1" dirty="0">
                    <a:solidFill>
                      <a:prstClr val="black"/>
                    </a:solidFill>
                  </a:rPr>
                  <a:t> </a:t>
                </a:r>
                <a:r>
                  <a:rPr lang="en-NZ" altLang="ja-JP" sz="1600" dirty="0">
                    <a:solidFill>
                      <a:prstClr val="black"/>
                    </a:solidFill>
                  </a:rPr>
                  <a:t>does have predictive power for the response variable </a:t>
                </a:r>
                <a:r>
                  <a:rPr lang="en-NZ" altLang="ja-JP" sz="1600" b="1" i="1" dirty="0">
                    <a:solidFill>
                      <a:prstClr val="black"/>
                    </a:solidFill>
                  </a:rPr>
                  <a:t>Y</a:t>
                </a:r>
                <a:r>
                  <a:rPr lang="en-NZ" altLang="ja-JP" sz="1600" dirty="0">
                    <a:solidFill>
                      <a:prstClr val="black"/>
                    </a:solidFill>
                  </a:rPr>
                  <a:t>.</a:t>
                </a:r>
              </a:p>
              <a:p>
                <a:pPr lvl="0">
                  <a:lnSpc>
                    <a:spcPct val="100000"/>
                  </a:lnSpc>
                  <a:defRPr/>
                </a:pPr>
                <a:endPar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endParaRPr>
              </a:p>
            </p:txBody>
          </p:sp>
        </mc:Choice>
        <mc:Fallback xmlns="">
          <p:sp>
            <p:nvSpPr>
              <p:cNvPr id="12" name="Text Placeholder 5">
                <a:extLst>
                  <a:ext uri="{FF2B5EF4-FFF2-40B4-BE49-F238E27FC236}">
                    <a16:creationId xmlns:a16="http://schemas.microsoft.com/office/drawing/2014/main" id="{10FF2FE2-54CC-33B2-5C91-4847523F9019}"/>
                  </a:ext>
                </a:extLst>
              </p:cNvPr>
              <p:cNvSpPr txBox="1">
                <a:spLocks noRot="1" noChangeAspect="1" noMove="1" noResize="1" noEditPoints="1" noAdjustHandles="1" noChangeArrowheads="1" noChangeShapeType="1" noTextEdit="1"/>
              </p:cNvSpPr>
              <p:nvPr/>
            </p:nvSpPr>
            <p:spPr>
              <a:xfrm>
                <a:off x="7386137" y="2537856"/>
                <a:ext cx="4460649" cy="3394382"/>
              </a:xfrm>
              <a:prstGeom prst="rect">
                <a:avLst/>
              </a:prstGeom>
              <a:blipFill>
                <a:blip r:embed="rId4"/>
                <a:stretch>
                  <a:fillRect l="-821" t="-53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3" name="Text Placeholder 5">
                <a:extLst>
                  <a:ext uri="{FF2B5EF4-FFF2-40B4-BE49-F238E27FC236}">
                    <a16:creationId xmlns:a16="http://schemas.microsoft.com/office/drawing/2014/main" id="{DCE0D430-1BB0-0415-4AB2-D38CAB17C8DD}"/>
                  </a:ext>
                </a:extLst>
              </p:cNvPr>
              <p:cNvSpPr txBox="1">
                <a:spLocks/>
              </p:cNvSpPr>
              <p:nvPr/>
            </p:nvSpPr>
            <p:spPr>
              <a:xfrm>
                <a:off x="633997" y="1787001"/>
                <a:ext cx="4189864" cy="69596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 xmlns:m="http://schemas.openxmlformats.org/officeDocument/2006/math">
                    <m:sSub>
                      <m:sSubPr>
                        <m:ctrlP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cs typeface="+mn-cs"/>
                          </a:rPr>
                        </m:ctrlPr>
                      </m:sSubPr>
                      <m:e>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𝑯</m:t>
                        </m:r>
                      </m:e>
                      <m: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cs typeface="+mn-cs"/>
                          </a:rPr>
                          <m:t>𝟎</m:t>
                        </m:r>
                      </m:sub>
                    </m:sSub>
                    <m:r>
                      <a:rPr kumimoji="1" lang="en-NZ" altLang="ja-JP" sz="1400" b="1" i="1" u="none" strike="noStrike" kern="1200" cap="none" spc="0" normalizeH="0" baseline="0" noProof="0" smtClean="0">
                        <a:ln>
                          <a:noFill/>
                        </a:ln>
                        <a:solidFill>
                          <a:srgbClr val="0070C0"/>
                        </a:solidFill>
                        <a:effectLst/>
                        <a:uLnTx/>
                        <a:uFillTx/>
                        <a:latin typeface="Cambria Math" panose="02040503050406030204" pitchFamily="18" charset="0"/>
                        <a:cs typeface="+mn-cs"/>
                      </a:rPr>
                      <m:t> :</m:t>
                    </m:r>
                  </m:oMath>
                </a14:m>
                <a:r>
                  <a:rPr kumimoji="1" lang="en-NZ" altLang="ja-JP" sz="1400" b="1" i="1" u="none" strike="noStrike" kern="1200" cap="none" spc="0" normalizeH="0" baseline="0" noProof="0" dirty="0">
                    <a:ln>
                      <a:noFill/>
                    </a:ln>
                    <a:solidFill>
                      <a:srgbClr val="0070C0"/>
                    </a:solidFill>
                    <a:effectLst/>
                    <a:uLnTx/>
                    <a:uFillTx/>
                    <a:latin typeface="Cambria Math" panose="02040503050406030204" pitchFamily="18" charset="0"/>
                    <a:ea typeface="游ゴシック" panose="020B0400000000000000" pitchFamily="34" charset="-128"/>
                    <a:cs typeface="+mn-cs"/>
                  </a:rPr>
                  <a:t> </a:t>
                </a:r>
                <a:r>
                  <a:rPr kumimoji="1" lang="en-NZ" altLang="ja-JP" sz="1400" b="0" i="0" u="none" strike="noStrike" kern="1200" cap="none" spc="0" normalizeH="0" baseline="0" noProof="0" dirty="0">
                    <a:ln>
                      <a:noFill/>
                    </a:ln>
                    <a:solidFill>
                      <a:srgbClr val="0070C0"/>
                    </a:solidFill>
                    <a:effectLst/>
                    <a:uLnTx/>
                    <a:uFillTx/>
                    <a:latin typeface="Cambria Math" panose="02040503050406030204" pitchFamily="18" charset="0"/>
                    <a:ea typeface="游ゴシック" panose="020B0400000000000000" pitchFamily="34" charset="-128"/>
                    <a:cs typeface="+mn-cs"/>
                  </a:rPr>
                  <a:t>The true model is the reduced model</a:t>
                </a:r>
                <a:br>
                  <a:rPr kumimoji="1" lang="en-NZ" altLang="ja-JP" sz="1400" b="1" i="1"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a:br>
                <a14:m>
                  <m:oMathPara xmlns:m="http://schemas.openxmlformats.org/officeDocument/2006/math">
                    <m:oMathParaPr>
                      <m:jc m:val="left"/>
                    </m:oMathParaPr>
                    <m:oMath xmlns:m="http://schemas.openxmlformats.org/officeDocument/2006/math">
                      <m:sSub>
                        <m:sSubPr>
                          <m:ctrlPr>
                            <a:rPr kumimoji="1" lang="en-NZ" altLang="ja-JP" sz="14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400" b="1" i="1" u="none" strike="noStrike" kern="1200" cap="none" spc="0" normalizeH="0" baseline="0" noProof="0">
                              <a:ln>
                                <a:noFill/>
                              </a:ln>
                              <a:solidFill>
                                <a:prstClr val="black"/>
                              </a:solidFill>
                              <a:effectLst/>
                              <a:uLnTx/>
                              <a:uFillTx/>
                              <a:latin typeface="Cambria Math" panose="02040503050406030204" pitchFamily="18" charset="0"/>
                              <a:cs typeface="+mn-cs"/>
                            </a:rPr>
                            <m:t>𝑯</m:t>
                          </m:r>
                        </m:e>
                        <m:sub>
                          <m:r>
                            <a:rPr kumimoji="1" lang="en-NZ" altLang="ja-JP" sz="1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b>
                      </m:sSub>
                      <m:r>
                        <a:rPr kumimoji="1" lang="en-NZ" altLang="ja-JP" sz="1400" b="1" i="1" u="none" strike="noStrike" kern="1200" cap="none" spc="0" normalizeH="0" baseline="0" noProof="0">
                          <a:ln>
                            <a:noFill/>
                          </a:ln>
                          <a:solidFill>
                            <a:prstClr val="black"/>
                          </a:solidFill>
                          <a:effectLst/>
                          <a:uLnTx/>
                          <a:uFillTx/>
                          <a:latin typeface="Cambria Math" panose="02040503050406030204" pitchFamily="18" charset="0"/>
                          <a:cs typeface="+mn-cs"/>
                        </a:rPr>
                        <m:t> :</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The</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true</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model</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is</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the</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400" b="0" i="0" u="none" strike="noStrike" kern="1200" cap="none" spc="0" normalizeH="0" baseline="0" noProof="0" dirty="0" smtClean="0">
                          <a:ln>
                            <a:noFill/>
                          </a:ln>
                          <a:solidFill>
                            <a:prstClr val="black"/>
                          </a:solidFill>
                          <a:effectLst/>
                          <a:uLnTx/>
                          <a:uFillTx/>
                          <a:latin typeface="Cambria Math" panose="02040503050406030204" pitchFamily="18" charset="0"/>
                          <a:ea typeface="游ゴシック" panose="020B0400000000000000" pitchFamily="34" charset="-128"/>
                          <a:cs typeface="+mn-cs"/>
                        </a:rPr>
                        <m:t>complete</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 </m:t>
                      </m:r>
                      <m:r>
                        <m:rPr>
                          <m:nor/>
                        </m:rPr>
                        <a:rPr kumimoji="1" lang="en-NZ" altLang="ja-JP" sz="1400" b="0" i="0" u="none" strike="noStrike" kern="1200" cap="none" spc="0" normalizeH="0" baseline="0" noProof="0" dirty="0">
                          <a:ln>
                            <a:noFill/>
                          </a:ln>
                          <a:solidFill>
                            <a:prstClr val="black"/>
                          </a:solidFill>
                          <a:effectLst/>
                          <a:uLnTx/>
                          <a:uFillTx/>
                          <a:latin typeface="Cambria Math" panose="02040503050406030204" pitchFamily="18" charset="0"/>
                          <a:ea typeface="游ゴシック" panose="020B0400000000000000" pitchFamily="34" charset="-128"/>
                          <a:cs typeface="+mn-cs"/>
                        </a:rPr>
                        <m:t>model</m:t>
                      </m:r>
                    </m:oMath>
                  </m:oMathPara>
                </a14:m>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3" name="Text Placeholder 5">
                <a:extLst>
                  <a:ext uri="{FF2B5EF4-FFF2-40B4-BE49-F238E27FC236}">
                    <a16:creationId xmlns:a16="http://schemas.microsoft.com/office/drawing/2014/main" id="{DCE0D430-1BB0-0415-4AB2-D38CAB17C8DD}"/>
                  </a:ext>
                </a:extLst>
              </p:cNvPr>
              <p:cNvSpPr txBox="1">
                <a:spLocks noRot="1" noChangeAspect="1" noMove="1" noResize="1" noEditPoints="1" noAdjustHandles="1" noChangeArrowheads="1" noChangeShapeType="1" noTextEdit="1"/>
              </p:cNvSpPr>
              <p:nvPr/>
            </p:nvSpPr>
            <p:spPr>
              <a:xfrm>
                <a:off x="633997" y="1787001"/>
                <a:ext cx="4189864" cy="695961"/>
              </a:xfrm>
              <a:prstGeom prst="rect">
                <a:avLst/>
              </a:prstGeom>
              <a:blipFill>
                <a:blip r:embed="rId5"/>
                <a:stretch>
                  <a:fillRect t="-2632"/>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7" name="Text Placeholder 5">
                <a:extLst>
                  <a:ext uri="{FF2B5EF4-FFF2-40B4-BE49-F238E27FC236}">
                    <a16:creationId xmlns:a16="http://schemas.microsoft.com/office/drawing/2014/main" id="{BF360062-87EB-7E49-06CB-BA0A3C44FCE3}"/>
                  </a:ext>
                </a:extLst>
              </p:cNvPr>
              <p:cNvSpPr txBox="1">
                <a:spLocks/>
              </p:cNvSpPr>
              <p:nvPr/>
            </p:nvSpPr>
            <p:spPr>
              <a:xfrm>
                <a:off x="3571991" y="3285010"/>
                <a:ext cx="1934769"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14:m>
                  <m:oMathPara xmlns:m="http://schemas.openxmlformats.org/officeDocument/2006/math">
                    <m:oMathParaPr>
                      <m:jc m:val="centerGroup"/>
                    </m:oMathParaPr>
                    <m:oMath xmlns:m="http://schemas.openxmlformats.org/officeDocument/2006/math">
                      <m:sSub>
                        <m:sSubPr>
                          <m:ctrlPr>
                            <a:rPr lang="en-NZ" altLang="ja-JP" sz="1600" b="1" i="1" smtClean="0">
                              <a:solidFill>
                                <a:srgbClr val="C00000"/>
                              </a:solidFill>
                              <a:latin typeface="Cambria Math" panose="02040503050406030204" pitchFamily="18" charset="0"/>
                            </a:rPr>
                          </m:ctrlPr>
                        </m:sSubPr>
                        <m:e>
                          <m:r>
                            <a:rPr lang="en-NZ" altLang="ja-JP" sz="1600" b="1" i="1" smtClean="0">
                              <a:solidFill>
                                <a:srgbClr val="C00000"/>
                              </a:solidFill>
                              <a:latin typeface="Cambria Math" panose="02040503050406030204" pitchFamily="18" charset="0"/>
                            </a:rPr>
                            <m:t>𝑭</m:t>
                          </m:r>
                        </m:e>
                        <m:sub>
                          <m:r>
                            <a:rPr lang="en-NZ" altLang="ja-JP" sz="1600" b="1" i="1" smtClean="0">
                              <a:solidFill>
                                <a:srgbClr val="C00000"/>
                              </a:solidFill>
                              <a:latin typeface="Cambria Math" panose="02040503050406030204" pitchFamily="18" charset="0"/>
                            </a:rPr>
                            <m:t>𝑶𝒃𝒔</m:t>
                          </m:r>
                        </m:sub>
                      </m:sSub>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𝟓</m:t>
                      </m:r>
                      <m:r>
                        <a:rPr lang="en-NZ" altLang="ja-JP" sz="1600" b="1" i="1" smtClean="0">
                          <a:solidFill>
                            <a:srgbClr val="C00000"/>
                          </a:solidFill>
                          <a:latin typeface="Cambria Math" panose="02040503050406030204" pitchFamily="18" charset="0"/>
                        </a:rPr>
                        <m:t>.</m:t>
                      </m:r>
                      <m:r>
                        <a:rPr lang="en-NZ" altLang="ja-JP" sz="1600" b="1" i="1" smtClean="0">
                          <a:solidFill>
                            <a:srgbClr val="C00000"/>
                          </a:solidFill>
                          <a:latin typeface="Cambria Math" panose="02040503050406030204" pitchFamily="18" charset="0"/>
                        </a:rPr>
                        <m:t>𝟎𝟖𝟗</m:t>
                      </m:r>
                    </m:oMath>
                  </m:oMathPara>
                </a14:m>
                <a:endParaRPr lang="en-NZ" altLang="ja-JP" sz="1600" b="1" dirty="0">
                  <a:solidFill>
                    <a:srgbClr val="C00000"/>
                  </a:solidFill>
                </a:endParaRPr>
              </a:p>
            </p:txBody>
          </p:sp>
        </mc:Choice>
        <mc:Fallback xmlns="">
          <p:sp>
            <p:nvSpPr>
              <p:cNvPr id="17" name="Text Placeholder 5">
                <a:extLst>
                  <a:ext uri="{FF2B5EF4-FFF2-40B4-BE49-F238E27FC236}">
                    <a16:creationId xmlns:a16="http://schemas.microsoft.com/office/drawing/2014/main" id="{BF360062-87EB-7E49-06CB-BA0A3C44FCE3}"/>
                  </a:ext>
                </a:extLst>
              </p:cNvPr>
              <p:cNvSpPr txBox="1">
                <a:spLocks noRot="1" noChangeAspect="1" noMove="1" noResize="1" noEditPoints="1" noAdjustHandles="1" noChangeArrowheads="1" noChangeShapeType="1" noTextEdit="1"/>
              </p:cNvSpPr>
              <p:nvPr/>
            </p:nvSpPr>
            <p:spPr>
              <a:xfrm>
                <a:off x="3571991" y="3285010"/>
                <a:ext cx="1934769" cy="397358"/>
              </a:xfrm>
              <a:prstGeom prst="rect">
                <a:avLst/>
              </a:prstGeom>
              <a:blipFill>
                <a:blip r:embed="rId6"/>
                <a:stretch>
                  <a:fillRect/>
                </a:stretch>
              </a:blipFill>
            </p:spPr>
            <p:txBody>
              <a:bodyPr/>
              <a:lstStyle/>
              <a:p>
                <a:r>
                  <a:rPr lang="en-NZ">
                    <a:noFill/>
                  </a:rPr>
                  <a:t> </a:t>
                </a:r>
              </a:p>
            </p:txBody>
          </p:sp>
        </mc:Fallback>
      </mc:AlternateContent>
      <p:sp>
        <p:nvSpPr>
          <p:cNvPr id="5" name="Text Placeholder 5">
            <a:extLst>
              <a:ext uri="{FF2B5EF4-FFF2-40B4-BE49-F238E27FC236}">
                <a16:creationId xmlns:a16="http://schemas.microsoft.com/office/drawing/2014/main" id="{35E17235-F438-EC93-E3E5-39755340D7A0}"/>
              </a:ext>
            </a:extLst>
          </p:cNvPr>
          <p:cNvSpPr txBox="1">
            <a:spLocks/>
          </p:cNvSpPr>
          <p:nvPr/>
        </p:nvSpPr>
        <p:spPr>
          <a:xfrm>
            <a:off x="3011606" y="6520328"/>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Associated code = </a:t>
            </a:r>
            <a:r>
              <a:rPr kumimoji="1" lang="en-NZ" altLang="ja-JP" sz="1200" b="0" i="0"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rPr>
              <a:t>Tutorial 2 – Bonus Question</a:t>
            </a:r>
            <a:endParaRPr kumimoji="1" lang="en-US" altLang="ja-JP" sz="12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1448622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4770</TotalTime>
  <Words>2332</Words>
  <Application>Microsoft Office PowerPoint</Application>
  <PresentationFormat>Widescreen</PresentationFormat>
  <Paragraphs>466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Cambria Math</vt:lpstr>
      <vt:lpstr>Coo Hew</vt:lpstr>
      <vt:lpstr>Gidole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111</cp:revision>
  <dcterms:created xsi:type="dcterms:W3CDTF">2022-02-19T23:15:01Z</dcterms:created>
  <dcterms:modified xsi:type="dcterms:W3CDTF">2022-09-18T04:02:44Z</dcterms:modified>
</cp:coreProperties>
</file>