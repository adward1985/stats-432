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6" r:id="rId29"/>
    <p:sldId id="283"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6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D13-A314-2F4F-8E56-83E4A6AE36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CDCABBBE-7A23-06B1-2C6B-179693A26C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11DA5A1F-81BC-4828-AD1E-16C1B90B9CF7}"/>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625D9281-ABC2-AB12-EFA9-4830DEFC31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CEAC1F8-1AEA-E189-73A0-45422E3B5445}"/>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173478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95A0-0508-6457-66B1-5CF6E043E35C}"/>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880B80C-9116-C6ED-FB5D-D8F6E2EF4F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124D373-E606-CAB7-82CE-6C1DC550359B}"/>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24E4B7A5-7DE8-9FC9-87EB-F824A089B50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EFEF798-732B-7C38-0F29-C24828F8EF9C}"/>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320215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1D634-78C1-2905-9CE3-EDA44330D2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86CBC8F2-A8DD-967F-EC4A-759C716F7A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2A6941-3541-FFAF-29A5-185628508896}"/>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D4782AE1-2F41-2E30-5E0A-4DB114C6F22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4BC856A-882B-C2E6-941E-FAA047293D30}"/>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3225705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06732-E4DB-7E13-C96C-1D3C784E1398}"/>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E704D0A5-3CA6-8112-DF1E-F34CA09E38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D20BEE74-7905-0812-AB5A-AE2FD5A338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4AFC5DBF-62BA-AF98-D158-9BB548794C0D}"/>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6" name="Footer Placeholder 5">
            <a:extLst>
              <a:ext uri="{FF2B5EF4-FFF2-40B4-BE49-F238E27FC236}">
                <a16:creationId xmlns:a16="http://schemas.microsoft.com/office/drawing/2014/main" id="{D18FDB74-232F-AD0C-7B17-0DCD496C0A0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D0DDAA99-CCFF-0CDB-0F85-98FD3E202D60}"/>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532010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1BE4-904E-0F0C-9EE5-6EAE2545AEC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2DAF61B-ACCE-BEC4-8858-9C6C9E8F55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D49D05-907A-1E49-AE53-D4D0ADAA9B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D9745EF-ADFB-D6A0-9B69-07DC8CCC11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51B644-B4F0-6CF0-3203-BF698106B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DCBD0212-AE41-925D-AD6D-68A2AB338EF7}"/>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8" name="Footer Placeholder 7">
            <a:extLst>
              <a:ext uri="{FF2B5EF4-FFF2-40B4-BE49-F238E27FC236}">
                <a16:creationId xmlns:a16="http://schemas.microsoft.com/office/drawing/2014/main" id="{D952217B-CE7C-83A2-65A6-4FF62168B64C}"/>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3621FC2C-76C4-1FC4-5207-7C4D8D2DBF73}"/>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2010109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89E16-6D82-712E-5B63-ACA0BDD5FD7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62BB18CF-3F15-54C7-527D-FB06C081E7A0}"/>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4" name="Footer Placeholder 3">
            <a:extLst>
              <a:ext uri="{FF2B5EF4-FFF2-40B4-BE49-F238E27FC236}">
                <a16:creationId xmlns:a16="http://schemas.microsoft.com/office/drawing/2014/main" id="{036C78AB-9FBA-4380-D3EF-1EEAEA5B005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153C88AD-572B-B0FB-4843-55E101AC6A12}"/>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358181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C681E8-D9F2-3E46-4350-353CE4434CDB}"/>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3" name="Footer Placeholder 2">
            <a:extLst>
              <a:ext uri="{FF2B5EF4-FFF2-40B4-BE49-F238E27FC236}">
                <a16:creationId xmlns:a16="http://schemas.microsoft.com/office/drawing/2014/main" id="{DC82C18B-A466-0190-8BD8-1A085FC4273B}"/>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780F30DB-74C1-8EAF-997D-2BC98AE71862}"/>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2939661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76712-BF1B-E96A-860A-9864B7BB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D019427F-870C-6C57-F85E-6E7D05625D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ACB21E6C-E3DE-AFF9-C9BD-D6FF00CBD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115640-4377-67AA-F478-F2159D17221B}"/>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6" name="Footer Placeholder 5">
            <a:extLst>
              <a:ext uri="{FF2B5EF4-FFF2-40B4-BE49-F238E27FC236}">
                <a16:creationId xmlns:a16="http://schemas.microsoft.com/office/drawing/2014/main" id="{1F824B22-B1D0-67D2-D5E4-DAE77391846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0BEDE2F-4774-EAA3-33BC-D1E657FF8946}"/>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1356659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908FB-5BEF-2EE7-D8C7-451352EB90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226CF990-C540-F141-CB09-6CF07A74FF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17238CBE-BC02-86A4-B71F-FC7DD6472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3F3AB6-A37D-0A3D-BCBF-45F71B7F629E}"/>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6" name="Footer Placeholder 5">
            <a:extLst>
              <a:ext uri="{FF2B5EF4-FFF2-40B4-BE49-F238E27FC236}">
                <a16:creationId xmlns:a16="http://schemas.microsoft.com/office/drawing/2014/main" id="{186471A9-85B6-A590-1C04-E6EB000B4D7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76C8F888-D7FD-DF49-1DE9-2E40597118CE}"/>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81923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61530-8E4C-8DD7-840D-14DA011A968D}"/>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5624CAA-3EF7-23B0-D6B9-5213A1D21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BD5BC7A-645D-DA23-1148-FD8F5574B89B}"/>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6A9AF247-28BF-FE44-A67D-2862A626CA2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A0E291D-F699-9A74-485F-0E7AEC6E9191}"/>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3651827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5CC0E9-D4DF-A319-1D48-02F4646C76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D02D18C2-D2C4-54AF-928A-3D6BF3176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406CE4C-9D8F-B4B6-0BC2-02851EC53370}"/>
              </a:ext>
            </a:extLst>
          </p:cNvPr>
          <p:cNvSpPr>
            <a:spLocks noGrp="1"/>
          </p:cNvSpPr>
          <p:nvPr>
            <p:ph type="dt" sz="half" idx="10"/>
          </p:nvPr>
        </p:nvSpPr>
        <p:spPr/>
        <p:txBody>
          <a:body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0CE6F30C-A3CC-D215-050D-5CE55CC3692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DFEAA694-B3A3-30CE-EB3E-9C5E0EF997DF}"/>
              </a:ext>
            </a:extLst>
          </p:cNvPr>
          <p:cNvSpPr>
            <a:spLocks noGrp="1"/>
          </p:cNvSpPr>
          <p:nvPr>
            <p:ph type="sldNum" sz="quarter" idx="12"/>
          </p:nvPr>
        </p:nvSpPr>
        <p:spPr/>
        <p:txBody>
          <a:bodyPr/>
          <a:lstStyle/>
          <a:p>
            <a:fld id="{B068B81B-6247-4758-8AA3-51393F4192B0}" type="slidenum">
              <a:rPr lang="en-NZ" smtClean="0"/>
              <a:t>‹#›</a:t>
            </a:fld>
            <a:endParaRPr lang="en-NZ"/>
          </a:p>
        </p:txBody>
      </p:sp>
    </p:spTree>
    <p:extLst>
      <p:ext uri="{BB962C8B-B14F-4D97-AF65-F5344CB8AC3E}">
        <p14:creationId xmlns:p14="http://schemas.microsoft.com/office/powerpoint/2010/main" val="2756721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D70AE-3201-1055-A062-AEDF0B613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CB4079F0-F96D-C024-75BF-8D30421302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54BDEB65-0CD8-6F18-1743-F82E18D02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8386AB-2D3F-4751-88F7-6481B712BD13}" type="datetimeFigureOut">
              <a:rPr lang="en-NZ" smtClean="0"/>
              <a:t>14/10/2022</a:t>
            </a:fld>
            <a:endParaRPr lang="en-NZ"/>
          </a:p>
        </p:txBody>
      </p:sp>
      <p:sp>
        <p:nvSpPr>
          <p:cNvPr id="5" name="Footer Placeholder 4">
            <a:extLst>
              <a:ext uri="{FF2B5EF4-FFF2-40B4-BE49-F238E27FC236}">
                <a16:creationId xmlns:a16="http://schemas.microsoft.com/office/drawing/2014/main" id="{674DEA12-492B-8480-3399-7D70146F70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1DE4EE42-0847-1BB0-7E29-9AF72E6EBD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68B81B-6247-4758-8AA3-51393F4192B0}" type="slidenum">
              <a:rPr lang="en-NZ" smtClean="0"/>
              <a:t>‹#›</a:t>
            </a:fld>
            <a:endParaRPr lang="en-NZ"/>
          </a:p>
        </p:txBody>
      </p:sp>
    </p:spTree>
    <p:extLst>
      <p:ext uri="{BB962C8B-B14F-4D97-AF65-F5344CB8AC3E}">
        <p14:creationId xmlns:p14="http://schemas.microsoft.com/office/powerpoint/2010/main" val="35968339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0.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1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0.png"/><Relationship Id="rId7"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1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0.png"/><Relationship Id="rId7"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0.png"/></Relationships>
</file>

<file path=ppt/slides/_rels/slide17.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30.png"/><Relationship Id="rId7" Type="http://schemas.openxmlformats.org/officeDocument/2006/relationships/image" Target="../media/image8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5.png"/><Relationship Id="rId10" Type="http://schemas.openxmlformats.org/officeDocument/2006/relationships/image" Target="../media/image83.png"/><Relationship Id="rId4" Type="http://schemas.openxmlformats.org/officeDocument/2006/relationships/image" Target="../media/image740.png"/><Relationship Id="rId9" Type="http://schemas.openxmlformats.org/officeDocument/2006/relationships/image" Target="../media/image8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6.png"/><Relationship Id="rId1" Type="http://schemas.openxmlformats.org/officeDocument/2006/relationships/slideLayout" Target="../slideLayouts/slideLayout7.xml"/><Relationship Id="rId4" Type="http://schemas.openxmlformats.org/officeDocument/2006/relationships/image" Target="../media/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8.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_rels/slide21.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10" Type="http://schemas.openxmlformats.org/officeDocument/2006/relationships/image" Target="../media/image97.png"/><Relationship Id="rId4" Type="http://schemas.openxmlformats.org/officeDocument/2006/relationships/image" Target="../media/image92.png"/><Relationship Id="rId9" Type="http://schemas.openxmlformats.org/officeDocument/2006/relationships/image" Target="../media/image95.png"/></Relationships>
</file>

<file path=ppt/slides/_rels/slide22.xml.rels><?xml version="1.0" encoding="UTF-8" standalone="yes"?>
<Relationships xmlns="http://schemas.openxmlformats.org/package/2006/relationships"><Relationship Id="rId3" Type="http://schemas.openxmlformats.org/officeDocument/2006/relationships/image" Target="../media/image91.png"/><Relationship Id="rId7" Type="http://schemas.openxmlformats.org/officeDocument/2006/relationships/image" Target="../media/image10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2.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2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020.png"/><Relationship Id="rId4" Type="http://schemas.openxmlformats.org/officeDocument/2006/relationships/image" Target="../media/image89.png"/></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580.png"/><Relationship Id="rId3" Type="http://schemas.openxmlformats.org/officeDocument/2006/relationships/image" Target="../media/image480.png"/><Relationship Id="rId7" Type="http://schemas.openxmlformats.org/officeDocument/2006/relationships/image" Target="../media/image1040.png"/><Relationship Id="rId12" Type="http://schemas.openxmlformats.org/officeDocument/2006/relationships/image" Target="../media/image57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30.png"/><Relationship Id="rId11" Type="http://schemas.openxmlformats.org/officeDocument/2006/relationships/image" Target="../media/image106.png"/><Relationship Id="rId5" Type="http://schemas.openxmlformats.org/officeDocument/2006/relationships/image" Target="../media/image50.png"/><Relationship Id="rId10" Type="http://schemas.openxmlformats.org/officeDocument/2006/relationships/image" Target="../media/image10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0.png"/></Relationships>
</file>

<file path=ppt/slides/_rels/slide28.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3500" b="1" i="0" u="sng" strike="noStrike" kern="1200" cap="none" spc="0" normalizeH="0" baseline="0" noProof="0" dirty="0">
                <a:ln>
                  <a:noFill/>
                </a:ln>
                <a:solidFill>
                  <a:prstClr val="white"/>
                </a:solidFill>
                <a:effectLst/>
                <a:uLnTx/>
                <a:uFillTx/>
                <a:latin typeface="Calibri" panose="020F0502020204030204"/>
                <a:ea typeface="+mn-ea"/>
                <a:cs typeface="+mn-cs"/>
              </a:rPr>
              <a:t>STATS 432 </a:t>
            </a:r>
            <a:br>
              <a:rPr kumimoji="0" lang="en-NZ" sz="3500" b="1"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NZ" sz="3500" b="0" i="0" u="none" strike="noStrike" kern="1200" cap="none" spc="0" normalizeH="0" baseline="0" noProof="0" dirty="0">
                <a:ln>
                  <a:noFill/>
                </a:ln>
                <a:solidFill>
                  <a:prstClr val="white"/>
                </a:solidFill>
                <a:effectLst/>
                <a:uLnTx/>
                <a:uFillTx/>
                <a:latin typeface="Calibri" panose="020F0502020204030204"/>
                <a:ea typeface="+mn-ea"/>
                <a:cs typeface="+mn-cs"/>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2800" b="0" i="0" u="none" strike="noStrike" kern="1200" cap="none" spc="0" normalizeH="0" baseline="0" noProof="0" dirty="0">
                <a:ln>
                  <a:noFill/>
                </a:ln>
                <a:solidFill>
                  <a:prstClr val="white"/>
                </a:solidFill>
                <a:effectLst/>
                <a:uLnTx/>
                <a:uFillTx/>
                <a:latin typeface="Calibri" panose="020F0502020204030204"/>
                <a:ea typeface="+mn-ea"/>
                <a:cs typeface="+mn-cs"/>
              </a:rPr>
              <a:t>Chapter 11 – Gibbs Sampling</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690336"/>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11.1 – Joint, Marginal &amp;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Conditional Distributions</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32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Joint, Marginal &amp; Conditionals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.1a – Joint, Marginal &amp; Conditionals in 2D:</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947579"/>
                <a:ext cx="1160868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two random variables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which take values in the state space </a:t>
                </a:r>
                <a14:m>
                  <m:oMath xmlns:m="http://schemas.openxmlformats.org/officeDocument/2006/math">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𝛀</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ℝ</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𝟐</m:t>
                        </m:r>
                      </m:sup>
                    </m:sSup>
                  </m:oMath>
                </a14:m>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are distributed according to the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pdf</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7" name="Text Placeholder 5">
                <a:extLst>
                  <a:ext uri="{FF2B5EF4-FFF2-40B4-BE49-F238E27FC236}">
                    <a16:creationId xmlns:a16="http://schemas.microsoft.com/office/drawing/2014/main" id="{65B06D6C-CCB3-4D8F-9171-6B4779FED53B}"/>
                  </a:ext>
                </a:extLst>
              </p:cNvPr>
              <p:cNvSpPr txBox="1">
                <a:spLocks noRot="1" noChangeAspect="1" noMove="1" noResize="1" noEditPoints="1" noAdjustHandles="1" noChangeArrowheads="1" noChangeShapeType="1" noTextEdit="1"/>
              </p:cNvSpPr>
              <p:nvPr/>
            </p:nvSpPr>
            <p:spPr>
              <a:xfrm>
                <a:off x="319463" y="947579"/>
                <a:ext cx="11608680" cy="1085938"/>
              </a:xfrm>
              <a:prstGeom prst="rect">
                <a:avLst/>
              </a:prstGeom>
              <a:blipFill>
                <a:blip r:embed="rId3"/>
                <a:stretch>
                  <a:fillRect l="-420" t="-223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27BE5A4D-8732-DE89-8A6A-8479E62277BE}"/>
                  </a:ext>
                </a:extLst>
              </p:cNvPr>
              <p:cNvSpPr txBox="1">
                <a:spLocks/>
              </p:cNvSpPr>
              <p:nvPr/>
            </p:nvSpPr>
            <p:spPr>
              <a:xfrm>
                <a:off x="319463" y="2231022"/>
                <a:ext cx="11608680"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marginal</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pdfs for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800" dirty="0">
                    <a:solidFill>
                      <a:prstClr val="black"/>
                    </a:solidFill>
                    <a:latin typeface="Calibri" panose="020F0502020204030204"/>
                    <a:ea typeface="游ゴシック" panose="020B0400000000000000" pitchFamily="34" charset="-128"/>
                  </a:rPr>
                  <a:t>can be obtained by ‘integrating out’ the unwanted variable</a:t>
                </a:r>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2" name="Text Placeholder 5">
                <a:extLst>
                  <a:ext uri="{FF2B5EF4-FFF2-40B4-BE49-F238E27FC236}">
                    <a16:creationId xmlns:a16="http://schemas.microsoft.com/office/drawing/2014/main" id="{27BE5A4D-8732-DE89-8A6A-8479E62277BE}"/>
                  </a:ext>
                </a:extLst>
              </p:cNvPr>
              <p:cNvSpPr txBox="1">
                <a:spLocks noRot="1" noChangeAspect="1" noMove="1" noResize="1" noEditPoints="1" noAdjustHandles="1" noChangeArrowheads="1" noChangeShapeType="1" noTextEdit="1"/>
              </p:cNvSpPr>
              <p:nvPr/>
            </p:nvSpPr>
            <p:spPr>
              <a:xfrm>
                <a:off x="319463" y="2231022"/>
                <a:ext cx="11608680" cy="457587"/>
              </a:xfrm>
              <a:prstGeom prst="rect">
                <a:avLst/>
              </a:prstGeom>
              <a:blipFill>
                <a:blip r:embed="rId4"/>
                <a:stretch>
                  <a:fillRect l="-420" t="-8000" b="-1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7AB648DB-775A-8831-0846-F743350BE180}"/>
                  </a:ext>
                </a:extLst>
              </p:cNvPr>
              <p:cNvSpPr txBox="1">
                <a:spLocks/>
              </p:cNvSpPr>
              <p:nvPr/>
            </p:nvSpPr>
            <p:spPr>
              <a:xfrm>
                <a:off x="474138" y="2678013"/>
                <a:ext cx="4807546"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nary>
                        <m:naryPr>
                          <m:supHide m:val="on"/>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sub>
                        <m:sup/>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e>
                      </m:nary>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3" name="Text Placeholder 5">
                <a:extLst>
                  <a:ext uri="{FF2B5EF4-FFF2-40B4-BE49-F238E27FC236}">
                    <a16:creationId xmlns:a16="http://schemas.microsoft.com/office/drawing/2014/main" id="{7AB648DB-775A-8831-0846-F743350BE180}"/>
                  </a:ext>
                </a:extLst>
              </p:cNvPr>
              <p:cNvSpPr txBox="1">
                <a:spLocks noRot="1" noChangeAspect="1" noMove="1" noResize="1" noEditPoints="1" noAdjustHandles="1" noChangeArrowheads="1" noChangeShapeType="1" noTextEdit="1"/>
              </p:cNvSpPr>
              <p:nvPr/>
            </p:nvSpPr>
            <p:spPr>
              <a:xfrm>
                <a:off x="474138" y="2678013"/>
                <a:ext cx="4807546" cy="1085938"/>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B2310848-36C0-5CFA-F3AA-696AA917468F}"/>
                  </a:ext>
                </a:extLst>
              </p:cNvPr>
              <p:cNvSpPr txBox="1">
                <a:spLocks/>
              </p:cNvSpPr>
              <p:nvPr/>
            </p:nvSpPr>
            <p:spPr>
              <a:xfrm>
                <a:off x="6481428" y="2678013"/>
                <a:ext cx="4807546"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nary>
                        <m:naryPr>
                          <m:supHide m:val="on"/>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sub>
                        <m:sup/>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e>
                      </m:nary>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8" name="Text Placeholder 5">
                <a:extLst>
                  <a:ext uri="{FF2B5EF4-FFF2-40B4-BE49-F238E27FC236}">
                    <a16:creationId xmlns:a16="http://schemas.microsoft.com/office/drawing/2014/main" id="{B2310848-36C0-5CFA-F3AA-696AA917468F}"/>
                  </a:ext>
                </a:extLst>
              </p:cNvPr>
              <p:cNvSpPr txBox="1">
                <a:spLocks noRot="1" noChangeAspect="1" noMove="1" noResize="1" noEditPoints="1" noAdjustHandles="1" noChangeArrowheads="1" noChangeShapeType="1" noTextEdit="1"/>
              </p:cNvSpPr>
              <p:nvPr/>
            </p:nvSpPr>
            <p:spPr>
              <a:xfrm>
                <a:off x="6481428" y="2678013"/>
                <a:ext cx="4807546" cy="1085938"/>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B137234A-FCD1-8CAB-C6FF-1FEA0A709B2D}"/>
                  </a:ext>
                </a:extLst>
              </p:cNvPr>
              <p:cNvSpPr txBox="1">
                <a:spLocks/>
              </p:cNvSpPr>
              <p:nvPr/>
            </p:nvSpPr>
            <p:spPr>
              <a:xfrm>
                <a:off x="299687" y="3429000"/>
                <a:ext cx="5172502"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Describes the probability of outcomes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r>
                  <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independent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b>
                    </m:sSub>
                  </m:oMath>
                </a14:m>
                <a:endPar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9" name="Text Placeholder 5">
                <a:extLst>
                  <a:ext uri="{FF2B5EF4-FFF2-40B4-BE49-F238E27FC236}">
                    <a16:creationId xmlns:a16="http://schemas.microsoft.com/office/drawing/2014/main" id="{B137234A-FCD1-8CAB-C6FF-1FEA0A709B2D}"/>
                  </a:ext>
                </a:extLst>
              </p:cNvPr>
              <p:cNvSpPr txBox="1">
                <a:spLocks noRot="1" noChangeAspect="1" noMove="1" noResize="1" noEditPoints="1" noAdjustHandles="1" noChangeArrowheads="1" noChangeShapeType="1" noTextEdit="1"/>
              </p:cNvSpPr>
              <p:nvPr/>
            </p:nvSpPr>
            <p:spPr>
              <a:xfrm>
                <a:off x="299687" y="3429000"/>
                <a:ext cx="5172502" cy="457587"/>
              </a:xfrm>
              <a:prstGeom prst="rect">
                <a:avLst/>
              </a:prstGeom>
              <a:blipFill>
                <a:blip r:embed="rId7"/>
                <a:stretch>
                  <a:fillRect t="-2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23D662F4-CEF7-3B91-A8A5-FCA5D053B7D0}"/>
                  </a:ext>
                </a:extLst>
              </p:cNvPr>
              <p:cNvSpPr txBox="1">
                <a:spLocks/>
              </p:cNvSpPr>
              <p:nvPr/>
            </p:nvSpPr>
            <p:spPr>
              <a:xfrm>
                <a:off x="6298950" y="3428999"/>
                <a:ext cx="5172502"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Describes the probability of outcomes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r>
                  <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independent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Sub>
                  </m:oMath>
                </a14:m>
                <a:endPar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23D662F4-CEF7-3B91-A8A5-FCA5D053B7D0}"/>
                  </a:ext>
                </a:extLst>
              </p:cNvPr>
              <p:cNvSpPr txBox="1">
                <a:spLocks noRot="1" noChangeAspect="1" noMove="1" noResize="1" noEditPoints="1" noAdjustHandles="1" noChangeArrowheads="1" noChangeShapeType="1" noTextEdit="1"/>
              </p:cNvSpPr>
              <p:nvPr/>
            </p:nvSpPr>
            <p:spPr>
              <a:xfrm>
                <a:off x="6298950" y="3428999"/>
                <a:ext cx="5172502" cy="457587"/>
              </a:xfrm>
              <a:prstGeom prst="rect">
                <a:avLst/>
              </a:prstGeom>
              <a:blipFill>
                <a:blip r:embed="rId8"/>
                <a:stretch>
                  <a:fillRect t="-1316"/>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D25E5824-8479-F741-9D3F-F0125DD4220D}"/>
              </a:ext>
            </a:extLst>
          </p:cNvPr>
          <p:cNvSpPr txBox="1">
            <a:spLocks/>
          </p:cNvSpPr>
          <p:nvPr/>
        </p:nvSpPr>
        <p:spPr>
          <a:xfrm>
            <a:off x="319463" y="4160665"/>
            <a:ext cx="6299701"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corresponding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conditional</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pdfs can then be obtained as*</a:t>
            </a:r>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D09206B0-9DB5-F389-E618-8AA486E6DD7B}"/>
                  </a:ext>
                </a:extLst>
              </p:cNvPr>
              <p:cNvSpPr txBox="1">
                <a:spLocks/>
              </p:cNvSpPr>
              <p:nvPr/>
            </p:nvSpPr>
            <p:spPr>
              <a:xfrm>
                <a:off x="474138" y="4626978"/>
                <a:ext cx="525002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smtClean="0">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r>
                        <a:rPr lang="en-NZ" altLang="ja-JP" sz="1800" b="1" i="1">
                          <a:solidFill>
                            <a:prstClr val="black"/>
                          </a:solidFill>
                          <a:latin typeface="Cambria Math" panose="02040503050406030204" pitchFamily="18" charset="0"/>
                        </a:rPr>
                        <m:t> </m:t>
                      </m:r>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smtClean="0">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r>
                        <a:rPr lang="en-NZ" altLang="ja-JP" sz="1800" b="1" i="1" smtClean="0">
                          <a:solidFill>
                            <a:prstClr val="black"/>
                          </a:solidFill>
                          <a:latin typeface="Cambria Math" panose="02040503050406030204" pitchFamily="18" charset="0"/>
                        </a:rPr>
                        <m:t>  =  </m:t>
                      </m:r>
                      <m:f>
                        <m:fPr>
                          <m:ctrlPr>
                            <a:rPr lang="en-NZ" altLang="ja-JP" sz="1800" b="1" i="1" smtClean="0">
                              <a:solidFill>
                                <a:prstClr val="black"/>
                              </a:solidFill>
                              <a:latin typeface="Cambria Math" panose="02040503050406030204" pitchFamily="18" charset="0"/>
                            </a:rPr>
                          </m:ctrlPr>
                        </m:fPr>
                        <m:num>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num>
                        <m:den>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den>
                      </m:f>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D09206B0-9DB5-F389-E618-8AA486E6DD7B}"/>
                  </a:ext>
                </a:extLst>
              </p:cNvPr>
              <p:cNvSpPr txBox="1">
                <a:spLocks noRot="1" noChangeAspect="1" noMove="1" noResize="1" noEditPoints="1" noAdjustHandles="1" noChangeArrowheads="1" noChangeShapeType="1" noTextEdit="1"/>
              </p:cNvSpPr>
              <p:nvPr/>
            </p:nvSpPr>
            <p:spPr>
              <a:xfrm>
                <a:off x="474138" y="4626978"/>
                <a:ext cx="5250026" cy="886221"/>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7F07AA53-89E2-37D6-7EBB-8618CE40E4FD}"/>
                  </a:ext>
                </a:extLst>
              </p:cNvPr>
              <p:cNvSpPr txBox="1">
                <a:spLocks/>
              </p:cNvSpPr>
              <p:nvPr/>
            </p:nvSpPr>
            <p:spPr>
              <a:xfrm>
                <a:off x="474138" y="5421444"/>
                <a:ext cx="5172502"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Describes the probability of outcomes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b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br>
                <a:r>
                  <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conditional on the value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b>
                    </m:sSub>
                  </m:oMath>
                </a14:m>
                <a:endPar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7F07AA53-89E2-37D6-7EBB-8618CE40E4FD}"/>
                  </a:ext>
                </a:extLst>
              </p:cNvPr>
              <p:cNvSpPr txBox="1">
                <a:spLocks noRot="1" noChangeAspect="1" noMove="1" noResize="1" noEditPoints="1" noAdjustHandles="1" noChangeArrowheads="1" noChangeShapeType="1" noTextEdit="1"/>
              </p:cNvSpPr>
              <p:nvPr/>
            </p:nvSpPr>
            <p:spPr>
              <a:xfrm>
                <a:off x="474138" y="5421444"/>
                <a:ext cx="5172502" cy="457587"/>
              </a:xfrm>
              <a:prstGeom prst="rect">
                <a:avLst/>
              </a:prstGeom>
              <a:blipFill>
                <a:blip r:embed="rId10"/>
                <a:stretch>
                  <a:fillRect t="-1333" b="-28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B69AA3DE-DE52-DCBA-8B74-D004B8B67CD2}"/>
                  </a:ext>
                </a:extLst>
              </p:cNvPr>
              <p:cNvSpPr txBox="1">
                <a:spLocks/>
              </p:cNvSpPr>
              <p:nvPr/>
            </p:nvSpPr>
            <p:spPr>
              <a:xfrm>
                <a:off x="6260188" y="4626975"/>
                <a:ext cx="525002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smtClean="0">
                                  <a:solidFill>
                                    <a:prstClr val="black"/>
                                  </a:solidFill>
                                  <a:latin typeface="Cambria Math" panose="02040503050406030204" pitchFamily="18" charset="0"/>
                                </a:rPr>
                                <m:t>𝟐</m:t>
                              </m:r>
                            </m:sub>
                          </m:sSub>
                          <m:r>
                            <a:rPr lang="en-NZ" altLang="ja-JP" sz="1800" b="1" i="1" smtClean="0">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smtClean="0">
                                  <a:solidFill>
                                    <a:prstClr val="black"/>
                                  </a:solidFill>
                                  <a:latin typeface="Cambria Math" panose="02040503050406030204" pitchFamily="18" charset="0"/>
                                </a:rPr>
                                <m:t>𝟏</m:t>
                              </m:r>
                            </m:sub>
                          </m:sSub>
                        </m:sub>
                      </m:sSub>
                      <m:r>
                        <a:rPr lang="en-NZ" altLang="ja-JP" sz="1800" b="1" i="1">
                          <a:solidFill>
                            <a:prstClr val="black"/>
                          </a:solidFill>
                          <a:latin typeface="Cambria Math" panose="02040503050406030204" pitchFamily="18" charset="0"/>
                        </a:rPr>
                        <m:t> </m:t>
                      </m:r>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𝟐</m:t>
                              </m:r>
                            </m:sub>
                          </m:sSub>
                          <m:r>
                            <a:rPr lang="en-NZ" altLang="ja-JP" sz="1800" b="1" i="1" smtClean="0">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𝟏</m:t>
                              </m:r>
                            </m:sub>
                          </m:sSub>
                        </m:e>
                      </m:d>
                      <m:r>
                        <a:rPr lang="en-NZ" altLang="ja-JP" sz="1800" b="1" i="1" smtClean="0">
                          <a:solidFill>
                            <a:prstClr val="black"/>
                          </a:solidFill>
                          <a:latin typeface="Cambria Math" panose="02040503050406030204" pitchFamily="18" charset="0"/>
                        </a:rPr>
                        <m:t>  =  </m:t>
                      </m:r>
                      <m:f>
                        <m:fPr>
                          <m:ctrlPr>
                            <a:rPr lang="en-NZ" altLang="ja-JP" sz="1800" b="1" i="1" smtClean="0">
                              <a:solidFill>
                                <a:prstClr val="black"/>
                              </a:solidFill>
                              <a:latin typeface="Cambria Math" panose="02040503050406030204" pitchFamily="18" charset="0"/>
                            </a:rPr>
                          </m:ctrlPr>
                        </m:fPr>
                        <m:num>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num>
                        <m:den>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smtClean="0">
                                      <a:solidFill>
                                        <a:prstClr val="black"/>
                                      </a:solidFill>
                                      <a:latin typeface="Cambria Math" panose="02040503050406030204" pitchFamily="18" charset="0"/>
                                    </a:rPr>
                                    <m:t>𝟏</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𝟏</m:t>
                                  </m:r>
                                </m:sub>
                              </m:sSub>
                            </m:e>
                          </m:d>
                        </m:den>
                      </m:f>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B69AA3DE-DE52-DCBA-8B74-D004B8B67CD2}"/>
                  </a:ext>
                </a:extLst>
              </p:cNvPr>
              <p:cNvSpPr txBox="1">
                <a:spLocks noRot="1" noChangeAspect="1" noMove="1" noResize="1" noEditPoints="1" noAdjustHandles="1" noChangeArrowheads="1" noChangeShapeType="1" noTextEdit="1"/>
              </p:cNvSpPr>
              <p:nvPr/>
            </p:nvSpPr>
            <p:spPr>
              <a:xfrm>
                <a:off x="6260188" y="4626975"/>
                <a:ext cx="5250026" cy="886221"/>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E1F1177-5245-FAF4-AB18-3490728C8DD5}"/>
                  </a:ext>
                </a:extLst>
              </p:cNvPr>
              <p:cNvSpPr txBox="1">
                <a:spLocks/>
              </p:cNvSpPr>
              <p:nvPr/>
            </p:nvSpPr>
            <p:spPr>
              <a:xfrm>
                <a:off x="6221426" y="5421444"/>
                <a:ext cx="5172502"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Describes the probability of outcomes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br>
                  <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br>
                <a:r>
                  <a:rPr kumimoji="1" lang="en-NZ" altLang="ja-JP" sz="14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conditional on the value  of </a:t>
                </a:r>
                <a14:m>
                  <m:oMath xmlns:m="http://schemas.openxmlformats.org/officeDocument/2006/math">
                    <m:sSub>
                      <m:sSubPr>
                        <m:ctrlP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4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𝟏</m:t>
                        </m:r>
                      </m:sub>
                    </m:sSub>
                  </m:oMath>
                </a14:m>
                <a:endParaRPr kumimoji="1" lang="en-NZ" altLang="ja-JP" sz="14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5E1F1177-5245-FAF4-AB18-3490728C8DD5}"/>
                  </a:ext>
                </a:extLst>
              </p:cNvPr>
              <p:cNvSpPr txBox="1">
                <a:spLocks noRot="1" noChangeAspect="1" noMove="1" noResize="1" noEditPoints="1" noAdjustHandles="1" noChangeArrowheads="1" noChangeShapeType="1" noTextEdit="1"/>
              </p:cNvSpPr>
              <p:nvPr/>
            </p:nvSpPr>
            <p:spPr>
              <a:xfrm>
                <a:off x="6221426" y="5421444"/>
                <a:ext cx="5172502" cy="457587"/>
              </a:xfrm>
              <a:prstGeom prst="rect">
                <a:avLst/>
              </a:prstGeom>
              <a:blipFill>
                <a:blip r:embed="rId12"/>
                <a:stretch>
                  <a:fillRect t="-1333" b="-28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747A8CF6-92BF-6858-C4A9-7AB56FA1F3D8}"/>
                  </a:ext>
                </a:extLst>
              </p:cNvPr>
              <p:cNvSpPr txBox="1">
                <a:spLocks/>
              </p:cNvSpPr>
              <p:nvPr/>
            </p:nvSpPr>
            <p:spPr>
              <a:xfrm>
                <a:off x="6337712" y="6422544"/>
                <a:ext cx="5172502" cy="2681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1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*This is just the continuous analogue of </a:t>
                </a:r>
                <a14:m>
                  <m:oMath xmlns:m="http://schemas.openxmlformats.org/officeDocument/2006/math">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𝑃</m:t>
                    </m:r>
                    <m:d>
                      <m:dPr>
                        <m:endChr m:val="|"/>
                        <m:ctrlP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dPr>
                      <m:e>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𝐴</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m:t>
                        </m:r>
                      </m:e>
                    </m:d>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𝐵</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𝑃</m:t>
                    </m:r>
                    <m:d>
                      <m:dPr>
                        <m:ctrlP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dPr>
                      <m:e>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𝐴</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𝐵</m:t>
                        </m:r>
                      </m:e>
                    </m:d>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 / </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𝑃</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𝐵</m:t>
                    </m:r>
                    <m:r>
                      <a:rPr kumimoji="1" lang="en-NZ" altLang="ja-JP" sz="11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oMath>
                </a14:m>
                <a:endParaRPr kumimoji="1" lang="en-NZ" altLang="ja-JP" sz="11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747A8CF6-92BF-6858-C4A9-7AB56FA1F3D8}"/>
                  </a:ext>
                </a:extLst>
              </p:cNvPr>
              <p:cNvSpPr txBox="1">
                <a:spLocks noRot="1" noChangeAspect="1" noMove="1" noResize="1" noEditPoints="1" noAdjustHandles="1" noChangeArrowheads="1" noChangeShapeType="1" noTextEdit="1"/>
              </p:cNvSpPr>
              <p:nvPr/>
            </p:nvSpPr>
            <p:spPr>
              <a:xfrm>
                <a:off x="6337712" y="6422544"/>
                <a:ext cx="5172502" cy="268147"/>
              </a:xfrm>
              <a:prstGeom prst="rect">
                <a:avLst/>
              </a:prstGeom>
              <a:blipFill>
                <a:blip r:embed="rId13"/>
                <a:stretch>
                  <a:fillRect b="-13636"/>
                </a:stretch>
              </a:blipFill>
            </p:spPr>
            <p:txBody>
              <a:bodyPr/>
              <a:lstStyle/>
              <a:p>
                <a:r>
                  <a:rPr lang="en-NZ">
                    <a:noFill/>
                  </a:rPr>
                  <a:t> </a:t>
                </a:r>
              </a:p>
            </p:txBody>
          </p:sp>
        </mc:Fallback>
      </mc:AlternateContent>
    </p:spTree>
    <p:extLst>
      <p:ext uri="{BB962C8B-B14F-4D97-AF65-F5344CB8AC3E}">
        <p14:creationId xmlns:p14="http://schemas.microsoft.com/office/powerpoint/2010/main" val="38359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10" grpId="0"/>
      <p:bldP spid="11" grpId="0"/>
      <p:bldP spid="12" grpId="0"/>
      <p:bldP spid="14" grpId="0"/>
      <p:bldP spid="19" grpId="0"/>
      <p:bldP spid="20"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Joint, Marginal &amp; Conditionals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.1a – Joint, Marginal &amp; Conditionals in 2D:</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947579"/>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 a specific example consider the random variables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defined by the joint pdf</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7" name="Text Placeholder 5">
                <a:extLst>
                  <a:ext uri="{FF2B5EF4-FFF2-40B4-BE49-F238E27FC236}">
                    <a16:creationId xmlns:a16="http://schemas.microsoft.com/office/drawing/2014/main" id="{65B06D6C-CCB3-4D8F-9171-6B4779FED53B}"/>
                  </a:ext>
                </a:extLst>
              </p:cNvPr>
              <p:cNvSpPr txBox="1">
                <a:spLocks noRot="1" noChangeAspect="1" noMove="1" noResize="1" noEditPoints="1" noAdjustHandles="1" noChangeArrowheads="1" noChangeShapeType="1" noTextEdit="1"/>
              </p:cNvSpPr>
              <p:nvPr/>
            </p:nvSpPr>
            <p:spPr>
              <a:xfrm>
                <a:off x="319463" y="947579"/>
                <a:ext cx="11608680" cy="365125"/>
              </a:xfrm>
              <a:prstGeom prst="rect">
                <a:avLst/>
              </a:prstGeom>
              <a:blipFill>
                <a:blip r:embed="rId3"/>
                <a:stretch>
                  <a:fillRect l="-420"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3C1968E9-1A1C-27FA-59E4-DFD3F6627C53}"/>
                  </a:ext>
                </a:extLst>
              </p:cNvPr>
              <p:cNvSpPr txBox="1">
                <a:spLocks/>
              </p:cNvSpPr>
              <p:nvPr/>
            </p:nvSpPr>
            <p:spPr>
              <a:xfrm>
                <a:off x="2143714" y="1312704"/>
                <a:ext cx="7904572"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d>
                        <m:dPr>
                          <m:begChr m:val="{"/>
                          <m:end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m>
                            <m:mPr>
                              <m:mcs>
                                <m:mc>
                                  <m:mcPr>
                                    <m:count m:val="2"/>
                                    <m:mcJc m:val="center"/>
                                  </m:mcPr>
                                </m:mc>
                              </m:mcs>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mPr>
                            <m:mr>
                              <m:e>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num>
                                  <m:den>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𝟓</m:t>
                                    </m:r>
                                  </m:den>
                                </m:f>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e>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𝑖𝑓</m:t>
                                </m:r>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0&lt;</m:t>
                                </m:r>
                                <m:sSub>
                                  <m:sSubPr>
                                    <m:ctrlPr>
                                      <a:rPr kumimoji="1" lang="en-NZ" altLang="ja-JP" sz="18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𝑥</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1</m:t>
                                    </m:r>
                                  </m:sub>
                                </m:s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180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𝑥</m:t>
                                    </m:r>
                                  </m:e>
                                  <m: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2</m:t>
                                    </m:r>
                                  </m:sub>
                                </m:sSub>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&lt;1</m:t>
                                </m:r>
                              </m:e>
                            </m:mr>
                            <m:m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e>
                                <m:r>
                                  <a:rPr kumimoji="1" lang="en-NZ" altLang="ja-JP" sz="18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𝑜𝑡h𝑒𝑟𝑤𝑖𝑠𝑒</m:t>
                                </m:r>
                              </m:e>
                            </m:mr>
                          </m:m>
                        </m:e>
                      </m:d>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13" name="Text Placeholder 5">
                <a:extLst>
                  <a:ext uri="{FF2B5EF4-FFF2-40B4-BE49-F238E27FC236}">
                    <a16:creationId xmlns:a16="http://schemas.microsoft.com/office/drawing/2014/main" id="{3C1968E9-1A1C-27FA-59E4-DFD3F6627C53}"/>
                  </a:ext>
                </a:extLst>
              </p:cNvPr>
              <p:cNvSpPr txBox="1">
                <a:spLocks noRot="1" noChangeAspect="1" noMove="1" noResize="1" noEditPoints="1" noAdjustHandles="1" noChangeArrowheads="1" noChangeShapeType="1" noTextEdit="1"/>
              </p:cNvSpPr>
              <p:nvPr/>
            </p:nvSpPr>
            <p:spPr>
              <a:xfrm>
                <a:off x="2143714" y="1312704"/>
                <a:ext cx="7904572" cy="1085938"/>
              </a:xfrm>
              <a:prstGeom prst="rect">
                <a:avLst/>
              </a:prstGeom>
              <a:blipFill>
                <a:blip r:embed="rId4"/>
                <a:stretch>
                  <a:fillRect/>
                </a:stretch>
              </a:blipFill>
            </p:spPr>
            <p:txBody>
              <a:bodyPr/>
              <a:lstStyle/>
              <a:p>
                <a:r>
                  <a:rPr lang="en-NZ">
                    <a:noFill/>
                  </a:rPr>
                  <a:t> </a:t>
                </a:r>
              </a:p>
            </p:txBody>
          </p:sp>
        </mc:Fallback>
      </mc:AlternateContent>
      <p:sp>
        <p:nvSpPr>
          <p:cNvPr id="15" name="Text Placeholder 5">
            <a:extLst>
              <a:ext uri="{FF2B5EF4-FFF2-40B4-BE49-F238E27FC236}">
                <a16:creationId xmlns:a16="http://schemas.microsoft.com/office/drawing/2014/main" id="{B2910F38-2BDA-EF3B-F54D-2FBA186DE857}"/>
              </a:ext>
            </a:extLst>
          </p:cNvPr>
          <p:cNvSpPr txBox="1">
            <a:spLocks/>
          </p:cNvSpPr>
          <p:nvPr/>
        </p:nvSpPr>
        <p:spPr>
          <a:xfrm>
            <a:off x="319463" y="2521115"/>
            <a:ext cx="629970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Using elementary integration, it can easily be shown that…</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C8880D0B-1307-7E6E-BCB9-DCECCFE3A311}"/>
                  </a:ext>
                </a:extLst>
              </p:cNvPr>
              <p:cNvSpPr txBox="1">
                <a:spLocks/>
              </p:cNvSpPr>
              <p:nvPr/>
            </p:nvSpPr>
            <p:spPr>
              <a:xfrm>
                <a:off x="263857" y="2885823"/>
                <a:ext cx="548185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𝟏𝟖</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𝟓</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𝟏𝟐</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𝟓</m:t>
                          </m:r>
                        </m:den>
                      </m:f>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p>
                      </m:sSubSup>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p:txBody>
          </p:sp>
        </mc:Choice>
        <mc:Fallback xmlns="">
          <p:sp>
            <p:nvSpPr>
              <p:cNvPr id="16" name="Text Placeholder 5">
                <a:extLst>
                  <a:ext uri="{FF2B5EF4-FFF2-40B4-BE49-F238E27FC236}">
                    <a16:creationId xmlns:a16="http://schemas.microsoft.com/office/drawing/2014/main" id="{C8880D0B-1307-7E6E-BCB9-DCECCFE3A311}"/>
                  </a:ext>
                </a:extLst>
              </p:cNvPr>
              <p:cNvSpPr txBox="1">
                <a:spLocks noRot="1" noChangeAspect="1" noMove="1" noResize="1" noEditPoints="1" noAdjustHandles="1" noChangeArrowheads="1" noChangeShapeType="1" noTextEdit="1"/>
              </p:cNvSpPr>
              <p:nvPr/>
            </p:nvSpPr>
            <p:spPr>
              <a:xfrm>
                <a:off x="263857" y="2885823"/>
                <a:ext cx="5481850" cy="1085938"/>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1D2A98E9-2EDD-D6E3-E38E-575C1E34EEC5}"/>
                  </a:ext>
                </a:extLst>
              </p:cNvPr>
              <p:cNvSpPr txBox="1">
                <a:spLocks/>
              </p:cNvSpPr>
              <p:nvPr/>
            </p:nvSpPr>
            <p:spPr>
              <a:xfrm>
                <a:off x="5862972" y="2885823"/>
                <a:ext cx="524984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𝟖</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𝟓</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𝟔</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𝟓</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p:txBody>
          </p:sp>
        </mc:Choice>
        <mc:Fallback xmlns="">
          <p:sp>
            <p:nvSpPr>
              <p:cNvPr id="17" name="Text Placeholder 5">
                <a:extLst>
                  <a:ext uri="{FF2B5EF4-FFF2-40B4-BE49-F238E27FC236}">
                    <a16:creationId xmlns:a16="http://schemas.microsoft.com/office/drawing/2014/main" id="{1D2A98E9-2EDD-D6E3-E38E-575C1E34EEC5}"/>
                  </a:ext>
                </a:extLst>
              </p:cNvPr>
              <p:cNvSpPr txBox="1">
                <a:spLocks noRot="1" noChangeAspect="1" noMove="1" noResize="1" noEditPoints="1" noAdjustHandles="1" noChangeArrowheads="1" noChangeShapeType="1" noTextEdit="1"/>
              </p:cNvSpPr>
              <p:nvPr/>
            </p:nvSpPr>
            <p:spPr>
              <a:xfrm>
                <a:off x="5862972" y="2885823"/>
                <a:ext cx="5249840" cy="1085938"/>
              </a:xfrm>
              <a:prstGeom prst="rect">
                <a:avLst/>
              </a:prstGeom>
              <a:blipFill>
                <a:blip r:embed="rId6"/>
                <a:stretch>
                  <a:fillRect/>
                </a:stretch>
              </a:blipFill>
            </p:spPr>
            <p:txBody>
              <a:bodyPr/>
              <a:lstStyle/>
              <a:p>
                <a:r>
                  <a:rPr lang="en-NZ">
                    <a:noFill/>
                  </a:rPr>
                  <a:t> </a:t>
                </a:r>
              </a:p>
            </p:txBody>
          </p:sp>
        </mc:Fallback>
      </mc:AlternateContent>
      <p:sp>
        <p:nvSpPr>
          <p:cNvPr id="18" name="Text Placeholder 5">
            <a:extLst>
              <a:ext uri="{FF2B5EF4-FFF2-40B4-BE49-F238E27FC236}">
                <a16:creationId xmlns:a16="http://schemas.microsoft.com/office/drawing/2014/main" id="{25F6E0F5-7AD0-2442-C0CA-1DE8D8BCE65B}"/>
              </a:ext>
            </a:extLst>
          </p:cNvPr>
          <p:cNvSpPr txBox="1">
            <a:spLocks/>
          </p:cNvSpPr>
          <p:nvPr/>
        </p:nvSpPr>
        <p:spPr>
          <a:xfrm>
            <a:off x="319463" y="4169323"/>
            <a:ext cx="258751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a</a:t>
            </a:r>
            <a:r>
              <a:rPr kumimoji="1" lang="en-NZ" altLang="ja-JP" sz="18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nd</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hence…</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BADC2F61-8DB6-A6BF-3FDF-C525E9AC709E}"/>
                  </a:ext>
                </a:extLst>
              </p:cNvPr>
              <p:cNvSpPr txBox="1">
                <a:spLocks/>
              </p:cNvSpPr>
              <p:nvPr/>
            </p:nvSpPr>
            <p:spPr>
              <a:xfrm>
                <a:off x="263857" y="4626978"/>
                <a:ext cx="5481851"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den>
                      </m:f>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r>
                            <a:rPr lang="en-NZ" altLang="ja-JP" sz="1600" b="1" i="1" smtClean="0">
                              <a:solidFill>
                                <a:prstClr val="black"/>
                              </a:solidFill>
                              <a:latin typeface="Cambria Math" panose="02040503050406030204" pitchFamily="18" charset="0"/>
                            </a:rPr>
                            <m:t>𝟔</m:t>
                          </m:r>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smtClean="0">
                              <a:solidFill>
                                <a:prstClr val="black"/>
                              </a:solidFill>
                              <a:latin typeface="Cambria Math" panose="02040503050406030204" pitchFamily="18" charset="0"/>
                            </a:rPr>
                            <m:t> −</m:t>
                          </m:r>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m:t>
                          </m:r>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m:t>
                          </m:r>
                        </m:num>
                        <m:den>
                          <m:r>
                            <a:rPr lang="en-NZ" altLang="ja-JP" sz="1600" b="1" i="1" smtClean="0">
                              <a:solidFill>
                                <a:prstClr val="black"/>
                              </a:solidFill>
                              <a:latin typeface="Cambria Math" panose="02040503050406030204" pitchFamily="18" charset="0"/>
                            </a:rPr>
                            <m:t>𝟒</m:t>
                          </m:r>
                          <m:r>
                            <a:rPr lang="en-NZ" altLang="ja-JP" sz="1600" b="1" i="1" smtClean="0">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𝟑</m:t>
                          </m:r>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den>
                      </m:f>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1" name="Text Placeholder 5">
                <a:extLst>
                  <a:ext uri="{FF2B5EF4-FFF2-40B4-BE49-F238E27FC236}">
                    <a16:creationId xmlns:a16="http://schemas.microsoft.com/office/drawing/2014/main" id="{BADC2F61-8DB6-A6BF-3FDF-C525E9AC709E}"/>
                  </a:ext>
                </a:extLst>
              </p:cNvPr>
              <p:cNvSpPr txBox="1">
                <a:spLocks noRot="1" noChangeAspect="1" noMove="1" noResize="1" noEditPoints="1" noAdjustHandles="1" noChangeArrowheads="1" noChangeShapeType="1" noTextEdit="1"/>
              </p:cNvSpPr>
              <p:nvPr/>
            </p:nvSpPr>
            <p:spPr>
              <a:xfrm>
                <a:off x="263857" y="4626978"/>
                <a:ext cx="5481851" cy="886221"/>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455E8107-BB03-3A49-E192-03FFB6B9387E}"/>
                  </a:ext>
                </a:extLst>
              </p:cNvPr>
              <p:cNvSpPr txBox="1">
                <a:spLocks/>
              </p:cNvSpPr>
              <p:nvPr/>
            </p:nvSpPr>
            <p:spPr>
              <a:xfrm>
                <a:off x="6260188" y="4626975"/>
                <a:ext cx="525002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den>
                      </m:f>
                      <m:r>
                        <a:rPr lang="en-NZ" altLang="ja-JP" sz="1600" b="1" i="1" smtClean="0">
                          <a:solidFill>
                            <a:prstClr val="black"/>
                          </a:solidFill>
                          <a:latin typeface="Cambria Math" panose="02040503050406030204" pitchFamily="18" charset="0"/>
                        </a:rPr>
                        <m:t> =</m:t>
                      </m:r>
                      <m:f>
                        <m:fPr>
                          <m:ctrlPr>
                            <a:rPr lang="en-NZ" altLang="ja-JP" sz="1600" b="1" i="1">
                              <a:solidFill>
                                <a:prstClr val="black"/>
                              </a:solidFill>
                              <a:latin typeface="Cambria Math" panose="02040503050406030204" pitchFamily="18" charset="0"/>
                            </a:rPr>
                          </m:ctrlPr>
                        </m:fPr>
                        <m:num>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r>
                            <a:rPr lang="en-NZ" altLang="ja-JP" sz="1600" b="1" i="1">
                              <a:solidFill>
                                <a:prstClr val="black"/>
                              </a:solidFill>
                              <a:latin typeface="Cambria Math" panose="02040503050406030204" pitchFamily="18" charset="0"/>
                            </a:rPr>
                            <m:t>)</m:t>
                          </m:r>
                        </m:num>
                        <m:den>
                          <m:r>
                            <a:rPr lang="en-NZ" altLang="ja-JP" sz="1600" b="1" i="1" smtClean="0">
                              <a:solidFill>
                                <a:prstClr val="black"/>
                              </a:solidFill>
                              <a:latin typeface="Cambria Math" panose="02040503050406030204" pitchFamily="18" charset="0"/>
                            </a:rPr>
                            <m:t>𝟑</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den>
                      </m:f>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3" name="Text Placeholder 5">
                <a:extLst>
                  <a:ext uri="{FF2B5EF4-FFF2-40B4-BE49-F238E27FC236}">
                    <a16:creationId xmlns:a16="http://schemas.microsoft.com/office/drawing/2014/main" id="{455E8107-BB03-3A49-E192-03FFB6B9387E}"/>
                  </a:ext>
                </a:extLst>
              </p:cNvPr>
              <p:cNvSpPr txBox="1">
                <a:spLocks noRot="1" noChangeAspect="1" noMove="1" noResize="1" noEditPoints="1" noAdjustHandles="1" noChangeArrowheads="1" noChangeShapeType="1" noTextEdit="1"/>
              </p:cNvSpPr>
              <p:nvPr/>
            </p:nvSpPr>
            <p:spPr>
              <a:xfrm>
                <a:off x="6260188" y="4626975"/>
                <a:ext cx="5250026" cy="886221"/>
              </a:xfrm>
              <a:prstGeom prst="rect">
                <a:avLst/>
              </a:prstGeom>
              <a:blipFill>
                <a:blip r:embed="rId8"/>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833666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21"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.1 – Joint, Marginal &amp; Conditionals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.1b – Joint, Marginal &amp; Conditionals in </a:t>
            </a:r>
            <a:r>
              <a:rPr kumimoji="1" lang="en-US" altLang="ja-JP" sz="3600" b="1" i="0" u="sng" strike="noStrike" kern="1200" cap="none" spc="0" normalizeH="0" baseline="0" noProof="0" dirty="0" err="1">
                <a:ln>
                  <a:noFill/>
                </a:ln>
                <a:solidFill>
                  <a:prstClr val="black"/>
                </a:solidFill>
                <a:effectLst/>
                <a:uLnTx/>
                <a:uFillTx/>
                <a:latin typeface="Calibri" panose="020F0502020204030204"/>
                <a:ea typeface="游ゴシック Light" panose="020B0300000000000000" pitchFamily="34" charset="-128"/>
                <a:cs typeface="+mj-cs"/>
              </a:rPr>
              <a:t>nD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947579"/>
                <a:ext cx="1160868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we have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random variables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oMath>
                </a14:m>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which take values in the state space </a:t>
                </a:r>
                <a14:m>
                  <m:oMath xmlns:m="http://schemas.openxmlformats.org/officeDocument/2006/math">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𝛀</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ℝ</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𝒑</m:t>
                        </m:r>
                      </m:sup>
                    </m:sSup>
                  </m:oMath>
                </a14:m>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are distributed </a:t>
                </a:r>
                <a:b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according to the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pdf</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e>
                      </m:d>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7" name="Text Placeholder 5">
                <a:extLst>
                  <a:ext uri="{FF2B5EF4-FFF2-40B4-BE49-F238E27FC236}">
                    <a16:creationId xmlns:a16="http://schemas.microsoft.com/office/drawing/2014/main" id="{65B06D6C-CCB3-4D8F-9171-6B4779FED53B}"/>
                  </a:ext>
                </a:extLst>
              </p:cNvPr>
              <p:cNvSpPr txBox="1">
                <a:spLocks noRot="1" noChangeAspect="1" noMove="1" noResize="1" noEditPoints="1" noAdjustHandles="1" noChangeArrowheads="1" noChangeShapeType="1" noTextEdit="1"/>
              </p:cNvSpPr>
              <p:nvPr/>
            </p:nvSpPr>
            <p:spPr>
              <a:xfrm>
                <a:off x="319463" y="947579"/>
                <a:ext cx="11608680" cy="1085938"/>
              </a:xfrm>
              <a:prstGeom prst="rect">
                <a:avLst/>
              </a:prstGeom>
              <a:blipFill>
                <a:blip r:embed="rId3"/>
                <a:stretch>
                  <a:fillRect l="-420" t="-2235"/>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 name="Text Placeholder 5">
                <a:extLst>
                  <a:ext uri="{FF2B5EF4-FFF2-40B4-BE49-F238E27FC236}">
                    <a16:creationId xmlns:a16="http://schemas.microsoft.com/office/drawing/2014/main" id="{27BE5A4D-8732-DE89-8A6A-8479E62277BE}"/>
                  </a:ext>
                </a:extLst>
              </p:cNvPr>
              <p:cNvSpPr txBox="1">
                <a:spLocks/>
              </p:cNvSpPr>
              <p:nvPr/>
            </p:nvSpPr>
            <p:spPr>
              <a:xfrm>
                <a:off x="319463" y="2684894"/>
                <a:ext cx="11608680"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marginal</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pdf for</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all variables except </a:t>
                </a:r>
                <a14:m>
                  <m:oMath xmlns:m="http://schemas.openxmlformats.org/officeDocument/2006/math">
                    <m:sSub>
                      <m:sSubPr>
                        <m:ctrlP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oMath>
                </a14:m>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can be found by integrating out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oMath>
                </a14:m>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2" name="Text Placeholder 5">
                <a:extLst>
                  <a:ext uri="{FF2B5EF4-FFF2-40B4-BE49-F238E27FC236}">
                    <a16:creationId xmlns:a16="http://schemas.microsoft.com/office/drawing/2014/main" id="{27BE5A4D-8732-DE89-8A6A-8479E62277BE}"/>
                  </a:ext>
                </a:extLst>
              </p:cNvPr>
              <p:cNvSpPr txBox="1">
                <a:spLocks noRot="1" noChangeAspect="1" noMove="1" noResize="1" noEditPoints="1" noAdjustHandles="1" noChangeArrowheads="1" noChangeShapeType="1" noTextEdit="1"/>
              </p:cNvSpPr>
              <p:nvPr/>
            </p:nvSpPr>
            <p:spPr>
              <a:xfrm>
                <a:off x="319463" y="2684894"/>
                <a:ext cx="11608680" cy="457587"/>
              </a:xfrm>
              <a:prstGeom prst="rect">
                <a:avLst/>
              </a:prstGeom>
              <a:blipFill>
                <a:blip r:embed="rId4"/>
                <a:stretch>
                  <a:fillRect l="-420" t="-6667" b="-1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7AB648DB-775A-8831-0846-F743350BE180}"/>
                  </a:ext>
                </a:extLst>
              </p:cNvPr>
              <p:cNvSpPr txBox="1">
                <a:spLocks/>
              </p:cNvSpPr>
              <p:nvPr/>
            </p:nvSpPr>
            <p:spPr>
              <a:xfrm>
                <a:off x="319463" y="3131885"/>
                <a:ext cx="11190751" cy="7422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sub>
                      </m:sSub>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𝒊</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nary>
                        <m:naryPr>
                          <m:supHide m:val="on"/>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r>
                            <m:rPr>
                              <m:brk m:alnAt="7"/>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sub>
                        <m:sup/>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𝒑</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𝒑</m:t>
                                  </m:r>
                                </m:sub>
                              </m:sSub>
                            </m:e>
                          </m:d>
                        </m:e>
                      </m:nary>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sub>
                      </m:sSub>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3" name="Text Placeholder 5">
                <a:extLst>
                  <a:ext uri="{FF2B5EF4-FFF2-40B4-BE49-F238E27FC236}">
                    <a16:creationId xmlns:a16="http://schemas.microsoft.com/office/drawing/2014/main" id="{7AB648DB-775A-8831-0846-F743350BE180}"/>
                  </a:ext>
                </a:extLst>
              </p:cNvPr>
              <p:cNvSpPr txBox="1">
                <a:spLocks noRot="1" noChangeAspect="1" noMove="1" noResize="1" noEditPoints="1" noAdjustHandles="1" noChangeArrowheads="1" noChangeShapeType="1" noTextEdit="1"/>
              </p:cNvSpPr>
              <p:nvPr/>
            </p:nvSpPr>
            <p:spPr>
              <a:xfrm>
                <a:off x="319463" y="3131885"/>
                <a:ext cx="11190751" cy="742261"/>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D25E5824-8479-F741-9D3F-F0125DD4220D}"/>
                  </a:ext>
                </a:extLst>
              </p:cNvPr>
              <p:cNvSpPr txBox="1">
                <a:spLocks/>
              </p:cNvSpPr>
              <p:nvPr/>
            </p:nvSpPr>
            <p:spPr>
              <a:xfrm>
                <a:off x="319463" y="4304838"/>
                <a:ext cx="10885349" cy="45758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conditional</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800" dirty="0">
                    <a:solidFill>
                      <a:prstClr val="black"/>
                    </a:solidFill>
                    <a:latin typeface="Calibri" panose="020F0502020204030204"/>
                    <a:ea typeface="游ゴシック" panose="020B0400000000000000" pitchFamily="34" charset="-128"/>
                  </a:rPr>
                  <a:t>distribution for </a:t>
                </a:r>
                <a14:m>
                  <m:oMath xmlns:m="http://schemas.openxmlformats.org/officeDocument/2006/math">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𝑿</m:t>
                        </m:r>
                      </m:e>
                      <m:sub>
                        <m:r>
                          <a:rPr lang="en-NZ" altLang="ja-JP" sz="1800" b="1" i="1" smtClean="0">
                            <a:solidFill>
                              <a:prstClr val="black"/>
                            </a:solidFill>
                            <a:latin typeface="Cambria Math" panose="02040503050406030204" pitchFamily="18" charset="0"/>
                            <a:ea typeface="游ゴシック" panose="020B0400000000000000" pitchFamily="34" charset="-128"/>
                          </a:rPr>
                          <m:t>𝒊</m:t>
                        </m:r>
                      </m:sub>
                    </m:sSub>
                    <m:r>
                      <a:rPr lang="en-NZ" altLang="ja-JP" sz="1800" b="1" i="1" smtClean="0">
                        <a:solidFill>
                          <a:prstClr val="black"/>
                        </a:solidFill>
                        <a:latin typeface="Cambria Math" panose="02040503050406030204" pitchFamily="18" charset="0"/>
                        <a:ea typeface="游ゴシック" panose="020B0400000000000000" pitchFamily="34" charset="-128"/>
                      </a:rPr>
                      <m:t> | </m:t>
                    </m:r>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𝑿</m:t>
                        </m:r>
                      </m:e>
                      <m:sub>
                        <m:r>
                          <a:rPr lang="en-NZ" altLang="ja-JP" sz="1800" b="1" i="1" smtClean="0">
                            <a:solidFill>
                              <a:prstClr val="black"/>
                            </a:solidFill>
                            <a:latin typeface="Cambria Math" panose="02040503050406030204" pitchFamily="18" charset="0"/>
                            <a:ea typeface="游ゴシック" panose="020B0400000000000000" pitchFamily="34" charset="-128"/>
                          </a:rPr>
                          <m:t>−</m:t>
                        </m:r>
                        <m:r>
                          <a:rPr lang="en-NZ" altLang="ja-JP" sz="1800" b="1" i="1" smtClean="0">
                            <a:solidFill>
                              <a:prstClr val="black"/>
                            </a:solidFill>
                            <a:latin typeface="Cambria Math" panose="02040503050406030204" pitchFamily="18" charset="0"/>
                            <a:ea typeface="游ゴシック" panose="020B0400000000000000" pitchFamily="34" charset="-128"/>
                          </a:rPr>
                          <m:t>𝒊</m:t>
                        </m:r>
                      </m:sub>
                    </m:sSub>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(i.e. for </a:t>
                </a:r>
                <a14:m>
                  <m:oMath xmlns:m="http://schemas.openxmlformats.org/officeDocument/2006/math">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𝒊</m:t>
                        </m:r>
                      </m:sub>
                    </m:sSub>
                  </m:oMath>
                </a14:m>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conditional on all other variables) can then be obtained as*</a:t>
                </a:r>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11" name="Text Placeholder 5">
                <a:extLst>
                  <a:ext uri="{FF2B5EF4-FFF2-40B4-BE49-F238E27FC236}">
                    <a16:creationId xmlns:a16="http://schemas.microsoft.com/office/drawing/2014/main" id="{D25E5824-8479-F741-9D3F-F0125DD4220D}"/>
                  </a:ext>
                </a:extLst>
              </p:cNvPr>
              <p:cNvSpPr txBox="1">
                <a:spLocks noRot="1" noChangeAspect="1" noMove="1" noResize="1" noEditPoints="1" noAdjustHandles="1" noChangeArrowheads="1" noChangeShapeType="1" noTextEdit="1"/>
              </p:cNvSpPr>
              <p:nvPr/>
            </p:nvSpPr>
            <p:spPr>
              <a:xfrm>
                <a:off x="319463" y="4304838"/>
                <a:ext cx="10885349" cy="457587"/>
              </a:xfrm>
              <a:prstGeom prst="rect">
                <a:avLst/>
              </a:prstGeom>
              <a:blipFill>
                <a:blip r:embed="rId6"/>
                <a:stretch>
                  <a:fillRect l="-448" t="-6667" b="-1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D09206B0-9DB5-F389-E618-8AA486E6DD7B}"/>
                  </a:ext>
                </a:extLst>
              </p:cNvPr>
              <p:cNvSpPr txBox="1">
                <a:spLocks/>
              </p:cNvSpPr>
              <p:nvPr/>
            </p:nvSpPr>
            <p:spPr>
              <a:xfrm>
                <a:off x="2170502" y="4750006"/>
                <a:ext cx="785099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smtClean="0">
                                  <a:solidFill>
                                    <a:prstClr val="black"/>
                                  </a:solidFill>
                                  <a:latin typeface="Cambria Math" panose="02040503050406030204" pitchFamily="18" charset="0"/>
                                </a:rPr>
                                <m:t>𝒊</m:t>
                              </m:r>
                            </m:sub>
                          </m:sSub>
                          <m:r>
                            <a:rPr lang="en-NZ" altLang="ja-JP" sz="1800" b="1" i="1" smtClean="0">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b>
                          </m:sSub>
                        </m:sub>
                      </m:sSub>
                      <m:r>
                        <a:rPr lang="en-NZ" altLang="ja-JP" sz="1800" b="1" i="1">
                          <a:solidFill>
                            <a:prstClr val="black"/>
                          </a:solidFill>
                          <a:latin typeface="Cambria Math" panose="02040503050406030204" pitchFamily="18" charset="0"/>
                        </a:rPr>
                        <m:t> </m:t>
                      </m:r>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𝒊</m:t>
                              </m:r>
                            </m:sub>
                          </m:sSub>
                          <m:r>
                            <a:rPr lang="en-NZ" altLang="ja-JP" sz="1800" b="1" i="1" smtClean="0">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smtClean="0">
                                  <a:solidFill>
                                    <a:prstClr val="black"/>
                                  </a:solidFill>
                                  <a:latin typeface="Cambria Math" panose="02040503050406030204" pitchFamily="18" charset="0"/>
                                </a:rPr>
                                <m:t>−</m:t>
                              </m:r>
                              <m:r>
                                <a:rPr lang="en-NZ" altLang="ja-JP" sz="1800" b="1" i="1" smtClean="0">
                                  <a:solidFill>
                                    <a:prstClr val="black"/>
                                  </a:solidFill>
                                  <a:latin typeface="Cambria Math" panose="02040503050406030204" pitchFamily="18" charset="0"/>
                                </a:rPr>
                                <m:t>𝒊</m:t>
                              </m:r>
                            </m:sub>
                          </m:sSub>
                        </m:e>
                      </m:d>
                      <m:r>
                        <a:rPr lang="en-NZ" altLang="ja-JP" sz="1800" b="1" i="1" smtClean="0">
                          <a:solidFill>
                            <a:prstClr val="black"/>
                          </a:solidFill>
                          <a:latin typeface="Cambria Math" panose="02040503050406030204" pitchFamily="18" charset="0"/>
                        </a:rPr>
                        <m:t>  =  </m:t>
                      </m:r>
                      <m:f>
                        <m:fPr>
                          <m:ctrlPr>
                            <a:rPr lang="en-NZ" altLang="ja-JP" sz="1800" b="1" i="1" smtClean="0">
                              <a:solidFill>
                                <a:prstClr val="black"/>
                              </a:solidFill>
                              <a:latin typeface="Cambria Math" panose="02040503050406030204" pitchFamily="18" charset="0"/>
                            </a:rPr>
                          </m:ctrlPr>
                        </m:fPr>
                        <m:num>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r>
                                <a:rPr lang="en-NZ" altLang="ja-JP" sz="1800" b="1" i="1" smtClean="0">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 </m:t>
                              </m:r>
                              <m:r>
                                <a:rPr lang="en-NZ" altLang="ja-JP" sz="1800" b="1" i="1" smtClean="0">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𝒑</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𝒑</m:t>
                                  </m:r>
                                </m:sub>
                              </m:sSub>
                            </m:e>
                          </m:d>
                        </m:num>
                        <m:den>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b>
                              </m:sSub>
                            </m:sub>
                          </m:sSub>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r>
                                <a:rPr lang="en-NZ" altLang="ja-JP" sz="1800" b="1" i="1">
                                  <a:solidFill>
                                    <a:prstClr val="black"/>
                                  </a:solidFill>
                                  <a:latin typeface="Cambria Math" panose="02040503050406030204" pitchFamily="18" charset="0"/>
                                </a:rPr>
                                <m:t> , …, </m:t>
                              </m:r>
                              <m:sSub>
                                <m:sSubPr>
                                  <m:ctrlPr>
                                    <a:rPr lang="en-NZ" altLang="ja-JP" sz="1800" b="1" i="1" smtClean="0">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𝒙</m:t>
                                  </m:r>
                                </m:e>
                                <m:sub>
                                  <m: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sub>
                              </m:sSub>
                              <m:r>
                                <a:rPr lang="en-NZ" altLang="ja-JP" sz="1800" b="1" i="1">
                                  <a:solidFill>
                                    <a:srgbClr val="C00000"/>
                                  </a:solidFill>
                                  <a:latin typeface="Cambria Math" panose="02040503050406030204" pitchFamily="18" charset="0"/>
                                </a:rPr>
                                <m:t>, </m:t>
                              </m:r>
                              <m:sSub>
                                <m:sSubPr>
                                  <m:ctrlPr>
                                    <a:rPr lang="en-NZ" altLang="ja-JP" sz="1800" b="1" i="1">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𝒙</m:t>
                                  </m:r>
                                </m:e>
                                <m:sub>
                                  <m:r>
                                    <a:rPr lang="en-NZ" altLang="ja-JP" sz="1800" b="1" i="1">
                                      <a:solidFill>
                                        <a:srgbClr val="C00000"/>
                                      </a:solidFill>
                                      <a:latin typeface="Cambria Math" panose="02040503050406030204" pitchFamily="18" charset="0"/>
                                    </a:rPr>
                                    <m:t>𝒊</m:t>
                                  </m:r>
                                  <m:r>
                                    <a:rPr lang="en-NZ" altLang="ja-JP" sz="1800" b="1" i="1">
                                      <a:solidFill>
                                        <a:srgbClr val="C00000"/>
                                      </a:solidFill>
                                      <a:latin typeface="Cambria Math" panose="02040503050406030204" pitchFamily="18" charset="0"/>
                                    </a:rPr>
                                    <m:t>+</m:t>
                                  </m:r>
                                  <m:r>
                                    <a:rPr lang="en-NZ" altLang="ja-JP" sz="1800" b="1" i="1">
                                      <a:solidFill>
                                        <a:srgbClr val="C00000"/>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𝒑</m:t>
                                  </m:r>
                                </m:sub>
                              </m:sSub>
                            </m:e>
                          </m:d>
                        </m:den>
                      </m:f>
                    </m:oMath>
                  </m:oMathPara>
                </a14:m>
                <a:endPar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D09206B0-9DB5-F389-E618-8AA486E6DD7B}"/>
                  </a:ext>
                </a:extLst>
              </p:cNvPr>
              <p:cNvSpPr txBox="1">
                <a:spLocks noRot="1" noChangeAspect="1" noMove="1" noResize="1" noEditPoints="1" noAdjustHandles="1" noChangeArrowheads="1" noChangeShapeType="1" noTextEdit="1"/>
              </p:cNvSpPr>
              <p:nvPr/>
            </p:nvSpPr>
            <p:spPr>
              <a:xfrm>
                <a:off x="2170502" y="4750006"/>
                <a:ext cx="7850996" cy="886221"/>
              </a:xfrm>
              <a:prstGeom prst="rect">
                <a:avLst/>
              </a:prstGeom>
              <a:blipFill>
                <a:blip r:embed="rId7"/>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2" name="Text Placeholder 5">
                <a:extLst>
                  <a:ext uri="{FF2B5EF4-FFF2-40B4-BE49-F238E27FC236}">
                    <a16:creationId xmlns:a16="http://schemas.microsoft.com/office/drawing/2014/main" id="{747A8CF6-92BF-6858-C4A9-7AB56FA1F3D8}"/>
                  </a:ext>
                </a:extLst>
              </p:cNvPr>
              <p:cNvSpPr txBox="1">
                <a:spLocks/>
              </p:cNvSpPr>
              <p:nvPr/>
            </p:nvSpPr>
            <p:spPr>
              <a:xfrm>
                <a:off x="6337712" y="6422544"/>
                <a:ext cx="5172502" cy="26814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1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a:t>
                </a:r>
                <a14:m>
                  <m:oMath xmlns:m="http://schemas.openxmlformats.org/officeDocument/2006/math">
                    <m:sSub>
                      <m:sSubPr>
                        <m:ctrlP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m:t>
                        </m:r>
                        <m: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sub>
                    </m:sSub>
                  </m:oMath>
                </a14:m>
                <a:r>
                  <a:rPr kumimoji="1" lang="en-NZ" altLang="ja-JP" sz="11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r>
                  <a:rPr kumimoji="1" lang="en-NZ" altLang="ja-JP" sz="11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is shorthand notation for all variables </a:t>
                </a:r>
                <a:r>
                  <a:rPr kumimoji="1" lang="en-NZ" altLang="ja-JP" sz="11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except</a:t>
                </a:r>
                <a:r>
                  <a:rPr kumimoji="1" lang="en-NZ" altLang="ja-JP" sz="110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100" b="1" i="1" u="none" strike="noStrike" kern="1200" cap="none" spc="0" normalizeH="0" baseline="0" noProof="0" smtClean="0">
                            <a:ln>
                              <a:noFill/>
                            </a:ln>
                            <a:solidFill>
                              <a:schemeClr val="bg2">
                                <a:lumMod val="50000"/>
                              </a:schemeClr>
                            </a:solidFill>
                            <a:effectLst/>
                            <a:uLnTx/>
                            <a:uFillTx/>
                            <a:latin typeface="Cambria Math" panose="02040503050406030204" pitchFamily="18" charset="0"/>
                            <a:ea typeface="游ゴシック" panose="020B0400000000000000" pitchFamily="34" charset="-128"/>
                            <a:cs typeface="+mn-cs"/>
                          </a:rPr>
                          <m:t>𝒊</m:t>
                        </m:r>
                      </m:sub>
                    </m:sSub>
                  </m:oMath>
                </a14:m>
                <a:endParaRPr kumimoji="1" lang="en-NZ" altLang="ja-JP" sz="11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22" name="Text Placeholder 5">
                <a:extLst>
                  <a:ext uri="{FF2B5EF4-FFF2-40B4-BE49-F238E27FC236}">
                    <a16:creationId xmlns:a16="http://schemas.microsoft.com/office/drawing/2014/main" id="{747A8CF6-92BF-6858-C4A9-7AB56FA1F3D8}"/>
                  </a:ext>
                </a:extLst>
              </p:cNvPr>
              <p:cNvSpPr txBox="1">
                <a:spLocks noRot="1" noChangeAspect="1" noMove="1" noResize="1" noEditPoints="1" noAdjustHandles="1" noChangeArrowheads="1" noChangeShapeType="1" noTextEdit="1"/>
              </p:cNvSpPr>
              <p:nvPr/>
            </p:nvSpPr>
            <p:spPr>
              <a:xfrm>
                <a:off x="6337712" y="6422544"/>
                <a:ext cx="5172502" cy="268147"/>
              </a:xfrm>
              <a:prstGeom prst="rect">
                <a:avLst/>
              </a:prstGeom>
              <a:blipFill>
                <a:blip r:embed="rId8"/>
                <a:stretch>
                  <a:fillRect b="-13636"/>
                </a:stretch>
              </a:blipFill>
            </p:spPr>
            <p:txBody>
              <a:bodyPr/>
              <a:lstStyle/>
              <a:p>
                <a:r>
                  <a:rPr lang="en-NZ">
                    <a:noFill/>
                  </a:rPr>
                  <a:t> </a:t>
                </a:r>
              </a:p>
            </p:txBody>
          </p:sp>
        </mc:Fallback>
      </mc:AlternateContent>
    </p:spTree>
    <p:extLst>
      <p:ext uri="{BB962C8B-B14F-4D97-AF65-F5344CB8AC3E}">
        <p14:creationId xmlns:p14="http://schemas.microsoft.com/office/powerpoint/2010/main" val="2622831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p:bldP spid="12"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303658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11.2 – A Motivating Example</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02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Motivating Example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 – Motivating</a:t>
            </a:r>
            <a:r>
              <a:rPr lang="en-US" altLang="ja-JP" b="1" u="sng" dirty="0">
                <a:solidFill>
                  <a:prstClr val="black"/>
                </a:solidFill>
                <a:latin typeface="Calibri" panose="020F0502020204030204"/>
                <a:ea typeface="游ゴシック Light" panose="020B0300000000000000" pitchFamily="34" charset="-128"/>
              </a:rPr>
              <a:t>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A5AA6E49-16FC-CADB-49FF-5D5C1094D17D}"/>
                  </a:ext>
                </a:extLst>
              </p:cNvPr>
              <p:cNvSpPr txBox="1">
                <a:spLocks/>
              </p:cNvSpPr>
              <p:nvPr/>
            </p:nvSpPr>
            <p:spPr>
              <a:xfrm>
                <a:off x="319464" y="875834"/>
                <a:ext cx="61222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Consider the random variables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defined by the joint pdf…</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A5AA6E49-16FC-CADB-49FF-5D5C1094D17D}"/>
                  </a:ext>
                </a:extLst>
              </p:cNvPr>
              <p:cNvSpPr txBox="1">
                <a:spLocks noRot="1" noChangeAspect="1" noMove="1" noResize="1" noEditPoints="1" noAdjustHandles="1" noChangeArrowheads="1" noChangeShapeType="1" noTextEdit="1"/>
              </p:cNvSpPr>
              <p:nvPr/>
            </p:nvSpPr>
            <p:spPr>
              <a:xfrm>
                <a:off x="319464" y="875834"/>
                <a:ext cx="6122280" cy="365125"/>
              </a:xfrm>
              <a:prstGeom prst="rect">
                <a:avLst/>
              </a:prstGeom>
              <a:blipFill>
                <a:blip r:embed="rId3"/>
                <a:stretch>
                  <a:fillRect l="-498" t="-5000" b="-1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6418E941-EAF8-84CD-BC11-A803385CB738}"/>
                  </a:ext>
                </a:extLst>
              </p:cNvPr>
              <p:cNvSpPr txBox="1">
                <a:spLocks/>
              </p:cNvSpPr>
              <p:nvPr/>
            </p:nvSpPr>
            <p:spPr>
              <a:xfrm>
                <a:off x="528221" y="1312703"/>
                <a:ext cx="5138118"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mPr>
                            <m:m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𝟒</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𝒊𝒇</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ba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r>
                                  <m:rPr>
                                    <m:lit/>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e>
                            </m:mr>
                            <m:m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e>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𝒐𝒕𝒉𝒆𝒓𝒘𝒊𝒔𝒆</m:t>
                                </m:r>
                              </m:e>
                            </m:mr>
                          </m:m>
                        </m:e>
                      </m:d>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9" name="Text Placeholder 5">
                <a:extLst>
                  <a:ext uri="{FF2B5EF4-FFF2-40B4-BE49-F238E27FC236}">
                    <a16:creationId xmlns:a16="http://schemas.microsoft.com/office/drawing/2014/main" id="{6418E941-EAF8-84CD-BC11-A803385CB738}"/>
                  </a:ext>
                </a:extLst>
              </p:cNvPr>
              <p:cNvSpPr txBox="1">
                <a:spLocks noRot="1" noChangeAspect="1" noMove="1" noResize="1" noEditPoints="1" noAdjustHandles="1" noChangeArrowheads="1" noChangeShapeType="1" noTextEdit="1"/>
              </p:cNvSpPr>
              <p:nvPr/>
            </p:nvSpPr>
            <p:spPr>
              <a:xfrm>
                <a:off x="528221" y="1312703"/>
                <a:ext cx="5138118" cy="1085938"/>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CC8BA3DE-B7EE-35B6-381D-7B8F1EC9415C}"/>
                  </a:ext>
                </a:extLst>
              </p:cNvPr>
              <p:cNvSpPr txBox="1">
                <a:spLocks/>
              </p:cNvSpPr>
              <p:nvPr/>
            </p:nvSpPr>
            <p:spPr>
              <a:xfrm>
                <a:off x="319463" y="2092900"/>
                <a:ext cx="555563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where </a:t>
                </a:r>
                <a14:m>
                  <m:oMath xmlns:m="http://schemas.openxmlformats.org/officeDocument/2006/math">
                    <m:r>
                      <a:rPr kumimoji="1" lang="en-NZ" altLang="ja-JP" sz="16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ℝ</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𝟐</m:t>
                        </m:r>
                      </m:sup>
                    </m:sSup>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the region defined by </a:t>
                </a:r>
              </a:p>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−∞&lt;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&lt;∞</m:t>
                    </m:r>
                  </m:oMath>
                </a14:m>
                <a:r>
                  <a:rPr kumimoji="1" lang="en-US"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&lt;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&lt;</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𝒆</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e>
                        </m:d>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oMath>
                </a14:m>
                <a:endParaRPr kumimoji="1" lang="en-US"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CC8BA3DE-B7EE-35B6-381D-7B8F1EC9415C}"/>
                  </a:ext>
                </a:extLst>
              </p:cNvPr>
              <p:cNvSpPr txBox="1">
                <a:spLocks noRot="1" noChangeAspect="1" noMove="1" noResize="1" noEditPoints="1" noAdjustHandles="1" noChangeArrowheads="1" noChangeShapeType="1" noTextEdit="1"/>
              </p:cNvSpPr>
              <p:nvPr/>
            </p:nvSpPr>
            <p:spPr>
              <a:xfrm>
                <a:off x="319463" y="2092900"/>
                <a:ext cx="5555634" cy="365125"/>
              </a:xfrm>
              <a:prstGeom prst="rect">
                <a:avLst/>
              </a:prstGeom>
              <a:blipFill>
                <a:blip r:embed="rId5"/>
                <a:stretch>
                  <a:fillRect l="-548" t="-3333" b="-86667"/>
                </a:stretch>
              </a:blipFill>
            </p:spPr>
            <p:txBody>
              <a:bodyPr/>
              <a:lstStyle/>
              <a:p>
                <a:r>
                  <a:rPr lang="en-NZ">
                    <a:noFill/>
                  </a:rPr>
                  <a:t> </a:t>
                </a:r>
              </a:p>
            </p:txBody>
          </p:sp>
        </mc:Fallback>
      </mc:AlternateContent>
      <p:pic>
        <p:nvPicPr>
          <p:cNvPr id="14" name="Picture 13">
            <a:extLst>
              <a:ext uri="{FF2B5EF4-FFF2-40B4-BE49-F238E27FC236}">
                <a16:creationId xmlns:a16="http://schemas.microsoft.com/office/drawing/2014/main" id="{CA883F14-E62B-C6C0-346A-7847F06F855F}"/>
              </a:ext>
            </a:extLst>
          </p:cNvPr>
          <p:cNvPicPr>
            <a:picLocks noChangeAspect="1"/>
          </p:cNvPicPr>
          <p:nvPr/>
        </p:nvPicPr>
        <p:blipFill>
          <a:blip r:embed="rId6"/>
          <a:stretch>
            <a:fillRect/>
          </a:stretch>
        </p:blipFill>
        <p:spPr>
          <a:xfrm>
            <a:off x="6316902" y="591775"/>
            <a:ext cx="5555634" cy="2617997"/>
          </a:xfrm>
          <a:prstGeom prst="rect">
            <a:avLst/>
          </a:prstGeom>
        </p:spPr>
      </p:pic>
      <p:cxnSp>
        <p:nvCxnSpPr>
          <p:cNvPr id="16" name="Straight Connector 15">
            <a:extLst>
              <a:ext uri="{FF2B5EF4-FFF2-40B4-BE49-F238E27FC236}">
                <a16:creationId xmlns:a16="http://schemas.microsoft.com/office/drawing/2014/main" id="{339BEF7E-A362-C6F7-E444-8526C0C5254F}"/>
              </a:ext>
            </a:extLst>
          </p:cNvPr>
          <p:cNvCxnSpPr>
            <a:cxnSpLocks/>
          </p:cNvCxnSpPr>
          <p:nvPr/>
        </p:nvCxnSpPr>
        <p:spPr>
          <a:xfrm>
            <a:off x="9217549" y="774337"/>
            <a:ext cx="0" cy="2121532"/>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67744198-36CD-55A5-E8D1-4BC39C788ED4}"/>
                  </a:ext>
                </a:extLst>
              </p:cNvPr>
              <p:cNvSpPr txBox="1">
                <a:spLocks/>
              </p:cNvSpPr>
              <p:nvPr/>
            </p:nvSpPr>
            <p:spPr>
              <a:xfrm>
                <a:off x="319463" y="4978552"/>
                <a:ext cx="6613599" cy="9196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problem is, no matter how small we choose </a:t>
                </a:r>
                <a14:m>
                  <m:oMath xmlns:m="http://schemas.openxmlformats.org/officeDocument/2006/math">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to be,</a:t>
                </a:r>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some point it will be many orders of magnitude greater than </a:t>
                </a:r>
                <a14:m>
                  <m:oMath xmlns:m="http://schemas.openxmlformats.org/officeDocument/2006/math">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𝒆</m:t>
                        </m:r>
                      </m:e>
                      <m:sup>
                        <m:r>
                          <a:rPr lang="en-NZ" altLang="ja-JP" sz="1600" b="1" i="1">
                            <a:solidFill>
                              <a:prstClr val="black"/>
                            </a:solidFill>
                            <a:latin typeface="Cambria Math" panose="02040503050406030204" pitchFamily="18" charset="0"/>
                          </a:rPr>
                          <m:t>−</m:t>
                        </m:r>
                        <m:d>
                          <m:dPr>
                            <m:begChr m:val="|"/>
                            <m:endChr m:val="|"/>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e>
                        </m:d>
                      </m:sup>
                    </m:sSup>
                    <m:r>
                      <a:rPr lang="en-NZ" altLang="ja-JP" sz="1600" b="1" i="1">
                        <a:solidFill>
                          <a:prstClr val="black"/>
                        </a:solidFill>
                        <a:latin typeface="Cambria Math" panose="02040503050406030204" pitchFamily="18" charset="0"/>
                      </a:rPr>
                      <m:t> </m:t>
                    </m:r>
                  </m:oMath>
                </a14:m>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p>
              <a:p>
                <a:pPr lvl="0">
                  <a:lnSpc>
                    <a:spcPct val="100000"/>
                  </a:lnSpc>
                  <a:defRPr/>
                </a:pPr>
                <a:endParaRPr lang="en-NZ" altLang="ja-JP" sz="200" dirty="0">
                  <a:solidFill>
                    <a:prstClr val="black"/>
                  </a:solidFill>
                  <a:latin typeface="Calibri" panose="020F0502020204030204"/>
                  <a:ea typeface="游ゴシック" panose="020B0400000000000000" pitchFamily="34" charset="-128"/>
                </a:endParaRPr>
              </a:p>
              <a:p>
                <a:pPr lvl="0">
                  <a:lnSpc>
                    <a:spcPct val="100000"/>
                  </a:lnSpc>
                  <a:defRPr/>
                </a:pPr>
                <a:endParaRPr lang="en-NZ" altLang="ja-JP" sz="200" dirty="0">
                  <a:solidFill>
                    <a:prstClr val="black"/>
                  </a:solidFill>
                  <a:latin typeface="Calibri" panose="020F0502020204030204"/>
                  <a:ea typeface="游ゴシック" panose="020B0400000000000000" pitchFamily="34" charset="-128"/>
                </a:endParaRPr>
              </a:p>
              <a:p>
                <a:pPr lvl="0">
                  <a:lnSpc>
                    <a:spcPct val="100000"/>
                  </a:lnSpc>
                  <a:defRPr/>
                </a:pPr>
                <a:endParaRPr lang="en-NZ" altLang="ja-JP" sz="200" dirty="0">
                  <a:solidFill>
                    <a:prstClr val="black"/>
                  </a:solidFill>
                  <a:latin typeface="Calibri" panose="020F0502020204030204"/>
                  <a:ea typeface="游ゴシック" panose="020B0400000000000000" pitchFamily="34" charset="-128"/>
                </a:endParaRPr>
              </a:p>
              <a:p>
                <a:pPr lvl="0">
                  <a:lnSpc>
                    <a:spcPct val="100000"/>
                  </a:lnSpc>
                  <a:defRPr/>
                </a:pPr>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Hence the chain constructed will have difficulties ‘getting into the corners’ of the distribution.</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67744198-36CD-55A5-E8D1-4BC39C788ED4}"/>
                  </a:ext>
                </a:extLst>
              </p:cNvPr>
              <p:cNvSpPr txBox="1">
                <a:spLocks noRot="1" noChangeAspect="1" noMove="1" noResize="1" noEditPoints="1" noAdjustHandles="1" noChangeArrowheads="1" noChangeShapeType="1" noTextEdit="1"/>
              </p:cNvSpPr>
              <p:nvPr/>
            </p:nvSpPr>
            <p:spPr>
              <a:xfrm>
                <a:off x="319463" y="4978552"/>
                <a:ext cx="6613599" cy="919690"/>
              </a:xfrm>
              <a:prstGeom prst="rect">
                <a:avLst/>
              </a:prstGeom>
              <a:blipFill>
                <a:blip r:embed="rId7"/>
                <a:stretch>
                  <a:fillRect l="-461" r="-1106" b="-3774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76680A65-805C-936B-F336-A28E15E5A994}"/>
                  </a:ext>
                </a:extLst>
              </p:cNvPr>
              <p:cNvSpPr txBox="1">
                <a:spLocks/>
              </p:cNvSpPr>
              <p:nvPr/>
            </p:nvSpPr>
            <p:spPr>
              <a:xfrm>
                <a:off x="8355973" y="2357205"/>
                <a:ext cx="73874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5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𝛀</m:t>
                      </m:r>
                    </m:oMath>
                  </m:oMathPara>
                </a14:m>
                <a:endParaRPr kumimoji="1" lang="en-NZ" altLang="ja-JP" sz="25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2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p:txBody>
          </p:sp>
        </mc:Choice>
        <mc:Fallback xmlns="">
          <p:sp>
            <p:nvSpPr>
              <p:cNvPr id="20" name="Text Placeholder 5">
                <a:extLst>
                  <a:ext uri="{FF2B5EF4-FFF2-40B4-BE49-F238E27FC236}">
                    <a16:creationId xmlns:a16="http://schemas.microsoft.com/office/drawing/2014/main" id="{76680A65-805C-936B-F336-A28E15E5A994}"/>
                  </a:ext>
                </a:extLst>
              </p:cNvPr>
              <p:cNvSpPr txBox="1">
                <a:spLocks noRot="1" noChangeAspect="1" noMove="1" noResize="1" noEditPoints="1" noAdjustHandles="1" noChangeArrowheads="1" noChangeShapeType="1" noTextEdit="1"/>
              </p:cNvSpPr>
              <p:nvPr/>
            </p:nvSpPr>
            <p:spPr>
              <a:xfrm>
                <a:off x="8355973" y="2357205"/>
                <a:ext cx="738746" cy="365125"/>
              </a:xfrm>
              <a:prstGeom prst="rect">
                <a:avLst/>
              </a:prstGeom>
              <a:blipFill>
                <a:blip r:embed="rId8"/>
                <a:stretch>
                  <a:fillRect b="-2333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8FD030FB-B3CF-C832-9BC9-EDC6D28A94A3}"/>
                  </a:ext>
                </a:extLst>
              </p:cNvPr>
              <p:cNvSpPr txBox="1">
                <a:spLocks/>
              </p:cNvSpPr>
              <p:nvPr/>
            </p:nvSpPr>
            <p:spPr>
              <a:xfrm>
                <a:off x="1085090" y="4027909"/>
                <a:ext cx="2546003" cy="4720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using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e>
                        </m:d>
                      </m:sup>
                    </m:sSub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8FD030FB-B3CF-C832-9BC9-EDC6D28A94A3}"/>
                  </a:ext>
                </a:extLst>
              </p:cNvPr>
              <p:cNvSpPr txBox="1">
                <a:spLocks noRot="1" noChangeAspect="1" noMove="1" noResize="1" noEditPoints="1" noAdjustHandles="1" noChangeArrowheads="1" noChangeShapeType="1" noTextEdit="1"/>
              </p:cNvSpPr>
              <p:nvPr/>
            </p:nvSpPr>
            <p:spPr>
              <a:xfrm>
                <a:off x="1085090" y="4027909"/>
                <a:ext cx="2546003" cy="472014"/>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89ADEC4A-FBEB-D9F0-00BE-402C3C2906E1}"/>
                  </a:ext>
                </a:extLst>
              </p:cNvPr>
              <p:cNvSpPr txBox="1">
                <a:spLocks/>
              </p:cNvSpPr>
              <p:nvPr/>
            </p:nvSpPr>
            <p:spPr>
              <a:xfrm>
                <a:off x="4822998" y="4019770"/>
                <a:ext cx="2546003" cy="47201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using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𝑵</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e>
                        </m:d>
                      </m:sup>
                    </m:sSub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89ADEC4A-FBEB-D9F0-00BE-402C3C2906E1}"/>
                  </a:ext>
                </a:extLst>
              </p:cNvPr>
              <p:cNvSpPr txBox="1">
                <a:spLocks noRot="1" noChangeAspect="1" noMove="1" noResize="1" noEditPoints="1" noAdjustHandles="1" noChangeArrowheads="1" noChangeShapeType="1" noTextEdit="1"/>
              </p:cNvSpPr>
              <p:nvPr/>
            </p:nvSpPr>
            <p:spPr>
              <a:xfrm>
                <a:off x="4822998" y="4019770"/>
                <a:ext cx="2546003" cy="472014"/>
              </a:xfrm>
              <a:prstGeom prst="rect">
                <a:avLst/>
              </a:prstGeom>
              <a:blipFill>
                <a:blip r:embed="rId10"/>
                <a:stretch>
                  <a:fillRect/>
                </a:stretch>
              </a:blipFill>
            </p:spPr>
            <p:txBody>
              <a:bodyPr/>
              <a:lstStyle/>
              <a:p>
                <a:r>
                  <a:rPr lang="en-NZ">
                    <a:noFill/>
                  </a:rPr>
                  <a:t> </a:t>
                </a:r>
              </a:p>
            </p:txBody>
          </p:sp>
        </mc:Fallback>
      </mc:AlternateContent>
      <p:sp>
        <p:nvSpPr>
          <p:cNvPr id="25" name="Text Placeholder 5">
            <a:extLst>
              <a:ext uri="{FF2B5EF4-FFF2-40B4-BE49-F238E27FC236}">
                <a16:creationId xmlns:a16="http://schemas.microsoft.com/office/drawing/2014/main" id="{C89D37B6-52A0-00D9-6AF5-704FC83B292F}"/>
              </a:ext>
            </a:extLst>
          </p:cNvPr>
          <p:cNvSpPr txBox="1">
            <a:spLocks/>
          </p:cNvSpPr>
          <p:nvPr/>
        </p:nvSpPr>
        <p:spPr>
          <a:xfrm>
            <a:off x="3848198" y="4080485"/>
            <a:ext cx="757695" cy="4954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p>
        </p:txBody>
      </p:sp>
      <p:sp>
        <p:nvSpPr>
          <p:cNvPr id="26" name="Text Placeholder 5">
            <a:extLst>
              <a:ext uri="{FF2B5EF4-FFF2-40B4-BE49-F238E27FC236}">
                <a16:creationId xmlns:a16="http://schemas.microsoft.com/office/drawing/2014/main" id="{E1F15C7C-2E98-08DE-3E60-C2733C29D702}"/>
              </a:ext>
            </a:extLst>
          </p:cNvPr>
          <p:cNvSpPr txBox="1">
            <a:spLocks/>
          </p:cNvSpPr>
          <p:nvPr/>
        </p:nvSpPr>
        <p:spPr>
          <a:xfrm>
            <a:off x="319463" y="3491020"/>
            <a:ext cx="11705473"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Consider trying to obtain a sample of observations drawn from this distribution using a 2D normal random walk sampler within the context of the Metropolis-Hastings algorithm. We may attempt to propose new states of the chain</a:t>
            </a:r>
          </a:p>
        </p:txBody>
      </p:sp>
      <p:pic>
        <p:nvPicPr>
          <p:cNvPr id="35" name="Picture 34">
            <a:extLst>
              <a:ext uri="{FF2B5EF4-FFF2-40B4-BE49-F238E27FC236}">
                <a16:creationId xmlns:a16="http://schemas.microsoft.com/office/drawing/2014/main" id="{64E54A9B-959C-5129-5775-BB5EBD625903}"/>
              </a:ext>
            </a:extLst>
          </p:cNvPr>
          <p:cNvPicPr>
            <a:picLocks noChangeAspect="1"/>
          </p:cNvPicPr>
          <p:nvPr/>
        </p:nvPicPr>
        <p:blipFill>
          <a:blip r:embed="rId11"/>
          <a:stretch>
            <a:fillRect/>
          </a:stretch>
        </p:blipFill>
        <p:spPr>
          <a:xfrm>
            <a:off x="7480296" y="4321471"/>
            <a:ext cx="4544640" cy="2243102"/>
          </a:xfrm>
          <a:prstGeom prst="rect">
            <a:avLst/>
          </a:prstGeom>
        </p:spPr>
      </p:pic>
      <p:sp>
        <p:nvSpPr>
          <p:cNvPr id="36" name="Oval 35">
            <a:extLst>
              <a:ext uri="{FF2B5EF4-FFF2-40B4-BE49-F238E27FC236}">
                <a16:creationId xmlns:a16="http://schemas.microsoft.com/office/drawing/2014/main" id="{92E97E11-7540-6A9F-E831-CC48666DDEA7}"/>
              </a:ext>
            </a:extLst>
          </p:cNvPr>
          <p:cNvSpPr/>
          <p:nvPr/>
        </p:nvSpPr>
        <p:spPr>
          <a:xfrm>
            <a:off x="9093996" y="5956444"/>
            <a:ext cx="159163" cy="1649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38" name="Straight Arrow Connector 37">
            <a:extLst>
              <a:ext uri="{FF2B5EF4-FFF2-40B4-BE49-F238E27FC236}">
                <a16:creationId xmlns:a16="http://schemas.microsoft.com/office/drawing/2014/main" id="{CB10C6DE-FA2C-F7E9-8F6A-90F49A0C40F1}"/>
              </a:ext>
            </a:extLst>
          </p:cNvPr>
          <p:cNvCxnSpPr>
            <a:cxnSpLocks/>
          </p:cNvCxnSpPr>
          <p:nvPr/>
        </p:nvCxnSpPr>
        <p:spPr>
          <a:xfrm>
            <a:off x="9416955" y="5677469"/>
            <a:ext cx="0" cy="68238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552F78-A781-28C1-78CB-0D5C64631B19}"/>
              </a:ext>
            </a:extLst>
          </p:cNvPr>
          <p:cNvCxnSpPr/>
          <p:nvPr/>
        </p:nvCxnSpPr>
        <p:spPr>
          <a:xfrm>
            <a:off x="9253159" y="6038906"/>
            <a:ext cx="163796"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 Placeholder 5">
                <a:extLst>
                  <a:ext uri="{FF2B5EF4-FFF2-40B4-BE49-F238E27FC236}">
                    <a16:creationId xmlns:a16="http://schemas.microsoft.com/office/drawing/2014/main" id="{AC623EBF-1D78-0594-9565-5705987FEDDD}"/>
                  </a:ext>
                </a:extLst>
              </p:cNvPr>
              <p:cNvSpPr txBox="1">
                <a:spLocks/>
              </p:cNvSpPr>
              <p:nvPr/>
            </p:nvSpPr>
            <p:spPr>
              <a:xfrm>
                <a:off x="9335057" y="5638172"/>
                <a:ext cx="624998" cy="3595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Sup>
                        <m:sSub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𝝈</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p>
                      </m:sSubSup>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3" name="Text Placeholder 5">
                <a:extLst>
                  <a:ext uri="{FF2B5EF4-FFF2-40B4-BE49-F238E27FC236}">
                    <a16:creationId xmlns:a16="http://schemas.microsoft.com/office/drawing/2014/main" id="{AC623EBF-1D78-0594-9565-5705987FEDDD}"/>
                  </a:ext>
                </a:extLst>
              </p:cNvPr>
              <p:cNvSpPr txBox="1">
                <a:spLocks noRot="1" noChangeAspect="1" noMove="1" noResize="1" noEditPoints="1" noAdjustHandles="1" noChangeArrowheads="1" noChangeShapeType="1" noTextEdit="1"/>
              </p:cNvSpPr>
              <p:nvPr/>
            </p:nvSpPr>
            <p:spPr>
              <a:xfrm>
                <a:off x="9335057" y="5638172"/>
                <a:ext cx="624998" cy="359503"/>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51ADC8C-D39B-97F3-901A-5DC3F4591770}"/>
                  </a:ext>
                </a:extLst>
              </p:cNvPr>
              <p:cNvSpPr txBox="1"/>
              <p:nvPr/>
            </p:nvSpPr>
            <p:spPr>
              <a:xfrm>
                <a:off x="8292819" y="5694080"/>
                <a:ext cx="1124136" cy="580415"/>
              </a:xfrm>
              <a:prstGeom prst="rect">
                <a:avLst/>
              </a:prstGeom>
              <a:noFill/>
            </p:spPr>
            <p:txBody>
              <a:bodyPr wrap="square">
                <a:spAutoFit/>
              </a:bodyPr>
              <a:lstStyle/>
              <a:p>
                <a14:m>
                  <m:oMath xmlns:m="http://schemas.openxmlformats.org/officeDocument/2006/math">
                    <m:d>
                      <m:dPr>
                        <m:ctrlPr>
                          <a:rPr kumimoji="1" lang="en-NZ" altLang="ja-JP" sz="12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1"/>
                                  <m:mcJc m:val="center"/>
                                </m:mcPr>
                              </m:mc>
                            </m:mcs>
                            <m:ctrlPr>
                              <a:rPr kumimoji="1" lang="en-NZ" altLang="ja-JP" sz="1200" b="0" i="1"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bSup>
                                <m:sSubSupPr>
                                  <m:ctrlPr>
                                    <a:rPr kumimoji="1" lang="en-NZ" altLang="ja-JP" sz="1200" b="1" i="1">
                                      <a:solidFill>
                                        <a:prstClr val="black"/>
                                      </a:solidFill>
                                      <a:latin typeface="Cambria Math" panose="02040503050406030204" pitchFamily="18" charset="0"/>
                                    </a:rPr>
                                  </m:ctrlPr>
                                </m:sSubSupPr>
                                <m:e>
                                  <m:r>
                                    <a:rPr kumimoji="1" lang="en-NZ" altLang="ja-JP" sz="1200" b="1" i="1">
                                      <a:solidFill>
                                        <a:prstClr val="black"/>
                                      </a:solidFill>
                                      <a:latin typeface="Cambria Math" panose="02040503050406030204" pitchFamily="18" charset="0"/>
                                    </a:rPr>
                                    <m:t>𝑿</m:t>
                                  </m:r>
                                </m:e>
                                <m:sub>
                                  <m:r>
                                    <a:rPr kumimoji="1" lang="en-NZ" altLang="ja-JP" sz="1200" b="1" i="1">
                                      <a:solidFill>
                                        <a:prstClr val="black"/>
                                      </a:solidFill>
                                      <a:latin typeface="Cambria Math" panose="02040503050406030204" pitchFamily="18" charset="0"/>
                                    </a:rPr>
                                    <m:t>𝟏</m:t>
                                  </m:r>
                                </m:sub>
                                <m:sup>
                                  <m:d>
                                    <m:dPr>
                                      <m:ctrlPr>
                                        <a:rPr kumimoji="1" lang="en-NZ" altLang="ja-JP" sz="1200" b="1" i="1">
                                          <a:solidFill>
                                            <a:prstClr val="black"/>
                                          </a:solidFill>
                                          <a:latin typeface="Cambria Math" panose="02040503050406030204" pitchFamily="18" charset="0"/>
                                        </a:rPr>
                                      </m:ctrlPr>
                                    </m:dPr>
                                    <m:e>
                                      <m:r>
                                        <a:rPr kumimoji="1" lang="en-NZ" altLang="ja-JP" sz="1200" b="1" i="1">
                                          <a:solidFill>
                                            <a:prstClr val="black"/>
                                          </a:solidFill>
                                          <a:latin typeface="Cambria Math" panose="02040503050406030204" pitchFamily="18" charset="0"/>
                                        </a:rPr>
                                        <m:t>𝒕</m:t>
                                      </m:r>
                                      <m:r>
                                        <a:rPr kumimoji="1" lang="en-NZ" altLang="ja-JP" sz="1200" b="1" i="1">
                                          <a:solidFill>
                                            <a:prstClr val="black"/>
                                          </a:solidFill>
                                          <a:latin typeface="Cambria Math" panose="02040503050406030204" pitchFamily="18" charset="0"/>
                                        </a:rPr>
                                        <m:t>−</m:t>
                                      </m:r>
                                      <m:r>
                                        <a:rPr kumimoji="1" lang="en-NZ" altLang="ja-JP" sz="1200" b="1" i="1">
                                          <a:solidFill>
                                            <a:prstClr val="black"/>
                                          </a:solidFill>
                                          <a:latin typeface="Cambria Math" panose="02040503050406030204" pitchFamily="18" charset="0"/>
                                        </a:rPr>
                                        <m:t>𝟏</m:t>
                                      </m:r>
                                    </m:e>
                                  </m:d>
                                </m:sup>
                              </m:sSubSup>
                            </m:e>
                          </m:mr>
                          <m:mr>
                            <m:e>
                              <m:sSubSup>
                                <m:sSubSupPr>
                                  <m:ctrlPr>
                                    <a:rPr kumimoji="1" lang="en-NZ" altLang="ja-JP" sz="1200" b="1" i="1">
                                      <a:solidFill>
                                        <a:prstClr val="black"/>
                                      </a:solidFill>
                                      <a:latin typeface="Cambria Math" panose="02040503050406030204" pitchFamily="18" charset="0"/>
                                    </a:rPr>
                                  </m:ctrlPr>
                                </m:sSubSupPr>
                                <m:e>
                                  <m:r>
                                    <a:rPr kumimoji="1" lang="en-NZ" altLang="ja-JP" sz="1200" b="1" i="1">
                                      <a:solidFill>
                                        <a:prstClr val="black"/>
                                      </a:solidFill>
                                      <a:latin typeface="Cambria Math" panose="02040503050406030204" pitchFamily="18" charset="0"/>
                                    </a:rPr>
                                    <m:t>𝑿</m:t>
                                  </m:r>
                                </m:e>
                                <m:sub>
                                  <m:r>
                                    <a:rPr kumimoji="1" lang="en-NZ" altLang="ja-JP" sz="1200" b="1" i="1">
                                      <a:solidFill>
                                        <a:prstClr val="black"/>
                                      </a:solidFill>
                                      <a:latin typeface="Cambria Math" panose="02040503050406030204" pitchFamily="18" charset="0"/>
                                    </a:rPr>
                                    <m:t>𝟐</m:t>
                                  </m:r>
                                </m:sub>
                                <m:sup>
                                  <m:d>
                                    <m:dPr>
                                      <m:ctrlPr>
                                        <a:rPr kumimoji="1" lang="en-NZ" altLang="ja-JP" sz="1200" b="1" i="1">
                                          <a:solidFill>
                                            <a:prstClr val="black"/>
                                          </a:solidFill>
                                          <a:latin typeface="Cambria Math" panose="02040503050406030204" pitchFamily="18" charset="0"/>
                                        </a:rPr>
                                      </m:ctrlPr>
                                    </m:dPr>
                                    <m:e>
                                      <m:r>
                                        <a:rPr kumimoji="1" lang="en-NZ" altLang="ja-JP" sz="1200" b="1" i="1">
                                          <a:solidFill>
                                            <a:prstClr val="black"/>
                                          </a:solidFill>
                                          <a:latin typeface="Cambria Math" panose="02040503050406030204" pitchFamily="18" charset="0"/>
                                        </a:rPr>
                                        <m:t>𝒕</m:t>
                                      </m:r>
                                      <m:r>
                                        <a:rPr kumimoji="1" lang="en-NZ" altLang="ja-JP" sz="1200" b="1" i="1">
                                          <a:solidFill>
                                            <a:prstClr val="black"/>
                                          </a:solidFill>
                                          <a:latin typeface="Cambria Math" panose="02040503050406030204" pitchFamily="18" charset="0"/>
                                        </a:rPr>
                                        <m:t>−</m:t>
                                      </m:r>
                                      <m:r>
                                        <a:rPr kumimoji="1" lang="en-NZ" altLang="ja-JP" sz="1200" b="1" i="1">
                                          <a:solidFill>
                                            <a:prstClr val="black"/>
                                          </a:solidFill>
                                          <a:latin typeface="Cambria Math" panose="02040503050406030204" pitchFamily="18" charset="0"/>
                                        </a:rPr>
                                        <m:t>𝟏</m:t>
                                      </m:r>
                                    </m:e>
                                  </m:d>
                                </m:sup>
                              </m:sSubSup>
                            </m:e>
                          </m:mr>
                        </m:m>
                      </m:e>
                    </m:d>
                  </m:oMath>
                </a14:m>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endParaRPr lang="en-NZ" sz="1200" dirty="0"/>
              </a:p>
            </p:txBody>
          </p:sp>
        </mc:Choice>
        <mc:Fallback xmlns="">
          <p:sp>
            <p:nvSpPr>
              <p:cNvPr id="45" name="TextBox 44">
                <a:extLst>
                  <a:ext uri="{FF2B5EF4-FFF2-40B4-BE49-F238E27FC236}">
                    <a16:creationId xmlns:a16="http://schemas.microsoft.com/office/drawing/2014/main" id="{D51ADC8C-D39B-97F3-901A-5DC3F4591770}"/>
                  </a:ext>
                </a:extLst>
              </p:cNvPr>
              <p:cNvSpPr txBox="1">
                <a:spLocks noRot="1" noChangeAspect="1" noMove="1" noResize="1" noEditPoints="1" noAdjustHandles="1" noChangeArrowheads="1" noChangeShapeType="1" noTextEdit="1"/>
              </p:cNvSpPr>
              <p:nvPr/>
            </p:nvSpPr>
            <p:spPr>
              <a:xfrm>
                <a:off x="8292819" y="5694080"/>
                <a:ext cx="1124136" cy="580415"/>
              </a:xfrm>
              <a:prstGeom prst="rect">
                <a:avLst/>
              </a:prstGeom>
              <a:blipFill>
                <a:blip r:embed="rId1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C30427C-29E2-6C26-90FE-D481D919751B}"/>
                  </a:ext>
                </a:extLst>
              </p:cNvPr>
              <p:cNvSpPr txBox="1"/>
              <p:nvPr/>
            </p:nvSpPr>
            <p:spPr>
              <a:xfrm>
                <a:off x="10064125" y="2184720"/>
                <a:ext cx="961835" cy="3211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sSupPr>
                        <m:e>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𝑒</m:t>
                          </m:r>
                        </m:e>
                        <m:sup>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m:t>
                          </m:r>
                          <m:d>
                            <m:dPr>
                              <m:begChr m:val="|"/>
                              <m:endChr m:val="|"/>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dPr>
                            <m:e>
                              <m:sSub>
                                <m:sSubPr>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𝑥</m:t>
                                  </m:r>
                                </m:e>
                                <m:sub>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1</m:t>
                                  </m:r>
                                </m:sub>
                              </m:sSub>
                            </m:e>
                          </m:d>
                        </m:sup>
                      </m:sSup>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 </m:t>
                      </m:r>
                    </m:oMath>
                  </m:oMathPara>
                </a14:m>
                <a:endParaRPr lang="en-NZ" sz="1400" dirty="0">
                  <a:solidFill>
                    <a:srgbClr val="C00000"/>
                  </a:solidFill>
                </a:endParaRPr>
              </a:p>
            </p:txBody>
          </p:sp>
        </mc:Choice>
        <mc:Fallback xmlns="">
          <p:sp>
            <p:nvSpPr>
              <p:cNvPr id="47" name="TextBox 46">
                <a:extLst>
                  <a:ext uri="{FF2B5EF4-FFF2-40B4-BE49-F238E27FC236}">
                    <a16:creationId xmlns:a16="http://schemas.microsoft.com/office/drawing/2014/main" id="{8C30427C-29E2-6C26-90FE-D481D919751B}"/>
                  </a:ext>
                </a:extLst>
              </p:cNvPr>
              <p:cNvSpPr txBox="1">
                <a:spLocks noRot="1" noChangeAspect="1" noMove="1" noResize="1" noEditPoints="1" noAdjustHandles="1" noChangeArrowheads="1" noChangeShapeType="1" noTextEdit="1"/>
              </p:cNvSpPr>
              <p:nvPr/>
            </p:nvSpPr>
            <p:spPr>
              <a:xfrm>
                <a:off x="10064125" y="2184720"/>
                <a:ext cx="961835" cy="321114"/>
              </a:xfrm>
              <a:prstGeom prst="rect">
                <a:avLst/>
              </a:prstGeom>
              <a:blipFill>
                <a:blip r:embed="rId1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A5F0D82B-2A1B-824E-9AC4-76406D49F4CD}"/>
                  </a:ext>
                </a:extLst>
              </p:cNvPr>
              <p:cNvSpPr txBox="1"/>
              <p:nvPr/>
            </p:nvSpPr>
            <p:spPr>
              <a:xfrm>
                <a:off x="10521375" y="5858106"/>
                <a:ext cx="961835" cy="3211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sSupPr>
                        <m:e>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𝑒</m:t>
                          </m:r>
                        </m:e>
                        <m:sup>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m:t>
                          </m:r>
                          <m:d>
                            <m:dPr>
                              <m:begChr m:val="|"/>
                              <m:endChr m:val="|"/>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dPr>
                            <m:e>
                              <m:sSub>
                                <m:sSubPr>
                                  <m:ctrlPr>
                                    <a:rPr kumimoji="1" lang="en-NZ" altLang="ja-JP" sz="140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ctrlPr>
                                </m:sSubPr>
                                <m:e>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𝑥</m:t>
                                  </m:r>
                                </m:e>
                                <m:sub>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1</m:t>
                                  </m:r>
                                </m:sub>
                              </m:sSub>
                            </m:e>
                          </m:d>
                        </m:sup>
                      </m:sSup>
                      <m:r>
                        <a:rPr kumimoji="1" lang="en-NZ" altLang="ja-JP" sz="14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rPr>
                        <m:t> </m:t>
                      </m:r>
                    </m:oMath>
                  </m:oMathPara>
                </a14:m>
                <a:endParaRPr lang="en-NZ" sz="1400" dirty="0">
                  <a:solidFill>
                    <a:srgbClr val="C00000"/>
                  </a:solidFill>
                </a:endParaRPr>
              </a:p>
            </p:txBody>
          </p:sp>
        </mc:Choice>
        <mc:Fallback xmlns="">
          <p:sp>
            <p:nvSpPr>
              <p:cNvPr id="48" name="TextBox 47">
                <a:extLst>
                  <a:ext uri="{FF2B5EF4-FFF2-40B4-BE49-F238E27FC236}">
                    <a16:creationId xmlns:a16="http://schemas.microsoft.com/office/drawing/2014/main" id="{A5F0D82B-2A1B-824E-9AC4-76406D49F4CD}"/>
                  </a:ext>
                </a:extLst>
              </p:cNvPr>
              <p:cNvSpPr txBox="1">
                <a:spLocks noRot="1" noChangeAspect="1" noMove="1" noResize="1" noEditPoints="1" noAdjustHandles="1" noChangeArrowheads="1" noChangeShapeType="1" noTextEdit="1"/>
              </p:cNvSpPr>
              <p:nvPr/>
            </p:nvSpPr>
            <p:spPr>
              <a:xfrm>
                <a:off x="10521375" y="5858106"/>
                <a:ext cx="961835" cy="321114"/>
              </a:xfrm>
              <a:prstGeom prst="rect">
                <a:avLst/>
              </a:prstGeom>
              <a:blipFill>
                <a:blip r:embed="rId1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35448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4" grpId="0"/>
      <p:bldP spid="25" grpId="0"/>
      <p:bldP spid="26" grpId="0"/>
      <p:bldP spid="36" grpId="0" animBg="1"/>
      <p:bldP spid="43" grpId="0"/>
      <p:bldP spid="45"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.2 – Motivating Example</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.2 – Motivating</a:t>
            </a:r>
            <a:r>
              <a:rPr lang="en-US" altLang="ja-JP" b="1" u="sng" dirty="0">
                <a:solidFill>
                  <a:prstClr val="black"/>
                </a:solidFill>
                <a:latin typeface="Calibri" panose="020F0502020204030204"/>
                <a:ea typeface="游ゴシック Light" panose="020B0300000000000000" pitchFamily="34" charset="-128"/>
              </a:rPr>
              <a:t> Example</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A5AA6E49-16FC-CADB-49FF-5D5C1094D17D}"/>
              </a:ext>
            </a:extLst>
          </p:cNvPr>
          <p:cNvSpPr txBox="1">
            <a:spLocks/>
          </p:cNvSpPr>
          <p:nvPr/>
        </p:nvSpPr>
        <p:spPr>
          <a:xfrm>
            <a:off x="319461" y="1199682"/>
            <a:ext cx="11458555" cy="6831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This is an example of a situation whereby it is difficult to produce a proposal</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density that will update all variables simultaneously in an efficient way. </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3C8CF86E-0180-091A-FC1C-7DCA46DC5A37}"/>
                  </a:ext>
                </a:extLst>
              </p:cNvPr>
              <p:cNvSpPr txBox="1">
                <a:spLocks/>
              </p:cNvSpPr>
              <p:nvPr/>
            </p:nvSpPr>
            <p:spPr>
              <a:xfrm>
                <a:off x="319461" y="2277306"/>
                <a:ext cx="11458555"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Whilst the difficulties are not insurmountable in this instance, higher dimensional problems with more complicated </a:t>
                </a:r>
                <a:b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b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n-dimensional domains </a:t>
                </a:r>
                <a14:m>
                  <m:oMath xmlns:m="http://schemas.openxmlformats.org/officeDocument/2006/math">
                    <m:r>
                      <a:rPr kumimoji="1" lang="en-NZ" altLang="ja-JP" sz="1800" b="1" i="0"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𝛀</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ℝ</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𝒏</m:t>
                        </m:r>
                      </m:sup>
                    </m:sSup>
                  </m:oMath>
                </a14:m>
                <a:r>
                  <a:rPr kumimoji="1" lang="en-NZ" altLang="ja-JP" sz="1800" b="1"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can be intractable. </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3" name="Text Placeholder 5">
                <a:extLst>
                  <a:ext uri="{FF2B5EF4-FFF2-40B4-BE49-F238E27FC236}">
                    <a16:creationId xmlns:a16="http://schemas.microsoft.com/office/drawing/2014/main" id="{3C8CF86E-0180-091A-FC1C-7DCA46DC5A37}"/>
                  </a:ext>
                </a:extLst>
              </p:cNvPr>
              <p:cNvSpPr txBox="1">
                <a:spLocks noRot="1" noChangeAspect="1" noMove="1" noResize="1" noEditPoints="1" noAdjustHandles="1" noChangeArrowheads="1" noChangeShapeType="1" noTextEdit="1"/>
              </p:cNvSpPr>
              <p:nvPr/>
            </p:nvSpPr>
            <p:spPr>
              <a:xfrm>
                <a:off x="319461" y="2277306"/>
                <a:ext cx="11458555" cy="613136"/>
              </a:xfrm>
              <a:prstGeom prst="rect">
                <a:avLst/>
              </a:prstGeom>
              <a:blipFill>
                <a:blip r:embed="rId3"/>
                <a:stretch>
                  <a:fillRect l="-426" t="-6000" b="-21000"/>
                </a:stretch>
              </a:blipFill>
            </p:spPr>
            <p:txBody>
              <a:bodyPr/>
              <a:lstStyle/>
              <a:p>
                <a:r>
                  <a:rPr lang="en-NZ">
                    <a:noFill/>
                  </a:rPr>
                  <a:t> </a:t>
                </a:r>
              </a:p>
            </p:txBody>
          </p:sp>
        </mc:Fallback>
      </mc:AlternateContent>
      <p:sp>
        <p:nvSpPr>
          <p:cNvPr id="4" name="Text Placeholder 5">
            <a:extLst>
              <a:ext uri="{FF2B5EF4-FFF2-40B4-BE49-F238E27FC236}">
                <a16:creationId xmlns:a16="http://schemas.microsoft.com/office/drawing/2014/main" id="{D1161FDE-2886-D8BB-59BE-8D686888847E}"/>
              </a:ext>
            </a:extLst>
          </p:cNvPr>
          <p:cNvSpPr txBox="1">
            <a:spLocks/>
          </p:cNvSpPr>
          <p:nvPr/>
        </p:nvSpPr>
        <p:spPr>
          <a:xfrm>
            <a:off x="319461" y="3436911"/>
            <a:ext cx="11458555"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In such instances, we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might</a:t>
            </a:r>
            <a:r>
              <a:rPr kumimoji="1" lang="en-NZ" altLang="ja-JP" sz="18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be able to use the idea of </a:t>
            </a:r>
            <a:r>
              <a:rPr kumimoji="1" lang="en-NZ"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Gibbs Sampling</a:t>
            </a:r>
            <a:r>
              <a:rPr lang="en-NZ" altLang="ja-JP" sz="1800" dirty="0">
                <a:solidFill>
                  <a:prstClr val="black"/>
                </a:solidFill>
                <a:latin typeface="Calibri" panose="020F0502020204030204"/>
                <a:ea typeface="游ゴシック" panose="020B0400000000000000" pitchFamily="34" charset="-128"/>
              </a:rPr>
              <a:t> whereby new states in the chain are proposed one variable (or a handful of variables) at a time using their </a:t>
            </a:r>
            <a:r>
              <a:rPr lang="en-NZ" altLang="ja-JP" sz="1800" b="1" dirty="0">
                <a:solidFill>
                  <a:prstClr val="black"/>
                </a:solidFill>
                <a:latin typeface="Calibri" panose="020F0502020204030204"/>
                <a:ea typeface="游ゴシック" panose="020B0400000000000000" pitchFamily="34" charset="-128"/>
              </a:rPr>
              <a:t>conditional distributions</a:t>
            </a:r>
            <a:r>
              <a:rPr lang="en-NZ" altLang="ja-JP" sz="1800" dirty="0">
                <a:solidFill>
                  <a:prstClr val="black"/>
                </a:solidFill>
                <a:latin typeface="Calibri" panose="020F0502020204030204"/>
                <a:ea typeface="游ゴシック" panose="020B0400000000000000" pitchFamily="34" charset="-128"/>
              </a:rPr>
              <a:t>.</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p:sp>
        <p:nvSpPr>
          <p:cNvPr id="7" name="Text Placeholder 5">
            <a:extLst>
              <a:ext uri="{FF2B5EF4-FFF2-40B4-BE49-F238E27FC236}">
                <a16:creationId xmlns:a16="http://schemas.microsoft.com/office/drawing/2014/main" id="{0AF8D4BF-71C7-BB5B-AFFB-A960622223AA}"/>
              </a:ext>
            </a:extLst>
          </p:cNvPr>
          <p:cNvSpPr txBox="1">
            <a:spLocks/>
          </p:cNvSpPr>
          <p:nvPr/>
        </p:nvSpPr>
        <p:spPr>
          <a:xfrm>
            <a:off x="319461" y="4759204"/>
            <a:ext cx="11458555" cy="10289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However, in order to apply Gibbs Sampling: </a:t>
            </a:r>
          </a:p>
          <a:p>
            <a:pPr marL="1028643" lvl="1" indent="-342900">
              <a:lnSpc>
                <a:spcPct val="100000"/>
              </a:lnSpc>
              <a:spcBef>
                <a:spcPts val="0"/>
              </a:spcBef>
              <a:buFont typeface="+mj-lt"/>
              <a:buAutoNum type="alphaLcParenR"/>
              <a:defRPr/>
            </a:pPr>
            <a:r>
              <a:rPr lang="en-NZ" altLang="ja-JP" sz="1800" dirty="0">
                <a:solidFill>
                  <a:srgbClr val="C00000"/>
                </a:solidFill>
                <a:latin typeface="Calibri" panose="020F0502020204030204"/>
                <a:ea typeface="游ゴシック" panose="020B0400000000000000" pitchFamily="34" charset="-128"/>
              </a:rPr>
              <a:t>W</a:t>
            </a: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e have to know what those conditional distributions are a priori</a:t>
            </a:r>
          </a:p>
          <a:p>
            <a:pPr marL="1028643" lvl="1" indent="-342900">
              <a:lnSpc>
                <a:spcPct val="100000"/>
              </a:lnSpc>
              <a:spcBef>
                <a:spcPts val="0"/>
              </a:spcBef>
              <a:buFont typeface="+mj-lt"/>
              <a:buAutoNum type="alphaLcParenR"/>
              <a:defRPr/>
            </a:pPr>
            <a:r>
              <a:rPr lang="en-NZ" altLang="ja-JP" sz="1800" dirty="0">
                <a:solidFill>
                  <a:srgbClr val="C00000"/>
                </a:solidFill>
                <a:latin typeface="Calibri" panose="020F0502020204030204"/>
                <a:ea typeface="游ゴシック" panose="020B0400000000000000" pitchFamily="34" charset="-128"/>
              </a:rPr>
              <a:t>T</a:t>
            </a: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he conditional distributions must have some ‘nice’ parametric form from which we can easily sample.</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284867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303658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11.3 – Gibbs Sampling</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28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Gibbs Sampling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.3a – Gibbs Sampling Overview:</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Text Placeholder 5">
            <a:extLst>
              <a:ext uri="{FF2B5EF4-FFF2-40B4-BE49-F238E27FC236}">
                <a16:creationId xmlns:a16="http://schemas.microsoft.com/office/drawing/2014/main" id="{A5AA6E49-16FC-CADB-49FF-5D5C1094D17D}"/>
              </a:ext>
            </a:extLst>
          </p:cNvPr>
          <p:cNvSpPr txBox="1">
            <a:spLocks/>
          </p:cNvSpPr>
          <p:nvPr/>
        </p:nvSpPr>
        <p:spPr>
          <a:xfrm>
            <a:off x="319460" y="907993"/>
            <a:ext cx="11458555" cy="6831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Gibbs Sampling is a MCMC method commonly used in multi-dimensional settings whereby it is hard to update all variables simultaneously.</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14C908CA-B63F-D405-2A8F-743A07C947FC}"/>
              </a:ext>
            </a:extLst>
          </p:cNvPr>
          <p:cNvSpPr txBox="1">
            <a:spLocks/>
          </p:cNvSpPr>
          <p:nvPr/>
        </p:nvSpPr>
        <p:spPr>
          <a:xfrm>
            <a:off x="319460" y="1757245"/>
            <a:ext cx="11458555" cy="68310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Originally developed by </a:t>
            </a:r>
            <a:r>
              <a:rPr kumimoji="1" lang="en-NZ" altLang="ja-JP" sz="18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Geman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&amp; </a:t>
            </a:r>
            <a:r>
              <a:rPr kumimoji="1" lang="en-NZ" altLang="ja-JP" sz="1800" b="0" i="0"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Geman</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(1984)</a:t>
            </a:r>
            <a:r>
              <a:rPr kumimoji="1" lang="en-NZ" altLang="ja-JP" sz="1800" b="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1</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for application to the Gibbs distribution (used in image processing), it was later popularised by Gelfand &amp; Smith (1990)</a:t>
            </a:r>
            <a:r>
              <a:rPr kumimoji="1" lang="en-NZ" altLang="ja-JP" sz="1800" b="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cs typeface="+mn-cs"/>
              </a:rPr>
              <a:t>2</a:t>
            </a:r>
            <a:r>
              <a:rPr kumimoji="1" lang="en-NZ"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who suggested applying it to other distributions.</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CC25B24F-3381-83EC-6588-364AEA250023}"/>
              </a:ext>
            </a:extLst>
          </p:cNvPr>
          <p:cNvSpPr txBox="1">
            <a:spLocks/>
          </p:cNvSpPr>
          <p:nvPr/>
        </p:nvSpPr>
        <p:spPr>
          <a:xfrm>
            <a:off x="2088108" y="6258622"/>
            <a:ext cx="9271982"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r">
              <a:lnSpc>
                <a:spcPct val="100000"/>
              </a:lnSpc>
              <a:defRPr/>
            </a:pPr>
            <a:r>
              <a:rPr lang="en-NZ" sz="900" baseline="30000" dirty="0"/>
              <a:t>1 </a:t>
            </a:r>
            <a:r>
              <a:rPr lang="en-NZ" sz="900" dirty="0" err="1"/>
              <a:t>Geman</a:t>
            </a:r>
            <a:r>
              <a:rPr lang="en-NZ" sz="900" dirty="0"/>
              <a:t>, S. and </a:t>
            </a:r>
            <a:r>
              <a:rPr lang="en-NZ" sz="900" dirty="0" err="1"/>
              <a:t>Geman</a:t>
            </a:r>
            <a:r>
              <a:rPr lang="en-NZ" sz="900" dirty="0"/>
              <a:t>, D. 1984. Stochastic Relaxation, Gibbs Distributions and the Bayesian Restoration of Images. </a:t>
            </a:r>
            <a:r>
              <a:rPr lang="en-NZ" sz="900" i="1" dirty="0"/>
              <a:t>IEEE Transactions on Pattern Analysis and Machine Intelligence</a:t>
            </a:r>
            <a:r>
              <a:rPr lang="en-NZ" sz="900" dirty="0"/>
              <a:t>, 6: 721–741.</a:t>
            </a:r>
          </a:p>
          <a:p>
            <a:pPr lvl="0" algn="r">
              <a:lnSpc>
                <a:spcPct val="100000"/>
              </a:lnSpc>
              <a:defRPr/>
            </a:pPr>
            <a:r>
              <a:rPr lang="en-NZ" sz="900" baseline="30000" dirty="0"/>
              <a:t>2  </a:t>
            </a:r>
            <a:r>
              <a:rPr lang="en-NZ" sz="900" dirty="0"/>
              <a:t>Gelfand, A. E., &amp; Smith, A. F. (1990). ‘Sampling-based approaches to calculating marginal densities’. </a:t>
            </a:r>
            <a:r>
              <a:rPr lang="en-NZ" sz="900" i="1" dirty="0"/>
              <a:t>Journal of the American Statistical Association</a:t>
            </a:r>
            <a:r>
              <a:rPr lang="en-NZ" sz="900" dirty="0"/>
              <a:t>, 85(410), 398-409. </a:t>
            </a:r>
            <a:endParaRPr kumimoji="1" lang="en-NZ" altLang="ja-JP" sz="900" b="1"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p:sp>
        <p:nvSpPr>
          <p:cNvPr id="11" name="Text Placeholder 5">
            <a:extLst>
              <a:ext uri="{FF2B5EF4-FFF2-40B4-BE49-F238E27FC236}">
                <a16:creationId xmlns:a16="http://schemas.microsoft.com/office/drawing/2014/main" id="{192307E0-BD5C-334B-41A3-7DB50428C223}"/>
              </a:ext>
            </a:extLst>
          </p:cNvPr>
          <p:cNvSpPr txBox="1">
            <a:spLocks/>
          </p:cNvSpPr>
          <p:nvPr/>
        </p:nvSpPr>
        <p:spPr>
          <a:xfrm>
            <a:off x="319459" y="2516312"/>
            <a:ext cx="1145855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Gibbs Sampling is a special case of the Metropolis-Hastings algorithm whereby:</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00F99E17-72BA-96D4-CE2F-A4A8888355DF}"/>
              </a:ext>
            </a:extLst>
          </p:cNvPr>
          <p:cNvSpPr txBox="1">
            <a:spLocks/>
          </p:cNvSpPr>
          <p:nvPr/>
        </p:nvSpPr>
        <p:spPr>
          <a:xfrm>
            <a:off x="982637" y="2940662"/>
            <a:ext cx="10377452" cy="11993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marR="0" lvl="0" indent="-400050" algn="l" defTabSz="914324" rtl="0" eaLnBrk="1" fontAlgn="auto" latinLnBrk="0" hangingPunct="1">
              <a:lnSpc>
                <a:spcPct val="100000"/>
              </a:lnSpc>
              <a:spcBef>
                <a:spcPts val="0"/>
              </a:spcBef>
              <a:spcAft>
                <a:spcPts val="0"/>
              </a:spcAft>
              <a:buClrTx/>
              <a:buSzTx/>
              <a:buFont typeface="+mj-lt"/>
              <a:buAutoNum type="romanLcPeriod"/>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Instead of new states for all variables being proposed simultaneously, new states are proposed one variable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(or a handful of variables) at a time using their conditional distributions.</a:t>
            </a:r>
          </a:p>
          <a:p>
            <a:pPr marR="0" lvl="0" algn="l" defTabSz="914324" rtl="0" eaLnBrk="1" fontAlgn="auto" latinLnBrk="0" hangingPunct="1">
              <a:lnSpc>
                <a:spcPct val="100000"/>
              </a:lnSpc>
              <a:spcBef>
                <a:spcPts val="0"/>
              </a:spcBef>
              <a:spcAft>
                <a:spcPts val="0"/>
              </a:spcAft>
              <a:buClrTx/>
              <a:buSzTx/>
              <a:tabLst/>
              <a:defRPr/>
            </a:pPr>
            <a:endParaRPr lang="en-NZ" altLang="ja-JP" sz="200" dirty="0">
              <a:solidFill>
                <a:prstClr val="black"/>
              </a:solidFill>
              <a:latin typeface="Calibri" panose="020F0502020204030204"/>
              <a:ea typeface="游ゴシック" panose="020B0400000000000000" pitchFamily="34" charset="-128"/>
            </a:endParaRPr>
          </a:p>
          <a:p>
            <a:pPr marR="0" lvl="0" algn="l" defTabSz="914324" rtl="0" eaLnBrk="1" fontAlgn="auto" latinLnBrk="0" hangingPunct="1">
              <a:lnSpc>
                <a:spcPct val="100000"/>
              </a:lnSpc>
              <a:spcBef>
                <a:spcPts val="0"/>
              </a:spcBef>
              <a:spcAft>
                <a:spcPts val="0"/>
              </a:spcAft>
              <a:buClrTx/>
              <a:buSzTx/>
              <a:tabLst/>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400050" marR="0" lvl="0" indent="-400050" algn="l" defTabSz="914324" rtl="0" eaLnBrk="1" fontAlgn="auto" latinLnBrk="0" hangingPunct="1">
              <a:lnSpc>
                <a:spcPct val="100000"/>
              </a:lnSpc>
              <a:spcBef>
                <a:spcPts val="0"/>
              </a:spcBef>
              <a:spcAft>
                <a:spcPts val="0"/>
              </a:spcAft>
              <a:buClrTx/>
              <a:buSzTx/>
              <a:buFont typeface="+mj-lt"/>
              <a:buAutoNum type="romanLcPeriod" startAt="2"/>
              <a:tabLst/>
              <a:defRPr/>
            </a:pPr>
            <a:r>
              <a:rPr lang="en-NZ" altLang="ja-JP" sz="1600" dirty="0">
                <a:solidFill>
                  <a:prstClr val="black"/>
                </a:solidFill>
                <a:latin typeface="Calibri" panose="020F0502020204030204"/>
                <a:ea typeface="游ゴシック" panose="020B0400000000000000" pitchFamily="34" charset="-128"/>
              </a:rPr>
              <a:t>The acceptance probability is always equal to one, such that the ‘acceptance stage’ of the algorithm can be omitted.</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C4953FCC-B8DF-B66A-0034-3E2E1072FCFA}"/>
              </a:ext>
            </a:extLst>
          </p:cNvPr>
          <p:cNvSpPr txBox="1">
            <a:spLocks/>
          </p:cNvSpPr>
          <p:nvPr/>
        </p:nvSpPr>
        <p:spPr>
          <a:xfrm>
            <a:off x="366722" y="4132412"/>
            <a:ext cx="11458555" cy="10289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I</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 order to apply Gibbs Sampling: </a:t>
            </a:r>
          </a:p>
          <a:p>
            <a:pPr marL="1028643" lvl="1" indent="-342900">
              <a:lnSpc>
                <a:spcPct val="100000"/>
              </a:lnSpc>
              <a:spcBef>
                <a:spcPts val="0"/>
              </a:spcBef>
              <a:buFont typeface="+mj-lt"/>
              <a:buAutoNum type="alphaLcParenR"/>
              <a:defRPr/>
            </a:pPr>
            <a:r>
              <a:rPr lang="en-NZ" altLang="ja-JP" sz="1800" dirty="0">
                <a:solidFill>
                  <a:prstClr val="black"/>
                </a:solidFill>
                <a:latin typeface="Calibri" panose="020F0502020204030204"/>
                <a:ea typeface="游ゴシック" panose="020B0400000000000000" pitchFamily="34" charset="-128"/>
              </a:rPr>
              <a:t>W</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e have to know </a:t>
            </a:r>
            <a:r>
              <a:rPr lang="en-NZ" altLang="ja-JP" sz="1800" dirty="0">
                <a:solidFill>
                  <a:prstClr val="black"/>
                </a:solidFill>
                <a:latin typeface="Calibri" panose="020F0502020204030204"/>
                <a:ea typeface="游ゴシック" panose="020B0400000000000000" pitchFamily="34" charset="-128"/>
              </a:rPr>
              <a:t>the required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conditional distributions a priori.</a:t>
            </a:r>
          </a:p>
          <a:p>
            <a:pPr marL="1028643" lvl="1" indent="-342900">
              <a:lnSpc>
                <a:spcPct val="100000"/>
              </a:lnSpc>
              <a:spcBef>
                <a:spcPts val="0"/>
              </a:spcBef>
              <a:buFont typeface="+mj-lt"/>
              <a:buAutoNum type="alphaLcParenR"/>
              <a:defRPr/>
            </a:pPr>
            <a:r>
              <a:rPr lang="en-NZ" altLang="ja-JP" sz="1800" dirty="0">
                <a:solidFill>
                  <a:prstClr val="black"/>
                </a:solidFill>
                <a:latin typeface="Calibri" panose="020F0502020204030204"/>
                <a:ea typeface="游ゴシック" panose="020B0400000000000000" pitchFamily="34" charset="-128"/>
              </a:rPr>
              <a:t>T</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he conditional distributions must have some ‘nice’ parametric form from which we can easily sample.</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4" name="Text Placeholder 5">
            <a:extLst>
              <a:ext uri="{FF2B5EF4-FFF2-40B4-BE49-F238E27FC236}">
                <a16:creationId xmlns:a16="http://schemas.microsoft.com/office/drawing/2014/main" id="{F22545FF-566F-3FC5-BB48-3CF8E1E96DE6}"/>
              </a:ext>
            </a:extLst>
          </p:cNvPr>
          <p:cNvSpPr txBox="1">
            <a:spLocks/>
          </p:cNvSpPr>
          <p:nvPr/>
        </p:nvSpPr>
        <p:spPr>
          <a:xfrm>
            <a:off x="366722" y="5345263"/>
            <a:ext cx="11458555"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We still have to check that the chain has converged to the target distribution using all the convergence diagnostics we learned about in the last lecture!</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8168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Gibbs Sampling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.3b – Gibbs Sampling </a:t>
            </a:r>
            <a:r>
              <a:rPr lang="en-US" altLang="ja-JP" b="1" u="sng" dirty="0">
                <a:solidFill>
                  <a:prstClr val="black"/>
                </a:solidFill>
                <a:latin typeface="Calibri" panose="020F0502020204030204"/>
                <a:ea typeface="游ゴシック Light" panose="020B0300000000000000" pitchFamily="34" charset="-128"/>
              </a:rPr>
              <a:t>Algorithm in 2D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3" y="947579"/>
                <a:ext cx="11608680"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Given two random variables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 probability density function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e>
                    </m:d>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 corresponding conditional densities…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457F00DC-2A2A-B09D-D6C4-D8C040CD6909}"/>
                  </a:ext>
                </a:extLst>
              </p:cNvPr>
              <p:cNvSpPr txBox="1">
                <a:spLocks noRot="1" noChangeAspect="1" noMove="1" noResize="1" noEditPoints="1" noAdjustHandles="1" noChangeArrowheads="1" noChangeShapeType="1" noTextEdit="1"/>
              </p:cNvSpPr>
              <p:nvPr/>
            </p:nvSpPr>
            <p:spPr>
              <a:xfrm>
                <a:off x="319463" y="947579"/>
                <a:ext cx="11608680" cy="675343"/>
              </a:xfrm>
              <a:prstGeom prst="rect">
                <a:avLst/>
              </a:prstGeom>
              <a:blipFill>
                <a:blip r:embed="rId3"/>
                <a:stretch>
                  <a:fillRect l="-262" t="-180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23C4BD25-4FB9-2343-B0C1-70B61E05F778}"/>
                  </a:ext>
                </a:extLst>
              </p:cNvPr>
              <p:cNvSpPr txBox="1">
                <a:spLocks/>
              </p:cNvSpPr>
              <p:nvPr/>
            </p:nvSpPr>
            <p:spPr>
              <a:xfrm>
                <a:off x="1046929" y="1404077"/>
                <a:ext cx="525002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den>
                      </m:f>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4" name="Text Placeholder 5">
                <a:extLst>
                  <a:ext uri="{FF2B5EF4-FFF2-40B4-BE49-F238E27FC236}">
                    <a16:creationId xmlns:a16="http://schemas.microsoft.com/office/drawing/2014/main" id="{23C4BD25-4FB9-2343-B0C1-70B61E05F778}"/>
                  </a:ext>
                </a:extLst>
              </p:cNvPr>
              <p:cNvSpPr txBox="1">
                <a:spLocks noRot="1" noChangeAspect="1" noMove="1" noResize="1" noEditPoints="1" noAdjustHandles="1" noChangeArrowheads="1" noChangeShapeType="1" noTextEdit="1"/>
              </p:cNvSpPr>
              <p:nvPr/>
            </p:nvSpPr>
            <p:spPr>
              <a:xfrm>
                <a:off x="1046929" y="1404077"/>
                <a:ext cx="5250026" cy="886221"/>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7AE4603E-305F-5128-FF72-340A4115DA33}"/>
                  </a:ext>
                </a:extLst>
              </p:cNvPr>
              <p:cNvSpPr txBox="1">
                <a:spLocks/>
              </p:cNvSpPr>
              <p:nvPr/>
            </p:nvSpPr>
            <p:spPr>
              <a:xfrm>
                <a:off x="5659272" y="1401800"/>
                <a:ext cx="5250026"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den>
                      </m:f>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7" name="Text Placeholder 5">
                <a:extLst>
                  <a:ext uri="{FF2B5EF4-FFF2-40B4-BE49-F238E27FC236}">
                    <a16:creationId xmlns:a16="http://schemas.microsoft.com/office/drawing/2014/main" id="{7AE4603E-305F-5128-FF72-340A4115DA33}"/>
                  </a:ext>
                </a:extLst>
              </p:cNvPr>
              <p:cNvSpPr txBox="1">
                <a:spLocks noRot="1" noChangeAspect="1" noMove="1" noResize="1" noEditPoints="1" noAdjustHandles="1" noChangeArrowheads="1" noChangeShapeType="1" noTextEdit="1"/>
              </p:cNvSpPr>
              <p:nvPr/>
            </p:nvSpPr>
            <p:spPr>
              <a:xfrm>
                <a:off x="5659272" y="1401800"/>
                <a:ext cx="5250026" cy="886221"/>
              </a:xfrm>
              <a:prstGeom prst="rect">
                <a:avLst/>
              </a:prstGeom>
              <a:blipFill>
                <a:blip r:embed="rId5"/>
                <a:stretch>
                  <a:fillRect/>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3691BBC8-61AC-26FA-1E81-C0FED148F887}"/>
              </a:ext>
            </a:extLst>
          </p:cNvPr>
          <p:cNvSpPr txBox="1">
            <a:spLocks/>
          </p:cNvSpPr>
          <p:nvPr/>
        </p:nvSpPr>
        <p:spPr>
          <a:xfrm>
            <a:off x="319463" y="2119238"/>
            <a:ext cx="11608680"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Gibbs Sampling algorithm can be described as follows.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90FFBC1C-5C13-C3B6-E9BB-3A60D53F11BF}"/>
              </a:ext>
            </a:extLst>
          </p:cNvPr>
          <p:cNvSpPr txBox="1">
            <a:spLocks/>
          </p:cNvSpPr>
          <p:nvPr/>
        </p:nvSpPr>
        <p:spPr>
          <a:xfrm>
            <a:off x="469870" y="2640520"/>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1:</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4EA74779-3513-CD9F-2A78-09AD3E058F9D}"/>
                  </a:ext>
                </a:extLst>
              </p:cNvPr>
              <p:cNvSpPr txBox="1">
                <a:spLocks/>
              </p:cNvSpPr>
              <p:nvPr/>
            </p:nvSpPr>
            <p:spPr>
              <a:xfrm>
                <a:off x="1337761" y="2610952"/>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Specify an initial value  </a:t>
                </a:r>
                <a14:m>
                  <m:oMath xmlns:m="http://schemas.openxmlformats.org/officeDocument/2006/math">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ba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4EA74779-3513-CD9F-2A78-09AD3E058F9D}"/>
                  </a:ext>
                </a:extLst>
              </p:cNvPr>
              <p:cNvSpPr txBox="1">
                <a:spLocks noRot="1" noChangeAspect="1" noMove="1" noResize="1" noEditPoints="1" noAdjustHandles="1" noChangeArrowheads="1" noChangeShapeType="1" noTextEdit="1"/>
              </p:cNvSpPr>
              <p:nvPr/>
            </p:nvSpPr>
            <p:spPr>
              <a:xfrm>
                <a:off x="1337761" y="2610952"/>
                <a:ext cx="6714417" cy="444436"/>
              </a:xfrm>
              <a:prstGeom prst="rect">
                <a:avLst/>
              </a:prstGeom>
              <a:blipFill>
                <a:blip r:embed="rId6"/>
                <a:stretch>
                  <a:fillRect l="-454" b="-1370"/>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584102F-F492-3470-B515-DECF9D42D1F5}"/>
              </a:ext>
            </a:extLst>
          </p:cNvPr>
          <p:cNvSpPr txBox="1">
            <a:spLocks/>
          </p:cNvSpPr>
          <p:nvPr/>
        </p:nvSpPr>
        <p:spPr>
          <a:xfrm>
            <a:off x="469870" y="3388358"/>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2:</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403F963-0E6F-A449-6E10-F8B14EDF5450}"/>
                  </a:ext>
                </a:extLst>
              </p:cNvPr>
              <p:cNvSpPr txBox="1">
                <a:spLocks/>
              </p:cNvSpPr>
              <p:nvPr/>
            </p:nvSpPr>
            <p:spPr>
              <a:xfrm>
                <a:off x="1337761" y="3425382"/>
                <a:ext cx="8775230"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(where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large). </a:t>
                </a:r>
              </a:p>
            </p:txBody>
          </p:sp>
        </mc:Choice>
        <mc:Fallback xmlns="">
          <p:sp>
            <p:nvSpPr>
              <p:cNvPr id="18" name="Text Placeholder 5">
                <a:extLst>
                  <a:ext uri="{FF2B5EF4-FFF2-40B4-BE49-F238E27FC236}">
                    <a16:creationId xmlns:a16="http://schemas.microsoft.com/office/drawing/2014/main" id="{4403F963-0E6F-A449-6E10-F8B14EDF5450}"/>
                  </a:ext>
                </a:extLst>
              </p:cNvPr>
              <p:cNvSpPr txBox="1">
                <a:spLocks noRot="1" noChangeAspect="1" noMove="1" noResize="1" noEditPoints="1" noAdjustHandles="1" noChangeArrowheads="1" noChangeShapeType="1" noTextEdit="1"/>
              </p:cNvSpPr>
              <p:nvPr/>
            </p:nvSpPr>
            <p:spPr>
              <a:xfrm>
                <a:off x="1337761" y="3425382"/>
                <a:ext cx="8775230" cy="444436"/>
              </a:xfrm>
              <a:prstGeom prst="rect">
                <a:avLst/>
              </a:prstGeom>
              <a:blipFill>
                <a:blip r:embed="rId7"/>
                <a:stretch>
                  <a:fillRect l="-347" t="-41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8D13141-5E7F-52A2-E145-0777BD831821}"/>
                  </a:ext>
                </a:extLst>
              </p:cNvPr>
              <p:cNvSpPr txBox="1">
                <a:spLocks/>
              </p:cNvSpPr>
              <p:nvPr/>
            </p:nvSpPr>
            <p:spPr>
              <a:xfrm>
                <a:off x="1605844" y="4228298"/>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LcPeriod"/>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a:solidFill>
                                  <a:prstClr val="black"/>
                                </a:solidFill>
                                <a:latin typeface="Cambria Math" panose="02040503050406030204" pitchFamily="18" charset="0"/>
                              </a:rPr>
                              <m:t>𝟐</m:t>
                            </m:r>
                          </m:sub>
                        </m:sSub>
                      </m:sub>
                    </m:sSub>
                    <m:r>
                      <a:rPr lang="en-NZ" altLang="ja-JP" sz="1400" b="1" i="1">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 </m:t>
                        </m:r>
                        <m:sSubSup>
                          <m:sSubSupPr>
                            <m:ctrlPr>
                              <a:rPr lang="en-NZ" altLang="ja-JP" sz="1400" b="1" i="1" smtClean="0">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𝒕</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r>
                              <a:rPr lang="en-NZ" altLang="ja-JP" sz="1400" b="1" i="1" smtClean="0">
                                <a:solidFill>
                                  <a:prstClr val="black"/>
                                </a:solidFill>
                                <a:latin typeface="Cambria Math" panose="02040503050406030204" pitchFamily="18" charset="0"/>
                              </a:rPr>
                              <m:t>)</m:t>
                            </m:r>
                          </m:sup>
                        </m:sSubSup>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D8D13141-5E7F-52A2-E145-0777BD831821}"/>
                  </a:ext>
                </a:extLst>
              </p:cNvPr>
              <p:cNvSpPr txBox="1">
                <a:spLocks noRot="1" noChangeAspect="1" noMove="1" noResize="1" noEditPoints="1" noAdjustHandles="1" noChangeArrowheads="1" noChangeShapeType="1" noTextEdit="1"/>
              </p:cNvSpPr>
              <p:nvPr/>
            </p:nvSpPr>
            <p:spPr>
              <a:xfrm>
                <a:off x="1605844" y="4228298"/>
                <a:ext cx="6714417" cy="444436"/>
              </a:xfrm>
              <a:prstGeom prst="rect">
                <a:avLst/>
              </a:prstGeom>
              <a:blipFill>
                <a:blip r:embed="rId8"/>
                <a:stretch>
                  <a:fillRect l="-36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C3A34A9-C601-CCD3-5967-D4F4138F3DA3}"/>
                  </a:ext>
                </a:extLst>
              </p:cNvPr>
              <p:cNvSpPr txBox="1">
                <a:spLocks/>
              </p:cNvSpPr>
              <p:nvPr/>
            </p:nvSpPr>
            <p:spPr>
              <a:xfrm>
                <a:off x="1605844" y="4683094"/>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romanLcPeriod" startAt="2"/>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𝟏</m:t>
                            </m:r>
                          </m:sub>
                        </m:sSub>
                      </m:sub>
                    </m:sSub>
                    <m:r>
                      <a:rPr lang="en-NZ" altLang="ja-JP" sz="1400" b="1" i="1">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 </m:t>
                        </m:r>
                        <m:sSubSup>
                          <m:sSubSupPr>
                            <m:ctrlPr>
                              <a:rPr lang="en-NZ" altLang="ja-JP" sz="1400" b="1" i="1" smtClean="0">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𝒕</m:t>
                            </m:r>
                            <m:r>
                              <a:rPr lang="en-NZ" altLang="ja-JP" sz="1400" b="1" i="1" smtClean="0">
                                <a:solidFill>
                                  <a:prstClr val="black"/>
                                </a:solidFill>
                                <a:latin typeface="Cambria Math" panose="02040503050406030204" pitchFamily="18" charset="0"/>
                              </a:rPr>
                              <m:t>)</m:t>
                            </m:r>
                          </m:sup>
                        </m:sSubSup>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C3A34A9-C601-CCD3-5967-D4F4138F3DA3}"/>
                  </a:ext>
                </a:extLst>
              </p:cNvPr>
              <p:cNvSpPr txBox="1">
                <a:spLocks noRot="1" noChangeAspect="1" noMove="1" noResize="1" noEditPoints="1" noAdjustHandles="1" noChangeArrowheads="1" noChangeShapeType="1" noTextEdit="1"/>
              </p:cNvSpPr>
              <p:nvPr/>
            </p:nvSpPr>
            <p:spPr>
              <a:xfrm>
                <a:off x="1605844" y="4683094"/>
                <a:ext cx="6714417" cy="444436"/>
              </a:xfrm>
              <a:prstGeom prst="rect">
                <a:avLst/>
              </a:prstGeom>
              <a:blipFill>
                <a:blip r:embed="rId9"/>
                <a:stretch>
                  <a:fillRect l="-363"/>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EF25A6D0-21BC-9B3E-D9FB-9338E8F03125}"/>
              </a:ext>
            </a:extLst>
          </p:cNvPr>
          <p:cNvSpPr txBox="1">
            <a:spLocks/>
          </p:cNvSpPr>
          <p:nvPr/>
        </p:nvSpPr>
        <p:spPr>
          <a:xfrm>
            <a:off x="469869" y="5435966"/>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3:</a:t>
            </a:r>
          </a:p>
        </p:txBody>
      </p:sp>
      <p:sp>
        <p:nvSpPr>
          <p:cNvPr id="22" name="Text Placeholder 5">
            <a:extLst>
              <a:ext uri="{FF2B5EF4-FFF2-40B4-BE49-F238E27FC236}">
                <a16:creationId xmlns:a16="http://schemas.microsoft.com/office/drawing/2014/main" id="{700A4823-636B-8E65-BB0A-D18FD6AA5872}"/>
              </a:ext>
            </a:extLst>
          </p:cNvPr>
          <p:cNvSpPr txBox="1">
            <a:spLocks/>
          </p:cNvSpPr>
          <p:nvPr/>
        </p:nvSpPr>
        <p:spPr>
          <a:xfrm>
            <a:off x="1337760" y="5471709"/>
            <a:ext cx="6714417" cy="422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Return the values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C09EF3AF-CD46-0309-ADF3-965A3D4EC9B0}"/>
                  </a:ext>
                </a:extLst>
              </p:cNvPr>
              <p:cNvSpPr txBox="1">
                <a:spLocks/>
              </p:cNvSpPr>
              <p:nvPr/>
            </p:nvSpPr>
            <p:spPr>
              <a:xfrm>
                <a:off x="1773569" y="5680185"/>
                <a:ext cx="6510716" cy="7786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p>
                                    </m:e>
                                  </m:mr>
                                </m:m>
                              </m:e>
                            </m:mr>
                          </m:m>
                          <m:r>
                            <a:rPr lang="en-NZ" altLang="ja-JP" sz="1600" b="1" i="1" smtClean="0">
                              <a:solidFill>
                                <a:prstClr val="black"/>
                              </a:solidFill>
                              <a:latin typeface="Cambria Math" panose="02040503050406030204" pitchFamily="18" charset="0"/>
                            </a:rPr>
                            <m:t> </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r>
                                        <m:e>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d>
                                <m:r>
                                  <a:rPr lang="en-NZ" altLang="ja-JP" sz="1600" b="1" i="1" smtClean="0">
                                    <a:solidFill>
                                      <a:prstClr val="black"/>
                                    </a:solidFill>
                                    <a:latin typeface="Cambria Math" panose="02040503050406030204" pitchFamily="18" charset="0"/>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smtClean="0">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r>
                                        <m:e>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
                                  </m:e>
                                </m:d>
                                <m:r>
                                  <a:rPr lang="en-NZ" altLang="ja-JP" sz="1600" b="1" i="1" smtClean="0">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r>
                                              <m:e>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
                                        </m:e>
                                      </m:d>
                                    </m:e>
                                  </m:mr>
                                </m:m>
                              </m:e>
                            </m:mr>
                          </m: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C09EF3AF-CD46-0309-ADF3-965A3D4EC9B0}"/>
                  </a:ext>
                </a:extLst>
              </p:cNvPr>
              <p:cNvSpPr txBox="1">
                <a:spLocks noRot="1" noChangeAspect="1" noMove="1" noResize="1" noEditPoints="1" noAdjustHandles="1" noChangeArrowheads="1" noChangeShapeType="1" noTextEdit="1"/>
              </p:cNvSpPr>
              <p:nvPr/>
            </p:nvSpPr>
            <p:spPr>
              <a:xfrm>
                <a:off x="1773569" y="5680185"/>
                <a:ext cx="6510716" cy="778675"/>
              </a:xfrm>
              <a:prstGeom prst="rect">
                <a:avLst/>
              </a:prstGeom>
              <a:blipFill>
                <a:blip r:embed="rId10"/>
                <a:stretch>
                  <a:fillRect/>
                </a:stretch>
              </a:blipFill>
            </p:spPr>
            <p:txBody>
              <a:bodyPr/>
              <a:lstStyle/>
              <a:p>
                <a:r>
                  <a:rPr lang="en-NZ">
                    <a:noFill/>
                  </a:rPr>
                  <a:t> </a:t>
                </a:r>
              </a:p>
            </p:txBody>
          </p:sp>
        </mc:Fallback>
      </mc:AlternateContent>
      <p:sp>
        <p:nvSpPr>
          <p:cNvPr id="24" name="Right Brace 23">
            <a:extLst>
              <a:ext uri="{FF2B5EF4-FFF2-40B4-BE49-F238E27FC236}">
                <a16:creationId xmlns:a16="http://schemas.microsoft.com/office/drawing/2014/main" id="{1146D6CC-3F5E-8A74-E5DC-7FC33F5657FA}"/>
              </a:ext>
            </a:extLst>
          </p:cNvPr>
          <p:cNvSpPr/>
          <p:nvPr/>
        </p:nvSpPr>
        <p:spPr>
          <a:xfrm>
            <a:off x="5928369" y="4284056"/>
            <a:ext cx="400334" cy="7773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5" name="Text Placeholder 5">
            <a:extLst>
              <a:ext uri="{FF2B5EF4-FFF2-40B4-BE49-F238E27FC236}">
                <a16:creationId xmlns:a16="http://schemas.microsoft.com/office/drawing/2014/main" id="{8BB02BBB-13CA-4682-75A3-9936283C1ED3}"/>
              </a:ext>
            </a:extLst>
          </p:cNvPr>
          <p:cNvSpPr txBox="1">
            <a:spLocks/>
          </p:cNvSpPr>
          <p:nvPr/>
        </p:nvSpPr>
        <p:spPr>
          <a:xfrm>
            <a:off x="6419927" y="4310238"/>
            <a:ext cx="3800667" cy="8105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Note that in 2D examples conditional densities are univariate making them much easier to sample from compared to </a:t>
            </a:r>
            <a:r>
              <a:rPr kumimoji="1" lang="en-NZ" altLang="ja-JP" sz="1400" b="0" i="0" u="none" strike="noStrike" kern="1200" cap="none" spc="0" normalizeH="0" baseline="0" noProof="0" dirty="0" err="1">
                <a:ln>
                  <a:noFill/>
                </a:ln>
                <a:solidFill>
                  <a:schemeClr val="bg2">
                    <a:lumMod val="50000"/>
                  </a:schemeClr>
                </a:solidFill>
                <a:effectLst/>
                <a:uLnTx/>
                <a:uFillTx/>
                <a:latin typeface="Calibri" panose="020F0502020204030204"/>
                <a:ea typeface="游ゴシック" panose="020B0400000000000000" pitchFamily="34" charset="-128"/>
                <a:cs typeface="+mn-cs"/>
              </a:rPr>
              <a:t>nD</a:t>
            </a: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 examples.</a:t>
            </a:r>
            <a:endPar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13EC4600-3384-C71D-9A07-45F31443FF8E}"/>
                  </a:ext>
                </a:extLst>
              </p:cNvPr>
              <p:cNvSpPr txBox="1">
                <a:spLocks/>
              </p:cNvSpPr>
              <p:nvPr/>
            </p:nvSpPr>
            <p:spPr>
              <a:xfrm>
                <a:off x="1605844" y="3765991"/>
                <a:ext cx="9406743"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the chain</a:t>
                </a:r>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is currently at </a:t>
                </a:r>
                <a14:m>
                  <m:oMath xmlns:m="http://schemas.openxmlformats.org/officeDocument/2006/math">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  </m:t>
                    </m:r>
                    <m:d>
                      <m:dPr>
                        <m:ctrlPr>
                          <a:rPr lang="en-NZ" altLang="ja-JP" sz="1600" b="1" i="1" smtClean="0">
                            <a:solidFill>
                              <a:prstClr val="black"/>
                            </a:solidFill>
                            <a:latin typeface="Cambria Math" panose="02040503050406030204" pitchFamily="18" charset="0"/>
                          </a:rPr>
                        </m:ctrlPr>
                      </m:dP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smtClean="0">
                                <a:solidFill>
                                  <a:prstClr val="black"/>
                                </a:solidFill>
                                <a:latin typeface="Cambria Math" panose="02040503050406030204" pitchFamily="18" charset="0"/>
                              </a:rPr>
                              <m:t>  </m:t>
                            </m:r>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d>
                  </m:oMath>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13EC4600-3384-C71D-9A07-45F31443FF8E}"/>
                  </a:ext>
                </a:extLst>
              </p:cNvPr>
              <p:cNvSpPr txBox="1">
                <a:spLocks noRot="1" noChangeAspect="1" noMove="1" noResize="1" noEditPoints="1" noAdjustHandles="1" noChangeArrowheads="1" noChangeShapeType="1" noTextEdit="1"/>
              </p:cNvSpPr>
              <p:nvPr/>
            </p:nvSpPr>
            <p:spPr>
              <a:xfrm>
                <a:off x="1605844" y="3765991"/>
                <a:ext cx="9406743" cy="444436"/>
              </a:xfrm>
              <a:prstGeom prst="rect">
                <a:avLst/>
              </a:prstGeom>
              <a:blipFill>
                <a:blip r:embed="rId11"/>
                <a:stretch>
                  <a:fillRect l="-324" b="-8219"/>
                </a:stretch>
              </a:blipFill>
            </p:spPr>
            <p:txBody>
              <a:bodyPr/>
              <a:lstStyle/>
              <a:p>
                <a:r>
                  <a:rPr lang="en-NZ">
                    <a:noFill/>
                  </a:rPr>
                  <a:t> </a:t>
                </a:r>
              </a:p>
            </p:txBody>
          </p:sp>
        </mc:Fallback>
      </mc:AlternateContent>
    </p:spTree>
    <p:extLst>
      <p:ext uri="{BB962C8B-B14F-4D97-AF65-F5344CB8AC3E}">
        <p14:creationId xmlns:p14="http://schemas.microsoft.com/office/powerpoint/2010/main" val="334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3" grpId="0"/>
      <p:bldP spid="24" grpId="0" animBg="1"/>
      <p:bldP spid="25"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Gibbs Sampling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.3c – Gibbs Sampling </a:t>
            </a:r>
            <a:r>
              <a:rPr lang="en-US" altLang="ja-JP" b="1" u="sng" dirty="0">
                <a:solidFill>
                  <a:prstClr val="black"/>
                </a:solidFill>
                <a:latin typeface="Calibri" panose="020F0502020204030204"/>
                <a:ea typeface="游ゴシック Light" panose="020B0300000000000000" pitchFamily="34" charset="-128"/>
              </a:rPr>
              <a:t>Algorithm in </a:t>
            </a:r>
            <a:r>
              <a:rPr lang="en-US" altLang="ja-JP" b="1" u="sng" dirty="0" err="1">
                <a:solidFill>
                  <a:prstClr val="black"/>
                </a:solidFill>
                <a:latin typeface="Calibri" panose="020F0502020204030204"/>
                <a:ea typeface="游ゴシック Light" panose="020B0300000000000000" pitchFamily="34" charset="-128"/>
              </a:rPr>
              <a:t>nD</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2" y="947579"/>
                <a:ext cx="1187253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Given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random variables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 probability density function </a:t>
                </a: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oMath>
                </a14:m>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corresponding conditional densities…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457F00DC-2A2A-B09D-D6C4-D8C040CD6909}"/>
                  </a:ext>
                </a:extLst>
              </p:cNvPr>
              <p:cNvSpPr txBox="1">
                <a:spLocks noRot="1" noChangeAspect="1" noMove="1" noResize="1" noEditPoints="1" noAdjustHandles="1" noChangeArrowheads="1" noChangeShapeType="1" noTextEdit="1"/>
              </p:cNvSpPr>
              <p:nvPr/>
            </p:nvSpPr>
            <p:spPr>
              <a:xfrm>
                <a:off x="319462" y="947579"/>
                <a:ext cx="11872537" cy="675343"/>
              </a:xfrm>
              <a:prstGeom prst="rect">
                <a:avLst/>
              </a:prstGeom>
              <a:blipFill>
                <a:blip r:embed="rId3"/>
                <a:stretch>
                  <a:fillRect l="-257"/>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3691BBC8-61AC-26FA-1E81-C0FED148F887}"/>
              </a:ext>
            </a:extLst>
          </p:cNvPr>
          <p:cNvSpPr txBox="1">
            <a:spLocks/>
          </p:cNvSpPr>
          <p:nvPr/>
        </p:nvSpPr>
        <p:spPr>
          <a:xfrm>
            <a:off x="319463" y="2010335"/>
            <a:ext cx="11608680"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Gibbs Sampling algorithm can be described as follows.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90FFBC1C-5C13-C3B6-E9BB-3A60D53F11BF}"/>
              </a:ext>
            </a:extLst>
          </p:cNvPr>
          <p:cNvSpPr txBox="1">
            <a:spLocks/>
          </p:cNvSpPr>
          <p:nvPr/>
        </p:nvSpPr>
        <p:spPr>
          <a:xfrm>
            <a:off x="469870" y="2490514"/>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1:</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4EA74779-3513-CD9F-2A78-09AD3E058F9D}"/>
                  </a:ext>
                </a:extLst>
              </p:cNvPr>
              <p:cNvSpPr txBox="1">
                <a:spLocks/>
              </p:cNvSpPr>
              <p:nvPr/>
            </p:nvSpPr>
            <p:spPr>
              <a:xfrm>
                <a:off x="1337761" y="2441472"/>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Specify an initial value  </a:t>
                </a:r>
                <a14:m>
                  <m:oMath xmlns:m="http://schemas.openxmlformats.org/officeDocument/2006/math">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ba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m>
                                <m:mPr>
                                  <m:mcs>
                                    <m:mc>
                                      <m:mcPr>
                                        <m:count m:val="3"/>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r>
                                      <a:rPr lang="en-NZ" altLang="ja-JP" sz="1600" b="1" i="1" smtClean="0">
                                        <a:solidFill>
                                          <a:prstClr val="black"/>
                                        </a:solidFill>
                                        <a:latin typeface="Cambria Math" panose="02040503050406030204" pitchFamily="18" charset="0"/>
                                      </a:rPr>
                                      <m:t>…,</m:t>
                                    </m:r>
                                  </m:e>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mr>
                        </m:m>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4EA74779-3513-CD9F-2A78-09AD3E058F9D}"/>
                  </a:ext>
                </a:extLst>
              </p:cNvPr>
              <p:cNvSpPr txBox="1">
                <a:spLocks noRot="1" noChangeAspect="1" noMove="1" noResize="1" noEditPoints="1" noAdjustHandles="1" noChangeArrowheads="1" noChangeShapeType="1" noTextEdit="1"/>
              </p:cNvSpPr>
              <p:nvPr/>
            </p:nvSpPr>
            <p:spPr>
              <a:xfrm>
                <a:off x="1337761" y="2441472"/>
                <a:ext cx="6714417" cy="444436"/>
              </a:xfrm>
              <a:prstGeom prst="rect">
                <a:avLst/>
              </a:prstGeom>
              <a:blipFill>
                <a:blip r:embed="rId4"/>
                <a:stretch>
                  <a:fillRect l="-454" b="-9722"/>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584102F-F492-3470-B515-DECF9D42D1F5}"/>
              </a:ext>
            </a:extLst>
          </p:cNvPr>
          <p:cNvSpPr txBox="1">
            <a:spLocks/>
          </p:cNvSpPr>
          <p:nvPr/>
        </p:nvSpPr>
        <p:spPr>
          <a:xfrm>
            <a:off x="469870" y="3016903"/>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2:</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403F963-0E6F-A449-6E10-F8B14EDF5450}"/>
                  </a:ext>
                </a:extLst>
              </p:cNvPr>
              <p:cNvSpPr txBox="1">
                <a:spLocks/>
              </p:cNvSpPr>
              <p:nvPr/>
            </p:nvSpPr>
            <p:spPr>
              <a:xfrm>
                <a:off x="1337761" y="3042479"/>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(where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large)</a:t>
                </a:r>
              </a:p>
            </p:txBody>
          </p:sp>
        </mc:Choice>
        <mc:Fallback xmlns="">
          <p:sp>
            <p:nvSpPr>
              <p:cNvPr id="18" name="Text Placeholder 5">
                <a:extLst>
                  <a:ext uri="{FF2B5EF4-FFF2-40B4-BE49-F238E27FC236}">
                    <a16:creationId xmlns:a16="http://schemas.microsoft.com/office/drawing/2014/main" id="{4403F963-0E6F-A449-6E10-F8B14EDF5450}"/>
                  </a:ext>
                </a:extLst>
              </p:cNvPr>
              <p:cNvSpPr txBox="1">
                <a:spLocks noRot="1" noChangeAspect="1" noMove="1" noResize="1" noEditPoints="1" noAdjustHandles="1" noChangeArrowheads="1" noChangeShapeType="1" noTextEdit="1"/>
              </p:cNvSpPr>
              <p:nvPr/>
            </p:nvSpPr>
            <p:spPr>
              <a:xfrm>
                <a:off x="1337761" y="3042479"/>
                <a:ext cx="6714417" cy="444436"/>
              </a:xfrm>
              <a:prstGeom prst="rect">
                <a:avLst/>
              </a:prstGeom>
              <a:blipFill>
                <a:blip r:embed="rId5"/>
                <a:stretch>
                  <a:fillRect l="-454" t="-41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8D13141-5E7F-52A2-E145-0777BD831821}"/>
                  </a:ext>
                </a:extLst>
              </p:cNvPr>
              <p:cNvSpPr txBox="1">
                <a:spLocks/>
              </p:cNvSpPr>
              <p:nvPr/>
            </p:nvSpPr>
            <p:spPr>
              <a:xfrm>
                <a:off x="1773475" y="3725097"/>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Sub>
                      </m:sub>
                    </m:sSub>
                    <m:r>
                      <a:rPr lang="en-NZ" altLang="ja-JP" sz="1400" b="1" i="1">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smtClean="0">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m>
                                <m:mPr>
                                  <m:mcs>
                                    <m:mc>
                                      <m:mcPr>
                                        <m:count m:val="2"/>
                                        <m:mcJc m:val="center"/>
                                      </m:mcPr>
                                    </m:mc>
                                  </m:mcs>
                                  <m:ctrlPr>
                                    <a:rPr lang="en-NZ" altLang="ja-JP" sz="1400" b="1" i="1" smtClean="0">
                                      <a:solidFill>
                                        <a:prstClr val="black"/>
                                      </a:solidFill>
                                      <a:latin typeface="Cambria Math" panose="02040503050406030204" pitchFamily="18" charset="0"/>
                                    </a:rPr>
                                  </m:ctrlPr>
                                </m:mPr>
                                <m:mr>
                                  <m:e>
                                    <m:r>
                                      <m:rPr>
                                        <m:brk m:alnAt="7"/>
                                      </m:rP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D8D13141-5E7F-52A2-E145-0777BD831821}"/>
                  </a:ext>
                </a:extLst>
              </p:cNvPr>
              <p:cNvSpPr txBox="1">
                <a:spLocks noRot="1" noChangeAspect="1" noMove="1" noResize="1" noEditPoints="1" noAdjustHandles="1" noChangeArrowheads="1" noChangeShapeType="1" noTextEdit="1"/>
              </p:cNvSpPr>
              <p:nvPr/>
            </p:nvSpPr>
            <p:spPr>
              <a:xfrm>
                <a:off x="1773475" y="3725097"/>
                <a:ext cx="6714417" cy="444436"/>
              </a:xfrm>
              <a:prstGeom prst="rect">
                <a:avLst/>
              </a:prstGeom>
              <a:blipFill>
                <a:blip r:embed="rId6"/>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C3A34A9-C601-CCD3-5967-D4F4138F3DA3}"/>
                  </a:ext>
                </a:extLst>
              </p:cNvPr>
              <p:cNvSpPr txBox="1">
                <a:spLocks/>
              </p:cNvSpPr>
              <p:nvPr/>
            </p:nvSpPr>
            <p:spPr>
              <a:xfrm>
                <a:off x="1773475" y="4179893"/>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2"/>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𝟐</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C3A34A9-C601-CCD3-5967-D4F4138F3DA3}"/>
                  </a:ext>
                </a:extLst>
              </p:cNvPr>
              <p:cNvSpPr txBox="1">
                <a:spLocks noRot="1" noChangeAspect="1" noMove="1" noResize="1" noEditPoints="1" noAdjustHandles="1" noChangeArrowheads="1" noChangeShapeType="1" noTextEdit="1"/>
              </p:cNvSpPr>
              <p:nvPr/>
            </p:nvSpPr>
            <p:spPr>
              <a:xfrm>
                <a:off x="1773475" y="4179893"/>
                <a:ext cx="6714417" cy="444436"/>
              </a:xfrm>
              <a:prstGeom prst="rect">
                <a:avLst/>
              </a:prstGeom>
              <a:blipFill>
                <a:blip r:embed="rId7"/>
                <a:stretch>
                  <a:fillRect l="-454"/>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EF25A6D0-21BC-9B3E-D9FB-9338E8F03125}"/>
              </a:ext>
            </a:extLst>
          </p:cNvPr>
          <p:cNvSpPr txBox="1">
            <a:spLocks/>
          </p:cNvSpPr>
          <p:nvPr/>
        </p:nvSpPr>
        <p:spPr>
          <a:xfrm>
            <a:off x="469870" y="5727858"/>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3:</a:t>
            </a:r>
          </a:p>
        </p:txBody>
      </p:sp>
      <p:sp>
        <p:nvSpPr>
          <p:cNvPr id="22" name="Text Placeholder 5">
            <a:extLst>
              <a:ext uri="{FF2B5EF4-FFF2-40B4-BE49-F238E27FC236}">
                <a16:creationId xmlns:a16="http://schemas.microsoft.com/office/drawing/2014/main" id="{700A4823-636B-8E65-BB0A-D18FD6AA5872}"/>
              </a:ext>
            </a:extLst>
          </p:cNvPr>
          <p:cNvSpPr txBox="1">
            <a:spLocks/>
          </p:cNvSpPr>
          <p:nvPr/>
        </p:nvSpPr>
        <p:spPr>
          <a:xfrm>
            <a:off x="1337760" y="5754622"/>
            <a:ext cx="6714417" cy="422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Return the values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C09EF3AF-CD46-0309-ADF3-965A3D4EC9B0}"/>
                  </a:ext>
                </a:extLst>
              </p:cNvPr>
              <p:cNvSpPr txBox="1">
                <a:spLocks/>
              </p:cNvSpPr>
              <p:nvPr/>
            </p:nvSpPr>
            <p:spPr>
              <a:xfrm>
                <a:off x="1773473" y="5797913"/>
                <a:ext cx="6510716" cy="1070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p>
                                    </m:e>
                                  </m:mr>
                                </m:m>
                              </m:e>
                            </m:mr>
                          </m:m>
                          <m:r>
                            <a:rPr lang="en-NZ" altLang="ja-JP" sz="1600" b="1" i="1" smtClean="0">
                              <a:solidFill>
                                <a:prstClr val="black"/>
                              </a:solidFill>
                              <a:latin typeface="Cambria Math" panose="02040503050406030204" pitchFamily="18" charset="0"/>
                            </a:rPr>
                            <m:t> </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r>
                                        <m:e>
                                          <m:r>
                                            <a:rPr lang="en-NZ" altLang="ja-JP" sz="1600" b="1" i="1" smtClean="0">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d>
                                <m:r>
                                  <a:rPr lang="en-NZ" altLang="ja-JP" sz="1600" b="1" i="1" smtClean="0">
                                    <a:solidFill>
                                      <a:prstClr val="black"/>
                                    </a:solidFill>
                                    <a:latin typeface="Cambria Math" panose="02040503050406030204" pitchFamily="18" charset="0"/>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
                                  </m:e>
                                </m:d>
                                <m:r>
                                  <a:rPr lang="en-NZ" altLang="ja-JP" sz="1600" b="1" i="1">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
                                        </m:e>
                                      </m:d>
                                    </m:e>
                                  </m:mr>
                                </m:m>
                                <m:r>
                                  <a:rPr lang="en-NZ" altLang="ja-JP" sz="1600" b="1" i="1" smtClean="0">
                                    <a:solidFill>
                                      <a:prstClr val="black"/>
                                    </a:solidFill>
                                    <a:latin typeface="Cambria Math" panose="02040503050406030204" pitchFamily="18" charset="0"/>
                                  </a:rPr>
                                  <m:t> </m:t>
                                </m:r>
                              </m:e>
                            </m:mr>
                          </m: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C09EF3AF-CD46-0309-ADF3-965A3D4EC9B0}"/>
                  </a:ext>
                </a:extLst>
              </p:cNvPr>
              <p:cNvSpPr txBox="1">
                <a:spLocks noRot="1" noChangeAspect="1" noMove="1" noResize="1" noEditPoints="1" noAdjustHandles="1" noChangeArrowheads="1" noChangeShapeType="1" noTextEdit="1"/>
              </p:cNvSpPr>
              <p:nvPr/>
            </p:nvSpPr>
            <p:spPr>
              <a:xfrm>
                <a:off x="1773473" y="5797913"/>
                <a:ext cx="6510716" cy="1070237"/>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A879482-9A35-CE6D-3413-386E1C689CD3}"/>
                  </a:ext>
                </a:extLst>
              </p:cNvPr>
              <p:cNvSpPr txBox="1"/>
              <p:nvPr/>
            </p:nvSpPr>
            <p:spPr>
              <a:xfrm>
                <a:off x="3059881" y="1305234"/>
                <a:ext cx="6127844" cy="724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r>
                                <a:rPr lang="en-NZ" altLang="ja-JP" sz="1600" b="1" i="1">
                                  <a:solidFill>
                                    <a:prstClr val="black"/>
                                  </a:solidFill>
                                  <a:latin typeface="Cambria Math" panose="02040503050406030204" pitchFamily="18" charset="0"/>
                                </a:rPr>
                                <m:t> ,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den>
                      </m:f>
                    </m:oMath>
                  </m:oMathPara>
                </a14:m>
                <a:endParaRPr lang="en-NZ" sz="1600" dirty="0"/>
              </a:p>
            </p:txBody>
          </p:sp>
        </mc:Choice>
        <mc:Fallback xmlns="">
          <p:sp>
            <p:nvSpPr>
              <p:cNvPr id="9" name="TextBox 8">
                <a:extLst>
                  <a:ext uri="{FF2B5EF4-FFF2-40B4-BE49-F238E27FC236}">
                    <a16:creationId xmlns:a16="http://schemas.microsoft.com/office/drawing/2014/main" id="{AA879482-9A35-CE6D-3413-386E1C689CD3}"/>
                  </a:ext>
                </a:extLst>
              </p:cNvPr>
              <p:cNvSpPr txBox="1">
                <a:spLocks noRot="1" noChangeAspect="1" noMove="1" noResize="1" noEditPoints="1" noAdjustHandles="1" noChangeArrowheads="1" noChangeShapeType="1" noTextEdit="1"/>
              </p:cNvSpPr>
              <p:nvPr/>
            </p:nvSpPr>
            <p:spPr>
              <a:xfrm>
                <a:off x="3059881" y="1305234"/>
                <a:ext cx="6127844" cy="724494"/>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7A0DE8A4-0F73-7343-958B-BD3B7A6873F0}"/>
                  </a:ext>
                </a:extLst>
              </p:cNvPr>
              <p:cNvSpPr txBox="1">
                <a:spLocks/>
              </p:cNvSpPr>
              <p:nvPr/>
            </p:nvSpPr>
            <p:spPr>
              <a:xfrm>
                <a:off x="1773474" y="4605930"/>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3"/>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3" name="Text Placeholder 5">
                <a:extLst>
                  <a:ext uri="{FF2B5EF4-FFF2-40B4-BE49-F238E27FC236}">
                    <a16:creationId xmlns:a16="http://schemas.microsoft.com/office/drawing/2014/main" id="{7A0DE8A4-0F73-7343-958B-BD3B7A6873F0}"/>
                  </a:ext>
                </a:extLst>
              </p:cNvPr>
              <p:cNvSpPr txBox="1">
                <a:spLocks noRot="1" noChangeAspect="1" noMove="1" noResize="1" noEditPoints="1" noAdjustHandles="1" noChangeArrowheads="1" noChangeShapeType="1" noTextEdit="1"/>
              </p:cNvSpPr>
              <p:nvPr/>
            </p:nvSpPr>
            <p:spPr>
              <a:xfrm>
                <a:off x="1773474" y="4605930"/>
                <a:ext cx="6714417" cy="444436"/>
              </a:xfrm>
              <a:prstGeom prst="rect">
                <a:avLst/>
              </a:prstGeom>
              <a:blipFill>
                <a:blip r:embed="rId10"/>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0E800249-C203-B3C0-DF65-CBCF136D94FD}"/>
                  </a:ext>
                </a:extLst>
              </p:cNvPr>
              <p:cNvSpPr txBox="1">
                <a:spLocks/>
              </p:cNvSpPr>
              <p:nvPr/>
            </p:nvSpPr>
            <p:spPr>
              <a:xfrm>
                <a:off x="1773473" y="5217936"/>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16"/>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0E800249-C203-B3C0-DF65-CBCF136D94FD}"/>
                  </a:ext>
                </a:extLst>
              </p:cNvPr>
              <p:cNvSpPr txBox="1">
                <a:spLocks noRot="1" noChangeAspect="1" noMove="1" noResize="1" noEditPoints="1" noAdjustHandles="1" noChangeArrowheads="1" noChangeShapeType="1" noTextEdit="1"/>
              </p:cNvSpPr>
              <p:nvPr/>
            </p:nvSpPr>
            <p:spPr>
              <a:xfrm>
                <a:off x="1773473" y="5217936"/>
                <a:ext cx="6714417" cy="444436"/>
              </a:xfrm>
              <a:prstGeom prst="rect">
                <a:avLst/>
              </a:prstGeom>
              <a:blipFill>
                <a:blip r:embed="rId11"/>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87F075B-5C42-A988-C71E-953ADB77AF82}"/>
                  </a:ext>
                </a:extLst>
              </p:cNvPr>
              <p:cNvSpPr txBox="1">
                <a:spLocks/>
              </p:cNvSpPr>
              <p:nvPr/>
            </p:nvSpPr>
            <p:spPr>
              <a:xfrm>
                <a:off x="2956291" y="5018144"/>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687F075B-5C42-A988-C71E-953ADB77AF82}"/>
                  </a:ext>
                </a:extLst>
              </p:cNvPr>
              <p:cNvSpPr txBox="1">
                <a:spLocks noRot="1" noChangeAspect="1" noMove="1" noResize="1" noEditPoints="1" noAdjustHandles="1" noChangeArrowheads="1" noChangeShapeType="1" noTextEdit="1"/>
              </p:cNvSpPr>
              <p:nvPr/>
            </p:nvSpPr>
            <p:spPr>
              <a:xfrm>
                <a:off x="2956291" y="5018144"/>
                <a:ext cx="534725" cy="444436"/>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19385AD8-7FED-1AEF-8D20-95A0C5D74D35}"/>
                  </a:ext>
                </a:extLst>
              </p:cNvPr>
              <p:cNvSpPr txBox="1">
                <a:spLocks/>
              </p:cNvSpPr>
              <p:nvPr/>
            </p:nvSpPr>
            <p:spPr>
              <a:xfrm>
                <a:off x="3926727" y="5031319"/>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19385AD8-7FED-1AEF-8D20-95A0C5D74D35}"/>
                  </a:ext>
                </a:extLst>
              </p:cNvPr>
              <p:cNvSpPr txBox="1">
                <a:spLocks noRot="1" noChangeAspect="1" noMove="1" noResize="1" noEditPoints="1" noAdjustHandles="1" noChangeArrowheads="1" noChangeShapeType="1" noTextEdit="1"/>
              </p:cNvSpPr>
              <p:nvPr/>
            </p:nvSpPr>
            <p:spPr>
              <a:xfrm>
                <a:off x="3926727" y="5031319"/>
                <a:ext cx="534725" cy="444436"/>
              </a:xfrm>
              <a:prstGeom prst="rect">
                <a:avLst/>
              </a:prstGeom>
              <a:blipFill>
                <a:blip r:embed="rId1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C896E4BA-ACFD-A7CB-49EE-BB5C00FDFA35}"/>
                  </a:ext>
                </a:extLst>
              </p:cNvPr>
              <p:cNvSpPr txBox="1">
                <a:spLocks/>
              </p:cNvSpPr>
              <p:nvPr/>
            </p:nvSpPr>
            <p:spPr>
              <a:xfrm>
                <a:off x="5383168" y="5031967"/>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C896E4BA-ACFD-A7CB-49EE-BB5C00FDFA35}"/>
                  </a:ext>
                </a:extLst>
              </p:cNvPr>
              <p:cNvSpPr txBox="1">
                <a:spLocks noRot="1" noChangeAspect="1" noMove="1" noResize="1" noEditPoints="1" noAdjustHandles="1" noChangeArrowheads="1" noChangeShapeType="1" noTextEdit="1"/>
              </p:cNvSpPr>
              <p:nvPr/>
            </p:nvSpPr>
            <p:spPr>
              <a:xfrm>
                <a:off x="5383168" y="5031967"/>
                <a:ext cx="534725" cy="444436"/>
              </a:xfrm>
              <a:prstGeom prst="rect">
                <a:avLst/>
              </a:prstGeom>
              <a:blipFill>
                <a:blip r:embed="rId1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6F6D77CC-A54F-5CAB-6E20-A66AB52EA487}"/>
                  </a:ext>
                </a:extLst>
              </p:cNvPr>
              <p:cNvSpPr txBox="1">
                <a:spLocks/>
              </p:cNvSpPr>
              <p:nvPr/>
            </p:nvSpPr>
            <p:spPr>
              <a:xfrm>
                <a:off x="1717667" y="3301420"/>
                <a:ext cx="9406743"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Suppose the chain</a:t>
                </a:r>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is currently at </a:t>
                </a:r>
                <a14:m>
                  <m:oMath xmlns:m="http://schemas.openxmlformats.org/officeDocument/2006/math">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  </m:t>
                    </m:r>
                    <m:d>
                      <m:dPr>
                        <m:ctrlPr>
                          <a:rPr lang="en-NZ" altLang="ja-JP" sz="1600" b="1" i="1" smtClean="0">
                            <a:solidFill>
                              <a:prstClr val="black"/>
                            </a:solidFill>
                            <a:latin typeface="Cambria Math" panose="02040503050406030204" pitchFamily="18" charset="0"/>
                          </a:rPr>
                        </m:ctrlPr>
                      </m:dP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smtClean="0">
                                <a:solidFill>
                                  <a:prstClr val="black"/>
                                </a:solidFill>
                                <a:latin typeface="Cambria Math" panose="02040503050406030204" pitchFamily="18" charset="0"/>
                              </a:rPr>
                              <m:t>  </m:t>
                            </m:r>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𝒕</m:t>
                            </m:r>
                            <m:r>
                              <a:rPr lang="en-NZ" altLang="ja-JP" sz="1600" b="1" i="1" smtClean="0">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 …,</m:t>
                        </m:r>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  </m:t>
                            </m:r>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𝒕</m:t>
                            </m:r>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d>
                  </m:oMath>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4" name="Text Placeholder 5">
                <a:extLst>
                  <a:ext uri="{FF2B5EF4-FFF2-40B4-BE49-F238E27FC236}">
                    <a16:creationId xmlns:a16="http://schemas.microsoft.com/office/drawing/2014/main" id="{6F6D77CC-A54F-5CAB-6E20-A66AB52EA487}"/>
                  </a:ext>
                </a:extLst>
              </p:cNvPr>
              <p:cNvSpPr txBox="1">
                <a:spLocks noRot="1" noChangeAspect="1" noMove="1" noResize="1" noEditPoints="1" noAdjustHandles="1" noChangeArrowheads="1" noChangeShapeType="1" noTextEdit="1"/>
              </p:cNvSpPr>
              <p:nvPr/>
            </p:nvSpPr>
            <p:spPr>
              <a:xfrm>
                <a:off x="1717667" y="3301420"/>
                <a:ext cx="9406743" cy="444436"/>
              </a:xfrm>
              <a:prstGeom prst="rect">
                <a:avLst/>
              </a:prstGeom>
              <a:blipFill>
                <a:blip r:embed="rId15"/>
                <a:stretch>
                  <a:fillRect l="-389" b="-9722"/>
                </a:stretch>
              </a:blipFill>
            </p:spPr>
            <p:txBody>
              <a:bodyPr/>
              <a:lstStyle/>
              <a:p>
                <a:r>
                  <a:rPr lang="en-NZ">
                    <a:noFill/>
                  </a:rPr>
                  <a:t> </a:t>
                </a:r>
              </a:p>
            </p:txBody>
          </p:sp>
        </mc:Fallback>
      </mc:AlternateContent>
    </p:spTree>
    <p:extLst>
      <p:ext uri="{BB962C8B-B14F-4D97-AF65-F5344CB8AC3E}">
        <p14:creationId xmlns:p14="http://schemas.microsoft.com/office/powerpoint/2010/main" val="335587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3" grpId="0"/>
      <p:bldP spid="13" grpId="0"/>
      <p:bldP spid="24" grpId="0"/>
      <p:bldP spid="25" grpId="0"/>
      <p:bldP spid="26" grpId="0"/>
      <p:bldP spid="27"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Gibbs Sampling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.3d – Gibbs as a Special Case of the MH Algorithm:</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2" y="947580"/>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the acceptance stage of the Metropolis-Hastings algorithm we calculate the acceptance ratio</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9FAC7A9-B464-124D-31B4-D01F47079D53}"/>
                  </a:ext>
                </a:extLst>
              </p:cNvPr>
              <p:cNvSpPr txBox="1"/>
              <p:nvPr/>
            </p:nvSpPr>
            <p:spPr>
              <a:xfrm>
                <a:off x="3033486" y="1300406"/>
                <a:ext cx="6125028" cy="9039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𝒓</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r>
                            <a:rPr lang="en-NZ" altLang="ja-JP" sz="1800" b="1" i="1" smtClean="0">
                              <a:solidFill>
                                <a:schemeClr val="tx1"/>
                              </a:solidFill>
                              <a:latin typeface="Cambria Math" panose="02040503050406030204" pitchFamily="18" charset="0"/>
                            </a:rPr>
                            <m:t>𝒒</m:t>
                          </m:r>
                          <m:r>
                            <a:rPr lang="en-NZ" altLang="ja-JP" sz="1800" b="1" i="1" smtClean="0">
                              <a:solidFill>
                                <a:schemeClr val="tx1"/>
                              </a:solidFill>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a:latin typeface="Cambria Math" panose="02040503050406030204" pitchFamily="18" charset="0"/>
                                </a:rPr>
                                <m:t>𝒚</m:t>
                              </m:r>
                            </m:e>
                          </m:bar>
                          <m:r>
                            <a:rPr lang="en-NZ" altLang="ja-JP" b="1" i="1" smtClean="0">
                              <a:latin typeface="Cambria Math" panose="02040503050406030204" pitchFamily="18" charset="0"/>
                            </a:rPr>
                            <m:t> </m:t>
                          </m:r>
                          <m:r>
                            <a:rPr lang="en-NZ" altLang="ja-JP" sz="1800" b="1" i="1" smtClean="0">
                              <a:solidFill>
                                <a:schemeClr val="tx1"/>
                              </a:solidFill>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r>
                            <a:rPr lang="en-NZ" altLang="ja-JP" b="1" i="1">
                              <a:latin typeface="Cambria Math" panose="02040503050406030204" pitchFamily="18" charset="0"/>
                            </a:rPr>
                            <m:t>𝒒</m:t>
                          </m:r>
                          <m:r>
                            <a:rPr lang="en-NZ" altLang="ja-JP" b="1" i="1">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smtClean="0">
                              <a:latin typeface="Cambria Math" panose="02040503050406030204" pitchFamily="18" charset="0"/>
                            </a:rPr>
                            <m:t> </m:t>
                          </m:r>
                          <m:r>
                            <a:rPr lang="en-NZ" altLang="ja-JP" b="1" i="1">
                              <a:latin typeface="Cambria Math" panose="02040503050406030204" pitchFamily="18" charset="0"/>
                            </a:rPr>
                            <m:t>,</m:t>
                          </m:r>
                          <m:r>
                            <a:rPr lang="en-NZ" altLang="ja-JP" b="1" i="1" smtClean="0">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a:latin typeface="Cambria Math" panose="02040503050406030204" pitchFamily="18" charset="0"/>
                            </a:rPr>
                            <m:t>)</m:t>
                          </m:r>
                        </m:den>
                      </m:f>
                      <m:r>
                        <a:rPr lang="en-NZ" altLang="ja-JP" sz="1800" b="1" i="1" smtClean="0">
                          <a:solidFill>
                            <a:schemeClr val="tx1"/>
                          </a:solidFill>
                          <a:latin typeface="Cambria Math" panose="02040503050406030204" pitchFamily="18" charset="0"/>
                        </a:rPr>
                        <m:t>   ≡    </m:t>
                      </m:r>
                      <m:f>
                        <m:fPr>
                          <m:ctrlPr>
                            <a:rPr lang="en-NZ" altLang="ja-JP" b="1" i="1">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r>
                            <a:rPr lang="en-NZ" altLang="ja-JP" b="1" i="1">
                              <a:latin typeface="Cambria Math" panose="02040503050406030204" pitchFamily="18" charset="0"/>
                            </a:rPr>
                            <m:t>𝒒</m:t>
                          </m:r>
                          <m:r>
                            <a:rPr lang="en-NZ" altLang="ja-JP" b="1" i="1">
                              <a:latin typeface="Cambria Math" panose="02040503050406030204" pitchFamily="18" charset="0"/>
                            </a:rPr>
                            <m:t>(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smtClean="0">
                              <a:latin typeface="Cambria Math" panose="02040503050406030204" pitchFamily="18" charset="0"/>
                            </a:rPr>
                            <m:t> |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r>
                            <a:rPr lang="en-NZ" altLang="ja-JP" b="1" i="1" smtClean="0">
                              <a:latin typeface="Cambria Math" panose="02040503050406030204" pitchFamily="18" charset="0"/>
                            </a:rPr>
                            <m:t>𝒒</m:t>
                          </m:r>
                          <m:r>
                            <a:rPr lang="en-NZ" altLang="ja-JP" b="1" i="1" smtClean="0">
                              <a:latin typeface="Cambria Math" panose="02040503050406030204" pitchFamily="18" charset="0"/>
                            </a:rPr>
                            <m:t>(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smtClean="0">
                              <a:latin typeface="Cambria Math" panose="02040503050406030204" pitchFamily="18" charset="0"/>
                            </a:rPr>
                            <m:t> |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a:latin typeface="Cambria Math" panose="02040503050406030204" pitchFamily="18" charset="0"/>
                            </a:rPr>
                            <m:t>)</m:t>
                          </m:r>
                        </m:den>
                      </m:f>
                    </m:oMath>
                  </m:oMathPara>
                </a14:m>
                <a:endParaRPr lang="en-NZ" dirty="0"/>
              </a:p>
            </p:txBody>
          </p:sp>
        </mc:Choice>
        <mc:Fallback xmlns="">
          <p:sp>
            <p:nvSpPr>
              <p:cNvPr id="7" name="TextBox 6">
                <a:extLst>
                  <a:ext uri="{FF2B5EF4-FFF2-40B4-BE49-F238E27FC236}">
                    <a16:creationId xmlns:a16="http://schemas.microsoft.com/office/drawing/2014/main" id="{59FAC7A9-B464-124D-31B4-D01F47079D53}"/>
                  </a:ext>
                </a:extLst>
              </p:cNvPr>
              <p:cNvSpPr txBox="1">
                <a:spLocks noRot="1" noChangeAspect="1" noMove="1" noResize="1" noEditPoints="1" noAdjustHandles="1" noChangeArrowheads="1" noChangeShapeType="1" noTextEdit="1"/>
              </p:cNvSpPr>
              <p:nvPr/>
            </p:nvSpPr>
            <p:spPr>
              <a:xfrm>
                <a:off x="3033486" y="1300406"/>
                <a:ext cx="6125028" cy="903902"/>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A10A8841-662B-EEA9-48DD-37AA7C400B04}"/>
                  </a:ext>
                </a:extLst>
              </p:cNvPr>
              <p:cNvSpPr txBox="1">
                <a:spLocks/>
              </p:cNvSpPr>
              <p:nvPr/>
            </p:nvSpPr>
            <p:spPr>
              <a:xfrm>
                <a:off x="319455" y="2449198"/>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the case of Gibbs Sampling, if the chain is at state </a:t>
                </a:r>
                <a14:m>
                  <m:oMath xmlns:m="http://schemas.openxmlformats.org/officeDocument/2006/math">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𝒚</m:t>
                        </m:r>
                      </m:e>
                    </m:ba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 new state </a:t>
                </a:r>
                <a14:m>
                  <m:oMath xmlns:m="http://schemas.openxmlformats.org/officeDocument/2006/math">
                    <m:bar>
                      <m:barPr>
                        <m:ctrlPr>
                          <a:rPr lang="en-NZ" altLang="ja-JP" sz="1600" b="1" i="1" smtClean="0">
                            <a:solidFill>
                              <a:prstClr val="black"/>
                            </a:solidFill>
                            <a:latin typeface="Cambria Math" panose="02040503050406030204" pitchFamily="18" charset="0"/>
                          </a:rPr>
                        </m:ctrlPr>
                      </m:barPr>
                      <m:e>
                        <m:r>
                          <a:rPr lang="en-NZ" altLang="ja-JP" sz="1600" b="1" i="1" smtClean="0">
                            <a:solidFill>
                              <a:prstClr val="black"/>
                            </a:solidFill>
                            <a:latin typeface="Cambria Math" panose="02040503050406030204" pitchFamily="18" charset="0"/>
                          </a:rPr>
                          <m:t>𝒙</m:t>
                        </m:r>
                      </m:e>
                    </m:ba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proposed,</a:t>
                </a:r>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t>
                </a:r>
                <a:b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then </a:t>
                </a:r>
                <a14:m>
                  <m:oMath xmlns:m="http://schemas.openxmlformats.org/officeDocument/2006/math">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oMath>
                </a14:m>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and </a:t>
                </a:r>
                <a14:m>
                  <m:oMath xmlns:m="http://schemas.openxmlformats.org/officeDocument/2006/math">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𝒚</m:t>
                        </m:r>
                      </m:e>
                    </m:bar>
                  </m:oMath>
                </a14:m>
                <a:r>
                  <a:rPr kumimoji="1" lang="en-US"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differ only in terms of the </a:t>
                </a:r>
                <a14:m>
                  <m:oMath xmlns:m="http://schemas.openxmlformats.org/officeDocument/2006/math">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𝒊</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𝒕𝒉</m:t>
                        </m:r>
                      </m:sup>
                    </m:sSup>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element differs, i.e.</a:t>
                </a:r>
              </a:p>
            </p:txBody>
          </p:sp>
        </mc:Choice>
        <mc:Fallback xmlns="">
          <p:sp>
            <p:nvSpPr>
              <p:cNvPr id="8" name="Text Placeholder 5">
                <a:extLst>
                  <a:ext uri="{FF2B5EF4-FFF2-40B4-BE49-F238E27FC236}">
                    <a16:creationId xmlns:a16="http://schemas.microsoft.com/office/drawing/2014/main" id="{A10A8841-662B-EEA9-48DD-37AA7C400B04}"/>
                  </a:ext>
                </a:extLst>
              </p:cNvPr>
              <p:cNvSpPr txBox="1">
                <a:spLocks noRot="1" noChangeAspect="1" noMove="1" noResize="1" noEditPoints="1" noAdjustHandles="1" noChangeArrowheads="1" noChangeShapeType="1" noTextEdit="1"/>
              </p:cNvSpPr>
              <p:nvPr/>
            </p:nvSpPr>
            <p:spPr>
              <a:xfrm>
                <a:off x="319455" y="2449198"/>
                <a:ext cx="11524195" cy="365126"/>
              </a:xfrm>
              <a:prstGeom prst="rect">
                <a:avLst/>
              </a:prstGeom>
              <a:blipFill>
                <a:blip r:embed="rId4"/>
                <a:stretch>
                  <a:fillRect l="-264" t="-3333" b="-9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2DA218E7-48BF-BF18-257A-0D1C08CAB5FD}"/>
                  </a:ext>
                </a:extLst>
              </p:cNvPr>
              <p:cNvSpPr txBox="1">
                <a:spLocks/>
              </p:cNvSpPr>
              <p:nvPr/>
            </p:nvSpPr>
            <p:spPr>
              <a:xfrm>
                <a:off x="903813" y="3087017"/>
                <a:ext cx="3421441" cy="16702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0" i="1" smtClean="0">
                              <a:solidFill>
                                <a:schemeClr val="tx1"/>
                              </a:solidFill>
                              <a:latin typeface="Cambria Math" panose="02040503050406030204" pitchFamily="18" charset="0"/>
                            </a:rPr>
                          </m:ctrlPr>
                        </m:sSubPr>
                        <m:e>
                          <m:bar>
                            <m:barPr>
                              <m:ctrlPr>
                                <a:rPr lang="en-NZ" altLang="ja-JP" sz="1600" b="1" i="1" smtClean="0">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0" i="1" smtClean="0">
                              <a:solidFill>
                                <a:schemeClr val="tx1"/>
                              </a:solidFill>
                              <a:latin typeface="Cambria Math" panose="02040503050406030204" pitchFamily="18" charset="0"/>
                            </a:rPr>
                            <m:t>−</m:t>
                          </m:r>
                          <m:r>
                            <a:rPr lang="en-NZ" altLang="ja-JP" sz="1600" b="0" i="1" smtClean="0">
                              <a:solidFill>
                                <a:schemeClr val="tx1"/>
                              </a:solidFill>
                              <a:latin typeface="Cambria Math" panose="02040503050406030204" pitchFamily="18" charset="0"/>
                            </a:rPr>
                            <m:t>𝑖</m:t>
                          </m:r>
                        </m:sub>
                      </m:sSub>
                      <m:r>
                        <a:rPr lang="en-NZ" altLang="ja-JP" sz="1600" b="0" i="1" smtClean="0">
                          <a:solidFill>
                            <a:schemeClr val="tx1"/>
                          </a:solidFill>
                          <a:latin typeface="Cambria Math" panose="02040503050406030204" pitchFamily="18" charset="0"/>
                        </a:rPr>
                        <m:t> = </m:t>
                      </m:r>
                      <m:d>
                        <m:dPr>
                          <m:ctrlP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dPr>
                        <m:e>
                          <m:m>
                            <m:mPr>
                              <m:mcs>
                                <m:mc>
                                  <m:mcPr>
                                    <m:count m:val="1"/>
                                    <m:mcJc m:val="center"/>
                                  </m:mcPr>
                                </m:mc>
                              </m:mcs>
                              <m:ctrlP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mPr>
                            <m:mr>
                              <m:e>
                                <m:sSub>
                                  <m:sSubPr>
                                    <m:ctrl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𝑥</m:t>
                                    </m:r>
                                  </m:e>
                                  <m:sub>
                                    <m:r>
                                      <m:rPr>
                                        <m:brk m:alnAt="7"/>
                                      </m:r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1</m:t>
                                    </m:r>
                                  </m:sub>
                                </m:sSub>
                              </m:e>
                            </m:mr>
                            <m:mr>
                              <m:e>
                                <m:m>
                                  <m:mPr>
                                    <m:mcs>
                                      <m:mc>
                                        <m:mcPr>
                                          <m:count m:val="1"/>
                                          <m:mcJc m:val="center"/>
                                        </m:mcPr>
                                      </m:mc>
                                    </m:mcs>
                                    <m:ctrlP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mPr>
                                  <m:mr>
                                    <m:e>
                                      <m:sSub>
                                        <m:sSubPr>
                                          <m:ctrl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𝑥</m:t>
                                          </m:r>
                                        </m:e>
                                        <m:sub>
                                          <m:r>
                                            <m:rPr>
                                              <m:brk m:alnAt="7"/>
                                            </m:r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2</m:t>
                                          </m:r>
                                        </m:sub>
                                      </m:sSub>
                                    </m:e>
                                  </m:mr>
                                  <m:mr>
                                    <m:e>
                                      <m: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e>
                                  </m:mr>
                                  <m:mr>
                                    <m:e>
                                      <m:m>
                                        <m:mPr>
                                          <m:mcs>
                                            <m:mc>
                                              <m:mcPr>
                                                <m:count m:val="1"/>
                                                <m:mcJc m:val="center"/>
                                              </m:mcPr>
                                            </m:mc>
                                          </m:mcs>
                                          <m:ctrlP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mPr>
                                        <m:mr>
                                          <m:e>
                                            <m:sSub>
                                              <m:sSubPr>
                                                <m:ctrlP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ctrlPr>
                                              </m:sSubPr>
                                              <m:e>
                                                <m:r>
                                                  <m:rPr>
                                                    <m:brk m:alnAt="7"/>
                                                  </m:rP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𝑥</m:t>
                                                </m:r>
                                              </m:e>
                                              <m:sub>
                                                <m:r>
                                                  <m:rPr>
                                                    <m:brk m:alnAt="7"/>
                                                  </m:rP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𝑖</m:t>
                                                </m:r>
                                                <m: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−1</m:t>
                                                </m:r>
                                              </m:sub>
                                            </m:sSub>
                                          </m:e>
                                        </m:mr>
                                        <m:mr>
                                          <m:e>
                                            <m:sSub>
                                              <m:sSubPr>
                                                <m:ctrlP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𝑥</m:t>
                                                </m:r>
                                              </m:e>
                                              <m:sub>
                                                <m: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𝑖</m:t>
                                                </m:r>
                                                <m:r>
                                                  <a:rPr kumimoji="1" lang="en-NZ" altLang="ja-JP" sz="1600" b="0" i="1" u="none" strike="noStrike" kern="1200" cap="none" spc="0" normalizeH="0" baseline="0" noProof="0" smtClean="0">
                                                    <a:ln>
                                                      <a:noFill/>
                                                    </a:ln>
                                                    <a:solidFill>
                                                      <a:srgbClr val="C00000"/>
                                                    </a:solidFill>
                                                    <a:effectLst/>
                                                    <a:uLnTx/>
                                                    <a:uFillTx/>
                                                    <a:latin typeface="Cambria Math" panose="02040503050406030204" pitchFamily="18" charset="0"/>
                                                    <a:ea typeface="游ゴシック" panose="020B0400000000000000" pitchFamily="34" charset="-128"/>
                                                    <a:cs typeface="+mn-cs"/>
                                                  </a:rPr>
                                                  <m:t>+1</m:t>
                                                </m:r>
                                              </m:sub>
                                            </m:sSub>
                                          </m:e>
                                        </m:mr>
                                        <m:mr>
                                          <m:e>
                                            <m:r>
                                              <a:rPr kumimoji="1" lang="en-US"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e>
                                        </m:mr>
                                      </m:m>
                                    </m:e>
                                  </m:mr>
                                </m:m>
                              </m:e>
                            </m:mr>
                            <m:mr>
                              <m:e>
                                <m:sSub>
                                  <m:sSubPr>
                                    <m:ctrlP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𝑥</m:t>
                                    </m:r>
                                  </m:e>
                                  <m:sub>
                                    <m: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𝑝</m:t>
                                    </m:r>
                                  </m:sub>
                                </m:sSub>
                              </m:e>
                            </m:mr>
                          </m:m>
                        </m:e>
                      </m:d>
                      <m:r>
                        <a:rPr kumimoji="1" lang="en-NZ" altLang="ja-JP" sz="1600" b="0"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 = </m:t>
                      </m:r>
                      <m:d>
                        <m:dPr>
                          <m:ctrlPr>
                            <a:rPr lang="en-US" altLang="ja-JP" sz="1600" i="1">
                              <a:solidFill>
                                <a:schemeClr val="tx1"/>
                              </a:solidFill>
                              <a:latin typeface="Cambria Math" panose="02040503050406030204" pitchFamily="18" charset="0"/>
                            </a:rPr>
                          </m:ctrlPr>
                        </m:dPr>
                        <m:e>
                          <m:m>
                            <m:mPr>
                              <m:mcs>
                                <m:mc>
                                  <m:mcPr>
                                    <m:count m:val="1"/>
                                    <m:mcJc m:val="center"/>
                                  </m:mcPr>
                                </m:mc>
                              </m:mcs>
                              <m:ctrlPr>
                                <a:rPr lang="en-US" altLang="ja-JP" sz="1600" i="1">
                                  <a:solidFill>
                                    <a:schemeClr val="tx1"/>
                                  </a:solidFill>
                                  <a:latin typeface="Cambria Math" panose="02040503050406030204" pitchFamily="18" charset="0"/>
                                </a:rPr>
                              </m:ctrlPr>
                            </m:mPr>
                            <m:mr>
                              <m:e>
                                <m:sSub>
                                  <m:sSubPr>
                                    <m:ctrlPr>
                                      <a:rPr lang="en-NZ" altLang="ja-JP" sz="1600" b="0" i="1" smtClean="0">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𝑦</m:t>
                                    </m:r>
                                  </m:e>
                                  <m:sub>
                                    <m:r>
                                      <a:rPr lang="en-NZ" altLang="ja-JP" sz="1600" b="0" i="1" smtClean="0">
                                        <a:solidFill>
                                          <a:schemeClr val="tx1"/>
                                        </a:solidFill>
                                        <a:latin typeface="Cambria Math" panose="02040503050406030204" pitchFamily="18" charset="0"/>
                                      </a:rPr>
                                      <m:t>1</m:t>
                                    </m:r>
                                  </m:sub>
                                </m:sSub>
                              </m:e>
                            </m:mr>
                            <m:mr>
                              <m:e>
                                <m:m>
                                  <m:mPr>
                                    <m:mcs>
                                      <m:mc>
                                        <m:mcPr>
                                          <m:count m:val="1"/>
                                          <m:mcJc m:val="center"/>
                                        </m:mcPr>
                                      </m:mc>
                                    </m:mcs>
                                    <m:ctrlPr>
                                      <a:rPr lang="en-US" altLang="ja-JP" sz="1600" i="1">
                                        <a:solidFill>
                                          <a:schemeClr val="tx1"/>
                                        </a:solidFill>
                                        <a:latin typeface="Cambria Math" panose="02040503050406030204" pitchFamily="18" charset="0"/>
                                      </a:rPr>
                                    </m:ctrlPr>
                                  </m:mPr>
                                  <m:mr>
                                    <m:e>
                                      <m:sSub>
                                        <m:sSubPr>
                                          <m:ctrlPr>
                                            <a:rPr lang="en-NZ" altLang="ja-JP" sz="1600" i="1">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𝑦</m:t>
                                          </m:r>
                                        </m:e>
                                        <m:sub>
                                          <m:r>
                                            <m:rPr>
                                              <m:brk m:alnAt="7"/>
                                            </m:rPr>
                                            <a:rPr lang="en-NZ" altLang="ja-JP" sz="1600" i="1">
                                              <a:solidFill>
                                                <a:schemeClr val="tx1"/>
                                              </a:solidFill>
                                              <a:latin typeface="Cambria Math" panose="02040503050406030204" pitchFamily="18" charset="0"/>
                                            </a:rPr>
                                            <m:t>2</m:t>
                                          </m:r>
                                        </m:sub>
                                      </m:sSub>
                                    </m:e>
                                  </m:mr>
                                  <m:mr>
                                    <m:e>
                                      <m:r>
                                        <a:rPr lang="en-US" altLang="ja-JP" sz="1600" i="1">
                                          <a:solidFill>
                                            <a:schemeClr val="tx1"/>
                                          </a:solidFill>
                                          <a:latin typeface="Cambria Math" panose="02040503050406030204" pitchFamily="18" charset="0"/>
                                          <a:ea typeface="Cambria Math" panose="02040503050406030204" pitchFamily="18" charset="0"/>
                                        </a:rPr>
                                        <m:t>⋮</m:t>
                                      </m:r>
                                    </m:e>
                                  </m:mr>
                                  <m:mr>
                                    <m:e>
                                      <m:m>
                                        <m:mPr>
                                          <m:mcs>
                                            <m:mc>
                                              <m:mcPr>
                                                <m:count m:val="1"/>
                                                <m:mcJc m:val="center"/>
                                              </m:mcPr>
                                            </m:mc>
                                          </m:mcs>
                                          <m:ctrlPr>
                                            <a:rPr lang="en-US" altLang="ja-JP" sz="1600" i="1">
                                              <a:solidFill>
                                                <a:schemeClr val="tx1"/>
                                              </a:solidFill>
                                              <a:latin typeface="Cambria Math" panose="02040503050406030204" pitchFamily="18" charset="0"/>
                                            </a:rPr>
                                          </m:ctrlPr>
                                        </m:mPr>
                                        <m:mr>
                                          <m:e>
                                            <m:sSub>
                                              <m:sSubPr>
                                                <m:ctrlPr>
                                                  <a:rPr lang="en-NZ" altLang="ja-JP" sz="1600" i="1" smtClean="0">
                                                    <a:solidFill>
                                                      <a:srgbClr val="C00000"/>
                                                    </a:solidFill>
                                                    <a:latin typeface="Cambria Math" panose="02040503050406030204" pitchFamily="18" charset="0"/>
                                                  </a:rPr>
                                                </m:ctrlPr>
                                              </m:sSubPr>
                                              <m:e>
                                                <m:r>
                                                  <a:rPr lang="en-NZ" altLang="ja-JP" sz="1600" b="0" i="1" smtClean="0">
                                                    <a:solidFill>
                                                      <a:srgbClr val="C00000"/>
                                                    </a:solidFill>
                                                    <a:latin typeface="Cambria Math" panose="02040503050406030204" pitchFamily="18" charset="0"/>
                                                  </a:rPr>
                                                  <m:t>𝑦</m:t>
                                                </m:r>
                                              </m:e>
                                              <m:sub>
                                                <m:r>
                                                  <m:rPr>
                                                    <m:brk m:alnAt="7"/>
                                                  </m:rPr>
                                                  <a:rPr lang="en-NZ" altLang="ja-JP" sz="1600" i="1">
                                                    <a:solidFill>
                                                      <a:srgbClr val="C00000"/>
                                                    </a:solidFill>
                                                    <a:latin typeface="Cambria Math" panose="02040503050406030204" pitchFamily="18" charset="0"/>
                                                  </a:rPr>
                                                  <m:t>𝑖</m:t>
                                                </m:r>
                                                <m:r>
                                                  <a:rPr lang="en-NZ" altLang="ja-JP" sz="1600" i="1">
                                                    <a:solidFill>
                                                      <a:srgbClr val="C00000"/>
                                                    </a:solidFill>
                                                    <a:latin typeface="Cambria Math" panose="02040503050406030204" pitchFamily="18" charset="0"/>
                                                  </a:rPr>
                                                  <m:t>−1</m:t>
                                                </m:r>
                                              </m:sub>
                                            </m:sSub>
                                          </m:e>
                                        </m:mr>
                                        <m:mr>
                                          <m:e>
                                            <m:sSub>
                                              <m:sSubPr>
                                                <m:ctrlPr>
                                                  <a:rPr lang="en-NZ" altLang="ja-JP" sz="1600" i="1" smtClean="0">
                                                    <a:solidFill>
                                                      <a:srgbClr val="C00000"/>
                                                    </a:solidFill>
                                                    <a:latin typeface="Cambria Math" panose="02040503050406030204" pitchFamily="18" charset="0"/>
                                                  </a:rPr>
                                                </m:ctrlPr>
                                              </m:sSubPr>
                                              <m:e>
                                                <m:r>
                                                  <a:rPr lang="en-NZ" altLang="ja-JP" sz="1600" b="0" i="1" smtClean="0">
                                                    <a:solidFill>
                                                      <a:srgbClr val="C00000"/>
                                                    </a:solidFill>
                                                    <a:latin typeface="Cambria Math" panose="02040503050406030204" pitchFamily="18" charset="0"/>
                                                  </a:rPr>
                                                  <m:t>𝑦</m:t>
                                                </m:r>
                                              </m:e>
                                              <m:sub>
                                                <m:r>
                                                  <a:rPr lang="en-NZ" altLang="ja-JP" sz="1600" i="1">
                                                    <a:solidFill>
                                                      <a:srgbClr val="C00000"/>
                                                    </a:solidFill>
                                                    <a:latin typeface="Cambria Math" panose="02040503050406030204" pitchFamily="18" charset="0"/>
                                                  </a:rPr>
                                                  <m:t>𝑖</m:t>
                                                </m:r>
                                                <m:r>
                                                  <a:rPr lang="en-NZ" altLang="ja-JP" sz="1600" i="1">
                                                    <a:solidFill>
                                                      <a:srgbClr val="C00000"/>
                                                    </a:solidFill>
                                                    <a:latin typeface="Cambria Math" panose="02040503050406030204" pitchFamily="18" charset="0"/>
                                                  </a:rPr>
                                                  <m:t>+1</m:t>
                                                </m:r>
                                              </m:sub>
                                            </m:sSub>
                                          </m:e>
                                        </m:mr>
                                        <m:mr>
                                          <m:e>
                                            <m:r>
                                              <a:rPr lang="en-US" altLang="ja-JP" sz="1600" i="1">
                                                <a:solidFill>
                                                  <a:schemeClr val="tx1"/>
                                                </a:solidFill>
                                                <a:latin typeface="Cambria Math" panose="02040503050406030204" pitchFamily="18" charset="0"/>
                                                <a:ea typeface="Cambria Math" panose="02040503050406030204" pitchFamily="18" charset="0"/>
                                              </a:rPr>
                                              <m:t>⋮</m:t>
                                            </m:r>
                                          </m:e>
                                        </m:mr>
                                      </m:m>
                                    </m:e>
                                  </m:mr>
                                </m:m>
                              </m:e>
                            </m:mr>
                            <m:mr>
                              <m:e>
                                <m:sSub>
                                  <m:sSubPr>
                                    <m:ctrlPr>
                                      <a:rPr lang="en-NZ" altLang="ja-JP" sz="1600" i="1">
                                        <a:solidFill>
                                          <a:schemeClr val="tx1"/>
                                        </a:solidFill>
                                        <a:latin typeface="Cambria Math" panose="02040503050406030204" pitchFamily="18" charset="0"/>
                                      </a:rPr>
                                    </m:ctrlPr>
                                  </m:sSubPr>
                                  <m:e>
                                    <m:r>
                                      <a:rPr lang="en-NZ" altLang="ja-JP" sz="1600" b="0" i="1" smtClean="0">
                                        <a:solidFill>
                                          <a:schemeClr val="tx1"/>
                                        </a:solidFill>
                                        <a:latin typeface="Cambria Math" panose="02040503050406030204" pitchFamily="18" charset="0"/>
                                      </a:rPr>
                                      <m:t>𝑦</m:t>
                                    </m:r>
                                  </m:e>
                                  <m:sub>
                                    <m:r>
                                      <a:rPr lang="en-NZ" altLang="ja-JP" sz="1600" i="1">
                                        <a:solidFill>
                                          <a:schemeClr val="tx1"/>
                                        </a:solidFill>
                                        <a:latin typeface="Cambria Math" panose="02040503050406030204" pitchFamily="18" charset="0"/>
                                      </a:rPr>
                                      <m:t>𝑝</m:t>
                                    </m:r>
                                  </m:sub>
                                </m:sSub>
                              </m:e>
                            </m:mr>
                          </m:m>
                        </m:e>
                      </m:d>
                      <m:r>
                        <a:rPr lang="en-NZ" altLang="ja-JP" sz="1600" b="0" i="1" smtClean="0">
                          <a:solidFill>
                            <a:schemeClr val="tx1"/>
                          </a:solidFill>
                          <a:latin typeface="Cambria Math" panose="02040503050406030204" pitchFamily="18" charset="0"/>
                        </a:rPr>
                        <m:t> = </m:t>
                      </m:r>
                      <m:sSub>
                        <m:sSubPr>
                          <m:ctrlPr>
                            <a:rPr lang="en-NZ" altLang="ja-JP" sz="1600"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𝒚</m:t>
                              </m:r>
                            </m:e>
                          </m:bar>
                        </m:e>
                        <m:sub>
                          <m:r>
                            <a:rPr lang="en-NZ" altLang="ja-JP" sz="1600" i="1">
                              <a:solidFill>
                                <a:schemeClr val="tx1"/>
                              </a:solidFill>
                              <a:latin typeface="Cambria Math" panose="02040503050406030204" pitchFamily="18" charset="0"/>
                            </a:rPr>
                            <m:t>−</m:t>
                          </m:r>
                          <m:r>
                            <a:rPr lang="en-NZ" altLang="ja-JP" sz="1600" i="1">
                              <a:solidFill>
                                <a:schemeClr val="tx1"/>
                              </a:solidFill>
                              <a:latin typeface="Cambria Math" panose="02040503050406030204" pitchFamily="18" charset="0"/>
                            </a:rPr>
                            <m:t>𝑖</m:t>
                          </m:r>
                        </m:sub>
                      </m:sSub>
                    </m:oMath>
                  </m:oMathPara>
                </a14:m>
                <a:endParaRPr kumimoji="1" lang="en-US"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2DA218E7-48BF-BF18-257A-0D1C08CAB5FD}"/>
                  </a:ext>
                </a:extLst>
              </p:cNvPr>
              <p:cNvSpPr txBox="1">
                <a:spLocks noRot="1" noChangeAspect="1" noMove="1" noResize="1" noEditPoints="1" noAdjustHandles="1" noChangeArrowheads="1" noChangeShapeType="1" noTextEdit="1"/>
              </p:cNvSpPr>
              <p:nvPr/>
            </p:nvSpPr>
            <p:spPr>
              <a:xfrm>
                <a:off x="903813" y="3087017"/>
                <a:ext cx="3421441" cy="1670292"/>
              </a:xfrm>
              <a:prstGeom prst="rect">
                <a:avLst/>
              </a:prstGeom>
              <a:blipFill>
                <a:blip r:embed="rId5"/>
                <a:stretch>
                  <a:fillRect/>
                </a:stretch>
              </a:blipFill>
            </p:spPr>
            <p:txBody>
              <a:bodyPr/>
              <a:lstStyle/>
              <a:p>
                <a:r>
                  <a:rPr lang="en-NZ">
                    <a:noFill/>
                  </a:rPr>
                  <a:t> </a:t>
                </a:r>
              </a:p>
            </p:txBody>
          </p:sp>
        </mc:Fallback>
      </mc:AlternateContent>
      <p:sp>
        <p:nvSpPr>
          <p:cNvPr id="11" name="Text Placeholder 5">
            <a:extLst>
              <a:ext uri="{FF2B5EF4-FFF2-40B4-BE49-F238E27FC236}">
                <a16:creationId xmlns:a16="http://schemas.microsoft.com/office/drawing/2014/main" id="{575FC831-9537-D3B0-59A4-05BBDAB0DB73}"/>
              </a:ext>
            </a:extLst>
          </p:cNvPr>
          <p:cNvSpPr txBox="1">
            <a:spLocks/>
          </p:cNvSpPr>
          <p:nvPr/>
        </p:nvSpPr>
        <p:spPr>
          <a:xfrm>
            <a:off x="4549216" y="3748643"/>
            <a:ext cx="85634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0927E262-F19C-AC77-D256-2E5A9C088EF2}"/>
                  </a:ext>
                </a:extLst>
              </p:cNvPr>
              <p:cNvSpPr txBox="1">
                <a:spLocks/>
              </p:cNvSpPr>
              <p:nvPr/>
            </p:nvSpPr>
            <p:spPr>
              <a:xfrm>
                <a:off x="5405409" y="3724653"/>
                <a:ext cx="5358087" cy="4108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bar>
                                <m:bar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𝒀</m:t>
                                  </m:r>
                                </m:e>
                              </m:ba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endChr m:val="|"/>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𝒊</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b>
                        <m:sSubPr>
                          <m:ctrlPr>
                            <a:rPr lang="en-NZ" altLang="ja-JP" sz="1800" b="1" i="1">
                              <a:solidFill>
                                <a:schemeClr val="tx1"/>
                              </a:solidFill>
                              <a:latin typeface="Cambria Math" panose="02040503050406030204" pitchFamily="18" charset="0"/>
                            </a:rPr>
                          </m:ctrlPr>
                        </m:sSubPr>
                        <m:e>
                          <m:bar>
                            <m:barPr>
                              <m:ctrlPr>
                                <a:rPr lang="en-NZ" altLang="ja-JP" sz="1800" b="1" i="1">
                                  <a:solidFill>
                                    <a:schemeClr val="tx1"/>
                                  </a:solidFill>
                                  <a:latin typeface="Cambria Math" panose="02040503050406030204" pitchFamily="18" charset="0"/>
                                </a:rPr>
                              </m:ctrlPr>
                            </m:barPr>
                            <m:e>
                              <m:r>
                                <a:rPr lang="en-NZ" altLang="ja-JP" sz="1800" b="1" i="1">
                                  <a:solidFill>
                                    <a:schemeClr val="tx1"/>
                                  </a:solidFill>
                                  <a:latin typeface="Cambria Math" panose="02040503050406030204" pitchFamily="18" charset="0"/>
                                </a:rPr>
                                <m:t>𝒚</m:t>
                              </m:r>
                            </m:e>
                          </m:bar>
                        </m:e>
                        <m: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𝒊</m:t>
                          </m:r>
                        </m:sub>
                      </m:sSub>
                      <m:r>
                        <a:rPr lang="en-NZ" altLang="ja-JP" sz="1800" b="1" i="1" smtClean="0">
                          <a:solidFill>
                            <a:schemeClr val="tx1"/>
                          </a:solidFill>
                          <a:latin typeface="Cambria Math" panose="02040503050406030204" pitchFamily="18" charset="0"/>
                        </a:rPr>
                        <m:t> )  =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 </m:t>
                              </m:r>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𝒊</m:t>
                              </m:r>
                            </m:sub>
                          </m:sSub>
                          <m:r>
                            <a:rPr lang="en-NZ" altLang="ja-JP" sz="1800" b="1" i="1">
                              <a:solidFill>
                                <a:prstClr val="black"/>
                              </a:solidFill>
                              <a:latin typeface="Cambria Math" panose="02040503050406030204" pitchFamily="18" charset="0"/>
                            </a:rPr>
                            <m:t> |  </m:t>
                          </m:r>
                          <m:sSub>
                            <m:sSubPr>
                              <m:ctrlPr>
                                <a:rPr lang="en-NZ" altLang="ja-JP" sz="1800" b="1" i="1">
                                  <a:solidFill>
                                    <a:prstClr val="black"/>
                                  </a:solidFill>
                                  <a:latin typeface="Cambria Math" panose="02040503050406030204" pitchFamily="18" charset="0"/>
                                </a:rPr>
                              </m:ctrlPr>
                            </m:sSubPr>
                            <m:e>
                              <m:bar>
                                <m:barPr>
                                  <m:ctrlPr>
                                    <a:rPr lang="en-NZ" altLang="ja-JP" sz="1800" b="1" i="1">
                                      <a:solidFill>
                                        <a:prstClr val="black"/>
                                      </a:solidFill>
                                      <a:latin typeface="Cambria Math" panose="02040503050406030204" pitchFamily="18" charset="0"/>
                                    </a:rPr>
                                  </m:ctrlPr>
                                </m:barPr>
                                <m:e>
                                  <m:r>
                                    <a:rPr lang="en-NZ" altLang="ja-JP" sz="1800" b="1" i="1" smtClean="0">
                                      <a:solidFill>
                                        <a:prstClr val="black"/>
                                      </a:solidFill>
                                      <a:latin typeface="Cambria Math" panose="02040503050406030204" pitchFamily="18" charset="0"/>
                                    </a:rPr>
                                    <m:t>𝑿</m:t>
                                  </m:r>
                                </m:e>
                              </m:bar>
                            </m:e>
                            <m:sub>
                              <m:r>
                                <a:rPr lang="en-NZ" altLang="ja-JP" sz="1800" b="1" i="1">
                                  <a:solidFill>
                                    <a:prstClr val="black"/>
                                  </a:solidFill>
                                  <a:latin typeface="Cambria Math" panose="02040503050406030204" pitchFamily="18" charset="0"/>
                                </a:rPr>
                                <m:t>−</m:t>
                              </m:r>
                              <m:r>
                                <a:rPr lang="en-NZ" altLang="ja-JP" sz="1800" b="1" i="1">
                                  <a:solidFill>
                                    <a:prstClr val="black"/>
                                  </a:solidFill>
                                  <a:latin typeface="Cambria Math" panose="02040503050406030204" pitchFamily="18" charset="0"/>
                                </a:rPr>
                                <m:t>𝒊</m:t>
                              </m:r>
                            </m:sub>
                          </m:sSub>
                        </m:sub>
                      </m:sSub>
                      <m:r>
                        <a:rPr lang="en-NZ" altLang="ja-JP" sz="1800" b="1" i="1">
                          <a:solidFill>
                            <a:prstClr val="black"/>
                          </a:solidFill>
                          <a:latin typeface="Cambria Math" panose="02040503050406030204" pitchFamily="18" charset="0"/>
                        </a:rPr>
                        <m:t> </m:t>
                      </m:r>
                      <m:d>
                        <m:dPr>
                          <m:endChr m:val="|"/>
                          <m:ctrlPr>
                            <a:rPr lang="en-NZ" altLang="ja-JP" sz="1800" b="1" i="1">
                              <a:solidFill>
                                <a:prstClr val="black"/>
                              </a:solidFill>
                              <a:latin typeface="Cambria Math" panose="02040503050406030204" pitchFamily="18" charset="0"/>
                            </a:rPr>
                          </m:ctrlPr>
                        </m:dPr>
                        <m:e>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𝒊</m:t>
                              </m:r>
                            </m:sub>
                          </m:sSub>
                          <m:r>
                            <a:rPr lang="en-NZ" altLang="ja-JP" sz="1800" b="1" i="1">
                              <a:solidFill>
                                <a:prstClr val="black"/>
                              </a:solidFill>
                              <a:latin typeface="Cambria Math" panose="02040503050406030204" pitchFamily="18" charset="0"/>
                            </a:rPr>
                            <m:t> </m:t>
                          </m:r>
                        </m:e>
                      </m:d>
                      <m:r>
                        <a:rPr lang="en-NZ" altLang="ja-JP" sz="1800" b="1" i="1">
                          <a:solidFill>
                            <a:prstClr val="black"/>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bar>
                            <m:barPr>
                              <m:ctrlPr>
                                <a:rPr lang="en-NZ" altLang="ja-JP" sz="1800" b="1" i="1">
                                  <a:solidFill>
                                    <a:schemeClr val="tx1"/>
                                  </a:solidFill>
                                  <a:latin typeface="Cambria Math" panose="02040503050406030204" pitchFamily="18" charset="0"/>
                                </a:rPr>
                              </m:ctrlPr>
                            </m:barPr>
                            <m:e>
                              <m:r>
                                <a:rPr lang="en-NZ" altLang="ja-JP" sz="1800" b="1" i="1" smtClean="0">
                                  <a:solidFill>
                                    <a:schemeClr val="tx1"/>
                                  </a:solidFill>
                                  <a:latin typeface="Cambria Math" panose="02040503050406030204" pitchFamily="18" charset="0"/>
                                </a:rPr>
                                <m:t>𝒙</m:t>
                              </m:r>
                            </m:e>
                          </m:bar>
                        </m:e>
                        <m:sub>
                          <m:r>
                            <a:rPr lang="en-NZ" altLang="ja-JP" sz="1800" b="1" i="1">
                              <a:solidFill>
                                <a:schemeClr val="tx1"/>
                              </a:solidFill>
                              <a:latin typeface="Cambria Math" panose="02040503050406030204" pitchFamily="18" charset="0"/>
                            </a:rPr>
                            <m:t>−</m:t>
                          </m:r>
                          <m:r>
                            <a:rPr lang="en-NZ" altLang="ja-JP" sz="1800" b="1" i="1">
                              <a:solidFill>
                                <a:schemeClr val="tx1"/>
                              </a:solidFill>
                              <a:latin typeface="Cambria Math" panose="02040503050406030204" pitchFamily="18" charset="0"/>
                            </a:rPr>
                            <m:t>𝒊</m:t>
                          </m:r>
                        </m:sub>
                      </m:sSub>
                      <m:r>
                        <a:rPr lang="en-NZ" altLang="ja-JP" sz="1800" b="1" i="1">
                          <a:solidFill>
                            <a:schemeClr val="tx1"/>
                          </a:solidFill>
                          <a:latin typeface="Cambria Math" panose="02040503050406030204" pitchFamily="18" charset="0"/>
                        </a:rPr>
                        <m:t> )</m:t>
                      </m:r>
                    </m:oMath>
                  </m:oMathPara>
                </a14:m>
                <a:endPar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0927E262-F19C-AC77-D256-2E5A9C088EF2}"/>
                  </a:ext>
                </a:extLst>
              </p:cNvPr>
              <p:cNvSpPr txBox="1">
                <a:spLocks noRot="1" noChangeAspect="1" noMove="1" noResize="1" noEditPoints="1" noAdjustHandles="1" noChangeArrowheads="1" noChangeShapeType="1" noTextEdit="1"/>
              </p:cNvSpPr>
              <p:nvPr/>
            </p:nvSpPr>
            <p:spPr>
              <a:xfrm>
                <a:off x="5405409" y="3724653"/>
                <a:ext cx="5358087" cy="410828"/>
              </a:xfrm>
              <a:prstGeom prst="rect">
                <a:avLst/>
              </a:prstGeom>
              <a:blipFill>
                <a:blip r:embed="rId6"/>
                <a:stretch>
                  <a:fillRect b="-597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81A4E415-68F6-7B4D-32D9-F0123247AB26}"/>
                  </a:ext>
                </a:extLst>
              </p:cNvPr>
              <p:cNvSpPr txBox="1">
                <a:spLocks/>
              </p:cNvSpPr>
              <p:nvPr/>
            </p:nvSpPr>
            <p:spPr>
              <a:xfrm>
                <a:off x="6373732" y="4127691"/>
                <a:ext cx="3421441" cy="41082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400" dirty="0">
                    <a:solidFill>
                      <a:schemeClr val="bg2">
                        <a:lumMod val="50000"/>
                      </a:schemeClr>
                    </a:solidFill>
                  </a:rPr>
                  <a:t>s</a:t>
                </a:r>
                <a:r>
                  <a:rPr lang="en-NZ" altLang="ja-JP" sz="1400" b="0" dirty="0">
                    <a:solidFill>
                      <a:schemeClr val="bg2">
                        <a:lumMod val="50000"/>
                      </a:schemeClr>
                    </a:solidFill>
                  </a:rPr>
                  <a:t>ince </a:t>
                </a:r>
                <a14:m>
                  <m:oMath xmlns:m="http://schemas.openxmlformats.org/officeDocument/2006/math">
                    <m:sSub>
                      <m:sSubPr>
                        <m:ctrlPr>
                          <a:rPr lang="en-NZ" altLang="ja-JP" sz="1400" b="0" i="1" smtClean="0">
                            <a:solidFill>
                              <a:schemeClr val="bg2">
                                <a:lumMod val="50000"/>
                              </a:schemeClr>
                            </a:solidFill>
                            <a:latin typeface="Cambria Math" panose="02040503050406030204" pitchFamily="18" charset="0"/>
                          </a:rPr>
                        </m:ctrlPr>
                      </m:sSubPr>
                      <m:e>
                        <m:bar>
                          <m:barPr>
                            <m:ctrlPr>
                              <a:rPr lang="en-NZ" altLang="ja-JP" sz="1400" b="1" i="1" smtClean="0">
                                <a:solidFill>
                                  <a:schemeClr val="bg2">
                                    <a:lumMod val="50000"/>
                                  </a:schemeClr>
                                </a:solidFill>
                                <a:latin typeface="Cambria Math" panose="02040503050406030204" pitchFamily="18" charset="0"/>
                              </a:rPr>
                            </m:ctrlPr>
                          </m:barPr>
                          <m:e>
                            <m:r>
                              <a:rPr lang="en-NZ" altLang="ja-JP" sz="1400" b="1" i="1">
                                <a:solidFill>
                                  <a:schemeClr val="bg2">
                                    <a:lumMod val="50000"/>
                                  </a:schemeClr>
                                </a:solidFill>
                                <a:latin typeface="Cambria Math" panose="02040503050406030204" pitchFamily="18" charset="0"/>
                              </a:rPr>
                              <m:t>𝒙</m:t>
                            </m:r>
                          </m:e>
                        </m:bar>
                      </m:e>
                      <m:sub>
                        <m:r>
                          <a:rPr lang="en-NZ" altLang="ja-JP" sz="1400" b="0" i="1" smtClean="0">
                            <a:solidFill>
                              <a:schemeClr val="bg2">
                                <a:lumMod val="50000"/>
                              </a:schemeClr>
                            </a:solidFill>
                            <a:latin typeface="Cambria Math" panose="02040503050406030204" pitchFamily="18" charset="0"/>
                          </a:rPr>
                          <m:t>−</m:t>
                        </m:r>
                        <m:r>
                          <a:rPr lang="en-NZ" altLang="ja-JP" sz="1400" b="0" i="1" smtClean="0">
                            <a:solidFill>
                              <a:schemeClr val="bg2">
                                <a:lumMod val="50000"/>
                              </a:schemeClr>
                            </a:solidFill>
                            <a:latin typeface="Cambria Math" panose="02040503050406030204" pitchFamily="18" charset="0"/>
                          </a:rPr>
                          <m:t>𝑖</m:t>
                        </m:r>
                      </m:sub>
                    </m:sSub>
                    <m:r>
                      <a:rPr lang="en-NZ" altLang="ja-JP" sz="1400" b="0" i="1" smtClean="0">
                        <a:solidFill>
                          <a:schemeClr val="bg2">
                            <a:lumMod val="50000"/>
                          </a:schemeClr>
                        </a:solidFill>
                        <a:latin typeface="Cambria Math" panose="02040503050406030204" pitchFamily="18" charset="0"/>
                      </a:rPr>
                      <m:t> = </m:t>
                    </m:r>
                    <m:sSub>
                      <m:sSubPr>
                        <m:ctrlPr>
                          <a:rPr lang="en-NZ" altLang="ja-JP" sz="1400" i="1">
                            <a:solidFill>
                              <a:schemeClr val="bg2">
                                <a:lumMod val="50000"/>
                              </a:schemeClr>
                            </a:solidFill>
                            <a:latin typeface="Cambria Math" panose="02040503050406030204" pitchFamily="18" charset="0"/>
                          </a:rPr>
                        </m:ctrlPr>
                      </m:sSubPr>
                      <m:e>
                        <m:bar>
                          <m:barPr>
                            <m:ctrlPr>
                              <a:rPr lang="en-NZ" altLang="ja-JP" sz="1400" b="1" i="1">
                                <a:solidFill>
                                  <a:schemeClr val="bg2">
                                    <a:lumMod val="50000"/>
                                  </a:schemeClr>
                                </a:solidFill>
                                <a:latin typeface="Cambria Math" panose="02040503050406030204" pitchFamily="18" charset="0"/>
                              </a:rPr>
                            </m:ctrlPr>
                          </m:barPr>
                          <m:e>
                            <m:r>
                              <a:rPr lang="en-NZ" altLang="ja-JP" sz="1400" b="1" i="1" smtClean="0">
                                <a:solidFill>
                                  <a:schemeClr val="bg2">
                                    <a:lumMod val="50000"/>
                                  </a:schemeClr>
                                </a:solidFill>
                                <a:latin typeface="Cambria Math" panose="02040503050406030204" pitchFamily="18" charset="0"/>
                              </a:rPr>
                              <m:t>𝒚</m:t>
                            </m:r>
                          </m:e>
                        </m:bar>
                      </m:e>
                      <m:sub>
                        <m:r>
                          <a:rPr lang="en-NZ" altLang="ja-JP" sz="1400" i="1">
                            <a:solidFill>
                              <a:schemeClr val="bg2">
                                <a:lumMod val="50000"/>
                              </a:schemeClr>
                            </a:solidFill>
                            <a:latin typeface="Cambria Math" panose="02040503050406030204" pitchFamily="18" charset="0"/>
                          </a:rPr>
                          <m:t>−</m:t>
                        </m:r>
                        <m:r>
                          <a:rPr lang="en-NZ" altLang="ja-JP" sz="1400" i="1">
                            <a:solidFill>
                              <a:schemeClr val="bg2">
                                <a:lumMod val="50000"/>
                              </a:schemeClr>
                            </a:solidFill>
                            <a:latin typeface="Cambria Math" panose="02040503050406030204" pitchFamily="18" charset="0"/>
                          </a:rPr>
                          <m:t>𝑖</m:t>
                        </m:r>
                      </m:sub>
                    </m:sSub>
                  </m:oMath>
                </a14:m>
                <a:endPar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Choice>
        <mc:Fallback xmlns="">
          <p:sp>
            <p:nvSpPr>
              <p:cNvPr id="29" name="Text Placeholder 5">
                <a:extLst>
                  <a:ext uri="{FF2B5EF4-FFF2-40B4-BE49-F238E27FC236}">
                    <a16:creationId xmlns:a16="http://schemas.microsoft.com/office/drawing/2014/main" id="{81A4E415-68F6-7B4D-32D9-F0123247AB26}"/>
                  </a:ext>
                </a:extLst>
              </p:cNvPr>
              <p:cNvSpPr txBox="1">
                <a:spLocks noRot="1" noChangeAspect="1" noMove="1" noResize="1" noEditPoints="1" noAdjustHandles="1" noChangeArrowheads="1" noChangeShapeType="1" noTextEdit="1"/>
              </p:cNvSpPr>
              <p:nvPr/>
            </p:nvSpPr>
            <p:spPr>
              <a:xfrm>
                <a:off x="6373732" y="4127691"/>
                <a:ext cx="3421441" cy="410828"/>
              </a:xfrm>
              <a:prstGeom prst="rect">
                <a:avLst/>
              </a:prstGeom>
              <a:blipFill>
                <a:blip r:embed="rId7"/>
                <a:stretch>
                  <a:fillRect t="-147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5C246D41-1CC0-03C8-F997-D3069026FFEE}"/>
                  </a:ext>
                </a:extLst>
              </p:cNvPr>
              <p:cNvSpPr txBox="1">
                <a:spLocks/>
              </p:cNvSpPr>
              <p:nvPr/>
            </p:nvSpPr>
            <p:spPr>
              <a:xfrm>
                <a:off x="319457" y="4741002"/>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As such, we may write   </a:t>
                </a:r>
                <a14:m>
                  <m:oMath xmlns:m="http://schemas.openxmlformats.org/officeDocument/2006/math">
                    <m:r>
                      <a:rPr lang="en-NZ" altLang="ja-JP" sz="1600" b="1" i="1" smtClean="0">
                        <a:solidFill>
                          <a:schemeClr val="tx1"/>
                        </a:solidFill>
                        <a:latin typeface="Cambria Math" panose="02040503050406030204" pitchFamily="18" charset="0"/>
                      </a:rPr>
                      <m:t>𝒒</m:t>
                    </m:r>
                    <m:r>
                      <a:rPr lang="en-NZ" altLang="ja-JP" sz="1600" b="1" i="1" smtClean="0">
                        <a:solidFill>
                          <a:schemeClr val="tx1"/>
                        </a:solidFill>
                        <a:latin typeface="Cambria Math" panose="02040503050406030204" pitchFamily="18" charset="0"/>
                      </a:rPr>
                      <m:t>( </m:t>
                    </m:r>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𝒙</m:t>
                        </m:r>
                      </m:e>
                    </m:bar>
                    <m:r>
                      <a:rPr lang="en-NZ" altLang="ja-JP" sz="1600" b="1" i="1" smtClean="0">
                        <a:solidFill>
                          <a:schemeClr val="tx1"/>
                        </a:solidFill>
                        <a:latin typeface="Cambria Math" panose="02040503050406030204" pitchFamily="18" charset="0"/>
                      </a:rPr>
                      <m:t> | </m:t>
                    </m:r>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𝒚</m:t>
                        </m:r>
                      </m:e>
                    </m:ba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𝒊</m:t>
                            </m:r>
                          </m:sub>
                        </m:sSub>
                        <m:r>
                          <a:rPr lang="en-NZ" altLang="ja-JP" sz="1600" b="1" i="1">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𝑿</m:t>
                                </m:r>
                              </m:e>
                            </m:bar>
                          </m:e>
                          <m:sub>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sub>
                        </m:sSub>
                      </m:sub>
                    </m:sSub>
                    <m:r>
                      <a:rPr lang="en-NZ" altLang="ja-JP" sz="1600" b="1" i="1">
                        <a:solidFill>
                          <a:prstClr val="black"/>
                        </a:solidFill>
                        <a:latin typeface="Cambria Math" panose="02040503050406030204" pitchFamily="18" charset="0"/>
                      </a:rPr>
                      <m:t> </m:t>
                    </m:r>
                    <m:d>
                      <m:dPr>
                        <m:endChr m:val="|"/>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sub>
                        </m:sSub>
                        <m:r>
                          <a:rPr lang="en-NZ" altLang="ja-JP" sz="1600" b="1" i="1">
                            <a:solidFill>
                              <a:prstClr val="black"/>
                            </a:solidFill>
                            <a:latin typeface="Cambria Math" panose="02040503050406030204" pitchFamily="18" charset="0"/>
                          </a:rPr>
                          <m:t> </m:t>
                        </m:r>
                      </m:e>
                    </m:d>
                    <m:r>
                      <a:rPr lang="en-NZ" altLang="ja-JP" sz="1600" b="1" i="1">
                        <a:solidFill>
                          <a:prstClr val="black"/>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a:solidFill>
                                  <a:schemeClr val="tx1"/>
                                </a:solidFill>
                                <a:latin typeface="Cambria Math" panose="02040503050406030204" pitchFamily="18" charset="0"/>
                              </a:rPr>
                              <m:t>𝒙</m:t>
                            </m:r>
                          </m:e>
                        </m:bar>
                      </m:e>
                      <m: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oMath>
                </a14:m>
                <a:endParaRPr kumimoji="1" lang="en-US"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30" name="Text Placeholder 5">
                <a:extLst>
                  <a:ext uri="{FF2B5EF4-FFF2-40B4-BE49-F238E27FC236}">
                    <a16:creationId xmlns:a16="http://schemas.microsoft.com/office/drawing/2014/main" id="{5C246D41-1CC0-03C8-F997-D3069026FFEE}"/>
                  </a:ext>
                </a:extLst>
              </p:cNvPr>
              <p:cNvSpPr txBox="1">
                <a:spLocks noRot="1" noChangeAspect="1" noMove="1" noResize="1" noEditPoints="1" noAdjustHandles="1" noChangeArrowheads="1" noChangeShapeType="1" noTextEdit="1"/>
              </p:cNvSpPr>
              <p:nvPr/>
            </p:nvSpPr>
            <p:spPr>
              <a:xfrm>
                <a:off x="319457" y="4741002"/>
                <a:ext cx="11524195" cy="365126"/>
              </a:xfrm>
              <a:prstGeom prst="rect">
                <a:avLst/>
              </a:prstGeom>
              <a:blipFill>
                <a:blip r:embed="rId8"/>
                <a:stretch>
                  <a:fillRect l="-264" t="-3333"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1" name="Text Placeholder 5">
                <a:extLst>
                  <a:ext uri="{FF2B5EF4-FFF2-40B4-BE49-F238E27FC236}">
                    <a16:creationId xmlns:a16="http://schemas.microsoft.com/office/drawing/2014/main" id="{4E308518-9FCE-D563-FD63-513409813E49}"/>
                  </a:ext>
                </a:extLst>
              </p:cNvPr>
              <p:cNvSpPr txBox="1">
                <a:spLocks/>
              </p:cNvSpPr>
              <p:nvPr/>
            </p:nvSpPr>
            <p:spPr>
              <a:xfrm>
                <a:off x="319458" y="5388576"/>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latin typeface="Calibri" panose="020F0502020204030204"/>
                    <a:ea typeface="游ゴシック" panose="020B0400000000000000" pitchFamily="34" charset="-128"/>
                  </a:rPr>
                  <a:t>Similarly</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if the chain is at state </a:t>
                </a:r>
                <a14:m>
                  <m:oMath xmlns:m="http://schemas.openxmlformats.org/officeDocument/2006/math">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ba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a new state </a:t>
                </a:r>
                <a14:m>
                  <m:oMath xmlns:m="http://schemas.openxmlformats.org/officeDocument/2006/math">
                    <m:bar>
                      <m:barPr>
                        <m:ctrlPr>
                          <a:rPr lang="en-NZ" altLang="ja-JP" sz="1600" b="1" i="1" smtClean="0">
                            <a:solidFill>
                              <a:prstClr val="black"/>
                            </a:solidFill>
                            <a:latin typeface="Cambria Math" panose="02040503050406030204" pitchFamily="18" charset="0"/>
                          </a:rPr>
                        </m:ctrlPr>
                      </m:barPr>
                      <m:e>
                        <m:r>
                          <a:rPr lang="en-NZ" altLang="ja-JP" sz="1600" b="1" i="1" smtClean="0">
                            <a:solidFill>
                              <a:prstClr val="black"/>
                            </a:solidFill>
                            <a:latin typeface="Cambria Math" panose="02040503050406030204" pitchFamily="18" charset="0"/>
                          </a:rPr>
                          <m:t>𝒚</m:t>
                        </m:r>
                      </m:e>
                    </m:ba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proposed, </a:t>
                </a:r>
                <a:r>
                  <a:rPr lang="en-US" altLang="ja-JP" sz="1600" dirty="0">
                    <a:solidFill>
                      <a:prstClr val="black"/>
                    </a:solidFill>
                  </a:rPr>
                  <a:t>then </a:t>
                </a:r>
                <a14:m>
                  <m:oMath xmlns:m="http://schemas.openxmlformats.org/officeDocument/2006/math">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𝒚</m:t>
                        </m:r>
                      </m:e>
                    </m:bar>
                  </m:oMath>
                </a14:m>
                <a:r>
                  <a:rPr lang="en-US" altLang="ja-JP" sz="1600" dirty="0">
                    <a:solidFill>
                      <a:prstClr val="black"/>
                    </a:solidFill>
                  </a:rPr>
                  <a:t> and </a:t>
                </a:r>
                <a14:m>
                  <m:oMath xmlns:m="http://schemas.openxmlformats.org/officeDocument/2006/math">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oMath>
                </a14:m>
                <a:r>
                  <a:rPr lang="en-US" altLang="ja-JP" sz="1600" dirty="0">
                    <a:solidFill>
                      <a:prstClr val="black"/>
                    </a:solidFill>
                  </a:rPr>
                  <a:t> differ only in terms of the </a:t>
                </a:r>
                <a14:m>
                  <m:oMath xmlns:m="http://schemas.openxmlformats.org/officeDocument/2006/math">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𝒊</m:t>
                        </m:r>
                      </m:e>
                      <m:sup>
                        <m:r>
                          <a:rPr lang="en-NZ" altLang="ja-JP" sz="1600" b="1" i="1">
                            <a:solidFill>
                              <a:prstClr val="black"/>
                            </a:solidFill>
                            <a:latin typeface="Cambria Math" panose="02040503050406030204" pitchFamily="18" charset="0"/>
                          </a:rPr>
                          <m:t>𝒕𝒉</m:t>
                        </m:r>
                      </m:sup>
                    </m:sSup>
                  </m:oMath>
                </a14:m>
                <a:r>
                  <a:rPr lang="en-US" altLang="ja-JP" sz="1600" dirty="0">
                    <a:solidFill>
                      <a:prstClr val="black"/>
                    </a:solidFill>
                  </a:rPr>
                  <a:t> element differs.</a:t>
                </a:r>
              </a:p>
            </p:txBody>
          </p:sp>
        </mc:Choice>
        <mc:Fallback xmlns="">
          <p:sp>
            <p:nvSpPr>
              <p:cNvPr id="31" name="Text Placeholder 5">
                <a:extLst>
                  <a:ext uri="{FF2B5EF4-FFF2-40B4-BE49-F238E27FC236}">
                    <a16:creationId xmlns:a16="http://schemas.microsoft.com/office/drawing/2014/main" id="{4E308518-9FCE-D563-FD63-513409813E49}"/>
                  </a:ext>
                </a:extLst>
              </p:cNvPr>
              <p:cNvSpPr txBox="1">
                <a:spLocks noRot="1" noChangeAspect="1" noMove="1" noResize="1" noEditPoints="1" noAdjustHandles="1" noChangeArrowheads="1" noChangeShapeType="1" noTextEdit="1"/>
              </p:cNvSpPr>
              <p:nvPr/>
            </p:nvSpPr>
            <p:spPr>
              <a:xfrm>
                <a:off x="319458" y="5388576"/>
                <a:ext cx="11524195" cy="365126"/>
              </a:xfrm>
              <a:prstGeom prst="rect">
                <a:avLst/>
              </a:prstGeom>
              <a:blipFill>
                <a:blip r:embed="rId9"/>
                <a:stretch>
                  <a:fillRect l="-264" t="-3333" b="-1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2" name="Text Placeholder 5">
                <a:extLst>
                  <a:ext uri="{FF2B5EF4-FFF2-40B4-BE49-F238E27FC236}">
                    <a16:creationId xmlns:a16="http://schemas.microsoft.com/office/drawing/2014/main" id="{EEA82B61-343F-A9D6-CD5F-DB048B0B6EAF}"/>
                  </a:ext>
                </a:extLst>
              </p:cNvPr>
              <p:cNvSpPr txBox="1">
                <a:spLocks/>
              </p:cNvSpPr>
              <p:nvPr/>
            </p:nvSpPr>
            <p:spPr>
              <a:xfrm>
                <a:off x="319457" y="5751963"/>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rPr>
                  <a:t>By the same logic as above, we may write   </a:t>
                </a:r>
                <a14:m>
                  <m:oMath xmlns:m="http://schemas.openxmlformats.org/officeDocument/2006/math">
                    <m:r>
                      <a:rPr lang="en-NZ" altLang="ja-JP" sz="1600" b="1" i="1" smtClean="0">
                        <a:solidFill>
                          <a:schemeClr val="tx1"/>
                        </a:solidFill>
                        <a:latin typeface="Cambria Math" panose="02040503050406030204" pitchFamily="18" charset="0"/>
                      </a:rPr>
                      <m:t>𝒒</m:t>
                    </m:r>
                    <m:r>
                      <a:rPr lang="en-NZ" altLang="ja-JP" sz="1600" b="1" i="1" smtClean="0">
                        <a:solidFill>
                          <a:schemeClr val="tx1"/>
                        </a:solidFill>
                        <a:latin typeface="Cambria Math" panose="02040503050406030204" pitchFamily="18" charset="0"/>
                      </a:rPr>
                      <m:t>( </m:t>
                    </m:r>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𝒚</m:t>
                        </m:r>
                      </m:e>
                    </m:bar>
                    <m:r>
                      <a:rPr lang="en-NZ" altLang="ja-JP" sz="1600" b="1" i="1" smtClean="0">
                        <a:solidFill>
                          <a:schemeClr val="tx1"/>
                        </a:solidFill>
                        <a:latin typeface="Cambria Math" panose="02040503050406030204" pitchFamily="18" charset="0"/>
                      </a:rPr>
                      <m:t> | </m:t>
                    </m:r>
                    <m:bar>
                      <m:barPr>
                        <m:ctrlPr>
                          <a:rPr lang="en-NZ" altLang="ja-JP" sz="1600" b="1" i="1" smtClean="0">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𝒙</m:t>
                        </m:r>
                      </m:e>
                    </m:bar>
                    <m:r>
                      <a:rPr lang="en-NZ" altLang="ja-JP" sz="1600" b="1" i="1">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𝒀</m:t>
                            </m:r>
                          </m:e>
                          <m:sub>
                            <m:r>
                              <a:rPr lang="en-NZ" altLang="ja-JP" sz="1600" b="1" i="1">
                                <a:solidFill>
                                  <a:prstClr val="black"/>
                                </a:solidFill>
                                <a:latin typeface="Cambria Math" panose="02040503050406030204" pitchFamily="18" charset="0"/>
                              </a:rPr>
                              <m:t>𝒊</m:t>
                            </m:r>
                          </m:sub>
                        </m:sSub>
                        <m:r>
                          <a:rPr lang="en-NZ" altLang="ja-JP" sz="1600" b="1" i="1">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bar>
                              <m:barPr>
                                <m:ctrlPr>
                                  <a:rPr lang="en-NZ" altLang="ja-JP" sz="1600" b="1" i="1">
                                    <a:solidFill>
                                      <a:prstClr val="black"/>
                                    </a:solidFill>
                                    <a:latin typeface="Cambria Math" panose="02040503050406030204" pitchFamily="18" charset="0"/>
                                  </a:rPr>
                                </m:ctrlPr>
                              </m:barPr>
                              <m:e>
                                <m:r>
                                  <a:rPr lang="en-NZ" altLang="ja-JP" sz="1600" b="1" i="1" smtClean="0">
                                    <a:solidFill>
                                      <a:prstClr val="black"/>
                                    </a:solidFill>
                                    <a:latin typeface="Cambria Math" panose="02040503050406030204" pitchFamily="18" charset="0"/>
                                  </a:rPr>
                                  <m:t>𝒀</m:t>
                                </m:r>
                              </m:e>
                            </m:bar>
                          </m:e>
                          <m:sub>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sub>
                        </m:sSub>
                      </m:sub>
                    </m:sSub>
                    <m:r>
                      <a:rPr lang="en-NZ" altLang="ja-JP" sz="1600" b="1" i="1">
                        <a:solidFill>
                          <a:prstClr val="black"/>
                        </a:solidFill>
                        <a:latin typeface="Cambria Math" panose="02040503050406030204" pitchFamily="18" charset="0"/>
                      </a:rPr>
                      <m:t> </m:t>
                    </m:r>
                    <m:d>
                      <m:dPr>
                        <m:endChr m:val="|"/>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𝒚</m:t>
                            </m:r>
                          </m:e>
                          <m:sub>
                            <m:r>
                              <a:rPr lang="en-NZ" altLang="ja-JP" sz="1600" b="1" i="1">
                                <a:solidFill>
                                  <a:prstClr val="black"/>
                                </a:solidFill>
                                <a:latin typeface="Cambria Math" panose="02040503050406030204" pitchFamily="18" charset="0"/>
                              </a:rPr>
                              <m:t>𝒊</m:t>
                            </m:r>
                          </m:sub>
                        </m:sSub>
                        <m:r>
                          <a:rPr lang="en-NZ" altLang="ja-JP" sz="1600" b="1" i="1">
                            <a:solidFill>
                              <a:prstClr val="black"/>
                            </a:solidFill>
                            <a:latin typeface="Cambria Math" panose="02040503050406030204" pitchFamily="18" charset="0"/>
                          </a:rPr>
                          <m:t> </m:t>
                        </m:r>
                      </m:e>
                    </m:d>
                    <m:r>
                      <a:rPr lang="en-NZ" altLang="ja-JP" sz="1600" b="1" i="1">
                        <a:solidFill>
                          <a:prstClr val="black"/>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bar>
                          <m:barPr>
                            <m:ctrlPr>
                              <a:rPr lang="en-NZ" altLang="ja-JP" sz="1600" b="1" i="1">
                                <a:solidFill>
                                  <a:schemeClr val="tx1"/>
                                </a:solidFill>
                                <a:latin typeface="Cambria Math" panose="02040503050406030204" pitchFamily="18" charset="0"/>
                              </a:rPr>
                            </m:ctrlPr>
                          </m:barPr>
                          <m:e>
                            <m:r>
                              <a:rPr lang="en-NZ" altLang="ja-JP" sz="1600" b="1" i="1" smtClean="0">
                                <a:solidFill>
                                  <a:schemeClr val="tx1"/>
                                </a:solidFill>
                                <a:latin typeface="Cambria Math" panose="02040503050406030204" pitchFamily="18" charset="0"/>
                              </a:rPr>
                              <m:t>𝒚</m:t>
                            </m:r>
                          </m:e>
                        </m:bar>
                      </m:e>
                      <m:sub>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𝒊</m:t>
                        </m:r>
                      </m:sub>
                    </m:sSub>
                    <m:r>
                      <a:rPr lang="en-NZ" altLang="ja-JP" sz="1600" b="1" i="1">
                        <a:solidFill>
                          <a:schemeClr val="tx1"/>
                        </a:solidFill>
                        <a:latin typeface="Cambria Math" panose="02040503050406030204" pitchFamily="18" charset="0"/>
                      </a:rPr>
                      <m:t> )</m:t>
                    </m:r>
                  </m:oMath>
                </a14:m>
                <a:endParaRPr kumimoji="1" lang="en-US"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endParaRPr>
              </a:p>
            </p:txBody>
          </p:sp>
        </mc:Choice>
        <mc:Fallback xmlns="">
          <p:sp>
            <p:nvSpPr>
              <p:cNvPr id="32" name="Text Placeholder 5">
                <a:extLst>
                  <a:ext uri="{FF2B5EF4-FFF2-40B4-BE49-F238E27FC236}">
                    <a16:creationId xmlns:a16="http://schemas.microsoft.com/office/drawing/2014/main" id="{EEA82B61-343F-A9D6-CD5F-DB048B0B6EAF}"/>
                  </a:ext>
                </a:extLst>
              </p:cNvPr>
              <p:cNvSpPr txBox="1">
                <a:spLocks noRot="1" noChangeAspect="1" noMove="1" noResize="1" noEditPoints="1" noAdjustHandles="1" noChangeArrowheads="1" noChangeShapeType="1" noTextEdit="1"/>
              </p:cNvSpPr>
              <p:nvPr/>
            </p:nvSpPr>
            <p:spPr>
              <a:xfrm>
                <a:off x="319457" y="5751963"/>
                <a:ext cx="11524195" cy="365126"/>
              </a:xfrm>
              <a:prstGeom prst="rect">
                <a:avLst/>
              </a:prstGeom>
              <a:blipFill>
                <a:blip r:embed="rId10"/>
                <a:stretch>
                  <a:fillRect l="-264" t="-3390" b="-16949"/>
                </a:stretch>
              </a:blipFill>
            </p:spPr>
            <p:txBody>
              <a:bodyPr/>
              <a:lstStyle/>
              <a:p>
                <a:r>
                  <a:rPr lang="en-NZ">
                    <a:noFill/>
                  </a:rPr>
                  <a:t> </a:t>
                </a:r>
              </a:p>
            </p:txBody>
          </p:sp>
        </mc:Fallback>
      </mc:AlternateContent>
    </p:spTree>
    <p:extLst>
      <p:ext uri="{BB962C8B-B14F-4D97-AF65-F5344CB8AC3E}">
        <p14:creationId xmlns:p14="http://schemas.microsoft.com/office/powerpoint/2010/main" val="421786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P spid="29" grpId="0"/>
      <p:bldP spid="30" grpId="0"/>
      <p:bldP spid="31" grpId="0"/>
      <p:bldP spid="3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.3 – Gibbs Sampling</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fontScale="85000" lnSpcReduction="100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.3d – Gibbs as a Special Case of the MH Algorithm:</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2" y="947580"/>
            <a:ext cx="1152419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Consequently,</a:t>
            </a:r>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the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acceptance ratio simplifies to …</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9FAC7A9-B464-124D-31B4-D01F47079D53}"/>
                  </a:ext>
                </a:extLst>
              </p:cNvPr>
              <p:cNvSpPr txBox="1"/>
              <p:nvPr/>
            </p:nvSpPr>
            <p:spPr>
              <a:xfrm>
                <a:off x="740229" y="1312706"/>
                <a:ext cx="6125028" cy="9039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𝒓</m:t>
                      </m:r>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r>
                            <a:rPr lang="en-NZ" altLang="ja-JP" sz="1800" b="1" i="1" smtClean="0">
                              <a:solidFill>
                                <a:schemeClr val="tx1"/>
                              </a:solidFill>
                              <a:latin typeface="Cambria Math" panose="02040503050406030204" pitchFamily="18" charset="0"/>
                            </a:rPr>
                            <m:t>𝒒</m:t>
                          </m:r>
                          <m:r>
                            <a:rPr lang="en-NZ" altLang="ja-JP" sz="1800" b="1" i="1" smtClean="0">
                              <a:solidFill>
                                <a:schemeClr val="tx1"/>
                              </a:solidFill>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a:latin typeface="Cambria Math" panose="02040503050406030204" pitchFamily="18" charset="0"/>
                                </a:rPr>
                                <m:t>𝒚</m:t>
                              </m:r>
                            </m:e>
                          </m:bar>
                          <m:r>
                            <a:rPr lang="en-NZ" altLang="ja-JP" b="1" i="1" smtClean="0">
                              <a:latin typeface="Cambria Math" panose="02040503050406030204" pitchFamily="18" charset="0"/>
                            </a:rPr>
                            <m:t> </m:t>
                          </m:r>
                          <m:r>
                            <a:rPr lang="en-NZ" altLang="ja-JP" sz="1800" b="1" i="1" smtClean="0">
                              <a:solidFill>
                                <a:schemeClr val="tx1"/>
                              </a:solidFill>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r>
                            <a:rPr lang="en-NZ" altLang="ja-JP" sz="1800" b="1" i="1" smtClean="0">
                              <a:solidFill>
                                <a:schemeClr val="tx1"/>
                              </a:solidFill>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r>
                            <a:rPr lang="en-NZ" altLang="ja-JP" b="1" i="1">
                              <a:latin typeface="Cambria Math" panose="02040503050406030204" pitchFamily="18" charset="0"/>
                            </a:rPr>
                            <m:t>𝒒</m:t>
                          </m:r>
                          <m:r>
                            <a:rPr lang="en-NZ" altLang="ja-JP" b="1" i="1">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smtClean="0">
                              <a:latin typeface="Cambria Math" panose="02040503050406030204" pitchFamily="18" charset="0"/>
                            </a:rPr>
                            <m:t> </m:t>
                          </m:r>
                          <m:r>
                            <a:rPr lang="en-NZ" altLang="ja-JP" b="1" i="1">
                              <a:latin typeface="Cambria Math" panose="02040503050406030204" pitchFamily="18" charset="0"/>
                            </a:rPr>
                            <m:t>,</m:t>
                          </m:r>
                          <m:r>
                            <a:rPr lang="en-NZ" altLang="ja-JP" b="1" i="1" smtClean="0">
                              <a:latin typeface="Cambria Math" panose="02040503050406030204" pitchFamily="18" charset="0"/>
                            </a:rPr>
                            <m:t>  </m:t>
                          </m:r>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a:latin typeface="Cambria Math" panose="02040503050406030204" pitchFamily="18" charset="0"/>
                            </a:rPr>
                            <m:t>)</m:t>
                          </m:r>
                        </m:den>
                      </m:f>
                      <m:r>
                        <a:rPr lang="en-NZ" altLang="ja-JP" sz="1800" b="1" i="1" smtClean="0">
                          <a:solidFill>
                            <a:schemeClr val="tx1"/>
                          </a:solidFill>
                          <a:latin typeface="Cambria Math" panose="02040503050406030204" pitchFamily="18" charset="0"/>
                        </a:rPr>
                        <m:t>   ≡    </m:t>
                      </m:r>
                      <m:f>
                        <m:fPr>
                          <m:ctrlPr>
                            <a:rPr lang="en-NZ" altLang="ja-JP" b="1" i="1">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r>
                            <a:rPr lang="en-NZ" altLang="ja-JP" b="1" i="1">
                              <a:latin typeface="Cambria Math" panose="02040503050406030204" pitchFamily="18" charset="0"/>
                            </a:rPr>
                            <m:t>𝒒</m:t>
                          </m:r>
                          <m:r>
                            <a:rPr lang="en-NZ" altLang="ja-JP" b="1" i="1">
                              <a:latin typeface="Cambria Math" panose="02040503050406030204" pitchFamily="18" charset="0"/>
                            </a:rPr>
                            <m:t>(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smtClean="0">
                              <a:latin typeface="Cambria Math" panose="02040503050406030204" pitchFamily="18" charset="0"/>
                            </a:rPr>
                            <m:t> |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r>
                            <a:rPr lang="en-NZ" altLang="ja-JP" b="1" i="1" smtClean="0">
                              <a:latin typeface="Cambria Math" panose="02040503050406030204" pitchFamily="18" charset="0"/>
                            </a:rPr>
                            <m:t>𝒒</m:t>
                          </m:r>
                          <m:r>
                            <a:rPr lang="en-NZ" altLang="ja-JP" b="1" i="1" smtClean="0">
                              <a:latin typeface="Cambria Math" panose="02040503050406030204" pitchFamily="18" charset="0"/>
                            </a:rPr>
                            <m:t>(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𝒚</m:t>
                              </m:r>
                            </m:e>
                          </m:bar>
                          <m:r>
                            <a:rPr lang="en-NZ" altLang="ja-JP" b="1" i="1" smtClean="0">
                              <a:latin typeface="Cambria Math" panose="02040503050406030204" pitchFamily="18" charset="0"/>
                            </a:rPr>
                            <m:t> | </m:t>
                          </m:r>
                          <m:bar>
                            <m:barPr>
                              <m:ctrlPr>
                                <a:rPr lang="en-NZ" altLang="ja-JP" b="1" i="1" smtClean="0">
                                  <a:latin typeface="Cambria Math" panose="02040503050406030204" pitchFamily="18" charset="0"/>
                                </a:rPr>
                              </m:ctrlPr>
                            </m:barPr>
                            <m:e>
                              <m:r>
                                <a:rPr lang="en-NZ" altLang="ja-JP" b="1" i="1" smtClean="0">
                                  <a:latin typeface="Cambria Math" panose="02040503050406030204" pitchFamily="18" charset="0"/>
                                </a:rPr>
                                <m:t>𝒙</m:t>
                              </m:r>
                            </m:e>
                          </m:bar>
                          <m:r>
                            <a:rPr lang="en-NZ" altLang="ja-JP" b="1" i="1">
                              <a:latin typeface="Cambria Math" panose="02040503050406030204" pitchFamily="18" charset="0"/>
                            </a:rPr>
                            <m:t>)</m:t>
                          </m:r>
                        </m:den>
                      </m:f>
                    </m:oMath>
                  </m:oMathPara>
                </a14:m>
                <a:endParaRPr lang="en-NZ" dirty="0"/>
              </a:p>
            </p:txBody>
          </p:sp>
        </mc:Choice>
        <mc:Fallback xmlns="">
          <p:sp>
            <p:nvSpPr>
              <p:cNvPr id="7" name="TextBox 6">
                <a:extLst>
                  <a:ext uri="{FF2B5EF4-FFF2-40B4-BE49-F238E27FC236}">
                    <a16:creationId xmlns:a16="http://schemas.microsoft.com/office/drawing/2014/main" id="{59FAC7A9-B464-124D-31B4-D01F47079D53}"/>
                  </a:ext>
                </a:extLst>
              </p:cNvPr>
              <p:cNvSpPr txBox="1">
                <a:spLocks noRot="1" noChangeAspect="1" noMove="1" noResize="1" noEditPoints="1" noAdjustHandles="1" noChangeArrowheads="1" noChangeShapeType="1" noTextEdit="1"/>
              </p:cNvSpPr>
              <p:nvPr/>
            </p:nvSpPr>
            <p:spPr>
              <a:xfrm>
                <a:off x="740229" y="1312706"/>
                <a:ext cx="6125028" cy="903902"/>
              </a:xfrm>
              <a:prstGeom prst="rect">
                <a:avLst/>
              </a:prstGeom>
              <a:blipFill>
                <a:blip r:embed="rId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39148B9-9954-3407-0C10-37A61A2B097C}"/>
                  </a:ext>
                </a:extLst>
              </p:cNvPr>
              <p:cNvSpPr txBox="1"/>
              <p:nvPr/>
            </p:nvSpPr>
            <p:spPr>
              <a:xfrm>
                <a:off x="1059543" y="2378567"/>
                <a:ext cx="3672114" cy="9039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 </m:t>
                                  </m:r>
                                  <m:r>
                                    <a:rPr lang="en-NZ" altLang="ja-JP" b="1" i="1">
                                      <a:solidFill>
                                        <a:prstClr val="black"/>
                                      </a:solidFill>
                                      <a:latin typeface="Cambria Math" panose="02040503050406030204" pitchFamily="18" charset="0"/>
                                    </a:rPr>
                                    <m:t>𝑿</m:t>
                                  </m:r>
                                </m:e>
                                <m:sub>
                                  <m:r>
                                    <a:rPr lang="en-NZ" altLang="ja-JP" b="1" i="1">
                                      <a:solidFill>
                                        <a:prstClr val="black"/>
                                      </a:solidFill>
                                      <a:latin typeface="Cambria Math" panose="02040503050406030204" pitchFamily="18" charset="0"/>
                                    </a:rPr>
                                    <m:t>𝒊</m:t>
                                  </m:r>
                                </m:sub>
                              </m:sSub>
                              <m:r>
                                <a:rPr lang="en-NZ" altLang="ja-JP" b="1" i="1">
                                  <a:solidFill>
                                    <a:prstClr val="black"/>
                                  </a:solidFill>
                                  <a:latin typeface="Cambria Math" panose="02040503050406030204" pitchFamily="18" charset="0"/>
                                </a:rPr>
                                <m:t> |  </m:t>
                              </m:r>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𝑿</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 </m:t>
                          </m:r>
                          <m:d>
                            <m:dPr>
                              <m:endChr m:val="|"/>
                              <m:ctrlPr>
                                <a:rPr lang="en-NZ" altLang="ja-JP" b="1" i="1">
                                  <a:solidFill>
                                    <a:prstClr val="black"/>
                                  </a:solidFill>
                                  <a:latin typeface="Cambria Math" panose="02040503050406030204" pitchFamily="18" charset="0"/>
                                </a:rPr>
                              </m:ctrlPr>
                            </m:dPr>
                            <m:e>
                              <m:r>
                                <a:rPr lang="en-NZ" altLang="ja-JP" b="1" i="1">
                                  <a:solidFill>
                                    <a:prstClr val="black"/>
                                  </a:solidFill>
                                  <a:latin typeface="Cambria Math" panose="02040503050406030204" pitchFamily="18" charset="0"/>
                                </a:rPr>
                                <m:t> </m:t>
                              </m:r>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𝒙</m:t>
                                  </m:r>
                                </m:e>
                                <m:sub>
                                  <m:r>
                                    <a:rPr lang="en-NZ" altLang="ja-JP" b="1" i="1">
                                      <a:solidFill>
                                        <a:prstClr val="black"/>
                                      </a:solidFill>
                                      <a:latin typeface="Cambria Math" panose="02040503050406030204" pitchFamily="18" charset="0"/>
                                    </a:rPr>
                                    <m:t>𝒊</m:t>
                                  </m:r>
                                </m:sub>
                              </m:sSub>
                              <m:r>
                                <a:rPr lang="en-NZ" altLang="ja-JP" b="1" i="1">
                                  <a:solidFill>
                                    <a:prstClr val="black"/>
                                  </a:solidFill>
                                  <a:latin typeface="Cambria Math" panose="02040503050406030204" pitchFamily="18" charset="0"/>
                                </a:rPr>
                                <m:t> </m:t>
                              </m:r>
                            </m:e>
                          </m:d>
                          <m:r>
                            <a:rPr lang="en-NZ" altLang="ja-JP" b="1" i="1">
                              <a:solidFill>
                                <a:prstClr val="black"/>
                              </a:solidFill>
                              <a:latin typeface="Cambria Math" panose="02040503050406030204" pitchFamily="18" charset="0"/>
                            </a:rPr>
                            <m:t> </m:t>
                          </m:r>
                          <m:sSub>
                            <m:sSubPr>
                              <m:ctrlPr>
                                <a:rPr lang="en-NZ" altLang="ja-JP" b="1" i="1">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a:latin typeface="Cambria Math" panose="02040503050406030204" pitchFamily="18" charset="0"/>
                                    </a:rPr>
                                    <m:t>𝒙</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a:latin typeface="Cambria Math" panose="02040503050406030204" pitchFamily="18" charset="0"/>
                            </a:rPr>
                            <m:t> )</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 </m:t>
                                  </m:r>
                                  <m:r>
                                    <a:rPr lang="en-NZ" altLang="ja-JP" b="1" i="1">
                                      <a:solidFill>
                                        <a:prstClr val="black"/>
                                      </a:solidFill>
                                      <a:latin typeface="Cambria Math" panose="02040503050406030204" pitchFamily="18" charset="0"/>
                                    </a:rPr>
                                    <m:t>𝒀</m:t>
                                  </m:r>
                                </m:e>
                                <m:sub>
                                  <m:r>
                                    <a:rPr lang="en-NZ" altLang="ja-JP" b="1" i="1">
                                      <a:solidFill>
                                        <a:prstClr val="black"/>
                                      </a:solidFill>
                                      <a:latin typeface="Cambria Math" panose="02040503050406030204" pitchFamily="18" charset="0"/>
                                    </a:rPr>
                                    <m:t>𝒊</m:t>
                                  </m:r>
                                </m:sub>
                              </m:sSub>
                              <m:r>
                                <a:rPr lang="en-NZ" altLang="ja-JP" b="1" i="1">
                                  <a:solidFill>
                                    <a:prstClr val="black"/>
                                  </a:solidFill>
                                  <a:latin typeface="Cambria Math" panose="02040503050406030204" pitchFamily="18" charset="0"/>
                                </a:rPr>
                                <m:t> |  </m:t>
                              </m:r>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𝒀</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 </m:t>
                          </m:r>
                          <m:d>
                            <m:dPr>
                              <m:endChr m:val="|"/>
                              <m:ctrlPr>
                                <a:rPr lang="en-NZ" altLang="ja-JP" b="1" i="1">
                                  <a:solidFill>
                                    <a:prstClr val="black"/>
                                  </a:solidFill>
                                  <a:latin typeface="Cambria Math" panose="02040503050406030204" pitchFamily="18" charset="0"/>
                                </a:rPr>
                              </m:ctrlPr>
                            </m:dPr>
                            <m:e>
                              <m:r>
                                <a:rPr lang="en-NZ" altLang="ja-JP" b="1" i="1">
                                  <a:solidFill>
                                    <a:prstClr val="black"/>
                                  </a:solidFill>
                                  <a:latin typeface="Cambria Math" panose="02040503050406030204" pitchFamily="18" charset="0"/>
                                </a:rPr>
                                <m:t> </m:t>
                              </m:r>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𝒚</m:t>
                                  </m:r>
                                </m:e>
                                <m:sub>
                                  <m:r>
                                    <a:rPr lang="en-NZ" altLang="ja-JP" b="1" i="1">
                                      <a:solidFill>
                                        <a:prstClr val="black"/>
                                      </a:solidFill>
                                      <a:latin typeface="Cambria Math" panose="02040503050406030204" pitchFamily="18" charset="0"/>
                                    </a:rPr>
                                    <m:t>𝒊</m:t>
                                  </m:r>
                                </m:sub>
                              </m:sSub>
                              <m:r>
                                <a:rPr lang="en-NZ" altLang="ja-JP" b="1" i="1">
                                  <a:solidFill>
                                    <a:prstClr val="black"/>
                                  </a:solidFill>
                                  <a:latin typeface="Cambria Math" panose="02040503050406030204" pitchFamily="18" charset="0"/>
                                </a:rPr>
                                <m:t> </m:t>
                              </m:r>
                            </m:e>
                          </m:d>
                          <m:r>
                            <a:rPr lang="en-NZ" altLang="ja-JP" b="1" i="1">
                              <a:solidFill>
                                <a:prstClr val="black"/>
                              </a:solidFill>
                              <a:latin typeface="Cambria Math" panose="02040503050406030204" pitchFamily="18" charset="0"/>
                            </a:rPr>
                            <m:t> </m:t>
                          </m:r>
                          <m:sSub>
                            <m:sSubPr>
                              <m:ctrlPr>
                                <a:rPr lang="en-NZ" altLang="ja-JP" b="1" i="1">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a:latin typeface="Cambria Math" panose="02040503050406030204" pitchFamily="18" charset="0"/>
                                    </a:rPr>
                                    <m:t>𝒚</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a:latin typeface="Cambria Math" panose="02040503050406030204" pitchFamily="18" charset="0"/>
                            </a:rPr>
                            <m:t> )</m:t>
                          </m:r>
                        </m:den>
                      </m:f>
                    </m:oMath>
                  </m:oMathPara>
                </a14:m>
                <a:endParaRPr lang="en-NZ" dirty="0"/>
              </a:p>
            </p:txBody>
          </p:sp>
        </mc:Choice>
        <mc:Fallback xmlns="">
          <p:sp>
            <p:nvSpPr>
              <p:cNvPr id="4" name="TextBox 3">
                <a:extLst>
                  <a:ext uri="{FF2B5EF4-FFF2-40B4-BE49-F238E27FC236}">
                    <a16:creationId xmlns:a16="http://schemas.microsoft.com/office/drawing/2014/main" id="{139148B9-9954-3407-0C10-37A61A2B097C}"/>
                  </a:ext>
                </a:extLst>
              </p:cNvPr>
              <p:cNvSpPr txBox="1">
                <a:spLocks noRot="1" noChangeAspect="1" noMove="1" noResize="1" noEditPoints="1" noAdjustHandles="1" noChangeArrowheads="1" noChangeShapeType="1" noTextEdit="1"/>
              </p:cNvSpPr>
              <p:nvPr/>
            </p:nvSpPr>
            <p:spPr>
              <a:xfrm>
                <a:off x="1059543" y="2378567"/>
                <a:ext cx="3672114" cy="903902"/>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9B7267B-93C6-64D1-14B3-AC5AE8315219}"/>
                  </a:ext>
                </a:extLst>
              </p:cNvPr>
              <p:cNvSpPr txBox="1"/>
              <p:nvPr/>
            </p:nvSpPr>
            <p:spPr>
              <a:xfrm>
                <a:off x="1059543" y="3444428"/>
                <a:ext cx="4731658" cy="9612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𝑿</m:t>
                                  </m:r>
                                </m:e>
                                <m:sub>
                                  <m:r>
                                    <a:rPr lang="en-NZ" altLang="ja-JP" b="1" i="1" smtClean="0">
                                      <a:latin typeface="Cambria Math" panose="02040503050406030204" pitchFamily="18" charset="0"/>
                                    </a:rPr>
                                    <m:t>𝒊</m:t>
                                  </m:r>
                                </m:sub>
                              </m:sSub>
                              <m:r>
                                <a:rPr lang="en-NZ" altLang="ja-JP" b="1" i="1" smtClean="0">
                                  <a:latin typeface="Cambria Math" panose="02040503050406030204" pitchFamily="18" charset="0"/>
                                </a:rPr>
                                <m:t> ,   </m:t>
                              </m:r>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𝑿</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smtClean="0">
                              <a:latin typeface="Cambria Math" panose="02040503050406030204" pitchFamily="18" charset="0"/>
                            </a:rPr>
                            <m:t> </m:t>
                          </m:r>
                          <m:d>
                            <m:dPr>
                              <m:ctrlPr>
                                <a:rPr lang="en-NZ" altLang="ja-JP" b="1" i="1" smtClean="0">
                                  <a:solidFill>
                                    <a:prstClr val="black"/>
                                  </a:solidFill>
                                  <a:latin typeface="Cambria Math" panose="02040503050406030204" pitchFamily="18" charset="0"/>
                                </a:rPr>
                              </m:ctrlPr>
                            </m:dPr>
                            <m:e>
                              <m:sSub>
                                <m:sSubPr>
                                  <m:ctrlPr>
                                    <a:rPr lang="en-NZ" altLang="ja-JP" b="1" i="1">
                                      <a:solidFill>
                                        <a:prstClr val="black"/>
                                      </a:solidFill>
                                      <a:latin typeface="Cambria Math" panose="02040503050406030204" pitchFamily="18" charset="0"/>
                                    </a:rPr>
                                  </m:ctrlPr>
                                </m:sSubPr>
                                <m:e>
                                  <m:r>
                                    <a:rPr lang="en-NZ" altLang="ja-JP" b="1" i="1">
                                      <a:solidFill>
                                        <a:prstClr val="black"/>
                                      </a:solidFill>
                                      <a:latin typeface="Cambria Math" panose="02040503050406030204" pitchFamily="18" charset="0"/>
                                    </a:rPr>
                                    <m:t>𝒙</m:t>
                                  </m:r>
                                </m:e>
                                <m:sub>
                                  <m:r>
                                    <a:rPr lang="en-NZ" altLang="ja-JP" b="1" i="1">
                                      <a:solidFill>
                                        <a:prstClr val="black"/>
                                      </a:solidFill>
                                      <a:latin typeface="Cambria Math" panose="02040503050406030204" pitchFamily="18" charset="0"/>
                                    </a:rPr>
                                    <m:t>𝒊</m:t>
                                  </m:r>
                                </m:sub>
                              </m:sSub>
                              <m:r>
                                <a:rPr lang="en-NZ" altLang="ja-JP" b="1" i="1" smtClean="0">
                                  <a:solidFill>
                                    <a:prstClr val="black"/>
                                  </a:solidFill>
                                  <a:latin typeface="Cambria Math" panose="02040503050406030204" pitchFamily="18" charset="0"/>
                                </a:rPr>
                                <m:t> ,  </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a:latin typeface="Cambria Math" panose="02040503050406030204" pitchFamily="18" charset="0"/>
                                        </a:rPr>
                                        <m:t>𝒙</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 </m:t>
                              </m:r>
                            </m:e>
                          </m:d>
                          <m:r>
                            <a:rPr lang="en-NZ" altLang="ja-JP" b="1" i="1" smtClean="0">
                              <a:latin typeface="Cambria Math" panose="02040503050406030204" pitchFamily="18" charset="0"/>
                            </a:rPr>
                            <m:t> /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𝑿</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smtClean="0">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a:latin typeface="Cambria Math" panose="02040503050406030204" pitchFamily="18" charset="0"/>
                                    </a:rPr>
                                    <m:t>𝒙</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𝒀</m:t>
                                  </m:r>
                                </m:e>
                                <m:sub>
                                  <m:r>
                                    <a:rPr lang="en-NZ" altLang="ja-JP" b="1" i="1" smtClean="0">
                                      <a:latin typeface="Cambria Math" panose="02040503050406030204" pitchFamily="18" charset="0"/>
                                    </a:rPr>
                                    <m:t>𝒊</m:t>
                                  </m:r>
                                </m:sub>
                              </m:sSub>
                              <m:r>
                                <a:rPr lang="en-NZ" altLang="ja-JP" b="1" i="1" smtClean="0">
                                  <a:latin typeface="Cambria Math" panose="02040503050406030204" pitchFamily="18" charset="0"/>
                                </a:rPr>
                                <m:t> ,   </m:t>
                              </m:r>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smtClean="0">
                                          <a:solidFill>
                                            <a:prstClr val="black"/>
                                          </a:solidFill>
                                          <a:latin typeface="Cambria Math" panose="02040503050406030204" pitchFamily="18" charset="0"/>
                                        </a:rPr>
                                        <m:t>𝒀</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smtClean="0">
                              <a:latin typeface="Cambria Math" panose="02040503050406030204" pitchFamily="18" charset="0"/>
                            </a:rPr>
                            <m:t> </m:t>
                          </m:r>
                          <m:d>
                            <m:dPr>
                              <m:ctrlPr>
                                <a:rPr lang="en-NZ" altLang="ja-JP" b="1" i="1">
                                  <a:solidFill>
                                    <a:prstClr val="black"/>
                                  </a:solidFill>
                                  <a:latin typeface="Cambria Math" panose="02040503050406030204" pitchFamily="18" charset="0"/>
                                </a:rPr>
                              </m:ctrlPr>
                            </m:dPr>
                            <m:e>
                              <m:sSub>
                                <m:sSubPr>
                                  <m:ctrlPr>
                                    <a:rPr lang="en-NZ" altLang="ja-JP" b="1" i="1" smtClean="0">
                                      <a:solidFill>
                                        <a:prstClr val="black"/>
                                      </a:solidFill>
                                      <a:latin typeface="Cambria Math" panose="02040503050406030204" pitchFamily="18" charset="0"/>
                                    </a:rPr>
                                  </m:ctrlPr>
                                </m:sSubPr>
                                <m:e>
                                  <m:r>
                                    <a:rPr lang="en-NZ" altLang="ja-JP" b="1" i="1" smtClean="0">
                                      <a:solidFill>
                                        <a:prstClr val="black"/>
                                      </a:solidFill>
                                      <a:latin typeface="Cambria Math" panose="02040503050406030204" pitchFamily="18" charset="0"/>
                                    </a:rPr>
                                    <m:t>𝒚</m:t>
                                  </m:r>
                                </m:e>
                                <m:sub>
                                  <m:r>
                                    <a:rPr lang="en-NZ" altLang="ja-JP" b="1" i="1">
                                      <a:solidFill>
                                        <a:prstClr val="black"/>
                                      </a:solidFill>
                                      <a:latin typeface="Cambria Math" panose="02040503050406030204" pitchFamily="18" charset="0"/>
                                    </a:rPr>
                                    <m:t>𝒊</m:t>
                                  </m:r>
                                </m:sub>
                              </m:sSub>
                              <m:r>
                                <a:rPr lang="en-NZ" altLang="ja-JP" b="1" i="1">
                                  <a:solidFill>
                                    <a:prstClr val="black"/>
                                  </a:solidFill>
                                  <a:latin typeface="Cambria Math" panose="02040503050406030204" pitchFamily="18" charset="0"/>
                                </a:rPr>
                                <m:t> ,  </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 </m:t>
                              </m:r>
                            </m:e>
                          </m:d>
                          <m:r>
                            <a:rPr lang="en-NZ" altLang="ja-JP" b="1" i="1" smtClean="0">
                              <a:latin typeface="Cambria Math" panose="02040503050406030204" pitchFamily="18" charset="0"/>
                            </a:rPr>
                            <m:t> /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smtClean="0">
                                          <a:solidFill>
                                            <a:prstClr val="black"/>
                                          </a:solidFill>
                                          <a:latin typeface="Cambria Math" panose="02040503050406030204" pitchFamily="18" charset="0"/>
                                        </a:rPr>
                                        <m:t>𝒀</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den>
                      </m:f>
                    </m:oMath>
                  </m:oMathPara>
                </a14:m>
                <a:endParaRPr lang="en-NZ" dirty="0"/>
              </a:p>
            </p:txBody>
          </p:sp>
        </mc:Choice>
        <mc:Fallback xmlns="">
          <p:sp>
            <p:nvSpPr>
              <p:cNvPr id="9" name="TextBox 8">
                <a:extLst>
                  <a:ext uri="{FF2B5EF4-FFF2-40B4-BE49-F238E27FC236}">
                    <a16:creationId xmlns:a16="http://schemas.microsoft.com/office/drawing/2014/main" id="{D9B7267B-93C6-64D1-14B3-AC5AE8315219}"/>
                  </a:ext>
                </a:extLst>
              </p:cNvPr>
              <p:cNvSpPr txBox="1">
                <a:spLocks noRot="1" noChangeAspect="1" noMove="1" noResize="1" noEditPoints="1" noAdjustHandles="1" noChangeArrowheads="1" noChangeShapeType="1" noTextEdit="1"/>
              </p:cNvSpPr>
              <p:nvPr/>
            </p:nvSpPr>
            <p:spPr>
              <a:xfrm>
                <a:off x="1059543" y="3444428"/>
                <a:ext cx="4731658" cy="961225"/>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C5FF1A2-E210-F0CC-E2D2-997DD220057A}"/>
                  </a:ext>
                </a:extLst>
              </p:cNvPr>
              <p:cNvSpPr txBox="1"/>
              <p:nvPr/>
            </p:nvSpPr>
            <p:spPr>
              <a:xfrm>
                <a:off x="1059542" y="4567612"/>
                <a:ext cx="6125027" cy="9612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sSub>
                            <m:sSubPr>
                              <m:ctrlPr>
                                <a:rPr lang="en-NZ" altLang="ja-JP" b="1" i="1" smtClean="0">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r>
                            <a:rPr lang="en-NZ" altLang="ja-JP" b="1" i="1" smtClean="0">
                              <a:latin typeface="Cambria Math" panose="02040503050406030204" pitchFamily="18" charset="0"/>
                            </a:rPr>
                            <m:t>  /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𝑿</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smtClean="0">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a:latin typeface="Cambria Math" panose="02040503050406030204" pitchFamily="18" charset="0"/>
                                    </a:rPr>
                                    <m:t>𝒙</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num>
                        <m:den>
                          <m:sSub>
                            <m:sSubPr>
                              <m:ctrlPr>
                                <a:rPr lang="en-NZ" altLang="ja-JP" b="1" i="1">
                                  <a:latin typeface="Cambria Math" panose="02040503050406030204" pitchFamily="18" charset="0"/>
                                </a:rPr>
                              </m:ctrlPr>
                            </m:sSubPr>
                            <m:e>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𝑿</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d>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 </m:t>
                              </m:r>
                              <m:r>
                                <a:rPr lang="en-NZ" altLang="ja-JP" b="1" i="1">
                                  <a:latin typeface="Cambria Math" panose="02040503050406030204" pitchFamily="18" charset="0"/>
                                </a:rPr>
                                <m:t>𝒇</m:t>
                              </m:r>
                            </m:e>
                            <m:sub>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𝒀</m:t>
                                  </m:r>
                                </m:e>
                              </m:bar>
                            </m:sub>
                          </m:sSub>
                          <m:d>
                            <m:dPr>
                              <m:ctrlPr>
                                <a:rPr lang="en-NZ" altLang="ja-JP" b="1" i="1">
                                  <a:latin typeface="Cambria Math" panose="02040503050406030204" pitchFamily="18" charset="0"/>
                                </a:rPr>
                              </m:ctrlPr>
                            </m:d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d>
                          <m:r>
                            <a:rPr lang="en-NZ" altLang="ja-JP" b="1" i="1" smtClean="0">
                              <a:latin typeface="Cambria Math" panose="02040503050406030204" pitchFamily="18" charset="0"/>
                            </a:rPr>
                            <m:t> /  </m:t>
                          </m:r>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smtClean="0">
                                          <a:solidFill>
                                            <a:prstClr val="black"/>
                                          </a:solidFill>
                                          <a:latin typeface="Cambria Math" panose="02040503050406030204" pitchFamily="18" charset="0"/>
                                        </a:rPr>
                                        <m:t>𝒀</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den>
                      </m:f>
                      <m:r>
                        <a:rPr lang="en-NZ" altLang="ja-JP" b="1" i="1" smtClean="0">
                          <a:latin typeface="Cambria Math" panose="02040503050406030204" pitchFamily="18" charset="0"/>
                        </a:rPr>
                        <m:t>  </m:t>
                      </m:r>
                      <m:r>
                        <a:rPr lang="en-NZ" altLang="ja-JP" b="1" i="1">
                          <a:latin typeface="Cambria Math" panose="02040503050406030204" pitchFamily="18" charset="0"/>
                        </a:rPr>
                        <m:t>=   </m:t>
                      </m:r>
                      <m:f>
                        <m:fPr>
                          <m:ctrlPr>
                            <a:rPr lang="en-NZ" altLang="ja-JP" b="1" i="1">
                              <a:latin typeface="Cambria Math" panose="02040503050406030204" pitchFamily="18" charset="0"/>
                            </a:rPr>
                          </m:ctrlPr>
                        </m:fPr>
                        <m:num>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𝒀</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𝒚</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num>
                        <m:den>
                          <m:sSub>
                            <m:sSubPr>
                              <m:ctrlPr>
                                <a:rPr lang="en-NZ" altLang="ja-JP" b="1" i="1" smtClean="0">
                                  <a:latin typeface="Cambria Math" panose="02040503050406030204" pitchFamily="18" charset="0"/>
                                </a:rPr>
                              </m:ctrlPr>
                            </m:sSubPr>
                            <m:e>
                              <m:r>
                                <a:rPr lang="en-NZ" altLang="ja-JP" b="1" i="1" smtClean="0">
                                  <a:latin typeface="Cambria Math" panose="02040503050406030204" pitchFamily="18" charset="0"/>
                                </a:rPr>
                                <m:t>𝒇</m:t>
                              </m:r>
                            </m:e>
                            <m:sub>
                              <m:sSub>
                                <m:sSubPr>
                                  <m:ctrlPr>
                                    <a:rPr lang="en-NZ" altLang="ja-JP" b="1" i="1">
                                      <a:solidFill>
                                        <a:prstClr val="black"/>
                                      </a:solidFill>
                                      <a:latin typeface="Cambria Math" panose="02040503050406030204" pitchFamily="18" charset="0"/>
                                    </a:rPr>
                                  </m:ctrlPr>
                                </m:sSubPr>
                                <m:e>
                                  <m:bar>
                                    <m:barPr>
                                      <m:ctrlPr>
                                        <a:rPr lang="en-NZ" altLang="ja-JP" b="1" i="1">
                                          <a:solidFill>
                                            <a:prstClr val="black"/>
                                          </a:solidFill>
                                          <a:latin typeface="Cambria Math" panose="02040503050406030204" pitchFamily="18" charset="0"/>
                                        </a:rPr>
                                      </m:ctrlPr>
                                    </m:barPr>
                                    <m:e>
                                      <m:r>
                                        <a:rPr lang="en-NZ" altLang="ja-JP" b="1" i="1">
                                          <a:solidFill>
                                            <a:prstClr val="black"/>
                                          </a:solidFill>
                                          <a:latin typeface="Cambria Math" panose="02040503050406030204" pitchFamily="18" charset="0"/>
                                        </a:rPr>
                                        <m:t>𝑿</m:t>
                                      </m:r>
                                    </m:e>
                                  </m:bar>
                                </m:e>
                                <m:sub>
                                  <m:r>
                                    <a:rPr lang="en-NZ" altLang="ja-JP" b="1" i="1">
                                      <a:solidFill>
                                        <a:prstClr val="black"/>
                                      </a:solidFill>
                                      <a:latin typeface="Cambria Math" panose="02040503050406030204" pitchFamily="18" charset="0"/>
                                    </a:rPr>
                                    <m:t>−</m:t>
                                  </m:r>
                                  <m:r>
                                    <a:rPr lang="en-NZ" altLang="ja-JP" b="1" i="1">
                                      <a:solidFill>
                                        <a:prstClr val="black"/>
                                      </a:solidFill>
                                      <a:latin typeface="Cambria Math" panose="02040503050406030204" pitchFamily="18" charset="0"/>
                                    </a:rPr>
                                    <m:t>𝒊</m:t>
                                  </m:r>
                                </m:sub>
                              </m:sSub>
                            </m:sub>
                          </m:sSub>
                          <m:r>
                            <a:rPr lang="en-NZ" altLang="ja-JP" b="1" i="1">
                              <a:solidFill>
                                <a:prstClr val="black"/>
                              </a:solidFill>
                              <a:latin typeface="Cambria Math" panose="02040503050406030204" pitchFamily="18" charset="0"/>
                            </a:rPr>
                            <m:t>(</m:t>
                          </m:r>
                          <m:sSub>
                            <m:sSubPr>
                              <m:ctrlPr>
                                <a:rPr lang="en-NZ" altLang="ja-JP" b="1" i="1" smtClean="0">
                                  <a:latin typeface="Cambria Math" panose="02040503050406030204" pitchFamily="18" charset="0"/>
                                </a:rPr>
                              </m:ctrlPr>
                            </m:sSubPr>
                            <m:e>
                              <m:bar>
                                <m:barPr>
                                  <m:ctrlPr>
                                    <a:rPr lang="en-NZ" altLang="ja-JP" b="1" i="1">
                                      <a:latin typeface="Cambria Math" panose="02040503050406030204" pitchFamily="18" charset="0"/>
                                    </a:rPr>
                                  </m:ctrlPr>
                                </m:barPr>
                                <m:e>
                                  <m:r>
                                    <a:rPr lang="en-NZ" altLang="ja-JP" b="1" i="1" smtClean="0">
                                      <a:latin typeface="Cambria Math" panose="02040503050406030204" pitchFamily="18" charset="0"/>
                                    </a:rPr>
                                    <m:t>𝒙</m:t>
                                  </m:r>
                                </m:e>
                              </m:bar>
                            </m:e>
                            <m:sub>
                              <m:r>
                                <a:rPr lang="en-NZ" altLang="ja-JP" b="1" i="1">
                                  <a:latin typeface="Cambria Math" panose="02040503050406030204" pitchFamily="18" charset="0"/>
                                </a:rPr>
                                <m:t>−</m:t>
                              </m:r>
                              <m:r>
                                <a:rPr lang="en-NZ" altLang="ja-JP" b="1" i="1">
                                  <a:latin typeface="Cambria Math" panose="02040503050406030204" pitchFamily="18" charset="0"/>
                                </a:rPr>
                                <m:t>𝒊</m:t>
                              </m:r>
                            </m:sub>
                          </m:sSub>
                          <m:r>
                            <a:rPr lang="en-NZ" altLang="ja-JP" b="1" i="1" smtClean="0">
                              <a:latin typeface="Cambria Math" panose="02040503050406030204" pitchFamily="18" charset="0"/>
                            </a:rPr>
                            <m:t>)</m:t>
                          </m:r>
                        </m:den>
                      </m:f>
                      <m:r>
                        <a:rPr lang="en-NZ" altLang="ja-JP" b="1" i="1" smtClean="0">
                          <a:latin typeface="Cambria Math" panose="02040503050406030204" pitchFamily="18" charset="0"/>
                        </a:rPr>
                        <m:t>  =   </m:t>
                      </m:r>
                      <m:r>
                        <a:rPr lang="en-NZ" altLang="ja-JP" b="1" i="1" smtClean="0">
                          <a:latin typeface="Cambria Math" panose="02040503050406030204" pitchFamily="18" charset="0"/>
                        </a:rPr>
                        <m:t>𝟏</m:t>
                      </m:r>
                    </m:oMath>
                  </m:oMathPara>
                </a14:m>
                <a:endParaRPr lang="en-NZ" dirty="0"/>
              </a:p>
            </p:txBody>
          </p:sp>
        </mc:Choice>
        <mc:Fallback xmlns="">
          <p:sp>
            <p:nvSpPr>
              <p:cNvPr id="15" name="TextBox 14">
                <a:extLst>
                  <a:ext uri="{FF2B5EF4-FFF2-40B4-BE49-F238E27FC236}">
                    <a16:creationId xmlns:a16="http://schemas.microsoft.com/office/drawing/2014/main" id="{2C5FF1A2-E210-F0CC-E2D2-997DD220057A}"/>
                  </a:ext>
                </a:extLst>
              </p:cNvPr>
              <p:cNvSpPr txBox="1">
                <a:spLocks noRot="1" noChangeAspect="1" noMove="1" noResize="1" noEditPoints="1" noAdjustHandles="1" noChangeArrowheads="1" noChangeShapeType="1" noTextEdit="1"/>
              </p:cNvSpPr>
              <p:nvPr/>
            </p:nvSpPr>
            <p:spPr>
              <a:xfrm>
                <a:off x="1059542" y="4567612"/>
                <a:ext cx="6125027" cy="961225"/>
              </a:xfrm>
              <a:prstGeom prst="rect">
                <a:avLst/>
              </a:prstGeom>
              <a:blipFill>
                <a:blip r:embed="rId6"/>
                <a:stretch>
                  <a:fillRect/>
                </a:stretch>
              </a:blipFill>
            </p:spPr>
            <p:txBody>
              <a:bodyPr/>
              <a:lstStyle/>
              <a:p>
                <a:r>
                  <a:rPr lang="en-NZ">
                    <a:noFill/>
                  </a:rPr>
                  <a:t> </a:t>
                </a:r>
              </a:p>
            </p:txBody>
          </p:sp>
        </mc:Fallback>
      </mc:AlternateContent>
      <p:sp>
        <p:nvSpPr>
          <p:cNvPr id="17" name="Right Brace 16">
            <a:extLst>
              <a:ext uri="{FF2B5EF4-FFF2-40B4-BE49-F238E27FC236}">
                <a16:creationId xmlns:a16="http://schemas.microsoft.com/office/drawing/2014/main" id="{FDF671A3-4FA6-1D9B-2933-31755F17B2BD}"/>
              </a:ext>
            </a:extLst>
          </p:cNvPr>
          <p:cNvSpPr/>
          <p:nvPr/>
        </p:nvSpPr>
        <p:spPr>
          <a:xfrm>
            <a:off x="5791201" y="3568951"/>
            <a:ext cx="400334" cy="7773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8" name="Text Placeholder 5">
            <a:extLst>
              <a:ext uri="{FF2B5EF4-FFF2-40B4-BE49-F238E27FC236}">
                <a16:creationId xmlns:a16="http://schemas.microsoft.com/office/drawing/2014/main" id="{B6ED7260-54A1-2CFA-AB61-D98CD4E66D9F}"/>
              </a:ext>
            </a:extLst>
          </p:cNvPr>
          <p:cNvSpPr txBox="1">
            <a:spLocks/>
          </p:cNvSpPr>
          <p:nvPr/>
        </p:nvSpPr>
        <p:spPr>
          <a:xfrm>
            <a:off x="6419927" y="3843427"/>
            <a:ext cx="380066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By the laws of conditional probability.</a:t>
            </a:r>
            <a:endPar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9" name="Right Brace 18">
            <a:extLst>
              <a:ext uri="{FF2B5EF4-FFF2-40B4-BE49-F238E27FC236}">
                <a16:creationId xmlns:a16="http://schemas.microsoft.com/office/drawing/2014/main" id="{724A8A0E-428E-E5FE-F3F1-C1D8BB53DC57}"/>
              </a:ext>
            </a:extLst>
          </p:cNvPr>
          <p:cNvSpPr/>
          <p:nvPr/>
        </p:nvSpPr>
        <p:spPr>
          <a:xfrm>
            <a:off x="6703065" y="4701080"/>
            <a:ext cx="400334" cy="7773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B58B1540-B0E9-B202-2583-D82AE9878DC9}"/>
                  </a:ext>
                </a:extLst>
              </p:cNvPr>
              <p:cNvSpPr txBox="1">
                <a:spLocks/>
              </p:cNvSpPr>
              <p:nvPr/>
            </p:nvSpPr>
            <p:spPr>
              <a:xfrm>
                <a:off x="7323743" y="4911724"/>
                <a:ext cx="380066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chemeClr val="bg2">
                        <a:lumMod val="50000"/>
                      </a:schemeClr>
                    </a:solidFill>
                  </a:rPr>
                  <a:t>since </a:t>
                </a:r>
                <a14:m>
                  <m:oMath xmlns:m="http://schemas.openxmlformats.org/officeDocument/2006/math">
                    <m:sSub>
                      <m:sSubPr>
                        <m:ctrlPr>
                          <a:rPr lang="en-NZ" altLang="ja-JP" sz="1400" i="1">
                            <a:solidFill>
                              <a:schemeClr val="bg2">
                                <a:lumMod val="50000"/>
                              </a:schemeClr>
                            </a:solidFill>
                            <a:latin typeface="Cambria Math" panose="02040503050406030204" pitchFamily="18" charset="0"/>
                          </a:rPr>
                        </m:ctrlPr>
                      </m:sSubPr>
                      <m:e>
                        <m:bar>
                          <m:barPr>
                            <m:ctrlPr>
                              <a:rPr lang="en-NZ" altLang="ja-JP" sz="1400" b="1" i="1">
                                <a:solidFill>
                                  <a:schemeClr val="bg2">
                                    <a:lumMod val="50000"/>
                                  </a:schemeClr>
                                </a:solidFill>
                                <a:latin typeface="Cambria Math" panose="02040503050406030204" pitchFamily="18" charset="0"/>
                              </a:rPr>
                            </m:ctrlPr>
                          </m:barPr>
                          <m:e>
                            <m:r>
                              <a:rPr lang="en-NZ" altLang="ja-JP" sz="1400" b="1" i="1">
                                <a:solidFill>
                                  <a:schemeClr val="bg2">
                                    <a:lumMod val="50000"/>
                                  </a:schemeClr>
                                </a:solidFill>
                                <a:latin typeface="Cambria Math" panose="02040503050406030204" pitchFamily="18" charset="0"/>
                              </a:rPr>
                              <m:t>𝒙</m:t>
                            </m:r>
                          </m:e>
                        </m:bar>
                      </m:e>
                      <m:sub>
                        <m:r>
                          <a:rPr lang="en-NZ" altLang="ja-JP" sz="1400" i="1">
                            <a:solidFill>
                              <a:schemeClr val="bg2">
                                <a:lumMod val="50000"/>
                              </a:schemeClr>
                            </a:solidFill>
                            <a:latin typeface="Cambria Math" panose="02040503050406030204" pitchFamily="18" charset="0"/>
                          </a:rPr>
                          <m:t>−</m:t>
                        </m:r>
                        <m:r>
                          <a:rPr lang="en-NZ" altLang="ja-JP" sz="1400" i="1">
                            <a:solidFill>
                              <a:schemeClr val="bg2">
                                <a:lumMod val="50000"/>
                              </a:schemeClr>
                            </a:solidFill>
                            <a:latin typeface="Cambria Math" panose="02040503050406030204" pitchFamily="18" charset="0"/>
                          </a:rPr>
                          <m:t>𝑖</m:t>
                        </m:r>
                      </m:sub>
                    </m:sSub>
                    <m:r>
                      <a:rPr lang="en-NZ" altLang="ja-JP" sz="1400" i="1">
                        <a:solidFill>
                          <a:schemeClr val="bg2">
                            <a:lumMod val="50000"/>
                          </a:schemeClr>
                        </a:solidFill>
                        <a:latin typeface="Cambria Math" panose="02040503050406030204" pitchFamily="18" charset="0"/>
                      </a:rPr>
                      <m:t> = </m:t>
                    </m:r>
                    <m:sSub>
                      <m:sSubPr>
                        <m:ctrlPr>
                          <a:rPr lang="en-NZ" altLang="ja-JP" sz="1400" i="1">
                            <a:solidFill>
                              <a:schemeClr val="bg2">
                                <a:lumMod val="50000"/>
                              </a:schemeClr>
                            </a:solidFill>
                            <a:latin typeface="Cambria Math" panose="02040503050406030204" pitchFamily="18" charset="0"/>
                          </a:rPr>
                        </m:ctrlPr>
                      </m:sSubPr>
                      <m:e>
                        <m:bar>
                          <m:barPr>
                            <m:ctrlPr>
                              <a:rPr lang="en-NZ" altLang="ja-JP" sz="1400" b="1" i="1">
                                <a:solidFill>
                                  <a:schemeClr val="bg2">
                                    <a:lumMod val="50000"/>
                                  </a:schemeClr>
                                </a:solidFill>
                                <a:latin typeface="Cambria Math" panose="02040503050406030204" pitchFamily="18" charset="0"/>
                              </a:rPr>
                            </m:ctrlPr>
                          </m:barPr>
                          <m:e>
                            <m:r>
                              <a:rPr lang="en-NZ" altLang="ja-JP" sz="1400" b="1" i="1">
                                <a:solidFill>
                                  <a:schemeClr val="bg2">
                                    <a:lumMod val="50000"/>
                                  </a:schemeClr>
                                </a:solidFill>
                                <a:latin typeface="Cambria Math" panose="02040503050406030204" pitchFamily="18" charset="0"/>
                              </a:rPr>
                              <m:t>𝒚</m:t>
                            </m:r>
                          </m:e>
                        </m:bar>
                      </m:e>
                      <m:sub>
                        <m:r>
                          <a:rPr lang="en-NZ" altLang="ja-JP" sz="1400" i="1">
                            <a:solidFill>
                              <a:schemeClr val="bg2">
                                <a:lumMod val="50000"/>
                              </a:schemeClr>
                            </a:solidFill>
                            <a:latin typeface="Cambria Math" panose="02040503050406030204" pitchFamily="18" charset="0"/>
                          </a:rPr>
                          <m:t>−</m:t>
                        </m:r>
                        <m:r>
                          <a:rPr lang="en-NZ" altLang="ja-JP" sz="1400" i="1">
                            <a:solidFill>
                              <a:schemeClr val="bg2">
                                <a:lumMod val="50000"/>
                              </a:schemeClr>
                            </a:solidFill>
                            <a:latin typeface="Cambria Math" panose="02040503050406030204" pitchFamily="18" charset="0"/>
                          </a:rPr>
                          <m:t>𝑖</m:t>
                        </m:r>
                      </m:sub>
                    </m:sSub>
                  </m:oMath>
                </a14:m>
                <a:endParaRPr lang="en-US" altLang="ja-JP" sz="1400" dirty="0">
                  <a:solidFill>
                    <a:schemeClr val="bg2">
                      <a:lumMod val="50000"/>
                    </a:schemeClr>
                  </a:solidFill>
                </a:endParaRPr>
              </a:p>
            </p:txBody>
          </p:sp>
        </mc:Choice>
        <mc:Fallback xmlns="">
          <p:sp>
            <p:nvSpPr>
              <p:cNvPr id="20" name="Text Placeholder 5">
                <a:extLst>
                  <a:ext uri="{FF2B5EF4-FFF2-40B4-BE49-F238E27FC236}">
                    <a16:creationId xmlns:a16="http://schemas.microsoft.com/office/drawing/2014/main" id="{B58B1540-B0E9-B202-2583-D82AE9878DC9}"/>
                  </a:ext>
                </a:extLst>
              </p:cNvPr>
              <p:cNvSpPr txBox="1">
                <a:spLocks noRot="1" noChangeAspect="1" noMove="1" noResize="1" noEditPoints="1" noAdjustHandles="1" noChangeArrowheads="1" noChangeShapeType="1" noTextEdit="1"/>
              </p:cNvSpPr>
              <p:nvPr/>
            </p:nvSpPr>
            <p:spPr>
              <a:xfrm>
                <a:off x="7323743" y="4911724"/>
                <a:ext cx="3800667" cy="365126"/>
              </a:xfrm>
              <a:prstGeom prst="rect">
                <a:avLst/>
              </a:prstGeom>
              <a:blipFill>
                <a:blip r:embed="rId7"/>
                <a:stretch>
                  <a:fillRect l="-481" t="-1667" b="-1667"/>
                </a:stretch>
              </a:blipFill>
            </p:spPr>
            <p:txBody>
              <a:bodyPr/>
              <a:lstStyle/>
              <a:p>
                <a:r>
                  <a:rPr lang="en-NZ">
                    <a:noFill/>
                  </a:rPr>
                  <a:t> </a:t>
                </a:r>
              </a:p>
            </p:txBody>
          </p:sp>
        </mc:Fallback>
      </mc:AlternateContent>
      <p:sp>
        <p:nvSpPr>
          <p:cNvPr id="21" name="Right Brace 20">
            <a:extLst>
              <a:ext uri="{FF2B5EF4-FFF2-40B4-BE49-F238E27FC236}">
                <a16:creationId xmlns:a16="http://schemas.microsoft.com/office/drawing/2014/main" id="{4D063174-4A69-14EE-B824-B8023E1E9B88}"/>
              </a:ext>
            </a:extLst>
          </p:cNvPr>
          <p:cNvSpPr/>
          <p:nvPr/>
        </p:nvSpPr>
        <p:spPr>
          <a:xfrm>
            <a:off x="4794683" y="2488059"/>
            <a:ext cx="400334" cy="7773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2" name="Text Placeholder 5">
            <a:extLst>
              <a:ext uri="{FF2B5EF4-FFF2-40B4-BE49-F238E27FC236}">
                <a16:creationId xmlns:a16="http://schemas.microsoft.com/office/drawing/2014/main" id="{A0D27070-3050-776D-223D-3777D4C48F73}"/>
              </a:ext>
            </a:extLst>
          </p:cNvPr>
          <p:cNvSpPr txBox="1">
            <a:spLocks/>
          </p:cNvSpPr>
          <p:nvPr/>
        </p:nvSpPr>
        <p:spPr>
          <a:xfrm>
            <a:off x="5423409" y="2762535"/>
            <a:ext cx="3800667"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See previous slide.</a:t>
            </a:r>
            <a:endParaRPr kumimoji="1" lang="en-US"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23" name="Text Placeholder 5">
            <a:extLst>
              <a:ext uri="{FF2B5EF4-FFF2-40B4-BE49-F238E27FC236}">
                <a16:creationId xmlns:a16="http://schemas.microsoft.com/office/drawing/2014/main" id="{85390488-84A9-C68A-A9DB-B965129DC85A}"/>
              </a:ext>
            </a:extLst>
          </p:cNvPr>
          <p:cNvSpPr txBox="1">
            <a:spLocks/>
          </p:cNvSpPr>
          <p:nvPr/>
        </p:nvSpPr>
        <p:spPr>
          <a:xfrm>
            <a:off x="319461" y="5674041"/>
            <a:ext cx="11524195" cy="613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600" dirty="0">
                <a:solidFill>
                  <a:prstClr val="black"/>
                </a:solidFill>
                <a:latin typeface="Calibri" panose="020F0502020204030204"/>
                <a:ea typeface="游ゴシック" panose="020B0400000000000000" pitchFamily="34" charset="-128"/>
              </a:rPr>
              <a:t>Therefore, the Gibbs sampler candidates are always accepted (no point including an acceptance stage in the Gibbs algorithm) and the sampling consists purely of sampling from the full conditional distributions.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BE12661D-06E0-4B2A-8FBF-8DA95934ED32}"/>
                  </a:ext>
                </a:extLst>
              </p:cNvPr>
              <p:cNvSpPr txBox="1">
                <a:spLocks/>
              </p:cNvSpPr>
              <p:nvPr/>
            </p:nvSpPr>
            <p:spPr>
              <a:xfrm>
                <a:off x="7503566" y="1123060"/>
                <a:ext cx="370178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600" b="1" i="1" smtClean="0">
                          <a:solidFill>
                            <a:srgbClr val="C00000"/>
                          </a:solidFill>
                          <a:latin typeface="Cambria Math" panose="02040503050406030204" pitchFamily="18" charset="0"/>
                        </a:rPr>
                        <m:t>𝒒</m:t>
                      </m:r>
                      <m:r>
                        <a:rPr lang="en-NZ" altLang="ja-JP" sz="1600" b="1" i="1" smtClean="0">
                          <a:solidFill>
                            <a:srgbClr val="C00000"/>
                          </a:solidFill>
                          <a:latin typeface="Cambria Math" panose="02040503050406030204" pitchFamily="18" charset="0"/>
                        </a:rPr>
                        <m:t>( </m:t>
                      </m:r>
                      <m:bar>
                        <m:barPr>
                          <m:ctrlPr>
                            <a:rPr lang="en-NZ" altLang="ja-JP" sz="1600" b="1" i="1" smtClean="0">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𝒙</m:t>
                          </m:r>
                        </m:e>
                      </m:bar>
                      <m:r>
                        <a:rPr lang="en-NZ" altLang="ja-JP" sz="1600" b="1" i="1" smtClean="0">
                          <a:solidFill>
                            <a:srgbClr val="C00000"/>
                          </a:solidFill>
                          <a:latin typeface="Cambria Math" panose="02040503050406030204" pitchFamily="18" charset="0"/>
                        </a:rPr>
                        <m:t> | </m:t>
                      </m:r>
                      <m:bar>
                        <m:barPr>
                          <m:ctrlPr>
                            <a:rPr lang="en-NZ" altLang="ja-JP" sz="1600" b="1" i="1" smtClean="0">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𝒚</m:t>
                          </m:r>
                        </m:e>
                      </m:bar>
                      <m:r>
                        <a:rPr lang="en-NZ" altLang="ja-JP" sz="1600" b="1" i="1">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 = </m:t>
                      </m:r>
                      <m:sSub>
                        <m:sSubPr>
                          <m:ctrlPr>
                            <a:rPr lang="en-NZ" altLang="ja-JP" sz="1600" b="1" i="1">
                              <a:solidFill>
                                <a:srgbClr val="C00000"/>
                              </a:solidFill>
                              <a:latin typeface="Cambria Math" panose="02040503050406030204" pitchFamily="18" charset="0"/>
                            </a:rPr>
                          </m:ctrlPr>
                        </m:sSubPr>
                        <m:e>
                          <m:r>
                            <a:rPr lang="en-NZ" altLang="ja-JP" sz="1600" b="1" i="1">
                              <a:solidFill>
                                <a:srgbClr val="C00000"/>
                              </a:solidFill>
                              <a:latin typeface="Cambria Math" panose="02040503050406030204" pitchFamily="18" charset="0"/>
                            </a:rPr>
                            <m:t>𝒇</m:t>
                          </m:r>
                        </m:e>
                        <m:sub>
                          <m:sSub>
                            <m:sSubPr>
                              <m:ctrlPr>
                                <a:rPr lang="en-NZ" altLang="ja-JP" sz="1600" b="1" i="1">
                                  <a:solidFill>
                                    <a:srgbClr val="C00000"/>
                                  </a:solidFill>
                                  <a:latin typeface="Cambria Math" panose="02040503050406030204" pitchFamily="18" charset="0"/>
                                </a:rPr>
                              </m:ctrlPr>
                            </m:sSubPr>
                            <m:e>
                              <m:r>
                                <a:rPr lang="en-NZ" altLang="ja-JP" sz="1600" b="1" i="1">
                                  <a:solidFill>
                                    <a:srgbClr val="C00000"/>
                                  </a:solidFill>
                                  <a:latin typeface="Cambria Math" panose="02040503050406030204" pitchFamily="18" charset="0"/>
                                </a:rPr>
                                <m:t> </m:t>
                              </m:r>
                              <m:r>
                                <a:rPr lang="en-NZ" altLang="ja-JP" sz="1600" b="1" i="1">
                                  <a:solidFill>
                                    <a:srgbClr val="C00000"/>
                                  </a:solidFill>
                                  <a:latin typeface="Cambria Math" panose="02040503050406030204" pitchFamily="18" charset="0"/>
                                </a:rPr>
                                <m:t>𝑿</m:t>
                              </m:r>
                            </m:e>
                            <m:sub>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  </m:t>
                          </m:r>
                          <m:sSub>
                            <m:sSubPr>
                              <m:ctrlPr>
                                <a:rPr lang="en-NZ" altLang="ja-JP" sz="1600" b="1" i="1">
                                  <a:solidFill>
                                    <a:srgbClr val="C00000"/>
                                  </a:solidFill>
                                  <a:latin typeface="Cambria Math" panose="02040503050406030204" pitchFamily="18" charset="0"/>
                                </a:rPr>
                              </m:ctrlPr>
                            </m:sSubPr>
                            <m:e>
                              <m:bar>
                                <m:barPr>
                                  <m:ctrlPr>
                                    <a:rPr lang="en-NZ" altLang="ja-JP" sz="1600" b="1" i="1">
                                      <a:solidFill>
                                        <a:srgbClr val="C00000"/>
                                      </a:solidFill>
                                      <a:latin typeface="Cambria Math" panose="02040503050406030204" pitchFamily="18" charset="0"/>
                                    </a:rPr>
                                  </m:ctrlPr>
                                </m:barPr>
                                <m:e>
                                  <m:r>
                                    <a:rPr lang="en-NZ" altLang="ja-JP" sz="1600" b="1" i="1">
                                      <a:solidFill>
                                        <a:srgbClr val="C00000"/>
                                      </a:solidFill>
                                      <a:latin typeface="Cambria Math" panose="02040503050406030204" pitchFamily="18" charset="0"/>
                                    </a:rPr>
                                    <m:t>𝑿</m:t>
                                  </m:r>
                                </m:e>
                              </m:bar>
                            </m:e>
                            <m:sub>
                              <m:r>
                                <a:rPr lang="en-NZ" altLang="ja-JP" sz="1600" b="1" i="1">
                                  <a:solidFill>
                                    <a:srgbClr val="C00000"/>
                                  </a:solidFill>
                                  <a:latin typeface="Cambria Math" panose="02040503050406030204" pitchFamily="18" charset="0"/>
                                </a:rPr>
                                <m:t>−</m:t>
                              </m:r>
                              <m:r>
                                <a:rPr lang="en-NZ" altLang="ja-JP" sz="1600" b="1" i="1">
                                  <a:solidFill>
                                    <a:srgbClr val="C00000"/>
                                  </a:solidFill>
                                  <a:latin typeface="Cambria Math" panose="02040503050406030204" pitchFamily="18" charset="0"/>
                                </a:rPr>
                                <m:t>𝒊</m:t>
                              </m:r>
                            </m:sub>
                          </m:sSub>
                        </m:sub>
                      </m:sSub>
                      <m:r>
                        <a:rPr lang="en-NZ" altLang="ja-JP" sz="1600" b="1" i="1">
                          <a:solidFill>
                            <a:srgbClr val="C00000"/>
                          </a:solidFill>
                          <a:latin typeface="Cambria Math" panose="02040503050406030204" pitchFamily="18" charset="0"/>
                        </a:rPr>
                        <m:t> </m:t>
                      </m:r>
                      <m:d>
                        <m:dPr>
                          <m:endChr m:val="|"/>
                          <m:ctrlPr>
                            <a:rPr lang="en-NZ" altLang="ja-JP" sz="1600" b="1" i="1">
                              <a:solidFill>
                                <a:srgbClr val="C00000"/>
                              </a:solidFill>
                              <a:latin typeface="Cambria Math" panose="02040503050406030204" pitchFamily="18" charset="0"/>
                            </a:rPr>
                          </m:ctrlPr>
                        </m:dPr>
                        <m:e>
                          <m:r>
                            <a:rPr lang="en-NZ" altLang="ja-JP" sz="1600" b="1" i="1">
                              <a:solidFill>
                                <a:srgbClr val="C00000"/>
                              </a:solidFill>
                              <a:latin typeface="Cambria Math" panose="02040503050406030204" pitchFamily="18" charset="0"/>
                            </a:rPr>
                            <m:t> </m:t>
                          </m:r>
                          <m:sSub>
                            <m:sSubPr>
                              <m:ctrlPr>
                                <a:rPr lang="en-NZ" altLang="ja-JP" sz="1600" b="1" i="1">
                                  <a:solidFill>
                                    <a:srgbClr val="C00000"/>
                                  </a:solidFill>
                                  <a:latin typeface="Cambria Math" panose="02040503050406030204" pitchFamily="18" charset="0"/>
                                </a:rPr>
                              </m:ctrlPr>
                            </m:sSubPr>
                            <m:e>
                              <m:r>
                                <a:rPr lang="en-NZ" altLang="ja-JP" sz="1600" b="1" i="1">
                                  <a:solidFill>
                                    <a:srgbClr val="C00000"/>
                                  </a:solidFill>
                                  <a:latin typeface="Cambria Math" panose="02040503050406030204" pitchFamily="18" charset="0"/>
                                </a:rPr>
                                <m:t>𝒙</m:t>
                              </m:r>
                            </m:e>
                            <m:sub>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m:t>
                          </m:r>
                        </m:e>
                      </m:d>
                      <m:r>
                        <a:rPr lang="en-NZ" altLang="ja-JP" sz="1600" b="1" i="1">
                          <a:solidFill>
                            <a:srgbClr val="C00000"/>
                          </a:solidFill>
                          <a:latin typeface="Cambria Math" panose="02040503050406030204" pitchFamily="18" charset="0"/>
                        </a:rPr>
                        <m:t> </m:t>
                      </m:r>
                      <m:sSub>
                        <m:sSubPr>
                          <m:ctrlPr>
                            <a:rPr lang="en-NZ" altLang="ja-JP" sz="1600" b="1" i="1">
                              <a:solidFill>
                                <a:srgbClr val="C00000"/>
                              </a:solidFill>
                              <a:latin typeface="Cambria Math" panose="02040503050406030204" pitchFamily="18" charset="0"/>
                            </a:rPr>
                          </m:ctrlPr>
                        </m:sSubPr>
                        <m:e>
                          <m:bar>
                            <m:barPr>
                              <m:ctrlPr>
                                <a:rPr lang="en-NZ" altLang="ja-JP" sz="1600" b="1" i="1">
                                  <a:solidFill>
                                    <a:srgbClr val="C00000"/>
                                  </a:solidFill>
                                  <a:latin typeface="Cambria Math" panose="02040503050406030204" pitchFamily="18" charset="0"/>
                                </a:rPr>
                              </m:ctrlPr>
                            </m:barPr>
                            <m:e>
                              <m:r>
                                <a:rPr lang="en-NZ" altLang="ja-JP" sz="1600" b="1" i="1">
                                  <a:solidFill>
                                    <a:srgbClr val="C00000"/>
                                  </a:solidFill>
                                  <a:latin typeface="Cambria Math" panose="02040503050406030204" pitchFamily="18" charset="0"/>
                                </a:rPr>
                                <m:t>𝒙</m:t>
                              </m:r>
                            </m:e>
                          </m:bar>
                        </m:e>
                        <m:sub>
                          <m:r>
                            <a:rPr lang="en-NZ" altLang="ja-JP" sz="1600" b="1" i="1">
                              <a:solidFill>
                                <a:srgbClr val="C00000"/>
                              </a:solidFill>
                              <a:latin typeface="Cambria Math" panose="02040503050406030204" pitchFamily="18" charset="0"/>
                            </a:rPr>
                            <m:t>−</m:t>
                          </m:r>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m:t>
                      </m:r>
                    </m:oMath>
                  </m:oMathPara>
                </a14:m>
                <a:endParaRPr kumimoji="1" lang="en-US"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8" name="Text Placeholder 5">
                <a:extLst>
                  <a:ext uri="{FF2B5EF4-FFF2-40B4-BE49-F238E27FC236}">
                    <a16:creationId xmlns:a16="http://schemas.microsoft.com/office/drawing/2014/main" id="{BE12661D-06E0-4B2A-8FBF-8DA95934ED32}"/>
                  </a:ext>
                </a:extLst>
              </p:cNvPr>
              <p:cNvSpPr txBox="1">
                <a:spLocks noRot="1" noChangeAspect="1" noMove="1" noResize="1" noEditPoints="1" noAdjustHandles="1" noChangeArrowheads="1" noChangeShapeType="1" noTextEdit="1"/>
              </p:cNvSpPr>
              <p:nvPr/>
            </p:nvSpPr>
            <p:spPr>
              <a:xfrm>
                <a:off x="7503566" y="1123060"/>
                <a:ext cx="3701783" cy="365126"/>
              </a:xfrm>
              <a:prstGeom prst="rect">
                <a:avLst/>
              </a:prstGeom>
              <a:blipFill>
                <a:blip r:embed="rId8"/>
                <a:stretch>
                  <a:fillRect b="-500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CCFCF65E-F75C-3D15-F312-2D368E44359A}"/>
                  </a:ext>
                </a:extLst>
              </p:cNvPr>
              <p:cNvSpPr txBox="1">
                <a:spLocks/>
              </p:cNvSpPr>
              <p:nvPr/>
            </p:nvSpPr>
            <p:spPr>
              <a:xfrm>
                <a:off x="7503565" y="1519856"/>
                <a:ext cx="370178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lang="en-NZ" altLang="ja-JP" sz="1600" b="1" i="1" smtClean="0">
                          <a:solidFill>
                            <a:srgbClr val="C00000"/>
                          </a:solidFill>
                          <a:latin typeface="Cambria Math" panose="02040503050406030204" pitchFamily="18" charset="0"/>
                        </a:rPr>
                        <m:t>𝒒</m:t>
                      </m:r>
                      <m:r>
                        <a:rPr lang="en-NZ" altLang="ja-JP" sz="1600" b="1" i="1" smtClean="0">
                          <a:solidFill>
                            <a:srgbClr val="C00000"/>
                          </a:solidFill>
                          <a:latin typeface="Cambria Math" panose="02040503050406030204" pitchFamily="18" charset="0"/>
                        </a:rPr>
                        <m:t>( </m:t>
                      </m:r>
                      <m:bar>
                        <m:barPr>
                          <m:ctrlPr>
                            <a:rPr lang="en-NZ" altLang="ja-JP" sz="1600" b="1" i="1" smtClean="0">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𝒚</m:t>
                          </m:r>
                        </m:e>
                      </m:bar>
                      <m:r>
                        <a:rPr lang="en-NZ" altLang="ja-JP" sz="1600" b="1" i="1" smtClean="0">
                          <a:solidFill>
                            <a:srgbClr val="C00000"/>
                          </a:solidFill>
                          <a:latin typeface="Cambria Math" panose="02040503050406030204" pitchFamily="18" charset="0"/>
                        </a:rPr>
                        <m:t> | </m:t>
                      </m:r>
                      <m:bar>
                        <m:barPr>
                          <m:ctrlPr>
                            <a:rPr lang="en-NZ" altLang="ja-JP" sz="1600" b="1" i="1" smtClean="0">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𝒙</m:t>
                          </m:r>
                        </m:e>
                      </m:bar>
                      <m:r>
                        <a:rPr lang="en-NZ" altLang="ja-JP" sz="1600" b="1" i="1">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 = </m:t>
                      </m:r>
                      <m:sSub>
                        <m:sSubPr>
                          <m:ctrlPr>
                            <a:rPr lang="en-NZ" altLang="ja-JP" sz="1600" b="1" i="1">
                              <a:solidFill>
                                <a:srgbClr val="C00000"/>
                              </a:solidFill>
                              <a:latin typeface="Cambria Math" panose="02040503050406030204" pitchFamily="18" charset="0"/>
                            </a:rPr>
                          </m:ctrlPr>
                        </m:sSubPr>
                        <m:e>
                          <m:r>
                            <a:rPr lang="en-NZ" altLang="ja-JP" sz="1600" b="1" i="1">
                              <a:solidFill>
                                <a:srgbClr val="C00000"/>
                              </a:solidFill>
                              <a:latin typeface="Cambria Math" panose="02040503050406030204" pitchFamily="18" charset="0"/>
                            </a:rPr>
                            <m:t>𝒇</m:t>
                          </m:r>
                        </m:e>
                        <m:sub>
                          <m:sSub>
                            <m:sSubPr>
                              <m:ctrlPr>
                                <a:rPr lang="en-NZ" altLang="ja-JP" sz="1600" b="1" i="1">
                                  <a:solidFill>
                                    <a:srgbClr val="C00000"/>
                                  </a:solidFill>
                                  <a:latin typeface="Cambria Math" panose="02040503050406030204" pitchFamily="18" charset="0"/>
                                </a:rPr>
                              </m:ctrlPr>
                            </m:sSubPr>
                            <m:e>
                              <m:r>
                                <a:rPr lang="en-NZ" altLang="ja-JP" sz="1600" b="1" i="1">
                                  <a:solidFill>
                                    <a:srgbClr val="C00000"/>
                                  </a:solidFill>
                                  <a:latin typeface="Cambria Math" panose="02040503050406030204" pitchFamily="18" charset="0"/>
                                </a:rPr>
                                <m:t> </m:t>
                              </m:r>
                              <m:r>
                                <a:rPr lang="en-NZ" altLang="ja-JP" sz="1600" b="1" i="1" smtClean="0">
                                  <a:solidFill>
                                    <a:srgbClr val="C00000"/>
                                  </a:solidFill>
                                  <a:latin typeface="Cambria Math" panose="02040503050406030204" pitchFamily="18" charset="0"/>
                                </a:rPr>
                                <m:t>𝒀</m:t>
                              </m:r>
                            </m:e>
                            <m:sub>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  </m:t>
                          </m:r>
                          <m:sSub>
                            <m:sSubPr>
                              <m:ctrlPr>
                                <a:rPr lang="en-NZ" altLang="ja-JP" sz="1600" b="1" i="1">
                                  <a:solidFill>
                                    <a:srgbClr val="C00000"/>
                                  </a:solidFill>
                                  <a:latin typeface="Cambria Math" panose="02040503050406030204" pitchFamily="18" charset="0"/>
                                </a:rPr>
                              </m:ctrlPr>
                            </m:sSubPr>
                            <m:e>
                              <m:bar>
                                <m:barPr>
                                  <m:ctrlPr>
                                    <a:rPr lang="en-NZ" altLang="ja-JP" sz="1600" b="1" i="1">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𝒀</m:t>
                                  </m:r>
                                </m:e>
                              </m:bar>
                            </m:e>
                            <m:sub>
                              <m:r>
                                <a:rPr lang="en-NZ" altLang="ja-JP" sz="1600" b="1" i="1">
                                  <a:solidFill>
                                    <a:srgbClr val="C00000"/>
                                  </a:solidFill>
                                  <a:latin typeface="Cambria Math" panose="02040503050406030204" pitchFamily="18" charset="0"/>
                                </a:rPr>
                                <m:t>−</m:t>
                              </m:r>
                              <m:r>
                                <a:rPr lang="en-NZ" altLang="ja-JP" sz="1600" b="1" i="1">
                                  <a:solidFill>
                                    <a:srgbClr val="C00000"/>
                                  </a:solidFill>
                                  <a:latin typeface="Cambria Math" panose="02040503050406030204" pitchFamily="18" charset="0"/>
                                </a:rPr>
                                <m:t>𝒊</m:t>
                              </m:r>
                            </m:sub>
                          </m:sSub>
                        </m:sub>
                      </m:sSub>
                      <m:r>
                        <a:rPr lang="en-NZ" altLang="ja-JP" sz="1600" b="1" i="1">
                          <a:solidFill>
                            <a:srgbClr val="C00000"/>
                          </a:solidFill>
                          <a:latin typeface="Cambria Math" panose="02040503050406030204" pitchFamily="18" charset="0"/>
                        </a:rPr>
                        <m:t> </m:t>
                      </m:r>
                      <m:d>
                        <m:dPr>
                          <m:endChr m:val="|"/>
                          <m:ctrlPr>
                            <a:rPr lang="en-NZ" altLang="ja-JP" sz="1600" b="1" i="1">
                              <a:solidFill>
                                <a:srgbClr val="C00000"/>
                              </a:solidFill>
                              <a:latin typeface="Cambria Math" panose="02040503050406030204" pitchFamily="18" charset="0"/>
                            </a:rPr>
                          </m:ctrlPr>
                        </m:dPr>
                        <m:e>
                          <m:r>
                            <a:rPr lang="en-NZ" altLang="ja-JP" sz="1600" b="1" i="1">
                              <a:solidFill>
                                <a:srgbClr val="C00000"/>
                              </a:solidFill>
                              <a:latin typeface="Cambria Math" panose="02040503050406030204" pitchFamily="18" charset="0"/>
                            </a:rPr>
                            <m:t> </m:t>
                          </m:r>
                          <m:sSub>
                            <m:sSubPr>
                              <m:ctrlPr>
                                <a:rPr lang="en-NZ" altLang="ja-JP" sz="1600" b="1" i="1">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𝒚</m:t>
                              </m:r>
                            </m:e>
                            <m:sub>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m:t>
                          </m:r>
                        </m:e>
                      </m:d>
                      <m:r>
                        <a:rPr lang="en-NZ" altLang="ja-JP" sz="1600" b="1" i="1">
                          <a:solidFill>
                            <a:srgbClr val="C00000"/>
                          </a:solidFill>
                          <a:latin typeface="Cambria Math" panose="02040503050406030204" pitchFamily="18" charset="0"/>
                        </a:rPr>
                        <m:t> </m:t>
                      </m:r>
                      <m:sSub>
                        <m:sSubPr>
                          <m:ctrlPr>
                            <a:rPr lang="en-NZ" altLang="ja-JP" sz="1600" b="1" i="1">
                              <a:solidFill>
                                <a:srgbClr val="C00000"/>
                              </a:solidFill>
                              <a:latin typeface="Cambria Math" panose="02040503050406030204" pitchFamily="18" charset="0"/>
                            </a:rPr>
                          </m:ctrlPr>
                        </m:sSubPr>
                        <m:e>
                          <m:bar>
                            <m:barPr>
                              <m:ctrlPr>
                                <a:rPr lang="en-NZ" altLang="ja-JP" sz="1600" b="1" i="1">
                                  <a:solidFill>
                                    <a:srgbClr val="C00000"/>
                                  </a:solidFill>
                                  <a:latin typeface="Cambria Math" panose="02040503050406030204" pitchFamily="18" charset="0"/>
                                </a:rPr>
                              </m:ctrlPr>
                            </m:barPr>
                            <m:e>
                              <m:r>
                                <a:rPr lang="en-NZ" altLang="ja-JP" sz="1600" b="1" i="1" smtClean="0">
                                  <a:solidFill>
                                    <a:srgbClr val="C00000"/>
                                  </a:solidFill>
                                  <a:latin typeface="Cambria Math" panose="02040503050406030204" pitchFamily="18" charset="0"/>
                                </a:rPr>
                                <m:t>𝒚</m:t>
                              </m:r>
                            </m:e>
                          </m:bar>
                        </m:e>
                        <m:sub>
                          <m:r>
                            <a:rPr lang="en-NZ" altLang="ja-JP" sz="1600" b="1" i="1">
                              <a:solidFill>
                                <a:srgbClr val="C00000"/>
                              </a:solidFill>
                              <a:latin typeface="Cambria Math" panose="02040503050406030204" pitchFamily="18" charset="0"/>
                            </a:rPr>
                            <m:t>−</m:t>
                          </m:r>
                          <m:r>
                            <a:rPr lang="en-NZ" altLang="ja-JP" sz="1600" b="1" i="1">
                              <a:solidFill>
                                <a:srgbClr val="C00000"/>
                              </a:solidFill>
                              <a:latin typeface="Cambria Math" panose="02040503050406030204" pitchFamily="18" charset="0"/>
                            </a:rPr>
                            <m:t>𝒊</m:t>
                          </m:r>
                        </m:sub>
                      </m:sSub>
                      <m:r>
                        <a:rPr lang="en-NZ" altLang="ja-JP" sz="1600" b="1" i="1">
                          <a:solidFill>
                            <a:srgbClr val="C00000"/>
                          </a:solidFill>
                          <a:latin typeface="Cambria Math" panose="02040503050406030204" pitchFamily="18" charset="0"/>
                        </a:rPr>
                        <m:t> )</m:t>
                      </m:r>
                    </m:oMath>
                  </m:oMathPara>
                </a14:m>
                <a:endParaRPr kumimoji="1" lang="en-US" altLang="ja-JP" sz="1600" b="1"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0" name="Text Placeholder 5">
                <a:extLst>
                  <a:ext uri="{FF2B5EF4-FFF2-40B4-BE49-F238E27FC236}">
                    <a16:creationId xmlns:a16="http://schemas.microsoft.com/office/drawing/2014/main" id="{CCFCF65E-F75C-3D15-F312-2D368E44359A}"/>
                  </a:ext>
                </a:extLst>
              </p:cNvPr>
              <p:cNvSpPr txBox="1">
                <a:spLocks noRot="1" noChangeAspect="1" noMove="1" noResize="1" noEditPoints="1" noAdjustHandles="1" noChangeArrowheads="1" noChangeShapeType="1" noTextEdit="1"/>
              </p:cNvSpPr>
              <p:nvPr/>
            </p:nvSpPr>
            <p:spPr>
              <a:xfrm>
                <a:off x="7503565" y="1519856"/>
                <a:ext cx="3701783" cy="365126"/>
              </a:xfrm>
              <a:prstGeom prst="rect">
                <a:avLst/>
              </a:prstGeom>
              <a:blipFill>
                <a:blip r:embed="rId9"/>
                <a:stretch>
                  <a:fillRect b="-5000"/>
                </a:stretch>
              </a:blipFill>
            </p:spPr>
            <p:txBody>
              <a:bodyPr/>
              <a:lstStyle/>
              <a:p>
                <a:r>
                  <a:rPr lang="en-NZ">
                    <a:noFill/>
                  </a:rPr>
                  <a:t> </a:t>
                </a:r>
              </a:p>
            </p:txBody>
          </p:sp>
        </mc:Fallback>
      </mc:AlternateContent>
      <p:sp>
        <p:nvSpPr>
          <p:cNvPr id="11" name="Rectangle 10">
            <a:extLst>
              <a:ext uri="{FF2B5EF4-FFF2-40B4-BE49-F238E27FC236}">
                <a16:creationId xmlns:a16="http://schemas.microsoft.com/office/drawing/2014/main" id="{F202E20A-A752-A26F-749B-658C47F66C09}"/>
              </a:ext>
            </a:extLst>
          </p:cNvPr>
          <p:cNvSpPr/>
          <p:nvPr/>
        </p:nvSpPr>
        <p:spPr>
          <a:xfrm>
            <a:off x="7697337" y="947580"/>
            <a:ext cx="3423037" cy="1124898"/>
          </a:xfrm>
          <a:prstGeom prst="rect">
            <a:avLst/>
          </a:prstGeom>
          <a:noFill/>
          <a:ln w="952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2497895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5" grpId="0"/>
      <p:bldP spid="17" grpId="0" animBg="1"/>
      <p:bldP spid="18" grpId="0"/>
      <p:bldP spid="19" grpId="0" animBg="1"/>
      <p:bldP spid="20" grpId="0"/>
      <p:bldP spid="21" grpId="0" animBg="1"/>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303658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11.4 – </a:t>
            </a:r>
            <a:r>
              <a:rPr lang="en-NZ" sz="4500" b="1" dirty="0">
                <a:solidFill>
                  <a:srgbClr val="FFC000"/>
                </a:solidFill>
                <a:latin typeface="Calibri" panose="020F0502020204030204"/>
              </a:rPr>
              <a:t>Computational Examples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385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.4a – Bivariate Exponential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FF0B7EE9-3CB7-13C0-BEDC-97A1AF5C98EE}"/>
                  </a:ext>
                </a:extLst>
              </p:cNvPr>
              <p:cNvSpPr txBox="1">
                <a:spLocks/>
              </p:cNvSpPr>
              <p:nvPr/>
            </p:nvSpPr>
            <p:spPr>
              <a:xfrm>
                <a:off x="319463" y="947579"/>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Consider</a:t>
                </a: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the random variables </a:t>
                </a:r>
                <a14:m>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and</a:t>
                </a:r>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defined by the joint pdf…</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FF0B7EE9-3CB7-13C0-BEDC-97A1AF5C98EE}"/>
                  </a:ext>
                </a:extLst>
              </p:cNvPr>
              <p:cNvSpPr txBox="1">
                <a:spLocks noRot="1" noChangeAspect="1" noMove="1" noResize="1" noEditPoints="1" noAdjustHandles="1" noChangeArrowheads="1" noChangeShapeType="1" noTextEdit="1"/>
              </p:cNvSpPr>
              <p:nvPr/>
            </p:nvSpPr>
            <p:spPr>
              <a:xfrm>
                <a:off x="319463" y="947579"/>
                <a:ext cx="11608680" cy="365125"/>
              </a:xfrm>
              <a:prstGeom prst="rect">
                <a:avLst/>
              </a:prstGeom>
              <a:blipFill>
                <a:blip r:embed="rId3"/>
                <a:stretch>
                  <a:fillRect l="-420"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4A2F32A3-68A9-83DA-07B1-5F42F1145284}"/>
                  </a:ext>
                </a:extLst>
              </p:cNvPr>
              <p:cNvSpPr txBox="1">
                <a:spLocks/>
              </p:cNvSpPr>
              <p:nvPr/>
            </p:nvSpPr>
            <p:spPr>
              <a:xfrm>
                <a:off x="2143714" y="1312704"/>
                <a:ext cx="7904572" cy="7918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e>
                      </m:d>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  </m:t>
                      </m:r>
                      <m:d>
                        <m:dPr>
                          <m:begChr m:val="{"/>
                          <m:endChr m:val=""/>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dPr>
                        <m:e>
                          <m:m>
                            <m:mPr>
                              <m:mcs>
                                <m:mc>
                                  <m:mcPr>
                                    <m:count m:val="2"/>
                                    <m:mcJc m:val="center"/>
                                  </m:mcPr>
                                </m:mc>
                              </m:mcs>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mPr>
                            <m:m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p>
                                  <m:sSup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𝒆</m:t>
                                    </m:r>
                                  </m:e>
                                  <m:sup>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sup>
                                </m:sSup>
                              </m:e>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𝒊𝒇</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𝟎</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&lt;</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&lt;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𝑩</m:t>
                                </m:r>
                              </m:e>
                            </m:mr>
                            <m:m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𝟎</m:t>
                                </m:r>
                              </m:e>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𝒐𝒕𝒉𝒆𝒓𝒘𝒊𝒔𝒆</m:t>
                                </m:r>
                              </m:e>
                            </m:mr>
                          </m:m>
                        </m:e>
                      </m:d>
                    </m:oMath>
                  </m:oMathPara>
                </a14:m>
                <a:endPar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4A2F32A3-68A9-83DA-07B1-5F42F1145284}"/>
                  </a:ext>
                </a:extLst>
              </p:cNvPr>
              <p:cNvSpPr txBox="1">
                <a:spLocks noRot="1" noChangeAspect="1" noMove="1" noResize="1" noEditPoints="1" noAdjustHandles="1" noChangeArrowheads="1" noChangeShapeType="1" noTextEdit="1"/>
              </p:cNvSpPr>
              <p:nvPr/>
            </p:nvSpPr>
            <p:spPr>
              <a:xfrm>
                <a:off x="2143714" y="1312704"/>
                <a:ext cx="7904572" cy="79186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51FAD6A3-6133-DB81-E437-0B9B9AA41795}"/>
                  </a:ext>
                </a:extLst>
              </p:cNvPr>
              <p:cNvSpPr txBox="1">
                <a:spLocks/>
              </p:cNvSpPr>
              <p:nvPr/>
            </p:nvSpPr>
            <p:spPr>
              <a:xfrm>
                <a:off x="319463" y="2104571"/>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 where </a:t>
                </a:r>
                <a14:m>
                  <m:oMath xmlns:m="http://schemas.openxmlformats.org/officeDocument/2006/math">
                    <m:r>
                      <a:rPr lang="en-NZ" altLang="ja-JP" sz="1800" b="1" i="0" smtClean="0">
                        <a:solidFill>
                          <a:srgbClr val="0070C0"/>
                        </a:solidFill>
                        <a:latin typeface="Cambria Math" panose="02040503050406030204" pitchFamily="18" charset="0"/>
                        <a:ea typeface="游ゴシック" panose="020B0400000000000000" pitchFamily="34" charset="-128"/>
                      </a:rPr>
                      <m:t>𝟎</m:t>
                    </m:r>
                    <m:r>
                      <a:rPr lang="en-NZ" altLang="ja-JP" sz="1800" b="1" i="0" smtClean="0">
                        <a:solidFill>
                          <a:srgbClr val="0070C0"/>
                        </a:solidFill>
                        <a:latin typeface="Cambria Math" panose="02040503050406030204" pitchFamily="18" charset="0"/>
                        <a:ea typeface="游ゴシック" panose="020B0400000000000000" pitchFamily="34" charset="-128"/>
                      </a:rPr>
                      <m:t>≪</m:t>
                    </m:r>
                    <m:r>
                      <a:rPr lang="en-NZ" altLang="ja-JP" sz="1800" b="1" i="1" smtClean="0">
                        <a:solidFill>
                          <a:srgbClr val="0070C0"/>
                        </a:solidFill>
                        <a:latin typeface="Cambria Math" panose="02040503050406030204" pitchFamily="18" charset="0"/>
                        <a:ea typeface="游ゴシック" panose="020B0400000000000000" pitchFamily="34" charset="-128"/>
                      </a:rPr>
                      <m:t>𝑩</m:t>
                    </m:r>
                    <m:r>
                      <a:rPr lang="en-NZ" altLang="ja-JP" sz="1800" b="1" i="0" smtClean="0">
                        <a:solidFill>
                          <a:srgbClr val="0070C0"/>
                        </a:solidFill>
                        <a:latin typeface="Cambria Math" panose="02040503050406030204" pitchFamily="18" charset="0"/>
                        <a:ea typeface="游ゴシック" panose="020B0400000000000000" pitchFamily="34" charset="-128"/>
                      </a:rPr>
                      <m:t>&lt;</m:t>
                    </m:r>
                    <m:r>
                      <a:rPr lang="en-NZ" altLang="ja-JP" sz="1800" b="1" i="1" smtClean="0">
                        <a:solidFill>
                          <a:srgbClr val="0070C0"/>
                        </a:solidFill>
                        <a:latin typeface="Cambria Math" panose="02040503050406030204" pitchFamily="18" charset="0"/>
                        <a:ea typeface="游ゴシック" panose="020B0400000000000000" pitchFamily="34" charset="-128"/>
                      </a:rPr>
                      <m:t>∞</m:t>
                    </m:r>
                  </m:oMath>
                </a14:m>
                <a:r>
                  <a:rPr kumimoji="1" lang="en-US"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rPr>
                  <a:t> </a:t>
                </a:r>
                <a:r>
                  <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and </a:t>
                </a:r>
                <a14:m>
                  <m:oMath xmlns:m="http://schemas.openxmlformats.org/officeDocument/2006/math">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𝑩</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oMath>
                </a14:m>
                <a:r>
                  <a:rPr kumimoji="1" lang="en-US"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is normalizing constant. Draw a sequence of observations from this pdf.</a:t>
                </a:r>
              </a:p>
            </p:txBody>
          </p:sp>
        </mc:Choice>
        <mc:Fallback xmlns="">
          <p:sp>
            <p:nvSpPr>
              <p:cNvPr id="11" name="Text Placeholder 5">
                <a:extLst>
                  <a:ext uri="{FF2B5EF4-FFF2-40B4-BE49-F238E27FC236}">
                    <a16:creationId xmlns:a16="http://schemas.microsoft.com/office/drawing/2014/main" id="{51FAD6A3-6133-DB81-E437-0B9B9AA41795}"/>
                  </a:ext>
                </a:extLst>
              </p:cNvPr>
              <p:cNvSpPr txBox="1">
                <a:spLocks noRot="1" noChangeAspect="1" noMove="1" noResize="1" noEditPoints="1" noAdjustHandles="1" noChangeArrowheads="1" noChangeShapeType="1" noTextEdit="1"/>
              </p:cNvSpPr>
              <p:nvPr/>
            </p:nvSpPr>
            <p:spPr>
              <a:xfrm>
                <a:off x="319463" y="2104571"/>
                <a:ext cx="11608680" cy="365125"/>
              </a:xfrm>
              <a:prstGeom prst="rect">
                <a:avLst/>
              </a:prstGeom>
              <a:blipFill>
                <a:blip r:embed="rId5"/>
                <a:stretch>
                  <a:fillRect l="-420"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7D74D4D1-A73D-809D-137D-324EFD0C53EF}"/>
                  </a:ext>
                </a:extLst>
              </p:cNvPr>
              <p:cNvSpPr txBox="1">
                <a:spLocks/>
              </p:cNvSpPr>
              <p:nvPr/>
            </p:nvSpPr>
            <p:spPr>
              <a:xfrm>
                <a:off x="319463" y="3252455"/>
                <a:ext cx="11608680" cy="109208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nary>
                        <m:naryPr>
                          <m:limLoc m:val="undOv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sub>
                        <m:sup>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𝑩</m:t>
                          </m:r>
                        </m:sup>
                        <m:e>
                          <m:nary>
                            <m:naryPr>
                              <m:limLoc m:val="undOv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sub>
                            <m:sup>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𝑩</m:t>
                              </m:r>
                            </m:sup>
                            <m:e>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𝒆</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sup>
                              </m:sSup>
                            </m:e>
                          </m:nary>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m:t>
                          </m:r>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m:t>
                          </m:r>
                        </m:e>
                      </m:nary>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dPr>
                            <m:e>
                              <m:nary>
                                <m:naryPr>
                                  <m:limLoc m:val="undOv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naryPr>
                                <m:sub>
                                  <m:r>
                                    <m:rPr>
                                      <m:brk m:alnAt="24"/>
                                    </m:r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𝟎</m:t>
                                  </m:r>
                                </m:sub>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𝑩</m:t>
                                  </m:r>
                                </m:sup>
                                <m:e>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f>
                                    <m:f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fPr>
                                    <m:num>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num>
                                    <m:den>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den>
                                  </m:f>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𝒆</m:t>
                                      </m:r>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𝑩𝒙</m:t>
                                      </m:r>
                                    </m:sup>
                                  </m:s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𝒅𝒙</m:t>
                                  </m:r>
                                </m:e>
                              </m:nary>
                            </m:e>
                          </m:d>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p>
                      </m:sSup>
                    </m:oMath>
                  </m:oMathPara>
                </a14:m>
                <a:endPar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7D74D4D1-A73D-809D-137D-324EFD0C53EF}"/>
                  </a:ext>
                </a:extLst>
              </p:cNvPr>
              <p:cNvSpPr txBox="1">
                <a:spLocks noRot="1" noChangeAspect="1" noMove="1" noResize="1" noEditPoints="1" noAdjustHandles="1" noChangeArrowheads="1" noChangeShapeType="1" noTextEdit="1"/>
              </p:cNvSpPr>
              <p:nvPr/>
            </p:nvSpPr>
            <p:spPr>
              <a:xfrm>
                <a:off x="319463" y="3252455"/>
                <a:ext cx="11608680" cy="1092086"/>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A006F71F-7B5F-32D0-BAEB-4DF7D2A959BA}"/>
                  </a:ext>
                </a:extLst>
              </p:cNvPr>
              <p:cNvSpPr txBox="1">
                <a:spLocks/>
              </p:cNvSpPr>
              <p:nvPr/>
            </p:nvSpPr>
            <p:spPr>
              <a:xfrm>
                <a:off x="319463" y="2938606"/>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prstClr val="black"/>
                    </a:solidFill>
                    <a:latin typeface="Calibri" panose="020F0502020204030204"/>
                    <a:ea typeface="游ゴシック" panose="020B0400000000000000" pitchFamily="34" charset="-128"/>
                  </a:rPr>
                  <a:t>The value of the constant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𝑩</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oMath>
                </a14:m>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can be approximated</a:t>
                </a:r>
                <a:r>
                  <a:rPr kumimoji="1" lang="en-US" altLang="ja-JP" sz="18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cs typeface="+mn-cs"/>
                  </a:rPr>
                  <a:t> numerically</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p>
            </p:txBody>
          </p:sp>
        </mc:Choice>
        <mc:Fallback xmlns="">
          <p:sp>
            <p:nvSpPr>
              <p:cNvPr id="14" name="Text Placeholder 5">
                <a:extLst>
                  <a:ext uri="{FF2B5EF4-FFF2-40B4-BE49-F238E27FC236}">
                    <a16:creationId xmlns:a16="http://schemas.microsoft.com/office/drawing/2014/main" id="{A006F71F-7B5F-32D0-BAEB-4DF7D2A959BA}"/>
                  </a:ext>
                </a:extLst>
              </p:cNvPr>
              <p:cNvSpPr txBox="1">
                <a:spLocks noRot="1" noChangeAspect="1" noMove="1" noResize="1" noEditPoints="1" noAdjustHandles="1" noChangeArrowheads="1" noChangeShapeType="1" noTextEdit="1"/>
              </p:cNvSpPr>
              <p:nvPr/>
            </p:nvSpPr>
            <p:spPr>
              <a:xfrm>
                <a:off x="319463" y="2938606"/>
                <a:ext cx="11608680" cy="365125"/>
              </a:xfrm>
              <a:prstGeom prst="rect">
                <a:avLst/>
              </a:prstGeom>
              <a:blipFill>
                <a:blip r:embed="rId7"/>
                <a:stretch>
                  <a:fillRect l="-420"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23EB5471-558B-334A-BA07-B7270D8B55B8}"/>
                  </a:ext>
                </a:extLst>
              </p:cNvPr>
              <p:cNvSpPr txBox="1">
                <a:spLocks/>
              </p:cNvSpPr>
              <p:nvPr/>
            </p:nvSpPr>
            <p:spPr>
              <a:xfrm>
                <a:off x="291660" y="4475827"/>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a:t>
                </a:r>
                <a:r>
                  <a:rPr kumimoji="1" lang="en-NZ" altLang="ja-JP" sz="18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B = 9,999,999,999,999   </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then   </a:t>
                </a:r>
                <a14:m>
                  <m:oMath xmlns:m="http://schemas.openxmlformats.org/officeDocument/2006/math">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𝑨</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p>
                      <m:sSup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d>
                          <m:d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𝟔𝟎</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𝟒𝟒𝟒𝟒</m:t>
                            </m:r>
                          </m:e>
                        </m:d>
                      </m:e>
                      <m: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p>
                    </m:sSup>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𝟎𝟏𝟔𝟓𝟒𝟒</m:t>
                    </m:r>
                  </m:oMath>
                </a14:m>
                <a:endPar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6" name="Text Placeholder 5">
                <a:extLst>
                  <a:ext uri="{FF2B5EF4-FFF2-40B4-BE49-F238E27FC236}">
                    <a16:creationId xmlns:a16="http://schemas.microsoft.com/office/drawing/2014/main" id="{23EB5471-558B-334A-BA07-B7270D8B55B8}"/>
                  </a:ext>
                </a:extLst>
              </p:cNvPr>
              <p:cNvSpPr txBox="1">
                <a:spLocks noRot="1" noChangeAspect="1" noMove="1" noResize="1" noEditPoints="1" noAdjustHandles="1" noChangeArrowheads="1" noChangeShapeType="1" noTextEdit="1"/>
              </p:cNvSpPr>
              <p:nvPr/>
            </p:nvSpPr>
            <p:spPr>
              <a:xfrm>
                <a:off x="291660" y="4475827"/>
                <a:ext cx="11608680" cy="365125"/>
              </a:xfrm>
              <a:prstGeom prst="rect">
                <a:avLst/>
              </a:prstGeom>
              <a:blipFill>
                <a:blip r:embed="rId8"/>
                <a:stretch>
                  <a:fillRect l="-473" t="-6667" b="-28333"/>
                </a:stretch>
              </a:blipFill>
            </p:spPr>
            <p:txBody>
              <a:bodyPr/>
              <a:lstStyle/>
              <a:p>
                <a:r>
                  <a:rPr lang="en-NZ">
                    <a:noFill/>
                  </a:rPr>
                  <a:t> </a:t>
                </a:r>
              </a:p>
            </p:txBody>
          </p:sp>
        </mc:Fallback>
      </mc:AlternateContent>
      <p:sp>
        <p:nvSpPr>
          <p:cNvPr id="27" name="Text Placeholder 5">
            <a:extLst>
              <a:ext uri="{FF2B5EF4-FFF2-40B4-BE49-F238E27FC236}">
                <a16:creationId xmlns:a16="http://schemas.microsoft.com/office/drawing/2014/main" id="{D0C0FE59-DC52-82E8-513D-122EAEFA1A7A}"/>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11.4a - Gibbs Sampling (2D Exponential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26898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.4a – Bivariate Exponential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FF0B7EE9-3CB7-13C0-BEDC-97A1AF5C98EE}"/>
                  </a:ext>
                </a:extLst>
              </p:cNvPr>
              <p:cNvSpPr txBox="1">
                <a:spLocks/>
              </p:cNvSpPr>
              <p:nvPr/>
            </p:nvSpPr>
            <p:spPr>
              <a:xfrm>
                <a:off x="319463" y="947579"/>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800" dirty="0">
                    <a:solidFill>
                      <a:srgbClr val="0070C0"/>
                    </a:solidFill>
                    <a:latin typeface="Calibri" panose="020F0502020204030204"/>
                    <a:ea typeface="游ゴシック" panose="020B0400000000000000" pitchFamily="34" charset="-128"/>
                  </a:rPr>
                  <a:t>Consider</a:t>
                </a:r>
                <a:r>
                  <a:rPr kumimoji="1" lang="en-NZ"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the random variables </a:t>
                </a:r>
                <a14:m>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oMath>
                </a14:m>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and</a:t>
                </a:r>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oMath>
                </a14:m>
                <a:r>
                  <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80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defined by the joint pdf…</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FF0B7EE9-3CB7-13C0-BEDC-97A1AF5C98EE}"/>
                  </a:ext>
                </a:extLst>
              </p:cNvPr>
              <p:cNvSpPr txBox="1">
                <a:spLocks noRot="1" noChangeAspect="1" noMove="1" noResize="1" noEditPoints="1" noAdjustHandles="1" noChangeArrowheads="1" noChangeShapeType="1" noTextEdit="1"/>
              </p:cNvSpPr>
              <p:nvPr/>
            </p:nvSpPr>
            <p:spPr>
              <a:xfrm>
                <a:off x="319463" y="947579"/>
                <a:ext cx="11608680" cy="365125"/>
              </a:xfrm>
              <a:prstGeom prst="rect">
                <a:avLst/>
              </a:prstGeom>
              <a:blipFill>
                <a:blip r:embed="rId3"/>
                <a:stretch>
                  <a:fillRect l="-420"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4A2F32A3-68A9-83DA-07B1-5F42F1145284}"/>
                  </a:ext>
                </a:extLst>
              </p:cNvPr>
              <p:cNvSpPr txBox="1">
                <a:spLocks/>
              </p:cNvSpPr>
              <p:nvPr/>
            </p:nvSpPr>
            <p:spPr>
              <a:xfrm>
                <a:off x="2143714" y="1312704"/>
                <a:ext cx="7904572" cy="7918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𝒇</m:t>
                          </m:r>
                        </m:e>
                        <m:sub>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sub>
                      </m:sSub>
                      <m:d>
                        <m:d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dPr>
                        <m:e>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e>
                      </m:d>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  </m:t>
                      </m:r>
                      <m:d>
                        <m:dPr>
                          <m:begChr m:val="{"/>
                          <m:endChr m:val=""/>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dPr>
                        <m:e>
                          <m:m>
                            <m:mPr>
                              <m:mcs>
                                <m:mc>
                                  <m:mcPr>
                                    <m:count m:val="2"/>
                                    <m:mcJc m:val="center"/>
                                  </m:mcPr>
                                </m:mc>
                              </m:mcs>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mPr>
                            <m:m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p>
                                  <m:sSup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p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𝒆</m:t>
                                    </m:r>
                                  </m:e>
                                  <m:sup>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sup>
                                </m:sSup>
                              </m:e>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𝒊𝒇</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𝟎</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&lt;</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 </m:t>
                                </m:r>
                                <m:sSub>
                                  <m:sSubPr>
                                    <m:ctrlP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&lt;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𝑩</m:t>
                                </m:r>
                              </m:e>
                            </m:mr>
                            <m:mr>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𝟎</m:t>
                                </m:r>
                              </m:e>
                              <m:e>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𝒐𝒕𝒉𝒆𝒓𝒘𝒊𝒔𝒆</m:t>
                                </m:r>
                              </m:e>
                            </m:mr>
                          </m:m>
                        </m:e>
                      </m:d>
                    </m:oMath>
                  </m:oMathPara>
                </a14:m>
                <a:endParaRPr kumimoji="1" lang="en-NZ"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4A2F32A3-68A9-83DA-07B1-5F42F1145284}"/>
                  </a:ext>
                </a:extLst>
              </p:cNvPr>
              <p:cNvSpPr txBox="1">
                <a:spLocks noRot="1" noChangeAspect="1" noMove="1" noResize="1" noEditPoints="1" noAdjustHandles="1" noChangeArrowheads="1" noChangeShapeType="1" noTextEdit="1"/>
              </p:cNvSpPr>
              <p:nvPr/>
            </p:nvSpPr>
            <p:spPr>
              <a:xfrm>
                <a:off x="2143714" y="1312704"/>
                <a:ext cx="7904572" cy="791867"/>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51FAD6A3-6133-DB81-E437-0B9B9AA41795}"/>
                  </a:ext>
                </a:extLst>
              </p:cNvPr>
              <p:cNvSpPr txBox="1">
                <a:spLocks/>
              </p:cNvSpPr>
              <p:nvPr/>
            </p:nvSpPr>
            <p:spPr>
              <a:xfrm>
                <a:off x="319463" y="2104571"/>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0070C0"/>
                    </a:solidFill>
                    <a:latin typeface="Calibri" panose="020F0502020204030204"/>
                    <a:ea typeface="游ゴシック" panose="020B0400000000000000" pitchFamily="34" charset="-128"/>
                  </a:rPr>
                  <a:t>… where </a:t>
                </a:r>
                <a14:m>
                  <m:oMath xmlns:m="http://schemas.openxmlformats.org/officeDocument/2006/math">
                    <m:r>
                      <a:rPr lang="en-NZ" altLang="ja-JP" sz="1800" b="1">
                        <a:solidFill>
                          <a:srgbClr val="0070C0"/>
                        </a:solidFill>
                        <a:latin typeface="Cambria Math" panose="02040503050406030204" pitchFamily="18" charset="0"/>
                      </a:rPr>
                      <m:t>𝟎</m:t>
                    </m:r>
                    <m:r>
                      <a:rPr lang="en-NZ" altLang="ja-JP" sz="1800" b="1">
                        <a:solidFill>
                          <a:srgbClr val="0070C0"/>
                        </a:solidFill>
                        <a:latin typeface="Cambria Math" panose="02040503050406030204" pitchFamily="18" charset="0"/>
                      </a:rPr>
                      <m:t>≪</m:t>
                    </m:r>
                    <m:r>
                      <a:rPr lang="en-NZ" altLang="ja-JP" sz="1800" b="1" i="1">
                        <a:solidFill>
                          <a:srgbClr val="0070C0"/>
                        </a:solidFill>
                        <a:latin typeface="Cambria Math" panose="02040503050406030204" pitchFamily="18" charset="0"/>
                      </a:rPr>
                      <m:t>𝑩</m:t>
                    </m:r>
                    <m:r>
                      <a:rPr lang="en-NZ" altLang="ja-JP" sz="1800" b="1">
                        <a:solidFill>
                          <a:srgbClr val="0070C0"/>
                        </a:solidFill>
                        <a:latin typeface="Cambria Math" panose="02040503050406030204" pitchFamily="18" charset="0"/>
                      </a:rPr>
                      <m:t>&lt;</m:t>
                    </m:r>
                    <m:r>
                      <a:rPr lang="en-NZ" altLang="ja-JP" sz="1800" b="1" i="1">
                        <a:solidFill>
                          <a:srgbClr val="0070C0"/>
                        </a:solidFill>
                        <a:latin typeface="Cambria Math" panose="02040503050406030204" pitchFamily="18" charset="0"/>
                      </a:rPr>
                      <m:t>∞</m:t>
                    </m:r>
                  </m:oMath>
                </a14:m>
                <a:r>
                  <a:rPr lang="en-US" altLang="ja-JP" sz="1800" b="1" dirty="0">
                    <a:solidFill>
                      <a:srgbClr val="0070C0"/>
                    </a:solidFill>
                  </a:rPr>
                  <a:t> </a:t>
                </a:r>
                <a:r>
                  <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and </a:t>
                </a:r>
                <a14:m>
                  <m:oMath xmlns:m="http://schemas.openxmlformats.org/officeDocument/2006/math">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𝑨</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𝑩</m:t>
                    </m:r>
                    <m:r>
                      <a:rPr kumimoji="1" lang="en-NZ" altLang="ja-JP" sz="18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m:t>
                    </m:r>
                  </m:oMath>
                </a14:m>
                <a:r>
                  <a:rPr kumimoji="1" lang="en-US" altLang="ja-JP" sz="18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is normalizing </a:t>
                </a:r>
                <a:r>
                  <a:rPr lang="en-US" altLang="ja-JP" sz="1800" dirty="0">
                    <a:solidFill>
                      <a:srgbClr val="0070C0"/>
                    </a:solidFill>
                  </a:rPr>
                  <a:t>constant. Draw a sequence of observations from this pdf.</a:t>
                </a:r>
                <a:endParaRPr kumimoji="1" lang="en-US" altLang="ja-JP" sz="18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11" name="Text Placeholder 5">
                <a:extLst>
                  <a:ext uri="{FF2B5EF4-FFF2-40B4-BE49-F238E27FC236}">
                    <a16:creationId xmlns:a16="http://schemas.microsoft.com/office/drawing/2014/main" id="{51FAD6A3-6133-DB81-E437-0B9B9AA41795}"/>
                  </a:ext>
                </a:extLst>
              </p:cNvPr>
              <p:cNvSpPr txBox="1">
                <a:spLocks noRot="1" noChangeAspect="1" noMove="1" noResize="1" noEditPoints="1" noAdjustHandles="1" noChangeArrowheads="1" noChangeShapeType="1" noTextEdit="1"/>
              </p:cNvSpPr>
              <p:nvPr/>
            </p:nvSpPr>
            <p:spPr>
              <a:xfrm>
                <a:off x="319463" y="2104571"/>
                <a:ext cx="11608680" cy="365125"/>
              </a:xfrm>
              <a:prstGeom prst="rect">
                <a:avLst/>
              </a:prstGeom>
              <a:blipFill>
                <a:blip r:embed="rId5"/>
                <a:stretch>
                  <a:fillRect l="-420" t="-8333" b="-26667"/>
                </a:stretch>
              </a:blipFill>
            </p:spPr>
            <p:txBody>
              <a:bodyPr/>
              <a:lstStyle/>
              <a:p>
                <a:r>
                  <a:rPr lang="en-NZ">
                    <a:noFill/>
                  </a:rPr>
                  <a:t> </a:t>
                </a:r>
              </a:p>
            </p:txBody>
          </p:sp>
        </mc:Fallback>
      </mc:AlternateContent>
      <p:sp>
        <p:nvSpPr>
          <p:cNvPr id="3" name="Text Placeholder 5">
            <a:extLst>
              <a:ext uri="{FF2B5EF4-FFF2-40B4-BE49-F238E27FC236}">
                <a16:creationId xmlns:a16="http://schemas.microsoft.com/office/drawing/2014/main" id="{5A5B992B-D083-01F5-1650-013990E239B6}"/>
              </a:ext>
            </a:extLst>
          </p:cNvPr>
          <p:cNvSpPr txBox="1">
            <a:spLocks/>
          </p:cNvSpPr>
          <p:nvPr/>
        </p:nvSpPr>
        <p:spPr>
          <a:xfrm>
            <a:off x="319463" y="2682480"/>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this ca</a:t>
            </a:r>
            <a:r>
              <a:rPr lang="en-NZ" altLang="ja-JP" sz="1800" dirty="0">
                <a:solidFill>
                  <a:prstClr val="black"/>
                </a:solidFill>
                <a:latin typeface="Calibri" panose="020F0502020204030204"/>
                <a:ea typeface="游ゴシック" panose="020B0400000000000000" pitchFamily="34" charset="-128"/>
              </a:rPr>
              <a:t>se elementary integration can be used to calculate the marginal densities…</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546F87FC-B85A-E57B-58CB-0ED8FCE1951A}"/>
                  </a:ext>
                </a:extLst>
              </p:cNvPr>
              <p:cNvSpPr txBox="1">
                <a:spLocks/>
              </p:cNvSpPr>
              <p:nvPr/>
            </p:nvSpPr>
            <p:spPr>
              <a:xfrm>
                <a:off x="319463" y="3027214"/>
                <a:ext cx="548185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𝑩</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𝑨</m:t>
                          </m:r>
                        </m:num>
                        <m:den>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 −</m:t>
                          </m:r>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𝒆</m:t>
                              </m: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𝑩</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sup>
                          </m:sSup>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p:txBody>
          </p:sp>
        </mc:Choice>
        <mc:Fallback xmlns="">
          <p:sp>
            <p:nvSpPr>
              <p:cNvPr id="4" name="Text Placeholder 5">
                <a:extLst>
                  <a:ext uri="{FF2B5EF4-FFF2-40B4-BE49-F238E27FC236}">
                    <a16:creationId xmlns:a16="http://schemas.microsoft.com/office/drawing/2014/main" id="{546F87FC-B85A-E57B-58CB-0ED8FCE1951A}"/>
                  </a:ext>
                </a:extLst>
              </p:cNvPr>
              <p:cNvSpPr txBox="1">
                <a:spLocks noRot="1" noChangeAspect="1" noMove="1" noResize="1" noEditPoints="1" noAdjustHandles="1" noChangeArrowheads="1" noChangeShapeType="1" noTextEdit="1"/>
              </p:cNvSpPr>
              <p:nvPr/>
            </p:nvSpPr>
            <p:spPr>
              <a:xfrm>
                <a:off x="319463" y="3027214"/>
                <a:ext cx="5481850" cy="1085938"/>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4F232CEA-60D0-204E-113E-3CA762BA275A}"/>
                  </a:ext>
                </a:extLst>
              </p:cNvPr>
              <p:cNvSpPr txBox="1">
                <a:spLocks/>
              </p:cNvSpPr>
              <p:nvPr/>
            </p:nvSpPr>
            <p:spPr>
              <a:xfrm>
                <a:off x="6390689" y="3027214"/>
                <a:ext cx="5249840" cy="108593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𝟎</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𝑩</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lang="en-NZ" altLang="ja-JP" sz="1600" b="1" i="1">
                              <a:solidFill>
                                <a:prstClr val="black"/>
                              </a:solidFill>
                              <a:latin typeface="Cambria Math" panose="02040503050406030204" pitchFamily="18" charset="0"/>
                            </a:rPr>
                          </m:ctrlPr>
                        </m:fPr>
                        <m:num>
                          <m:r>
                            <a:rPr lang="en-NZ" altLang="ja-JP" sz="1600" b="1" i="1">
                              <a:solidFill>
                                <a:prstClr val="black"/>
                              </a:solidFill>
                              <a:latin typeface="Cambria Math" panose="02040503050406030204" pitchFamily="18" charset="0"/>
                            </a:rPr>
                            <m:t>𝑨</m:t>
                          </m:r>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den>
                      </m:f>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 −</m:t>
                          </m:r>
                          <m:sSup>
                            <m:sSupPr>
                              <m:ctrlPr>
                                <a:rPr lang="en-NZ" altLang="ja-JP" sz="1600" b="1" i="1" smtClean="0">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𝒆</m:t>
                              </m: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𝑩</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sup>
                          </m:sSup>
                        </m:e>
                      </m:d>
                      <m:r>
                        <a:rPr lang="en-NZ" altLang="ja-JP" sz="1600" b="1" i="1">
                          <a:solidFill>
                            <a:prstClr val="black"/>
                          </a:solidFill>
                          <a:latin typeface="Cambria Math" panose="02040503050406030204" pitchFamily="18" charset="0"/>
                        </a:rPr>
                        <m:t> </m:t>
                      </m:r>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p:txBody>
          </p:sp>
        </mc:Choice>
        <mc:Fallback xmlns="">
          <p:sp>
            <p:nvSpPr>
              <p:cNvPr id="7" name="Text Placeholder 5">
                <a:extLst>
                  <a:ext uri="{FF2B5EF4-FFF2-40B4-BE49-F238E27FC236}">
                    <a16:creationId xmlns:a16="http://schemas.microsoft.com/office/drawing/2014/main" id="{4F232CEA-60D0-204E-113E-3CA762BA275A}"/>
                  </a:ext>
                </a:extLst>
              </p:cNvPr>
              <p:cNvSpPr txBox="1">
                <a:spLocks noRot="1" noChangeAspect="1" noMove="1" noResize="1" noEditPoints="1" noAdjustHandles="1" noChangeArrowheads="1" noChangeShapeType="1" noTextEdit="1"/>
              </p:cNvSpPr>
              <p:nvPr/>
            </p:nvSpPr>
            <p:spPr>
              <a:xfrm>
                <a:off x="6390689" y="3027214"/>
                <a:ext cx="5249840" cy="1085938"/>
              </a:xfrm>
              <a:prstGeom prst="rect">
                <a:avLst/>
              </a:prstGeom>
              <a:blipFill>
                <a:blip r:embed="rId7"/>
                <a:stretch>
                  <a:fillRect/>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3022E194-DCA3-65BC-13F5-7B3A1A079B51}"/>
              </a:ext>
            </a:extLst>
          </p:cNvPr>
          <p:cNvSpPr txBox="1">
            <a:spLocks/>
          </p:cNvSpPr>
          <p:nvPr/>
        </p:nvSpPr>
        <p:spPr>
          <a:xfrm>
            <a:off x="319463" y="4165229"/>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hence the associated conditional distributions can be calculated as</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D56038B7-45FA-2D22-F8BA-07FE07B5DF04}"/>
                  </a:ext>
                </a:extLst>
              </p:cNvPr>
              <p:cNvSpPr txBox="1">
                <a:spLocks/>
              </p:cNvSpPr>
              <p:nvPr/>
            </p:nvSpPr>
            <p:spPr>
              <a:xfrm>
                <a:off x="319463" y="4598910"/>
                <a:ext cx="5481851"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den>
                      </m:f>
                      <m:r>
                        <a:rPr lang="en-NZ" altLang="ja-JP" sz="1600" b="1" i="1" smtClean="0">
                          <a:solidFill>
                            <a:prstClr val="black"/>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𝟐</m:t>
                              </m:r>
                            </m:sub>
                          </m:sSub>
                        </m:num>
                        <m:den>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 −</m:t>
                              </m:r>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𝒆</m:t>
                                  </m:r>
                                </m:e>
                                <m:sup>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𝑩</m:t>
                                  </m:r>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𝟐</m:t>
                                      </m:r>
                                    </m:sub>
                                  </m:sSub>
                                </m:sup>
                              </m:sSup>
                            </m:e>
                          </m:d>
                        </m:den>
                      </m:f>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𝒆</m:t>
                          </m:r>
                        </m:e>
                        <m:sup>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𝟐</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𝟏</m:t>
                              </m:r>
                            </m:sub>
                          </m:sSub>
                        </m:sup>
                      </m:sSup>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3" name="Text Placeholder 5">
                <a:extLst>
                  <a:ext uri="{FF2B5EF4-FFF2-40B4-BE49-F238E27FC236}">
                    <a16:creationId xmlns:a16="http://schemas.microsoft.com/office/drawing/2014/main" id="{D56038B7-45FA-2D22-F8BA-07FE07B5DF04}"/>
                  </a:ext>
                </a:extLst>
              </p:cNvPr>
              <p:cNvSpPr txBox="1">
                <a:spLocks noRot="1" noChangeAspect="1" noMove="1" noResize="1" noEditPoints="1" noAdjustHandles="1" noChangeArrowheads="1" noChangeShapeType="1" noTextEdit="1"/>
              </p:cNvSpPr>
              <p:nvPr/>
            </p:nvSpPr>
            <p:spPr>
              <a:xfrm>
                <a:off x="319463" y="4598910"/>
                <a:ext cx="5481851" cy="886221"/>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5" name="Text Placeholder 5">
                <a:extLst>
                  <a:ext uri="{FF2B5EF4-FFF2-40B4-BE49-F238E27FC236}">
                    <a16:creationId xmlns:a16="http://schemas.microsoft.com/office/drawing/2014/main" id="{B2CDC41F-7A50-E873-0248-491BFDEEC743}"/>
                  </a:ext>
                </a:extLst>
              </p:cNvPr>
              <p:cNvSpPr txBox="1">
                <a:spLocks/>
              </p:cNvSpPr>
              <p:nvPr/>
            </p:nvSpPr>
            <p:spPr>
              <a:xfrm>
                <a:off x="6274684" y="4598909"/>
                <a:ext cx="5481851"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𝟏</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𝟏</m:t>
                                  </m:r>
                                </m:sub>
                              </m:sSub>
                            </m:e>
                          </m:d>
                        </m:den>
                      </m:f>
                      <m:r>
                        <a:rPr lang="en-NZ" altLang="ja-JP" sz="1600" b="1" i="1" smtClean="0">
                          <a:solidFill>
                            <a:prstClr val="black"/>
                          </a:solidFill>
                          <a:latin typeface="Cambria Math" panose="02040503050406030204" pitchFamily="18" charset="0"/>
                        </a:rPr>
                        <m:t> =  </m:t>
                      </m:r>
                      <m:f>
                        <m:fPr>
                          <m:ctrlPr>
                            <a:rPr lang="en-NZ" altLang="ja-JP" sz="1600" b="1" i="1" smtClean="0">
                              <a:solidFill>
                                <a:schemeClr val="tx1"/>
                              </a:solidFill>
                              <a:latin typeface="Cambria Math" panose="02040503050406030204" pitchFamily="18" charset="0"/>
                            </a:rPr>
                          </m:ctrlPr>
                        </m:fPr>
                        <m:num>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𝟏</m:t>
                              </m:r>
                            </m:sub>
                          </m:sSub>
                        </m:num>
                        <m:den>
                          <m:d>
                            <m:dPr>
                              <m:ctrlPr>
                                <a:rPr lang="en-NZ" altLang="ja-JP" sz="1600" b="1" i="1">
                                  <a:solidFill>
                                    <a:schemeClr val="tx1"/>
                                  </a:solidFill>
                                  <a:latin typeface="Cambria Math" panose="02040503050406030204" pitchFamily="18" charset="0"/>
                                </a:rPr>
                              </m:ctrlPr>
                            </m:dPr>
                            <m:e>
                              <m:r>
                                <a:rPr lang="en-NZ" altLang="ja-JP" sz="1600" b="1" i="1">
                                  <a:solidFill>
                                    <a:schemeClr val="tx1"/>
                                  </a:solidFill>
                                  <a:latin typeface="Cambria Math" panose="02040503050406030204" pitchFamily="18" charset="0"/>
                                </a:rPr>
                                <m:t>𝟏</m:t>
                              </m:r>
                              <m:r>
                                <a:rPr lang="en-NZ" altLang="ja-JP" sz="1600" b="1" i="1">
                                  <a:solidFill>
                                    <a:schemeClr val="tx1"/>
                                  </a:solidFill>
                                  <a:latin typeface="Cambria Math" panose="02040503050406030204" pitchFamily="18" charset="0"/>
                                </a:rPr>
                                <m:t> −</m:t>
                              </m:r>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𝒆</m:t>
                                  </m:r>
                                </m:e>
                                <m:sup>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𝑩</m:t>
                                  </m:r>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a:solidFill>
                                            <a:schemeClr val="tx1"/>
                                          </a:solidFill>
                                          <a:latin typeface="Cambria Math" panose="02040503050406030204" pitchFamily="18" charset="0"/>
                                        </a:rPr>
                                        <m:t>𝟏</m:t>
                                      </m:r>
                                    </m:sub>
                                  </m:sSub>
                                </m:sup>
                              </m:sSup>
                            </m:e>
                          </m:d>
                        </m:den>
                      </m:f>
                      <m:sSup>
                        <m:sSupPr>
                          <m:ctrlPr>
                            <a:rPr lang="en-NZ" altLang="ja-JP" sz="1600" b="1" i="1">
                              <a:solidFill>
                                <a:schemeClr val="tx1"/>
                              </a:solidFill>
                              <a:latin typeface="Cambria Math" panose="02040503050406030204" pitchFamily="18" charset="0"/>
                            </a:rPr>
                          </m:ctrlPr>
                        </m:sSupPr>
                        <m:e>
                          <m:r>
                            <a:rPr lang="en-NZ" altLang="ja-JP" sz="1600" b="1" i="1">
                              <a:solidFill>
                                <a:schemeClr val="tx1"/>
                              </a:solidFill>
                              <a:latin typeface="Cambria Math" panose="02040503050406030204" pitchFamily="18" charset="0"/>
                            </a:rPr>
                            <m:t>𝒆</m:t>
                          </m:r>
                        </m:e>
                        <m:sup>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𝒙</m:t>
                              </m:r>
                            </m:e>
                            <m:sub>
                              <m:r>
                                <a:rPr lang="en-NZ" altLang="ja-JP" sz="1600" b="1" i="1" smtClean="0">
                                  <a:solidFill>
                                    <a:schemeClr val="tx1"/>
                                  </a:solidFill>
                                  <a:latin typeface="Cambria Math" panose="02040503050406030204" pitchFamily="18" charset="0"/>
                                </a:rPr>
                                <m:t>𝟐</m:t>
                              </m:r>
                            </m:sub>
                          </m:sSub>
                        </m:sup>
                      </m:sSup>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5" name="Text Placeholder 5">
                <a:extLst>
                  <a:ext uri="{FF2B5EF4-FFF2-40B4-BE49-F238E27FC236}">
                    <a16:creationId xmlns:a16="http://schemas.microsoft.com/office/drawing/2014/main" id="{B2CDC41F-7A50-E873-0248-491BFDEEC743}"/>
                  </a:ext>
                </a:extLst>
              </p:cNvPr>
              <p:cNvSpPr txBox="1">
                <a:spLocks noRot="1" noChangeAspect="1" noMove="1" noResize="1" noEditPoints="1" noAdjustHandles="1" noChangeArrowheads="1" noChangeShapeType="1" noTextEdit="1"/>
              </p:cNvSpPr>
              <p:nvPr/>
            </p:nvSpPr>
            <p:spPr>
              <a:xfrm>
                <a:off x="6274684" y="4598909"/>
                <a:ext cx="5481851" cy="886221"/>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11B29602-B225-BCC5-13F8-3EBD888DF8E9}"/>
                  </a:ext>
                </a:extLst>
              </p:cNvPr>
              <p:cNvSpPr txBox="1">
                <a:spLocks/>
              </p:cNvSpPr>
              <p:nvPr/>
            </p:nvSpPr>
            <p:spPr>
              <a:xfrm>
                <a:off x="319463" y="5489184"/>
                <a:ext cx="11608680" cy="6289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500" i="1" noProof="0" dirty="0">
                    <a:solidFill>
                      <a:srgbClr val="C00000"/>
                    </a:solidFill>
                    <a:latin typeface="Calibri" panose="020F0502020204030204"/>
                    <a:ea typeface="游ゴシック" panose="020B0400000000000000" pitchFamily="34" charset="-128"/>
                  </a:rPr>
                  <a:t>Note that, in this case, the conditional distributions are known and have a ‘nice’ parametric form that can easily be sampled from since</a:t>
                </a:r>
              </a:p>
              <a:p>
                <a:pPr lvl="0" algn="ctr">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500" b="1" i="1" smtClean="0">
                              <a:solidFill>
                                <a:srgbClr val="C00000"/>
                              </a:solidFill>
                              <a:latin typeface="Cambria Math" panose="02040503050406030204" pitchFamily="18" charset="0"/>
                            </a:rPr>
                          </m:ctrlPr>
                        </m:sSubPr>
                        <m:e>
                          <m:r>
                            <a:rPr lang="en-NZ" altLang="ja-JP" sz="1500" b="1" i="1">
                              <a:solidFill>
                                <a:srgbClr val="C00000"/>
                              </a:solidFill>
                              <a:latin typeface="Cambria Math" panose="02040503050406030204" pitchFamily="18" charset="0"/>
                            </a:rPr>
                            <m:t>𝑿</m:t>
                          </m:r>
                        </m:e>
                        <m:sub>
                          <m:r>
                            <a:rPr lang="en-NZ" altLang="ja-JP" sz="1500" b="1" i="1">
                              <a:solidFill>
                                <a:srgbClr val="C00000"/>
                              </a:solidFill>
                              <a:latin typeface="Cambria Math" panose="02040503050406030204" pitchFamily="18" charset="0"/>
                            </a:rPr>
                            <m:t>𝒊</m:t>
                          </m:r>
                        </m:sub>
                      </m:sSub>
                      <m:r>
                        <a:rPr lang="en-NZ" altLang="ja-JP" sz="1500" b="1" i="1" smtClean="0">
                          <a:solidFill>
                            <a:srgbClr val="C00000"/>
                          </a:solidFill>
                          <a:latin typeface="Cambria Math" panose="02040503050406030204" pitchFamily="18" charset="0"/>
                        </a:rPr>
                        <m:t> |  </m:t>
                      </m:r>
                      <m:sSub>
                        <m:sSubPr>
                          <m:ctrlPr>
                            <a:rPr lang="en-NZ" altLang="ja-JP" sz="1500" b="1" i="1" smtClean="0">
                              <a:solidFill>
                                <a:srgbClr val="C00000"/>
                              </a:solidFill>
                              <a:latin typeface="Cambria Math" panose="02040503050406030204" pitchFamily="18" charset="0"/>
                            </a:rPr>
                          </m:ctrlPr>
                        </m:sSubPr>
                        <m:e>
                          <m:r>
                            <a:rPr lang="en-NZ" altLang="ja-JP" sz="1500" b="1" i="1">
                              <a:solidFill>
                                <a:srgbClr val="C00000"/>
                              </a:solidFill>
                              <a:latin typeface="Cambria Math" panose="02040503050406030204" pitchFamily="18" charset="0"/>
                            </a:rPr>
                            <m:t>𝑿</m:t>
                          </m:r>
                        </m:e>
                        <m:sub>
                          <m:r>
                            <a:rPr lang="en-NZ" altLang="ja-JP" sz="1500" b="1" i="1">
                              <a:solidFill>
                                <a:srgbClr val="C00000"/>
                              </a:solidFill>
                              <a:latin typeface="Cambria Math" panose="02040503050406030204" pitchFamily="18" charset="0"/>
                            </a:rPr>
                            <m:t>𝒋</m:t>
                          </m:r>
                        </m:sub>
                      </m:sSub>
                      <m:r>
                        <a:rPr lang="en-NZ" altLang="ja-JP" sz="1500" b="1" i="1" smtClean="0">
                          <a:solidFill>
                            <a:srgbClr val="C00000"/>
                          </a:solidFill>
                          <a:latin typeface="Cambria Math" panose="02040503050406030204" pitchFamily="18" charset="0"/>
                        </a:rPr>
                        <m:t>  ~ </m:t>
                      </m:r>
                      <m:r>
                        <a:rPr lang="en-NZ" altLang="ja-JP" sz="1500" b="1" i="1" smtClean="0">
                          <a:solidFill>
                            <a:srgbClr val="C00000"/>
                          </a:solidFill>
                          <a:latin typeface="Cambria Math" panose="02040503050406030204" pitchFamily="18" charset="0"/>
                        </a:rPr>
                        <m:t>𝒌</m:t>
                      </m:r>
                      <m:d>
                        <m:dPr>
                          <m:ctrlPr>
                            <a:rPr lang="en-NZ" altLang="ja-JP" sz="1500" b="1" i="1" smtClean="0">
                              <a:solidFill>
                                <a:srgbClr val="C00000"/>
                              </a:solidFill>
                              <a:latin typeface="Cambria Math" panose="02040503050406030204" pitchFamily="18" charset="0"/>
                            </a:rPr>
                          </m:ctrlPr>
                        </m:dPr>
                        <m:e>
                          <m:sSub>
                            <m:sSubPr>
                              <m:ctrlPr>
                                <a:rPr lang="en-NZ" altLang="ja-JP" sz="1500" b="1" i="1">
                                  <a:solidFill>
                                    <a:srgbClr val="C00000"/>
                                  </a:solidFill>
                                  <a:latin typeface="Cambria Math" panose="02040503050406030204" pitchFamily="18" charset="0"/>
                                </a:rPr>
                              </m:ctrlPr>
                            </m:sSubPr>
                            <m:e>
                              <m:r>
                                <a:rPr lang="en-NZ" altLang="ja-JP" sz="1500" b="1" i="1">
                                  <a:solidFill>
                                    <a:srgbClr val="C00000"/>
                                  </a:solidFill>
                                  <a:latin typeface="Cambria Math" panose="02040503050406030204" pitchFamily="18" charset="0"/>
                                </a:rPr>
                                <m:t>𝒙</m:t>
                              </m:r>
                            </m:e>
                            <m:sub>
                              <m:r>
                                <a:rPr lang="en-NZ" altLang="ja-JP" sz="1500" b="1" i="1">
                                  <a:solidFill>
                                    <a:srgbClr val="C00000"/>
                                  </a:solidFill>
                                  <a:latin typeface="Cambria Math" panose="02040503050406030204" pitchFamily="18" charset="0"/>
                                </a:rPr>
                                <m:t>𝒋</m:t>
                              </m:r>
                            </m:sub>
                          </m:sSub>
                        </m:e>
                      </m:d>
                      <m:r>
                        <a:rPr lang="en-NZ" altLang="ja-JP" sz="1500" b="1" i="1" smtClean="0">
                          <a:solidFill>
                            <a:srgbClr val="C00000"/>
                          </a:solidFill>
                          <a:latin typeface="Cambria Math" panose="02040503050406030204" pitchFamily="18" charset="0"/>
                        </a:rPr>
                        <m:t> </m:t>
                      </m:r>
                      <m:r>
                        <a:rPr lang="en-NZ" altLang="ja-JP" sz="1500" b="1" i="1" smtClean="0">
                          <a:solidFill>
                            <a:srgbClr val="C00000"/>
                          </a:solidFill>
                          <a:latin typeface="Cambria Math" panose="02040503050406030204" pitchFamily="18" charset="0"/>
                        </a:rPr>
                        <m:t>𝒆𝒙𝒑</m:t>
                      </m:r>
                      <m:r>
                        <a:rPr lang="en-NZ" altLang="ja-JP" sz="1500" b="1" i="1" smtClean="0">
                          <a:solidFill>
                            <a:srgbClr val="C00000"/>
                          </a:solidFill>
                          <a:latin typeface="Cambria Math" panose="02040503050406030204" pitchFamily="18" charset="0"/>
                        </a:rPr>
                        <m:t>⁡(</m:t>
                      </m:r>
                      <m:sSub>
                        <m:sSubPr>
                          <m:ctrlPr>
                            <a:rPr lang="en-NZ" altLang="ja-JP" sz="1500" b="1" i="1" smtClean="0">
                              <a:solidFill>
                                <a:srgbClr val="C00000"/>
                              </a:solidFill>
                              <a:latin typeface="Cambria Math" panose="02040503050406030204" pitchFamily="18" charset="0"/>
                            </a:rPr>
                          </m:ctrlPr>
                        </m:sSubPr>
                        <m:e>
                          <m:r>
                            <a:rPr lang="en-NZ" altLang="ja-JP" sz="1500" b="1" i="1">
                              <a:solidFill>
                                <a:srgbClr val="C00000"/>
                              </a:solidFill>
                              <a:latin typeface="Cambria Math" panose="02040503050406030204" pitchFamily="18" charset="0"/>
                            </a:rPr>
                            <m:t>𝒙</m:t>
                          </m:r>
                        </m:e>
                        <m:sub>
                          <m:r>
                            <a:rPr lang="en-NZ" altLang="ja-JP" sz="1500" b="1" i="1">
                              <a:solidFill>
                                <a:srgbClr val="C00000"/>
                              </a:solidFill>
                              <a:latin typeface="Cambria Math" panose="02040503050406030204" pitchFamily="18" charset="0"/>
                            </a:rPr>
                            <m:t>𝒋</m:t>
                          </m:r>
                        </m:sub>
                      </m:sSub>
                      <m:r>
                        <a:rPr lang="en-NZ" altLang="ja-JP" sz="1500" b="1" i="1" smtClean="0">
                          <a:solidFill>
                            <a:srgbClr val="C00000"/>
                          </a:solidFill>
                          <a:latin typeface="Cambria Math" panose="02040503050406030204" pitchFamily="18" charset="0"/>
                        </a:rPr>
                        <m:t>)</m:t>
                      </m:r>
                    </m:oMath>
                  </m:oMathPara>
                </a14:m>
                <a:endParaRPr kumimoji="1" lang="en-US" altLang="ja-JP" sz="15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6" name="Text Placeholder 5">
                <a:extLst>
                  <a:ext uri="{FF2B5EF4-FFF2-40B4-BE49-F238E27FC236}">
                    <a16:creationId xmlns:a16="http://schemas.microsoft.com/office/drawing/2014/main" id="{11B29602-B225-BCC5-13F8-3EBD888DF8E9}"/>
                  </a:ext>
                </a:extLst>
              </p:cNvPr>
              <p:cNvSpPr txBox="1">
                <a:spLocks noRot="1" noChangeAspect="1" noMove="1" noResize="1" noEditPoints="1" noAdjustHandles="1" noChangeArrowheads="1" noChangeShapeType="1" noTextEdit="1"/>
              </p:cNvSpPr>
              <p:nvPr/>
            </p:nvSpPr>
            <p:spPr>
              <a:xfrm>
                <a:off x="319463" y="5489184"/>
                <a:ext cx="11608680" cy="628970"/>
              </a:xfrm>
              <a:prstGeom prst="rect">
                <a:avLst/>
              </a:prstGeom>
              <a:blipFill>
                <a:blip r:embed="rId10"/>
                <a:stretch>
                  <a:fillRect t="-1923"/>
                </a:stretch>
              </a:blipFill>
            </p:spPr>
            <p:txBody>
              <a:bodyPr/>
              <a:lstStyle/>
              <a:p>
                <a:r>
                  <a:rPr lang="en-NZ">
                    <a:noFill/>
                  </a:rPr>
                  <a:t> </a:t>
                </a:r>
              </a:p>
            </p:txBody>
          </p:sp>
        </mc:Fallback>
      </mc:AlternateContent>
      <p:sp>
        <p:nvSpPr>
          <p:cNvPr id="19" name="Text Placeholder 5">
            <a:extLst>
              <a:ext uri="{FF2B5EF4-FFF2-40B4-BE49-F238E27FC236}">
                <a16:creationId xmlns:a16="http://schemas.microsoft.com/office/drawing/2014/main" id="{C29CF03F-A102-739D-FAA8-AAEB8764C364}"/>
              </a:ext>
            </a:extLst>
          </p:cNvPr>
          <p:cNvSpPr txBox="1">
            <a:spLocks/>
          </p:cNvSpPr>
          <p:nvPr/>
        </p:nvSpPr>
        <p:spPr>
          <a:xfrm>
            <a:off x="291660" y="6048567"/>
            <a:ext cx="11608680" cy="3925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500" i="1" noProof="0" dirty="0">
                <a:solidFill>
                  <a:srgbClr val="C00000"/>
                </a:solidFill>
                <a:latin typeface="Calibri" panose="020F0502020204030204"/>
                <a:ea typeface="游ゴシック" panose="020B0400000000000000" pitchFamily="34" charset="-128"/>
              </a:rPr>
              <a:t>=&gt;  Gibbs sampling can be used to draw observations from this pdf</a:t>
            </a:r>
            <a:endParaRPr kumimoji="1" lang="en-US" altLang="ja-JP" sz="15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
        <p:nvSpPr>
          <p:cNvPr id="20" name="Text Placeholder 5">
            <a:extLst>
              <a:ext uri="{FF2B5EF4-FFF2-40B4-BE49-F238E27FC236}">
                <a16:creationId xmlns:a16="http://schemas.microsoft.com/office/drawing/2014/main" id="{DD585A58-9A14-92AB-242D-7AFE54DBA02E}"/>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11.4a - Gibbs Sampling (2D Exponential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82815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P spid="13" grpId="0"/>
      <p:bldP spid="15" grpId="0"/>
      <p:bldP spid="16"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E84ED51-5474-8316-980A-31D872E04D30}"/>
              </a:ext>
            </a:extLst>
          </p:cNvPr>
          <p:cNvPicPr>
            <a:picLocks noChangeAspect="1"/>
          </p:cNvPicPr>
          <p:nvPr/>
        </p:nvPicPr>
        <p:blipFill>
          <a:blip r:embed="rId2"/>
          <a:stretch>
            <a:fillRect/>
          </a:stretch>
        </p:blipFill>
        <p:spPr>
          <a:xfrm>
            <a:off x="132003" y="1282514"/>
            <a:ext cx="9247619" cy="460952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.4a – Bivariate Exponential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DD585A58-9A14-92AB-242D-7AFE54DBA02E}"/>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11.4a - Gibbs Sampling (2D Exponential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9379622" y="2184934"/>
                <a:ext cx="2547216" cy="12634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Graphs show time series plots for post-burn-in values of the chain for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a:solidFill>
                              <a:schemeClr val="tx1"/>
                            </a:solidFill>
                            <a:latin typeface="Cambria Math" panose="02040503050406030204" pitchFamily="18" charset="0"/>
                          </a:rPr>
                          <m:t>𝟏</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and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𝟐</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separately.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9379622" y="2184934"/>
                <a:ext cx="2547216" cy="1263459"/>
              </a:xfrm>
              <a:prstGeom prst="rect">
                <a:avLst/>
              </a:prstGeom>
              <a:blipFill>
                <a:blip r:embed="rId4"/>
                <a:stretch>
                  <a:fillRect l="-957" t="-962" r="-957"/>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379622" y="3647914"/>
            <a:ext cx="2547216" cy="11677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Time series plots show quick convergence and speedy traversing of the state space (good mixing).</a:t>
            </a:r>
          </a:p>
        </p:txBody>
      </p:sp>
    </p:spTree>
    <p:extLst>
      <p:ext uri="{BB962C8B-B14F-4D97-AF65-F5344CB8AC3E}">
        <p14:creationId xmlns:p14="http://schemas.microsoft.com/office/powerpoint/2010/main" val="2080125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E678AB-1807-73EA-AD53-23065774B304}"/>
              </a:ext>
            </a:extLst>
          </p:cNvPr>
          <p:cNvPicPr>
            <a:picLocks noChangeAspect="1"/>
          </p:cNvPicPr>
          <p:nvPr/>
        </p:nvPicPr>
        <p:blipFill>
          <a:blip r:embed="rId2"/>
          <a:stretch>
            <a:fillRect/>
          </a:stretch>
        </p:blipFill>
        <p:spPr>
          <a:xfrm>
            <a:off x="265162" y="1219715"/>
            <a:ext cx="9019048" cy="460952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.4a – Bivariate Exponential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DD585A58-9A14-92AB-242D-7AFE54DBA02E}"/>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11.4a - Gibbs Sampling (2D Exponential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9379622" y="2184934"/>
                <a:ext cx="2547216" cy="12634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Graphs show autocorrelation plots for post-burn-in values of the chain for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a:solidFill>
                              <a:schemeClr val="tx1"/>
                            </a:solidFill>
                            <a:latin typeface="Cambria Math" panose="02040503050406030204" pitchFamily="18" charset="0"/>
                          </a:rPr>
                          <m:t>𝟏</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and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𝟐</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separately.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9379622" y="2184934"/>
                <a:ext cx="2547216" cy="1263459"/>
              </a:xfrm>
              <a:prstGeom prst="rect">
                <a:avLst/>
              </a:prstGeom>
              <a:blipFill>
                <a:blip r:embed="rId4"/>
                <a:stretch>
                  <a:fillRect l="-957" t="-96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379622" y="3647915"/>
            <a:ext cx="2547216"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chemeClr val="tx1"/>
                </a:solidFill>
              </a:rPr>
              <a:t>Auto-correlation plots show low correlation for high lag values</a:t>
            </a:r>
          </a:p>
        </p:txBody>
      </p:sp>
    </p:spTree>
    <p:extLst>
      <p:ext uri="{BB962C8B-B14F-4D97-AF65-F5344CB8AC3E}">
        <p14:creationId xmlns:p14="http://schemas.microsoft.com/office/powerpoint/2010/main" val="780018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0678200-D944-F41A-2767-8B9B569A269B}"/>
              </a:ext>
            </a:extLst>
          </p:cNvPr>
          <p:cNvPicPr>
            <a:picLocks noChangeAspect="1"/>
          </p:cNvPicPr>
          <p:nvPr/>
        </p:nvPicPr>
        <p:blipFill>
          <a:blip r:embed="rId2"/>
          <a:stretch>
            <a:fillRect/>
          </a:stretch>
        </p:blipFill>
        <p:spPr>
          <a:xfrm>
            <a:off x="256504" y="1878963"/>
            <a:ext cx="9371428" cy="460952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.4a – Bivariate Exponential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0" name="Text Placeholder 5">
            <a:extLst>
              <a:ext uri="{FF2B5EF4-FFF2-40B4-BE49-F238E27FC236}">
                <a16:creationId xmlns:a16="http://schemas.microsoft.com/office/drawing/2014/main" id="{DD585A58-9A14-92AB-242D-7AFE54DBA02E}"/>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11.4a - Gibbs Sampling (2D Exponential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399593" y="954821"/>
                <a:ext cx="1139281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Histograms are of </a:t>
                </a:r>
                <a14:m>
                  <m:oMath xmlns:m="http://schemas.openxmlformats.org/officeDocument/2006/math">
                    <m:sSub>
                      <m:sSubPr>
                        <m:ctrlPr>
                          <a:rPr lang="en-NZ" altLang="ja-JP" sz="1500" b="1" i="1" smtClean="0">
                            <a:solidFill>
                              <a:schemeClr val="tx1"/>
                            </a:solidFill>
                            <a:latin typeface="Cambria Math" panose="02040503050406030204" pitchFamily="18" charset="0"/>
                          </a:rPr>
                        </m:ctrlPr>
                      </m:sSubPr>
                      <m:e>
                        <m:r>
                          <a:rPr lang="en-NZ" altLang="ja-JP" sz="1500" b="1" i="1" smtClean="0">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𝒋</m:t>
                        </m:r>
                      </m:sub>
                    </m:sSub>
                  </m:oMath>
                </a14:m>
                <a:r>
                  <a:rPr lang="en-NZ" altLang="ja-JP" sz="1500" b="1" dirty="0">
                    <a:solidFill>
                      <a:schemeClr val="tx1"/>
                    </a:solidFill>
                  </a:rPr>
                  <a:t> </a:t>
                </a:r>
                <a:r>
                  <a:rPr lang="en-NZ" altLang="ja-JP" sz="1500" dirty="0">
                    <a:solidFill>
                      <a:schemeClr val="tx1"/>
                    </a:solidFill>
                  </a:rPr>
                  <a:t>values from the chain represent the marginal density of </a:t>
                </a:r>
                <a14:m>
                  <m:oMath xmlns:m="http://schemas.openxmlformats.org/officeDocument/2006/math">
                    <m:sSub>
                      <m:sSubPr>
                        <m:ctrlPr>
                          <a:rPr lang="en-NZ" altLang="ja-JP" sz="1500" b="1" i="1" smtClean="0">
                            <a:solidFill>
                              <a:schemeClr val="tx1"/>
                            </a:solidFill>
                            <a:latin typeface="Cambria Math" panose="02040503050406030204" pitchFamily="18" charset="0"/>
                          </a:rPr>
                        </m:ctrlPr>
                      </m:sSubPr>
                      <m:e>
                        <m:r>
                          <a:rPr lang="en-NZ" altLang="ja-JP" sz="1500" b="1" i="1" smtClean="0">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𝒋</m:t>
                        </m:r>
                      </m:sub>
                    </m:sSub>
                  </m:oMath>
                </a14:m>
                <a:r>
                  <a:rPr lang="en-NZ" altLang="ja-JP" sz="1500" b="1" dirty="0">
                    <a:solidFill>
                      <a:schemeClr val="tx1"/>
                    </a:solidFill>
                  </a:rPr>
                  <a:t>. </a:t>
                </a:r>
                <a:r>
                  <a:rPr lang="en-NZ" altLang="ja-JP" sz="1500" dirty="0">
                    <a:solidFill>
                      <a:schemeClr val="tx1"/>
                    </a:solidFill>
                  </a:rPr>
                  <a:t>In this case it is known that the marginal densities are given by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399593" y="954821"/>
                <a:ext cx="11392814" cy="365125"/>
              </a:xfrm>
              <a:prstGeom prst="rect">
                <a:avLst/>
              </a:prstGeom>
              <a:blipFill>
                <a:blip r:embed="rId4"/>
                <a:stretch>
                  <a:fillRect l="-214" t="-3333" b="-6667"/>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207047" y="3115091"/>
            <a:ext cx="2547216" cy="9665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chemeClr val="tx1"/>
                </a:solidFill>
              </a:rPr>
              <a:t>Shape of histograms are what we would expect given what we know about the marginal distributions.</a:t>
            </a: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BFB20BAD-11E1-37D4-03C8-BE870FEEB274}"/>
                  </a:ext>
                </a:extLst>
              </p:cNvPr>
              <p:cNvSpPr txBox="1">
                <a:spLocks/>
              </p:cNvSpPr>
              <p:nvPr/>
            </p:nvSpPr>
            <p:spPr>
              <a:xfrm>
                <a:off x="4494999" y="1280534"/>
                <a:ext cx="3202002" cy="64986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𝑨</m:t>
                          </m:r>
                        </m:num>
                        <m:den>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 −</m:t>
                          </m:r>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𝒆</m:t>
                              </m: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𝑩</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𝒋</m:t>
                                  </m:r>
                                </m:sub>
                              </m:sSub>
                            </m:sup>
                          </m:sSup>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oMath>
                  </m:oMathPara>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p>
            </p:txBody>
          </p:sp>
        </mc:Choice>
        <mc:Fallback xmlns="">
          <p:sp>
            <p:nvSpPr>
              <p:cNvPr id="8" name="Text Placeholder 5">
                <a:extLst>
                  <a:ext uri="{FF2B5EF4-FFF2-40B4-BE49-F238E27FC236}">
                    <a16:creationId xmlns:a16="http://schemas.microsoft.com/office/drawing/2014/main" id="{BFB20BAD-11E1-37D4-03C8-BE870FEEB274}"/>
                  </a:ext>
                </a:extLst>
              </p:cNvPr>
              <p:cNvSpPr txBox="1">
                <a:spLocks noRot="1" noChangeAspect="1" noMove="1" noResize="1" noEditPoints="1" noAdjustHandles="1" noChangeArrowheads="1" noChangeShapeType="1" noTextEdit="1"/>
              </p:cNvSpPr>
              <p:nvPr/>
            </p:nvSpPr>
            <p:spPr>
              <a:xfrm>
                <a:off x="4494999" y="1280534"/>
                <a:ext cx="3202002" cy="649866"/>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25530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Bivariate Normal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D0C0FE59-DC52-82E8-513D-122EAEFA1A7A}"/>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11.4b - Gibbs Sampling (2D Normal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C526C84F-1BD2-9450-A697-96D78BA6D805}"/>
                  </a:ext>
                </a:extLst>
              </p:cNvPr>
              <p:cNvSpPr txBox="1">
                <a:spLocks/>
              </p:cNvSpPr>
              <p:nvPr/>
            </p:nvSpPr>
            <p:spPr>
              <a:xfrm>
                <a:off x="291660" y="900312"/>
                <a:ext cx="11608680"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0070C0"/>
                    </a:solidFill>
                  </a:rPr>
                  <a:t>Consider the problem of obtaining a sample of observations from the bivariate normal distribution defined by</a:t>
                </a:r>
              </a:p>
              <a:p>
                <a:pPr lvl="0" algn="ctr">
                  <a:lnSpc>
                    <a:spcPct val="100000"/>
                  </a:lnSpc>
                  <a:defRPr/>
                </a:pPr>
                <a14:m>
                  <m:oMath xmlns:m="http://schemas.openxmlformats.org/officeDocument/2006/math">
                    <m:r>
                      <a:rPr lang="en-NZ" altLang="ja-JP" sz="1800" b="1" i="1" smtClean="0">
                        <a:solidFill>
                          <a:srgbClr val="0070C0"/>
                        </a:solidFill>
                        <a:latin typeface="Cambria Math" panose="02040503050406030204" pitchFamily="18" charset="0"/>
                      </a:rPr>
                      <m:t>𝑵</m:t>
                    </m:r>
                    <m:r>
                      <a:rPr lang="en-NZ" altLang="ja-JP" sz="1800" b="1" i="1" smtClean="0">
                        <a:solidFill>
                          <a:srgbClr val="0070C0"/>
                        </a:solidFill>
                        <a:latin typeface="Cambria Math" panose="02040503050406030204" pitchFamily="18" charset="0"/>
                      </a:rPr>
                      <m:t>( </m:t>
                    </m:r>
                    <m:bar>
                      <m:barPr>
                        <m:ctrlPr>
                          <a:rPr lang="en-NZ" altLang="ja-JP" sz="1800" b="1" i="1" smtClean="0">
                            <a:solidFill>
                              <a:srgbClr val="0070C0"/>
                            </a:solidFill>
                            <a:latin typeface="Cambria Math" panose="02040503050406030204" pitchFamily="18" charset="0"/>
                          </a:rPr>
                        </m:ctrlPr>
                      </m:barPr>
                      <m:e>
                        <m:r>
                          <a:rPr lang="en-NZ" altLang="ja-JP" sz="1800" b="1" i="1" smtClean="0">
                            <a:solidFill>
                              <a:srgbClr val="0070C0"/>
                            </a:solidFill>
                            <a:latin typeface="Cambria Math" panose="02040503050406030204" pitchFamily="18" charset="0"/>
                          </a:rPr>
                          <m:t>𝝁</m:t>
                        </m:r>
                      </m:e>
                    </m:bar>
                    <m:r>
                      <a:rPr lang="en-NZ" altLang="ja-JP" sz="1800" b="1" i="1" smtClean="0">
                        <a:solidFill>
                          <a:srgbClr val="0070C0"/>
                        </a:solidFill>
                        <a:latin typeface="Cambria Math" panose="02040503050406030204" pitchFamily="18" charset="0"/>
                      </a:rPr>
                      <m:t> , </m:t>
                    </m:r>
                    <m:r>
                      <a:rPr lang="en-NZ" altLang="ja-JP" sz="1800" b="1" i="0" smtClean="0">
                        <a:solidFill>
                          <a:srgbClr val="0070C0"/>
                        </a:solidFill>
                        <a:latin typeface="Cambria Math" panose="02040503050406030204" pitchFamily="18" charset="0"/>
                      </a:rPr>
                      <m:t>𝚺</m:t>
                    </m:r>
                    <m:r>
                      <a:rPr lang="en-NZ" altLang="ja-JP" sz="1800" b="1" i="1" smtClean="0">
                        <a:solidFill>
                          <a:srgbClr val="0070C0"/>
                        </a:solidFill>
                        <a:latin typeface="Cambria Math" panose="02040503050406030204" pitchFamily="18" charset="0"/>
                      </a:rPr>
                      <m:t> )</m:t>
                    </m:r>
                  </m:oMath>
                </a14:m>
                <a:r>
                  <a:rPr lang="en-NZ" altLang="ja-JP" sz="1800" b="1" dirty="0">
                    <a:solidFill>
                      <a:srgbClr val="0070C0"/>
                    </a:solidFill>
                  </a:rPr>
                  <a:t>     </a:t>
                </a:r>
                <a:r>
                  <a:rPr lang="en-NZ" altLang="ja-JP" sz="1800" dirty="0">
                    <a:solidFill>
                      <a:srgbClr val="0070C0"/>
                    </a:solidFill>
                  </a:rPr>
                  <a:t>where</a:t>
                </a:r>
                <a:r>
                  <a:rPr lang="en-NZ" altLang="ja-JP" sz="1800" b="1" dirty="0">
                    <a:solidFill>
                      <a:srgbClr val="0070C0"/>
                    </a:solidFill>
                  </a:rPr>
                  <a:t>    </a:t>
                </a:r>
                <a14:m>
                  <m:oMath xmlns:m="http://schemas.openxmlformats.org/officeDocument/2006/math">
                    <m:bar>
                      <m:barPr>
                        <m:ctrlPr>
                          <a:rPr lang="en-NZ" altLang="ja-JP" sz="1800" b="1" i="1">
                            <a:solidFill>
                              <a:srgbClr val="0070C0"/>
                            </a:solidFill>
                            <a:latin typeface="Cambria Math" panose="02040503050406030204" pitchFamily="18" charset="0"/>
                          </a:rPr>
                        </m:ctrlPr>
                      </m:barPr>
                      <m:e>
                        <m:r>
                          <a:rPr lang="en-NZ" altLang="ja-JP" sz="1800" b="1" i="1">
                            <a:solidFill>
                              <a:srgbClr val="0070C0"/>
                            </a:solidFill>
                            <a:latin typeface="Cambria Math" panose="02040503050406030204" pitchFamily="18" charset="0"/>
                          </a:rPr>
                          <m:t>𝝁</m:t>
                        </m:r>
                      </m:e>
                    </m:bar>
                    <m:r>
                      <a:rPr lang="en-NZ" altLang="ja-JP" sz="1800" b="1" i="1" smtClean="0">
                        <a:solidFill>
                          <a:srgbClr val="0070C0"/>
                        </a:solidFill>
                        <a:latin typeface="Cambria Math" panose="02040503050406030204" pitchFamily="18" charset="0"/>
                      </a:rPr>
                      <m:t>=</m:t>
                    </m:r>
                    <m:sSup>
                      <m:sSupPr>
                        <m:ctrlPr>
                          <a:rPr lang="en-NZ" altLang="ja-JP" sz="1800" b="1" i="1" smtClean="0">
                            <a:solidFill>
                              <a:srgbClr val="0070C0"/>
                            </a:solidFill>
                            <a:latin typeface="Cambria Math" panose="02040503050406030204" pitchFamily="18" charset="0"/>
                          </a:rPr>
                        </m:ctrlPr>
                      </m:sSupPr>
                      <m:e>
                        <m:d>
                          <m:dPr>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𝟎</m:t>
                            </m:r>
                            <m:r>
                              <a:rPr lang="en-NZ" altLang="ja-JP" sz="1800" b="1" i="1" smtClean="0">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𝟎</m:t>
                            </m:r>
                          </m:e>
                        </m:d>
                      </m:e>
                      <m:sup>
                        <m:r>
                          <a:rPr lang="en-NZ" altLang="ja-JP" sz="1800" b="1" i="1" smtClean="0">
                            <a:solidFill>
                              <a:srgbClr val="0070C0"/>
                            </a:solidFill>
                            <a:latin typeface="Cambria Math" panose="02040503050406030204" pitchFamily="18" charset="0"/>
                          </a:rPr>
                          <m:t>𝑻</m:t>
                        </m:r>
                      </m:sup>
                    </m:sSup>
                  </m:oMath>
                </a14:m>
                <a:r>
                  <a:rPr lang="en-NZ" altLang="ja-JP" sz="1800" b="1" dirty="0">
                    <a:solidFill>
                      <a:srgbClr val="0070C0"/>
                    </a:solidFill>
                  </a:rPr>
                  <a:t>    </a:t>
                </a:r>
                <a:r>
                  <a:rPr lang="en-NZ" altLang="ja-JP" sz="1800" dirty="0">
                    <a:solidFill>
                      <a:srgbClr val="0070C0"/>
                    </a:solidFill>
                  </a:rPr>
                  <a:t>and</a:t>
                </a:r>
                <a:r>
                  <a:rPr lang="en-NZ" altLang="ja-JP" sz="1800" b="1" dirty="0">
                    <a:solidFill>
                      <a:srgbClr val="0070C0"/>
                    </a:solidFill>
                  </a:rPr>
                  <a:t>    </a:t>
                </a:r>
                <a14:m>
                  <m:oMath xmlns:m="http://schemas.openxmlformats.org/officeDocument/2006/math">
                    <m:r>
                      <a:rPr lang="en-NZ" altLang="ja-JP" sz="1800" b="1" i="0" smtClean="0">
                        <a:solidFill>
                          <a:srgbClr val="0070C0"/>
                        </a:solidFill>
                        <a:latin typeface="Cambria Math" panose="02040503050406030204" pitchFamily="18" charset="0"/>
                      </a:rPr>
                      <m:t>𝚺</m:t>
                    </m:r>
                    <m:r>
                      <a:rPr lang="en-NZ" altLang="ja-JP" sz="1800" b="1" i="1" smtClean="0">
                        <a:solidFill>
                          <a:srgbClr val="0070C0"/>
                        </a:solidFill>
                        <a:latin typeface="Cambria Math" panose="02040503050406030204" pitchFamily="18" charset="0"/>
                      </a:rPr>
                      <m:t>= </m:t>
                    </m:r>
                    <m:d>
                      <m:dPr>
                        <m:begChr m:val="["/>
                        <m:endChr m:val="]"/>
                        <m:ctrlPr>
                          <a:rPr lang="en-NZ" altLang="ja-JP" sz="1800" b="1" i="1" smtClean="0">
                            <a:solidFill>
                              <a:srgbClr val="0070C0"/>
                            </a:solidFill>
                            <a:latin typeface="Cambria Math" panose="02040503050406030204" pitchFamily="18" charset="0"/>
                          </a:rPr>
                        </m:ctrlPr>
                      </m:dPr>
                      <m:e>
                        <m:m>
                          <m:mPr>
                            <m:mcs>
                              <m:mc>
                                <m:mcPr>
                                  <m:count m:val="2"/>
                                  <m:mcJc m:val="center"/>
                                </m:mcPr>
                              </m:mc>
                            </m:mcs>
                            <m:ctrlPr>
                              <a:rPr lang="en-NZ" altLang="ja-JP" sz="1800" b="1" i="1" smtClean="0">
                                <a:solidFill>
                                  <a:srgbClr val="0070C0"/>
                                </a:solidFill>
                                <a:latin typeface="Cambria Math" panose="02040503050406030204" pitchFamily="18" charset="0"/>
                              </a:rPr>
                            </m:ctrlPr>
                          </m:mPr>
                          <m:mr>
                            <m:e>
                              <m:r>
                                <m:rPr>
                                  <m:brk m:alnAt="7"/>
                                </m:rPr>
                                <a:rPr lang="en-NZ" altLang="ja-JP" sz="1800" b="1" i="1" smtClean="0">
                                  <a:solidFill>
                                    <a:srgbClr val="0070C0"/>
                                  </a:solidFill>
                                  <a:latin typeface="Cambria Math" panose="02040503050406030204" pitchFamily="18" charset="0"/>
                                </a:rPr>
                                <m:t>𝟏</m:t>
                              </m:r>
                            </m:e>
                            <m:e>
                              <m:r>
                                <a:rPr lang="en-NZ" altLang="ja-JP" sz="1800" b="1" i="1" smtClean="0">
                                  <a:solidFill>
                                    <a:srgbClr val="0070C0"/>
                                  </a:solidFill>
                                  <a:latin typeface="Cambria Math" panose="02040503050406030204" pitchFamily="18" charset="0"/>
                                </a:rPr>
                                <m:t>𝝆</m:t>
                              </m:r>
                            </m:e>
                          </m:mr>
                          <m:mr>
                            <m:e>
                              <m:r>
                                <a:rPr lang="en-NZ" altLang="ja-JP" sz="1800" b="1" i="1" smtClean="0">
                                  <a:solidFill>
                                    <a:srgbClr val="0070C0"/>
                                  </a:solidFill>
                                  <a:latin typeface="Cambria Math" panose="02040503050406030204" pitchFamily="18" charset="0"/>
                                </a:rPr>
                                <m:t>𝝆</m:t>
                              </m:r>
                            </m:e>
                            <m:e>
                              <m:r>
                                <a:rPr lang="en-NZ" altLang="ja-JP" sz="1800" b="1" i="1" smtClean="0">
                                  <a:solidFill>
                                    <a:srgbClr val="0070C0"/>
                                  </a:solidFill>
                                  <a:latin typeface="Cambria Math" panose="02040503050406030204" pitchFamily="18" charset="0"/>
                                </a:rPr>
                                <m:t>𝟏</m:t>
                              </m:r>
                            </m:e>
                          </m:mr>
                        </m:m>
                      </m:e>
                    </m:d>
                  </m:oMath>
                </a14:m>
                <a:endParaRPr lang="en-NZ" altLang="ja-JP" sz="1800" b="1" dirty="0">
                  <a:solidFill>
                    <a:srgbClr val="0070C0"/>
                  </a:solidFill>
                </a:endParaRPr>
              </a:p>
            </p:txBody>
          </p:sp>
        </mc:Choice>
        <mc:Fallback xmlns="">
          <p:sp>
            <p:nvSpPr>
              <p:cNvPr id="3" name="Text Placeholder 5">
                <a:extLst>
                  <a:ext uri="{FF2B5EF4-FFF2-40B4-BE49-F238E27FC236}">
                    <a16:creationId xmlns:a16="http://schemas.microsoft.com/office/drawing/2014/main" id="{C526C84F-1BD2-9450-A697-96D78BA6D805}"/>
                  </a:ext>
                </a:extLst>
              </p:cNvPr>
              <p:cNvSpPr txBox="1">
                <a:spLocks noRot="1" noChangeAspect="1" noMove="1" noResize="1" noEditPoints="1" noAdjustHandles="1" noChangeArrowheads="1" noChangeShapeType="1" noTextEdit="1"/>
              </p:cNvSpPr>
              <p:nvPr/>
            </p:nvSpPr>
            <p:spPr>
              <a:xfrm>
                <a:off x="291660" y="900312"/>
                <a:ext cx="11608680" cy="942136"/>
              </a:xfrm>
              <a:prstGeom prst="rect">
                <a:avLst/>
              </a:prstGeom>
              <a:blipFill>
                <a:blip r:embed="rId3"/>
                <a:stretch>
                  <a:fillRect l="-473" t="-3896"/>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48492AA7-2B4A-D881-1EE4-03B651210E6D}"/>
                  </a:ext>
                </a:extLst>
              </p:cNvPr>
              <p:cNvSpPr txBox="1">
                <a:spLocks/>
              </p:cNvSpPr>
              <p:nvPr/>
            </p:nvSpPr>
            <p:spPr>
              <a:xfrm>
                <a:off x="291660" y="1938670"/>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this ca</a:t>
                </a:r>
                <a:r>
                  <a:rPr lang="en-NZ" altLang="ja-JP" sz="1800" dirty="0">
                    <a:solidFill>
                      <a:prstClr val="black"/>
                    </a:solidFill>
                    <a:latin typeface="Calibri" panose="020F0502020204030204"/>
                    <a:ea typeface="游ゴシック" panose="020B0400000000000000" pitchFamily="34" charset="-128"/>
                  </a:rPr>
                  <a:t>se the joint probability density function for </a:t>
                </a:r>
                <a14:m>
                  <m:oMath xmlns:m="http://schemas.openxmlformats.org/officeDocument/2006/math">
                    <m:sSub>
                      <m:sSubPr>
                        <m:ctrlPr>
                          <a:rPr lang="en-NZ" altLang="ja-JP" sz="1800" b="1" i="1" smtClean="0">
                            <a:solidFill>
                              <a:prstClr val="black"/>
                            </a:solidFill>
                            <a:latin typeface="Cambria Math" panose="02040503050406030204" pitchFamily="18" charset="0"/>
                            <a:ea typeface="游ゴシック" panose="020B0400000000000000" pitchFamily="34" charset="-128"/>
                          </a:rPr>
                        </m:ctrlPr>
                      </m:sSubPr>
                      <m:e>
                        <m:r>
                          <a:rPr lang="en-NZ" altLang="ja-JP" sz="1800" b="1" i="1" smtClean="0">
                            <a:solidFill>
                              <a:prstClr val="black"/>
                            </a:solidFill>
                            <a:latin typeface="Cambria Math" panose="02040503050406030204" pitchFamily="18" charset="0"/>
                            <a:ea typeface="游ゴシック" panose="020B0400000000000000" pitchFamily="34" charset="-128"/>
                          </a:rPr>
                          <m:t>𝑿</m:t>
                        </m:r>
                      </m:e>
                      <m:sub>
                        <m:r>
                          <a:rPr lang="en-NZ" altLang="ja-JP" sz="1800" b="1" i="1" smtClean="0">
                            <a:solidFill>
                              <a:prstClr val="black"/>
                            </a:solidFill>
                            <a:latin typeface="Cambria Math" panose="02040503050406030204" pitchFamily="18" charset="0"/>
                            <a:ea typeface="游ゴシック" panose="020B0400000000000000" pitchFamily="34" charset="-128"/>
                          </a:rPr>
                          <m:t>𝟏</m:t>
                        </m:r>
                      </m:sub>
                    </m:sSub>
                  </m:oMath>
                </a14:m>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and </a:t>
                </a:r>
                <a14:m>
                  <m:oMath xmlns:m="http://schemas.openxmlformats.org/officeDocument/2006/math">
                    <m:sSub>
                      <m:sSubPr>
                        <m:ctrlP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8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Sub>
                  </m:oMath>
                </a14:m>
                <a:r>
                  <a:rPr kumimoji="1" lang="en-US" altLang="ja-JP" sz="18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is given by …</a:t>
                </a:r>
              </a:p>
            </p:txBody>
          </p:sp>
        </mc:Choice>
        <mc:Fallback xmlns="">
          <p:sp>
            <p:nvSpPr>
              <p:cNvPr id="4" name="Text Placeholder 5">
                <a:extLst>
                  <a:ext uri="{FF2B5EF4-FFF2-40B4-BE49-F238E27FC236}">
                    <a16:creationId xmlns:a16="http://schemas.microsoft.com/office/drawing/2014/main" id="{48492AA7-2B4A-D881-1EE4-03B651210E6D}"/>
                  </a:ext>
                </a:extLst>
              </p:cNvPr>
              <p:cNvSpPr txBox="1">
                <a:spLocks noRot="1" noChangeAspect="1" noMove="1" noResize="1" noEditPoints="1" noAdjustHandles="1" noChangeArrowheads="1" noChangeShapeType="1" noTextEdit="1"/>
              </p:cNvSpPr>
              <p:nvPr/>
            </p:nvSpPr>
            <p:spPr>
              <a:xfrm>
                <a:off x="291660" y="1938670"/>
                <a:ext cx="11608680" cy="365125"/>
              </a:xfrm>
              <a:prstGeom prst="rect">
                <a:avLst/>
              </a:prstGeom>
              <a:blipFill>
                <a:blip r:embed="rId4"/>
                <a:stretch>
                  <a:fillRect l="-473" t="-8333" b="-2666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B9D33E9A-1593-958D-CC76-F05904836DE7}"/>
                  </a:ext>
                </a:extLst>
              </p:cNvPr>
              <p:cNvSpPr txBox="1">
                <a:spLocks/>
              </p:cNvSpPr>
              <p:nvPr/>
            </p:nvSpPr>
            <p:spPr>
              <a:xfrm>
                <a:off x="386173" y="2291496"/>
                <a:ext cx="11419655"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𝒇</m:t>
                          </m:r>
                        </m:e>
                        <m:sub>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𝑿</m:t>
                              </m:r>
                            </m:e>
                            <m:sub>
                              <m:r>
                                <a:rPr lang="en-NZ" altLang="ja-JP" sz="1800" b="1" i="1">
                                  <a:solidFill>
                                    <a:prstClr val="black"/>
                                  </a:solidFill>
                                  <a:latin typeface="Cambria Math" panose="02040503050406030204" pitchFamily="18" charset="0"/>
                                </a:rPr>
                                <m:t>𝟐</m:t>
                              </m:r>
                            </m:sub>
                          </m:sSub>
                        </m:sub>
                      </m:sSub>
                      <m:r>
                        <a:rPr lang="en-NZ" altLang="ja-JP" sz="1800" b="1" i="1" smtClean="0">
                          <a:solidFill>
                            <a:prstClr val="black"/>
                          </a:solidFill>
                          <a:latin typeface="Cambria Math" panose="02040503050406030204" pitchFamily="18" charset="0"/>
                        </a:rPr>
                        <m:t> </m:t>
                      </m:r>
                      <m:d>
                        <m:dPr>
                          <m:ctrlPr>
                            <a:rPr lang="en-NZ" altLang="ja-JP" sz="1800" b="1" i="1">
                              <a:solidFill>
                                <a:prstClr val="black"/>
                              </a:solidFill>
                              <a:latin typeface="Cambria Math" panose="02040503050406030204" pitchFamily="18" charset="0"/>
                            </a:rPr>
                          </m:ctrlPr>
                        </m:dPr>
                        <m:e>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𝟏</m:t>
                              </m:r>
                            </m:sub>
                          </m:sSub>
                          <m:r>
                            <a:rPr lang="en-NZ" altLang="ja-JP" sz="1800" b="1" i="1">
                              <a:solidFill>
                                <a:prstClr val="black"/>
                              </a:solidFill>
                              <a:latin typeface="Cambria Math" panose="02040503050406030204" pitchFamily="18" charset="0"/>
                            </a:rPr>
                            <m:t>, </m:t>
                          </m:r>
                          <m:sSub>
                            <m:sSubPr>
                              <m:ctrlPr>
                                <a:rPr lang="en-NZ" altLang="ja-JP" sz="1800" b="1" i="1">
                                  <a:solidFill>
                                    <a:prstClr val="black"/>
                                  </a:solidFill>
                                  <a:latin typeface="Cambria Math" panose="02040503050406030204" pitchFamily="18" charset="0"/>
                                </a:rPr>
                              </m:ctrlPr>
                            </m:sSubPr>
                            <m:e>
                              <m:r>
                                <a:rPr lang="en-NZ" altLang="ja-JP" sz="1800" b="1" i="1">
                                  <a:solidFill>
                                    <a:prstClr val="black"/>
                                  </a:solidFill>
                                  <a:latin typeface="Cambria Math" panose="02040503050406030204" pitchFamily="18" charset="0"/>
                                </a:rPr>
                                <m:t>𝒙</m:t>
                              </m:r>
                            </m:e>
                            <m:sub>
                              <m:r>
                                <a:rPr lang="en-NZ" altLang="ja-JP" sz="1800" b="1" i="1">
                                  <a:solidFill>
                                    <a:prstClr val="black"/>
                                  </a:solidFill>
                                  <a:latin typeface="Cambria Math" panose="02040503050406030204" pitchFamily="18" charset="0"/>
                                </a:rPr>
                                <m:t>𝟐</m:t>
                              </m:r>
                            </m:sub>
                          </m:sSub>
                        </m:e>
                      </m:d>
                      <m:r>
                        <a:rPr lang="en-NZ" altLang="ja-JP" sz="1800" b="1" i="1" smtClean="0">
                          <a:solidFill>
                            <a:prstClr val="black"/>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r>
                            <a:rPr lang="en-NZ" altLang="ja-JP" sz="1800" b="1" i="1" smtClean="0">
                              <a:solidFill>
                                <a:schemeClr val="tx1"/>
                              </a:solidFill>
                              <a:latin typeface="Cambria Math" panose="02040503050406030204" pitchFamily="18" charset="0"/>
                            </a:rPr>
                            <m:t> | </m:t>
                          </m:r>
                          <m:r>
                            <a:rPr lang="en-NZ" altLang="ja-JP" sz="1800" b="1" i="0" smtClean="0">
                              <a:solidFill>
                                <a:schemeClr val="tx1"/>
                              </a:solidFill>
                              <a:latin typeface="Cambria Math" panose="02040503050406030204" pitchFamily="18" charset="0"/>
                            </a:rPr>
                            <m:t>𝚺</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begChr m:val=""/>
                                  <m:endChr m:val="|"/>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m:t>
                                  </m:r>
                                </m:e>
                              </m:d>
                            </m:e>
                            <m:sup>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den>
                          </m:f>
                          <m:r>
                            <a:rPr lang="en-NZ" altLang="ja-JP" sz="1800" b="1" i="1" smtClean="0">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𝟐</m:t>
                                  </m:r>
                                </m:sub>
                              </m:sSub>
                            </m:e>
                          </m:d>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0" smtClean="0">
                                  <a:solidFill>
                                    <a:schemeClr val="tx1"/>
                                  </a:solidFill>
                                  <a:latin typeface="Cambria Math" panose="02040503050406030204" pitchFamily="18" charset="0"/>
                                </a:rPr>
                                <m:t>𝚺</m:t>
                              </m:r>
                            </m:e>
                            <m:sup>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𝟏</m:t>
                              </m:r>
                            </m:sup>
                          </m:sSup>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a:solidFill>
                                        <a:schemeClr val="tx1"/>
                                      </a:solidFill>
                                      <a:latin typeface="Cambria Math" panose="02040503050406030204" pitchFamily="18" charset="0"/>
                                    </a:rPr>
                                  </m:ctrlPr>
                                </m:dPr>
                                <m:e>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m:t>
                                      </m:r>
                                    </m:sub>
                                  </m:sSub>
                                  <m:r>
                                    <a:rPr lang="en-NZ" altLang="ja-JP" sz="1800" b="1" i="1">
                                      <a:solidFill>
                                        <a:schemeClr val="tx1"/>
                                      </a:solidFill>
                                      <a:latin typeface="Cambria Math" panose="02040503050406030204" pitchFamily="18" charset="0"/>
                                    </a:rPr>
                                    <m:t>,  </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𝟐</m:t>
                                      </m:r>
                                    </m:sub>
                                  </m:sSub>
                                </m:e>
                              </m:d>
                            </m:e>
                            <m:sup>
                              <m:r>
                                <a:rPr lang="en-NZ" altLang="ja-JP" sz="1800" b="1" i="1" smtClean="0">
                                  <a:solidFill>
                                    <a:schemeClr val="tx1"/>
                                  </a:solidFill>
                                  <a:latin typeface="Cambria Math" panose="02040503050406030204" pitchFamily="18" charset="0"/>
                                </a:rPr>
                                <m:t>𝑻</m:t>
                              </m:r>
                            </m:sup>
                          </m:sSup>
                        </m:sup>
                      </m:sSup>
                      <m:r>
                        <a:rPr lang="en-NZ" altLang="ja-JP" sz="1800" b="1" i="1" smtClean="0">
                          <a:solidFill>
                            <a:schemeClr val="tx1"/>
                          </a:solidFill>
                          <a:latin typeface="Cambria Math" panose="02040503050406030204" pitchFamily="18" charset="0"/>
                        </a:rPr>
                        <m:t>  =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r>
                            <a:rPr lang="en-NZ" altLang="ja-JP" sz="1800" b="1" i="1" smtClean="0">
                              <a:solidFill>
                                <a:schemeClr val="tx1"/>
                              </a:solidFill>
                              <a:latin typeface="Cambria Math" panose="02040503050406030204" pitchFamily="18" charset="0"/>
                            </a:rPr>
                            <m:t>𝝅</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d>
                                <m:dPr>
                                  <m:ctrlPr>
                                    <a:rPr lang="en-NZ" altLang="ja-JP" sz="1800" b="1" i="1" smtClean="0">
                                      <a:solidFill>
                                        <a:schemeClr val="tx1"/>
                                      </a:solidFill>
                                      <a:latin typeface="Cambria Math" panose="02040503050406030204" pitchFamily="18" charset="0"/>
                                    </a:rPr>
                                  </m:ctrlPr>
                                </m:dPr>
                                <m:e>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𝝆</m:t>
                                      </m:r>
                                    </m:e>
                                    <m:sup>
                                      <m:r>
                                        <a:rPr lang="en-NZ" altLang="ja-JP" sz="1800" b="1" i="1" smtClean="0">
                                          <a:solidFill>
                                            <a:schemeClr val="tx1"/>
                                          </a:solidFill>
                                          <a:latin typeface="Cambria Math" panose="02040503050406030204" pitchFamily="18" charset="0"/>
                                        </a:rPr>
                                        <m:t>𝟐</m:t>
                                      </m:r>
                                    </m:sup>
                                  </m:sSup>
                                </m:e>
                              </m:d>
                            </m:e>
                            <m:sup>
                              <m:r>
                                <a:rPr lang="en-NZ" altLang="ja-JP" sz="1800" b="1" i="1" smtClean="0">
                                  <a:solidFill>
                                    <a:schemeClr val="tx1"/>
                                  </a:solidFill>
                                  <a:latin typeface="Cambria Math" panose="02040503050406030204" pitchFamily="18" charset="0"/>
                                </a:rPr>
                                <m:t>𝟏</m:t>
                              </m:r>
                              <m:r>
                                <a:rPr lang="en-NZ" altLang="ja-JP" sz="1800" b="1" i="1" smtClean="0">
                                  <a:solidFill>
                                    <a:schemeClr val="tx1"/>
                                  </a:solidFill>
                                  <a:latin typeface="Cambria Math" panose="02040503050406030204" pitchFamily="18" charset="0"/>
                                </a:rPr>
                                <m:t>/</m:t>
                              </m:r>
                              <m:r>
                                <a:rPr lang="en-NZ" altLang="ja-JP" sz="1800" b="1" i="1" smtClean="0">
                                  <a:solidFill>
                                    <a:schemeClr val="tx1"/>
                                  </a:solidFill>
                                  <a:latin typeface="Cambria Math" panose="02040503050406030204" pitchFamily="18" charset="0"/>
                                </a:rPr>
                                <m:t>𝟐</m:t>
                              </m:r>
                            </m:sup>
                          </m:sSup>
                        </m:den>
                      </m:f>
                      <m:r>
                        <a:rPr lang="en-NZ" altLang="ja-JP" sz="1800" b="1" i="1" smtClean="0">
                          <a:solidFill>
                            <a:schemeClr val="tx1"/>
                          </a:solidFill>
                          <a:latin typeface="Cambria Math" panose="02040503050406030204" pitchFamily="18" charset="0"/>
                        </a:rPr>
                        <m:t>  </m:t>
                      </m:r>
                      <m:sSup>
                        <m:sSupPr>
                          <m:ctrlPr>
                            <a:rPr lang="en-NZ" altLang="ja-JP" sz="1800" b="1" i="1" smtClean="0">
                              <a:solidFill>
                                <a:schemeClr val="tx1"/>
                              </a:solidFill>
                              <a:latin typeface="Cambria Math" panose="02040503050406030204" pitchFamily="18" charset="0"/>
                            </a:rPr>
                          </m:ctrlPr>
                        </m:sSupPr>
                        <m:e>
                          <m:r>
                            <a:rPr lang="en-NZ" altLang="ja-JP" sz="1800" b="1" i="1" smtClean="0">
                              <a:solidFill>
                                <a:schemeClr val="tx1"/>
                              </a:solidFill>
                              <a:latin typeface="Cambria Math" panose="02040503050406030204" pitchFamily="18" charset="0"/>
                            </a:rPr>
                            <m:t>𝒆</m:t>
                          </m:r>
                        </m:e>
                        <m:sup>
                          <m:r>
                            <a:rPr lang="en-NZ" altLang="ja-JP" sz="1800" b="1" i="1" smtClean="0">
                              <a:solidFill>
                                <a:schemeClr val="tx1"/>
                              </a:solidFill>
                              <a:latin typeface="Cambria Math" panose="02040503050406030204" pitchFamily="18" charset="0"/>
                            </a:rPr>
                            <m:t>− </m:t>
                          </m:r>
                          <m:f>
                            <m:fPr>
                              <m:ctrlPr>
                                <a:rPr lang="en-NZ" altLang="ja-JP" sz="1800" b="1" i="1" smtClean="0">
                                  <a:solidFill>
                                    <a:schemeClr val="tx1"/>
                                  </a:solidFill>
                                  <a:latin typeface="Cambria Math" panose="02040503050406030204" pitchFamily="18" charset="0"/>
                                </a:rPr>
                              </m:ctrlPr>
                            </m:fPr>
                            <m:num>
                              <m:r>
                                <a:rPr lang="en-NZ" altLang="ja-JP" sz="1800" b="1" i="1" smtClean="0">
                                  <a:solidFill>
                                    <a:schemeClr val="tx1"/>
                                  </a:solidFill>
                                  <a:latin typeface="Cambria Math" panose="02040503050406030204" pitchFamily="18" charset="0"/>
                                </a:rPr>
                                <m:t>𝟏</m:t>
                              </m:r>
                            </m:num>
                            <m:den>
                              <m:r>
                                <a:rPr lang="en-NZ" altLang="ja-JP" sz="1800" b="1" i="1" smtClean="0">
                                  <a:solidFill>
                                    <a:schemeClr val="tx1"/>
                                  </a:solidFill>
                                  <a:latin typeface="Cambria Math" panose="02040503050406030204" pitchFamily="18" charset="0"/>
                                </a:rPr>
                                <m:t>𝟐</m:t>
                              </m:r>
                              <m:r>
                                <a:rPr lang="en-NZ" altLang="ja-JP" sz="1800" b="1" i="1" smtClean="0">
                                  <a:solidFill>
                                    <a:schemeClr val="tx1"/>
                                  </a:solidFill>
                                  <a:latin typeface="Cambria Math" panose="02040503050406030204" pitchFamily="18" charset="0"/>
                                </a:rPr>
                                <m:t> </m:t>
                              </m:r>
                              <m:d>
                                <m:dPr>
                                  <m:ctrlPr>
                                    <a:rPr lang="en-NZ" altLang="ja-JP" sz="1800" b="1" i="1">
                                      <a:solidFill>
                                        <a:schemeClr val="tx1"/>
                                      </a:solidFill>
                                      <a:latin typeface="Cambria Math" panose="02040503050406030204" pitchFamily="18" charset="0"/>
                                    </a:rPr>
                                  </m:ctrlPr>
                                </m:dPr>
                                <m:e>
                                  <m:r>
                                    <a:rPr lang="en-NZ" altLang="ja-JP" sz="1800" b="1" i="1">
                                      <a:solidFill>
                                        <a:schemeClr val="tx1"/>
                                      </a:solidFill>
                                      <a:latin typeface="Cambria Math" panose="02040503050406030204" pitchFamily="18" charset="0"/>
                                    </a:rPr>
                                    <m:t>𝟏</m:t>
                                  </m:r>
                                  <m:r>
                                    <a:rPr lang="en-NZ" altLang="ja-JP" sz="1800" b="1" i="1">
                                      <a:solidFill>
                                        <a:schemeClr val="tx1"/>
                                      </a:solidFill>
                                      <a:latin typeface="Cambria Math" panose="02040503050406030204" pitchFamily="18" charset="0"/>
                                    </a:rPr>
                                    <m:t> −</m:t>
                                  </m:r>
                                  <m:sSup>
                                    <m:sSupPr>
                                      <m:ctrlPr>
                                        <a:rPr lang="en-NZ" altLang="ja-JP" sz="1800" b="1" i="1">
                                          <a:solidFill>
                                            <a:schemeClr val="tx1"/>
                                          </a:solidFill>
                                          <a:latin typeface="Cambria Math" panose="02040503050406030204" pitchFamily="18" charset="0"/>
                                        </a:rPr>
                                      </m:ctrlPr>
                                    </m:sSupPr>
                                    <m:e>
                                      <m:r>
                                        <a:rPr lang="en-NZ" altLang="ja-JP" sz="1800" b="1" i="1">
                                          <a:solidFill>
                                            <a:schemeClr val="tx1"/>
                                          </a:solidFill>
                                          <a:latin typeface="Cambria Math" panose="02040503050406030204" pitchFamily="18" charset="0"/>
                                        </a:rPr>
                                        <m:t>𝝆</m:t>
                                      </m:r>
                                    </m:e>
                                    <m:sup>
                                      <m:r>
                                        <a:rPr lang="en-NZ" altLang="ja-JP" sz="1800" b="1" i="1">
                                          <a:solidFill>
                                            <a:schemeClr val="tx1"/>
                                          </a:solidFill>
                                          <a:latin typeface="Cambria Math" panose="02040503050406030204" pitchFamily="18" charset="0"/>
                                        </a:rPr>
                                        <m:t>𝟐</m:t>
                                      </m:r>
                                    </m:sup>
                                  </m:sSup>
                                </m:e>
                              </m:d>
                            </m:den>
                          </m:f>
                          <m:r>
                            <a:rPr lang="en-NZ" altLang="ja-JP" sz="1800" b="1" i="1" smtClean="0">
                              <a:solidFill>
                                <a:schemeClr val="tx1"/>
                              </a:solidFill>
                              <a:latin typeface="Cambria Math" panose="02040503050406030204" pitchFamily="18" charset="0"/>
                            </a:rPr>
                            <m:t> </m:t>
                          </m:r>
                          <m:d>
                            <m:dPr>
                              <m:ctrlPr>
                                <a:rPr lang="en-NZ" altLang="ja-JP" sz="1800" b="1" i="1" smtClean="0">
                                  <a:solidFill>
                                    <a:schemeClr val="tx1"/>
                                  </a:solidFill>
                                  <a:latin typeface="Cambria Math" panose="02040503050406030204" pitchFamily="18" charset="0"/>
                                </a:rPr>
                              </m:ctrlPr>
                            </m:dPr>
                            <m:e>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𝟏</m:t>
                                  </m:r>
                                </m:sub>
                                <m:sup>
                                  <m:r>
                                    <a:rPr lang="en-NZ" altLang="ja-JP" sz="1800" b="1" i="1">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 +  </m:t>
                              </m:r>
                              <m:sSubSup>
                                <m:sSubSupPr>
                                  <m:ctrlPr>
                                    <a:rPr lang="en-NZ" altLang="ja-JP" sz="1800" b="1" i="1">
                                      <a:solidFill>
                                        <a:schemeClr val="tx1"/>
                                      </a:solidFill>
                                      <a:latin typeface="Cambria Math" panose="02040503050406030204" pitchFamily="18" charset="0"/>
                                    </a:rPr>
                                  </m:ctrlPr>
                                </m:sSubSup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𝟐</m:t>
                                  </m:r>
                                </m:sub>
                                <m:sup>
                                  <m:r>
                                    <a:rPr lang="en-NZ" altLang="ja-JP" sz="1800" b="1" i="1">
                                      <a:solidFill>
                                        <a:schemeClr val="tx1"/>
                                      </a:solidFill>
                                      <a:latin typeface="Cambria Math" panose="02040503050406030204" pitchFamily="18" charset="0"/>
                                    </a:rPr>
                                    <m:t>𝟐</m:t>
                                  </m:r>
                                </m:sup>
                              </m:sSubSup>
                              <m:r>
                                <a:rPr lang="en-NZ" altLang="ja-JP" sz="1800" b="1" i="1">
                                  <a:solidFill>
                                    <a:schemeClr val="tx1"/>
                                  </a:solidFill>
                                  <a:latin typeface="Cambria Math" panose="02040503050406030204" pitchFamily="18" charset="0"/>
                                </a:rPr>
                                <m:t>   − </m:t>
                              </m:r>
                              <m:r>
                                <a:rPr lang="en-NZ" altLang="ja-JP" sz="1800" b="1" i="1">
                                  <a:solidFill>
                                    <a:schemeClr val="tx1"/>
                                  </a:solidFill>
                                  <a:latin typeface="Cambria Math" panose="02040503050406030204" pitchFamily="18" charset="0"/>
                                </a:rPr>
                                <m:t>𝟐</m:t>
                              </m:r>
                              <m:r>
                                <a:rPr lang="en-NZ" altLang="ja-JP" sz="1800" b="1" i="1">
                                  <a:solidFill>
                                    <a:schemeClr val="tx1"/>
                                  </a:solidFill>
                                  <a:latin typeface="Cambria Math" panose="02040503050406030204" pitchFamily="18" charset="0"/>
                                </a:rPr>
                                <m:t>  </m:t>
                              </m:r>
                              <m:r>
                                <a:rPr lang="en-NZ" altLang="ja-JP" sz="1800" b="1" i="1">
                                  <a:solidFill>
                                    <a:schemeClr val="tx1"/>
                                  </a:solidFill>
                                  <a:latin typeface="Cambria Math" panose="02040503050406030204" pitchFamily="18" charset="0"/>
                                </a:rPr>
                                <m:t>𝝆</m:t>
                              </m:r>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𝟏</m:t>
                                  </m:r>
                                </m:sub>
                              </m:sSub>
                              <m:sSub>
                                <m:sSubPr>
                                  <m:ctrlPr>
                                    <a:rPr lang="en-NZ" altLang="ja-JP" sz="1800" b="1" i="1">
                                      <a:solidFill>
                                        <a:schemeClr val="tx1"/>
                                      </a:solidFill>
                                      <a:latin typeface="Cambria Math" panose="02040503050406030204" pitchFamily="18" charset="0"/>
                                    </a:rPr>
                                  </m:ctrlPr>
                                </m:sSubPr>
                                <m:e>
                                  <m:r>
                                    <a:rPr lang="en-NZ" altLang="ja-JP" sz="1800" b="1" i="1">
                                      <a:solidFill>
                                        <a:schemeClr val="tx1"/>
                                      </a:solidFill>
                                      <a:latin typeface="Cambria Math" panose="02040503050406030204" pitchFamily="18" charset="0"/>
                                    </a:rPr>
                                    <m:t>𝒙</m:t>
                                  </m:r>
                                </m:e>
                                <m:sub>
                                  <m:r>
                                    <a:rPr lang="en-NZ" altLang="ja-JP" sz="1800" b="1" i="1">
                                      <a:solidFill>
                                        <a:schemeClr val="tx1"/>
                                      </a:solidFill>
                                      <a:latin typeface="Cambria Math" panose="02040503050406030204" pitchFamily="18" charset="0"/>
                                    </a:rPr>
                                    <m:t>𝟐</m:t>
                                  </m:r>
                                </m:sub>
                              </m:sSub>
                            </m:e>
                          </m:d>
                        </m:sup>
                      </m:sSup>
                    </m:oMath>
                  </m:oMathPara>
                </a14:m>
                <a:endParaRPr lang="en-NZ" altLang="ja-JP" sz="1800" dirty="0">
                  <a:solidFill>
                    <a:schemeClr val="tx1"/>
                  </a:solidFill>
                </a:endParaRPr>
              </a:p>
            </p:txBody>
          </p:sp>
        </mc:Choice>
        <mc:Fallback xmlns="">
          <p:sp>
            <p:nvSpPr>
              <p:cNvPr id="7" name="Text Placeholder 5">
                <a:extLst>
                  <a:ext uri="{FF2B5EF4-FFF2-40B4-BE49-F238E27FC236}">
                    <a16:creationId xmlns:a16="http://schemas.microsoft.com/office/drawing/2014/main" id="{B9D33E9A-1593-958D-CC76-F05904836DE7}"/>
                  </a:ext>
                </a:extLst>
              </p:cNvPr>
              <p:cNvSpPr txBox="1">
                <a:spLocks noRot="1" noChangeAspect="1" noMove="1" noResize="1" noEditPoints="1" noAdjustHandles="1" noChangeArrowheads="1" noChangeShapeType="1" noTextEdit="1"/>
              </p:cNvSpPr>
              <p:nvPr/>
            </p:nvSpPr>
            <p:spPr>
              <a:xfrm>
                <a:off x="386173" y="2291496"/>
                <a:ext cx="11419655" cy="942136"/>
              </a:xfrm>
              <a:prstGeom prst="rect">
                <a:avLst/>
              </a:prstGeom>
              <a:blipFill>
                <a:blip r:embed="rId5"/>
                <a:stretch>
                  <a:fillRect/>
                </a:stretch>
              </a:blipFill>
            </p:spPr>
            <p:txBody>
              <a:bodyPr/>
              <a:lstStyle/>
              <a:p>
                <a:r>
                  <a:rPr lang="en-NZ">
                    <a:noFill/>
                  </a:rPr>
                  <a:t> </a:t>
                </a:r>
              </a:p>
            </p:txBody>
          </p:sp>
        </mc:Fallback>
      </mc:AlternateContent>
      <p:sp>
        <p:nvSpPr>
          <p:cNvPr id="9" name="Text Placeholder 5">
            <a:extLst>
              <a:ext uri="{FF2B5EF4-FFF2-40B4-BE49-F238E27FC236}">
                <a16:creationId xmlns:a16="http://schemas.microsoft.com/office/drawing/2014/main" id="{FF101035-4685-5DB9-2A49-2A267A98C2C4}"/>
              </a:ext>
            </a:extLst>
          </p:cNvPr>
          <p:cNvSpPr txBox="1">
            <a:spLocks/>
          </p:cNvSpPr>
          <p:nvPr/>
        </p:nvSpPr>
        <p:spPr>
          <a:xfrm>
            <a:off x="319463" y="3321526"/>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prstClr val="black"/>
                </a:solidFill>
                <a:latin typeface="Calibri" panose="020F0502020204030204"/>
                <a:ea typeface="游ゴシック" panose="020B0400000000000000" pitchFamily="34" charset="-128"/>
              </a:rPr>
              <a:t>… such that the relevant marginal densities are given by …</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2EF0419C-3978-29CE-2C43-0C66E00399C3}"/>
                  </a:ext>
                </a:extLst>
              </p:cNvPr>
              <p:cNvSpPr txBox="1">
                <a:spLocks/>
              </p:cNvSpPr>
              <p:nvPr/>
            </p:nvSpPr>
            <p:spPr>
              <a:xfrm>
                <a:off x="319463" y="3676088"/>
                <a:ext cx="5481850" cy="879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num>
                        <m:den>
                          <m:rad>
                            <m:radPr>
                              <m:degHide m:val="o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radPr>
                            <m:deg/>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𝝅</m:t>
                              </m:r>
                            </m:e>
                          </m:rad>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𝟐</m:t>
                                  </m:r>
                                </m:sup>
                              </m:sSubSup>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den>
                          </m:f>
                        </m:sup>
                      </m:sSup>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13" name="Text Placeholder 5">
                <a:extLst>
                  <a:ext uri="{FF2B5EF4-FFF2-40B4-BE49-F238E27FC236}">
                    <a16:creationId xmlns:a16="http://schemas.microsoft.com/office/drawing/2014/main" id="{2EF0419C-3978-29CE-2C43-0C66E00399C3}"/>
                  </a:ext>
                </a:extLst>
              </p:cNvPr>
              <p:cNvSpPr txBox="1">
                <a:spLocks noRot="1" noChangeAspect="1" noMove="1" noResize="1" noEditPoints="1" noAdjustHandles="1" noChangeArrowheads="1" noChangeShapeType="1" noTextEdit="1"/>
              </p:cNvSpPr>
              <p:nvPr/>
            </p:nvSpPr>
            <p:spPr>
              <a:xfrm>
                <a:off x="319463" y="3676088"/>
                <a:ext cx="5481850" cy="879854"/>
              </a:xfrm>
              <a:prstGeom prst="rect">
                <a:avLst/>
              </a:prstGeom>
              <a:blipFill>
                <a:blip r:embed="rId6"/>
                <a:stretch>
                  <a:fillRect/>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14666AA-DD1D-B580-E265-916FE793E1C9}"/>
              </a:ext>
            </a:extLst>
          </p:cNvPr>
          <p:cNvSpPr txBox="1">
            <a:spLocks/>
          </p:cNvSpPr>
          <p:nvPr/>
        </p:nvSpPr>
        <p:spPr>
          <a:xfrm>
            <a:off x="319463" y="4759334"/>
            <a:ext cx="11608680"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and hence the associated conditional distributions can be calculated as</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44FE2F7D-C359-DD66-16A7-980B21EB0619}"/>
                  </a:ext>
                </a:extLst>
              </p:cNvPr>
              <p:cNvSpPr txBox="1">
                <a:spLocks/>
              </p:cNvSpPr>
              <p:nvPr/>
            </p:nvSpPr>
            <p:spPr>
              <a:xfrm>
                <a:off x="6065962" y="3674352"/>
                <a:ext cx="5481850" cy="8798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nary>
                        <m:naryPr>
                          <m:limLoc m:val="undOv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naryPr>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m:rPr>
                              <m:brk m:alnAt="24"/>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b>
                        <m:sup>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𝟐</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e>
                          </m:d>
                        </m:e>
                      </m:nary>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𝒅</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num>
                        <m:den>
                          <m:rad>
                            <m:radPr>
                              <m:degHide m:val="o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radPr>
                            <m:deg/>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𝝅</m:t>
                              </m:r>
                            </m:e>
                          </m:rad>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𝟐</m:t>
                                  </m:r>
                                </m:sup>
                              </m:sSubSup>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den>
                          </m:f>
                        </m:sup>
                      </m:sSup>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20" name="Text Placeholder 5">
                <a:extLst>
                  <a:ext uri="{FF2B5EF4-FFF2-40B4-BE49-F238E27FC236}">
                    <a16:creationId xmlns:a16="http://schemas.microsoft.com/office/drawing/2014/main" id="{44FE2F7D-C359-DD66-16A7-980B21EB0619}"/>
                  </a:ext>
                </a:extLst>
              </p:cNvPr>
              <p:cNvSpPr txBox="1">
                <a:spLocks noRot="1" noChangeAspect="1" noMove="1" noResize="1" noEditPoints="1" noAdjustHandles="1" noChangeArrowheads="1" noChangeShapeType="1" noTextEdit="1"/>
              </p:cNvSpPr>
              <p:nvPr/>
            </p:nvSpPr>
            <p:spPr>
              <a:xfrm>
                <a:off x="6065962" y="3674352"/>
                <a:ext cx="5481850" cy="879854"/>
              </a:xfrm>
              <a:prstGeom prst="rect">
                <a:avLst/>
              </a:prstGeom>
              <a:blipFill>
                <a:blip r:embed="rId8"/>
                <a:stretch>
                  <a:fillRect/>
                </a:stretch>
              </a:blipFill>
            </p:spPr>
            <p:txBody>
              <a:bodyPr/>
              <a:lstStyle/>
              <a:p>
                <a:r>
                  <a:rPr lang="en-NZ">
                    <a:noFill/>
                  </a:rPr>
                  <a:t> </a:t>
                </a:r>
              </a:p>
            </p:txBody>
          </p:sp>
        </mc:Fallback>
      </mc:AlternateContent>
      <p:sp>
        <p:nvSpPr>
          <p:cNvPr id="22" name="Text Placeholder 5">
            <a:extLst>
              <a:ext uri="{FF2B5EF4-FFF2-40B4-BE49-F238E27FC236}">
                <a16:creationId xmlns:a16="http://schemas.microsoft.com/office/drawing/2014/main" id="{52EA7606-8BAC-BA3D-0107-8E5DA1003A36}"/>
              </a:ext>
            </a:extLst>
          </p:cNvPr>
          <p:cNvSpPr txBox="1">
            <a:spLocks/>
          </p:cNvSpPr>
          <p:nvPr/>
        </p:nvSpPr>
        <p:spPr>
          <a:xfrm>
            <a:off x="291660" y="6048567"/>
            <a:ext cx="11608680" cy="3925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100" i="1" noProof="0" dirty="0">
                <a:solidFill>
                  <a:schemeClr val="bg2">
                    <a:lumMod val="50000"/>
                  </a:schemeClr>
                </a:solidFill>
                <a:latin typeface="Calibri" panose="020F0502020204030204"/>
                <a:ea typeface="游ゴシック" panose="020B0400000000000000" pitchFamily="34" charset="-128"/>
              </a:rPr>
              <a:t>A proof of these statements is available as additional material on Blackboard (see document entitled “Additional Proofs” in relevant Course Content section</a:t>
            </a:r>
            <a:endParaRPr kumimoji="1" lang="en-US" altLang="ja-JP" sz="11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E41C1D20-B2D9-8105-D1A9-E278DA615135}"/>
                  </a:ext>
                </a:extLst>
              </p:cNvPr>
              <p:cNvSpPr txBox="1">
                <a:spLocks/>
              </p:cNvSpPr>
              <p:nvPr/>
            </p:nvSpPr>
            <p:spPr>
              <a:xfrm>
                <a:off x="263857" y="5096673"/>
                <a:ext cx="6026418"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𝒇</m:t>
                          </m:r>
                        </m:e>
                        <m:sub>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𝟏</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m:t>
                          </m:r>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𝟐</m:t>
                              </m:r>
                            </m:sub>
                          </m:sSub>
                        </m:sub>
                      </m:s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d>
                        <m:d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dPr>
                        <m:e>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𝟏</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𝟐</m:t>
                              </m:r>
                            </m:sub>
                          </m:sSub>
                        </m:e>
                      </m:d>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f>
                        <m:fPr>
                          <m:ctrlPr>
                            <a:rPr lang="en-NZ" altLang="ja-JP" sz="1400" b="1" i="1">
                              <a:solidFill>
                                <a:srgbClr val="0070C0"/>
                              </a:solidFill>
                              <a:latin typeface="Cambria Math" panose="02040503050406030204" pitchFamily="18" charset="0"/>
                            </a:rPr>
                          </m:ctrlPr>
                        </m:fPr>
                        <m:num>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𝒆</m:t>
                              </m:r>
                            </m:e>
                            <m:sup>
                              <m:r>
                                <a:rPr lang="en-NZ" altLang="ja-JP" sz="1400" b="1" i="1">
                                  <a:solidFill>
                                    <a:srgbClr val="0070C0"/>
                                  </a:solidFill>
                                  <a:latin typeface="Cambria Math" panose="02040503050406030204" pitchFamily="18" charset="0"/>
                                </a:rPr>
                                <m:t>− </m:t>
                              </m:r>
                              <m:f>
                                <m:fPr>
                                  <m:ctrlPr>
                                    <a:rPr lang="en-NZ" altLang="ja-JP" sz="1400" b="1" i="1">
                                      <a:solidFill>
                                        <a:srgbClr val="0070C0"/>
                                      </a:solidFill>
                                      <a:latin typeface="Cambria Math" panose="02040503050406030204" pitchFamily="18" charset="0"/>
                                    </a:rPr>
                                  </m:ctrlPr>
                                </m:fPr>
                                <m:num>
                                  <m:r>
                                    <a:rPr lang="en-NZ" altLang="ja-JP" sz="1400" b="1" i="1">
                                      <a:solidFill>
                                        <a:srgbClr val="0070C0"/>
                                      </a:solidFill>
                                      <a:latin typeface="Cambria Math" panose="02040503050406030204" pitchFamily="18" charset="0"/>
                                    </a:rPr>
                                    <m:t>𝟏</m:t>
                                  </m:r>
                                </m:num>
                                <m:den>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den>
                              </m:f>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𝟏</m:t>
                                          </m:r>
                                        </m:sub>
                                      </m:sSub>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𝟐</m:t>
                                          </m:r>
                                        </m:sub>
                                      </m:sSub>
                                    </m:e>
                                  </m:d>
                                </m:e>
                                <m:sup>
                                  <m:r>
                                    <a:rPr lang="en-NZ" altLang="ja-JP" sz="1400" b="1" i="1">
                                      <a:solidFill>
                                        <a:srgbClr val="0070C0"/>
                                      </a:solidFill>
                                      <a:latin typeface="Cambria Math" panose="02040503050406030204" pitchFamily="18" charset="0"/>
                                    </a:rPr>
                                    <m:t>𝟐</m:t>
                                  </m:r>
                                </m:sup>
                              </m:sSup>
                            </m:sup>
                          </m:sSup>
                        </m:num>
                        <m:den>
                          <m:rad>
                            <m:radPr>
                              <m:degHide m:val="on"/>
                              <m:ctrlPr>
                                <a:rPr lang="en-NZ" altLang="ja-JP" sz="1400" b="1" i="1">
                                  <a:solidFill>
                                    <a:srgbClr val="0070C0"/>
                                  </a:solidFill>
                                  <a:latin typeface="Cambria Math" panose="02040503050406030204" pitchFamily="18" charset="0"/>
                                </a:rPr>
                              </m:ctrlPr>
                            </m:radPr>
                            <m:deg/>
                            <m:e>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𝝅</m:t>
                              </m:r>
                            </m:e>
                          </m:rad>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e>
                            <m:sup>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m:t>
                              </m:r>
                              <m:r>
                                <a:rPr lang="en-NZ" altLang="ja-JP" sz="1400" b="1" i="1">
                                  <a:solidFill>
                                    <a:srgbClr val="0070C0"/>
                                  </a:solidFill>
                                  <a:latin typeface="Cambria Math" panose="02040503050406030204" pitchFamily="18" charset="0"/>
                                </a:rPr>
                                <m:t>𝟐</m:t>
                              </m:r>
                            </m:sup>
                          </m:sSup>
                        </m:den>
                      </m:f>
                      <m:r>
                        <a:rPr lang="en-NZ" altLang="ja-JP" sz="1400" b="1" i="1" smtClean="0">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𝑵</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smtClean="0">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smtClean="0">
                              <a:solidFill>
                                <a:srgbClr val="0070C0"/>
                              </a:solidFill>
                              <a:latin typeface="Cambria Math" panose="02040503050406030204" pitchFamily="18" charset="0"/>
                            </a:rPr>
                            <m:t>𝟐</m:t>
                          </m:r>
                        </m:sub>
                      </m:sSub>
                      <m:r>
                        <a:rPr lang="en-NZ" altLang="ja-JP" sz="1400" b="1" i="1">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r>
                        <a:rPr lang="en-NZ" altLang="ja-JP" sz="1400" b="1" i="1">
                          <a:solidFill>
                            <a:srgbClr val="0070C0"/>
                          </a:solidFill>
                          <a:latin typeface="Cambria Math" panose="02040503050406030204" pitchFamily="18" charset="0"/>
                        </a:rPr>
                        <m:t>)</m:t>
                      </m:r>
                    </m:oMath>
                  </m:oMathPara>
                </a14:m>
                <a:endParaRPr kumimoji="1" lang="en-NZ"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8" name="Text Placeholder 5">
                <a:extLst>
                  <a:ext uri="{FF2B5EF4-FFF2-40B4-BE49-F238E27FC236}">
                    <a16:creationId xmlns:a16="http://schemas.microsoft.com/office/drawing/2014/main" id="{E41C1D20-B2D9-8105-D1A9-E278DA615135}"/>
                  </a:ext>
                </a:extLst>
              </p:cNvPr>
              <p:cNvSpPr txBox="1">
                <a:spLocks noRot="1" noChangeAspect="1" noMove="1" noResize="1" noEditPoints="1" noAdjustHandles="1" noChangeArrowheads="1" noChangeShapeType="1" noTextEdit="1"/>
              </p:cNvSpPr>
              <p:nvPr/>
            </p:nvSpPr>
            <p:spPr>
              <a:xfrm>
                <a:off x="263857" y="5096673"/>
                <a:ext cx="6026418" cy="886221"/>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25DDF267-257A-C8E4-2BFB-E02D9669405A}"/>
                  </a:ext>
                </a:extLst>
              </p:cNvPr>
              <p:cNvSpPr txBox="1">
                <a:spLocks/>
              </p:cNvSpPr>
              <p:nvPr/>
            </p:nvSpPr>
            <p:spPr>
              <a:xfrm>
                <a:off x="5923783" y="5099883"/>
                <a:ext cx="6165582"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𝒇</m:t>
                          </m:r>
                        </m:e>
                        <m:sub>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𝟐</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m:t>
                          </m:r>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𝟏</m:t>
                              </m:r>
                            </m:sub>
                          </m:sSub>
                        </m:sub>
                      </m:s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d>
                        <m:d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dPr>
                        <m:e>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𝟐</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𝟏</m:t>
                              </m:r>
                            </m:sub>
                          </m:sSub>
                        </m:e>
                      </m:d>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f>
                        <m:fPr>
                          <m:ctrlPr>
                            <a:rPr lang="en-NZ" altLang="ja-JP" sz="1400" b="1" i="1">
                              <a:solidFill>
                                <a:srgbClr val="0070C0"/>
                              </a:solidFill>
                              <a:latin typeface="Cambria Math" panose="02040503050406030204" pitchFamily="18" charset="0"/>
                            </a:rPr>
                          </m:ctrlPr>
                        </m:fPr>
                        <m:num>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𝒆</m:t>
                              </m:r>
                            </m:e>
                            <m:sup>
                              <m:r>
                                <a:rPr lang="en-NZ" altLang="ja-JP" sz="1400" b="1" i="1">
                                  <a:solidFill>
                                    <a:srgbClr val="0070C0"/>
                                  </a:solidFill>
                                  <a:latin typeface="Cambria Math" panose="02040503050406030204" pitchFamily="18" charset="0"/>
                                </a:rPr>
                                <m:t>− </m:t>
                              </m:r>
                              <m:f>
                                <m:fPr>
                                  <m:ctrlPr>
                                    <a:rPr lang="en-NZ" altLang="ja-JP" sz="1400" b="1" i="1">
                                      <a:solidFill>
                                        <a:srgbClr val="0070C0"/>
                                      </a:solidFill>
                                      <a:latin typeface="Cambria Math" panose="02040503050406030204" pitchFamily="18" charset="0"/>
                                    </a:rPr>
                                  </m:ctrlPr>
                                </m:fPr>
                                <m:num>
                                  <m:r>
                                    <a:rPr lang="en-NZ" altLang="ja-JP" sz="1400" b="1" i="1">
                                      <a:solidFill>
                                        <a:srgbClr val="0070C0"/>
                                      </a:solidFill>
                                      <a:latin typeface="Cambria Math" panose="02040503050406030204" pitchFamily="18" charset="0"/>
                                    </a:rPr>
                                    <m:t>𝟏</m:t>
                                  </m:r>
                                </m:num>
                                <m:den>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den>
                              </m:f>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𝟐</m:t>
                                          </m:r>
                                        </m:sub>
                                      </m:sSub>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𝟏</m:t>
                                          </m:r>
                                        </m:sub>
                                      </m:sSub>
                                    </m:e>
                                  </m:d>
                                </m:e>
                                <m:sup>
                                  <m:r>
                                    <a:rPr lang="en-NZ" altLang="ja-JP" sz="1400" b="1" i="1">
                                      <a:solidFill>
                                        <a:srgbClr val="0070C0"/>
                                      </a:solidFill>
                                      <a:latin typeface="Cambria Math" panose="02040503050406030204" pitchFamily="18" charset="0"/>
                                    </a:rPr>
                                    <m:t>𝟐</m:t>
                                  </m:r>
                                </m:sup>
                              </m:sSup>
                            </m:sup>
                          </m:sSup>
                        </m:num>
                        <m:den>
                          <m:rad>
                            <m:radPr>
                              <m:degHide m:val="on"/>
                              <m:ctrlPr>
                                <a:rPr lang="en-NZ" altLang="ja-JP" sz="1400" b="1" i="1">
                                  <a:solidFill>
                                    <a:srgbClr val="0070C0"/>
                                  </a:solidFill>
                                  <a:latin typeface="Cambria Math" panose="02040503050406030204" pitchFamily="18" charset="0"/>
                                </a:rPr>
                              </m:ctrlPr>
                            </m:radPr>
                            <m:deg/>
                            <m:e>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𝝅</m:t>
                              </m:r>
                            </m:e>
                          </m:rad>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e>
                            <m:sup>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m:t>
                              </m:r>
                              <m:r>
                                <a:rPr lang="en-NZ" altLang="ja-JP" sz="1400" b="1" i="1">
                                  <a:solidFill>
                                    <a:srgbClr val="0070C0"/>
                                  </a:solidFill>
                                  <a:latin typeface="Cambria Math" panose="02040503050406030204" pitchFamily="18" charset="0"/>
                                </a:rPr>
                                <m:t>𝟐</m:t>
                              </m:r>
                            </m:sup>
                          </m:sSup>
                        </m:den>
                      </m:f>
                      <m:r>
                        <a:rPr lang="en-NZ" altLang="ja-JP" sz="1400" b="1" i="1" smtClean="0">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𝑵</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smtClean="0">
                              <a:solidFill>
                                <a:srgbClr val="0070C0"/>
                              </a:solidFill>
                              <a:latin typeface="Cambria Math" panose="02040503050406030204" pitchFamily="18" charset="0"/>
                            </a:rPr>
                            <m:t>𝟏</m:t>
                          </m:r>
                        </m:sub>
                      </m:sSub>
                      <m:r>
                        <a:rPr lang="en-NZ" altLang="ja-JP" sz="1400" b="1" i="1">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r>
                        <a:rPr lang="en-NZ" altLang="ja-JP" sz="1400" b="1" i="1">
                          <a:solidFill>
                            <a:srgbClr val="0070C0"/>
                          </a:solidFill>
                          <a:latin typeface="Cambria Math" panose="02040503050406030204" pitchFamily="18" charset="0"/>
                        </a:rPr>
                        <m:t>)</m:t>
                      </m:r>
                    </m:oMath>
                  </m:oMathPara>
                </a14:m>
                <a:endParaRPr kumimoji="1" lang="en-NZ"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xmlns="">
          <p:sp>
            <p:nvSpPr>
              <p:cNvPr id="10" name="Text Placeholder 5">
                <a:extLst>
                  <a:ext uri="{FF2B5EF4-FFF2-40B4-BE49-F238E27FC236}">
                    <a16:creationId xmlns:a16="http://schemas.microsoft.com/office/drawing/2014/main" id="{25DDF267-257A-C8E4-2BFB-E02D9669405A}"/>
                  </a:ext>
                </a:extLst>
              </p:cNvPr>
              <p:cNvSpPr txBox="1">
                <a:spLocks noRot="1" noChangeAspect="1" noMove="1" noResize="1" noEditPoints="1" noAdjustHandles="1" noChangeArrowheads="1" noChangeShapeType="1" noTextEdit="1"/>
              </p:cNvSpPr>
              <p:nvPr/>
            </p:nvSpPr>
            <p:spPr>
              <a:xfrm>
                <a:off x="5923783" y="5099883"/>
                <a:ext cx="6165582" cy="886221"/>
              </a:xfrm>
              <a:prstGeom prst="rect">
                <a:avLst/>
              </a:prstGeom>
              <a:blipFill>
                <a:blip r:embed="rId10"/>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10516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3" grpId="0"/>
      <p:bldP spid="17" grpId="0"/>
      <p:bldP spid="20" grpId="0"/>
      <p:bldP spid="22" grpId="0"/>
      <p:bldP spid="8"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Bivariate Normal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D0C0FE59-DC52-82E8-513D-122EAEFA1A7A}"/>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11.4b - Gibbs Sampling (2D Normal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C526C84F-1BD2-9450-A697-96D78BA6D805}"/>
                  </a:ext>
                </a:extLst>
              </p:cNvPr>
              <p:cNvSpPr txBox="1">
                <a:spLocks/>
              </p:cNvSpPr>
              <p:nvPr/>
            </p:nvSpPr>
            <p:spPr>
              <a:xfrm>
                <a:off x="291660" y="900312"/>
                <a:ext cx="11608680"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dirty="0">
                    <a:solidFill>
                      <a:srgbClr val="0070C0"/>
                    </a:solidFill>
                  </a:rPr>
                  <a:t>Consider the problem of obtaining a sample of observations from the bivariate normal distribution defined by</a:t>
                </a:r>
              </a:p>
              <a:p>
                <a:pPr lvl="0" algn="ctr">
                  <a:lnSpc>
                    <a:spcPct val="100000"/>
                  </a:lnSpc>
                  <a:defRPr/>
                </a:pPr>
                <a14:m>
                  <m:oMath xmlns:m="http://schemas.openxmlformats.org/officeDocument/2006/math">
                    <m:r>
                      <a:rPr lang="en-NZ" altLang="ja-JP" sz="1800" b="1" i="1" smtClean="0">
                        <a:solidFill>
                          <a:srgbClr val="0070C0"/>
                        </a:solidFill>
                        <a:latin typeface="Cambria Math" panose="02040503050406030204" pitchFamily="18" charset="0"/>
                      </a:rPr>
                      <m:t>𝑵</m:t>
                    </m:r>
                    <m:r>
                      <a:rPr lang="en-NZ" altLang="ja-JP" sz="1800" b="1" i="1" smtClean="0">
                        <a:solidFill>
                          <a:srgbClr val="0070C0"/>
                        </a:solidFill>
                        <a:latin typeface="Cambria Math" panose="02040503050406030204" pitchFamily="18" charset="0"/>
                      </a:rPr>
                      <m:t>( </m:t>
                    </m:r>
                    <m:bar>
                      <m:barPr>
                        <m:ctrlPr>
                          <a:rPr lang="en-NZ" altLang="ja-JP" sz="1800" b="1" i="1" smtClean="0">
                            <a:solidFill>
                              <a:srgbClr val="0070C0"/>
                            </a:solidFill>
                            <a:latin typeface="Cambria Math" panose="02040503050406030204" pitchFamily="18" charset="0"/>
                          </a:rPr>
                        </m:ctrlPr>
                      </m:barPr>
                      <m:e>
                        <m:r>
                          <a:rPr lang="en-NZ" altLang="ja-JP" sz="1800" b="1" i="1" smtClean="0">
                            <a:solidFill>
                              <a:srgbClr val="0070C0"/>
                            </a:solidFill>
                            <a:latin typeface="Cambria Math" panose="02040503050406030204" pitchFamily="18" charset="0"/>
                          </a:rPr>
                          <m:t>𝝁</m:t>
                        </m:r>
                      </m:e>
                    </m:bar>
                    <m:r>
                      <a:rPr lang="en-NZ" altLang="ja-JP" sz="1800" b="1" i="1" smtClean="0">
                        <a:solidFill>
                          <a:srgbClr val="0070C0"/>
                        </a:solidFill>
                        <a:latin typeface="Cambria Math" panose="02040503050406030204" pitchFamily="18" charset="0"/>
                      </a:rPr>
                      <m:t> , </m:t>
                    </m:r>
                    <m:r>
                      <a:rPr lang="en-NZ" altLang="ja-JP" sz="1800" b="1" i="0" smtClean="0">
                        <a:solidFill>
                          <a:srgbClr val="0070C0"/>
                        </a:solidFill>
                        <a:latin typeface="Cambria Math" panose="02040503050406030204" pitchFamily="18" charset="0"/>
                      </a:rPr>
                      <m:t>𝚺</m:t>
                    </m:r>
                    <m:r>
                      <a:rPr lang="en-NZ" altLang="ja-JP" sz="1800" b="1" i="1" smtClean="0">
                        <a:solidFill>
                          <a:srgbClr val="0070C0"/>
                        </a:solidFill>
                        <a:latin typeface="Cambria Math" panose="02040503050406030204" pitchFamily="18" charset="0"/>
                      </a:rPr>
                      <m:t> )</m:t>
                    </m:r>
                  </m:oMath>
                </a14:m>
                <a:r>
                  <a:rPr lang="en-NZ" altLang="ja-JP" sz="1800" b="1" dirty="0">
                    <a:solidFill>
                      <a:srgbClr val="0070C0"/>
                    </a:solidFill>
                  </a:rPr>
                  <a:t>     </a:t>
                </a:r>
                <a:r>
                  <a:rPr lang="en-NZ" altLang="ja-JP" sz="1800" dirty="0">
                    <a:solidFill>
                      <a:srgbClr val="0070C0"/>
                    </a:solidFill>
                  </a:rPr>
                  <a:t>where</a:t>
                </a:r>
                <a:r>
                  <a:rPr lang="en-NZ" altLang="ja-JP" sz="1800" b="1" dirty="0">
                    <a:solidFill>
                      <a:srgbClr val="0070C0"/>
                    </a:solidFill>
                  </a:rPr>
                  <a:t>    </a:t>
                </a:r>
                <a14:m>
                  <m:oMath xmlns:m="http://schemas.openxmlformats.org/officeDocument/2006/math">
                    <m:bar>
                      <m:barPr>
                        <m:ctrlPr>
                          <a:rPr lang="en-NZ" altLang="ja-JP" sz="1800" b="1" i="1">
                            <a:solidFill>
                              <a:srgbClr val="0070C0"/>
                            </a:solidFill>
                            <a:latin typeface="Cambria Math" panose="02040503050406030204" pitchFamily="18" charset="0"/>
                          </a:rPr>
                        </m:ctrlPr>
                      </m:barPr>
                      <m:e>
                        <m:r>
                          <a:rPr lang="en-NZ" altLang="ja-JP" sz="1800" b="1" i="1">
                            <a:solidFill>
                              <a:srgbClr val="0070C0"/>
                            </a:solidFill>
                            <a:latin typeface="Cambria Math" panose="02040503050406030204" pitchFamily="18" charset="0"/>
                          </a:rPr>
                          <m:t>𝝁</m:t>
                        </m:r>
                      </m:e>
                    </m:bar>
                    <m:r>
                      <a:rPr lang="en-NZ" altLang="ja-JP" sz="1800" b="1" i="1" smtClean="0">
                        <a:solidFill>
                          <a:srgbClr val="0070C0"/>
                        </a:solidFill>
                        <a:latin typeface="Cambria Math" panose="02040503050406030204" pitchFamily="18" charset="0"/>
                      </a:rPr>
                      <m:t>=</m:t>
                    </m:r>
                    <m:sSup>
                      <m:sSupPr>
                        <m:ctrlPr>
                          <a:rPr lang="en-NZ" altLang="ja-JP" sz="1800" b="1" i="1" smtClean="0">
                            <a:solidFill>
                              <a:srgbClr val="0070C0"/>
                            </a:solidFill>
                            <a:latin typeface="Cambria Math" panose="02040503050406030204" pitchFamily="18" charset="0"/>
                          </a:rPr>
                        </m:ctrlPr>
                      </m:sSupPr>
                      <m:e>
                        <m:d>
                          <m:dPr>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𝟎</m:t>
                            </m:r>
                            <m:r>
                              <a:rPr lang="en-NZ" altLang="ja-JP" sz="1800" b="1" i="1" smtClean="0">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𝟎</m:t>
                            </m:r>
                          </m:e>
                        </m:d>
                      </m:e>
                      <m:sup>
                        <m:r>
                          <a:rPr lang="en-NZ" altLang="ja-JP" sz="1800" b="1" i="1" smtClean="0">
                            <a:solidFill>
                              <a:srgbClr val="0070C0"/>
                            </a:solidFill>
                            <a:latin typeface="Cambria Math" panose="02040503050406030204" pitchFamily="18" charset="0"/>
                          </a:rPr>
                          <m:t>𝑻</m:t>
                        </m:r>
                      </m:sup>
                    </m:sSup>
                  </m:oMath>
                </a14:m>
                <a:r>
                  <a:rPr lang="en-NZ" altLang="ja-JP" sz="1800" b="1" dirty="0">
                    <a:solidFill>
                      <a:srgbClr val="0070C0"/>
                    </a:solidFill>
                  </a:rPr>
                  <a:t>    </a:t>
                </a:r>
                <a:r>
                  <a:rPr lang="en-NZ" altLang="ja-JP" sz="1800" dirty="0">
                    <a:solidFill>
                      <a:srgbClr val="0070C0"/>
                    </a:solidFill>
                  </a:rPr>
                  <a:t>and</a:t>
                </a:r>
                <a:r>
                  <a:rPr lang="en-NZ" altLang="ja-JP" sz="1800" b="1" dirty="0">
                    <a:solidFill>
                      <a:srgbClr val="0070C0"/>
                    </a:solidFill>
                  </a:rPr>
                  <a:t>    </a:t>
                </a:r>
                <a14:m>
                  <m:oMath xmlns:m="http://schemas.openxmlformats.org/officeDocument/2006/math">
                    <m:r>
                      <a:rPr lang="en-NZ" altLang="ja-JP" sz="1800" b="1" i="0" smtClean="0">
                        <a:solidFill>
                          <a:srgbClr val="0070C0"/>
                        </a:solidFill>
                        <a:latin typeface="Cambria Math" panose="02040503050406030204" pitchFamily="18" charset="0"/>
                      </a:rPr>
                      <m:t>𝚺</m:t>
                    </m:r>
                    <m:r>
                      <a:rPr lang="en-NZ" altLang="ja-JP" sz="1800" b="1" i="1" smtClean="0">
                        <a:solidFill>
                          <a:srgbClr val="0070C0"/>
                        </a:solidFill>
                        <a:latin typeface="Cambria Math" panose="02040503050406030204" pitchFamily="18" charset="0"/>
                      </a:rPr>
                      <m:t>= </m:t>
                    </m:r>
                    <m:d>
                      <m:dPr>
                        <m:begChr m:val="["/>
                        <m:endChr m:val="]"/>
                        <m:ctrlPr>
                          <a:rPr lang="en-NZ" altLang="ja-JP" sz="1800" b="1" i="1" smtClean="0">
                            <a:solidFill>
                              <a:srgbClr val="0070C0"/>
                            </a:solidFill>
                            <a:latin typeface="Cambria Math" panose="02040503050406030204" pitchFamily="18" charset="0"/>
                          </a:rPr>
                        </m:ctrlPr>
                      </m:dPr>
                      <m:e>
                        <m:m>
                          <m:mPr>
                            <m:mcs>
                              <m:mc>
                                <m:mcPr>
                                  <m:count m:val="2"/>
                                  <m:mcJc m:val="center"/>
                                </m:mcPr>
                              </m:mc>
                            </m:mcs>
                            <m:ctrlPr>
                              <a:rPr lang="en-NZ" altLang="ja-JP" sz="1800" b="1" i="1" smtClean="0">
                                <a:solidFill>
                                  <a:srgbClr val="0070C0"/>
                                </a:solidFill>
                                <a:latin typeface="Cambria Math" panose="02040503050406030204" pitchFamily="18" charset="0"/>
                              </a:rPr>
                            </m:ctrlPr>
                          </m:mPr>
                          <m:mr>
                            <m:e>
                              <m:r>
                                <m:rPr>
                                  <m:brk m:alnAt="7"/>
                                </m:rPr>
                                <a:rPr lang="en-NZ" altLang="ja-JP" sz="1800" b="1" i="1" smtClean="0">
                                  <a:solidFill>
                                    <a:srgbClr val="0070C0"/>
                                  </a:solidFill>
                                  <a:latin typeface="Cambria Math" panose="02040503050406030204" pitchFamily="18" charset="0"/>
                                </a:rPr>
                                <m:t>𝟏</m:t>
                              </m:r>
                            </m:e>
                            <m:e>
                              <m:r>
                                <a:rPr lang="en-NZ" altLang="ja-JP" sz="1800" b="1" i="1" smtClean="0">
                                  <a:solidFill>
                                    <a:srgbClr val="0070C0"/>
                                  </a:solidFill>
                                  <a:latin typeface="Cambria Math" panose="02040503050406030204" pitchFamily="18" charset="0"/>
                                </a:rPr>
                                <m:t>𝝆</m:t>
                              </m:r>
                            </m:e>
                          </m:mr>
                          <m:mr>
                            <m:e>
                              <m:r>
                                <a:rPr lang="en-NZ" altLang="ja-JP" sz="1800" b="1" i="1" smtClean="0">
                                  <a:solidFill>
                                    <a:srgbClr val="0070C0"/>
                                  </a:solidFill>
                                  <a:latin typeface="Cambria Math" panose="02040503050406030204" pitchFamily="18" charset="0"/>
                                </a:rPr>
                                <m:t>𝝆</m:t>
                              </m:r>
                            </m:e>
                            <m:e>
                              <m:r>
                                <a:rPr lang="en-NZ" altLang="ja-JP" sz="1800" b="1" i="1" smtClean="0">
                                  <a:solidFill>
                                    <a:srgbClr val="0070C0"/>
                                  </a:solidFill>
                                  <a:latin typeface="Cambria Math" panose="02040503050406030204" pitchFamily="18" charset="0"/>
                                </a:rPr>
                                <m:t>𝟏</m:t>
                              </m:r>
                            </m:e>
                          </m:mr>
                        </m:m>
                      </m:e>
                    </m:d>
                  </m:oMath>
                </a14:m>
                <a:endParaRPr lang="en-NZ" altLang="ja-JP" sz="1800" b="1" dirty="0">
                  <a:solidFill>
                    <a:srgbClr val="0070C0"/>
                  </a:solidFill>
                </a:endParaRPr>
              </a:p>
            </p:txBody>
          </p:sp>
        </mc:Choice>
        <mc:Fallback xmlns="">
          <p:sp>
            <p:nvSpPr>
              <p:cNvPr id="3" name="Text Placeholder 5">
                <a:extLst>
                  <a:ext uri="{FF2B5EF4-FFF2-40B4-BE49-F238E27FC236}">
                    <a16:creationId xmlns:a16="http://schemas.microsoft.com/office/drawing/2014/main" id="{C526C84F-1BD2-9450-A697-96D78BA6D805}"/>
                  </a:ext>
                </a:extLst>
              </p:cNvPr>
              <p:cNvSpPr txBox="1">
                <a:spLocks noRot="1" noChangeAspect="1" noMove="1" noResize="1" noEditPoints="1" noAdjustHandles="1" noChangeArrowheads="1" noChangeShapeType="1" noTextEdit="1"/>
              </p:cNvSpPr>
              <p:nvPr/>
            </p:nvSpPr>
            <p:spPr>
              <a:xfrm>
                <a:off x="291660" y="900312"/>
                <a:ext cx="11608680" cy="942136"/>
              </a:xfrm>
              <a:prstGeom prst="rect">
                <a:avLst/>
              </a:prstGeom>
              <a:blipFill>
                <a:blip r:embed="rId3"/>
                <a:stretch>
                  <a:fillRect l="-473" t="-3896"/>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8" name="Text Placeholder 5">
                <a:extLst>
                  <a:ext uri="{FF2B5EF4-FFF2-40B4-BE49-F238E27FC236}">
                    <a16:creationId xmlns:a16="http://schemas.microsoft.com/office/drawing/2014/main" id="{D015CADE-7B08-25EA-5DEA-AB9D2FDCCFE3}"/>
                  </a:ext>
                </a:extLst>
              </p:cNvPr>
              <p:cNvSpPr txBox="1">
                <a:spLocks/>
              </p:cNvSpPr>
              <p:nvPr/>
            </p:nvSpPr>
            <p:spPr>
              <a:xfrm>
                <a:off x="263857" y="4496143"/>
                <a:ext cx="11608680" cy="8270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i="1" noProof="0" dirty="0">
                    <a:solidFill>
                      <a:srgbClr val="C00000"/>
                    </a:solidFill>
                    <a:latin typeface="Calibri" panose="020F0502020204030204"/>
                    <a:ea typeface="游ゴシック" panose="020B0400000000000000" pitchFamily="34" charset="-128"/>
                  </a:rPr>
                  <a:t>The conditional distributions are known and have a ‘nice’ parametric form that can easily be sampled from since</a:t>
                </a:r>
              </a:p>
              <a:p>
                <a:pPr lvl="0" algn="ctr">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𝑿</m:t>
                          </m:r>
                        </m:e>
                        <m:sub>
                          <m:r>
                            <a:rPr lang="en-NZ" altLang="ja-JP" sz="1800" b="1" i="1">
                              <a:solidFill>
                                <a:srgbClr val="C00000"/>
                              </a:solidFill>
                              <a:latin typeface="Cambria Math" panose="02040503050406030204" pitchFamily="18" charset="0"/>
                            </a:rPr>
                            <m:t>𝒊</m:t>
                          </m:r>
                        </m:sub>
                      </m:sSub>
                      <m:r>
                        <a:rPr lang="en-NZ" altLang="ja-JP" sz="1800" b="1" i="1" smtClean="0">
                          <a:solidFill>
                            <a:srgbClr val="C00000"/>
                          </a:solidFill>
                          <a:latin typeface="Cambria Math" panose="02040503050406030204" pitchFamily="18" charset="0"/>
                        </a:rPr>
                        <m:t> |  </m:t>
                      </m:r>
                      <m:sSub>
                        <m:sSubPr>
                          <m:ctrlPr>
                            <a:rPr lang="en-NZ" altLang="ja-JP" sz="1800" b="1" i="1" smtClean="0">
                              <a:solidFill>
                                <a:srgbClr val="C00000"/>
                              </a:solidFill>
                              <a:latin typeface="Cambria Math" panose="02040503050406030204" pitchFamily="18" charset="0"/>
                            </a:rPr>
                          </m:ctrlPr>
                        </m:sSubPr>
                        <m:e>
                          <m:r>
                            <a:rPr lang="en-NZ" altLang="ja-JP" sz="1800" b="1" i="1">
                              <a:solidFill>
                                <a:srgbClr val="C00000"/>
                              </a:solidFill>
                              <a:latin typeface="Cambria Math" panose="02040503050406030204" pitchFamily="18" charset="0"/>
                            </a:rPr>
                            <m:t>𝑿</m:t>
                          </m:r>
                        </m:e>
                        <m:sub>
                          <m:r>
                            <a:rPr lang="en-NZ" altLang="ja-JP" sz="1800" b="1" i="1">
                              <a:solidFill>
                                <a:srgbClr val="C00000"/>
                              </a:solidFill>
                              <a:latin typeface="Cambria Math" panose="02040503050406030204" pitchFamily="18" charset="0"/>
                            </a:rPr>
                            <m:t>𝒋</m:t>
                          </m:r>
                        </m:sub>
                      </m:sSub>
                      <m:r>
                        <a:rPr lang="en-NZ" altLang="ja-JP" sz="1800" b="1" i="1" smtClean="0">
                          <a:solidFill>
                            <a:srgbClr val="C00000"/>
                          </a:solidFill>
                          <a:latin typeface="Cambria Math" panose="02040503050406030204" pitchFamily="18" charset="0"/>
                        </a:rPr>
                        <m:t>   ~  </m:t>
                      </m:r>
                      <m:r>
                        <a:rPr lang="en-NZ" altLang="ja-JP" sz="1800" b="1" i="1" smtClean="0">
                          <a:solidFill>
                            <a:srgbClr val="C00000"/>
                          </a:solidFill>
                          <a:latin typeface="Cambria Math" panose="02040503050406030204" pitchFamily="18" charset="0"/>
                        </a:rPr>
                        <m:t>𝑵</m:t>
                      </m:r>
                      <m:r>
                        <a:rPr lang="en-NZ" altLang="ja-JP" sz="1800" b="1" i="1" smtClean="0">
                          <a:solidFill>
                            <a:srgbClr val="C00000"/>
                          </a:solidFill>
                          <a:latin typeface="Cambria Math" panose="02040503050406030204" pitchFamily="18" charset="0"/>
                        </a:rPr>
                        <m:t>( </m:t>
                      </m:r>
                      <m:r>
                        <a:rPr lang="en-NZ" altLang="ja-JP" sz="1800" b="1" i="1" smtClean="0">
                          <a:solidFill>
                            <a:srgbClr val="C00000"/>
                          </a:solidFill>
                          <a:latin typeface="Cambria Math" panose="02040503050406030204" pitchFamily="18" charset="0"/>
                        </a:rPr>
                        <m:t>𝝆</m:t>
                      </m:r>
                      <m:sSub>
                        <m:sSubPr>
                          <m:ctrlPr>
                            <a:rPr lang="en-NZ" altLang="ja-JP" sz="1800" b="1" i="1" smtClean="0">
                              <a:solidFill>
                                <a:srgbClr val="C00000"/>
                              </a:solidFill>
                              <a:latin typeface="Cambria Math" panose="02040503050406030204" pitchFamily="18" charset="0"/>
                            </a:rPr>
                          </m:ctrlPr>
                        </m:sSubPr>
                        <m:e>
                          <m:r>
                            <a:rPr lang="en-NZ" altLang="ja-JP" sz="1800" b="1" i="1" smtClean="0">
                              <a:solidFill>
                                <a:srgbClr val="C00000"/>
                              </a:solidFill>
                              <a:latin typeface="Cambria Math" panose="02040503050406030204" pitchFamily="18" charset="0"/>
                            </a:rPr>
                            <m:t>𝒙</m:t>
                          </m:r>
                        </m:e>
                        <m:sub>
                          <m:r>
                            <a:rPr lang="en-NZ" altLang="ja-JP" sz="1800" b="1" i="1" smtClean="0">
                              <a:solidFill>
                                <a:srgbClr val="C00000"/>
                              </a:solidFill>
                              <a:latin typeface="Cambria Math" panose="02040503050406030204" pitchFamily="18" charset="0"/>
                            </a:rPr>
                            <m:t>𝒋</m:t>
                          </m:r>
                        </m:sub>
                      </m:sSub>
                      <m:r>
                        <a:rPr lang="en-NZ" altLang="ja-JP" sz="1800" b="1" i="1" smtClean="0">
                          <a:solidFill>
                            <a:srgbClr val="C00000"/>
                          </a:solidFill>
                          <a:latin typeface="Cambria Math" panose="02040503050406030204" pitchFamily="18" charset="0"/>
                        </a:rPr>
                        <m:t> , </m:t>
                      </m:r>
                      <m:r>
                        <a:rPr lang="en-NZ" altLang="ja-JP" sz="1800" b="1" i="1" smtClean="0">
                          <a:solidFill>
                            <a:srgbClr val="C00000"/>
                          </a:solidFill>
                          <a:latin typeface="Cambria Math" panose="02040503050406030204" pitchFamily="18" charset="0"/>
                        </a:rPr>
                        <m:t>𝟏</m:t>
                      </m:r>
                      <m:r>
                        <a:rPr lang="en-NZ" altLang="ja-JP" sz="1800" b="1" i="1" smtClean="0">
                          <a:solidFill>
                            <a:srgbClr val="C00000"/>
                          </a:solidFill>
                          <a:latin typeface="Cambria Math" panose="02040503050406030204" pitchFamily="18" charset="0"/>
                        </a:rPr>
                        <m:t> −</m:t>
                      </m:r>
                      <m:sSup>
                        <m:sSupPr>
                          <m:ctrlPr>
                            <a:rPr lang="en-NZ" altLang="ja-JP" sz="1800" b="1" i="1" smtClean="0">
                              <a:solidFill>
                                <a:srgbClr val="C00000"/>
                              </a:solidFill>
                              <a:latin typeface="Cambria Math" panose="02040503050406030204" pitchFamily="18" charset="0"/>
                            </a:rPr>
                          </m:ctrlPr>
                        </m:sSupPr>
                        <m:e>
                          <m:r>
                            <a:rPr lang="en-NZ" altLang="ja-JP" sz="1800" b="1" i="1" smtClean="0">
                              <a:solidFill>
                                <a:srgbClr val="C00000"/>
                              </a:solidFill>
                              <a:latin typeface="Cambria Math" panose="02040503050406030204" pitchFamily="18" charset="0"/>
                            </a:rPr>
                            <m:t>𝝆</m:t>
                          </m:r>
                        </m:e>
                        <m:sup>
                          <m:r>
                            <a:rPr lang="en-NZ" altLang="ja-JP" sz="1800" b="1" i="1" smtClean="0">
                              <a:solidFill>
                                <a:srgbClr val="C00000"/>
                              </a:solidFill>
                              <a:latin typeface="Cambria Math" panose="02040503050406030204" pitchFamily="18" charset="0"/>
                            </a:rPr>
                            <m:t>𝟐</m:t>
                          </m:r>
                        </m:sup>
                      </m:sSup>
                      <m:r>
                        <a:rPr lang="en-NZ" altLang="ja-JP" sz="1800" b="1" i="1" smtClean="0">
                          <a:solidFill>
                            <a:srgbClr val="C00000"/>
                          </a:solidFill>
                          <a:latin typeface="Cambria Math" panose="02040503050406030204" pitchFamily="18" charset="0"/>
                        </a:rPr>
                        <m:t>)</m:t>
                      </m:r>
                    </m:oMath>
                  </m:oMathPara>
                </a14:m>
                <a:endParaRPr kumimoji="1" lang="en-US"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p:sp>
            <p:nvSpPr>
              <p:cNvPr id="8" name="Text Placeholder 5">
                <a:extLst>
                  <a:ext uri="{FF2B5EF4-FFF2-40B4-BE49-F238E27FC236}">
                    <a16:creationId xmlns:a16="http://schemas.microsoft.com/office/drawing/2014/main" id="{D015CADE-7B08-25EA-5DEA-AB9D2FDCCFE3}"/>
                  </a:ext>
                </a:extLst>
              </p:cNvPr>
              <p:cNvSpPr txBox="1">
                <a:spLocks noRot="1" noChangeAspect="1" noMove="1" noResize="1" noEditPoints="1" noAdjustHandles="1" noChangeArrowheads="1" noChangeShapeType="1" noTextEdit="1"/>
              </p:cNvSpPr>
              <p:nvPr/>
            </p:nvSpPr>
            <p:spPr>
              <a:xfrm>
                <a:off x="263857" y="4496143"/>
                <a:ext cx="11608680" cy="827006"/>
              </a:xfrm>
              <a:prstGeom prst="rect">
                <a:avLst/>
              </a:prstGeom>
              <a:blipFill>
                <a:blip r:embed="rId4"/>
                <a:stretch>
                  <a:fillRect t="-4444"/>
                </a:stretch>
              </a:blipFill>
            </p:spPr>
            <p:txBody>
              <a:bodyPr/>
              <a:lstStyle/>
              <a:p>
                <a:r>
                  <a:rPr lang="en-NZ">
                    <a:noFill/>
                  </a:rPr>
                  <a:t> </a:t>
                </a:r>
              </a:p>
            </p:txBody>
          </p:sp>
        </mc:Fallback>
      </mc:AlternateContent>
      <p:sp>
        <p:nvSpPr>
          <p:cNvPr id="10" name="Text Placeholder 5">
            <a:extLst>
              <a:ext uri="{FF2B5EF4-FFF2-40B4-BE49-F238E27FC236}">
                <a16:creationId xmlns:a16="http://schemas.microsoft.com/office/drawing/2014/main" id="{A34E5220-5630-DB09-1AD7-D4B82E14F001}"/>
              </a:ext>
            </a:extLst>
          </p:cNvPr>
          <p:cNvSpPr txBox="1">
            <a:spLocks/>
          </p:cNvSpPr>
          <p:nvPr/>
        </p:nvSpPr>
        <p:spPr>
          <a:xfrm>
            <a:off x="291660" y="5323149"/>
            <a:ext cx="11608680" cy="3925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r>
              <a:rPr lang="en-NZ" altLang="ja-JP" sz="1800" i="1" noProof="0" dirty="0">
                <a:solidFill>
                  <a:srgbClr val="C00000"/>
                </a:solidFill>
                <a:latin typeface="Calibri" panose="020F0502020204030204"/>
                <a:ea typeface="游ゴシック" panose="020B0400000000000000" pitchFamily="34" charset="-128"/>
              </a:rPr>
              <a:t>=&gt;  Gibbs sampling can be used to draw observations from this joint pdf</a:t>
            </a:r>
            <a:endParaRPr kumimoji="1" lang="en-US" altLang="ja-JP" sz="18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C2971AB7-00F2-1CE9-F12A-F31F10597210}"/>
                  </a:ext>
                </a:extLst>
              </p:cNvPr>
              <p:cNvSpPr txBox="1">
                <a:spLocks/>
              </p:cNvSpPr>
              <p:nvPr/>
            </p:nvSpPr>
            <p:spPr>
              <a:xfrm>
                <a:off x="386173" y="1759820"/>
                <a:ext cx="11419655" cy="942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lnSpc>
                    <a:spcPct val="100000"/>
                  </a:lnSpc>
                  <a:defRPr/>
                </a:pPr>
                <a14:m>
                  <m:oMathPara xmlns:m="http://schemas.openxmlformats.org/officeDocument/2006/math">
                    <m:oMathParaPr>
                      <m:jc m:val="centerGroup"/>
                    </m:oMathParaPr>
                    <m:oMath xmlns:m="http://schemas.openxmlformats.org/officeDocument/2006/math">
                      <m:sSub>
                        <m:sSubPr>
                          <m:ctrlPr>
                            <a:rPr lang="en-NZ" altLang="ja-JP" sz="1800" b="1" i="1" smtClean="0">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𝒇</m:t>
                          </m:r>
                        </m:e>
                        <m:sub>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𝑿</m:t>
                              </m:r>
                            </m:e>
                            <m:sub>
                              <m:r>
                                <a:rPr lang="en-NZ" altLang="ja-JP" sz="1800" b="1" i="1">
                                  <a:solidFill>
                                    <a:srgbClr val="0070C0"/>
                                  </a:solidFill>
                                  <a:latin typeface="Cambria Math" panose="02040503050406030204" pitchFamily="18" charset="0"/>
                                </a:rPr>
                                <m:t>𝟏</m:t>
                              </m:r>
                            </m:sub>
                          </m:sSub>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𝑿</m:t>
                              </m:r>
                            </m:e>
                            <m:sub>
                              <m:r>
                                <a:rPr lang="en-NZ" altLang="ja-JP" sz="1800" b="1" i="1">
                                  <a:solidFill>
                                    <a:srgbClr val="0070C0"/>
                                  </a:solidFill>
                                  <a:latin typeface="Cambria Math" panose="02040503050406030204" pitchFamily="18" charset="0"/>
                                </a:rPr>
                                <m:t>𝟐</m:t>
                              </m:r>
                            </m:sub>
                          </m:sSub>
                        </m:sub>
                      </m:sSub>
                      <m:r>
                        <a:rPr lang="en-NZ" altLang="ja-JP" sz="1800" b="1" i="1" smtClean="0">
                          <a:solidFill>
                            <a:srgbClr val="0070C0"/>
                          </a:solidFill>
                          <a:latin typeface="Cambria Math" panose="02040503050406030204" pitchFamily="18" charset="0"/>
                        </a:rPr>
                        <m:t> </m:t>
                      </m:r>
                      <m:d>
                        <m:dPr>
                          <m:ctrlPr>
                            <a:rPr lang="en-NZ" altLang="ja-JP" sz="1800" b="1" i="1">
                              <a:solidFill>
                                <a:srgbClr val="0070C0"/>
                              </a:solidFill>
                              <a:latin typeface="Cambria Math" panose="02040503050406030204" pitchFamily="18" charset="0"/>
                            </a:rPr>
                          </m:ctrlPr>
                        </m:dPr>
                        <m:e>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𝟏</m:t>
                              </m:r>
                            </m:sub>
                          </m:sSub>
                          <m:r>
                            <a:rPr lang="en-NZ" altLang="ja-JP" sz="1800" b="1" i="1">
                              <a:solidFill>
                                <a:srgbClr val="0070C0"/>
                              </a:solidFill>
                              <a:latin typeface="Cambria Math" panose="02040503050406030204" pitchFamily="18" charset="0"/>
                            </a:rPr>
                            <m:t>, </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𝟐</m:t>
                              </m:r>
                            </m:sub>
                          </m:sSub>
                        </m:e>
                      </m:d>
                      <m:r>
                        <a:rPr lang="en-NZ" altLang="ja-JP" sz="1800" b="1" i="1" smtClean="0">
                          <a:solidFill>
                            <a:srgbClr val="0070C0"/>
                          </a:solidFill>
                          <a:latin typeface="Cambria Math" panose="02040503050406030204" pitchFamily="18" charset="0"/>
                        </a:rPr>
                        <m:t>  =   </m:t>
                      </m:r>
                      <m:f>
                        <m:fPr>
                          <m:ctrlPr>
                            <a:rPr lang="en-NZ" altLang="ja-JP" sz="1800" b="1" i="1" smtClean="0">
                              <a:solidFill>
                                <a:srgbClr val="0070C0"/>
                              </a:solidFill>
                              <a:latin typeface="Cambria Math" panose="02040503050406030204" pitchFamily="18" charset="0"/>
                            </a:rPr>
                          </m:ctrlPr>
                        </m:fPr>
                        <m:num>
                          <m:r>
                            <a:rPr lang="en-NZ" altLang="ja-JP" sz="1800" b="1" i="1" smtClean="0">
                              <a:solidFill>
                                <a:srgbClr val="0070C0"/>
                              </a:solidFill>
                              <a:latin typeface="Cambria Math" panose="02040503050406030204" pitchFamily="18" charset="0"/>
                            </a:rPr>
                            <m:t>𝟏</m:t>
                          </m:r>
                        </m:num>
                        <m:den>
                          <m:r>
                            <a:rPr lang="en-NZ" altLang="ja-JP" sz="1800" b="1" i="1" smtClean="0">
                              <a:solidFill>
                                <a:srgbClr val="0070C0"/>
                              </a:solidFill>
                              <a:latin typeface="Cambria Math" panose="02040503050406030204" pitchFamily="18" charset="0"/>
                            </a:rPr>
                            <m:t>𝟐</m:t>
                          </m:r>
                          <m:r>
                            <a:rPr lang="en-NZ" altLang="ja-JP" sz="1800" b="1" i="1" smtClean="0">
                              <a:solidFill>
                                <a:srgbClr val="0070C0"/>
                              </a:solidFill>
                              <a:latin typeface="Cambria Math" panose="02040503050406030204" pitchFamily="18" charset="0"/>
                            </a:rPr>
                            <m:t> </m:t>
                          </m:r>
                          <m:r>
                            <a:rPr lang="en-NZ" altLang="ja-JP" sz="1800" b="1" i="1" smtClean="0">
                              <a:solidFill>
                                <a:srgbClr val="0070C0"/>
                              </a:solidFill>
                              <a:latin typeface="Cambria Math" panose="02040503050406030204" pitchFamily="18" charset="0"/>
                            </a:rPr>
                            <m:t>𝝅</m:t>
                          </m:r>
                          <m:r>
                            <a:rPr lang="en-NZ" altLang="ja-JP" sz="1800" b="1" i="1" smtClean="0">
                              <a:solidFill>
                                <a:srgbClr val="0070C0"/>
                              </a:solidFill>
                              <a:latin typeface="Cambria Math" panose="02040503050406030204" pitchFamily="18" charset="0"/>
                            </a:rPr>
                            <m:t> </m:t>
                          </m:r>
                          <m:sSup>
                            <m:sSupPr>
                              <m:ctrlPr>
                                <a:rPr lang="en-NZ" altLang="ja-JP" sz="1800" b="1" i="1" smtClean="0">
                                  <a:solidFill>
                                    <a:srgbClr val="0070C0"/>
                                  </a:solidFill>
                                  <a:latin typeface="Cambria Math" panose="02040503050406030204" pitchFamily="18" charset="0"/>
                                </a:rPr>
                              </m:ctrlPr>
                            </m:sSupPr>
                            <m:e>
                              <m:d>
                                <m:dPr>
                                  <m:ctrlPr>
                                    <a:rPr lang="en-NZ" altLang="ja-JP" sz="1800" b="1" i="1" smtClean="0">
                                      <a:solidFill>
                                        <a:srgbClr val="0070C0"/>
                                      </a:solidFill>
                                      <a:latin typeface="Cambria Math" panose="02040503050406030204" pitchFamily="18" charset="0"/>
                                    </a:rPr>
                                  </m:ctrlPr>
                                </m:dPr>
                                <m:e>
                                  <m:r>
                                    <a:rPr lang="en-NZ" altLang="ja-JP" sz="1800" b="1" i="1" smtClean="0">
                                      <a:solidFill>
                                        <a:srgbClr val="0070C0"/>
                                      </a:solidFill>
                                      <a:latin typeface="Cambria Math" panose="02040503050406030204" pitchFamily="18" charset="0"/>
                                    </a:rPr>
                                    <m:t>𝟏</m:t>
                                  </m:r>
                                  <m:r>
                                    <a:rPr lang="en-NZ" altLang="ja-JP" sz="1800" b="1" i="1" smtClean="0">
                                      <a:solidFill>
                                        <a:srgbClr val="0070C0"/>
                                      </a:solidFill>
                                      <a:latin typeface="Cambria Math" panose="02040503050406030204" pitchFamily="18" charset="0"/>
                                    </a:rPr>
                                    <m:t> −</m:t>
                                  </m:r>
                                  <m:sSup>
                                    <m:sSupPr>
                                      <m:ctrlPr>
                                        <a:rPr lang="en-NZ" altLang="ja-JP" sz="1800" b="1" i="1" smtClean="0">
                                          <a:solidFill>
                                            <a:srgbClr val="0070C0"/>
                                          </a:solidFill>
                                          <a:latin typeface="Cambria Math" panose="02040503050406030204" pitchFamily="18" charset="0"/>
                                        </a:rPr>
                                      </m:ctrlPr>
                                    </m:sSupPr>
                                    <m:e>
                                      <m:r>
                                        <a:rPr lang="en-NZ" altLang="ja-JP" sz="1800" b="1" i="1" smtClean="0">
                                          <a:solidFill>
                                            <a:srgbClr val="0070C0"/>
                                          </a:solidFill>
                                          <a:latin typeface="Cambria Math" panose="02040503050406030204" pitchFamily="18" charset="0"/>
                                        </a:rPr>
                                        <m:t>𝝆</m:t>
                                      </m:r>
                                    </m:e>
                                    <m:sup>
                                      <m:r>
                                        <a:rPr lang="en-NZ" altLang="ja-JP" sz="1800" b="1" i="1" smtClean="0">
                                          <a:solidFill>
                                            <a:srgbClr val="0070C0"/>
                                          </a:solidFill>
                                          <a:latin typeface="Cambria Math" panose="02040503050406030204" pitchFamily="18" charset="0"/>
                                        </a:rPr>
                                        <m:t>𝟐</m:t>
                                      </m:r>
                                    </m:sup>
                                  </m:sSup>
                                </m:e>
                              </m:d>
                            </m:e>
                            <m:sup>
                              <m:r>
                                <a:rPr lang="en-NZ" altLang="ja-JP" sz="1800" b="1" i="1" smtClean="0">
                                  <a:solidFill>
                                    <a:srgbClr val="0070C0"/>
                                  </a:solidFill>
                                  <a:latin typeface="Cambria Math" panose="02040503050406030204" pitchFamily="18" charset="0"/>
                                </a:rPr>
                                <m:t>𝟏</m:t>
                              </m:r>
                              <m:r>
                                <a:rPr lang="en-NZ" altLang="ja-JP" sz="1800" b="1" i="1" smtClean="0">
                                  <a:solidFill>
                                    <a:srgbClr val="0070C0"/>
                                  </a:solidFill>
                                  <a:latin typeface="Cambria Math" panose="02040503050406030204" pitchFamily="18" charset="0"/>
                                </a:rPr>
                                <m:t>/</m:t>
                              </m:r>
                              <m:r>
                                <a:rPr lang="en-NZ" altLang="ja-JP" sz="1800" b="1" i="1" smtClean="0">
                                  <a:solidFill>
                                    <a:srgbClr val="0070C0"/>
                                  </a:solidFill>
                                  <a:latin typeface="Cambria Math" panose="02040503050406030204" pitchFamily="18" charset="0"/>
                                </a:rPr>
                                <m:t>𝟐</m:t>
                              </m:r>
                            </m:sup>
                          </m:sSup>
                        </m:den>
                      </m:f>
                      <m:r>
                        <a:rPr lang="en-NZ" altLang="ja-JP" sz="1800" b="1" i="1" smtClean="0">
                          <a:solidFill>
                            <a:srgbClr val="0070C0"/>
                          </a:solidFill>
                          <a:latin typeface="Cambria Math" panose="02040503050406030204" pitchFamily="18" charset="0"/>
                        </a:rPr>
                        <m:t>  </m:t>
                      </m:r>
                      <m:sSup>
                        <m:sSupPr>
                          <m:ctrlPr>
                            <a:rPr lang="en-NZ" altLang="ja-JP" sz="1800" b="1" i="1" smtClean="0">
                              <a:solidFill>
                                <a:srgbClr val="0070C0"/>
                              </a:solidFill>
                              <a:latin typeface="Cambria Math" panose="02040503050406030204" pitchFamily="18" charset="0"/>
                            </a:rPr>
                          </m:ctrlPr>
                        </m:sSupPr>
                        <m:e>
                          <m:r>
                            <a:rPr lang="en-NZ" altLang="ja-JP" sz="1800" b="1" i="1" smtClean="0">
                              <a:solidFill>
                                <a:srgbClr val="0070C0"/>
                              </a:solidFill>
                              <a:latin typeface="Cambria Math" panose="02040503050406030204" pitchFamily="18" charset="0"/>
                            </a:rPr>
                            <m:t>𝒆</m:t>
                          </m:r>
                        </m:e>
                        <m:sup>
                          <m:r>
                            <a:rPr lang="en-NZ" altLang="ja-JP" sz="1800" b="1" i="1" smtClean="0">
                              <a:solidFill>
                                <a:srgbClr val="0070C0"/>
                              </a:solidFill>
                              <a:latin typeface="Cambria Math" panose="02040503050406030204" pitchFamily="18" charset="0"/>
                            </a:rPr>
                            <m:t>− </m:t>
                          </m:r>
                          <m:f>
                            <m:fPr>
                              <m:ctrlPr>
                                <a:rPr lang="en-NZ" altLang="ja-JP" sz="1800" b="1" i="1" smtClean="0">
                                  <a:solidFill>
                                    <a:srgbClr val="0070C0"/>
                                  </a:solidFill>
                                  <a:latin typeface="Cambria Math" panose="02040503050406030204" pitchFamily="18" charset="0"/>
                                </a:rPr>
                              </m:ctrlPr>
                            </m:fPr>
                            <m:num>
                              <m:r>
                                <a:rPr lang="en-NZ" altLang="ja-JP" sz="1800" b="1" i="1" smtClean="0">
                                  <a:solidFill>
                                    <a:srgbClr val="0070C0"/>
                                  </a:solidFill>
                                  <a:latin typeface="Cambria Math" panose="02040503050406030204" pitchFamily="18" charset="0"/>
                                </a:rPr>
                                <m:t>𝟏</m:t>
                              </m:r>
                            </m:num>
                            <m:den>
                              <m:r>
                                <a:rPr lang="en-NZ" altLang="ja-JP" sz="1800" b="1" i="1" smtClean="0">
                                  <a:solidFill>
                                    <a:srgbClr val="0070C0"/>
                                  </a:solidFill>
                                  <a:latin typeface="Cambria Math" panose="02040503050406030204" pitchFamily="18" charset="0"/>
                                </a:rPr>
                                <m:t>𝟐</m:t>
                              </m:r>
                              <m:r>
                                <a:rPr lang="en-NZ" altLang="ja-JP" sz="1800" b="1" i="1" smtClean="0">
                                  <a:solidFill>
                                    <a:srgbClr val="0070C0"/>
                                  </a:solidFill>
                                  <a:latin typeface="Cambria Math" panose="02040503050406030204" pitchFamily="18" charset="0"/>
                                </a:rPr>
                                <m:t> </m:t>
                              </m:r>
                              <m:d>
                                <m:dPr>
                                  <m:ctrlPr>
                                    <a:rPr lang="en-NZ" altLang="ja-JP" sz="1800" b="1" i="1">
                                      <a:solidFill>
                                        <a:srgbClr val="0070C0"/>
                                      </a:solidFill>
                                      <a:latin typeface="Cambria Math" panose="02040503050406030204" pitchFamily="18" charset="0"/>
                                    </a:rPr>
                                  </m:ctrlPr>
                                </m:dPr>
                                <m:e>
                                  <m:r>
                                    <a:rPr lang="en-NZ" altLang="ja-JP" sz="1800" b="1" i="1">
                                      <a:solidFill>
                                        <a:srgbClr val="0070C0"/>
                                      </a:solidFill>
                                      <a:latin typeface="Cambria Math" panose="02040503050406030204" pitchFamily="18" charset="0"/>
                                    </a:rPr>
                                    <m:t>𝟏</m:t>
                                  </m:r>
                                  <m:r>
                                    <a:rPr lang="en-NZ" altLang="ja-JP" sz="1800" b="1" i="1">
                                      <a:solidFill>
                                        <a:srgbClr val="0070C0"/>
                                      </a:solidFill>
                                      <a:latin typeface="Cambria Math" panose="02040503050406030204" pitchFamily="18" charset="0"/>
                                    </a:rPr>
                                    <m:t> −</m:t>
                                  </m:r>
                                  <m:sSup>
                                    <m:sSupPr>
                                      <m:ctrlPr>
                                        <a:rPr lang="en-NZ" altLang="ja-JP" sz="1800" b="1" i="1">
                                          <a:solidFill>
                                            <a:srgbClr val="0070C0"/>
                                          </a:solidFill>
                                          <a:latin typeface="Cambria Math" panose="02040503050406030204" pitchFamily="18" charset="0"/>
                                        </a:rPr>
                                      </m:ctrlPr>
                                    </m:sSupPr>
                                    <m:e>
                                      <m:r>
                                        <a:rPr lang="en-NZ" altLang="ja-JP" sz="1800" b="1" i="1">
                                          <a:solidFill>
                                            <a:srgbClr val="0070C0"/>
                                          </a:solidFill>
                                          <a:latin typeface="Cambria Math" panose="02040503050406030204" pitchFamily="18" charset="0"/>
                                        </a:rPr>
                                        <m:t>𝝆</m:t>
                                      </m:r>
                                    </m:e>
                                    <m:sup>
                                      <m:r>
                                        <a:rPr lang="en-NZ" altLang="ja-JP" sz="1800" b="1" i="1">
                                          <a:solidFill>
                                            <a:srgbClr val="0070C0"/>
                                          </a:solidFill>
                                          <a:latin typeface="Cambria Math" panose="02040503050406030204" pitchFamily="18" charset="0"/>
                                        </a:rPr>
                                        <m:t>𝟐</m:t>
                                      </m:r>
                                    </m:sup>
                                  </m:sSup>
                                </m:e>
                              </m:d>
                            </m:den>
                          </m:f>
                          <m:r>
                            <a:rPr lang="en-NZ" altLang="ja-JP" sz="1800" b="1" i="1" smtClean="0">
                              <a:solidFill>
                                <a:srgbClr val="0070C0"/>
                              </a:solidFill>
                              <a:latin typeface="Cambria Math" panose="02040503050406030204" pitchFamily="18" charset="0"/>
                            </a:rPr>
                            <m:t> </m:t>
                          </m:r>
                          <m:d>
                            <m:dPr>
                              <m:ctrlPr>
                                <a:rPr lang="en-NZ" altLang="ja-JP" sz="1800" b="1" i="1" smtClean="0">
                                  <a:solidFill>
                                    <a:srgbClr val="0070C0"/>
                                  </a:solidFill>
                                  <a:latin typeface="Cambria Math" panose="02040503050406030204" pitchFamily="18" charset="0"/>
                                </a:rPr>
                              </m:ctrlPr>
                            </m:dPr>
                            <m:e>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𝟏</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sSubSup>
                                <m:sSubSupPr>
                                  <m:ctrlPr>
                                    <a:rPr lang="en-NZ" altLang="ja-JP" sz="1800" b="1" i="1">
                                      <a:solidFill>
                                        <a:srgbClr val="0070C0"/>
                                      </a:solidFill>
                                      <a:latin typeface="Cambria Math" panose="02040503050406030204" pitchFamily="18" charset="0"/>
                                    </a:rPr>
                                  </m:ctrlPr>
                                </m:sSubSup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𝟐</m:t>
                                  </m:r>
                                </m:sub>
                                <m:sup>
                                  <m:r>
                                    <a:rPr lang="en-NZ" altLang="ja-JP" sz="1800" b="1" i="1">
                                      <a:solidFill>
                                        <a:srgbClr val="0070C0"/>
                                      </a:solidFill>
                                      <a:latin typeface="Cambria Math" panose="02040503050406030204" pitchFamily="18" charset="0"/>
                                    </a:rPr>
                                    <m:t>𝟐</m:t>
                                  </m:r>
                                </m:sup>
                              </m:sSubSup>
                              <m:r>
                                <a:rPr lang="en-NZ" altLang="ja-JP" sz="1800" b="1" i="1">
                                  <a:solidFill>
                                    <a:srgbClr val="0070C0"/>
                                  </a:solidFill>
                                  <a:latin typeface="Cambria Math" panose="02040503050406030204" pitchFamily="18" charset="0"/>
                                </a:rPr>
                                <m:t>   − </m:t>
                              </m:r>
                              <m:r>
                                <a:rPr lang="en-NZ" altLang="ja-JP" sz="1800" b="1" i="1">
                                  <a:solidFill>
                                    <a:srgbClr val="0070C0"/>
                                  </a:solidFill>
                                  <a:latin typeface="Cambria Math" panose="02040503050406030204" pitchFamily="18" charset="0"/>
                                </a:rPr>
                                <m:t>𝟐</m:t>
                              </m:r>
                              <m:r>
                                <a:rPr lang="en-NZ" altLang="ja-JP" sz="1800" b="1" i="1">
                                  <a:solidFill>
                                    <a:srgbClr val="0070C0"/>
                                  </a:solidFill>
                                  <a:latin typeface="Cambria Math" panose="02040503050406030204" pitchFamily="18" charset="0"/>
                                </a:rPr>
                                <m:t>  </m:t>
                              </m:r>
                              <m:r>
                                <a:rPr lang="en-NZ" altLang="ja-JP" sz="1800" b="1" i="1">
                                  <a:solidFill>
                                    <a:srgbClr val="0070C0"/>
                                  </a:solidFill>
                                  <a:latin typeface="Cambria Math" panose="02040503050406030204" pitchFamily="18" charset="0"/>
                                </a:rPr>
                                <m:t>𝝆</m:t>
                              </m:r>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𝟏</m:t>
                                  </m:r>
                                </m:sub>
                              </m:sSub>
                              <m:sSub>
                                <m:sSubPr>
                                  <m:ctrlPr>
                                    <a:rPr lang="en-NZ" altLang="ja-JP" sz="1800" b="1" i="1">
                                      <a:solidFill>
                                        <a:srgbClr val="0070C0"/>
                                      </a:solidFill>
                                      <a:latin typeface="Cambria Math" panose="02040503050406030204" pitchFamily="18" charset="0"/>
                                    </a:rPr>
                                  </m:ctrlPr>
                                </m:sSubPr>
                                <m:e>
                                  <m:r>
                                    <a:rPr lang="en-NZ" altLang="ja-JP" sz="1800" b="1" i="1">
                                      <a:solidFill>
                                        <a:srgbClr val="0070C0"/>
                                      </a:solidFill>
                                      <a:latin typeface="Cambria Math" panose="02040503050406030204" pitchFamily="18" charset="0"/>
                                    </a:rPr>
                                    <m:t>𝒙</m:t>
                                  </m:r>
                                </m:e>
                                <m:sub>
                                  <m:r>
                                    <a:rPr lang="en-NZ" altLang="ja-JP" sz="1800" b="1" i="1">
                                      <a:solidFill>
                                        <a:srgbClr val="0070C0"/>
                                      </a:solidFill>
                                      <a:latin typeface="Cambria Math" panose="02040503050406030204" pitchFamily="18" charset="0"/>
                                    </a:rPr>
                                    <m:t>𝟐</m:t>
                                  </m:r>
                                </m:sub>
                              </m:sSub>
                            </m:e>
                          </m:d>
                        </m:sup>
                      </m:sSup>
                    </m:oMath>
                  </m:oMathPara>
                </a14:m>
                <a:endParaRPr lang="en-NZ" altLang="ja-JP" sz="1800" dirty="0">
                  <a:solidFill>
                    <a:srgbClr val="0070C0"/>
                  </a:solidFill>
                </a:endParaRPr>
              </a:p>
            </p:txBody>
          </p:sp>
        </mc:Choice>
        <mc:Fallback xmlns="">
          <p:sp>
            <p:nvSpPr>
              <p:cNvPr id="4" name="Text Placeholder 5">
                <a:extLst>
                  <a:ext uri="{FF2B5EF4-FFF2-40B4-BE49-F238E27FC236}">
                    <a16:creationId xmlns:a16="http://schemas.microsoft.com/office/drawing/2014/main" id="{C2971AB7-00F2-1CE9-F12A-F31F10597210}"/>
                  </a:ext>
                </a:extLst>
              </p:cNvPr>
              <p:cNvSpPr txBox="1">
                <a:spLocks noRot="1" noChangeAspect="1" noMove="1" noResize="1" noEditPoints="1" noAdjustHandles="1" noChangeArrowheads="1" noChangeShapeType="1" noTextEdit="1"/>
              </p:cNvSpPr>
              <p:nvPr/>
            </p:nvSpPr>
            <p:spPr>
              <a:xfrm>
                <a:off x="386173" y="1759820"/>
                <a:ext cx="11419655" cy="942136"/>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7" name="Text Placeholder 5">
                <a:extLst>
                  <a:ext uri="{FF2B5EF4-FFF2-40B4-BE49-F238E27FC236}">
                    <a16:creationId xmlns:a16="http://schemas.microsoft.com/office/drawing/2014/main" id="{F5DA54A4-CDBF-246A-28D0-152F378C0D90}"/>
                  </a:ext>
                </a:extLst>
              </p:cNvPr>
              <p:cNvSpPr txBox="1">
                <a:spLocks/>
              </p:cNvSpPr>
              <p:nvPr/>
            </p:nvSpPr>
            <p:spPr>
              <a:xfrm>
                <a:off x="263857" y="3135646"/>
                <a:ext cx="6026418"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𝒇</m:t>
                          </m:r>
                        </m:e>
                        <m:sub>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𝟏</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m:t>
                          </m:r>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𝟐</m:t>
                              </m:r>
                            </m:sub>
                          </m:sSub>
                        </m:sub>
                      </m:s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d>
                        <m:d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dPr>
                        <m:e>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𝟏</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𝟐</m:t>
                              </m:r>
                            </m:sub>
                          </m:sSub>
                        </m:e>
                      </m:d>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f>
                        <m:fPr>
                          <m:ctrlPr>
                            <a:rPr lang="en-NZ" altLang="ja-JP" sz="1400" b="1" i="1">
                              <a:solidFill>
                                <a:srgbClr val="0070C0"/>
                              </a:solidFill>
                              <a:latin typeface="Cambria Math" panose="02040503050406030204" pitchFamily="18" charset="0"/>
                            </a:rPr>
                          </m:ctrlPr>
                        </m:fPr>
                        <m:num>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𝒆</m:t>
                              </m:r>
                            </m:e>
                            <m:sup>
                              <m:r>
                                <a:rPr lang="en-NZ" altLang="ja-JP" sz="1400" b="1" i="1">
                                  <a:solidFill>
                                    <a:srgbClr val="0070C0"/>
                                  </a:solidFill>
                                  <a:latin typeface="Cambria Math" panose="02040503050406030204" pitchFamily="18" charset="0"/>
                                </a:rPr>
                                <m:t>− </m:t>
                              </m:r>
                              <m:f>
                                <m:fPr>
                                  <m:ctrlPr>
                                    <a:rPr lang="en-NZ" altLang="ja-JP" sz="1400" b="1" i="1">
                                      <a:solidFill>
                                        <a:srgbClr val="0070C0"/>
                                      </a:solidFill>
                                      <a:latin typeface="Cambria Math" panose="02040503050406030204" pitchFamily="18" charset="0"/>
                                    </a:rPr>
                                  </m:ctrlPr>
                                </m:fPr>
                                <m:num>
                                  <m:r>
                                    <a:rPr lang="en-NZ" altLang="ja-JP" sz="1400" b="1" i="1">
                                      <a:solidFill>
                                        <a:srgbClr val="0070C0"/>
                                      </a:solidFill>
                                      <a:latin typeface="Cambria Math" panose="02040503050406030204" pitchFamily="18" charset="0"/>
                                    </a:rPr>
                                    <m:t>𝟏</m:t>
                                  </m:r>
                                </m:num>
                                <m:den>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den>
                              </m:f>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𝟏</m:t>
                                          </m:r>
                                        </m:sub>
                                      </m:sSub>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𝟐</m:t>
                                          </m:r>
                                        </m:sub>
                                      </m:sSub>
                                    </m:e>
                                  </m:d>
                                </m:e>
                                <m:sup>
                                  <m:r>
                                    <a:rPr lang="en-NZ" altLang="ja-JP" sz="1400" b="1" i="1">
                                      <a:solidFill>
                                        <a:srgbClr val="0070C0"/>
                                      </a:solidFill>
                                      <a:latin typeface="Cambria Math" panose="02040503050406030204" pitchFamily="18" charset="0"/>
                                    </a:rPr>
                                    <m:t>𝟐</m:t>
                                  </m:r>
                                </m:sup>
                              </m:sSup>
                            </m:sup>
                          </m:sSup>
                        </m:num>
                        <m:den>
                          <m:rad>
                            <m:radPr>
                              <m:degHide m:val="on"/>
                              <m:ctrlPr>
                                <a:rPr lang="en-NZ" altLang="ja-JP" sz="1400" b="1" i="1">
                                  <a:solidFill>
                                    <a:srgbClr val="0070C0"/>
                                  </a:solidFill>
                                  <a:latin typeface="Cambria Math" panose="02040503050406030204" pitchFamily="18" charset="0"/>
                                </a:rPr>
                              </m:ctrlPr>
                            </m:radPr>
                            <m:deg/>
                            <m:e>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𝝅</m:t>
                              </m:r>
                            </m:e>
                          </m:rad>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e>
                            <m:sup>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m:t>
                              </m:r>
                              <m:r>
                                <a:rPr lang="en-NZ" altLang="ja-JP" sz="1400" b="1" i="1">
                                  <a:solidFill>
                                    <a:srgbClr val="0070C0"/>
                                  </a:solidFill>
                                  <a:latin typeface="Cambria Math" panose="02040503050406030204" pitchFamily="18" charset="0"/>
                                </a:rPr>
                                <m:t>𝟐</m:t>
                              </m:r>
                            </m:sup>
                          </m:sSup>
                        </m:den>
                      </m:f>
                      <m:r>
                        <a:rPr lang="en-NZ" altLang="ja-JP" sz="1400" b="1" i="1" smtClean="0">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𝑵</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smtClean="0">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smtClean="0">
                              <a:solidFill>
                                <a:srgbClr val="0070C0"/>
                              </a:solidFill>
                              <a:latin typeface="Cambria Math" panose="02040503050406030204" pitchFamily="18" charset="0"/>
                            </a:rPr>
                            <m:t>𝟐</m:t>
                          </m:r>
                        </m:sub>
                      </m:sSub>
                      <m:r>
                        <a:rPr lang="en-NZ" altLang="ja-JP" sz="1400" b="1" i="1">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r>
                        <a:rPr lang="en-NZ" altLang="ja-JP" sz="1400" b="1" i="1">
                          <a:solidFill>
                            <a:srgbClr val="0070C0"/>
                          </a:solidFill>
                          <a:latin typeface="Cambria Math" panose="02040503050406030204" pitchFamily="18" charset="0"/>
                        </a:rPr>
                        <m:t>)</m:t>
                      </m:r>
                    </m:oMath>
                  </m:oMathPara>
                </a14:m>
                <a:endParaRPr kumimoji="1" lang="en-NZ"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p:sp>
            <p:nvSpPr>
              <p:cNvPr id="7" name="Text Placeholder 5">
                <a:extLst>
                  <a:ext uri="{FF2B5EF4-FFF2-40B4-BE49-F238E27FC236}">
                    <a16:creationId xmlns:a16="http://schemas.microsoft.com/office/drawing/2014/main" id="{F5DA54A4-CDBF-246A-28D0-152F378C0D90}"/>
                  </a:ext>
                </a:extLst>
              </p:cNvPr>
              <p:cNvSpPr txBox="1">
                <a:spLocks noRot="1" noChangeAspect="1" noMove="1" noResize="1" noEditPoints="1" noAdjustHandles="1" noChangeArrowheads="1" noChangeShapeType="1" noTextEdit="1"/>
              </p:cNvSpPr>
              <p:nvPr/>
            </p:nvSpPr>
            <p:spPr>
              <a:xfrm>
                <a:off x="263857" y="3135646"/>
                <a:ext cx="6026418" cy="886221"/>
              </a:xfrm>
              <a:prstGeom prst="rect">
                <a:avLst/>
              </a:prstGeom>
              <a:blipFill>
                <a:blip r:embed="rId6"/>
                <a:stretch>
                  <a:fillRect/>
                </a:stretch>
              </a:blipFill>
            </p:spPr>
            <p:txBody>
              <a:bodyPr/>
              <a:lstStyle/>
              <a:p>
                <a:r>
                  <a:rPr lang="en-NZ">
                    <a:noFill/>
                  </a:rPr>
                  <a:t> </a:t>
                </a:r>
              </a:p>
            </p:txBody>
          </p:sp>
        </mc:Fallback>
      </mc:AlternateContent>
      <mc:AlternateContent xmlns:mc="http://schemas.openxmlformats.org/markup-compatibility/2006">
        <mc:Choice xmlns:a14="http://schemas.microsoft.com/office/drawing/2010/main" Requires="a14">
          <p:sp>
            <p:nvSpPr>
              <p:cNvPr id="9" name="Text Placeholder 5">
                <a:extLst>
                  <a:ext uri="{FF2B5EF4-FFF2-40B4-BE49-F238E27FC236}">
                    <a16:creationId xmlns:a16="http://schemas.microsoft.com/office/drawing/2014/main" id="{B2BB3E0A-F74C-B120-5459-C77348A31EA2}"/>
                  </a:ext>
                </a:extLst>
              </p:cNvPr>
              <p:cNvSpPr txBox="1">
                <a:spLocks/>
              </p:cNvSpPr>
              <p:nvPr/>
            </p:nvSpPr>
            <p:spPr>
              <a:xfrm>
                <a:off x="5923783" y="3138856"/>
                <a:ext cx="6165582" cy="88622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𝒇</m:t>
                          </m:r>
                        </m:e>
                        <m:sub>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𝟐</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m:t>
                          </m:r>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𝑿</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𝟏</m:t>
                              </m:r>
                            </m:sub>
                          </m:sSub>
                        </m:sub>
                      </m:sSub>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 </m:t>
                      </m:r>
                      <m:d>
                        <m:d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dPr>
                        <m:e>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𝟐</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sSub>
                            <m:sSubPr>
                              <m:ctrlP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ctrlPr>
                            </m:sSubPr>
                            <m:e>
                              <m:r>
                                <a:rPr kumimoji="1" lang="en-NZ" altLang="ja-JP" sz="1400" b="1" i="1" u="none" strike="noStrike" kern="1200" cap="none" spc="0" normalizeH="0" baseline="0" noProof="0">
                                  <a:ln>
                                    <a:noFill/>
                                  </a:ln>
                                  <a:solidFill>
                                    <a:srgbClr val="0070C0"/>
                                  </a:solidFill>
                                  <a:effectLst/>
                                  <a:uLnTx/>
                                  <a:uFillTx/>
                                  <a:latin typeface="Cambria Math" panose="02040503050406030204" pitchFamily="18" charset="0"/>
                                </a:rPr>
                                <m:t>𝒙</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𝟏</m:t>
                              </m:r>
                            </m:sub>
                          </m:sSub>
                        </m:e>
                      </m:d>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rPr>
                        <m:t>  =  </m:t>
                      </m:r>
                      <m:f>
                        <m:fPr>
                          <m:ctrlPr>
                            <a:rPr lang="en-NZ" altLang="ja-JP" sz="1400" b="1" i="1">
                              <a:solidFill>
                                <a:srgbClr val="0070C0"/>
                              </a:solidFill>
                              <a:latin typeface="Cambria Math" panose="02040503050406030204" pitchFamily="18" charset="0"/>
                            </a:rPr>
                          </m:ctrlPr>
                        </m:fPr>
                        <m:num>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𝒆</m:t>
                              </m:r>
                            </m:e>
                            <m:sup>
                              <m:r>
                                <a:rPr lang="en-NZ" altLang="ja-JP" sz="1400" b="1" i="1">
                                  <a:solidFill>
                                    <a:srgbClr val="0070C0"/>
                                  </a:solidFill>
                                  <a:latin typeface="Cambria Math" panose="02040503050406030204" pitchFamily="18" charset="0"/>
                                </a:rPr>
                                <m:t>− </m:t>
                              </m:r>
                              <m:f>
                                <m:fPr>
                                  <m:ctrlPr>
                                    <a:rPr lang="en-NZ" altLang="ja-JP" sz="1400" b="1" i="1">
                                      <a:solidFill>
                                        <a:srgbClr val="0070C0"/>
                                      </a:solidFill>
                                      <a:latin typeface="Cambria Math" panose="02040503050406030204" pitchFamily="18" charset="0"/>
                                    </a:rPr>
                                  </m:ctrlPr>
                                </m:fPr>
                                <m:num>
                                  <m:r>
                                    <a:rPr lang="en-NZ" altLang="ja-JP" sz="1400" b="1" i="1">
                                      <a:solidFill>
                                        <a:srgbClr val="0070C0"/>
                                      </a:solidFill>
                                      <a:latin typeface="Cambria Math" panose="02040503050406030204" pitchFamily="18" charset="0"/>
                                    </a:rPr>
                                    <m:t>𝟏</m:t>
                                  </m:r>
                                </m:num>
                                <m:den>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den>
                              </m:f>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𝟐</m:t>
                                          </m:r>
                                        </m:sub>
                                      </m:sSub>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a:solidFill>
                                                <a:srgbClr val="0070C0"/>
                                              </a:solidFill>
                                              <a:latin typeface="Cambria Math" panose="02040503050406030204" pitchFamily="18" charset="0"/>
                                            </a:rPr>
                                            <m:t>𝟏</m:t>
                                          </m:r>
                                        </m:sub>
                                      </m:sSub>
                                    </m:e>
                                  </m:d>
                                </m:e>
                                <m:sup>
                                  <m:r>
                                    <a:rPr lang="en-NZ" altLang="ja-JP" sz="1400" b="1" i="1">
                                      <a:solidFill>
                                        <a:srgbClr val="0070C0"/>
                                      </a:solidFill>
                                      <a:latin typeface="Cambria Math" panose="02040503050406030204" pitchFamily="18" charset="0"/>
                                    </a:rPr>
                                    <m:t>𝟐</m:t>
                                  </m:r>
                                </m:sup>
                              </m:sSup>
                            </m:sup>
                          </m:sSup>
                        </m:num>
                        <m:den>
                          <m:rad>
                            <m:radPr>
                              <m:degHide m:val="on"/>
                              <m:ctrlPr>
                                <a:rPr lang="en-NZ" altLang="ja-JP" sz="1400" b="1" i="1">
                                  <a:solidFill>
                                    <a:srgbClr val="0070C0"/>
                                  </a:solidFill>
                                  <a:latin typeface="Cambria Math" panose="02040503050406030204" pitchFamily="18" charset="0"/>
                                </a:rPr>
                              </m:ctrlPr>
                            </m:radPr>
                            <m:deg/>
                            <m:e>
                              <m:r>
                                <a:rPr lang="en-NZ" altLang="ja-JP" sz="1400" b="1" i="1">
                                  <a:solidFill>
                                    <a:srgbClr val="0070C0"/>
                                  </a:solidFill>
                                  <a:latin typeface="Cambria Math" panose="02040503050406030204" pitchFamily="18" charset="0"/>
                                </a:rPr>
                                <m:t>𝟐</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𝝅</m:t>
                              </m:r>
                            </m:e>
                          </m:rad>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d>
                                <m:dPr>
                                  <m:ctrlPr>
                                    <a:rPr lang="en-NZ" altLang="ja-JP" sz="1400" b="1" i="1">
                                      <a:solidFill>
                                        <a:srgbClr val="0070C0"/>
                                      </a:solidFill>
                                      <a:latin typeface="Cambria Math" panose="02040503050406030204" pitchFamily="18" charset="0"/>
                                    </a:rPr>
                                  </m:ctrlPr>
                                </m:dPr>
                                <m:e>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e>
                              </m:d>
                            </m:e>
                            <m:sup>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m:t>
                              </m:r>
                              <m:r>
                                <a:rPr lang="en-NZ" altLang="ja-JP" sz="1400" b="1" i="1">
                                  <a:solidFill>
                                    <a:srgbClr val="0070C0"/>
                                  </a:solidFill>
                                  <a:latin typeface="Cambria Math" panose="02040503050406030204" pitchFamily="18" charset="0"/>
                                </a:rPr>
                                <m:t>𝟐</m:t>
                              </m:r>
                            </m:sup>
                          </m:sSup>
                        </m:den>
                      </m:f>
                      <m:r>
                        <a:rPr lang="en-NZ" altLang="ja-JP" sz="1400" b="1" i="1" smtClean="0">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𝑵</m:t>
                      </m:r>
                      <m:r>
                        <a:rPr lang="en-NZ" altLang="ja-JP" sz="1400" b="1" i="1">
                          <a:solidFill>
                            <a:srgbClr val="0070C0"/>
                          </a:solidFill>
                          <a:latin typeface="Cambria Math" panose="02040503050406030204" pitchFamily="18" charset="0"/>
                        </a:rPr>
                        <m:t>( </m:t>
                      </m:r>
                      <m:r>
                        <a:rPr lang="en-NZ" altLang="ja-JP" sz="1400" b="1" i="1">
                          <a:solidFill>
                            <a:srgbClr val="0070C0"/>
                          </a:solidFill>
                          <a:latin typeface="Cambria Math" panose="02040503050406030204" pitchFamily="18" charset="0"/>
                        </a:rPr>
                        <m:t>𝝆</m:t>
                      </m:r>
                      <m:sSub>
                        <m:sSubPr>
                          <m:ctrlPr>
                            <a:rPr lang="en-NZ" altLang="ja-JP" sz="1400" b="1" i="1">
                              <a:solidFill>
                                <a:srgbClr val="0070C0"/>
                              </a:solidFill>
                              <a:latin typeface="Cambria Math" panose="02040503050406030204" pitchFamily="18" charset="0"/>
                            </a:rPr>
                          </m:ctrlPr>
                        </m:sSubPr>
                        <m:e>
                          <m:r>
                            <a:rPr lang="en-NZ" altLang="ja-JP" sz="1400" b="1" i="1">
                              <a:solidFill>
                                <a:srgbClr val="0070C0"/>
                              </a:solidFill>
                              <a:latin typeface="Cambria Math" panose="02040503050406030204" pitchFamily="18" charset="0"/>
                            </a:rPr>
                            <m:t>𝒙</m:t>
                          </m:r>
                        </m:e>
                        <m:sub>
                          <m:r>
                            <a:rPr lang="en-NZ" altLang="ja-JP" sz="1400" b="1" i="1" smtClean="0">
                              <a:solidFill>
                                <a:srgbClr val="0070C0"/>
                              </a:solidFill>
                              <a:latin typeface="Cambria Math" panose="02040503050406030204" pitchFamily="18" charset="0"/>
                            </a:rPr>
                            <m:t>𝟏</m:t>
                          </m:r>
                        </m:sub>
                      </m:sSub>
                      <m:r>
                        <a:rPr lang="en-NZ" altLang="ja-JP" sz="1400" b="1" i="1">
                          <a:solidFill>
                            <a:srgbClr val="0070C0"/>
                          </a:solidFill>
                          <a:latin typeface="Cambria Math" panose="02040503050406030204" pitchFamily="18" charset="0"/>
                        </a:rPr>
                        <m:t> , </m:t>
                      </m:r>
                      <m:r>
                        <a:rPr lang="en-NZ" altLang="ja-JP" sz="1400" b="1" i="1">
                          <a:solidFill>
                            <a:srgbClr val="0070C0"/>
                          </a:solidFill>
                          <a:latin typeface="Cambria Math" panose="02040503050406030204" pitchFamily="18" charset="0"/>
                        </a:rPr>
                        <m:t>𝟏</m:t>
                      </m:r>
                      <m:r>
                        <a:rPr lang="en-NZ" altLang="ja-JP" sz="1400" b="1" i="1">
                          <a:solidFill>
                            <a:srgbClr val="0070C0"/>
                          </a:solidFill>
                          <a:latin typeface="Cambria Math" panose="02040503050406030204" pitchFamily="18" charset="0"/>
                        </a:rPr>
                        <m:t> −</m:t>
                      </m:r>
                      <m:sSup>
                        <m:sSupPr>
                          <m:ctrlPr>
                            <a:rPr lang="en-NZ" altLang="ja-JP" sz="1400" b="1" i="1">
                              <a:solidFill>
                                <a:srgbClr val="0070C0"/>
                              </a:solidFill>
                              <a:latin typeface="Cambria Math" panose="02040503050406030204" pitchFamily="18" charset="0"/>
                            </a:rPr>
                          </m:ctrlPr>
                        </m:sSupPr>
                        <m:e>
                          <m:r>
                            <a:rPr lang="en-NZ" altLang="ja-JP" sz="1400" b="1" i="1">
                              <a:solidFill>
                                <a:srgbClr val="0070C0"/>
                              </a:solidFill>
                              <a:latin typeface="Cambria Math" panose="02040503050406030204" pitchFamily="18" charset="0"/>
                            </a:rPr>
                            <m:t>𝝆</m:t>
                          </m:r>
                        </m:e>
                        <m:sup>
                          <m:r>
                            <a:rPr lang="en-NZ" altLang="ja-JP" sz="1400" b="1" i="1">
                              <a:solidFill>
                                <a:srgbClr val="0070C0"/>
                              </a:solidFill>
                              <a:latin typeface="Cambria Math" panose="02040503050406030204" pitchFamily="18" charset="0"/>
                            </a:rPr>
                            <m:t>𝟐</m:t>
                          </m:r>
                        </m:sup>
                      </m:sSup>
                      <m:r>
                        <a:rPr lang="en-NZ" altLang="ja-JP" sz="1400" b="1" i="1">
                          <a:solidFill>
                            <a:srgbClr val="0070C0"/>
                          </a:solidFill>
                          <a:latin typeface="Cambria Math" panose="02040503050406030204" pitchFamily="18" charset="0"/>
                        </a:rPr>
                        <m:t>)</m:t>
                      </m:r>
                    </m:oMath>
                  </m:oMathPara>
                </a14:m>
                <a:endParaRPr kumimoji="1" lang="en-NZ" altLang="ja-JP" sz="14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endParaRPr>
              </a:p>
            </p:txBody>
          </p:sp>
        </mc:Choice>
        <mc:Fallback>
          <p:sp>
            <p:nvSpPr>
              <p:cNvPr id="9" name="Text Placeholder 5">
                <a:extLst>
                  <a:ext uri="{FF2B5EF4-FFF2-40B4-BE49-F238E27FC236}">
                    <a16:creationId xmlns:a16="http://schemas.microsoft.com/office/drawing/2014/main" id="{B2BB3E0A-F74C-B120-5459-C77348A31EA2}"/>
                  </a:ext>
                </a:extLst>
              </p:cNvPr>
              <p:cNvSpPr txBox="1">
                <a:spLocks noRot="1" noChangeAspect="1" noMove="1" noResize="1" noEditPoints="1" noAdjustHandles="1" noChangeArrowheads="1" noChangeShapeType="1" noTextEdit="1"/>
              </p:cNvSpPr>
              <p:nvPr/>
            </p:nvSpPr>
            <p:spPr>
              <a:xfrm>
                <a:off x="5923783" y="3138856"/>
                <a:ext cx="6165582" cy="886221"/>
              </a:xfrm>
              <a:prstGeom prst="rect">
                <a:avLst/>
              </a:prstGeom>
              <a:blipFill>
                <a:blip r:embed="rId7"/>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410480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5E14CC1-C923-1C45-A020-92C3C76B779D}"/>
              </a:ext>
            </a:extLst>
          </p:cNvPr>
          <p:cNvPicPr>
            <a:picLocks noChangeAspect="1"/>
          </p:cNvPicPr>
          <p:nvPr/>
        </p:nvPicPr>
        <p:blipFill>
          <a:blip r:embed="rId2"/>
          <a:stretch>
            <a:fillRect/>
          </a:stretch>
        </p:blipFill>
        <p:spPr>
          <a:xfrm>
            <a:off x="265162" y="1282514"/>
            <a:ext cx="9038095" cy="460952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9379622" y="2184934"/>
                <a:ext cx="2547216" cy="12634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Graphs show time series plots for post-burn-in values of the chain for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a:solidFill>
                              <a:schemeClr val="tx1"/>
                            </a:solidFill>
                            <a:latin typeface="Cambria Math" panose="02040503050406030204" pitchFamily="18" charset="0"/>
                          </a:rPr>
                          <m:t>𝟏</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and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𝟐</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separately.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9379622" y="2184934"/>
                <a:ext cx="2547216" cy="1263459"/>
              </a:xfrm>
              <a:prstGeom prst="rect">
                <a:avLst/>
              </a:prstGeom>
              <a:blipFill>
                <a:blip r:embed="rId4"/>
                <a:stretch>
                  <a:fillRect l="-957" t="-962" r="-957"/>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379622" y="3647914"/>
            <a:ext cx="2547216" cy="116771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Time series plots show quick convergence and speedy traversing of the state space (good mixing).</a:t>
            </a:r>
          </a:p>
        </p:txBody>
      </p:sp>
      <p:sp>
        <p:nvSpPr>
          <p:cNvPr id="3" name="Title 6">
            <a:extLst>
              <a:ext uri="{FF2B5EF4-FFF2-40B4-BE49-F238E27FC236}">
                <a16:creationId xmlns:a16="http://schemas.microsoft.com/office/drawing/2014/main" id="{3129966A-DBE2-DA3F-D107-98DF6002655C}"/>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Bivariate Normal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 name="Text Placeholder 5">
            <a:extLst>
              <a:ext uri="{FF2B5EF4-FFF2-40B4-BE49-F238E27FC236}">
                <a16:creationId xmlns:a16="http://schemas.microsoft.com/office/drawing/2014/main" id="{A535F561-7150-1053-D187-E8A456E5F029}"/>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11.4b - Gibbs Sampling (2D Normal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spTree>
    <p:extLst>
      <p:ext uri="{BB962C8B-B14F-4D97-AF65-F5344CB8AC3E}">
        <p14:creationId xmlns:p14="http://schemas.microsoft.com/office/powerpoint/2010/main" val="3886182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9379622" y="2184934"/>
                <a:ext cx="2547216" cy="12634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Graphs show autocorrelation plots for post-burn-in values of the chain for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a:solidFill>
                              <a:schemeClr val="tx1"/>
                            </a:solidFill>
                            <a:latin typeface="Cambria Math" panose="02040503050406030204" pitchFamily="18" charset="0"/>
                          </a:rPr>
                          <m:t>𝟏</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and </a:t>
                </a:r>
                <a14:m>
                  <m:oMath xmlns:m="http://schemas.openxmlformats.org/officeDocument/2006/math">
                    <m:sSubSup>
                      <m:sSubSupPr>
                        <m:ctrlPr>
                          <a:rPr lang="en-NZ" altLang="ja-JP" sz="1500" b="1" i="1">
                            <a:solidFill>
                              <a:schemeClr val="tx1"/>
                            </a:solidFill>
                            <a:latin typeface="Cambria Math" panose="02040503050406030204" pitchFamily="18" charset="0"/>
                          </a:rPr>
                        </m:ctrlPr>
                      </m:sSubSupPr>
                      <m:e>
                        <m:r>
                          <a:rPr lang="en-NZ" altLang="ja-JP" sz="1500" b="1" i="1">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𝟐</m:t>
                        </m:r>
                      </m:sub>
                      <m:sup>
                        <m:d>
                          <m:dPr>
                            <m:ctrlPr>
                              <a:rPr lang="en-NZ" altLang="ja-JP" sz="1500" b="1" i="1">
                                <a:solidFill>
                                  <a:schemeClr val="tx1"/>
                                </a:solidFill>
                                <a:latin typeface="Cambria Math" panose="02040503050406030204" pitchFamily="18" charset="0"/>
                              </a:rPr>
                            </m:ctrlPr>
                          </m:dPr>
                          <m:e>
                            <m:r>
                              <a:rPr lang="en-NZ" altLang="ja-JP" sz="1500" b="1" i="1">
                                <a:solidFill>
                                  <a:schemeClr val="tx1"/>
                                </a:solidFill>
                                <a:latin typeface="Cambria Math" panose="02040503050406030204" pitchFamily="18" charset="0"/>
                              </a:rPr>
                              <m:t>𝒕</m:t>
                            </m:r>
                          </m:e>
                        </m:d>
                      </m:sup>
                    </m:sSubSup>
                  </m:oMath>
                </a14:m>
                <a:r>
                  <a:rPr lang="en-NZ" altLang="ja-JP" sz="1500" dirty="0">
                    <a:solidFill>
                      <a:schemeClr val="tx1"/>
                    </a:solidFill>
                  </a:rPr>
                  <a:t> separately.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9379622" y="2184934"/>
                <a:ext cx="2547216" cy="1263459"/>
              </a:xfrm>
              <a:prstGeom prst="rect">
                <a:avLst/>
              </a:prstGeom>
              <a:blipFill>
                <a:blip r:embed="rId3"/>
                <a:stretch>
                  <a:fillRect l="-957" t="-962"/>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379622" y="3647915"/>
            <a:ext cx="2547216" cy="6753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chemeClr val="tx1"/>
                </a:solidFill>
              </a:rPr>
              <a:t>Auto-correlation plots show low correlation for high lag values</a:t>
            </a:r>
          </a:p>
        </p:txBody>
      </p:sp>
      <p:sp>
        <p:nvSpPr>
          <p:cNvPr id="3" name="Title 6">
            <a:extLst>
              <a:ext uri="{FF2B5EF4-FFF2-40B4-BE49-F238E27FC236}">
                <a16:creationId xmlns:a16="http://schemas.microsoft.com/office/drawing/2014/main" id="{14ED9B65-92CA-B915-264B-6D25043573DF}"/>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Bivariate Normal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7" name="Text Placeholder 5">
            <a:extLst>
              <a:ext uri="{FF2B5EF4-FFF2-40B4-BE49-F238E27FC236}">
                <a16:creationId xmlns:a16="http://schemas.microsoft.com/office/drawing/2014/main" id="{C2F346D3-C940-A6CB-28A0-22A82EB4568E}"/>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11.4b - Gibbs Sampling (2D Normal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p:pic>
        <p:nvPicPr>
          <p:cNvPr id="11" name="Picture 10">
            <a:extLst>
              <a:ext uri="{FF2B5EF4-FFF2-40B4-BE49-F238E27FC236}">
                <a16:creationId xmlns:a16="http://schemas.microsoft.com/office/drawing/2014/main" id="{5EDB19F6-0EDF-A66F-0BD0-485AFBE82B2C}"/>
              </a:ext>
            </a:extLst>
          </p:cNvPr>
          <p:cNvPicPr>
            <a:picLocks noChangeAspect="1"/>
          </p:cNvPicPr>
          <p:nvPr/>
        </p:nvPicPr>
        <p:blipFill>
          <a:blip r:embed="rId4"/>
          <a:stretch>
            <a:fillRect/>
          </a:stretch>
        </p:blipFill>
        <p:spPr>
          <a:xfrm>
            <a:off x="319463" y="1124238"/>
            <a:ext cx="8955166" cy="4886472"/>
          </a:xfrm>
          <a:prstGeom prst="rect">
            <a:avLst/>
          </a:prstGeom>
        </p:spPr>
      </p:pic>
    </p:spTree>
    <p:extLst>
      <p:ext uri="{BB962C8B-B14F-4D97-AF65-F5344CB8AC3E}">
        <p14:creationId xmlns:p14="http://schemas.microsoft.com/office/powerpoint/2010/main" val="2442518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8269DBB-DCF8-1255-A7F9-40573A34CC41}"/>
              </a:ext>
            </a:extLst>
          </p:cNvPr>
          <p:cNvPicPr>
            <a:picLocks noChangeAspect="1"/>
          </p:cNvPicPr>
          <p:nvPr/>
        </p:nvPicPr>
        <p:blipFill>
          <a:blip r:embed="rId2"/>
          <a:stretch>
            <a:fillRect/>
          </a:stretch>
        </p:blipFill>
        <p:spPr>
          <a:xfrm>
            <a:off x="510724" y="1878963"/>
            <a:ext cx="8933333" cy="460952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a:t>
            </a: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.4 – Computational Examples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399593" y="954821"/>
                <a:ext cx="11392814"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500" dirty="0">
                    <a:solidFill>
                      <a:schemeClr val="tx1"/>
                    </a:solidFill>
                  </a:rPr>
                  <a:t>Histograms are of </a:t>
                </a:r>
                <a14:m>
                  <m:oMath xmlns:m="http://schemas.openxmlformats.org/officeDocument/2006/math">
                    <m:sSub>
                      <m:sSubPr>
                        <m:ctrlPr>
                          <a:rPr lang="en-NZ" altLang="ja-JP" sz="1500" b="1" i="1" smtClean="0">
                            <a:solidFill>
                              <a:schemeClr val="tx1"/>
                            </a:solidFill>
                            <a:latin typeface="Cambria Math" panose="02040503050406030204" pitchFamily="18" charset="0"/>
                          </a:rPr>
                        </m:ctrlPr>
                      </m:sSubPr>
                      <m:e>
                        <m:r>
                          <a:rPr lang="en-NZ" altLang="ja-JP" sz="1500" b="1" i="1" smtClean="0">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𝒋</m:t>
                        </m:r>
                      </m:sub>
                    </m:sSub>
                  </m:oMath>
                </a14:m>
                <a:r>
                  <a:rPr lang="en-NZ" altLang="ja-JP" sz="1500" b="1" dirty="0">
                    <a:solidFill>
                      <a:schemeClr val="tx1"/>
                    </a:solidFill>
                  </a:rPr>
                  <a:t> </a:t>
                </a:r>
                <a:r>
                  <a:rPr lang="en-NZ" altLang="ja-JP" sz="1500" dirty="0">
                    <a:solidFill>
                      <a:schemeClr val="tx1"/>
                    </a:solidFill>
                  </a:rPr>
                  <a:t>values from the chain represent the marginal density of </a:t>
                </a:r>
                <a14:m>
                  <m:oMath xmlns:m="http://schemas.openxmlformats.org/officeDocument/2006/math">
                    <m:sSub>
                      <m:sSubPr>
                        <m:ctrlPr>
                          <a:rPr lang="en-NZ" altLang="ja-JP" sz="1500" b="1" i="1" smtClean="0">
                            <a:solidFill>
                              <a:schemeClr val="tx1"/>
                            </a:solidFill>
                            <a:latin typeface="Cambria Math" panose="02040503050406030204" pitchFamily="18" charset="0"/>
                          </a:rPr>
                        </m:ctrlPr>
                      </m:sSubPr>
                      <m:e>
                        <m:r>
                          <a:rPr lang="en-NZ" altLang="ja-JP" sz="1500" b="1" i="1" smtClean="0">
                            <a:solidFill>
                              <a:schemeClr val="tx1"/>
                            </a:solidFill>
                            <a:latin typeface="Cambria Math" panose="02040503050406030204" pitchFamily="18" charset="0"/>
                          </a:rPr>
                          <m:t>𝑿</m:t>
                        </m:r>
                      </m:e>
                      <m:sub>
                        <m:r>
                          <a:rPr lang="en-NZ" altLang="ja-JP" sz="1500" b="1" i="1" smtClean="0">
                            <a:solidFill>
                              <a:schemeClr val="tx1"/>
                            </a:solidFill>
                            <a:latin typeface="Cambria Math" panose="02040503050406030204" pitchFamily="18" charset="0"/>
                          </a:rPr>
                          <m:t>𝒋</m:t>
                        </m:r>
                      </m:sub>
                    </m:sSub>
                  </m:oMath>
                </a14:m>
                <a:r>
                  <a:rPr lang="en-NZ" altLang="ja-JP" sz="1500" b="1" dirty="0">
                    <a:solidFill>
                      <a:schemeClr val="tx1"/>
                    </a:solidFill>
                  </a:rPr>
                  <a:t>. </a:t>
                </a:r>
                <a:r>
                  <a:rPr lang="en-NZ" altLang="ja-JP" sz="1500" dirty="0">
                    <a:solidFill>
                      <a:schemeClr val="tx1"/>
                    </a:solidFill>
                  </a:rPr>
                  <a:t>In this case it is known that the marginal densities are given by </a:t>
                </a:r>
              </a:p>
            </p:txBody>
          </p:sp>
        </mc:Choice>
        <mc:Fallback xmlns="">
          <p:sp>
            <p:nvSpPr>
              <p:cNvPr id="18" name="Text Placeholder 5">
                <a:extLst>
                  <a:ext uri="{FF2B5EF4-FFF2-40B4-BE49-F238E27FC236}">
                    <a16:creationId xmlns:a16="http://schemas.microsoft.com/office/drawing/2014/main" id="{53B0AD93-7CE4-07C7-D43D-D1D442ED2EAD}"/>
                  </a:ext>
                </a:extLst>
              </p:cNvPr>
              <p:cNvSpPr txBox="1">
                <a:spLocks noRot="1" noChangeAspect="1" noMove="1" noResize="1" noEditPoints="1" noAdjustHandles="1" noChangeArrowheads="1" noChangeShapeType="1" noTextEdit="1"/>
              </p:cNvSpPr>
              <p:nvPr/>
            </p:nvSpPr>
            <p:spPr>
              <a:xfrm>
                <a:off x="399593" y="954821"/>
                <a:ext cx="11392814" cy="365125"/>
              </a:xfrm>
              <a:prstGeom prst="rect">
                <a:avLst/>
              </a:prstGeom>
              <a:blipFill>
                <a:blip r:embed="rId4"/>
                <a:stretch>
                  <a:fillRect l="-214" t="-3333" b="-6667"/>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95EC4114-FEDF-5DE9-06AF-57F46FC00F9C}"/>
              </a:ext>
            </a:extLst>
          </p:cNvPr>
          <p:cNvSpPr txBox="1">
            <a:spLocks/>
          </p:cNvSpPr>
          <p:nvPr/>
        </p:nvSpPr>
        <p:spPr>
          <a:xfrm>
            <a:off x="9207047" y="3115091"/>
            <a:ext cx="2547216" cy="9665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schemeClr val="tx1"/>
                </a:solidFill>
              </a:rPr>
              <a:t>Shape of histograms are what we would expect given what we know about the marginal distributions.</a:t>
            </a:r>
          </a:p>
        </p:txBody>
      </p:sp>
      <p:sp>
        <p:nvSpPr>
          <p:cNvPr id="3" name="Title 6">
            <a:extLst>
              <a:ext uri="{FF2B5EF4-FFF2-40B4-BE49-F238E27FC236}">
                <a16:creationId xmlns:a16="http://schemas.microsoft.com/office/drawing/2014/main" id="{1FCF1BDA-F407-C475-E2AF-0C421C80DD57}"/>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.4b – Bivariate Normal Example:</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 name="Text Placeholder 5">
            <a:extLst>
              <a:ext uri="{FF2B5EF4-FFF2-40B4-BE49-F238E27FC236}">
                <a16:creationId xmlns:a16="http://schemas.microsoft.com/office/drawing/2014/main" id="{7842235A-0C80-ACD3-FBCA-D6CFD4E4D4F9}"/>
              </a:ext>
            </a:extLst>
          </p:cNvPr>
          <p:cNvSpPr txBox="1">
            <a:spLocks/>
          </p:cNvSpPr>
          <p:nvPr/>
        </p:nvSpPr>
        <p:spPr>
          <a:xfrm>
            <a:off x="2345361" y="6488487"/>
            <a:ext cx="7501278" cy="283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rPr>
              <a:t>Associated Code = 11.4b - Gibbs Sampling (2D Normal Example)</a:t>
            </a:r>
            <a:endParaRPr kumimoji="1" lang="en-US" altLang="ja-JP" sz="120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92BF9CFF-6769-A140-16A3-21B4746EB441}"/>
                  </a:ext>
                </a:extLst>
              </p:cNvPr>
              <p:cNvSpPr txBox="1">
                <a:spLocks/>
              </p:cNvSpPr>
              <p:nvPr/>
            </p:nvSpPr>
            <p:spPr>
              <a:xfrm>
                <a:off x="3355075" y="1307647"/>
                <a:ext cx="5481850" cy="7533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𝒇</m:t>
                          </m:r>
                        </m:e>
                        <m:sub>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sub>
                      </m:sSub>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𝒋</m:t>
                              </m:r>
                            </m:sub>
                          </m:sSub>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num>
                        <m:den>
                          <m:rad>
                            <m:radPr>
                              <m:degHide m:val="o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radPr>
                            <m:deg/>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𝝅</m:t>
                              </m:r>
                            </m:e>
                          </m:rad>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𝒆</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fPr>
                            <m:num>
                              <m:sSubSup>
                                <m:sSubSupPr>
                                  <m:ctrlPr>
                                    <a:rPr lang="en-NZ" altLang="ja-JP" sz="1600" b="1" i="1">
                                      <a:solidFill>
                                        <a:prstClr val="black"/>
                                      </a:solidFill>
                                      <a:latin typeface="Cambria Math" panose="02040503050406030204" pitchFamily="18" charset="0"/>
                                    </a:rPr>
                                  </m:ctrlPr>
                                </m:sSubSup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𝒋</m:t>
                                  </m:r>
                                </m:sub>
                                <m:sup>
                                  <m:r>
                                    <a:rPr lang="en-NZ" altLang="ja-JP" sz="1600" b="1" i="1">
                                      <a:solidFill>
                                        <a:prstClr val="black"/>
                                      </a:solidFill>
                                      <a:latin typeface="Cambria Math" panose="02040503050406030204" pitchFamily="18" charset="0"/>
                                    </a:rPr>
                                    <m:t>𝟐</m:t>
                                  </m:r>
                                </m:sup>
                              </m:sSubSup>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𝟐</m:t>
                              </m:r>
                            </m:den>
                          </m:f>
                        </m:sup>
                      </m:sSup>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p:txBody>
          </p:sp>
        </mc:Choice>
        <mc:Fallback xmlns="">
          <p:sp>
            <p:nvSpPr>
              <p:cNvPr id="9" name="Text Placeholder 5">
                <a:extLst>
                  <a:ext uri="{FF2B5EF4-FFF2-40B4-BE49-F238E27FC236}">
                    <a16:creationId xmlns:a16="http://schemas.microsoft.com/office/drawing/2014/main" id="{92BF9CFF-6769-A140-16A3-21B4746EB441}"/>
                  </a:ext>
                </a:extLst>
              </p:cNvPr>
              <p:cNvSpPr txBox="1">
                <a:spLocks noRot="1" noChangeAspect="1" noMove="1" noResize="1" noEditPoints="1" noAdjustHandles="1" noChangeArrowheads="1" noChangeShapeType="1" noTextEdit="1"/>
              </p:cNvSpPr>
              <p:nvPr/>
            </p:nvSpPr>
            <p:spPr>
              <a:xfrm>
                <a:off x="3355075" y="1307647"/>
                <a:ext cx="5481850" cy="753382"/>
              </a:xfrm>
              <a:prstGeom prst="rect">
                <a:avLst/>
              </a:prstGeom>
              <a:blipFill>
                <a:blip r:embed="rId5"/>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368530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3036585"/>
            <a:ext cx="12104586" cy="7848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11.5 – </a:t>
            </a:r>
            <a:r>
              <a:rPr lang="en-NZ" sz="4500" b="1" dirty="0">
                <a:solidFill>
                  <a:srgbClr val="FFC000"/>
                </a:solidFill>
                <a:latin typeface="Calibri" panose="020F0502020204030204"/>
              </a:rPr>
              <a:t>Final Points</a:t>
            </a:r>
            <a:endPar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endParaRP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523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2" y="947579"/>
                <a:ext cx="1187253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Given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random variables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 probability density function </a:t>
                </a: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oMath>
                </a14:m>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corresponding conditional densities…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457F00DC-2A2A-B09D-D6C4-D8C040CD6909}"/>
                  </a:ext>
                </a:extLst>
              </p:cNvPr>
              <p:cNvSpPr txBox="1">
                <a:spLocks noRot="1" noChangeAspect="1" noMove="1" noResize="1" noEditPoints="1" noAdjustHandles="1" noChangeArrowheads="1" noChangeShapeType="1" noTextEdit="1"/>
              </p:cNvSpPr>
              <p:nvPr/>
            </p:nvSpPr>
            <p:spPr>
              <a:xfrm>
                <a:off x="319462" y="947579"/>
                <a:ext cx="11872537" cy="675343"/>
              </a:xfrm>
              <a:prstGeom prst="rect">
                <a:avLst/>
              </a:prstGeom>
              <a:blipFill>
                <a:blip r:embed="rId3"/>
                <a:stretch>
                  <a:fillRect l="-257"/>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3691BBC8-61AC-26FA-1E81-C0FED148F887}"/>
              </a:ext>
            </a:extLst>
          </p:cNvPr>
          <p:cNvSpPr txBox="1">
            <a:spLocks/>
          </p:cNvSpPr>
          <p:nvPr/>
        </p:nvSpPr>
        <p:spPr>
          <a:xfrm>
            <a:off x="319463" y="2010335"/>
            <a:ext cx="11608680"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Gibbs Sampling algorithm can be described as follows.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90FFBC1C-5C13-C3B6-E9BB-3A60D53F11BF}"/>
              </a:ext>
            </a:extLst>
          </p:cNvPr>
          <p:cNvSpPr txBox="1">
            <a:spLocks/>
          </p:cNvSpPr>
          <p:nvPr/>
        </p:nvSpPr>
        <p:spPr>
          <a:xfrm>
            <a:off x="469870" y="2490514"/>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1:</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4EA74779-3513-CD9F-2A78-09AD3E058F9D}"/>
                  </a:ext>
                </a:extLst>
              </p:cNvPr>
              <p:cNvSpPr txBox="1">
                <a:spLocks/>
              </p:cNvSpPr>
              <p:nvPr/>
            </p:nvSpPr>
            <p:spPr>
              <a:xfrm>
                <a:off x="1337761" y="2441472"/>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Specify an initial value  </a:t>
                </a:r>
                <a14:m>
                  <m:oMath xmlns:m="http://schemas.openxmlformats.org/officeDocument/2006/math">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ba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m>
                                <m:mPr>
                                  <m:mcs>
                                    <m:mc>
                                      <m:mcPr>
                                        <m:count m:val="3"/>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r>
                                      <a:rPr lang="en-NZ" altLang="ja-JP" sz="1600" b="1" i="1" smtClean="0">
                                        <a:solidFill>
                                          <a:prstClr val="black"/>
                                        </a:solidFill>
                                        <a:latin typeface="Cambria Math" panose="02040503050406030204" pitchFamily="18" charset="0"/>
                                      </a:rPr>
                                      <m:t>…,</m:t>
                                    </m:r>
                                  </m:e>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mr>
                        </m:m>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4EA74779-3513-CD9F-2A78-09AD3E058F9D}"/>
                  </a:ext>
                </a:extLst>
              </p:cNvPr>
              <p:cNvSpPr txBox="1">
                <a:spLocks noRot="1" noChangeAspect="1" noMove="1" noResize="1" noEditPoints="1" noAdjustHandles="1" noChangeArrowheads="1" noChangeShapeType="1" noTextEdit="1"/>
              </p:cNvSpPr>
              <p:nvPr/>
            </p:nvSpPr>
            <p:spPr>
              <a:xfrm>
                <a:off x="1337761" y="2441472"/>
                <a:ext cx="6714417" cy="444436"/>
              </a:xfrm>
              <a:prstGeom prst="rect">
                <a:avLst/>
              </a:prstGeom>
              <a:blipFill>
                <a:blip r:embed="rId4"/>
                <a:stretch>
                  <a:fillRect l="-454" b="-9722"/>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584102F-F492-3470-B515-DECF9D42D1F5}"/>
              </a:ext>
            </a:extLst>
          </p:cNvPr>
          <p:cNvSpPr txBox="1">
            <a:spLocks/>
          </p:cNvSpPr>
          <p:nvPr/>
        </p:nvSpPr>
        <p:spPr>
          <a:xfrm>
            <a:off x="469870" y="3016903"/>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2:</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403F963-0E6F-A449-6E10-F8B14EDF5450}"/>
                  </a:ext>
                </a:extLst>
              </p:cNvPr>
              <p:cNvSpPr txBox="1">
                <a:spLocks/>
              </p:cNvSpPr>
              <p:nvPr/>
            </p:nvSpPr>
            <p:spPr>
              <a:xfrm>
                <a:off x="1337761" y="3042479"/>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(where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large)</a:t>
                </a:r>
              </a:p>
            </p:txBody>
          </p:sp>
        </mc:Choice>
        <mc:Fallback xmlns="">
          <p:sp>
            <p:nvSpPr>
              <p:cNvPr id="18" name="Text Placeholder 5">
                <a:extLst>
                  <a:ext uri="{FF2B5EF4-FFF2-40B4-BE49-F238E27FC236}">
                    <a16:creationId xmlns:a16="http://schemas.microsoft.com/office/drawing/2014/main" id="{4403F963-0E6F-A449-6E10-F8B14EDF5450}"/>
                  </a:ext>
                </a:extLst>
              </p:cNvPr>
              <p:cNvSpPr txBox="1">
                <a:spLocks noRot="1" noChangeAspect="1" noMove="1" noResize="1" noEditPoints="1" noAdjustHandles="1" noChangeArrowheads="1" noChangeShapeType="1" noTextEdit="1"/>
              </p:cNvSpPr>
              <p:nvPr/>
            </p:nvSpPr>
            <p:spPr>
              <a:xfrm>
                <a:off x="1337761" y="3042479"/>
                <a:ext cx="6714417" cy="444436"/>
              </a:xfrm>
              <a:prstGeom prst="rect">
                <a:avLst/>
              </a:prstGeom>
              <a:blipFill>
                <a:blip r:embed="rId5"/>
                <a:stretch>
                  <a:fillRect l="-454" t="-41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8D13141-5E7F-52A2-E145-0777BD831821}"/>
                  </a:ext>
                </a:extLst>
              </p:cNvPr>
              <p:cNvSpPr txBox="1">
                <a:spLocks/>
              </p:cNvSpPr>
              <p:nvPr/>
            </p:nvSpPr>
            <p:spPr>
              <a:xfrm>
                <a:off x="1773475" y="3331395"/>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Sub>
                      </m:sub>
                    </m:sSub>
                    <m:r>
                      <a:rPr lang="en-NZ" altLang="ja-JP" sz="1400" b="1" i="1">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smtClean="0">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m>
                                <m:mPr>
                                  <m:mcs>
                                    <m:mc>
                                      <m:mcPr>
                                        <m:count m:val="2"/>
                                        <m:mcJc m:val="center"/>
                                      </m:mcPr>
                                    </m:mc>
                                  </m:mcs>
                                  <m:ctrlPr>
                                    <a:rPr lang="en-NZ" altLang="ja-JP" sz="1400" b="1" i="1" smtClean="0">
                                      <a:solidFill>
                                        <a:prstClr val="black"/>
                                      </a:solidFill>
                                      <a:latin typeface="Cambria Math" panose="02040503050406030204" pitchFamily="18" charset="0"/>
                                    </a:rPr>
                                  </m:ctrlPr>
                                </m:mPr>
                                <m:mr>
                                  <m:e>
                                    <m:r>
                                      <m:rPr>
                                        <m:brk m:alnAt="7"/>
                                      </m:rP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D8D13141-5E7F-52A2-E145-0777BD831821}"/>
                  </a:ext>
                </a:extLst>
              </p:cNvPr>
              <p:cNvSpPr txBox="1">
                <a:spLocks noRot="1" noChangeAspect="1" noMove="1" noResize="1" noEditPoints="1" noAdjustHandles="1" noChangeArrowheads="1" noChangeShapeType="1" noTextEdit="1"/>
              </p:cNvSpPr>
              <p:nvPr/>
            </p:nvSpPr>
            <p:spPr>
              <a:xfrm>
                <a:off x="1773475" y="3331395"/>
                <a:ext cx="6714417" cy="444436"/>
              </a:xfrm>
              <a:prstGeom prst="rect">
                <a:avLst/>
              </a:prstGeom>
              <a:blipFill>
                <a:blip r:embed="rId6"/>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C3A34A9-C601-CCD3-5967-D4F4138F3DA3}"/>
                  </a:ext>
                </a:extLst>
              </p:cNvPr>
              <p:cNvSpPr txBox="1">
                <a:spLocks/>
              </p:cNvSpPr>
              <p:nvPr/>
            </p:nvSpPr>
            <p:spPr>
              <a:xfrm>
                <a:off x="1773475" y="3786191"/>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2"/>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𝟐</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C3A34A9-C601-CCD3-5967-D4F4138F3DA3}"/>
                  </a:ext>
                </a:extLst>
              </p:cNvPr>
              <p:cNvSpPr txBox="1">
                <a:spLocks noRot="1" noChangeAspect="1" noMove="1" noResize="1" noEditPoints="1" noAdjustHandles="1" noChangeArrowheads="1" noChangeShapeType="1" noTextEdit="1"/>
              </p:cNvSpPr>
              <p:nvPr/>
            </p:nvSpPr>
            <p:spPr>
              <a:xfrm>
                <a:off x="1773475" y="3786191"/>
                <a:ext cx="6714417" cy="444436"/>
              </a:xfrm>
              <a:prstGeom prst="rect">
                <a:avLst/>
              </a:prstGeom>
              <a:blipFill>
                <a:blip r:embed="rId7"/>
                <a:stretch>
                  <a:fillRect l="-454"/>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EF25A6D0-21BC-9B3E-D9FB-9338E8F03125}"/>
              </a:ext>
            </a:extLst>
          </p:cNvPr>
          <p:cNvSpPr txBox="1">
            <a:spLocks/>
          </p:cNvSpPr>
          <p:nvPr/>
        </p:nvSpPr>
        <p:spPr>
          <a:xfrm>
            <a:off x="469870" y="5371366"/>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3:</a:t>
            </a:r>
          </a:p>
        </p:txBody>
      </p:sp>
      <p:sp>
        <p:nvSpPr>
          <p:cNvPr id="22" name="Text Placeholder 5">
            <a:extLst>
              <a:ext uri="{FF2B5EF4-FFF2-40B4-BE49-F238E27FC236}">
                <a16:creationId xmlns:a16="http://schemas.microsoft.com/office/drawing/2014/main" id="{700A4823-636B-8E65-BB0A-D18FD6AA5872}"/>
              </a:ext>
            </a:extLst>
          </p:cNvPr>
          <p:cNvSpPr txBox="1">
            <a:spLocks/>
          </p:cNvSpPr>
          <p:nvPr/>
        </p:nvSpPr>
        <p:spPr>
          <a:xfrm>
            <a:off x="1337761" y="5407109"/>
            <a:ext cx="6714417" cy="422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Return the values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C09EF3AF-CD46-0309-ADF3-965A3D4EC9B0}"/>
                  </a:ext>
                </a:extLst>
              </p:cNvPr>
              <p:cNvSpPr txBox="1">
                <a:spLocks/>
              </p:cNvSpPr>
              <p:nvPr/>
            </p:nvSpPr>
            <p:spPr>
              <a:xfrm>
                <a:off x="1773473" y="5518396"/>
                <a:ext cx="6510716" cy="1070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p>
                                    </m:e>
                                  </m:mr>
                                </m:m>
                              </m:e>
                            </m:mr>
                          </m:m>
                          <m:r>
                            <a:rPr lang="en-NZ" altLang="ja-JP" sz="1600" b="1" i="1" smtClean="0">
                              <a:solidFill>
                                <a:prstClr val="black"/>
                              </a:solidFill>
                              <a:latin typeface="Cambria Math" panose="02040503050406030204" pitchFamily="18" charset="0"/>
                            </a:rPr>
                            <m:t> </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r>
                                        <m:e>
                                          <m:r>
                                            <a:rPr lang="en-NZ" altLang="ja-JP" sz="1600" b="1" i="1" smtClean="0">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d>
                                <m:r>
                                  <a:rPr lang="en-NZ" altLang="ja-JP" sz="1600" b="1" i="1" smtClean="0">
                                    <a:solidFill>
                                      <a:prstClr val="black"/>
                                    </a:solidFill>
                                    <a:latin typeface="Cambria Math" panose="02040503050406030204" pitchFamily="18" charset="0"/>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
                                  </m:e>
                                </m:d>
                                <m:r>
                                  <a:rPr lang="en-NZ" altLang="ja-JP" sz="1600" b="1" i="1">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
                                        </m:e>
                                      </m:d>
                                    </m:e>
                                  </m:mr>
                                </m:m>
                                <m:r>
                                  <a:rPr lang="en-NZ" altLang="ja-JP" sz="1600" b="1" i="1" smtClean="0">
                                    <a:solidFill>
                                      <a:prstClr val="black"/>
                                    </a:solidFill>
                                    <a:latin typeface="Cambria Math" panose="02040503050406030204" pitchFamily="18" charset="0"/>
                                  </a:rPr>
                                  <m:t> </m:t>
                                </m:r>
                              </m:e>
                            </m:mr>
                          </m: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C09EF3AF-CD46-0309-ADF3-965A3D4EC9B0}"/>
                  </a:ext>
                </a:extLst>
              </p:cNvPr>
              <p:cNvSpPr txBox="1">
                <a:spLocks noRot="1" noChangeAspect="1" noMove="1" noResize="1" noEditPoints="1" noAdjustHandles="1" noChangeArrowheads="1" noChangeShapeType="1" noTextEdit="1"/>
              </p:cNvSpPr>
              <p:nvPr/>
            </p:nvSpPr>
            <p:spPr>
              <a:xfrm>
                <a:off x="1773473" y="5518396"/>
                <a:ext cx="6510716" cy="1070237"/>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A879482-9A35-CE6D-3413-386E1C689CD3}"/>
                  </a:ext>
                </a:extLst>
              </p:cNvPr>
              <p:cNvSpPr txBox="1"/>
              <p:nvPr/>
            </p:nvSpPr>
            <p:spPr>
              <a:xfrm>
                <a:off x="3059881" y="1305234"/>
                <a:ext cx="6127844" cy="724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r>
                                <a:rPr lang="en-NZ" altLang="ja-JP" sz="1600" b="1" i="1">
                                  <a:solidFill>
                                    <a:prstClr val="black"/>
                                  </a:solidFill>
                                  <a:latin typeface="Cambria Math" panose="02040503050406030204" pitchFamily="18" charset="0"/>
                                </a:rPr>
                                <m:t> ,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den>
                      </m:f>
                    </m:oMath>
                  </m:oMathPara>
                </a14:m>
                <a:endParaRPr lang="en-NZ" sz="1600" dirty="0"/>
              </a:p>
            </p:txBody>
          </p:sp>
        </mc:Choice>
        <mc:Fallback xmlns="">
          <p:sp>
            <p:nvSpPr>
              <p:cNvPr id="9" name="TextBox 8">
                <a:extLst>
                  <a:ext uri="{FF2B5EF4-FFF2-40B4-BE49-F238E27FC236}">
                    <a16:creationId xmlns:a16="http://schemas.microsoft.com/office/drawing/2014/main" id="{AA879482-9A35-CE6D-3413-386E1C689CD3}"/>
                  </a:ext>
                </a:extLst>
              </p:cNvPr>
              <p:cNvSpPr txBox="1">
                <a:spLocks noRot="1" noChangeAspect="1" noMove="1" noResize="1" noEditPoints="1" noAdjustHandles="1" noChangeArrowheads="1" noChangeShapeType="1" noTextEdit="1"/>
              </p:cNvSpPr>
              <p:nvPr/>
            </p:nvSpPr>
            <p:spPr>
              <a:xfrm>
                <a:off x="3059881" y="1305234"/>
                <a:ext cx="6127844" cy="724494"/>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7A0DE8A4-0F73-7343-958B-BD3B7A6873F0}"/>
                  </a:ext>
                </a:extLst>
              </p:cNvPr>
              <p:cNvSpPr txBox="1">
                <a:spLocks/>
              </p:cNvSpPr>
              <p:nvPr/>
            </p:nvSpPr>
            <p:spPr>
              <a:xfrm>
                <a:off x="1773474" y="4212228"/>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3"/>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3" name="Text Placeholder 5">
                <a:extLst>
                  <a:ext uri="{FF2B5EF4-FFF2-40B4-BE49-F238E27FC236}">
                    <a16:creationId xmlns:a16="http://schemas.microsoft.com/office/drawing/2014/main" id="{7A0DE8A4-0F73-7343-958B-BD3B7A6873F0}"/>
                  </a:ext>
                </a:extLst>
              </p:cNvPr>
              <p:cNvSpPr txBox="1">
                <a:spLocks noRot="1" noChangeAspect="1" noMove="1" noResize="1" noEditPoints="1" noAdjustHandles="1" noChangeArrowheads="1" noChangeShapeType="1" noTextEdit="1"/>
              </p:cNvSpPr>
              <p:nvPr/>
            </p:nvSpPr>
            <p:spPr>
              <a:xfrm>
                <a:off x="1773474" y="4212228"/>
                <a:ext cx="6714417" cy="444436"/>
              </a:xfrm>
              <a:prstGeom prst="rect">
                <a:avLst/>
              </a:prstGeom>
              <a:blipFill>
                <a:blip r:embed="rId10"/>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0E800249-C203-B3C0-DF65-CBCF136D94FD}"/>
                  </a:ext>
                </a:extLst>
              </p:cNvPr>
              <p:cNvSpPr txBox="1">
                <a:spLocks/>
              </p:cNvSpPr>
              <p:nvPr/>
            </p:nvSpPr>
            <p:spPr>
              <a:xfrm>
                <a:off x="1773473" y="4824234"/>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16"/>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0E800249-C203-B3C0-DF65-CBCF136D94FD}"/>
                  </a:ext>
                </a:extLst>
              </p:cNvPr>
              <p:cNvSpPr txBox="1">
                <a:spLocks noRot="1" noChangeAspect="1" noMove="1" noResize="1" noEditPoints="1" noAdjustHandles="1" noChangeArrowheads="1" noChangeShapeType="1" noTextEdit="1"/>
              </p:cNvSpPr>
              <p:nvPr/>
            </p:nvSpPr>
            <p:spPr>
              <a:xfrm>
                <a:off x="1773473" y="4824234"/>
                <a:ext cx="6714417" cy="444436"/>
              </a:xfrm>
              <a:prstGeom prst="rect">
                <a:avLst/>
              </a:prstGeom>
              <a:blipFill>
                <a:blip r:embed="rId11"/>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87F075B-5C42-A988-C71E-953ADB77AF82}"/>
                  </a:ext>
                </a:extLst>
              </p:cNvPr>
              <p:cNvSpPr txBox="1">
                <a:spLocks/>
              </p:cNvSpPr>
              <p:nvPr/>
            </p:nvSpPr>
            <p:spPr>
              <a:xfrm>
                <a:off x="2792518" y="4624451"/>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687F075B-5C42-A988-C71E-953ADB77AF82}"/>
                  </a:ext>
                </a:extLst>
              </p:cNvPr>
              <p:cNvSpPr txBox="1">
                <a:spLocks noRot="1" noChangeAspect="1" noMove="1" noResize="1" noEditPoints="1" noAdjustHandles="1" noChangeArrowheads="1" noChangeShapeType="1" noTextEdit="1"/>
              </p:cNvSpPr>
              <p:nvPr/>
            </p:nvSpPr>
            <p:spPr>
              <a:xfrm>
                <a:off x="2792518" y="4624451"/>
                <a:ext cx="534725" cy="444436"/>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19385AD8-7FED-1AEF-8D20-95A0C5D74D35}"/>
                  </a:ext>
                </a:extLst>
              </p:cNvPr>
              <p:cNvSpPr txBox="1">
                <a:spLocks/>
              </p:cNvSpPr>
              <p:nvPr/>
            </p:nvSpPr>
            <p:spPr>
              <a:xfrm>
                <a:off x="3762954" y="4637626"/>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19385AD8-7FED-1AEF-8D20-95A0C5D74D35}"/>
                  </a:ext>
                </a:extLst>
              </p:cNvPr>
              <p:cNvSpPr txBox="1">
                <a:spLocks noRot="1" noChangeAspect="1" noMove="1" noResize="1" noEditPoints="1" noAdjustHandles="1" noChangeArrowheads="1" noChangeShapeType="1" noTextEdit="1"/>
              </p:cNvSpPr>
              <p:nvPr/>
            </p:nvSpPr>
            <p:spPr>
              <a:xfrm>
                <a:off x="3762954" y="4637626"/>
                <a:ext cx="534725" cy="444436"/>
              </a:xfrm>
              <a:prstGeom prst="rect">
                <a:avLst/>
              </a:prstGeom>
              <a:blipFill>
                <a:blip r:embed="rId1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C896E4BA-ACFD-A7CB-49EE-BB5C00FDFA35}"/>
                  </a:ext>
                </a:extLst>
              </p:cNvPr>
              <p:cNvSpPr txBox="1">
                <a:spLocks/>
              </p:cNvSpPr>
              <p:nvPr/>
            </p:nvSpPr>
            <p:spPr>
              <a:xfrm>
                <a:off x="5219395" y="4638274"/>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C896E4BA-ACFD-A7CB-49EE-BB5C00FDFA35}"/>
                  </a:ext>
                </a:extLst>
              </p:cNvPr>
              <p:cNvSpPr txBox="1">
                <a:spLocks noRot="1" noChangeAspect="1" noMove="1" noResize="1" noEditPoints="1" noAdjustHandles="1" noChangeArrowheads="1" noChangeShapeType="1" noTextEdit="1"/>
              </p:cNvSpPr>
              <p:nvPr/>
            </p:nvSpPr>
            <p:spPr>
              <a:xfrm>
                <a:off x="5219395" y="4638274"/>
                <a:ext cx="534725" cy="444436"/>
              </a:xfrm>
              <a:prstGeom prst="rect">
                <a:avLst/>
              </a:prstGeom>
              <a:blipFill>
                <a:blip r:embed="rId14"/>
                <a:stretch>
                  <a:fillRect/>
                </a:stretch>
              </a:blipFill>
            </p:spPr>
            <p:txBody>
              <a:bodyPr/>
              <a:lstStyle/>
              <a:p>
                <a:r>
                  <a:rPr lang="en-NZ">
                    <a:noFill/>
                  </a:rPr>
                  <a:t> </a:t>
                </a:r>
              </a:p>
            </p:txBody>
          </p:sp>
        </mc:Fallback>
      </mc:AlternateContent>
      <p:sp>
        <p:nvSpPr>
          <p:cNvPr id="4" name="Footer Placeholder 2">
            <a:extLst>
              <a:ext uri="{FF2B5EF4-FFF2-40B4-BE49-F238E27FC236}">
                <a16:creationId xmlns:a16="http://schemas.microsoft.com/office/drawing/2014/main" id="{75CFE2D8-85FD-2E4A-DC4A-04B615358B88}"/>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11.5 – Final Points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itle 6">
            <a:extLst>
              <a:ext uri="{FF2B5EF4-FFF2-40B4-BE49-F238E27FC236}">
                <a16:creationId xmlns:a16="http://schemas.microsoft.com/office/drawing/2014/main" id="{EAE8B006-35BB-DEB0-E8A4-3DF8031C96F9}"/>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.5a – Scanning Strategies: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Right Brace 7">
            <a:extLst>
              <a:ext uri="{FF2B5EF4-FFF2-40B4-BE49-F238E27FC236}">
                <a16:creationId xmlns:a16="http://schemas.microsoft.com/office/drawing/2014/main" id="{A256184F-E53D-00A8-5509-6D9D67CC2F13}"/>
              </a:ext>
            </a:extLst>
          </p:cNvPr>
          <p:cNvSpPr/>
          <p:nvPr/>
        </p:nvSpPr>
        <p:spPr>
          <a:xfrm>
            <a:off x="7376543" y="3366532"/>
            <a:ext cx="301549" cy="18670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0" name="Text Placeholder 5">
            <a:extLst>
              <a:ext uri="{FF2B5EF4-FFF2-40B4-BE49-F238E27FC236}">
                <a16:creationId xmlns:a16="http://schemas.microsoft.com/office/drawing/2014/main" id="{C314A21C-F1BB-C15C-4D13-BB39278980D0}"/>
              </a:ext>
            </a:extLst>
          </p:cNvPr>
          <p:cNvSpPr txBox="1">
            <a:spLocks/>
          </p:cNvSpPr>
          <p:nvPr/>
        </p:nvSpPr>
        <p:spPr>
          <a:xfrm>
            <a:off x="7769801" y="3310319"/>
            <a:ext cx="4158342" cy="14395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Don’t need to update variables one at a time.</a:t>
            </a:r>
          </a:p>
          <a:p>
            <a:pPr lvl="0">
              <a:lnSpc>
                <a:spcPct val="100000"/>
              </a:lnSpc>
              <a:defRPr/>
            </a:pPr>
            <a:r>
              <a:rPr lang="en-NZ" altLang="ja-JP" sz="1600" dirty="0">
                <a:solidFill>
                  <a:srgbClr val="0070C0"/>
                </a:solidFill>
                <a:latin typeface="Calibri" panose="020F0502020204030204"/>
                <a:ea typeface="游ゴシック" panose="020B0400000000000000" pitchFamily="34" charset="-128"/>
              </a:rPr>
              <a:t>Can update variables in blocks of 2 or more.</a:t>
            </a:r>
          </a:p>
          <a:p>
            <a:pPr lvl="0">
              <a:lnSpc>
                <a:spcPct val="100000"/>
              </a:lnSpc>
              <a:defRPr/>
            </a:pPr>
            <a:endPar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lvl="0">
              <a:lnSpc>
                <a:spcPct val="100000"/>
              </a:lnSpc>
              <a:defRPr/>
            </a:pPr>
            <a:r>
              <a:rPr lang="en-NZ" altLang="ja-JP" sz="1600" dirty="0">
                <a:solidFill>
                  <a:srgbClr val="0070C0"/>
                </a:solidFill>
                <a:latin typeface="Calibri" panose="020F0502020204030204"/>
                <a:ea typeface="游ゴシック" panose="020B0400000000000000" pitchFamily="34" charset="-128"/>
              </a:rPr>
              <a:t>This can be especially useful if the variables within the blocks are correlated.</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D2B5B9B3-12F0-F35B-800B-5448E6EBC70D}"/>
              </a:ext>
            </a:extLst>
          </p:cNvPr>
          <p:cNvSpPr txBox="1">
            <a:spLocks/>
          </p:cNvSpPr>
          <p:nvPr/>
        </p:nvSpPr>
        <p:spPr>
          <a:xfrm>
            <a:off x="7769801" y="4740084"/>
            <a:ext cx="4158342" cy="7351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Also don’t need to update the variables </a:t>
            </a:r>
            <a:r>
              <a:rPr lang="en-NZ" altLang="ja-JP" sz="1600" dirty="0">
                <a:solidFill>
                  <a:srgbClr val="0070C0"/>
                </a:solidFill>
                <a:latin typeface="Calibri" panose="020F0502020204030204"/>
                <a:ea typeface="游ゴシック" panose="020B0400000000000000" pitchFamily="34" charset="-128"/>
              </a:rPr>
              <a:t>in the order described here… Scanning Strategies.</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98122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457F00DC-2A2A-B09D-D6C4-D8C040CD6909}"/>
                  </a:ext>
                </a:extLst>
              </p:cNvPr>
              <p:cNvSpPr txBox="1">
                <a:spLocks/>
              </p:cNvSpPr>
              <p:nvPr/>
            </p:nvSpPr>
            <p:spPr>
              <a:xfrm>
                <a:off x="319462" y="947579"/>
                <a:ext cx="11872537"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Given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random variables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Sub>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with</a:t>
                </a:r>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joint probability density function </a:t>
                </a:r>
                <a14:m>
                  <m:oMath xmlns:m="http://schemas.openxmlformats.org/officeDocument/2006/math">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oMath>
                </a14:m>
                <a:r>
                  <a:rPr kumimoji="1" lang="en-NZ" altLang="ja-JP" sz="160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with corresponding conditional densities…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457F00DC-2A2A-B09D-D6C4-D8C040CD6909}"/>
                  </a:ext>
                </a:extLst>
              </p:cNvPr>
              <p:cNvSpPr txBox="1">
                <a:spLocks noRot="1" noChangeAspect="1" noMove="1" noResize="1" noEditPoints="1" noAdjustHandles="1" noChangeArrowheads="1" noChangeShapeType="1" noTextEdit="1"/>
              </p:cNvSpPr>
              <p:nvPr/>
            </p:nvSpPr>
            <p:spPr>
              <a:xfrm>
                <a:off x="319462" y="947579"/>
                <a:ext cx="11872537" cy="675343"/>
              </a:xfrm>
              <a:prstGeom prst="rect">
                <a:avLst/>
              </a:prstGeom>
              <a:blipFill>
                <a:blip r:embed="rId3"/>
                <a:stretch>
                  <a:fillRect l="-257"/>
                </a:stretch>
              </a:blipFill>
            </p:spPr>
            <p:txBody>
              <a:bodyPr/>
              <a:lstStyle/>
              <a:p>
                <a:r>
                  <a:rPr lang="en-NZ">
                    <a:noFill/>
                  </a:rPr>
                  <a:t> </a:t>
                </a:r>
              </a:p>
            </p:txBody>
          </p:sp>
        </mc:Fallback>
      </mc:AlternateContent>
      <p:sp>
        <p:nvSpPr>
          <p:cNvPr id="14" name="Text Placeholder 5">
            <a:extLst>
              <a:ext uri="{FF2B5EF4-FFF2-40B4-BE49-F238E27FC236}">
                <a16:creationId xmlns:a16="http://schemas.microsoft.com/office/drawing/2014/main" id="{3691BBC8-61AC-26FA-1E81-C0FED148F887}"/>
              </a:ext>
            </a:extLst>
          </p:cNvPr>
          <p:cNvSpPr txBox="1">
            <a:spLocks/>
          </p:cNvSpPr>
          <p:nvPr/>
        </p:nvSpPr>
        <p:spPr>
          <a:xfrm>
            <a:off x="319463" y="2010335"/>
            <a:ext cx="11608680"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 Gibbs Sampling algorithm can be described as follows.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90FFBC1C-5C13-C3B6-E9BB-3A60D53F11BF}"/>
              </a:ext>
            </a:extLst>
          </p:cNvPr>
          <p:cNvSpPr txBox="1">
            <a:spLocks/>
          </p:cNvSpPr>
          <p:nvPr/>
        </p:nvSpPr>
        <p:spPr>
          <a:xfrm>
            <a:off x="469870" y="2490514"/>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1:</a:t>
            </a:r>
          </a:p>
        </p:txBody>
      </p:sp>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4EA74779-3513-CD9F-2A78-09AD3E058F9D}"/>
                  </a:ext>
                </a:extLst>
              </p:cNvPr>
              <p:cNvSpPr txBox="1">
                <a:spLocks/>
              </p:cNvSpPr>
              <p:nvPr/>
            </p:nvSpPr>
            <p:spPr>
              <a:xfrm>
                <a:off x="1337761" y="2441472"/>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Specify an initial value  </a:t>
                </a:r>
                <a14:m>
                  <m:oMath xmlns:m="http://schemas.openxmlformats.org/officeDocument/2006/math">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sSupPr>
                      <m:e>
                        <m:bar>
                          <m:bar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bar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𝒙</m:t>
                            </m:r>
                          </m:e>
                        </m:ba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𝟏</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sup>
                    </m:s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m>
                                <m:mPr>
                                  <m:mcs>
                                    <m:mc>
                                      <m:mcPr>
                                        <m:count m:val="3"/>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𝟐</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r>
                                      <a:rPr lang="en-NZ" altLang="ja-JP" sz="1600" b="1" i="1" smtClean="0">
                                        <a:solidFill>
                                          <a:prstClr val="black"/>
                                        </a:solidFill>
                                        <a:latin typeface="Cambria Math" panose="02040503050406030204" pitchFamily="18" charset="0"/>
                                      </a:rPr>
                                      <m:t>,</m:t>
                                    </m:r>
                                  </m:e>
                                  <m:e>
                                    <m:r>
                                      <a:rPr lang="en-NZ" altLang="ja-JP" sz="1600" b="1" i="1" smtClean="0">
                                        <a:solidFill>
                                          <a:prstClr val="black"/>
                                        </a:solidFill>
                                        <a:latin typeface="Cambria Math" panose="02040503050406030204" pitchFamily="18" charset="0"/>
                                      </a:rPr>
                                      <m:t>…,</m:t>
                                    </m:r>
                                  </m:e>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m:rPr>
                                            <m:brk m:alnAt="7"/>
                                          </m:rP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mr>
                        </m:m>
                      </m:e>
                    </m:d>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4EA74779-3513-CD9F-2A78-09AD3E058F9D}"/>
                  </a:ext>
                </a:extLst>
              </p:cNvPr>
              <p:cNvSpPr txBox="1">
                <a:spLocks noRot="1" noChangeAspect="1" noMove="1" noResize="1" noEditPoints="1" noAdjustHandles="1" noChangeArrowheads="1" noChangeShapeType="1" noTextEdit="1"/>
              </p:cNvSpPr>
              <p:nvPr/>
            </p:nvSpPr>
            <p:spPr>
              <a:xfrm>
                <a:off x="1337761" y="2441472"/>
                <a:ext cx="6714417" cy="444436"/>
              </a:xfrm>
              <a:prstGeom prst="rect">
                <a:avLst/>
              </a:prstGeom>
              <a:blipFill>
                <a:blip r:embed="rId4"/>
                <a:stretch>
                  <a:fillRect l="-454" b="-9722"/>
                </a:stretch>
              </a:blipFill>
            </p:spPr>
            <p:txBody>
              <a:bodyPr/>
              <a:lstStyle/>
              <a:p>
                <a:r>
                  <a:rPr lang="en-NZ">
                    <a:noFill/>
                  </a:rPr>
                  <a:t> </a:t>
                </a:r>
              </a:p>
            </p:txBody>
          </p:sp>
        </mc:Fallback>
      </mc:AlternateContent>
      <p:sp>
        <p:nvSpPr>
          <p:cNvPr id="17" name="Text Placeholder 5">
            <a:extLst>
              <a:ext uri="{FF2B5EF4-FFF2-40B4-BE49-F238E27FC236}">
                <a16:creationId xmlns:a16="http://schemas.microsoft.com/office/drawing/2014/main" id="{6584102F-F492-3470-B515-DECF9D42D1F5}"/>
              </a:ext>
            </a:extLst>
          </p:cNvPr>
          <p:cNvSpPr txBox="1">
            <a:spLocks/>
          </p:cNvSpPr>
          <p:nvPr/>
        </p:nvSpPr>
        <p:spPr>
          <a:xfrm>
            <a:off x="469870" y="3016903"/>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2:</a:t>
            </a:r>
          </a:p>
        </p:txBody>
      </p:sp>
      <mc:AlternateContent xmlns:mc="http://schemas.openxmlformats.org/markup-compatibility/2006" xmlns:a14="http://schemas.microsoft.com/office/drawing/2010/main">
        <mc:Choice Requires="a14">
          <p:sp>
            <p:nvSpPr>
              <p:cNvPr id="18" name="Text Placeholder 5">
                <a:extLst>
                  <a:ext uri="{FF2B5EF4-FFF2-40B4-BE49-F238E27FC236}">
                    <a16:creationId xmlns:a16="http://schemas.microsoft.com/office/drawing/2014/main" id="{4403F963-0E6F-A449-6E10-F8B14EDF5450}"/>
                  </a:ext>
                </a:extLst>
              </p:cNvPr>
              <p:cNvSpPr txBox="1">
                <a:spLocks/>
              </p:cNvSpPr>
              <p:nvPr/>
            </p:nvSpPr>
            <p:spPr>
              <a:xfrm>
                <a:off x="1337761" y="3042479"/>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For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(where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𝑻</m:t>
                    </m:r>
                  </m:oMath>
                </a14:m>
                <a:r>
                  <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large)</a:t>
                </a:r>
              </a:p>
            </p:txBody>
          </p:sp>
        </mc:Choice>
        <mc:Fallback xmlns="">
          <p:sp>
            <p:nvSpPr>
              <p:cNvPr id="18" name="Text Placeholder 5">
                <a:extLst>
                  <a:ext uri="{FF2B5EF4-FFF2-40B4-BE49-F238E27FC236}">
                    <a16:creationId xmlns:a16="http://schemas.microsoft.com/office/drawing/2014/main" id="{4403F963-0E6F-A449-6E10-F8B14EDF5450}"/>
                  </a:ext>
                </a:extLst>
              </p:cNvPr>
              <p:cNvSpPr txBox="1">
                <a:spLocks noRot="1" noChangeAspect="1" noMove="1" noResize="1" noEditPoints="1" noAdjustHandles="1" noChangeArrowheads="1" noChangeShapeType="1" noTextEdit="1"/>
              </p:cNvSpPr>
              <p:nvPr/>
            </p:nvSpPr>
            <p:spPr>
              <a:xfrm>
                <a:off x="1337761" y="3042479"/>
                <a:ext cx="6714417" cy="444436"/>
              </a:xfrm>
              <a:prstGeom prst="rect">
                <a:avLst/>
              </a:prstGeom>
              <a:blipFill>
                <a:blip r:embed="rId5"/>
                <a:stretch>
                  <a:fillRect l="-454" t="-4110"/>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9" name="Text Placeholder 5">
                <a:extLst>
                  <a:ext uri="{FF2B5EF4-FFF2-40B4-BE49-F238E27FC236}">
                    <a16:creationId xmlns:a16="http://schemas.microsoft.com/office/drawing/2014/main" id="{D8D13141-5E7F-52A2-E145-0777BD831821}"/>
                  </a:ext>
                </a:extLst>
              </p:cNvPr>
              <p:cNvSpPr txBox="1">
                <a:spLocks/>
              </p:cNvSpPr>
              <p:nvPr/>
            </p:nvSpPr>
            <p:spPr>
              <a:xfrm>
                <a:off x="1773475" y="3331395"/>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Sub>
                      </m:sub>
                    </m:sSub>
                    <m:r>
                      <a:rPr lang="en-NZ" altLang="ja-JP" sz="1400" b="1" i="1">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𝟏</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smtClean="0">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smtClean="0">
                                  <a:solidFill>
                                    <a:prstClr val="black"/>
                                  </a:solidFill>
                                  <a:latin typeface="Cambria Math" panose="02040503050406030204" pitchFamily="18" charset="0"/>
                                </a:rPr>
                                <m:t>,</m:t>
                              </m:r>
                            </m:e>
                            <m:e>
                              <m:m>
                                <m:mPr>
                                  <m:mcs>
                                    <m:mc>
                                      <m:mcPr>
                                        <m:count m:val="2"/>
                                        <m:mcJc m:val="center"/>
                                      </m:mcPr>
                                    </m:mc>
                                  </m:mcs>
                                  <m:ctrlPr>
                                    <a:rPr lang="en-NZ" altLang="ja-JP" sz="1400" b="1" i="1" smtClean="0">
                                      <a:solidFill>
                                        <a:prstClr val="black"/>
                                      </a:solidFill>
                                      <a:latin typeface="Cambria Math" panose="02040503050406030204" pitchFamily="18" charset="0"/>
                                    </a:rPr>
                                  </m:ctrlPr>
                                </m:mPr>
                                <m:mr>
                                  <m:e>
                                    <m:r>
                                      <m:rPr>
                                        <m:brk m:alnAt="7"/>
                                      </m:rP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9" name="Text Placeholder 5">
                <a:extLst>
                  <a:ext uri="{FF2B5EF4-FFF2-40B4-BE49-F238E27FC236}">
                    <a16:creationId xmlns:a16="http://schemas.microsoft.com/office/drawing/2014/main" id="{D8D13141-5E7F-52A2-E145-0777BD831821}"/>
                  </a:ext>
                </a:extLst>
              </p:cNvPr>
              <p:cNvSpPr txBox="1">
                <a:spLocks noRot="1" noChangeAspect="1" noMove="1" noResize="1" noEditPoints="1" noAdjustHandles="1" noChangeArrowheads="1" noChangeShapeType="1" noTextEdit="1"/>
              </p:cNvSpPr>
              <p:nvPr/>
            </p:nvSpPr>
            <p:spPr>
              <a:xfrm>
                <a:off x="1773475" y="3331395"/>
                <a:ext cx="6714417" cy="444436"/>
              </a:xfrm>
              <a:prstGeom prst="rect">
                <a:avLst/>
              </a:prstGeom>
              <a:blipFill>
                <a:blip r:embed="rId6"/>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DC3A34A9-C601-CCD3-5967-D4F4138F3DA3}"/>
                  </a:ext>
                </a:extLst>
              </p:cNvPr>
              <p:cNvSpPr txBox="1">
                <a:spLocks/>
              </p:cNvSpPr>
              <p:nvPr/>
            </p:nvSpPr>
            <p:spPr>
              <a:xfrm>
                <a:off x="1773475" y="3786191"/>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2"/>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𝟐</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𝟐</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DC3A34A9-C601-CCD3-5967-D4F4138F3DA3}"/>
                  </a:ext>
                </a:extLst>
              </p:cNvPr>
              <p:cNvSpPr txBox="1">
                <a:spLocks noRot="1" noChangeAspect="1" noMove="1" noResize="1" noEditPoints="1" noAdjustHandles="1" noChangeArrowheads="1" noChangeShapeType="1" noTextEdit="1"/>
              </p:cNvSpPr>
              <p:nvPr/>
            </p:nvSpPr>
            <p:spPr>
              <a:xfrm>
                <a:off x="1773475" y="3786191"/>
                <a:ext cx="6714417" cy="444436"/>
              </a:xfrm>
              <a:prstGeom prst="rect">
                <a:avLst/>
              </a:prstGeom>
              <a:blipFill>
                <a:blip r:embed="rId7"/>
                <a:stretch>
                  <a:fillRect l="-454"/>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EF25A6D0-21BC-9B3E-D9FB-9338E8F03125}"/>
              </a:ext>
            </a:extLst>
          </p:cNvPr>
          <p:cNvSpPr txBox="1">
            <a:spLocks/>
          </p:cNvSpPr>
          <p:nvPr/>
        </p:nvSpPr>
        <p:spPr>
          <a:xfrm>
            <a:off x="469870" y="5371366"/>
            <a:ext cx="86789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800" b="1" dirty="0">
                <a:solidFill>
                  <a:schemeClr val="tx1"/>
                </a:solidFill>
              </a:rPr>
              <a:t>Step 3:</a:t>
            </a:r>
          </a:p>
        </p:txBody>
      </p:sp>
      <p:sp>
        <p:nvSpPr>
          <p:cNvPr id="22" name="Text Placeholder 5">
            <a:extLst>
              <a:ext uri="{FF2B5EF4-FFF2-40B4-BE49-F238E27FC236}">
                <a16:creationId xmlns:a16="http://schemas.microsoft.com/office/drawing/2014/main" id="{700A4823-636B-8E65-BB0A-D18FD6AA5872}"/>
              </a:ext>
            </a:extLst>
          </p:cNvPr>
          <p:cNvSpPr txBox="1">
            <a:spLocks/>
          </p:cNvSpPr>
          <p:nvPr/>
        </p:nvSpPr>
        <p:spPr>
          <a:xfrm>
            <a:off x="1337761" y="5407109"/>
            <a:ext cx="6714417" cy="4224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Return the values</a:t>
            </a:r>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3" name="Text Placeholder 5">
                <a:extLst>
                  <a:ext uri="{FF2B5EF4-FFF2-40B4-BE49-F238E27FC236}">
                    <a16:creationId xmlns:a16="http://schemas.microsoft.com/office/drawing/2014/main" id="{C09EF3AF-CD46-0309-ADF3-965A3D4EC9B0}"/>
                  </a:ext>
                </a:extLst>
              </p:cNvPr>
              <p:cNvSpPr txBox="1">
                <a:spLocks/>
              </p:cNvSpPr>
              <p:nvPr/>
            </p:nvSpPr>
            <p:spPr>
              <a:xfrm>
                <a:off x="1773473" y="5518396"/>
                <a:ext cx="6510716" cy="107023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left"/>
                    </m:oMathParaPr>
                    <m:oMath xmlns:m="http://schemas.openxmlformats.org/officeDocument/2006/math">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p>
                                <m:r>
                                  <a:rPr lang="en-NZ" altLang="ja-JP" sz="1600" b="1" i="1" smtClean="0">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sSup>
                                        <m:sSupPr>
                                          <m:ctrlPr>
                                            <a:rPr lang="en-NZ" altLang="ja-JP" sz="1600" b="1" i="1">
                                              <a:solidFill>
                                                <a:prstClr val="black"/>
                                              </a:solidFill>
                                              <a:latin typeface="Cambria Math" panose="02040503050406030204" pitchFamily="18" charset="0"/>
                                            </a:rPr>
                                          </m:ctrlPr>
                                        </m:sSupPr>
                                        <m:e>
                                          <m:bar>
                                            <m:barPr>
                                              <m:ctrlPr>
                                                <a:rPr lang="en-NZ" altLang="ja-JP" sz="1600" b="1" i="1">
                                                  <a:solidFill>
                                                    <a:prstClr val="black"/>
                                                  </a:solidFill>
                                                  <a:latin typeface="Cambria Math" panose="02040503050406030204" pitchFamily="18" charset="0"/>
                                                </a:rPr>
                                              </m:ctrlPr>
                                            </m:barPr>
                                            <m:e>
                                              <m:r>
                                                <a:rPr lang="en-NZ" altLang="ja-JP" sz="1600" b="1" i="1">
                                                  <a:solidFill>
                                                    <a:prstClr val="black"/>
                                                  </a:solidFill>
                                                  <a:latin typeface="Cambria Math" panose="02040503050406030204" pitchFamily="18" charset="0"/>
                                                </a:rPr>
                                                <m:t>𝒙</m:t>
                                              </m:r>
                                            </m:e>
                                          </m:bar>
                                        </m:e>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p>
                                    </m:e>
                                  </m:mr>
                                </m:m>
                              </m:e>
                            </m:mr>
                          </m:m>
                          <m:r>
                            <a:rPr lang="en-NZ" altLang="ja-JP" sz="1600" b="1" i="1" smtClean="0">
                              <a:solidFill>
                                <a:prstClr val="black"/>
                              </a:solidFill>
                              <a:latin typeface="Cambria Math" panose="02040503050406030204" pitchFamily="18" charset="0"/>
                            </a:rPr>
                            <m:t> </m:t>
                          </m:r>
                        </m:e>
                      </m:d>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  </m:t>
                      </m:r>
                      <m:d>
                        <m:dPr>
                          <m:begChr m:val="{"/>
                          <m:endChr m:val="}"/>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m>
                            <m:mPr>
                              <m:mcs>
                                <m:mc>
                                  <m:mcPr>
                                    <m:count m:val="3"/>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smtClean="0">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r>
                                        <m:e>
                                          <m:r>
                                            <a:rPr lang="en-NZ" altLang="ja-JP" sz="1600" b="1" i="1" smtClean="0">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r>
                                                <a:rPr lang="en-NZ" altLang="ja-JP" sz="1600" b="1" i="1">
                                                  <a:solidFill>
                                                    <a:prstClr val="black"/>
                                                  </a:solidFill>
                                                  <a:latin typeface="Cambria Math" panose="02040503050406030204" pitchFamily="18" charset="0"/>
                                                </a:rPr>
                                                <m:t>)</m:t>
                                              </m:r>
                                            </m:sup>
                                          </m:sSubSup>
                                        </m:e>
                                      </m:mr>
                                    </m:m>
                                  </m:e>
                                </m:d>
                                <m:r>
                                  <a:rPr lang="en-NZ" altLang="ja-JP" sz="1600" b="1" i="1" smtClean="0">
                                    <a:solidFill>
                                      <a:prstClr val="black"/>
                                    </a:solidFill>
                                    <a:latin typeface="Cambria Math" panose="02040503050406030204" pitchFamily="18" charset="0"/>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𝟐</m:t>
                                              </m:r>
                                              <m:r>
                                                <a:rPr lang="en-NZ" altLang="ja-JP" sz="1600" b="1" i="1">
                                                  <a:solidFill>
                                                    <a:prstClr val="black"/>
                                                  </a:solidFill>
                                                  <a:latin typeface="Cambria Math" panose="02040503050406030204" pitchFamily="18" charset="0"/>
                                                </a:rPr>
                                                <m:t>)</m:t>
                                              </m:r>
                                            </m:sup>
                                          </m:sSubSup>
                                        </m:e>
                                      </m:mr>
                                    </m:m>
                                  </m:e>
                                </m:d>
                                <m:r>
                                  <a:rPr lang="en-NZ" altLang="ja-JP" sz="1600" b="1" i="1">
                                    <a:solidFill>
                                      <a:prstClr val="black"/>
                                    </a:solidFill>
                                    <a:latin typeface="Cambria Math" panose="02040503050406030204" pitchFamily="18" charset="0"/>
                                  </a:rPr>
                                  <m:t>,</m:t>
                                </m:r>
                              </m:e>
                              <m:e>
                                <m:m>
                                  <m:mPr>
                                    <m:mcs>
                                      <m:mc>
                                        <m:mcPr>
                                          <m:count m:val="2"/>
                                          <m:mcJc m:val="center"/>
                                        </m:mcPr>
                                      </m:mc>
                                    </m:mcs>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ctrlPr>
                                  </m:mPr>
                                  <m:mr>
                                    <m:e>
                                      <m:r>
                                        <m:rPr>
                                          <m:brk m:alnAt="7"/>
                                        </m:r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m:t>
                                      </m:r>
                                    </m:e>
                                    <m:e>
                                      <m:d>
                                        <m:dPr>
                                          <m:ctrlPr>
                                            <a:rPr lang="en-NZ" altLang="ja-JP" sz="1600" b="1" i="1">
                                              <a:solidFill>
                                                <a:prstClr val="black"/>
                                              </a:solidFill>
                                              <a:latin typeface="Cambria Math" panose="02040503050406030204" pitchFamily="18" charset="0"/>
                                            </a:rPr>
                                          </m:ctrlPr>
                                        </m:dPr>
                                        <m:e>
                                          <m:m>
                                            <m:mPr>
                                              <m:mcs>
                                                <m:mc>
                                                  <m:mcPr>
                                                    <m:count m:val="1"/>
                                                    <m:mcJc m:val="center"/>
                                                  </m:mcPr>
                                                </m:mc>
                                              </m:mcs>
                                              <m:ctrlPr>
                                                <a:rPr lang="en-NZ" altLang="ja-JP" sz="1600" b="1" i="1">
                                                  <a:solidFill>
                                                    <a:prstClr val="black"/>
                                                  </a:solidFill>
                                                  <a:latin typeface="Cambria Math" panose="02040503050406030204" pitchFamily="18" charset="0"/>
                                                </a:rPr>
                                              </m:ctrlPr>
                                            </m:mP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m:rPr>
                                                        <m:brk m:alnAt="7"/>
                                                      </m:rPr>
                                                      <a:rPr lang="en-NZ" altLang="ja-JP" sz="1600" b="1" i="1">
                                                        <a:solidFill>
                                                          <a:prstClr val="black"/>
                                                        </a:solidFill>
                                                        <a:latin typeface="Cambria Math" panose="02040503050406030204" pitchFamily="18" charset="0"/>
                                                      </a:rPr>
                                                      <m:t>𝟏</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r>
                                              <m:e>
                                                <m:r>
                                                  <a:rPr lang="en-NZ" altLang="ja-JP" sz="1600" b="1" i="1">
                                                    <a:solidFill>
                                                      <a:prstClr val="black"/>
                                                    </a:solidFill>
                                                    <a:latin typeface="Cambria Math" panose="02040503050406030204" pitchFamily="18" charset="0"/>
                                                    <a:ea typeface="Cambria Math" panose="02040503050406030204" pitchFamily="18" charset="0"/>
                                                  </a:rPr>
                                                  <m:t>⋮</m:t>
                                                </m:r>
                                              </m:e>
                                            </m:mr>
                                            <m:mr>
                                              <m:e>
                                                <m:sSubSup>
                                                  <m:sSubSupPr>
                                                    <m:ctrlPr>
                                                      <a:rPr lang="en-NZ" altLang="ja-JP" sz="1600" b="1" i="1">
                                                        <a:solidFill>
                                                          <a:prstClr val="black"/>
                                                        </a:solidFill>
                                                        <a:latin typeface="Cambria Math" panose="02040503050406030204" pitchFamily="18" charset="0"/>
                                                      </a:rPr>
                                                    </m:ctrlPr>
                                                  </m:sSubSupPr>
                                                  <m:e>
                                                    <m:r>
                                                      <m:rPr>
                                                        <m:brk m:alnAt="7"/>
                                                      </m:rP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up>
                                                    <m:r>
                                                      <a:rPr lang="en-NZ" altLang="ja-JP" sz="1600" b="1" i="1">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𝑻</m:t>
                                                    </m:r>
                                                    <m:r>
                                                      <a:rPr lang="en-NZ" altLang="ja-JP" sz="1600" b="1" i="1">
                                                        <a:solidFill>
                                                          <a:prstClr val="black"/>
                                                        </a:solidFill>
                                                        <a:latin typeface="Cambria Math" panose="02040503050406030204" pitchFamily="18" charset="0"/>
                                                      </a:rPr>
                                                      <m:t>)</m:t>
                                                    </m:r>
                                                  </m:sup>
                                                </m:sSubSup>
                                              </m:e>
                                            </m:mr>
                                          </m:m>
                                        </m:e>
                                      </m:d>
                                    </m:e>
                                  </m:mr>
                                </m:m>
                                <m:r>
                                  <a:rPr lang="en-NZ" altLang="ja-JP" sz="1600" b="1" i="1" smtClean="0">
                                    <a:solidFill>
                                      <a:prstClr val="black"/>
                                    </a:solidFill>
                                    <a:latin typeface="Cambria Math" panose="02040503050406030204" pitchFamily="18" charset="0"/>
                                  </a:rPr>
                                  <m:t> </m:t>
                                </m:r>
                              </m:e>
                            </m:mr>
                          </m:m>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rPr>
                            <m:t> </m:t>
                          </m:r>
                        </m:e>
                      </m:d>
                    </m:oMath>
                  </m:oMathPara>
                </a14:m>
                <a:endParaRPr kumimoji="1" lang="en-US"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3" name="Text Placeholder 5">
                <a:extLst>
                  <a:ext uri="{FF2B5EF4-FFF2-40B4-BE49-F238E27FC236}">
                    <a16:creationId xmlns:a16="http://schemas.microsoft.com/office/drawing/2014/main" id="{C09EF3AF-CD46-0309-ADF3-965A3D4EC9B0}"/>
                  </a:ext>
                </a:extLst>
              </p:cNvPr>
              <p:cNvSpPr txBox="1">
                <a:spLocks noRot="1" noChangeAspect="1" noMove="1" noResize="1" noEditPoints="1" noAdjustHandles="1" noChangeArrowheads="1" noChangeShapeType="1" noTextEdit="1"/>
              </p:cNvSpPr>
              <p:nvPr/>
            </p:nvSpPr>
            <p:spPr>
              <a:xfrm>
                <a:off x="1773473" y="5518396"/>
                <a:ext cx="6510716" cy="1070237"/>
              </a:xfrm>
              <a:prstGeom prst="rect">
                <a:avLst/>
              </a:prstGeom>
              <a:blipFill>
                <a:blip r:embed="rId8"/>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A879482-9A35-CE6D-3413-386E1C689CD3}"/>
                  </a:ext>
                </a:extLst>
              </p:cNvPr>
              <p:cNvSpPr txBox="1"/>
              <p:nvPr/>
            </p:nvSpPr>
            <p:spPr>
              <a:xfrm>
                <a:off x="3059881" y="1305234"/>
                <a:ext cx="6127844" cy="7244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sub>
                      </m:sSub>
                      <m:r>
                        <a:rPr lang="en-NZ" altLang="ja-JP" sz="1600" b="1" i="1">
                          <a:solidFill>
                            <a:prstClr val="black"/>
                          </a:solidFill>
                          <a:latin typeface="Cambria Math" panose="02040503050406030204" pitchFamily="18" charset="0"/>
                        </a:rPr>
                        <m:t> </m:t>
                      </m:r>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smtClean="0">
                                  <a:solidFill>
                                    <a:prstClr val="black"/>
                                  </a:solidFill>
                                  <a:latin typeface="Cambria Math" panose="02040503050406030204" pitchFamily="18" charset="0"/>
                                </a:rPr>
                                <m:t>−</m:t>
                              </m:r>
                              <m:r>
                                <a:rPr lang="en-NZ" altLang="ja-JP" sz="1600" b="1" i="1" smtClean="0">
                                  <a:solidFill>
                                    <a:prstClr val="black"/>
                                  </a:solidFill>
                                  <a:latin typeface="Cambria Math" panose="02040503050406030204" pitchFamily="18" charset="0"/>
                                </a:rPr>
                                <m:t>𝒊</m:t>
                              </m:r>
                            </m:sub>
                          </m:sSub>
                        </m:e>
                      </m:d>
                      <m:r>
                        <a:rPr lang="en-NZ" altLang="ja-JP" sz="1600" b="1" i="1" smtClean="0">
                          <a:solidFill>
                            <a:prstClr val="black"/>
                          </a:solidFill>
                          <a:latin typeface="Cambria Math" panose="02040503050406030204" pitchFamily="18" charset="0"/>
                        </a:rPr>
                        <m:t>  =  </m:t>
                      </m:r>
                      <m:f>
                        <m:fPr>
                          <m:ctrlPr>
                            <a:rPr lang="en-NZ" altLang="ja-JP" sz="1600" b="1" i="1" smtClean="0">
                              <a:solidFill>
                                <a:prstClr val="black"/>
                              </a:solidFill>
                              <a:latin typeface="Cambria Math" panose="02040503050406030204" pitchFamily="18" charset="0"/>
                            </a:rPr>
                          </m:ctrlPr>
                        </m:fPr>
                        <m:num>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r>
                                <a:rPr lang="en-NZ" altLang="ja-JP" sz="1600" b="1" i="1">
                                  <a:solidFill>
                                    <a:prstClr val="black"/>
                                  </a:solidFill>
                                  <a:latin typeface="Cambria Math" panose="02040503050406030204" pitchFamily="18" charset="0"/>
                                </a:rPr>
                                <m:t>…, </m:t>
                              </m:r>
                              <m:r>
                                <a:rPr lang="en-NZ" altLang="ja-JP" sz="1600" b="1" i="1" smtClean="0">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𝒑</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num>
                        <m:den>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𝒇</m:t>
                              </m:r>
                            </m:e>
                            <m:sub>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𝑿</m:t>
                                  </m:r>
                                </m:e>
                                <m:sub>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𝒊</m:t>
                                  </m:r>
                                </m:sub>
                              </m:sSub>
                            </m:sub>
                          </m:sSub>
                          <m:d>
                            <m:dPr>
                              <m:ctrlPr>
                                <a:rPr lang="en-NZ" altLang="ja-JP" sz="1600" b="1" i="1">
                                  <a:solidFill>
                                    <a:prstClr val="black"/>
                                  </a:solidFill>
                                  <a:latin typeface="Cambria Math" panose="02040503050406030204" pitchFamily="18" charset="0"/>
                                </a:rPr>
                              </m:ctrlPr>
                            </m:dPr>
                            <m:e>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𝟐</m:t>
                                  </m:r>
                                </m:sub>
                              </m:sSub>
                              <m:r>
                                <a:rPr lang="en-NZ" altLang="ja-JP" sz="1600" b="1" i="1">
                                  <a:solidFill>
                                    <a:prstClr val="black"/>
                                  </a:solidFill>
                                  <a:latin typeface="Cambria Math" panose="02040503050406030204" pitchFamily="18" charset="0"/>
                                </a:rPr>
                                <m:t> , …,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𝒊</m:t>
                                  </m:r>
                                  <m:r>
                                    <a:rPr lang="en-NZ" altLang="ja-JP" sz="1600" b="1" i="1">
                                      <a:solidFill>
                                        <a:prstClr val="black"/>
                                      </a:solidFill>
                                      <a:latin typeface="Cambria Math" panose="02040503050406030204" pitchFamily="18" charset="0"/>
                                    </a:rPr>
                                    <m:t>+</m:t>
                                  </m:r>
                                  <m:r>
                                    <a:rPr lang="en-NZ" altLang="ja-JP" sz="1600" b="1" i="1">
                                      <a:solidFill>
                                        <a:prstClr val="black"/>
                                      </a:solidFill>
                                      <a:latin typeface="Cambria Math" panose="02040503050406030204" pitchFamily="18" charset="0"/>
                                    </a:rPr>
                                    <m:t>𝟏</m:t>
                                  </m:r>
                                </m:sub>
                              </m:sSub>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𝒙</m:t>
                                  </m:r>
                                </m:e>
                                <m:sub>
                                  <m:r>
                                    <a:rPr lang="en-NZ" altLang="ja-JP" sz="1600" b="1" i="1">
                                      <a:solidFill>
                                        <a:prstClr val="black"/>
                                      </a:solidFill>
                                      <a:latin typeface="Cambria Math" panose="02040503050406030204" pitchFamily="18" charset="0"/>
                                    </a:rPr>
                                    <m:t>𝒑</m:t>
                                  </m:r>
                                </m:sub>
                              </m:sSub>
                            </m:e>
                          </m:d>
                        </m:den>
                      </m:f>
                    </m:oMath>
                  </m:oMathPara>
                </a14:m>
                <a:endParaRPr lang="en-NZ" sz="1600" dirty="0"/>
              </a:p>
            </p:txBody>
          </p:sp>
        </mc:Choice>
        <mc:Fallback xmlns="">
          <p:sp>
            <p:nvSpPr>
              <p:cNvPr id="9" name="TextBox 8">
                <a:extLst>
                  <a:ext uri="{FF2B5EF4-FFF2-40B4-BE49-F238E27FC236}">
                    <a16:creationId xmlns:a16="http://schemas.microsoft.com/office/drawing/2014/main" id="{AA879482-9A35-CE6D-3413-386E1C689CD3}"/>
                  </a:ext>
                </a:extLst>
              </p:cNvPr>
              <p:cNvSpPr txBox="1">
                <a:spLocks noRot="1" noChangeAspect="1" noMove="1" noResize="1" noEditPoints="1" noAdjustHandles="1" noChangeArrowheads="1" noChangeShapeType="1" noTextEdit="1"/>
              </p:cNvSpPr>
              <p:nvPr/>
            </p:nvSpPr>
            <p:spPr>
              <a:xfrm>
                <a:off x="3059881" y="1305234"/>
                <a:ext cx="6127844" cy="724494"/>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7A0DE8A4-0F73-7343-958B-BD3B7A6873F0}"/>
                  </a:ext>
                </a:extLst>
              </p:cNvPr>
              <p:cNvSpPr txBox="1">
                <a:spLocks/>
              </p:cNvSpPr>
              <p:nvPr/>
            </p:nvSpPr>
            <p:spPr>
              <a:xfrm>
                <a:off x="1773474" y="4212228"/>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3"/>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𝟏</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3" name="Text Placeholder 5">
                <a:extLst>
                  <a:ext uri="{FF2B5EF4-FFF2-40B4-BE49-F238E27FC236}">
                    <a16:creationId xmlns:a16="http://schemas.microsoft.com/office/drawing/2014/main" id="{7A0DE8A4-0F73-7343-958B-BD3B7A6873F0}"/>
                  </a:ext>
                </a:extLst>
              </p:cNvPr>
              <p:cNvSpPr txBox="1">
                <a:spLocks noRot="1" noChangeAspect="1" noMove="1" noResize="1" noEditPoints="1" noAdjustHandles="1" noChangeArrowheads="1" noChangeShapeType="1" noTextEdit="1"/>
              </p:cNvSpPr>
              <p:nvPr/>
            </p:nvSpPr>
            <p:spPr>
              <a:xfrm>
                <a:off x="1773474" y="4212228"/>
                <a:ext cx="6714417" cy="444436"/>
              </a:xfrm>
              <a:prstGeom prst="rect">
                <a:avLst/>
              </a:prstGeom>
              <a:blipFill>
                <a:blip r:embed="rId10"/>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4" name="Text Placeholder 5">
                <a:extLst>
                  <a:ext uri="{FF2B5EF4-FFF2-40B4-BE49-F238E27FC236}">
                    <a16:creationId xmlns:a16="http://schemas.microsoft.com/office/drawing/2014/main" id="{0E800249-C203-B3C0-DF65-CBCF136D94FD}"/>
                  </a:ext>
                </a:extLst>
              </p:cNvPr>
              <p:cNvSpPr txBox="1">
                <a:spLocks/>
              </p:cNvSpPr>
              <p:nvPr/>
            </p:nvSpPr>
            <p:spPr>
              <a:xfrm>
                <a:off x="1773473" y="4824234"/>
                <a:ext cx="6714417"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00050" lvl="0" indent="-400050">
                  <a:lnSpc>
                    <a:spcPct val="100000"/>
                  </a:lnSpc>
                  <a:buFont typeface="+mj-lt"/>
                  <a:buAutoNum type="alphaLcParenR" startAt="16"/>
                  <a:defRPr/>
                </a:pPr>
                <a:r>
                  <a:rPr kumimoji="1" lang="en-NZ"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Generate </a:t>
                </a:r>
                <a14:m>
                  <m:oMath xmlns:m="http://schemas.openxmlformats.org/officeDocument/2006/math">
                    <m:sSubSup>
                      <m:sSubSupPr>
                        <m:ctrlP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ctrlPr>
                      </m:sSubSupPr>
                      <m:e>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𝒙</m:t>
                        </m:r>
                      </m:e>
                      <m:sub>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𝒑</m:t>
                        </m:r>
                      </m:sub>
                      <m:sup>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𝒕</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m:t>
                        </m:r>
                      </m:sup>
                    </m:sSubSup>
                    <m:r>
                      <a:rPr kumimoji="1" lang="en-NZ"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r>
                      <a:rPr kumimoji="1" lang="en-NZ" altLang="ja-JP" sz="1500" b="1" i="1" u="none" strike="noStrike" kern="1200" cap="none" spc="0" normalizeH="0" baseline="0" noProof="0" smtClean="0">
                        <a:ln>
                          <a:noFill/>
                        </a:ln>
                        <a:solidFill>
                          <a:prstClr val="black"/>
                        </a:solidFill>
                        <a:effectLst/>
                        <a:uLnTx/>
                        <a:uFillTx/>
                        <a:latin typeface="Cambria Math" panose="02040503050406030204" pitchFamily="18" charset="0"/>
                        <a:ea typeface="游ゴシック" panose="020B0400000000000000" pitchFamily="34" charset="-128"/>
                        <a:cs typeface="+mn-cs"/>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𝒇</m:t>
                        </m:r>
                      </m:e>
                      <m:sub>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m:t>
                        </m:r>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𝑿</m:t>
                            </m:r>
                          </m:e>
                          <m:sub>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𝒑</m:t>
                            </m:r>
                          </m:sub>
                        </m:sSub>
                      </m:sub>
                    </m:sSub>
                    <m:r>
                      <a:rPr lang="en-NZ" altLang="ja-JP" sz="1400" b="1" i="1" smtClean="0">
                        <a:solidFill>
                          <a:prstClr val="black"/>
                        </a:solidFill>
                        <a:latin typeface="Cambria Math" panose="02040503050406030204" pitchFamily="18" charset="0"/>
                      </a:rPr>
                      <m:t> </m:t>
                    </m:r>
                    <m:d>
                      <m:dPr>
                        <m:ctrlPr>
                          <a:rPr lang="en-NZ" altLang="ja-JP" sz="1400" b="1" i="1">
                            <a:solidFill>
                              <a:prstClr val="black"/>
                            </a:solidFill>
                            <a:latin typeface="Cambria Math" panose="02040503050406030204" pitchFamily="18" charset="0"/>
                          </a:rPr>
                        </m:ctrlPr>
                      </m:dPr>
                      <m:e>
                        <m:sSub>
                          <m:sSubPr>
                            <m:ctrlPr>
                              <a:rPr lang="en-NZ" altLang="ja-JP" sz="1400" b="1" i="1" smtClean="0">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𝒑</m:t>
                            </m:r>
                          </m:sub>
                        </m:sSub>
                        <m:r>
                          <a:rPr lang="en-NZ" altLang="ja-JP" sz="1400" b="1" i="1">
                            <a:solidFill>
                              <a:prstClr val="black"/>
                            </a:solidFill>
                            <a:latin typeface="Cambria Math" panose="02040503050406030204" pitchFamily="18" charset="0"/>
                          </a:rPr>
                          <m:t> | </m:t>
                        </m:r>
                        <m:m>
                          <m:mPr>
                            <m:mcs>
                              <m:mc>
                                <m:mcPr>
                                  <m:count m:val="3"/>
                                  <m:mcJc m:val="center"/>
                                </m:mcPr>
                              </m:mc>
                            </m:mcs>
                            <m:ctrlPr>
                              <a:rPr lang="en-NZ" altLang="ja-JP" sz="1400" b="1" i="1">
                                <a:solidFill>
                                  <a:prstClr val="black"/>
                                </a:solidFill>
                                <a:latin typeface="Cambria Math" panose="02040503050406030204" pitchFamily="18" charset="0"/>
                              </a:rPr>
                            </m:ctrlPr>
                          </m:mPr>
                          <m:mr>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smtClean="0">
                                      <a:solidFill>
                                        <a:prstClr val="black"/>
                                      </a:solidFill>
                                      <a:latin typeface="Cambria Math" panose="02040503050406030204" pitchFamily="18" charset="0"/>
                                    </a:rPr>
                                    <m:t>𝟐</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r>
                                <a:rPr lang="en-NZ" altLang="ja-JP" sz="1400" b="1" i="1">
                                  <a:solidFill>
                                    <a:prstClr val="black"/>
                                  </a:solidFill>
                                  <a:latin typeface="Cambria Math" panose="02040503050406030204" pitchFamily="18" charset="0"/>
                                </a:rPr>
                                <m:t>,</m:t>
                              </m:r>
                            </m:e>
                            <m:e>
                              <m:m>
                                <m:mPr>
                                  <m:mcs>
                                    <m:mc>
                                      <m:mcPr>
                                        <m:count m:val="2"/>
                                        <m:mcJc m:val="center"/>
                                      </m:mcPr>
                                    </m:mc>
                                  </m:mcs>
                                  <m:ctrlPr>
                                    <a:rPr lang="en-NZ" altLang="ja-JP" sz="1400" b="1" i="1">
                                      <a:solidFill>
                                        <a:prstClr val="black"/>
                                      </a:solidFill>
                                      <a:latin typeface="Cambria Math" panose="02040503050406030204" pitchFamily="18" charset="0"/>
                                    </a:rPr>
                                  </m:ctrlPr>
                                </m:mPr>
                                <m:mr>
                                  <m:e>
                                    <m:r>
                                      <m:rPr>
                                        <m:brk m:alnAt="7"/>
                                      </m:rP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 </m:t>
                                    </m:r>
                                  </m:e>
                                  <m:e>
                                    <m:sSubSup>
                                      <m:sSubSupPr>
                                        <m:ctrlPr>
                                          <a:rPr lang="en-NZ" altLang="ja-JP" sz="1400" b="1" i="1">
                                            <a:solidFill>
                                              <a:prstClr val="black"/>
                                            </a:solidFill>
                                            <a:latin typeface="Cambria Math" panose="02040503050406030204" pitchFamily="18" charset="0"/>
                                          </a:rPr>
                                        </m:ctrlPr>
                                      </m:sSubSupPr>
                                      <m:e>
                                        <m:r>
                                          <a:rPr lang="en-NZ" altLang="ja-JP" sz="1400" b="1" i="1">
                                            <a:solidFill>
                                              <a:prstClr val="black"/>
                                            </a:solidFill>
                                            <a:latin typeface="Cambria Math" panose="02040503050406030204" pitchFamily="18" charset="0"/>
                                          </a:rPr>
                                          <m:t>𝒙</m:t>
                                        </m:r>
                                      </m:e>
                                      <m:sub>
                                        <m:r>
                                          <a:rPr lang="en-NZ" altLang="ja-JP" sz="1400" b="1" i="1">
                                            <a:solidFill>
                                              <a:prstClr val="black"/>
                                            </a:solidFill>
                                            <a:latin typeface="Cambria Math" panose="02040503050406030204" pitchFamily="18" charset="0"/>
                                          </a:rPr>
                                          <m:t>𝒑</m:t>
                                        </m:r>
                                        <m:r>
                                          <a:rPr lang="en-NZ" altLang="ja-JP" sz="1400" b="1" i="1" smtClean="0">
                                            <a:solidFill>
                                              <a:prstClr val="black"/>
                                            </a:solidFill>
                                            <a:latin typeface="Cambria Math" panose="02040503050406030204" pitchFamily="18" charset="0"/>
                                          </a:rPr>
                                          <m:t>−</m:t>
                                        </m:r>
                                        <m:r>
                                          <a:rPr lang="en-NZ" altLang="ja-JP" sz="1400" b="1" i="1" smtClean="0">
                                            <a:solidFill>
                                              <a:prstClr val="black"/>
                                            </a:solidFill>
                                            <a:latin typeface="Cambria Math" panose="02040503050406030204" pitchFamily="18" charset="0"/>
                                          </a:rPr>
                                          <m:t>𝟏</m:t>
                                        </m:r>
                                      </m:sub>
                                      <m:sup>
                                        <m:r>
                                          <a:rPr lang="en-NZ" altLang="ja-JP" sz="1400" b="1" i="1">
                                            <a:solidFill>
                                              <a:prstClr val="black"/>
                                            </a:solidFill>
                                            <a:latin typeface="Cambria Math" panose="02040503050406030204" pitchFamily="18" charset="0"/>
                                          </a:rPr>
                                          <m:t>(</m:t>
                                        </m:r>
                                        <m:r>
                                          <a:rPr lang="en-NZ" altLang="ja-JP" sz="1400" b="1" i="1">
                                            <a:solidFill>
                                              <a:prstClr val="black"/>
                                            </a:solidFill>
                                            <a:latin typeface="Cambria Math" panose="02040503050406030204" pitchFamily="18" charset="0"/>
                                          </a:rPr>
                                          <m:t>𝒕</m:t>
                                        </m:r>
                                        <m:r>
                                          <a:rPr lang="en-NZ" altLang="ja-JP" sz="1400" b="1" i="1">
                                            <a:solidFill>
                                              <a:prstClr val="black"/>
                                            </a:solidFill>
                                            <a:latin typeface="Cambria Math" panose="02040503050406030204" pitchFamily="18" charset="0"/>
                                          </a:rPr>
                                          <m:t>)</m:t>
                                        </m:r>
                                      </m:sup>
                                    </m:sSubSup>
                                  </m:e>
                                </m:mr>
                              </m:m>
                            </m:e>
                          </m:mr>
                        </m:m>
                      </m:e>
                    </m:d>
                  </m:oMath>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4" name="Text Placeholder 5">
                <a:extLst>
                  <a:ext uri="{FF2B5EF4-FFF2-40B4-BE49-F238E27FC236}">
                    <a16:creationId xmlns:a16="http://schemas.microsoft.com/office/drawing/2014/main" id="{0E800249-C203-B3C0-DF65-CBCF136D94FD}"/>
                  </a:ext>
                </a:extLst>
              </p:cNvPr>
              <p:cNvSpPr txBox="1">
                <a:spLocks noRot="1" noChangeAspect="1" noMove="1" noResize="1" noEditPoints="1" noAdjustHandles="1" noChangeArrowheads="1" noChangeShapeType="1" noTextEdit="1"/>
              </p:cNvSpPr>
              <p:nvPr/>
            </p:nvSpPr>
            <p:spPr>
              <a:xfrm>
                <a:off x="1773473" y="4824234"/>
                <a:ext cx="6714417" cy="444436"/>
              </a:xfrm>
              <a:prstGeom prst="rect">
                <a:avLst/>
              </a:prstGeom>
              <a:blipFill>
                <a:blip r:embed="rId11"/>
                <a:stretch>
                  <a:fillRect l="-454"/>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5" name="Text Placeholder 5">
                <a:extLst>
                  <a:ext uri="{FF2B5EF4-FFF2-40B4-BE49-F238E27FC236}">
                    <a16:creationId xmlns:a16="http://schemas.microsoft.com/office/drawing/2014/main" id="{687F075B-5C42-A988-C71E-953ADB77AF82}"/>
                  </a:ext>
                </a:extLst>
              </p:cNvPr>
              <p:cNvSpPr txBox="1">
                <a:spLocks/>
              </p:cNvSpPr>
              <p:nvPr/>
            </p:nvSpPr>
            <p:spPr>
              <a:xfrm>
                <a:off x="2792518" y="4624451"/>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5" name="Text Placeholder 5">
                <a:extLst>
                  <a:ext uri="{FF2B5EF4-FFF2-40B4-BE49-F238E27FC236}">
                    <a16:creationId xmlns:a16="http://schemas.microsoft.com/office/drawing/2014/main" id="{687F075B-5C42-A988-C71E-953ADB77AF82}"/>
                  </a:ext>
                </a:extLst>
              </p:cNvPr>
              <p:cNvSpPr txBox="1">
                <a:spLocks noRot="1" noChangeAspect="1" noMove="1" noResize="1" noEditPoints="1" noAdjustHandles="1" noChangeArrowheads="1" noChangeShapeType="1" noTextEdit="1"/>
              </p:cNvSpPr>
              <p:nvPr/>
            </p:nvSpPr>
            <p:spPr>
              <a:xfrm>
                <a:off x="2792518" y="4624451"/>
                <a:ext cx="534725" cy="444436"/>
              </a:xfrm>
              <a:prstGeom prst="rect">
                <a:avLst/>
              </a:prstGeom>
              <a:blipFill>
                <a:blip r:embed="rId1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6" name="Text Placeholder 5">
                <a:extLst>
                  <a:ext uri="{FF2B5EF4-FFF2-40B4-BE49-F238E27FC236}">
                    <a16:creationId xmlns:a16="http://schemas.microsoft.com/office/drawing/2014/main" id="{19385AD8-7FED-1AEF-8D20-95A0C5D74D35}"/>
                  </a:ext>
                </a:extLst>
              </p:cNvPr>
              <p:cNvSpPr txBox="1">
                <a:spLocks/>
              </p:cNvSpPr>
              <p:nvPr/>
            </p:nvSpPr>
            <p:spPr>
              <a:xfrm>
                <a:off x="3762954" y="4637626"/>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6" name="Text Placeholder 5">
                <a:extLst>
                  <a:ext uri="{FF2B5EF4-FFF2-40B4-BE49-F238E27FC236}">
                    <a16:creationId xmlns:a16="http://schemas.microsoft.com/office/drawing/2014/main" id="{19385AD8-7FED-1AEF-8D20-95A0C5D74D35}"/>
                  </a:ext>
                </a:extLst>
              </p:cNvPr>
              <p:cNvSpPr txBox="1">
                <a:spLocks noRot="1" noChangeAspect="1" noMove="1" noResize="1" noEditPoints="1" noAdjustHandles="1" noChangeArrowheads="1" noChangeShapeType="1" noTextEdit="1"/>
              </p:cNvSpPr>
              <p:nvPr/>
            </p:nvSpPr>
            <p:spPr>
              <a:xfrm>
                <a:off x="3762954" y="4637626"/>
                <a:ext cx="534725" cy="444436"/>
              </a:xfrm>
              <a:prstGeom prst="rect">
                <a:avLst/>
              </a:prstGeom>
              <a:blipFill>
                <a:blip r:embed="rId13"/>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7" name="Text Placeholder 5">
                <a:extLst>
                  <a:ext uri="{FF2B5EF4-FFF2-40B4-BE49-F238E27FC236}">
                    <a16:creationId xmlns:a16="http://schemas.microsoft.com/office/drawing/2014/main" id="{C896E4BA-ACFD-A7CB-49EE-BB5C00FDFA35}"/>
                  </a:ext>
                </a:extLst>
              </p:cNvPr>
              <p:cNvSpPr txBox="1">
                <a:spLocks/>
              </p:cNvSpPr>
              <p:nvPr/>
            </p:nvSpPr>
            <p:spPr>
              <a:xfrm>
                <a:off x="5219395" y="4638274"/>
                <a:ext cx="534725" cy="4444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Para xmlns:m="http://schemas.openxmlformats.org/officeDocument/2006/math">
                    <m:oMathParaPr>
                      <m:jc m:val="centerGroup"/>
                    </m:oMathParaPr>
                    <m:oMath xmlns:m="http://schemas.openxmlformats.org/officeDocument/2006/math">
                      <m:r>
                        <a:rPr kumimoji="1" lang="en-US" altLang="ja-JP" sz="15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1" lang="en-US" altLang="ja-JP" sz="15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7" name="Text Placeholder 5">
                <a:extLst>
                  <a:ext uri="{FF2B5EF4-FFF2-40B4-BE49-F238E27FC236}">
                    <a16:creationId xmlns:a16="http://schemas.microsoft.com/office/drawing/2014/main" id="{C896E4BA-ACFD-A7CB-49EE-BB5C00FDFA35}"/>
                  </a:ext>
                </a:extLst>
              </p:cNvPr>
              <p:cNvSpPr txBox="1">
                <a:spLocks noRot="1" noChangeAspect="1" noMove="1" noResize="1" noEditPoints="1" noAdjustHandles="1" noChangeArrowheads="1" noChangeShapeType="1" noTextEdit="1"/>
              </p:cNvSpPr>
              <p:nvPr/>
            </p:nvSpPr>
            <p:spPr>
              <a:xfrm>
                <a:off x="5219395" y="4638274"/>
                <a:ext cx="534725" cy="444436"/>
              </a:xfrm>
              <a:prstGeom prst="rect">
                <a:avLst/>
              </a:prstGeom>
              <a:blipFill>
                <a:blip r:embed="rId14"/>
                <a:stretch>
                  <a:fillRect/>
                </a:stretch>
              </a:blipFill>
            </p:spPr>
            <p:txBody>
              <a:bodyPr/>
              <a:lstStyle/>
              <a:p>
                <a:r>
                  <a:rPr lang="en-NZ">
                    <a:noFill/>
                  </a:rPr>
                  <a:t> </a:t>
                </a:r>
              </a:p>
            </p:txBody>
          </p:sp>
        </mc:Fallback>
      </mc:AlternateContent>
      <p:sp>
        <p:nvSpPr>
          <p:cNvPr id="4" name="Footer Placeholder 2">
            <a:extLst>
              <a:ext uri="{FF2B5EF4-FFF2-40B4-BE49-F238E27FC236}">
                <a16:creationId xmlns:a16="http://schemas.microsoft.com/office/drawing/2014/main" id="{75CFE2D8-85FD-2E4A-DC4A-04B615358B88}"/>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11.5 – Final Points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7" name="Title 6">
            <a:extLst>
              <a:ext uri="{FF2B5EF4-FFF2-40B4-BE49-F238E27FC236}">
                <a16:creationId xmlns:a16="http://schemas.microsoft.com/office/drawing/2014/main" id="{EAE8B006-35BB-DEB0-E8A4-3DF8031C96F9}"/>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.5a – Scanning Strategies: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8" name="Right Brace 7">
            <a:extLst>
              <a:ext uri="{FF2B5EF4-FFF2-40B4-BE49-F238E27FC236}">
                <a16:creationId xmlns:a16="http://schemas.microsoft.com/office/drawing/2014/main" id="{A256184F-E53D-00A8-5509-6D9D67CC2F13}"/>
              </a:ext>
            </a:extLst>
          </p:cNvPr>
          <p:cNvSpPr/>
          <p:nvPr/>
        </p:nvSpPr>
        <p:spPr>
          <a:xfrm>
            <a:off x="7376543" y="3366532"/>
            <a:ext cx="301549" cy="18670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10" name="Text Placeholder 5">
            <a:extLst>
              <a:ext uri="{FF2B5EF4-FFF2-40B4-BE49-F238E27FC236}">
                <a16:creationId xmlns:a16="http://schemas.microsoft.com/office/drawing/2014/main" id="{C314A21C-F1BB-C15C-4D13-BB39278980D0}"/>
              </a:ext>
            </a:extLst>
          </p:cNvPr>
          <p:cNvSpPr txBox="1">
            <a:spLocks/>
          </p:cNvSpPr>
          <p:nvPr/>
        </p:nvSpPr>
        <p:spPr>
          <a:xfrm>
            <a:off x="7769801" y="3310319"/>
            <a:ext cx="4158342" cy="14395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Don’t need to update variables one at a time.</a:t>
            </a:r>
          </a:p>
          <a:p>
            <a:pPr lvl="0">
              <a:lnSpc>
                <a:spcPct val="100000"/>
              </a:lnSpc>
              <a:defRPr/>
            </a:pPr>
            <a:r>
              <a:rPr lang="en-NZ" altLang="ja-JP" sz="1600" dirty="0">
                <a:solidFill>
                  <a:srgbClr val="0070C0"/>
                </a:solidFill>
                <a:latin typeface="Calibri" panose="020F0502020204030204"/>
                <a:ea typeface="游ゴシック" panose="020B0400000000000000" pitchFamily="34" charset="-128"/>
              </a:rPr>
              <a:t>Can update variables in blocks of 2 or more.</a:t>
            </a:r>
          </a:p>
          <a:p>
            <a:pPr lvl="0">
              <a:lnSpc>
                <a:spcPct val="100000"/>
              </a:lnSpc>
              <a:defRPr/>
            </a:pPr>
            <a:endPar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lvl="0">
              <a:lnSpc>
                <a:spcPct val="100000"/>
              </a:lnSpc>
              <a:defRPr/>
            </a:pPr>
            <a:r>
              <a:rPr lang="en-NZ" altLang="ja-JP" sz="1600" dirty="0">
                <a:solidFill>
                  <a:srgbClr val="0070C0"/>
                </a:solidFill>
                <a:latin typeface="Calibri" panose="020F0502020204030204"/>
                <a:ea typeface="游ゴシック" panose="020B0400000000000000" pitchFamily="34" charset="-128"/>
              </a:rPr>
              <a:t>This can be especially useful if the variables within the blocks are correlated.</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D2B5B9B3-12F0-F35B-800B-5448E6EBC70D}"/>
              </a:ext>
            </a:extLst>
          </p:cNvPr>
          <p:cNvSpPr txBox="1">
            <a:spLocks/>
          </p:cNvSpPr>
          <p:nvPr/>
        </p:nvSpPr>
        <p:spPr>
          <a:xfrm>
            <a:off x="7769801" y="4740084"/>
            <a:ext cx="4158342" cy="7351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kumimoji="1" lang="en-NZ"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Also don’t need to update the variables </a:t>
            </a:r>
            <a:r>
              <a:rPr lang="en-NZ" altLang="ja-JP" sz="1600" dirty="0">
                <a:solidFill>
                  <a:srgbClr val="0070C0"/>
                </a:solidFill>
                <a:latin typeface="Calibri" panose="020F0502020204030204"/>
                <a:ea typeface="游ゴシック" panose="020B0400000000000000" pitchFamily="34" charset="-128"/>
              </a:rPr>
              <a:t>in the order described here… Scanning Strategies.</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2028461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11.5 – Final Points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8" name="Text Placeholder 5">
            <a:extLst>
              <a:ext uri="{FF2B5EF4-FFF2-40B4-BE49-F238E27FC236}">
                <a16:creationId xmlns:a16="http://schemas.microsoft.com/office/drawing/2014/main" id="{53B0AD93-7CE4-07C7-D43D-D1D442ED2EAD}"/>
              </a:ext>
            </a:extLst>
          </p:cNvPr>
          <p:cNvSpPr txBox="1">
            <a:spLocks/>
          </p:cNvSpPr>
          <p:nvPr/>
        </p:nvSpPr>
        <p:spPr>
          <a:xfrm>
            <a:off x="399593" y="1027393"/>
            <a:ext cx="11392814" cy="8072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Deterministic Full Scan</a:t>
            </a:r>
            <a:r>
              <a:rPr lang="en-NZ" altLang="ja-JP" sz="1800" dirty="0">
                <a:solidFill>
                  <a:schemeClr val="tx1"/>
                </a:solidFill>
              </a:rPr>
              <a:t>: </a:t>
            </a:r>
            <a:br>
              <a:rPr lang="en-NZ" altLang="ja-JP" sz="1800" dirty="0">
                <a:solidFill>
                  <a:schemeClr val="tx1"/>
                </a:solidFill>
              </a:rPr>
            </a:br>
            <a:r>
              <a:rPr lang="en-NZ" altLang="ja-JP" sz="1800" dirty="0">
                <a:solidFill>
                  <a:schemeClr val="tx1"/>
                </a:solidFill>
              </a:rPr>
              <a:t>At each iteration, generate new states for each variable (or blocks of variables) in turn, in fixed order.</a:t>
            </a:r>
          </a:p>
        </p:txBody>
      </p:sp>
      <p:sp>
        <p:nvSpPr>
          <p:cNvPr id="3" name="Title 6">
            <a:extLst>
              <a:ext uri="{FF2B5EF4-FFF2-40B4-BE49-F238E27FC236}">
                <a16:creationId xmlns:a16="http://schemas.microsoft.com/office/drawing/2014/main" id="{1FCF1BDA-F407-C475-E2AF-0C421C80DD57}"/>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.5a – Scanning Strategies: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126C4670-BA5B-7453-1081-8FC5A24B0EE0}"/>
              </a:ext>
            </a:extLst>
          </p:cNvPr>
          <p:cNvSpPr txBox="1">
            <a:spLocks/>
          </p:cNvSpPr>
          <p:nvPr/>
        </p:nvSpPr>
        <p:spPr>
          <a:xfrm>
            <a:off x="399593" y="1927066"/>
            <a:ext cx="11392814" cy="80721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Deterministic Scan with Reversibility</a:t>
            </a:r>
            <a:r>
              <a:rPr lang="en-NZ" altLang="ja-JP" sz="1800" dirty="0">
                <a:solidFill>
                  <a:schemeClr val="tx1"/>
                </a:solidFill>
              </a:rPr>
              <a:t>: </a:t>
            </a:r>
            <a:br>
              <a:rPr lang="en-NZ" altLang="ja-JP" sz="1800" dirty="0">
                <a:solidFill>
                  <a:schemeClr val="tx1"/>
                </a:solidFill>
              </a:rPr>
            </a:br>
            <a:r>
              <a:rPr lang="en-NZ" altLang="ja-JP" sz="1800" dirty="0">
                <a:solidFill>
                  <a:schemeClr val="tx1"/>
                </a:solidFill>
              </a:rPr>
              <a:t>At each iteration, generate new states in fixed order, and again in reverse order (i.e. 2p new states in each iteration).</a:t>
            </a:r>
          </a:p>
        </p:txBody>
      </p:sp>
      <p:sp>
        <p:nvSpPr>
          <p:cNvPr id="7" name="Text Placeholder 5">
            <a:extLst>
              <a:ext uri="{FF2B5EF4-FFF2-40B4-BE49-F238E27FC236}">
                <a16:creationId xmlns:a16="http://schemas.microsoft.com/office/drawing/2014/main" id="{DCD45C36-C5AE-F672-BE73-1F59C34705CF}"/>
              </a:ext>
            </a:extLst>
          </p:cNvPr>
          <p:cNvSpPr txBox="1">
            <a:spLocks/>
          </p:cNvSpPr>
          <p:nvPr/>
        </p:nvSpPr>
        <p:spPr>
          <a:xfrm>
            <a:off x="399593" y="2959677"/>
            <a:ext cx="11392814" cy="4239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Random Scan</a:t>
            </a:r>
            <a:r>
              <a:rPr lang="en-NZ" altLang="ja-JP" sz="1800" dirty="0">
                <a:solidFill>
                  <a:schemeClr val="tx1"/>
                </a:solidFill>
              </a:rPr>
              <a:t>: at each iteration, generate random order of p variables and generate new states in that order.</a:t>
            </a:r>
          </a:p>
        </p:txBody>
      </p:sp>
      <p:sp>
        <p:nvSpPr>
          <p:cNvPr id="8" name="Text Placeholder 5">
            <a:extLst>
              <a:ext uri="{FF2B5EF4-FFF2-40B4-BE49-F238E27FC236}">
                <a16:creationId xmlns:a16="http://schemas.microsoft.com/office/drawing/2014/main" id="{8F3AEC28-1692-664D-FB65-15FC9FA4BDE9}"/>
              </a:ext>
            </a:extLst>
          </p:cNvPr>
          <p:cNvSpPr txBox="1">
            <a:spLocks/>
          </p:cNvSpPr>
          <p:nvPr/>
        </p:nvSpPr>
        <p:spPr>
          <a:xfrm>
            <a:off x="399593" y="3721032"/>
            <a:ext cx="11392814"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lvl="0" indent="-285750">
              <a:lnSpc>
                <a:spcPct val="100000"/>
              </a:lnSpc>
              <a:buFont typeface="Arial" panose="020B0604020202020204" pitchFamily="34" charset="0"/>
              <a:buChar char="•"/>
              <a:defRPr/>
            </a:pPr>
            <a:r>
              <a:rPr lang="en-NZ" altLang="ja-JP" sz="1800" b="1" dirty="0">
                <a:solidFill>
                  <a:schemeClr val="tx1"/>
                </a:solidFill>
              </a:rPr>
              <a:t>Single Component Random Scan: </a:t>
            </a:r>
            <a:br>
              <a:rPr lang="en-NZ" altLang="ja-JP" sz="1800" b="1" dirty="0">
                <a:solidFill>
                  <a:schemeClr val="tx1"/>
                </a:solidFill>
              </a:rPr>
            </a:br>
            <a:r>
              <a:rPr lang="en-NZ" altLang="ja-JP" sz="1800" dirty="0">
                <a:solidFill>
                  <a:schemeClr val="tx1"/>
                </a:solidFill>
              </a:rPr>
              <a:t>At each iteration, pick one variable at random and generate a new state to only update that variable.</a:t>
            </a:r>
          </a:p>
        </p:txBody>
      </p:sp>
    </p:spTree>
    <p:extLst>
      <p:ext uri="{BB962C8B-B14F-4D97-AF65-F5344CB8AC3E}">
        <p14:creationId xmlns:p14="http://schemas.microsoft.com/office/powerpoint/2010/main" val="3976188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8666328" y="86139"/>
            <a:ext cx="3423037"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srgbClr val="DEDDDD"/>
                </a:solidFill>
                <a:latin typeface="Gidole"/>
                <a:ea typeface="游ゴシック" panose="020B0400000000000000" pitchFamily="34" charset="-128"/>
              </a:rPr>
              <a:t>11.5 – Final Points</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2" name="Slide Number Placeholder 3">
            <a:extLst>
              <a:ext uri="{FF2B5EF4-FFF2-40B4-BE49-F238E27FC236}">
                <a16:creationId xmlns:a16="http://schemas.microsoft.com/office/drawing/2014/main" id="{4217CD17-5F00-A20B-8381-8FA7860732F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3" name="Title 6">
            <a:extLst>
              <a:ext uri="{FF2B5EF4-FFF2-40B4-BE49-F238E27FC236}">
                <a16:creationId xmlns:a16="http://schemas.microsoft.com/office/drawing/2014/main" id="{1FCF1BDA-F407-C475-E2AF-0C421C80DD57}"/>
              </a:ext>
            </a:extLst>
          </p:cNvPr>
          <p:cNvSpPr txBox="1">
            <a:spLocks/>
          </p:cNvSpPr>
          <p:nvPr/>
        </p:nvSpPr>
        <p:spPr>
          <a:xfrm>
            <a:off x="319463" y="196889"/>
            <a:ext cx="9315856"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11</a:t>
            </a: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.5b – Disadvantages:</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4" name="Text Placeholder 5">
            <a:extLst>
              <a:ext uri="{FF2B5EF4-FFF2-40B4-BE49-F238E27FC236}">
                <a16:creationId xmlns:a16="http://schemas.microsoft.com/office/drawing/2014/main" id="{E87AFCA3-3366-07D8-F49E-0029F6250012}"/>
              </a:ext>
            </a:extLst>
          </p:cNvPr>
          <p:cNvSpPr txBox="1">
            <a:spLocks/>
          </p:cNvSpPr>
          <p:nvPr/>
        </p:nvSpPr>
        <p:spPr>
          <a:xfrm>
            <a:off x="366722" y="1130633"/>
            <a:ext cx="11458555" cy="102893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srgbClr val="C00000"/>
                </a:solidFill>
                <a:latin typeface="Calibri" panose="020F0502020204030204"/>
                <a:ea typeface="游ゴシック" panose="020B0400000000000000" pitchFamily="34" charset="-128"/>
              </a:rPr>
              <a:t>I</a:t>
            </a: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n order to apply Gibbs Sampling: </a:t>
            </a:r>
          </a:p>
          <a:p>
            <a:pPr marL="1028643" lvl="1" indent="-342900">
              <a:lnSpc>
                <a:spcPct val="100000"/>
              </a:lnSpc>
              <a:spcBef>
                <a:spcPts val="0"/>
              </a:spcBef>
              <a:buFont typeface="+mj-lt"/>
              <a:buAutoNum type="alphaLcParenR"/>
              <a:defRPr/>
            </a:pPr>
            <a:r>
              <a:rPr lang="en-NZ" altLang="ja-JP" sz="1800" dirty="0">
                <a:solidFill>
                  <a:srgbClr val="C00000"/>
                </a:solidFill>
                <a:latin typeface="Calibri" panose="020F0502020204030204"/>
                <a:ea typeface="游ゴシック" panose="020B0400000000000000" pitchFamily="34" charset="-128"/>
              </a:rPr>
              <a:t>W</a:t>
            </a: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e have to know what those conditional distributions are a priori</a:t>
            </a:r>
          </a:p>
          <a:p>
            <a:pPr marL="1028643" lvl="1" indent="-342900">
              <a:lnSpc>
                <a:spcPct val="100000"/>
              </a:lnSpc>
              <a:spcBef>
                <a:spcPts val="0"/>
              </a:spcBef>
              <a:buFont typeface="+mj-lt"/>
              <a:buAutoNum type="alphaLcParenR"/>
              <a:defRPr/>
            </a:pPr>
            <a:r>
              <a:rPr lang="en-NZ" altLang="ja-JP" sz="1800" dirty="0">
                <a:solidFill>
                  <a:srgbClr val="C00000"/>
                </a:solidFill>
                <a:latin typeface="Calibri" panose="020F0502020204030204"/>
                <a:ea typeface="游ゴシック" panose="020B0400000000000000" pitchFamily="34" charset="-128"/>
              </a:rPr>
              <a:t>T</a:t>
            </a:r>
            <a:r>
              <a:rPr kumimoji="1" lang="en-NZ"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he conditional distributions must have some ‘nice’ parametric form from which we can easily sample.</a:t>
            </a:r>
            <a:endParaRPr kumimoji="1" lang="en-US" altLang="ja-JP" sz="18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9" name="Text Placeholder 5">
            <a:extLst>
              <a:ext uri="{FF2B5EF4-FFF2-40B4-BE49-F238E27FC236}">
                <a16:creationId xmlns:a16="http://schemas.microsoft.com/office/drawing/2014/main" id="{30ACC3E6-59E1-7440-3D5C-6EDEFC265419}"/>
              </a:ext>
            </a:extLst>
          </p:cNvPr>
          <p:cNvSpPr txBox="1">
            <a:spLocks/>
          </p:cNvSpPr>
          <p:nvPr/>
        </p:nvSpPr>
        <p:spPr>
          <a:xfrm>
            <a:off x="366723" y="3197605"/>
            <a:ext cx="11458555"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Since variables in the chain are updated sequentially rather than simultaneously, the Gibbs algorithm tends to take longer to run than the Metropolis-Hasting’s algorithm</a:t>
            </a:r>
            <a:r>
              <a:rPr kumimoji="1" lang="en-NZ"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0" name="Text Placeholder 5">
            <a:extLst>
              <a:ext uri="{FF2B5EF4-FFF2-40B4-BE49-F238E27FC236}">
                <a16:creationId xmlns:a16="http://schemas.microsoft.com/office/drawing/2014/main" id="{AA023A9F-B33D-DC18-BB6A-1D24E796D4D1}"/>
              </a:ext>
            </a:extLst>
          </p:cNvPr>
          <p:cNvSpPr txBox="1">
            <a:spLocks/>
          </p:cNvSpPr>
          <p:nvPr/>
        </p:nvSpPr>
        <p:spPr>
          <a:xfrm>
            <a:off x="366723" y="2412794"/>
            <a:ext cx="11458555" cy="4853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It is not always straight forward to sample from multi-dimensional conditional distributions.</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A7468460-8A61-F07F-3BFF-E3CF864AB7D5}"/>
              </a:ext>
            </a:extLst>
          </p:cNvPr>
          <p:cNvSpPr txBox="1">
            <a:spLocks/>
          </p:cNvSpPr>
          <p:nvPr/>
        </p:nvSpPr>
        <p:spPr>
          <a:xfrm>
            <a:off x="366722" y="4176678"/>
            <a:ext cx="11458555" cy="48536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As the number of variables increases, the chain tends to converge more slowly.</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9EC30654-7C61-919F-BBD6-B7788F647B3E}"/>
              </a:ext>
            </a:extLst>
          </p:cNvPr>
          <p:cNvSpPr txBox="1">
            <a:spLocks/>
          </p:cNvSpPr>
          <p:nvPr/>
        </p:nvSpPr>
        <p:spPr>
          <a:xfrm>
            <a:off x="366721" y="4965775"/>
            <a:ext cx="11458555" cy="7615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algn="l"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800" dirty="0">
                <a:solidFill>
                  <a:prstClr val="black"/>
                </a:solidFill>
                <a:latin typeface="Calibri" panose="020F0502020204030204"/>
                <a:ea typeface="游ゴシック" panose="020B0400000000000000" pitchFamily="34" charset="-128"/>
              </a:rPr>
              <a:t>We still need to conduct all the relevant convergence diagnostics to assess whether the chain has converged to the target (joint) distribution. We didn’t do any convergence diagnostics here just to save time.</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01626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1142</TotalTime>
  <Words>2992</Words>
  <Application>Microsoft Office PowerPoint</Application>
  <PresentationFormat>Widescreen</PresentationFormat>
  <Paragraphs>329</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 Math</vt:lpstr>
      <vt:lpstr>Coo Hew</vt:lpstr>
      <vt:lpstr>Gidole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24</cp:revision>
  <dcterms:created xsi:type="dcterms:W3CDTF">2022-10-01T01:43:19Z</dcterms:created>
  <dcterms:modified xsi:type="dcterms:W3CDTF">2022-10-13T14:32:11Z</dcterms:modified>
</cp:coreProperties>
</file>