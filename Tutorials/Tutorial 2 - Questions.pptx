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362"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CC"/>
    <a:srgbClr val="DE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87" d="100"/>
          <a:sy n="87" d="100"/>
        </p:scale>
        <p:origin x="72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317D-B4B3-49FF-A581-52DA3797B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617D1B94-82C5-46E5-9EE1-28AB8A733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6EE43B2-B15D-4099-8746-DD99E50DB4FB}"/>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4025FC5E-0CE5-4FB9-9BB4-ECE697CDDB9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777D2AF-5F8C-4771-98FC-EF00D77150BD}"/>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08445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83CE-5E9A-473E-8F92-32291246D8F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33230B0-AC0C-4B6E-A4F5-4FAC675DD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EBAEB70-DC6E-4EE4-ABDB-D9F4B1250064}"/>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0AC9991B-0CBC-41B9-80F8-8DEAEE723B5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B4DD3A1-1FE1-4787-A35A-C16B93D6A33E}"/>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43992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4EA0-3971-4A70-AC19-921C78D90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62611F5-0784-4CBC-8768-D25827C1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B5F23-A571-41AA-B1EC-A876E11F8012}"/>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05AC112F-CDEB-4D92-ADE3-86AB8B71919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C9C8463-30EC-4EEA-A19B-D84CED3241F4}"/>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69060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69F9-639E-4E86-B905-361A72031D1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2E7B1BF-80D7-4904-ACB2-42BD379AA3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9F29B174-563E-4F48-B5C9-95A627200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2711DC02-87F0-4A1D-814B-64EFA7C0B0B8}"/>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6" name="Footer Placeholder 5">
            <a:extLst>
              <a:ext uri="{FF2B5EF4-FFF2-40B4-BE49-F238E27FC236}">
                <a16:creationId xmlns:a16="http://schemas.microsoft.com/office/drawing/2014/main" id="{7248FCFA-D637-43EC-A9A3-E70338057CE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84529AD-9E9D-4052-B7D9-D0ABBD46544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27183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600E-542F-4FAC-AAB5-8EC98DEDC74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2A7919A-1454-4109-8BB4-8CC19322D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8D27C1-A966-4D82-8362-CDDD918F28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60123ED-5724-478B-AD91-AB6F0B860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8748A-2608-4871-83D6-9304E2F0E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59AE35C4-EDAF-4BD6-9BFC-1EA10B4AD446}"/>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8" name="Footer Placeholder 7">
            <a:extLst>
              <a:ext uri="{FF2B5EF4-FFF2-40B4-BE49-F238E27FC236}">
                <a16:creationId xmlns:a16="http://schemas.microsoft.com/office/drawing/2014/main" id="{C3FD6A4F-56CD-4B0A-B844-E166B45261D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F330B7D-9487-4FC0-9C56-2353E1DE7A6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96008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C3C4-2906-41C1-88A2-141162399764}"/>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C00F41E-FA6F-4E2A-82C4-91AA30005091}"/>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4" name="Footer Placeholder 3">
            <a:extLst>
              <a:ext uri="{FF2B5EF4-FFF2-40B4-BE49-F238E27FC236}">
                <a16:creationId xmlns:a16="http://schemas.microsoft.com/office/drawing/2014/main" id="{7FF7A56E-0DBD-4EA3-8EDD-71A7BE875146}"/>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2F5D2D90-D199-4D9E-8339-CDC5C773A0D2}"/>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71906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15A83-8386-4308-93A9-38AC8CB47362}"/>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3" name="Footer Placeholder 2">
            <a:extLst>
              <a:ext uri="{FF2B5EF4-FFF2-40B4-BE49-F238E27FC236}">
                <a16:creationId xmlns:a16="http://schemas.microsoft.com/office/drawing/2014/main" id="{02A18E28-C4E7-438B-8852-AAC550790CF8}"/>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A7789BCA-AF1F-4251-9148-6DC5AFDAD1EF}"/>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8988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047F-40DD-4BDF-9001-58E69C283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302E97F-46A8-4EA1-BCDC-A7C11AC8A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D83CF31-99FA-4CD7-88D6-06ACA4199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09333-1C32-4955-A275-956BBBC468CF}"/>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6" name="Footer Placeholder 5">
            <a:extLst>
              <a:ext uri="{FF2B5EF4-FFF2-40B4-BE49-F238E27FC236}">
                <a16:creationId xmlns:a16="http://schemas.microsoft.com/office/drawing/2014/main" id="{4A3C1F9E-9626-4A35-A52E-454BC798DD5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2912061-68AF-49E0-BFE2-B0BDDAE2C13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138086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4005-25DC-4DE2-9B63-AFDA0D59C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4FA3A2AC-6C82-44DD-87D0-DA52CB41B2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3F6E4F4-5787-4725-861E-C195BB844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02CCB-120B-4DD2-94BC-7891091CC8C4}"/>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6" name="Footer Placeholder 5">
            <a:extLst>
              <a:ext uri="{FF2B5EF4-FFF2-40B4-BE49-F238E27FC236}">
                <a16:creationId xmlns:a16="http://schemas.microsoft.com/office/drawing/2014/main" id="{E466A5B3-8827-476F-8183-918928FCD4B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A53B3C-10A8-4EA5-B6F7-D5CCA0B99E2B}"/>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403499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F9CB-509B-46B8-B7D2-F360A55F5A7E}"/>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BF0ECD0-22A1-406D-8DC1-17433E09B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CDCFA5C-D24C-41B7-94F5-D416A1233975}"/>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44157DE0-7248-42FF-9572-C708D27A7A8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1AFB283-1E90-4BE8-911F-1C7EFE656FE8}"/>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6164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E2739-245C-4111-A3C2-73970E912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4D012DF-D28D-4996-81BE-C8A9519B43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B93C28B-C11D-4ED0-8304-E677041EB680}"/>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83E24285-CE19-4637-BFEA-02DA1668BA8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482C048-E851-4CE1-8616-62FDD1483A5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78082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A7951-8353-4D37-9B17-202BEBF3F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B06BFE0-9436-4E6B-AF5B-C732AEE495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234AF23-4F70-4BD2-943B-70BE8CCE5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D8C99E8B-B066-44AE-9836-C6C32D09A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E0E5CC73-3019-45C0-9430-8C08AD9C2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492C7C-3FC3-4F92-9C7C-A099A49FCCC9}" type="slidenum">
              <a:rPr lang="en-NZ" smtClean="0"/>
              <a:t>‹#›</a:t>
            </a:fld>
            <a:endParaRPr lang="en-NZ"/>
          </a:p>
        </p:txBody>
      </p:sp>
    </p:spTree>
    <p:extLst>
      <p:ext uri="{BB962C8B-B14F-4D97-AF65-F5344CB8AC3E}">
        <p14:creationId xmlns:p14="http://schemas.microsoft.com/office/powerpoint/2010/main" val="974031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algn="ctr"/>
            <a:r>
              <a:rPr lang="en-NZ" sz="3500" b="1" u="sng" dirty="0">
                <a:solidFill>
                  <a:schemeClr val="bg1"/>
                </a:solidFill>
              </a:rPr>
              <a:t>STATS 432 </a:t>
            </a:r>
            <a:br>
              <a:rPr lang="en-NZ" sz="3500" b="1" dirty="0">
                <a:solidFill>
                  <a:schemeClr val="bg1"/>
                </a:solidFill>
              </a:rPr>
            </a:br>
            <a:r>
              <a:rPr lang="en-NZ" sz="3500" dirty="0">
                <a:solidFill>
                  <a:schemeClr val="bg1"/>
                </a:solidFill>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algn="ctr"/>
            <a:r>
              <a:rPr lang="en-NZ" sz="2800" dirty="0">
                <a:solidFill>
                  <a:schemeClr val="bg1"/>
                </a:solidFill>
              </a:rPr>
              <a:t>Tutorial 2 – Permutation Testing (Part II)</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745052"/>
            <a:ext cx="11615496" cy="9390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study is conducted to test whether different dosages of Atorvastatin (10mgs, 20mgs, 30mgs) have any effect on the level of cholesterol within the blood stream of patients. The table below shows the level of cholesterol in patient’s blood streams after taking specified dosages of Atorvastatin each day for a month. This data is also available in the data set entitled ‘Cholesterol.csv’. Since cholesterol levels are likely to be affected by biological sex, the effect of dosage on cholesterol levels must be assessed </a:t>
            </a:r>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controlling for sex</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t>
            </a: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862316" y="1971881"/>
            <a:ext cx="7718816" cy="22321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Specify the response variable, factors and factor levels present in this study.</a:t>
            </a: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Write down the two-way ANOVA model as it applies in this instance.</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Construct a marginal means plot. What does this suggest with regards to the presence on an interaction term between dosage and sex?</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Conduct normal theory two-way ANOVA, to test for the effects of sex, dosage </a:t>
            </a:r>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controlling for sex </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and the presence of any interaction between dosage and sex? Will it matter in which order the factors are entered into the model in this instance?</a:t>
            </a: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9228428E-C662-CAF0-10F7-FDEB4689FF02}"/>
              </a:ext>
            </a:extLst>
          </p:cNvPr>
          <p:cNvSpPr txBox="1">
            <a:spLocks/>
          </p:cNvSpPr>
          <p:nvPr/>
        </p:nvSpPr>
        <p:spPr>
          <a:xfrm>
            <a:off x="3862316" y="1684125"/>
            <a:ext cx="4625576"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Normal Theory Two-Way ANOVA:</a:t>
            </a:r>
          </a:p>
        </p:txBody>
      </p:sp>
      <p:sp>
        <p:nvSpPr>
          <p:cNvPr id="8" name="Text Placeholder 5">
            <a:extLst>
              <a:ext uri="{FF2B5EF4-FFF2-40B4-BE49-F238E27FC236}">
                <a16:creationId xmlns:a16="http://schemas.microsoft.com/office/drawing/2014/main" id="{B6378C8C-7471-CC3E-45C8-9D1A863AC7FE}"/>
              </a:ext>
            </a:extLst>
          </p:cNvPr>
          <p:cNvSpPr txBox="1">
            <a:spLocks/>
          </p:cNvSpPr>
          <p:nvPr/>
        </p:nvSpPr>
        <p:spPr>
          <a:xfrm>
            <a:off x="3862316" y="4429600"/>
            <a:ext cx="471043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Permutation Testing:</a:t>
            </a:r>
          </a:p>
        </p:txBody>
      </p:sp>
      <p:sp>
        <p:nvSpPr>
          <p:cNvPr id="9" name="Text Placeholder 5">
            <a:extLst>
              <a:ext uri="{FF2B5EF4-FFF2-40B4-BE49-F238E27FC236}">
                <a16:creationId xmlns:a16="http://schemas.microsoft.com/office/drawing/2014/main" id="{6594744B-AA76-FC39-BBCA-38E07ECA9683}"/>
              </a:ext>
            </a:extLst>
          </p:cNvPr>
          <p:cNvSpPr txBox="1">
            <a:spLocks/>
          </p:cNvSpPr>
          <p:nvPr/>
        </p:nvSpPr>
        <p:spPr>
          <a:xfrm>
            <a:off x="3862316" y="4688337"/>
            <a:ext cx="7718816" cy="1977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Due to the small sample size in some cells, there is concern that the conditions of normal theory two-way ANOVA (i.e. independence, normality and homogeneity of variance) may not be satisfied. Conduct permutation tests to:</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startAt="5"/>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Test for interaction effects using Ter </a:t>
            </a:r>
            <a:r>
              <a:rPr kumimoji="1" lang="en-US" altLang="ja-JP" sz="1400" b="0" i="0" u="none" strike="noStrike" kern="1200" cap="none" spc="0" normalizeH="0" baseline="0" noProof="0" dirty="0" err="1">
                <a:ln>
                  <a:noFill/>
                </a:ln>
                <a:solidFill>
                  <a:srgbClr val="0070C0"/>
                </a:solidFill>
                <a:effectLst/>
                <a:uLnTx/>
                <a:uFillTx/>
                <a:latin typeface="Calibri" panose="020F0502020204030204"/>
                <a:ea typeface="游ゴシック" panose="020B0400000000000000" pitchFamily="34" charset="-128"/>
                <a:cs typeface="+mn-cs"/>
              </a:rPr>
              <a:t>Braak’s</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method.</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startAt="5"/>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Test for the effect of sex on cholesterol alone.</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startAt="5"/>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Test for the effect of dosage controlling for sex.</a:t>
            </a:r>
          </a:p>
        </p:txBody>
      </p:sp>
      <p:graphicFrame>
        <p:nvGraphicFramePr>
          <p:cNvPr id="10" name="Table 9">
            <a:extLst>
              <a:ext uri="{FF2B5EF4-FFF2-40B4-BE49-F238E27FC236}">
                <a16:creationId xmlns:a16="http://schemas.microsoft.com/office/drawing/2014/main" id="{21B55116-D758-B1F9-8022-7561A2F7F2A5}"/>
              </a:ext>
            </a:extLst>
          </p:cNvPr>
          <p:cNvGraphicFramePr>
            <a:graphicFrameLocks noGrp="1"/>
          </p:cNvGraphicFramePr>
          <p:nvPr/>
        </p:nvGraphicFramePr>
        <p:xfrm>
          <a:off x="406151" y="1823703"/>
          <a:ext cx="3213100" cy="4358952"/>
        </p:xfrm>
        <a:graphic>
          <a:graphicData uri="http://schemas.openxmlformats.org/drawingml/2006/table">
            <a:tbl>
              <a:tblPr firstRow="1" firstCol="1" bandRow="1">
                <a:tableStyleId>{5C22544A-7EE6-4342-B048-85BDC9FD1C3A}</a:tableStyleId>
              </a:tblPr>
              <a:tblGrid>
                <a:gridCol w="573869">
                  <a:extLst>
                    <a:ext uri="{9D8B030D-6E8A-4147-A177-3AD203B41FA5}">
                      <a16:colId xmlns:a16="http://schemas.microsoft.com/office/drawing/2014/main" val="1659444516"/>
                    </a:ext>
                  </a:extLst>
                </a:gridCol>
                <a:gridCol w="835831">
                  <a:extLst>
                    <a:ext uri="{9D8B030D-6E8A-4147-A177-3AD203B41FA5}">
                      <a16:colId xmlns:a16="http://schemas.microsoft.com/office/drawing/2014/main" val="1590401375"/>
                    </a:ext>
                  </a:extLst>
                </a:gridCol>
                <a:gridCol w="901700">
                  <a:extLst>
                    <a:ext uri="{9D8B030D-6E8A-4147-A177-3AD203B41FA5}">
                      <a16:colId xmlns:a16="http://schemas.microsoft.com/office/drawing/2014/main" val="667814405"/>
                    </a:ext>
                  </a:extLst>
                </a:gridCol>
                <a:gridCol w="901700">
                  <a:extLst>
                    <a:ext uri="{9D8B030D-6E8A-4147-A177-3AD203B41FA5}">
                      <a16:colId xmlns:a16="http://schemas.microsoft.com/office/drawing/2014/main" val="1126257905"/>
                    </a:ext>
                  </a:extLst>
                </a:gridCol>
              </a:tblGrid>
              <a:tr h="402562">
                <a:tc>
                  <a:txBody>
                    <a:bodyPr/>
                    <a:lstStyle/>
                    <a:p>
                      <a:pPr>
                        <a:lnSpc>
                          <a:spcPct val="107000"/>
                        </a:lnSpc>
                      </a:pPr>
                      <a:endParaRPr lang="en-NZ" sz="11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Dosage 10mgs</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20mgs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30mgs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35967317"/>
                  </a:ext>
                </a:extLst>
              </a:tr>
              <a:tr h="22951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71</a:t>
                      </a:r>
                    </a:p>
                  </a:txBody>
                  <a:tcPr marL="9525" marR="9525" marT="9525" marB="0" anchor="ctr"/>
                </a:tc>
                <a:extLst>
                  <a:ext uri="{0D108BD9-81ED-4DB2-BD59-A6C34878D82A}">
                    <a16:rowId xmlns:a16="http://schemas.microsoft.com/office/drawing/2014/main" val="34737088"/>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75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65</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67</a:t>
                      </a:r>
                    </a:p>
                  </a:txBody>
                  <a:tcPr marL="9525" marR="9525" marT="9525" marB="0" anchor="ctr"/>
                </a:tc>
                <a:extLst>
                  <a:ext uri="{0D108BD9-81ED-4DB2-BD59-A6C34878D82A}">
                    <a16:rowId xmlns:a16="http://schemas.microsoft.com/office/drawing/2014/main" val="2427662414"/>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80</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81</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extLst>
                  <a:ext uri="{0D108BD9-81ED-4DB2-BD59-A6C34878D82A}">
                    <a16:rowId xmlns:a16="http://schemas.microsoft.com/office/drawing/2014/main" val="3372802481"/>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73</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80</a:t>
                      </a:r>
                    </a:p>
                  </a:txBody>
                  <a:tcPr marL="9525" marR="9525" marT="9525" marB="0" anchor="ctr"/>
                </a:tc>
                <a:extLst>
                  <a:ext uri="{0D108BD9-81ED-4DB2-BD59-A6C34878D82A}">
                    <a16:rowId xmlns:a16="http://schemas.microsoft.com/office/drawing/2014/main" val="2506817266"/>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83</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82</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82</a:t>
                      </a:r>
                    </a:p>
                  </a:txBody>
                  <a:tcPr marL="9525" marR="9525" marT="9525" marB="0" anchor="ctr"/>
                </a:tc>
                <a:extLst>
                  <a:ext uri="{0D108BD9-81ED-4DB2-BD59-A6C34878D82A}">
                    <a16:rowId xmlns:a16="http://schemas.microsoft.com/office/drawing/2014/main" val="2506423521"/>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85</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1618157351"/>
                  </a:ext>
                </a:extLst>
              </a:tr>
              <a:tr h="218585">
                <a:tc>
                  <a:txBody>
                    <a:bodyPr/>
                    <a:lstStyle/>
                    <a:p>
                      <a:pPr algn="ctr">
                        <a:lnSpc>
                          <a:spcPct val="107000"/>
                        </a:lnSpc>
                        <a:spcAft>
                          <a:spcPts val="800"/>
                        </a:spcAft>
                      </a:pPr>
                      <a:r>
                        <a:rPr lang="en-NZ" sz="1100" dirty="0">
                          <a:effectLst/>
                          <a:latin typeface="Calibri" panose="020F0502020204030204" pitchFamily="34" charset="0"/>
                          <a:ea typeface="Calibri" panose="020F0502020204030204" pitchFamily="34" charset="0"/>
                          <a:cs typeface="Times New Roman" panose="02020603050405020304" pitchFamily="18" charset="0"/>
                        </a:rPr>
                        <a:t>Male</a:t>
                      </a: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86</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76</a:t>
                      </a:r>
                    </a:p>
                  </a:txBody>
                  <a:tcPr marL="9525" marR="9525" marT="9525" marB="0" anchor="ctr"/>
                </a:tc>
                <a:extLst>
                  <a:ext uri="{0D108BD9-81ED-4DB2-BD59-A6C34878D82A}">
                    <a16:rowId xmlns:a16="http://schemas.microsoft.com/office/drawing/2014/main" val="2736700117"/>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73</a:t>
                      </a:r>
                    </a:p>
                  </a:txBody>
                  <a:tcPr marL="9525" marR="9525" marT="9525" marB="0" anchor="ctr"/>
                </a:tc>
                <a:extLst>
                  <a:ext uri="{0D108BD9-81ED-4DB2-BD59-A6C34878D82A}">
                    <a16:rowId xmlns:a16="http://schemas.microsoft.com/office/drawing/2014/main" val="2657871065"/>
                  </a:ext>
                </a:extLst>
              </a:tr>
              <a:tr h="22951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71</a:t>
                      </a:r>
                    </a:p>
                  </a:txBody>
                  <a:tcPr marL="9525" marR="9525" marT="9525" marB="0" anchor="ctr"/>
                </a:tc>
                <a:extLst>
                  <a:ext uri="{0D108BD9-81ED-4DB2-BD59-A6C34878D82A}">
                    <a16:rowId xmlns:a16="http://schemas.microsoft.com/office/drawing/2014/main" val="4044509371"/>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79</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66</a:t>
                      </a:r>
                    </a:p>
                  </a:txBody>
                  <a:tcPr marL="9525" marR="9525" marT="9525" marB="0" anchor="ctr"/>
                </a:tc>
                <a:extLst>
                  <a:ext uri="{0D108BD9-81ED-4DB2-BD59-A6C34878D82A}">
                    <a16:rowId xmlns:a16="http://schemas.microsoft.com/office/drawing/2014/main" val="4201916131"/>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57</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1960043920"/>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83</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2957139029"/>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53</a:t>
                      </a:r>
                    </a:p>
                  </a:txBody>
                  <a:tcPr marL="9525" marR="9525" marT="9525" marB="0" anchor="ctr"/>
                </a:tc>
                <a:extLst>
                  <a:ext uri="{0D108BD9-81ED-4DB2-BD59-A6C34878D82A}">
                    <a16:rowId xmlns:a16="http://schemas.microsoft.com/office/drawing/2014/main" val="995622970"/>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59</a:t>
                      </a:r>
                    </a:p>
                  </a:txBody>
                  <a:tcPr marL="9525" marR="9525" marT="9525" marB="0" anchor="ctr"/>
                </a:tc>
                <a:extLst>
                  <a:ext uri="{0D108BD9-81ED-4DB2-BD59-A6C34878D82A}">
                    <a16:rowId xmlns:a16="http://schemas.microsoft.com/office/drawing/2014/main" val="1012086593"/>
                  </a:ext>
                </a:extLst>
              </a:tr>
              <a:tr h="218585">
                <a:tc>
                  <a:txBody>
                    <a:bodyPr/>
                    <a:lstStyle/>
                    <a:p>
                      <a:pPr algn="ctr">
                        <a:lnSpc>
                          <a:spcPct val="107000"/>
                        </a:lnSpc>
                        <a:spcAft>
                          <a:spcPts val="800"/>
                        </a:spcAft>
                      </a:pPr>
                      <a:r>
                        <a:rPr lang="en-NZ" sz="1100" dirty="0">
                          <a:effectLst/>
                          <a:latin typeface="Calibri" panose="020F0502020204030204" pitchFamily="34" charset="0"/>
                          <a:ea typeface="Calibri" panose="020F0502020204030204" pitchFamily="34" charset="0"/>
                          <a:cs typeface="Times New Roman" panose="02020603050405020304" pitchFamily="18" charset="0"/>
                        </a:rPr>
                        <a:t>Female</a:t>
                      </a: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59</a:t>
                      </a:r>
                    </a:p>
                  </a:txBody>
                  <a:tcPr marL="9525" marR="9525" marT="9525" marB="0" anchor="ctr"/>
                </a:tc>
                <a:extLst>
                  <a:ext uri="{0D108BD9-81ED-4DB2-BD59-A6C34878D82A}">
                    <a16:rowId xmlns:a16="http://schemas.microsoft.com/office/drawing/2014/main" val="2587854458"/>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62</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76</a:t>
                      </a:r>
                    </a:p>
                  </a:txBody>
                  <a:tcPr marL="9525" marR="9525" marT="9525" marB="0" anchor="ctr"/>
                </a:tc>
                <a:extLst>
                  <a:ext uri="{0D108BD9-81ED-4DB2-BD59-A6C34878D82A}">
                    <a16:rowId xmlns:a16="http://schemas.microsoft.com/office/drawing/2014/main" val="2859074407"/>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extLst>
                  <a:ext uri="{0D108BD9-81ED-4DB2-BD59-A6C34878D82A}">
                    <a16:rowId xmlns:a16="http://schemas.microsoft.com/office/drawing/2014/main" val="1074928605"/>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extLst>
                  <a:ext uri="{0D108BD9-81ED-4DB2-BD59-A6C34878D82A}">
                    <a16:rowId xmlns:a16="http://schemas.microsoft.com/office/drawing/2014/main" val="3516153935"/>
                  </a:ext>
                </a:extLst>
              </a:tr>
            </a:tbl>
          </a:graphicData>
        </a:graphic>
      </p:graphicFrame>
    </p:spTree>
    <p:extLst>
      <p:ext uri="{BB962C8B-B14F-4D97-AF65-F5344CB8AC3E}">
        <p14:creationId xmlns:p14="http://schemas.microsoft.com/office/powerpoint/2010/main" val="136083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5">
            <a:extLst>
              <a:ext uri="{FF2B5EF4-FFF2-40B4-BE49-F238E27FC236}">
                <a16:creationId xmlns:a16="http://schemas.microsoft.com/office/drawing/2014/main" id="{A84B4E2F-2E74-AE69-4443-4E5B60BCC54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6.8 – Tutorial 2 – Bonus Question</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mc:Choice xmlns:a14="http://schemas.microsoft.com/office/drawing/2010/main" Requires="a14">
          <p:sp>
            <p:nvSpPr>
              <p:cNvPr id="17" name="Text Placeholder 5">
                <a:extLst>
                  <a:ext uri="{FF2B5EF4-FFF2-40B4-BE49-F238E27FC236}">
                    <a16:creationId xmlns:a16="http://schemas.microsoft.com/office/drawing/2014/main" id="{8CBB2B85-F0DF-FA42-DBB0-9399DD56C398}"/>
                  </a:ext>
                </a:extLst>
              </p:cNvPr>
              <p:cNvSpPr txBox="1">
                <a:spLocks/>
              </p:cNvSpPr>
              <p:nvPr/>
            </p:nvSpPr>
            <p:spPr>
              <a:xfrm>
                <a:off x="319463" y="853664"/>
                <a:ext cx="11335725" cy="12553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response variable </a:t>
                </a:r>
                <a:r>
                  <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Y</a:t>
                </a: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can be modelled as a function of five dependent variables </a:t>
                </a:r>
                <a14:m>
                  <m:oMath xmlns:m="http://schemas.openxmlformats.org/officeDocument/2006/math">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𝟑</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𝟒</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𝟓</m:t>
                        </m:r>
                      </m:sub>
                    </m:sSub>
                  </m:oMath>
                </a14:m>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and </a:t>
                </a:r>
                <a14:m>
                  <m:oMath xmlns:m="http://schemas.openxmlformats.org/officeDocument/2006/math">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𝟔</m:t>
                        </m:r>
                      </m:sub>
                    </m:sSub>
                  </m:oMath>
                </a14:m>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researcher interested in the quantity that </a:t>
                </a:r>
                <a:r>
                  <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Y</a:t>
                </a:r>
                <a:r>
                  <a:rPr kumimoji="1" lang="en-NZ" altLang="ja-JP" sz="17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represents creates two models: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14:m>
                  <m:oMath xmlns:m="http://schemas.openxmlformats.org/officeDocument/2006/math">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𝟎</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𝟏</m:t>
                        </m:r>
                      </m:sub>
                    </m:sSub>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𝟏</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𝟑</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𝟑</m:t>
                        </m:r>
                      </m:sub>
                    </m:sSub>
                  </m:oMath>
                </a14:m>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(Reduced model)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14:m>
                  <m:oMath xmlns:m="http://schemas.openxmlformats.org/officeDocument/2006/math">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𝟎</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𝟏</m:t>
                        </m:r>
                      </m:sub>
                    </m:sSub>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𝟏</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𝟑</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𝟑</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𝟒</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𝟒</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𝟓</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𝟓</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𝟔</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𝟔</m:t>
                        </m:r>
                      </m:sub>
                    </m:sSub>
                  </m:oMath>
                </a14:m>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(Complete model)</a:t>
                </a:r>
              </a:p>
            </p:txBody>
          </p:sp>
        </mc:Choice>
        <mc:Fallback>
          <p:sp>
            <p:nvSpPr>
              <p:cNvPr id="17" name="Text Placeholder 5">
                <a:extLst>
                  <a:ext uri="{FF2B5EF4-FFF2-40B4-BE49-F238E27FC236}">
                    <a16:creationId xmlns:a16="http://schemas.microsoft.com/office/drawing/2014/main" id="{8CBB2B85-F0DF-FA42-DBB0-9399DD56C398}"/>
                  </a:ext>
                </a:extLst>
              </p:cNvPr>
              <p:cNvSpPr txBox="1">
                <a:spLocks noRot="1" noChangeAspect="1" noMove="1" noResize="1" noEditPoints="1" noAdjustHandles="1" noChangeArrowheads="1" noChangeShapeType="1" noTextEdit="1"/>
              </p:cNvSpPr>
              <p:nvPr/>
            </p:nvSpPr>
            <p:spPr>
              <a:xfrm>
                <a:off x="319463" y="853664"/>
                <a:ext cx="11335725" cy="1255372"/>
              </a:xfrm>
              <a:prstGeom prst="rect">
                <a:avLst/>
              </a:prstGeom>
              <a:blipFill>
                <a:blip r:embed="rId2"/>
                <a:stretch>
                  <a:fillRect l="-323" t="-1456" b="-1456"/>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CF3D2647-1B86-FF55-A9ED-CD9FB98A6B30}"/>
              </a:ext>
            </a:extLst>
          </p:cNvPr>
          <p:cNvSpPr txBox="1">
            <a:spLocks/>
          </p:cNvSpPr>
          <p:nvPr/>
        </p:nvSpPr>
        <p:spPr>
          <a:xfrm>
            <a:off x="3973150" y="2175472"/>
            <a:ext cx="784404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The data pertaining to this experiment can be found in the data set entitled ‘Reg Coeff.csv’. A snapshot is shown adjacent. </a:t>
            </a:r>
            <a:endParaRPr kumimoji="1" lang="en-NZ" altLang="ja-JP" sz="17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pic>
        <p:nvPicPr>
          <p:cNvPr id="30" name="Picture 2" descr="Te Herenga Waka—Victoria University of Wellington | Universities New  Zealand - Te Pōkai Tara">
            <a:extLst>
              <a:ext uri="{FF2B5EF4-FFF2-40B4-BE49-F238E27FC236}">
                <a16:creationId xmlns:a16="http://schemas.microsoft.com/office/drawing/2014/main" id="{C36E6104-5F5D-4901-E826-9C5300C39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32" name="Slide Number Placeholder 3">
            <a:extLst>
              <a:ext uri="{FF2B5EF4-FFF2-40B4-BE49-F238E27FC236}">
                <a16:creationId xmlns:a16="http://schemas.microsoft.com/office/drawing/2014/main" id="{1A05F1B7-2E15-E3A8-0E9A-8D1F1594C7F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 name="Footer Placeholder 2">
            <a:extLst>
              <a:ext uri="{FF2B5EF4-FFF2-40B4-BE49-F238E27FC236}">
                <a16:creationId xmlns:a16="http://schemas.microsoft.com/office/drawing/2014/main" id="{DCCD3E9C-32AF-5328-BCC7-924EEA7316E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 name="Title 6">
            <a:extLst>
              <a:ext uri="{FF2B5EF4-FFF2-40B4-BE49-F238E27FC236}">
                <a16:creationId xmlns:a16="http://schemas.microsoft.com/office/drawing/2014/main" id="{EE65C608-4AEC-D11B-2423-28834C2377C4}"/>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graphicFrame>
        <p:nvGraphicFramePr>
          <p:cNvPr id="5" name="Table 4">
            <a:extLst>
              <a:ext uri="{FF2B5EF4-FFF2-40B4-BE49-F238E27FC236}">
                <a16:creationId xmlns:a16="http://schemas.microsoft.com/office/drawing/2014/main" id="{E8A3057C-7E94-86FF-3E04-95B11D66870D}"/>
              </a:ext>
            </a:extLst>
          </p:cNvPr>
          <p:cNvGraphicFramePr>
            <a:graphicFrameLocks noGrp="1"/>
          </p:cNvGraphicFramePr>
          <p:nvPr/>
        </p:nvGraphicFramePr>
        <p:xfrm>
          <a:off x="319463" y="2231696"/>
          <a:ext cx="3467100" cy="3238500"/>
        </p:xfrm>
        <a:graphic>
          <a:graphicData uri="http://schemas.openxmlformats.org/drawingml/2006/table">
            <a:tbl>
              <a:tblPr/>
              <a:tblGrid>
                <a:gridCol w="495300">
                  <a:extLst>
                    <a:ext uri="{9D8B030D-6E8A-4147-A177-3AD203B41FA5}">
                      <a16:colId xmlns:a16="http://schemas.microsoft.com/office/drawing/2014/main" val="420914911"/>
                    </a:ext>
                  </a:extLst>
                </a:gridCol>
                <a:gridCol w="495300">
                  <a:extLst>
                    <a:ext uri="{9D8B030D-6E8A-4147-A177-3AD203B41FA5}">
                      <a16:colId xmlns:a16="http://schemas.microsoft.com/office/drawing/2014/main" val="1756428940"/>
                    </a:ext>
                  </a:extLst>
                </a:gridCol>
                <a:gridCol w="495300">
                  <a:extLst>
                    <a:ext uri="{9D8B030D-6E8A-4147-A177-3AD203B41FA5}">
                      <a16:colId xmlns:a16="http://schemas.microsoft.com/office/drawing/2014/main" val="585506359"/>
                    </a:ext>
                  </a:extLst>
                </a:gridCol>
                <a:gridCol w="495300">
                  <a:extLst>
                    <a:ext uri="{9D8B030D-6E8A-4147-A177-3AD203B41FA5}">
                      <a16:colId xmlns:a16="http://schemas.microsoft.com/office/drawing/2014/main" val="4011663683"/>
                    </a:ext>
                  </a:extLst>
                </a:gridCol>
                <a:gridCol w="495300">
                  <a:extLst>
                    <a:ext uri="{9D8B030D-6E8A-4147-A177-3AD203B41FA5}">
                      <a16:colId xmlns:a16="http://schemas.microsoft.com/office/drawing/2014/main" val="1589192787"/>
                    </a:ext>
                  </a:extLst>
                </a:gridCol>
                <a:gridCol w="495300">
                  <a:extLst>
                    <a:ext uri="{9D8B030D-6E8A-4147-A177-3AD203B41FA5}">
                      <a16:colId xmlns:a16="http://schemas.microsoft.com/office/drawing/2014/main" val="3027366313"/>
                    </a:ext>
                  </a:extLst>
                </a:gridCol>
                <a:gridCol w="495300">
                  <a:extLst>
                    <a:ext uri="{9D8B030D-6E8A-4147-A177-3AD203B41FA5}">
                      <a16:colId xmlns:a16="http://schemas.microsoft.com/office/drawing/2014/main" val="278278703"/>
                    </a:ext>
                  </a:extLst>
                </a:gridCol>
              </a:tblGrid>
              <a:tr h="190500">
                <a:tc>
                  <a:txBody>
                    <a:bodyPr/>
                    <a:lstStyle/>
                    <a:p>
                      <a:pPr algn="ctr" fontAlgn="ctr"/>
                      <a:r>
                        <a:rPr lang="en-NZ" sz="1100" b="1" i="0" u="none" strike="noStrike">
                          <a:solidFill>
                            <a:srgbClr val="FFFFFF"/>
                          </a:solidFill>
                          <a:effectLst/>
                          <a:latin typeface="Calibri" panose="020F0502020204030204" pitchFamily="34" charset="0"/>
                        </a:rPr>
                        <a:t>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X1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X2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X3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0000"/>
                          </a:solidFill>
                          <a:effectLst/>
                          <a:latin typeface="Calibri" panose="020F0502020204030204" pitchFamily="34" charset="0"/>
                        </a:rPr>
                        <a:t>X4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0000"/>
                          </a:solidFill>
                          <a:effectLst/>
                          <a:latin typeface="Calibri" panose="020F0502020204030204" pitchFamily="34" charset="0"/>
                        </a:rPr>
                        <a:t>X5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0000"/>
                          </a:solidFill>
                          <a:effectLst/>
                          <a:latin typeface="Calibri" panose="020F0502020204030204" pitchFamily="34" charset="0"/>
                        </a:rPr>
                        <a:t>X6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485165368"/>
                  </a:ext>
                </a:extLst>
              </a:tr>
              <a:tr h="190500">
                <a:tc>
                  <a:txBody>
                    <a:bodyPr/>
                    <a:lstStyle/>
                    <a:p>
                      <a:pPr algn="ctr" fontAlgn="ctr"/>
                      <a:r>
                        <a:rPr lang="en-NZ" sz="1100" b="0" i="0" u="none" strike="noStrike">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849627483"/>
                  </a:ext>
                </a:extLst>
              </a:tr>
              <a:tr h="190500">
                <a:tc>
                  <a:txBody>
                    <a:bodyPr/>
                    <a:lstStyle/>
                    <a:p>
                      <a:pPr algn="ctr" fontAlgn="ctr"/>
                      <a:r>
                        <a:rPr lang="en-NZ" sz="1100" b="0" i="0" u="none" strike="noStrike">
                          <a:solidFill>
                            <a:srgbClr val="000000"/>
                          </a:solidFill>
                          <a:effectLst/>
                          <a:latin typeface="Calibri" panose="020F0502020204030204" pitchFamily="34" charset="0"/>
                        </a:rPr>
                        <a:t>55.3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702072829"/>
                  </a:ext>
                </a:extLst>
              </a:tr>
              <a:tr h="190500">
                <a:tc>
                  <a:txBody>
                    <a:bodyPr/>
                    <a:lstStyle/>
                    <a:p>
                      <a:pPr algn="ctr" fontAlgn="ctr"/>
                      <a:r>
                        <a:rPr lang="en-NZ" sz="1100" b="0" i="0" u="none" strike="noStrike">
                          <a:solidFill>
                            <a:srgbClr val="000000"/>
                          </a:solidFill>
                          <a:effectLst/>
                          <a:latin typeface="Calibri" panose="020F0502020204030204" pitchFamily="34" charset="0"/>
                        </a:rPr>
                        <a:t>26.1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01052126"/>
                  </a:ext>
                </a:extLst>
              </a:tr>
              <a:tr h="190500">
                <a:tc>
                  <a:txBody>
                    <a:bodyPr/>
                    <a:lstStyle/>
                    <a:p>
                      <a:pPr algn="ctr" fontAlgn="ctr"/>
                      <a:r>
                        <a:rPr lang="en-NZ" sz="1100" b="0" i="0" u="none" strike="noStrike">
                          <a:solidFill>
                            <a:srgbClr val="000000"/>
                          </a:solidFill>
                          <a:effectLst/>
                          <a:latin typeface="Calibri" panose="020F0502020204030204" pitchFamily="34" charset="0"/>
                        </a:rPr>
                        <a:t>105.3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4621548"/>
                  </a:ext>
                </a:extLst>
              </a:tr>
              <a:tr h="190500">
                <a:tc>
                  <a:txBody>
                    <a:bodyPr/>
                    <a:lstStyle/>
                    <a:p>
                      <a:pPr algn="ctr" fontAlgn="ctr"/>
                      <a:r>
                        <a:rPr lang="en-NZ" sz="1100" b="0" i="0" u="none" strike="noStrike">
                          <a:solidFill>
                            <a:srgbClr val="000000"/>
                          </a:solidFill>
                          <a:effectLst/>
                          <a:latin typeface="Calibri" panose="020F0502020204030204" pitchFamily="34" charset="0"/>
                        </a:rPr>
                        <a:t>46.3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05325526"/>
                  </a:ext>
                </a:extLst>
              </a:tr>
              <a:tr h="190500">
                <a:tc>
                  <a:txBody>
                    <a:bodyPr/>
                    <a:lstStyle/>
                    <a:p>
                      <a:pPr algn="ctr" fontAlgn="ctr"/>
                      <a:r>
                        <a:rPr lang="en-NZ" sz="1100" b="0" i="0" u="none" strike="noStrike">
                          <a:solidFill>
                            <a:srgbClr val="000000"/>
                          </a:solidFill>
                          <a:effectLst/>
                          <a:latin typeface="Calibri" panose="020F0502020204030204" pitchFamily="34" charset="0"/>
                        </a:rPr>
                        <a:t>252.6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625596436"/>
                  </a:ext>
                </a:extLst>
              </a:tr>
              <a:tr h="190500">
                <a:tc>
                  <a:txBody>
                    <a:bodyPr/>
                    <a:lstStyle/>
                    <a:p>
                      <a:pPr algn="ctr" fontAlgn="ctr"/>
                      <a:r>
                        <a:rPr lang="en-NZ" sz="1100" b="0" i="0" u="none" strike="noStrike">
                          <a:solidFill>
                            <a:srgbClr val="000000"/>
                          </a:solidFill>
                          <a:effectLst/>
                          <a:latin typeface="Calibri" panose="020F0502020204030204" pitchFamily="34" charset="0"/>
                        </a:rPr>
                        <a:t>264.4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000370512"/>
                  </a:ext>
                </a:extLst>
              </a:tr>
              <a:tr h="190500">
                <a:tc>
                  <a:txBody>
                    <a:bodyPr/>
                    <a:lstStyle/>
                    <a:p>
                      <a:pPr algn="ctr" fontAlgn="ctr"/>
                      <a:r>
                        <a:rPr lang="en-NZ" sz="1100" b="0" i="0" u="none" strike="noStrike">
                          <a:solidFill>
                            <a:srgbClr val="000000"/>
                          </a:solidFill>
                          <a:effectLst/>
                          <a:latin typeface="Calibri" panose="020F0502020204030204" pitchFamily="34" charset="0"/>
                        </a:rPr>
                        <a:t>144.4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9671704"/>
                  </a:ext>
                </a:extLst>
              </a:tr>
              <a:tr h="190500">
                <a:tc>
                  <a:txBody>
                    <a:bodyPr/>
                    <a:lstStyle/>
                    <a:p>
                      <a:pPr algn="ctr" fontAlgn="ctr"/>
                      <a:r>
                        <a:rPr lang="en-NZ" sz="1100" b="0" i="0" u="none" strike="noStrike">
                          <a:solidFill>
                            <a:srgbClr val="000000"/>
                          </a:solidFill>
                          <a:effectLst/>
                          <a:latin typeface="Calibri" panose="020F0502020204030204" pitchFamily="34" charset="0"/>
                        </a:rPr>
                        <a:t>208.7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511118897"/>
                  </a:ext>
                </a:extLst>
              </a:tr>
              <a:tr h="190500">
                <a:tc>
                  <a:txBody>
                    <a:bodyPr/>
                    <a:lstStyle/>
                    <a:p>
                      <a:pPr algn="ctr" fontAlgn="ctr"/>
                      <a:r>
                        <a:rPr lang="en-NZ" sz="1100" b="0" i="0" u="none" strike="noStrike">
                          <a:solidFill>
                            <a:srgbClr val="000000"/>
                          </a:solidFill>
                          <a:effectLst/>
                          <a:latin typeface="Calibri" panose="020F0502020204030204" pitchFamily="34" charset="0"/>
                        </a:rPr>
                        <a:t>148.8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548484333"/>
                  </a:ext>
                </a:extLst>
              </a:tr>
              <a:tr h="190500">
                <a:tc>
                  <a:txBody>
                    <a:bodyPr/>
                    <a:lstStyle/>
                    <a:p>
                      <a:pPr algn="ctr" fontAlgn="ctr"/>
                      <a:r>
                        <a:rPr lang="en-NZ" sz="1100" b="0" i="0" u="none" strike="noStrike">
                          <a:solidFill>
                            <a:srgbClr val="000000"/>
                          </a:solidFill>
                          <a:effectLst/>
                          <a:latin typeface="Calibri" panose="020F0502020204030204" pitchFamily="34" charset="0"/>
                        </a:rPr>
                        <a:t>67.3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504372604"/>
                  </a:ext>
                </a:extLst>
              </a:tr>
              <a:tr h="190500">
                <a:tc>
                  <a:txBody>
                    <a:bodyPr/>
                    <a:lstStyle/>
                    <a:p>
                      <a:pPr algn="ctr" fontAlgn="ctr"/>
                      <a:r>
                        <a:rPr lang="en-NZ" sz="1100" b="0" i="0" u="none" strike="noStrike">
                          <a:solidFill>
                            <a:srgbClr val="000000"/>
                          </a:solidFill>
                          <a:effectLst/>
                          <a:latin typeface="Calibri" panose="020F0502020204030204" pitchFamily="34" charset="0"/>
                        </a:rPr>
                        <a:t>68.1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70539633"/>
                  </a:ext>
                </a:extLst>
              </a:tr>
              <a:tr h="190500">
                <a:tc>
                  <a:txBody>
                    <a:bodyPr/>
                    <a:lstStyle/>
                    <a:p>
                      <a:pPr algn="ctr" fontAlgn="ctr"/>
                      <a:r>
                        <a:rPr lang="en-NZ" sz="1100" b="0" i="0" u="none" strike="noStrike">
                          <a:solidFill>
                            <a:srgbClr val="000000"/>
                          </a:solidFill>
                          <a:effectLst/>
                          <a:latin typeface="Calibri" panose="020F0502020204030204" pitchFamily="34" charset="0"/>
                        </a:rPr>
                        <a:t>111.4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29175941"/>
                  </a:ext>
                </a:extLst>
              </a:tr>
              <a:tr h="190500">
                <a:tc>
                  <a:txBody>
                    <a:bodyPr/>
                    <a:lstStyle/>
                    <a:p>
                      <a:pPr algn="ctr" fontAlgn="ctr"/>
                      <a:r>
                        <a:rPr lang="en-NZ" sz="1100" b="0" i="0" u="none" strike="noStrike">
                          <a:solidFill>
                            <a:srgbClr val="000000"/>
                          </a:solidFill>
                          <a:effectLst/>
                          <a:latin typeface="Calibri" panose="020F0502020204030204" pitchFamily="34" charset="0"/>
                        </a:rPr>
                        <a:t>226.6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71645109"/>
                  </a:ext>
                </a:extLst>
              </a:tr>
              <a:tr h="190500">
                <a:tc>
                  <a:txBody>
                    <a:bodyPr/>
                    <a:lstStyle/>
                    <a:p>
                      <a:pPr algn="ctr" fontAlgn="ctr"/>
                      <a:r>
                        <a:rPr lang="en-NZ" sz="1100" b="0" i="0" u="none" strike="noStrike">
                          <a:solidFill>
                            <a:srgbClr val="000000"/>
                          </a:solidFill>
                          <a:effectLst/>
                          <a:latin typeface="Calibri" panose="020F0502020204030204" pitchFamily="34" charset="0"/>
                        </a:rPr>
                        <a:t>240.8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19785426"/>
                  </a:ext>
                </a:extLst>
              </a:tr>
              <a:tr h="190500">
                <a:tc>
                  <a:txBody>
                    <a:bodyPr/>
                    <a:lstStyle/>
                    <a:p>
                      <a:pPr algn="ctr" fontAlgn="ctr"/>
                      <a:r>
                        <a:rPr lang="en-NZ" sz="1100" b="0" i="0" u="none" strike="noStrike">
                          <a:solidFill>
                            <a:srgbClr val="000000"/>
                          </a:solidFill>
                          <a:effectLst/>
                          <a:latin typeface="Calibri" panose="020F0502020204030204" pitchFamily="34" charset="0"/>
                        </a:rPr>
                        <a:t>120.7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dirty="0">
                          <a:solidFill>
                            <a:srgbClr val="FF0000"/>
                          </a:solidFill>
                          <a:effectLst/>
                          <a:latin typeface="Calibri" panose="020F0502020204030204" pitchFamily="34" charset="0"/>
                        </a:rPr>
                        <a:t>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06551590"/>
                  </a:ext>
                </a:extLst>
              </a:tr>
            </a:tbl>
          </a:graphicData>
        </a:graphic>
      </p:graphicFrame>
      <p:sp>
        <p:nvSpPr>
          <p:cNvPr id="6" name="Text Placeholder 5">
            <a:extLst>
              <a:ext uri="{FF2B5EF4-FFF2-40B4-BE49-F238E27FC236}">
                <a16:creationId xmlns:a16="http://schemas.microsoft.com/office/drawing/2014/main" id="{7AD31821-4C25-EF66-E3A8-3C5664DC8990}"/>
              </a:ext>
            </a:extLst>
          </p:cNvPr>
          <p:cNvSpPr txBox="1">
            <a:spLocks/>
          </p:cNvSpPr>
          <p:nvPr/>
        </p:nvSpPr>
        <p:spPr>
          <a:xfrm>
            <a:off x="3973149" y="2985916"/>
            <a:ext cx="7844049" cy="30184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Read the data set into R and construct a correlation plot of all variables.</a:t>
            </a:r>
            <a:b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Comment on the graphs produced.</a:t>
            </a:r>
            <a:b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Conduct a normal theory likelihood ratio test. State the hypothesis being tested, the F-statistic, degrees of freedom, p-value and conclusion of the test.</a:t>
            </a:r>
            <a:b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Construct a QQ-plot of the residuals of the reduced model. Are the residuals normally distributed? Is your analysis from part b) valid?</a:t>
            </a: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endPar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Conduct a permutation based likelihood ratio test to test between the reduced and complete model.</a:t>
            </a:r>
          </a:p>
        </p:txBody>
      </p:sp>
    </p:spTree>
    <p:extLst>
      <p:ext uri="{BB962C8B-B14F-4D97-AF65-F5344CB8AC3E}">
        <p14:creationId xmlns:p14="http://schemas.microsoft.com/office/powerpoint/2010/main" val="134803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4459</TotalTime>
  <Words>724</Words>
  <Application>Microsoft Office PowerPoint</Application>
  <PresentationFormat>Widescreen</PresentationFormat>
  <Paragraphs>228</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Calibri</vt:lpstr>
      <vt:lpstr>Calibri Light</vt:lpstr>
      <vt:lpstr>Cambria Math</vt:lpstr>
      <vt:lpstr>Coo Hew</vt:lpstr>
      <vt:lpstr>Gidole</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102</cp:revision>
  <dcterms:created xsi:type="dcterms:W3CDTF">2022-02-19T23:15:01Z</dcterms:created>
  <dcterms:modified xsi:type="dcterms:W3CDTF">2022-09-18T03:58:42Z</dcterms:modified>
</cp:coreProperties>
</file>