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2" r:id="rId4"/>
    <p:sldId id="265" r:id="rId5"/>
    <p:sldId id="267" r:id="rId6"/>
    <p:sldId id="266" r:id="rId7"/>
    <p:sldId id="275" r:id="rId8"/>
    <p:sldId id="276" r:id="rId9"/>
    <p:sldId id="277" r:id="rId10"/>
    <p:sldId id="278" r:id="rId11"/>
    <p:sldId id="279" r:id="rId12"/>
    <p:sldId id="280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6BA3"/>
    <a:srgbClr val="F3F3FF"/>
    <a:srgbClr val="DEDDDD"/>
    <a:srgbClr val="FF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38" autoAdjust="0"/>
    <p:restoredTop sz="94660"/>
  </p:normalViewPr>
  <p:slideViewPr>
    <p:cSldViewPr snapToGrid="0">
      <p:cViewPr varScale="1">
        <p:scale>
          <a:sx n="87" d="100"/>
          <a:sy n="87" d="100"/>
        </p:scale>
        <p:origin x="726" y="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E317D-B4B3-49FF-A581-52DA3797B8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7D1B94-82C5-46E5-9EE1-28AB8A7330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E43B2-B15D-4099-8746-DD99E50DB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2/10/2022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25FC5E-0CE5-4FB9-9BB4-ECE697CDD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77D2AF-5F8C-4771-98FC-EF00D7715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084452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383CE-5E9A-473E-8F92-32291246D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230B0-AC0C-4B6E-A4F5-4FAC675DD8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BAEB70-DC6E-4EE4-ABDB-D9F4B1250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2/10/2022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C9991B-0CBC-41B9-80F8-8DEAEE723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DD3A1-1FE1-4787-A35A-C16B93D6A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439920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14EA0-3971-4A70-AC19-921C78D90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2611F5-0784-4CBC-8768-D25827C13B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B5F23-A571-41AA-B1EC-A876E11F8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2/10/2022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C112F-CDEB-4D92-ADE3-86AB8B719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C8463-30EC-4EEA-A19B-D84CED324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690601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969F9-639E-4E86-B905-361A72031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7B1BF-80D7-4904-ACB2-42BD379AA3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29B174-563E-4F48-B5C9-95A627200A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11DC02-87F0-4A1D-814B-64EFA7C0B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2/10/2022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48FCFA-D637-43EC-A9A3-E70338057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4529AD-9E9D-4052-B7D9-D0ABBD465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271835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1600E-542F-4FAC-AAB5-8EC98DEDC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A7919A-1454-4109-8BB4-8CC19322D2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8D27C1-A966-4D82-8362-CDDD918F28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0123ED-5724-478B-AD91-AB6F0B8609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48748A-2608-4871-83D6-9304E2F0E5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AE35C4-EDAF-4BD6-9BFC-1EA10B4AD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2/10/2022</a:t>
            </a:fld>
            <a:endParaRPr lang="en-N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FD6A4F-56CD-4B0A-B844-E166B4526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330B7D-9487-4FC0-9C56-2353E1DE7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960082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5C3C4-2906-41C1-88A2-141162399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00F41E-FA6F-4E2A-82C4-91AA30005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2/10/2022</a:t>
            </a:fld>
            <a:endParaRPr lang="en-N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F7A56E-0DBD-4EA3-8EDD-71A7BE875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5D2D90-D199-4D9E-8339-CDC5C773A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719067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515A83-8386-4308-93A9-38AC8CB47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2/10/2022</a:t>
            </a:fld>
            <a:endParaRPr lang="en-N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A18E28-C4E7-438B-8852-AAC550790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789BCA-AF1F-4251-9148-6DC5AFDAD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989886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1047F-40DD-4BDF-9001-58E69C283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2E97F-46A8-4EA1-BCDC-A7C11AC8A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83CF31-99FA-4CD7-88D6-06ACA4199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009333-1C32-4955-A275-956BBBC46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2/10/2022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3C1F9E-9626-4A35-A52E-454BC798D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912061-68AF-49E0-BFE2-B0BDDAE2C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380861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44005-25DC-4DE2-9B63-AFDA0D59C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A3A2AC-6C82-44DD-87D0-DA52CB41B2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F6E4F4-5787-4725-861E-C195BB8448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202CCB-120B-4DD2-94BC-7891091CC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2/10/2022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66A5B3-8827-476F-8183-918928FCD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A53B3C-10A8-4EA5-B6F7-D5CCA0B99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034996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FF9CB-509B-46B8-B7D2-F360A55F5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F0ECD0-22A1-406D-8DC1-17433E09BB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CFA5C-D24C-41B7-94F5-D416A1233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2/10/2022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57DE0-7248-42FF-9572-C708D27A7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FB283-1E90-4BE8-911F-1C7EFE656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96164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FE2739-245C-4111-A3C2-73970E9127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D012DF-D28D-4996-81BE-C8A9519B43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3C28B-C11D-4ED0-8304-E677041EB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2/10/2022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E24285-CE19-4637-BFEA-02DA1668B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82C048-E851-4CE1-8616-62FDD1483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780827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5A7951-8353-4D37-9B17-202BEBF3F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06BFE0-9436-4E6B-AF5B-C732AEE495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34AF23-4F70-4BD2-943B-70BE8CCE53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EA4C4C-8F90-4540-BA9B-F7C8969CE244}" type="datetimeFigureOut">
              <a:rPr lang="en-NZ" smtClean="0"/>
              <a:t>2/10/2022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C99E8B-B066-44AE-9836-C6C32D09A7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E5CC73-3019-45C0-9430-8C08AD9C2C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974031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7.png"/><Relationship Id="rId7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7.png"/><Relationship Id="rId7" Type="http://schemas.openxmlformats.org/officeDocument/2006/relationships/image" Target="../media/image17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1.png"/><Relationship Id="rId5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1.png"/><Relationship Id="rId4" Type="http://schemas.openxmlformats.org/officeDocument/2006/relationships/image" Target="../media/image8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0.png"/><Relationship Id="rId5" Type="http://schemas.openxmlformats.org/officeDocument/2006/relationships/image" Target="../media/image140.png"/><Relationship Id="rId4" Type="http://schemas.openxmlformats.org/officeDocument/2006/relationships/image" Target="../media/image1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7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.png"/><Relationship Id="rId7" Type="http://schemas.openxmlformats.org/officeDocument/2006/relationships/image" Target="../media/image2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hyperlink" Target="https://mathworld.wolfram.com/FrobeniusNorm.html" TargetMode="External"/><Relationship Id="rId4" Type="http://schemas.openxmlformats.org/officeDocument/2006/relationships/image" Target="../media/image2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0" name="Rectangle 72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0"/>
            <a:ext cx="8157458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1" name="Rectangle 74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4537" y="1839884"/>
            <a:ext cx="8157460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2" name="Rectangle 76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63179" y="-33131"/>
            <a:ext cx="6857999" cy="6923403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Programmes and courses | Study at Wellington | Victoria University of  Wellington">
            <a:extLst>
              <a:ext uri="{FF2B5EF4-FFF2-40B4-BE49-F238E27FC236}">
                <a16:creationId xmlns:a16="http://schemas.microsoft.com/office/drawing/2014/main" id="{087F352A-9067-4A20-840B-9F57464891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5" r="1" b="1"/>
          <a:stretch/>
        </p:blipFill>
        <p:spPr bwMode="auto">
          <a:xfrm>
            <a:off x="457200" y="457200"/>
            <a:ext cx="11277600" cy="594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F6EF4C4-5CC1-4D9D-A4EE-9A6C2CC6D81C}"/>
              </a:ext>
            </a:extLst>
          </p:cNvPr>
          <p:cNvSpPr txBox="1"/>
          <p:nvPr/>
        </p:nvSpPr>
        <p:spPr>
          <a:xfrm>
            <a:off x="3858329" y="913501"/>
            <a:ext cx="692340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Z" sz="3500" b="1" u="sng" dirty="0">
                <a:solidFill>
                  <a:schemeClr val="bg1"/>
                </a:solidFill>
              </a:rPr>
              <a:t>STATS 432 </a:t>
            </a:r>
            <a:br>
              <a:rPr lang="en-NZ" sz="3500" b="1" dirty="0">
                <a:solidFill>
                  <a:schemeClr val="bg1"/>
                </a:solidFill>
              </a:rPr>
            </a:br>
            <a:r>
              <a:rPr lang="en-NZ" sz="3500" dirty="0">
                <a:solidFill>
                  <a:schemeClr val="bg1"/>
                </a:solidFill>
              </a:rPr>
              <a:t>Computational Statistics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E15834-4C1C-48A4-9F77-1A195C7F3F70}"/>
              </a:ext>
            </a:extLst>
          </p:cNvPr>
          <p:cNvSpPr txBox="1"/>
          <p:nvPr/>
        </p:nvSpPr>
        <p:spPr>
          <a:xfrm>
            <a:off x="4038600" y="4646474"/>
            <a:ext cx="69234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Z" sz="2800" dirty="0">
                <a:solidFill>
                  <a:schemeClr val="bg1"/>
                </a:solidFill>
              </a:rPr>
              <a:t>Tutorial 4 – Markov Chains</a:t>
            </a:r>
          </a:p>
        </p:txBody>
      </p:sp>
    </p:spTree>
    <p:extLst>
      <p:ext uri="{BB962C8B-B14F-4D97-AF65-F5344CB8AC3E}">
        <p14:creationId xmlns:p14="http://schemas.microsoft.com/office/powerpoint/2010/main" val="2477869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E01D7A31-5FF0-43DC-9F4D-F2B96A58DE6A}"/>
              </a:ext>
            </a:extLst>
          </p:cNvPr>
          <p:cNvSpPr txBox="1">
            <a:spLocks/>
          </p:cNvSpPr>
          <p:nvPr/>
        </p:nvSpPr>
        <p:spPr>
          <a:xfrm>
            <a:off x="9444251" y="86139"/>
            <a:ext cx="2645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Question 1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4F3E9ADB-6AEC-42EA-808B-5A433C8B4560}"/>
              </a:ext>
            </a:extLst>
          </p:cNvPr>
          <p:cNvSpPr txBox="1">
            <a:spLocks/>
          </p:cNvSpPr>
          <p:nvPr/>
        </p:nvSpPr>
        <p:spPr>
          <a:xfrm>
            <a:off x="319464" y="196889"/>
            <a:ext cx="2819522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Question 1 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65B06D6C-CCB3-4D8F-9171-6B4779FED53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4" y="940568"/>
                <a:ext cx="11615496" cy="2607850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R="0" lvl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r>
                  <a:rPr kumimoji="1" lang="en-US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Consider the discrete state space Markov chain defined by the transition matrix</a:t>
                </a:r>
              </a:p>
              <a:p>
                <a:pPr marR="0" lvl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endParaRPr lang="en-US" altLang="ja-JP" sz="200" dirty="0">
                  <a:solidFill>
                    <a:srgbClr val="0070C0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marR="0" lvl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endParaRPr kumimoji="1" lang="en-US" altLang="ja-JP" sz="2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R="0" lvl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NZ" altLang="ja-JP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𝑃</m:t>
                      </m:r>
                      <m:r>
                        <a:rPr kumimoji="1" lang="en-NZ" altLang="ja-JP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NZ" altLang="ja-JP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NZ" altLang="ja-JP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en-US" altLang="ja-JP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R="0" lvl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endParaRPr lang="en-US" altLang="ja-JP" sz="1800" dirty="0">
                  <a:solidFill>
                    <a:srgbClr val="0070C0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marL="342900" marR="0" lvl="0" indent="-34290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lphaLcParenR"/>
                  <a:tabLst/>
                  <a:defRPr/>
                </a:pPr>
                <a:r>
                  <a:rPr kumimoji="1" lang="en-US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Draw the weighted directed graph defined by this Markov chain.</a:t>
                </a:r>
                <a:endParaRPr lang="en-US" altLang="ja-JP" sz="1800" dirty="0">
                  <a:solidFill>
                    <a:srgbClr val="0070C0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marL="342900" marR="0" lvl="0" indent="-34290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lphaLcParenR"/>
                  <a:tabLst/>
                  <a:defRPr/>
                </a:pPr>
                <a:r>
                  <a:rPr kumimoji="1" lang="en-US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Is the chain </a:t>
                </a:r>
                <a:r>
                  <a:rPr lang="en-US" altLang="ja-JP" sz="1800" dirty="0">
                    <a:solidFill>
                      <a:srgbClr val="0070C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reducible or irreducible?</a:t>
                </a:r>
              </a:p>
              <a:p>
                <a:pPr marL="342900" marR="0" lvl="0" indent="-34290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lphaLcParenR"/>
                  <a:tabLst/>
                  <a:defRPr/>
                </a:pPr>
                <a:r>
                  <a:rPr kumimoji="1" lang="en-US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Is the chain positive recurrent, null recurrent or transient?</a:t>
                </a:r>
              </a:p>
              <a:p>
                <a:pPr marL="342900" marR="0" lvl="0" indent="-34290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lphaLcParenR"/>
                  <a:tabLst/>
                  <a:defRPr/>
                </a:pPr>
                <a:r>
                  <a:rPr lang="en-US" altLang="ja-JP" sz="1800" dirty="0">
                    <a:solidFill>
                      <a:srgbClr val="0070C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Is the chain periodic or aperiodic?</a:t>
                </a:r>
                <a:endParaRPr kumimoji="1" lang="en-US" altLang="ja-JP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65B06D6C-CCB3-4D8F-9171-6B4779FED5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4" y="940568"/>
                <a:ext cx="11615496" cy="2607850"/>
              </a:xfrm>
              <a:prstGeom prst="rect">
                <a:avLst/>
              </a:prstGeom>
              <a:blipFill>
                <a:blip r:embed="rId3"/>
                <a:stretch>
                  <a:fillRect l="-420" t="-1168" b="-467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0837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E01D7A31-5FF0-43DC-9F4D-F2B96A58DE6A}"/>
              </a:ext>
            </a:extLst>
          </p:cNvPr>
          <p:cNvSpPr txBox="1">
            <a:spLocks/>
          </p:cNvSpPr>
          <p:nvPr/>
        </p:nvSpPr>
        <p:spPr>
          <a:xfrm>
            <a:off x="9444251" y="86139"/>
            <a:ext cx="2645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Question 1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4F3E9ADB-6AEC-42EA-808B-5A433C8B4560}"/>
              </a:ext>
            </a:extLst>
          </p:cNvPr>
          <p:cNvSpPr txBox="1">
            <a:spLocks/>
          </p:cNvSpPr>
          <p:nvPr/>
        </p:nvSpPr>
        <p:spPr>
          <a:xfrm>
            <a:off x="319464" y="196889"/>
            <a:ext cx="2819522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Question 1 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65B06D6C-CCB3-4D8F-9171-6B4779FED53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4" y="940568"/>
                <a:ext cx="11615496" cy="2607850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R="0" lvl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r>
                  <a:rPr kumimoji="1" lang="en-US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Consider the discrete state space Markov chain defined by the transition matrix</a:t>
                </a:r>
              </a:p>
              <a:p>
                <a:pPr marR="0" lvl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endParaRPr lang="en-US" altLang="ja-JP" sz="200" dirty="0">
                  <a:solidFill>
                    <a:srgbClr val="0070C0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marR="0" lvl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endParaRPr kumimoji="1" lang="en-US" altLang="ja-JP" sz="2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R="0" lvl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NZ" altLang="ja-JP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𝑃</m:t>
                      </m:r>
                      <m:r>
                        <a:rPr kumimoji="1" lang="en-NZ" altLang="ja-JP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NZ" altLang="ja-JP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NZ" altLang="ja-JP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en-US" altLang="ja-JP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R="0" lvl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endParaRPr lang="en-US" altLang="ja-JP" sz="1800" dirty="0">
                  <a:solidFill>
                    <a:srgbClr val="0070C0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marL="342900" marR="0" lvl="0" indent="-34290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lphaLcParenR"/>
                  <a:tabLst/>
                  <a:defRPr/>
                </a:pPr>
                <a:r>
                  <a:rPr kumimoji="1" lang="en-US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Draw the weighted directed graph defined by this Markov chain.</a:t>
                </a:r>
                <a:endParaRPr lang="en-US" altLang="ja-JP" sz="1800" dirty="0">
                  <a:solidFill>
                    <a:srgbClr val="0070C0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marL="342900" marR="0" lvl="0" indent="-34290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lphaLcParenR"/>
                  <a:tabLst/>
                  <a:defRPr/>
                </a:pPr>
                <a:r>
                  <a:rPr kumimoji="1" lang="en-US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Is the chain </a:t>
                </a:r>
                <a:r>
                  <a:rPr lang="en-US" altLang="ja-JP" sz="1800" dirty="0">
                    <a:solidFill>
                      <a:srgbClr val="0070C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reducible or irreducible?</a:t>
                </a:r>
              </a:p>
              <a:p>
                <a:pPr marL="342900" marR="0" lvl="0" indent="-34290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lphaLcParenR"/>
                  <a:tabLst/>
                  <a:defRPr/>
                </a:pPr>
                <a:r>
                  <a:rPr kumimoji="1" lang="en-US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Is the chain positive recurrent, null recurrent or transient?</a:t>
                </a:r>
              </a:p>
              <a:p>
                <a:pPr marL="342900" marR="0" lvl="0" indent="-34290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lphaLcParenR"/>
                  <a:tabLst/>
                  <a:defRPr/>
                </a:pPr>
                <a:r>
                  <a:rPr lang="en-US" altLang="ja-JP" sz="1800" dirty="0">
                    <a:solidFill>
                      <a:srgbClr val="0070C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Is the chain periodic or aperiodic?</a:t>
                </a:r>
                <a:endParaRPr kumimoji="1" lang="en-US" altLang="ja-JP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65B06D6C-CCB3-4D8F-9171-6B4779FED5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4" y="940568"/>
                <a:ext cx="11615496" cy="2607850"/>
              </a:xfrm>
              <a:prstGeom prst="rect">
                <a:avLst/>
              </a:prstGeom>
              <a:blipFill>
                <a:blip r:embed="rId3"/>
                <a:stretch>
                  <a:fillRect l="-420" t="-1168" b="-467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Oval 2">
            <a:extLst>
              <a:ext uri="{FF2B5EF4-FFF2-40B4-BE49-F238E27FC236}">
                <a16:creationId xmlns:a16="http://schemas.microsoft.com/office/drawing/2014/main" id="{3FF85A90-D8F5-189E-0C0F-6B18C81DFEC4}"/>
              </a:ext>
            </a:extLst>
          </p:cNvPr>
          <p:cNvSpPr/>
          <p:nvPr/>
        </p:nvSpPr>
        <p:spPr>
          <a:xfrm>
            <a:off x="700067" y="3778100"/>
            <a:ext cx="657561" cy="885732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A1F43F4-C47A-13DA-00BE-F4600B990E85}"/>
              </a:ext>
            </a:extLst>
          </p:cNvPr>
          <p:cNvSpPr/>
          <p:nvPr/>
        </p:nvSpPr>
        <p:spPr>
          <a:xfrm>
            <a:off x="2842588" y="3778100"/>
            <a:ext cx="657561" cy="885732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2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65F95D1C-BA13-AE9F-B647-4D5303447DB6}"/>
              </a:ext>
            </a:extLst>
          </p:cNvPr>
          <p:cNvSpPr txBox="1">
            <a:spLocks/>
          </p:cNvSpPr>
          <p:nvPr/>
        </p:nvSpPr>
        <p:spPr>
          <a:xfrm>
            <a:off x="825937" y="5118074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1.0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B26EEC0-6536-5359-FBEE-88483EE7E41C}"/>
              </a:ext>
            </a:extLst>
          </p:cNvPr>
          <p:cNvSpPr/>
          <p:nvPr/>
        </p:nvSpPr>
        <p:spPr>
          <a:xfrm>
            <a:off x="1807633" y="5129450"/>
            <a:ext cx="657561" cy="885732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3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F1E770A-972C-0913-E0BB-CF9C499609A4}"/>
              </a:ext>
            </a:extLst>
          </p:cNvPr>
          <p:cNvCxnSpPr>
            <a:cxnSpLocks/>
            <a:stCxn id="3" idx="4"/>
            <a:endCxn id="19" idx="2"/>
          </p:cNvCxnSpPr>
          <p:nvPr/>
        </p:nvCxnSpPr>
        <p:spPr>
          <a:xfrm>
            <a:off x="1028848" y="4663832"/>
            <a:ext cx="778785" cy="90848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A552C2C-2E72-264E-CBFE-37843D1C6FC1}"/>
              </a:ext>
            </a:extLst>
          </p:cNvPr>
          <p:cNvCxnSpPr>
            <a:cxnSpLocks/>
            <a:stCxn id="9" idx="2"/>
            <a:endCxn id="3" idx="6"/>
          </p:cNvCxnSpPr>
          <p:nvPr/>
        </p:nvCxnSpPr>
        <p:spPr>
          <a:xfrm flipH="1">
            <a:off x="1357628" y="4220966"/>
            <a:ext cx="148496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C4F30381-86D8-2F7E-3E5C-D0CD8907AD22}"/>
              </a:ext>
            </a:extLst>
          </p:cNvPr>
          <p:cNvSpPr txBox="1">
            <a:spLocks/>
          </p:cNvSpPr>
          <p:nvPr/>
        </p:nvSpPr>
        <p:spPr>
          <a:xfrm>
            <a:off x="1812278" y="3878140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1.0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3221386-089E-9318-32F2-2A7DAEDE8FD2}"/>
              </a:ext>
            </a:extLst>
          </p:cNvPr>
          <p:cNvCxnSpPr>
            <a:cxnSpLocks/>
            <a:stCxn id="19" idx="6"/>
            <a:endCxn id="9" idx="4"/>
          </p:cNvCxnSpPr>
          <p:nvPr/>
        </p:nvCxnSpPr>
        <p:spPr>
          <a:xfrm flipV="1">
            <a:off x="2465194" y="4663832"/>
            <a:ext cx="706175" cy="90848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58268C9F-566B-7D90-BF11-53D1070EF9C4}"/>
              </a:ext>
            </a:extLst>
          </p:cNvPr>
          <p:cNvSpPr txBox="1">
            <a:spLocks/>
          </p:cNvSpPr>
          <p:nvPr/>
        </p:nvSpPr>
        <p:spPr>
          <a:xfrm>
            <a:off x="2798620" y="5118074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1.0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 Placeholder 5">
                <a:extLst>
                  <a:ext uri="{FF2B5EF4-FFF2-40B4-BE49-F238E27FC236}">
                    <a16:creationId xmlns:a16="http://schemas.microsoft.com/office/drawing/2014/main" id="{7F5E81CF-78EB-7087-E061-51267C0126D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931849" y="3399375"/>
                <a:ext cx="6282519" cy="312425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lvl="0" indent="-342900">
                  <a:lnSpc>
                    <a:spcPct val="100000"/>
                  </a:lnSpc>
                  <a:buFont typeface="+mj-lt"/>
                  <a:buAutoNum type="alphaLcParenR" startAt="2"/>
                  <a:defRPr/>
                </a:pPr>
                <a:r>
                  <a:rPr kumimoji="1" lang="en-US" altLang="ja-JP" sz="15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All states communicate with each</a:t>
                </a:r>
                <a:r>
                  <a:rPr kumimoji="1" lang="en-US" altLang="ja-JP" sz="1500" b="0" i="0" u="none" strike="noStrike" kern="1200" cap="none" spc="0" normalizeH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other </a:t>
                </a:r>
                <a:r>
                  <a:rPr kumimoji="1" lang="en-US" altLang="ja-JP" sz="15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so there is only one communication</a:t>
                </a:r>
                <a:r>
                  <a:rPr kumimoji="1" lang="en-US" altLang="ja-JP" sz="1500" b="0" i="0" u="none" strike="noStrike" kern="1200" cap="none" spc="0" normalizeH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class, i.e. </a:t>
                </a:r>
                <a14:m>
                  <m:oMath xmlns:m="http://schemas.openxmlformats.org/officeDocument/2006/math">
                    <m:r>
                      <a:rPr kumimoji="1" lang="en-NZ" altLang="ja-JP" sz="15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𝑺</m:t>
                    </m:r>
                    <m:r>
                      <a:rPr kumimoji="1" lang="en-NZ" altLang="ja-JP" sz="15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kumimoji="1" lang="en-NZ" altLang="ja-JP" sz="15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dPr>
                      <m:e>
                        <m:r>
                          <a:rPr kumimoji="1" lang="en-NZ" altLang="ja-JP" sz="15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𝟏</m:t>
                        </m:r>
                        <m:r>
                          <a:rPr kumimoji="1" lang="en-NZ" altLang="ja-JP" sz="15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,</m:t>
                        </m:r>
                        <m:r>
                          <a:rPr kumimoji="1" lang="en-NZ" altLang="ja-JP" sz="15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𝟐</m:t>
                        </m:r>
                        <m:r>
                          <a:rPr kumimoji="1" lang="en-NZ" altLang="ja-JP" sz="15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,</m:t>
                        </m:r>
                        <m:r>
                          <a:rPr kumimoji="1" lang="en-NZ" altLang="ja-JP" sz="15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𝟑</m:t>
                        </m:r>
                      </m:e>
                    </m:d>
                  </m:oMath>
                </a14:m>
                <a:r>
                  <a:rPr kumimoji="1" lang="en-US" altLang="ja-JP" sz="15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:r>
                  <a:rPr kumimoji="1" lang="en-US" altLang="ja-JP" sz="150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such</a:t>
                </a:r>
                <a:r>
                  <a:rPr kumimoji="1" lang="en-US" altLang="ja-JP" sz="1500" i="0" u="none" strike="noStrike" kern="1200" cap="none" spc="0" normalizeH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that the </a:t>
                </a:r>
                <a:r>
                  <a:rPr lang="en-US" altLang="ja-JP" sz="1500" dirty="0">
                    <a:solidFill>
                      <a:schemeClr val="tx1"/>
                    </a:solidFill>
                  </a:rPr>
                  <a:t>chain is irreducible.</a:t>
                </a:r>
                <a:endParaRPr kumimoji="1" lang="en-US" altLang="ja-JP" sz="15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marL="342900" marR="0" lvl="0" indent="-342900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lphaLcParenR" startAt="2"/>
                  <a:tabLst/>
                  <a:defRPr/>
                </a:pPr>
                <a:endParaRPr lang="en-US" altLang="ja-JP" sz="1500" b="1" dirty="0">
                  <a:solidFill>
                    <a:schemeClr val="tx1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marL="342900" marR="0" lvl="0" indent="-342900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lphaLcParenR" startAt="2"/>
                  <a:tabLst/>
                  <a:defRPr/>
                </a:pPr>
                <a:r>
                  <a:rPr lang="en-US" altLang="ja-JP" sz="15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States in the same communication are either all positive recurrent, </a:t>
                </a:r>
                <a:br>
                  <a:rPr lang="en-US" altLang="ja-JP" sz="15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</a:br>
                <a:r>
                  <a:rPr lang="en-US" altLang="ja-JP" sz="15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all null recurrent or all transient. </a:t>
                </a:r>
                <a:br>
                  <a:rPr lang="en-US" altLang="ja-JP" sz="15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</a:br>
                <a:br>
                  <a:rPr lang="en-US" altLang="ja-JP" sz="15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</a:br>
                <a:r>
                  <a:rPr lang="en-US" altLang="ja-JP" sz="15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The chain will revisit each state an infinite number of times, so the chain must be recurrent. Moreover, the expected return time to each state is 3 transitions. Since the expected return time is finite for each state the chain must be positive recurrent.</a:t>
                </a:r>
                <a:br>
                  <a:rPr lang="en-US" altLang="ja-JP" sz="15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</a:br>
                <a:endParaRPr lang="en-US" altLang="ja-JP" sz="1500" dirty="0">
                  <a:solidFill>
                    <a:schemeClr val="tx1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marL="342900" marR="0" lvl="0" indent="-342900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lphaLcParenR" startAt="2"/>
                  <a:tabLst/>
                  <a:defRPr/>
                </a:pPr>
                <a:r>
                  <a:rPr lang="en-US" altLang="ja-JP" sz="15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States in the same communication class all have the same period. </a:t>
                </a:r>
                <a:br>
                  <a:rPr lang="en-US" altLang="ja-JP" sz="15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</a:br>
                <a:r>
                  <a:rPr lang="en-US" altLang="ja-JP" sz="15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The chain is periodic as each state has period three.</a:t>
                </a:r>
                <a:endParaRPr kumimoji="1" lang="en-US" altLang="ja-JP" sz="15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35" name="Text Placeholder 5">
                <a:extLst>
                  <a:ext uri="{FF2B5EF4-FFF2-40B4-BE49-F238E27FC236}">
                    <a16:creationId xmlns:a16="http://schemas.microsoft.com/office/drawing/2014/main" id="{7F5E81CF-78EB-7087-E061-51267C0126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1849" y="3399375"/>
                <a:ext cx="6282519" cy="3124255"/>
              </a:xfrm>
              <a:prstGeom prst="rect">
                <a:avLst/>
              </a:prstGeom>
              <a:blipFill>
                <a:blip r:embed="rId4"/>
                <a:stretch>
                  <a:fillRect l="-388" t="-781" b="-195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6601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E01D7A31-5FF0-43DC-9F4D-F2B96A58DE6A}"/>
              </a:ext>
            </a:extLst>
          </p:cNvPr>
          <p:cNvSpPr txBox="1">
            <a:spLocks/>
          </p:cNvSpPr>
          <p:nvPr/>
        </p:nvSpPr>
        <p:spPr>
          <a:xfrm>
            <a:off x="9444251" y="86139"/>
            <a:ext cx="2645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Question </a:t>
            </a:r>
            <a:r>
              <a:rPr kumimoji="1" lang="en-US" altLang="ja-JP" sz="1600" dirty="0">
                <a:solidFill>
                  <a:srgbClr val="DEDDDD"/>
                </a:solidFill>
                <a:latin typeface="Gidole"/>
                <a:ea typeface="游ゴシック" panose="020B0400000000000000" pitchFamily="34" charset="-128"/>
              </a:rPr>
              <a:t>2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4F3E9ADB-6AEC-42EA-808B-5A433C8B4560}"/>
              </a:ext>
            </a:extLst>
          </p:cNvPr>
          <p:cNvSpPr txBox="1">
            <a:spLocks/>
          </p:cNvSpPr>
          <p:nvPr/>
        </p:nvSpPr>
        <p:spPr>
          <a:xfrm>
            <a:off x="319464" y="196889"/>
            <a:ext cx="2819522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Question </a:t>
            </a:r>
            <a:r>
              <a:rPr lang="en-US" altLang="ja-JP" b="1" u="sng" dirty="0">
                <a:solidFill>
                  <a:prstClr val="black"/>
                </a:solidFill>
                <a:latin typeface="Calibri" panose="020F0502020204030204"/>
                <a:ea typeface="游ゴシック Light" panose="020B0300000000000000" pitchFamily="34" charset="-128"/>
              </a:rPr>
              <a:t>2</a:t>
            </a: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65B06D6C-CCB3-4D8F-9171-6B4779FED53B}"/>
              </a:ext>
            </a:extLst>
          </p:cNvPr>
          <p:cNvSpPr txBox="1">
            <a:spLocks/>
          </p:cNvSpPr>
          <p:nvPr/>
        </p:nvSpPr>
        <p:spPr>
          <a:xfrm>
            <a:off x="319464" y="940568"/>
            <a:ext cx="11615496" cy="4471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Consider the discrete state space Markov chain defined by the weighted directed graph shown below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57A1651E-EB04-03C2-2685-C9E727BAA284}"/>
              </a:ext>
            </a:extLst>
          </p:cNvPr>
          <p:cNvSpPr txBox="1">
            <a:spLocks/>
          </p:cNvSpPr>
          <p:nvPr/>
        </p:nvSpPr>
        <p:spPr>
          <a:xfrm>
            <a:off x="4356520" y="1387764"/>
            <a:ext cx="7742830" cy="124935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LcParenR"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Write out the transition matrix defined by this Markov chain.</a:t>
            </a:r>
            <a:endParaRPr lang="en-US" altLang="ja-JP" sz="1800" dirty="0">
              <a:solidFill>
                <a:srgbClr val="0070C0"/>
              </a:solidFill>
              <a:latin typeface="Calibri" panose="020F0502020204030204"/>
              <a:ea typeface="游ゴシック" panose="020B0400000000000000" pitchFamily="34" charset="-128"/>
            </a:endParaRPr>
          </a:p>
          <a:p>
            <a:pPr marL="342900" marR="0" lvl="0" indent="-342900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LcParenR"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Is the chain </a:t>
            </a:r>
            <a:r>
              <a:rPr lang="en-US" altLang="ja-JP" sz="1800" dirty="0">
                <a:solidFill>
                  <a:srgbClr val="0070C0"/>
                </a:solidFill>
                <a:latin typeface="Calibri" panose="020F0502020204030204"/>
                <a:ea typeface="游ゴシック" panose="020B0400000000000000" pitchFamily="34" charset="-128"/>
              </a:rPr>
              <a:t>reducible or irreducible?</a:t>
            </a:r>
          </a:p>
          <a:p>
            <a:pPr marL="342900" marR="0" lvl="0" indent="-342900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LcParenR"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State whether each communication class is positive recurrent, </a:t>
            </a:r>
            <a:b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</a:b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null recurrent or transient?</a:t>
            </a:r>
          </a:p>
          <a:p>
            <a:pPr marL="342900" marR="0" lvl="0" indent="-342900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LcParenR"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State whether each communication class </a:t>
            </a:r>
            <a:r>
              <a:rPr lang="en-US" altLang="ja-JP" sz="1800" dirty="0">
                <a:solidFill>
                  <a:srgbClr val="0070C0"/>
                </a:solidFill>
                <a:latin typeface="Calibri" panose="020F0502020204030204"/>
                <a:ea typeface="游ゴシック" panose="020B0400000000000000" pitchFamily="34" charset="-128"/>
              </a:rPr>
              <a:t>periodic or aperiodic?</a:t>
            </a:r>
            <a:endParaRPr kumimoji="1" lang="en-US" altLang="ja-JP" sz="1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2E4D883-4ED0-B141-B9A7-C9432B88C84B}"/>
              </a:ext>
            </a:extLst>
          </p:cNvPr>
          <p:cNvSpPr/>
          <p:nvPr/>
        </p:nvSpPr>
        <p:spPr>
          <a:xfrm>
            <a:off x="753555" y="3604810"/>
            <a:ext cx="657561" cy="885732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4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BA5BC0D-81A4-6878-3E1D-BB88BBF0C3F9}"/>
              </a:ext>
            </a:extLst>
          </p:cNvPr>
          <p:cNvSpPr/>
          <p:nvPr/>
        </p:nvSpPr>
        <p:spPr>
          <a:xfrm>
            <a:off x="3016596" y="3604810"/>
            <a:ext cx="657561" cy="885732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52E59FC-2B85-87F5-E6AF-915E2BDBF979}"/>
              </a:ext>
            </a:extLst>
          </p:cNvPr>
          <p:cNvSpPr/>
          <p:nvPr/>
        </p:nvSpPr>
        <p:spPr>
          <a:xfrm>
            <a:off x="1880429" y="4709939"/>
            <a:ext cx="657561" cy="885732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6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14B3AB7-EAF9-F3E9-DE1E-CBCEBD4A518E}"/>
              </a:ext>
            </a:extLst>
          </p:cNvPr>
          <p:cNvCxnSpPr>
            <a:cxnSpLocks/>
            <a:stCxn id="20" idx="6"/>
            <a:endCxn id="13" idx="0"/>
          </p:cNvCxnSpPr>
          <p:nvPr/>
        </p:nvCxnSpPr>
        <p:spPr>
          <a:xfrm>
            <a:off x="2595984" y="1782343"/>
            <a:ext cx="744746" cy="43277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C71AA6D-F8D9-9115-ED8C-157A5E12758D}"/>
              </a:ext>
            </a:extLst>
          </p:cNvPr>
          <p:cNvCxnSpPr>
            <a:cxnSpLocks/>
            <a:stCxn id="8" idx="4"/>
            <a:endCxn id="14" idx="1"/>
          </p:cNvCxnSpPr>
          <p:nvPr/>
        </p:nvCxnSpPr>
        <p:spPr>
          <a:xfrm>
            <a:off x="1082336" y="4490542"/>
            <a:ext cx="894391" cy="34910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E013083-7455-D950-87CB-27944FD31C16}"/>
              </a:ext>
            </a:extLst>
          </p:cNvPr>
          <p:cNvCxnSpPr>
            <a:cxnSpLocks/>
            <a:stCxn id="12" idx="4"/>
            <a:endCxn id="14" idx="7"/>
          </p:cNvCxnSpPr>
          <p:nvPr/>
        </p:nvCxnSpPr>
        <p:spPr>
          <a:xfrm flipH="1">
            <a:off x="2441692" y="4490542"/>
            <a:ext cx="903685" cy="34910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9516F5EE-8447-8477-839D-B93FE7DB934F}"/>
              </a:ext>
            </a:extLst>
          </p:cNvPr>
          <p:cNvSpPr/>
          <p:nvPr/>
        </p:nvSpPr>
        <p:spPr>
          <a:xfrm>
            <a:off x="753554" y="2215061"/>
            <a:ext cx="657561" cy="885732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5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8F85377-24F2-EB26-65AC-8C82A2160624}"/>
              </a:ext>
            </a:extLst>
          </p:cNvPr>
          <p:cNvSpPr/>
          <p:nvPr/>
        </p:nvSpPr>
        <p:spPr>
          <a:xfrm>
            <a:off x="3011949" y="2215120"/>
            <a:ext cx="657561" cy="885732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2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45BAF42-92D8-3A5D-4619-E7B314CEB055}"/>
              </a:ext>
            </a:extLst>
          </p:cNvPr>
          <p:cNvSpPr/>
          <p:nvPr/>
        </p:nvSpPr>
        <p:spPr>
          <a:xfrm>
            <a:off x="2682674" y="5484532"/>
            <a:ext cx="657561" cy="885732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7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B464A4B-C36B-442E-C825-74E6CEDF4EE6}"/>
              </a:ext>
            </a:extLst>
          </p:cNvPr>
          <p:cNvSpPr/>
          <p:nvPr/>
        </p:nvSpPr>
        <p:spPr>
          <a:xfrm>
            <a:off x="1938423" y="1339477"/>
            <a:ext cx="657561" cy="885732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1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48CE5B9-3DC5-8D9E-96CD-FD58B7448218}"/>
              </a:ext>
            </a:extLst>
          </p:cNvPr>
          <p:cNvCxnSpPr>
            <a:cxnSpLocks/>
            <a:stCxn id="13" idx="4"/>
            <a:endCxn id="12" idx="0"/>
          </p:cNvCxnSpPr>
          <p:nvPr/>
        </p:nvCxnSpPr>
        <p:spPr>
          <a:xfrm>
            <a:off x="3340730" y="3100852"/>
            <a:ext cx="4647" cy="50395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C6887FE-01AB-23C1-627C-DAF25FE05B81}"/>
              </a:ext>
            </a:extLst>
          </p:cNvPr>
          <p:cNvCxnSpPr>
            <a:cxnSpLocks/>
            <a:stCxn id="14" idx="6"/>
            <a:endCxn id="17" idx="0"/>
          </p:cNvCxnSpPr>
          <p:nvPr/>
        </p:nvCxnSpPr>
        <p:spPr>
          <a:xfrm>
            <a:off x="2537990" y="5152805"/>
            <a:ext cx="473465" cy="33172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92AF078-B7D4-C431-EBBC-927109C40107}"/>
              </a:ext>
            </a:extLst>
          </p:cNvPr>
          <p:cNvCxnSpPr>
            <a:cxnSpLocks/>
            <a:stCxn id="17" idx="2"/>
            <a:endCxn id="14" idx="4"/>
          </p:cNvCxnSpPr>
          <p:nvPr/>
        </p:nvCxnSpPr>
        <p:spPr>
          <a:xfrm flipH="1" flipV="1">
            <a:off x="2209210" y="5595671"/>
            <a:ext cx="473464" cy="33172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52D9A20-3722-BAE6-53F7-1FDDAC8F806C}"/>
              </a:ext>
            </a:extLst>
          </p:cNvPr>
          <p:cNvCxnSpPr>
            <a:cxnSpLocks/>
            <a:stCxn id="8" idx="0"/>
            <a:endCxn id="9" idx="4"/>
          </p:cNvCxnSpPr>
          <p:nvPr/>
        </p:nvCxnSpPr>
        <p:spPr>
          <a:xfrm flipH="1" flipV="1">
            <a:off x="1082335" y="3100793"/>
            <a:ext cx="1" cy="50401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4387872-9B96-7F86-DA4D-78C4A8F922B4}"/>
              </a:ext>
            </a:extLst>
          </p:cNvPr>
          <p:cNvCxnSpPr>
            <a:cxnSpLocks/>
            <a:stCxn id="9" idx="0"/>
            <a:endCxn id="20" idx="2"/>
          </p:cNvCxnSpPr>
          <p:nvPr/>
        </p:nvCxnSpPr>
        <p:spPr>
          <a:xfrm flipV="1">
            <a:off x="1082335" y="1782343"/>
            <a:ext cx="856088" cy="43271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063648B-7F1A-D918-3E75-5AAA938BBC0B}"/>
              </a:ext>
            </a:extLst>
          </p:cNvPr>
          <p:cNvCxnSpPr>
            <a:cxnSpLocks/>
            <a:stCxn id="12" idx="2"/>
            <a:endCxn id="9" idx="6"/>
          </p:cNvCxnSpPr>
          <p:nvPr/>
        </p:nvCxnSpPr>
        <p:spPr>
          <a:xfrm flipH="1" flipV="1">
            <a:off x="1411115" y="2657927"/>
            <a:ext cx="1605481" cy="138974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Curved 46">
            <a:extLst>
              <a:ext uri="{FF2B5EF4-FFF2-40B4-BE49-F238E27FC236}">
                <a16:creationId xmlns:a16="http://schemas.microsoft.com/office/drawing/2014/main" id="{7981F668-3E28-9488-053C-21D2909419F7}"/>
              </a:ext>
            </a:extLst>
          </p:cNvPr>
          <p:cNvCxnSpPr>
            <a:stCxn id="9" idx="2"/>
            <a:endCxn id="9" idx="3"/>
          </p:cNvCxnSpPr>
          <p:nvPr/>
        </p:nvCxnSpPr>
        <p:spPr>
          <a:xfrm rot="10800000" flipH="1" flipV="1">
            <a:off x="753554" y="2657927"/>
            <a:ext cx="96298" cy="313154"/>
          </a:xfrm>
          <a:prstGeom prst="curvedConnector4">
            <a:avLst>
              <a:gd name="adj1" fmla="val -237388"/>
              <a:gd name="adj2" fmla="val 21442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726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E01D7A31-5FF0-43DC-9F4D-F2B96A58DE6A}"/>
              </a:ext>
            </a:extLst>
          </p:cNvPr>
          <p:cNvSpPr txBox="1">
            <a:spLocks/>
          </p:cNvSpPr>
          <p:nvPr/>
        </p:nvSpPr>
        <p:spPr>
          <a:xfrm>
            <a:off x="9444251" y="86139"/>
            <a:ext cx="2645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Question </a:t>
            </a:r>
            <a:r>
              <a:rPr kumimoji="1" lang="en-US" altLang="ja-JP" sz="1600" dirty="0">
                <a:solidFill>
                  <a:srgbClr val="DEDDDD"/>
                </a:solidFill>
                <a:latin typeface="Gidole"/>
                <a:ea typeface="游ゴシック" panose="020B0400000000000000" pitchFamily="34" charset="-128"/>
              </a:rPr>
              <a:t>2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4F3E9ADB-6AEC-42EA-808B-5A433C8B4560}"/>
              </a:ext>
            </a:extLst>
          </p:cNvPr>
          <p:cNvSpPr txBox="1">
            <a:spLocks/>
          </p:cNvSpPr>
          <p:nvPr/>
        </p:nvSpPr>
        <p:spPr>
          <a:xfrm>
            <a:off x="319464" y="196889"/>
            <a:ext cx="2819522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Question 2: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65B06D6C-CCB3-4D8F-9171-6B4779FED53B}"/>
              </a:ext>
            </a:extLst>
          </p:cNvPr>
          <p:cNvSpPr txBox="1">
            <a:spLocks/>
          </p:cNvSpPr>
          <p:nvPr/>
        </p:nvSpPr>
        <p:spPr>
          <a:xfrm>
            <a:off x="319464" y="940568"/>
            <a:ext cx="11615496" cy="4471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Consider the discrete state space Markov chain defined by the weighted directed graph shown below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57A1651E-EB04-03C2-2685-C9E727BAA284}"/>
              </a:ext>
            </a:extLst>
          </p:cNvPr>
          <p:cNvSpPr txBox="1">
            <a:spLocks/>
          </p:cNvSpPr>
          <p:nvPr/>
        </p:nvSpPr>
        <p:spPr>
          <a:xfrm>
            <a:off x="4356520" y="1387764"/>
            <a:ext cx="7742830" cy="124935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LcParenR"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Write out the transition matrix defined by this Markov chain.</a:t>
            </a:r>
            <a:endParaRPr lang="en-US" altLang="ja-JP" sz="1800" dirty="0">
              <a:solidFill>
                <a:srgbClr val="0070C0"/>
              </a:solidFill>
              <a:latin typeface="Calibri" panose="020F0502020204030204"/>
              <a:ea typeface="游ゴシック" panose="020B0400000000000000" pitchFamily="34" charset="-128"/>
            </a:endParaRPr>
          </a:p>
          <a:p>
            <a:pPr marL="342900" marR="0" lvl="0" indent="-342900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LcParenR"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Is the chain </a:t>
            </a:r>
            <a:r>
              <a:rPr lang="en-US" altLang="ja-JP" sz="1800" dirty="0">
                <a:solidFill>
                  <a:srgbClr val="0070C0"/>
                </a:solidFill>
                <a:latin typeface="Calibri" panose="020F0502020204030204"/>
                <a:ea typeface="游ゴシック" panose="020B0400000000000000" pitchFamily="34" charset="-128"/>
              </a:rPr>
              <a:t>reducible or irreducible?</a:t>
            </a:r>
          </a:p>
          <a:p>
            <a:pPr marL="342900" marR="0" lvl="0" indent="-342900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LcParenR"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State whether each communication class is positive recurrent, </a:t>
            </a:r>
            <a:b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</a:b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null recurrent or transient?</a:t>
            </a:r>
          </a:p>
          <a:p>
            <a:pPr marL="342900" marR="0" lvl="0" indent="-342900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LcParenR"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State whether each communication class </a:t>
            </a:r>
            <a:r>
              <a:rPr lang="en-US" altLang="ja-JP" sz="1800" dirty="0">
                <a:solidFill>
                  <a:srgbClr val="0070C0"/>
                </a:solidFill>
                <a:latin typeface="Calibri" panose="020F0502020204030204"/>
                <a:ea typeface="游ゴシック" panose="020B0400000000000000" pitchFamily="34" charset="-128"/>
              </a:rPr>
              <a:t>periodic or aperiodic?</a:t>
            </a:r>
            <a:endParaRPr kumimoji="1" lang="en-US" altLang="ja-JP" sz="1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2E4D883-4ED0-B141-B9A7-C9432B88C84B}"/>
              </a:ext>
            </a:extLst>
          </p:cNvPr>
          <p:cNvSpPr/>
          <p:nvPr/>
        </p:nvSpPr>
        <p:spPr>
          <a:xfrm>
            <a:off x="753555" y="3604810"/>
            <a:ext cx="657561" cy="885732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4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BA5BC0D-81A4-6878-3E1D-BB88BBF0C3F9}"/>
              </a:ext>
            </a:extLst>
          </p:cNvPr>
          <p:cNvSpPr/>
          <p:nvPr/>
        </p:nvSpPr>
        <p:spPr>
          <a:xfrm>
            <a:off x="3016596" y="3604810"/>
            <a:ext cx="657561" cy="885732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52E59FC-2B85-87F5-E6AF-915E2BDBF979}"/>
              </a:ext>
            </a:extLst>
          </p:cNvPr>
          <p:cNvSpPr/>
          <p:nvPr/>
        </p:nvSpPr>
        <p:spPr>
          <a:xfrm>
            <a:off x="1880429" y="4709939"/>
            <a:ext cx="657561" cy="885732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6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14B3AB7-EAF9-F3E9-DE1E-CBCEBD4A518E}"/>
              </a:ext>
            </a:extLst>
          </p:cNvPr>
          <p:cNvCxnSpPr>
            <a:cxnSpLocks/>
            <a:stCxn id="20" idx="6"/>
            <a:endCxn id="13" idx="0"/>
          </p:cNvCxnSpPr>
          <p:nvPr/>
        </p:nvCxnSpPr>
        <p:spPr>
          <a:xfrm>
            <a:off x="2595984" y="1782343"/>
            <a:ext cx="744746" cy="43277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C71AA6D-F8D9-9115-ED8C-157A5E12758D}"/>
              </a:ext>
            </a:extLst>
          </p:cNvPr>
          <p:cNvCxnSpPr>
            <a:cxnSpLocks/>
            <a:stCxn id="8" idx="4"/>
            <a:endCxn id="14" idx="1"/>
          </p:cNvCxnSpPr>
          <p:nvPr/>
        </p:nvCxnSpPr>
        <p:spPr>
          <a:xfrm>
            <a:off x="1082336" y="4490542"/>
            <a:ext cx="894391" cy="34910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E013083-7455-D950-87CB-27944FD31C16}"/>
              </a:ext>
            </a:extLst>
          </p:cNvPr>
          <p:cNvCxnSpPr>
            <a:cxnSpLocks/>
            <a:stCxn id="12" idx="4"/>
            <a:endCxn id="14" idx="7"/>
          </p:cNvCxnSpPr>
          <p:nvPr/>
        </p:nvCxnSpPr>
        <p:spPr>
          <a:xfrm flipH="1">
            <a:off x="2441692" y="4490542"/>
            <a:ext cx="903685" cy="34910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9516F5EE-8447-8477-839D-B93FE7DB934F}"/>
              </a:ext>
            </a:extLst>
          </p:cNvPr>
          <p:cNvSpPr/>
          <p:nvPr/>
        </p:nvSpPr>
        <p:spPr>
          <a:xfrm>
            <a:off x="753554" y="2215061"/>
            <a:ext cx="657561" cy="885732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5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8F85377-24F2-EB26-65AC-8C82A2160624}"/>
              </a:ext>
            </a:extLst>
          </p:cNvPr>
          <p:cNvSpPr/>
          <p:nvPr/>
        </p:nvSpPr>
        <p:spPr>
          <a:xfrm>
            <a:off x="3011949" y="2215120"/>
            <a:ext cx="657561" cy="885732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2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45BAF42-92D8-3A5D-4619-E7B314CEB055}"/>
              </a:ext>
            </a:extLst>
          </p:cNvPr>
          <p:cNvSpPr/>
          <p:nvPr/>
        </p:nvSpPr>
        <p:spPr>
          <a:xfrm>
            <a:off x="2682674" y="5484532"/>
            <a:ext cx="657561" cy="885732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7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B464A4B-C36B-442E-C825-74E6CEDF4EE6}"/>
              </a:ext>
            </a:extLst>
          </p:cNvPr>
          <p:cNvSpPr/>
          <p:nvPr/>
        </p:nvSpPr>
        <p:spPr>
          <a:xfrm>
            <a:off x="1938423" y="1339477"/>
            <a:ext cx="657561" cy="885732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1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48CE5B9-3DC5-8D9E-96CD-FD58B7448218}"/>
              </a:ext>
            </a:extLst>
          </p:cNvPr>
          <p:cNvCxnSpPr>
            <a:cxnSpLocks/>
            <a:stCxn id="13" idx="4"/>
            <a:endCxn id="12" idx="0"/>
          </p:cNvCxnSpPr>
          <p:nvPr/>
        </p:nvCxnSpPr>
        <p:spPr>
          <a:xfrm>
            <a:off x="3340730" y="3100852"/>
            <a:ext cx="4647" cy="50395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C6887FE-01AB-23C1-627C-DAF25FE05B81}"/>
              </a:ext>
            </a:extLst>
          </p:cNvPr>
          <p:cNvCxnSpPr>
            <a:cxnSpLocks/>
            <a:stCxn id="14" idx="6"/>
            <a:endCxn id="17" idx="0"/>
          </p:cNvCxnSpPr>
          <p:nvPr/>
        </p:nvCxnSpPr>
        <p:spPr>
          <a:xfrm>
            <a:off x="2537990" y="5152805"/>
            <a:ext cx="473465" cy="33172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92AF078-B7D4-C431-EBBC-927109C40107}"/>
              </a:ext>
            </a:extLst>
          </p:cNvPr>
          <p:cNvCxnSpPr>
            <a:cxnSpLocks/>
            <a:stCxn id="17" idx="2"/>
            <a:endCxn id="14" idx="4"/>
          </p:cNvCxnSpPr>
          <p:nvPr/>
        </p:nvCxnSpPr>
        <p:spPr>
          <a:xfrm flipH="1" flipV="1">
            <a:off x="2209210" y="5595671"/>
            <a:ext cx="473464" cy="33172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52D9A20-3722-BAE6-53F7-1FDDAC8F806C}"/>
              </a:ext>
            </a:extLst>
          </p:cNvPr>
          <p:cNvCxnSpPr>
            <a:cxnSpLocks/>
            <a:stCxn id="8" idx="0"/>
            <a:endCxn id="9" idx="4"/>
          </p:cNvCxnSpPr>
          <p:nvPr/>
        </p:nvCxnSpPr>
        <p:spPr>
          <a:xfrm flipH="1" flipV="1">
            <a:off x="1082335" y="3100793"/>
            <a:ext cx="1" cy="50401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4387872-9B96-7F86-DA4D-78C4A8F922B4}"/>
              </a:ext>
            </a:extLst>
          </p:cNvPr>
          <p:cNvCxnSpPr>
            <a:cxnSpLocks/>
            <a:stCxn id="9" idx="0"/>
            <a:endCxn id="20" idx="2"/>
          </p:cNvCxnSpPr>
          <p:nvPr/>
        </p:nvCxnSpPr>
        <p:spPr>
          <a:xfrm flipV="1">
            <a:off x="1082335" y="1782343"/>
            <a:ext cx="856088" cy="43271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063648B-7F1A-D918-3E75-5AAA938BBC0B}"/>
              </a:ext>
            </a:extLst>
          </p:cNvPr>
          <p:cNvCxnSpPr>
            <a:cxnSpLocks/>
            <a:stCxn id="12" idx="2"/>
            <a:endCxn id="9" idx="6"/>
          </p:cNvCxnSpPr>
          <p:nvPr/>
        </p:nvCxnSpPr>
        <p:spPr>
          <a:xfrm flipH="1" flipV="1">
            <a:off x="1411115" y="2657927"/>
            <a:ext cx="1605481" cy="138974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Curved 46">
            <a:extLst>
              <a:ext uri="{FF2B5EF4-FFF2-40B4-BE49-F238E27FC236}">
                <a16:creationId xmlns:a16="http://schemas.microsoft.com/office/drawing/2014/main" id="{7981F668-3E28-9488-053C-21D2909419F7}"/>
              </a:ext>
            </a:extLst>
          </p:cNvPr>
          <p:cNvCxnSpPr>
            <a:stCxn id="9" idx="2"/>
            <a:endCxn id="9" idx="3"/>
          </p:cNvCxnSpPr>
          <p:nvPr/>
        </p:nvCxnSpPr>
        <p:spPr>
          <a:xfrm rot="10800000" flipH="1" flipV="1">
            <a:off x="753554" y="2657927"/>
            <a:ext cx="96298" cy="313154"/>
          </a:xfrm>
          <a:prstGeom prst="curvedConnector4">
            <a:avLst>
              <a:gd name="adj1" fmla="val -237388"/>
              <a:gd name="adj2" fmla="val 21442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Placeholder 5">
                <a:extLst>
                  <a:ext uri="{FF2B5EF4-FFF2-40B4-BE49-F238E27FC236}">
                    <a16:creationId xmlns:a16="http://schemas.microsoft.com/office/drawing/2014/main" id="{FE773DA3-6E61-AF42-32AF-BF43E2B3C50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44414" y="2978680"/>
                <a:ext cx="4597564" cy="1990862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NZ" altLang="ja-JP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𝑃</m:t>
                      </m:r>
                      <m:r>
                        <a:rPr kumimoji="1" lang="en-NZ" altLang="ja-JP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NZ" altLang="ja-JP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NZ" altLang="ja-JP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0</m:t>
                                </m:r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.0</m:t>
                                </m:r>
                              </m:e>
                              <m:e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C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1.0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0</m:t>
                                      </m:r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.0</m:t>
                                      </m:r>
                                    </m:e>
                                    <m:e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0.0</m:t>
                                      </m:r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3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NZ" altLang="ja-JP" sz="18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游ゴシック" panose="020B0400000000000000" pitchFamily="34" charset="-128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0</m:t>
                                            </m:r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.0</m:t>
                                            </m:r>
                                          </m:e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0.0</m:t>
                                            </m:r>
                                          </m:e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0.0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0.0</m:t>
                                </m:r>
                              </m:e>
                              <m:e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0.0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C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1</m:t>
                                      </m:r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C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.0</m:t>
                                      </m:r>
                                    </m:e>
                                    <m:e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0.0</m:t>
                                      </m:r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3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NZ" altLang="ja-JP" sz="18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游ゴシック" panose="020B0400000000000000" pitchFamily="34" charset="-128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0</m:t>
                                            </m:r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.0</m:t>
                                            </m:r>
                                          </m:e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0.0</m:t>
                                            </m:r>
                                          </m:e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0.0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0</m:t>
                                      </m:r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.0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0.0</m:t>
                                      </m:r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NZ" altLang="ja-JP" sz="18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游ゴシック" panose="020B0400000000000000" pitchFamily="34" charset="-128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C0000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0</m:t>
                                            </m:r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C0000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.5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0.0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0.0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0</m:t>
                                      </m:r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.0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0.0</m:t>
                                      </m:r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NZ" altLang="ja-JP" sz="18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游ゴシック" panose="020B0400000000000000" pitchFamily="34" charset="-128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0</m:t>
                                            </m:r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.0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0.0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0.0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NZ" altLang="ja-JP" sz="18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游ゴシック" panose="020B0400000000000000" pitchFamily="34" charset="-128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0</m:t>
                                            </m:r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.0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0.0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1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kumimoji="1" lang="en-NZ" altLang="ja-JP" sz="1800" b="0" i="1" u="none" strike="noStrike" kern="1200" cap="none" spc="0" normalizeH="0" baseline="0" noProof="0" smtClean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schemeClr val="tx1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ea typeface="游ゴシック" panose="020B0400000000000000" pitchFamily="34" charset="-128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kumimoji="1" lang="en-NZ" altLang="ja-JP" sz="1800" b="0" i="1" u="none" strike="noStrike" kern="120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schemeClr val="tx1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游ゴシック" panose="020B0400000000000000" pitchFamily="34" charset="-128"/>
                                                    </a:rPr>
                                                    <m:t>0</m:t>
                                                  </m:r>
                                                  <m:r>
                                                    <a:rPr kumimoji="1" lang="en-NZ" altLang="ja-JP" sz="1800" b="0" i="1" u="none" strike="noStrike" kern="120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schemeClr val="tx1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游ゴシック" panose="020B0400000000000000" pitchFamily="34" charset="-128"/>
                                                    </a:rPr>
                                                    <m:t>.0</m:t>
                                                  </m:r>
                                                </m:e>
                                              </m:mr>
                                              <m:mr>
                                                <m:e>
                                                  <m:r>
                                                    <a:rPr kumimoji="1" lang="en-NZ" altLang="ja-JP" sz="1800" b="0" i="1" u="none" strike="noStrike" kern="120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schemeClr val="tx1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游ゴシック" panose="020B0400000000000000" pitchFamily="34" charset="-128"/>
                                                    </a:rPr>
                                                    <m:t>0.0</m:t>
                                                  </m:r>
                                                </m:e>
                                              </m:mr>
                                              <m:mr>
                                                <m:e>
                                                  <m:r>
                                                    <a:rPr kumimoji="1" lang="en-NZ" altLang="ja-JP" sz="1800" b="0" i="1" u="none" strike="noStrike" kern="120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schemeClr val="tx1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游ゴシック" panose="020B0400000000000000" pitchFamily="34" charset="-128"/>
                                                    </a:rPr>
                                                    <m:t>0.0</m:t>
                                                  </m:r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NZ" altLang="ja-JP" sz="18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游ゴシック" panose="020B0400000000000000" pitchFamily="34" charset="-128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0</m:t>
                                            </m:r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.0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0.0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1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kumimoji="1" lang="en-NZ" altLang="ja-JP" sz="1800" b="0" i="1" u="none" strike="noStrike" kern="1200" cap="none" spc="0" normalizeH="0" baseline="0" noProof="0" smtClean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schemeClr val="tx1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ea typeface="游ゴシック" panose="020B0400000000000000" pitchFamily="34" charset="-128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kumimoji="1" lang="en-NZ" altLang="ja-JP" sz="1800" b="0" i="1" u="none" strike="noStrike" kern="120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schemeClr val="tx1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游ゴシック" panose="020B0400000000000000" pitchFamily="34" charset="-128"/>
                                                    </a:rPr>
                                                    <m:t>0</m:t>
                                                  </m:r>
                                                  <m:r>
                                                    <a:rPr kumimoji="1" lang="en-NZ" altLang="ja-JP" sz="1800" b="0" i="1" u="none" strike="noStrike" kern="120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schemeClr val="tx1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游ゴシック" panose="020B0400000000000000" pitchFamily="34" charset="-128"/>
                                                    </a:rPr>
                                                    <m:t>.0</m:t>
                                                  </m:r>
                                                </m:e>
                                              </m:mr>
                                              <m:mr>
                                                <m:e>
                                                  <m:r>
                                                    <a:rPr kumimoji="1" lang="en-NZ" altLang="ja-JP" sz="1800" b="0" i="1" u="none" strike="noStrike" kern="120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schemeClr val="tx1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游ゴシック" panose="020B0400000000000000" pitchFamily="34" charset="-128"/>
                                                    </a:rPr>
                                                    <m:t>0.0</m:t>
                                                  </m:r>
                                                </m:e>
                                              </m:mr>
                                              <m:mr>
                                                <m:e>
                                                  <m:r>
                                                    <a:rPr kumimoji="1" lang="en-NZ" altLang="ja-JP" sz="1800" b="0" i="1" u="none" strike="noStrike" kern="120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schemeClr val="tx1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游ゴシック" panose="020B0400000000000000" pitchFamily="34" charset="-128"/>
                                                    </a:rPr>
                                                    <m:t>0.0</m:t>
                                                  </m:r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3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NZ" altLang="ja-JP" sz="18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游ゴシック" panose="020B0400000000000000" pitchFamily="34" charset="-128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1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kumimoji="1" lang="en-NZ" altLang="ja-JP" sz="1800" b="0" i="1" u="none" strike="noStrike" kern="1200" cap="none" spc="0" normalizeH="0" baseline="0" noProof="0" smtClean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schemeClr val="tx1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ea typeface="游ゴシック" panose="020B0400000000000000" pitchFamily="34" charset="-128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kumimoji="1" lang="en-NZ" altLang="ja-JP" sz="1800" b="0" i="1" u="none" strike="noStrike" kern="120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srgbClr val="C00000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游ゴシック" panose="020B0400000000000000" pitchFamily="34" charset="-128"/>
                                                    </a:rPr>
                                                    <m:t>0</m:t>
                                                  </m:r>
                                                  <m:r>
                                                    <a:rPr kumimoji="1" lang="en-NZ" altLang="ja-JP" sz="1800" b="0" i="1" u="none" strike="noStrike" kern="120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srgbClr val="C00000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游ゴシック" panose="020B0400000000000000" pitchFamily="34" charset="-128"/>
                                                    </a:rPr>
                                                    <m:t>.5</m:t>
                                                  </m:r>
                                                </m:e>
                                              </m:mr>
                                              <m:mr>
                                                <m:e>
                                                  <m:r>
                                                    <a:rPr kumimoji="1" lang="en-NZ" altLang="ja-JP" sz="1800" b="0" i="1" u="none" strike="noStrike" kern="120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srgbClr val="C00000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游ゴシック" panose="020B0400000000000000" pitchFamily="34" charset="-128"/>
                                                    </a:rPr>
                                                    <m:t>0.5</m:t>
                                                  </m:r>
                                                </m:e>
                                              </m:mr>
                                              <m:mr>
                                                <m:e>
                                                  <m:m>
                                                    <m:mPr>
                                                      <m:mcs>
                                                        <m:mc>
                                                          <m:mcPr>
                                                            <m:count m:val="1"/>
                                                            <m:mcJc m:val="center"/>
                                                          </m:mcPr>
                                                        </m:mc>
                                                      </m:mcs>
                                                      <m:ctrlPr>
                                                        <a:rPr kumimoji="1" lang="en-NZ" altLang="ja-JP" sz="1800" b="0" i="1" u="none" strike="noStrike" kern="1200" cap="none" spc="0" normalizeH="0" baseline="0" noProof="0" smtClean="0">
                                                          <a:ln>
                                                            <a:noFill/>
                                                          </a:ln>
                                                          <a:solidFill>
                                                            <a:schemeClr val="tx1"/>
                                                          </a:solidFill>
                                                          <a:effectLst/>
                                                          <a:uLnTx/>
                                                          <a:uFillTx/>
                                                          <a:latin typeface="Cambria Math" panose="02040503050406030204" pitchFamily="18" charset="0"/>
                                                          <a:ea typeface="游ゴシック" panose="020B0400000000000000" pitchFamily="34" charset="-128"/>
                                                        </a:rPr>
                                                      </m:ctrlPr>
                                                    </m:mPr>
                                                    <m:mr>
                                                      <m:e>
                                                        <m:r>
                                                          <m:rPr>
                                                            <m:brk m:alnAt="7"/>
                                                          </m:rPr>
                                                          <a:rPr kumimoji="1" lang="en-NZ" altLang="ja-JP" sz="1800" b="0" i="1" u="none" strike="noStrike" kern="1200" cap="none" spc="0" normalizeH="0" baseline="0" noProof="0" smtClean="0">
                                                            <a:ln>
                                                              <a:noFill/>
                                                            </a:ln>
                                                            <a:solidFill>
                                                              <a:srgbClr val="C00000"/>
                                                            </a:solidFill>
                                                            <a:effectLst/>
                                                            <a:uLnTx/>
                                                            <a:uFillTx/>
                                                            <a:latin typeface="Cambria Math" panose="02040503050406030204" pitchFamily="18" charset="0"/>
                                                            <a:ea typeface="游ゴシック" panose="020B0400000000000000" pitchFamily="34" charset="-128"/>
                                                          </a:rPr>
                                                          <m:t>0</m:t>
                                                        </m:r>
                                                        <m:r>
                                                          <a:rPr kumimoji="1" lang="en-NZ" altLang="ja-JP" sz="1800" b="0" i="1" u="none" strike="noStrike" kern="1200" cap="none" spc="0" normalizeH="0" baseline="0" noProof="0" smtClean="0">
                                                            <a:ln>
                                                              <a:noFill/>
                                                            </a:ln>
                                                            <a:solidFill>
                                                              <a:srgbClr val="C00000"/>
                                                            </a:solidFill>
                                                            <a:effectLst/>
                                                            <a:uLnTx/>
                                                            <a:uFillTx/>
                                                            <a:latin typeface="Cambria Math" panose="02040503050406030204" pitchFamily="18" charset="0"/>
                                                            <a:ea typeface="游ゴシック" panose="020B0400000000000000" pitchFamily="34" charset="-128"/>
                                                          </a:rPr>
                                                          <m:t>.5</m:t>
                                                        </m:r>
                                                      </m:e>
                                                    </m:mr>
                                                    <m:mr>
                                                      <m:e>
                                                        <m:r>
                                                          <a:rPr kumimoji="1" lang="en-NZ" altLang="ja-JP" sz="1800" b="0" i="1" u="none" strike="noStrike" kern="1200" cap="none" spc="0" normalizeH="0" baseline="0" noProof="0" smtClean="0">
                                                            <a:ln>
                                                              <a:noFill/>
                                                            </a:ln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effectLst/>
                                                            <a:uLnTx/>
                                                            <a:uFillTx/>
                                                            <a:latin typeface="Cambria Math" panose="02040503050406030204" pitchFamily="18" charset="0"/>
                                                            <a:ea typeface="游ゴシック" panose="020B0400000000000000" pitchFamily="34" charset="-128"/>
                                                          </a:rPr>
                                                          <m:t>0.0</m:t>
                                                        </m:r>
                                                      </m:e>
                                                    </m:mr>
                                                    <m:mr>
                                                      <m:e>
                                                        <m:r>
                                                          <a:rPr kumimoji="1" lang="en-NZ" altLang="ja-JP" sz="1800" b="0" i="1" u="none" strike="noStrike" kern="1200" cap="none" spc="0" normalizeH="0" baseline="0" noProof="0" smtClean="0">
                                                            <a:ln>
                                                              <a:noFill/>
                                                            </a:ln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effectLst/>
                                                            <a:uLnTx/>
                                                            <a:uFillTx/>
                                                            <a:latin typeface="Cambria Math" panose="02040503050406030204" pitchFamily="18" charset="0"/>
                                                            <a:ea typeface="游ゴシック" panose="020B0400000000000000" pitchFamily="34" charset="-128"/>
                                                          </a:rPr>
                                                          <m:t>0.0</m:t>
                                                        </m:r>
                                                      </m:e>
                                                    </m:mr>
                                                  </m:m>
                                                </m:e>
                                              </m:mr>
                                            </m:m>
                                          </m:e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1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kumimoji="1" lang="en-NZ" altLang="ja-JP" sz="1800" b="0" i="1" u="none" strike="noStrike" kern="1200" cap="none" spc="0" normalizeH="0" baseline="0" noProof="0" smtClean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schemeClr val="tx1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ea typeface="游ゴシック" panose="020B0400000000000000" pitchFamily="34" charset="-128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kumimoji="1" lang="en-NZ" altLang="ja-JP" sz="1800" b="0" i="1" u="none" strike="noStrike" kern="120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srgbClr val="C00000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游ゴシック" panose="020B0400000000000000" pitchFamily="34" charset="-128"/>
                                                    </a:rPr>
                                                    <m:t>0</m:t>
                                                  </m:r>
                                                  <m:r>
                                                    <a:rPr kumimoji="1" lang="en-NZ" altLang="ja-JP" sz="1800" b="0" i="1" u="none" strike="noStrike" kern="120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srgbClr val="C00000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游ゴシック" panose="020B0400000000000000" pitchFamily="34" charset="-128"/>
                                                    </a:rPr>
                                                    <m:t>.5</m:t>
                                                  </m:r>
                                                </m:e>
                                              </m:mr>
                                              <m:mr>
                                                <m:e>
                                                  <m:r>
                                                    <a:rPr kumimoji="1" lang="en-NZ" altLang="ja-JP" sz="1800" b="0" i="1" u="none" strike="noStrike" kern="120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srgbClr val="C00000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游ゴシック" panose="020B0400000000000000" pitchFamily="34" charset="-128"/>
                                                    </a:rPr>
                                                    <m:t>0.5</m:t>
                                                  </m:r>
                                                </m:e>
                                              </m:mr>
                                              <m:mr>
                                                <m:e>
                                                  <m:m>
                                                    <m:mPr>
                                                      <m:mcs>
                                                        <m:mc>
                                                          <m:mcPr>
                                                            <m:count m:val="1"/>
                                                            <m:mcJc m:val="center"/>
                                                          </m:mcPr>
                                                        </m:mc>
                                                      </m:mcs>
                                                      <m:ctrlPr>
                                                        <a:rPr kumimoji="1" lang="en-NZ" altLang="ja-JP" sz="1800" b="0" i="1" u="none" strike="noStrike" kern="1200" cap="none" spc="0" normalizeH="0" baseline="0" noProof="0" smtClean="0">
                                                          <a:ln>
                                                            <a:noFill/>
                                                          </a:ln>
                                                          <a:solidFill>
                                                            <a:schemeClr val="tx1"/>
                                                          </a:solidFill>
                                                          <a:effectLst/>
                                                          <a:uLnTx/>
                                                          <a:uFillTx/>
                                                          <a:latin typeface="Cambria Math" panose="02040503050406030204" pitchFamily="18" charset="0"/>
                                                          <a:ea typeface="游ゴシック" panose="020B0400000000000000" pitchFamily="34" charset="-128"/>
                                                        </a:rPr>
                                                      </m:ctrlPr>
                                                    </m:mPr>
                                                    <m:mr>
                                                      <m:e>
                                                        <m:r>
                                                          <m:rPr>
                                                            <m:brk m:alnAt="7"/>
                                                          </m:rPr>
                                                          <a:rPr kumimoji="1" lang="en-NZ" altLang="ja-JP" sz="1800" b="0" i="1" u="none" strike="noStrike" kern="1200" cap="none" spc="0" normalizeH="0" baseline="0" noProof="0" smtClean="0">
                                                            <a:ln>
                                                              <a:noFill/>
                                                            </a:ln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effectLst/>
                                                            <a:uLnTx/>
                                                            <a:uFillTx/>
                                                            <a:latin typeface="Cambria Math" panose="02040503050406030204" pitchFamily="18" charset="0"/>
                                                            <a:ea typeface="游ゴシック" panose="020B0400000000000000" pitchFamily="34" charset="-128"/>
                                                          </a:rPr>
                                                          <m:t>0</m:t>
                                                        </m:r>
                                                        <m:r>
                                                          <a:rPr kumimoji="1" lang="en-NZ" altLang="ja-JP" sz="1800" b="0" i="1" u="none" strike="noStrike" kern="1200" cap="none" spc="0" normalizeH="0" baseline="0" noProof="0" smtClean="0">
                                                            <a:ln>
                                                              <a:noFill/>
                                                            </a:ln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effectLst/>
                                                            <a:uLnTx/>
                                                            <a:uFillTx/>
                                                            <a:latin typeface="Cambria Math" panose="02040503050406030204" pitchFamily="18" charset="0"/>
                                                            <a:ea typeface="游ゴシック" panose="020B0400000000000000" pitchFamily="34" charset="-128"/>
                                                          </a:rPr>
                                                          <m:t>.0</m:t>
                                                        </m:r>
                                                      </m:e>
                                                    </m:mr>
                                                    <m:mr>
                                                      <m:e>
                                                        <m:r>
                                                          <a:rPr kumimoji="1" lang="en-NZ" altLang="ja-JP" sz="1800" b="0" i="1" u="none" strike="noStrike" kern="1200" cap="none" spc="0" normalizeH="0" baseline="0" noProof="0" smtClean="0">
                                                            <a:ln>
                                                              <a:noFill/>
                                                            </a:ln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effectLst/>
                                                            <a:uLnTx/>
                                                            <a:uFillTx/>
                                                            <a:latin typeface="Cambria Math" panose="02040503050406030204" pitchFamily="18" charset="0"/>
                                                            <a:ea typeface="游ゴシック" panose="020B0400000000000000" pitchFamily="34" charset="-128"/>
                                                          </a:rPr>
                                                          <m:t>0.0</m:t>
                                                        </m:r>
                                                      </m:e>
                                                    </m:mr>
                                                    <m:mr>
                                                      <m:e>
                                                        <m:r>
                                                          <a:rPr kumimoji="1" lang="en-NZ" altLang="ja-JP" sz="1800" b="0" i="1" u="none" strike="noStrike" kern="1200" cap="none" spc="0" normalizeH="0" baseline="0" noProof="0" smtClean="0">
                                                            <a:ln>
                                                              <a:noFill/>
                                                            </a:ln>
                                                            <a:solidFill>
                                                              <a:srgbClr val="C00000"/>
                                                            </a:solidFill>
                                                            <a:effectLst/>
                                                            <a:uLnTx/>
                                                            <a:uFillTx/>
                                                            <a:latin typeface="Cambria Math" panose="02040503050406030204" pitchFamily="18" charset="0"/>
                                                            <a:ea typeface="游ゴシック" panose="020B0400000000000000" pitchFamily="34" charset="-128"/>
                                                          </a:rPr>
                                                          <m:t>1.0</m:t>
                                                        </m:r>
                                                      </m:e>
                                                    </m:mr>
                                                  </m:m>
                                                </m:e>
                                              </m:mr>
                                            </m:m>
                                          </m:e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1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kumimoji="1" lang="en-NZ" altLang="ja-JP" sz="1800" b="0" i="1" u="none" strike="noStrike" kern="1200" cap="none" spc="0" normalizeH="0" baseline="0" noProof="0" smtClean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schemeClr val="tx1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ea typeface="游ゴシック" panose="020B0400000000000000" pitchFamily="34" charset="-128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r>
                                                    <a:rPr kumimoji="1" lang="en-NZ" altLang="ja-JP" sz="1800" b="0" i="1" u="none" strike="noStrike" kern="120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schemeClr val="tx1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游ゴシック" panose="020B0400000000000000" pitchFamily="34" charset="-128"/>
                                                    </a:rPr>
                                                    <m:t>0.0</m:t>
                                                  </m:r>
                                                </m:e>
                                              </m:mr>
                                              <m:mr>
                                                <m:e>
                                                  <m:r>
                                                    <a:rPr kumimoji="1" lang="en-NZ" altLang="ja-JP" sz="1800" b="0" i="1" u="none" strike="noStrike" kern="120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schemeClr val="tx1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游ゴシック" panose="020B0400000000000000" pitchFamily="34" charset="-128"/>
                                                    </a:rPr>
                                                    <m:t>0.0</m:t>
                                                  </m:r>
                                                </m:e>
                                              </m:mr>
                                              <m:mr>
                                                <m:e>
                                                  <m:m>
                                                    <m:mPr>
                                                      <m:mcs>
                                                        <m:mc>
                                                          <m:mcPr>
                                                            <m:count m:val="1"/>
                                                            <m:mcJc m:val="center"/>
                                                          </m:mcPr>
                                                        </m:mc>
                                                      </m:mcs>
                                                      <m:ctrlPr>
                                                        <a:rPr kumimoji="1" lang="en-NZ" altLang="ja-JP" sz="1800" b="0" i="1" u="none" strike="noStrike" kern="1200" cap="none" spc="0" normalizeH="0" baseline="0" noProof="0" smtClean="0">
                                                          <a:ln>
                                                            <a:noFill/>
                                                          </a:ln>
                                                          <a:solidFill>
                                                            <a:schemeClr val="tx1"/>
                                                          </a:solidFill>
                                                          <a:effectLst/>
                                                          <a:uLnTx/>
                                                          <a:uFillTx/>
                                                          <a:latin typeface="Cambria Math" panose="02040503050406030204" pitchFamily="18" charset="0"/>
                                                          <a:ea typeface="游ゴシック" panose="020B0400000000000000" pitchFamily="34" charset="-128"/>
                                                        </a:rPr>
                                                      </m:ctrlPr>
                                                    </m:mPr>
                                                    <m:mr>
                                                      <m:e>
                                                        <m:r>
                                                          <m:rPr>
                                                            <m:brk m:alnAt="7"/>
                                                          </m:rPr>
                                                          <a:rPr kumimoji="1" lang="en-NZ" altLang="ja-JP" sz="1800" b="0" i="1" u="none" strike="noStrike" kern="1200" cap="none" spc="0" normalizeH="0" baseline="0" noProof="0" smtClean="0">
                                                            <a:ln>
                                                              <a:noFill/>
                                                            </a:ln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effectLst/>
                                                            <a:uLnTx/>
                                                            <a:uFillTx/>
                                                            <a:latin typeface="Cambria Math" panose="02040503050406030204" pitchFamily="18" charset="0"/>
                                                            <a:ea typeface="游ゴシック" panose="020B0400000000000000" pitchFamily="34" charset="-128"/>
                                                          </a:rPr>
                                                          <m:t>0</m:t>
                                                        </m:r>
                                                        <m:r>
                                                          <a:rPr kumimoji="1" lang="en-NZ" altLang="ja-JP" sz="1800" b="0" i="1" u="none" strike="noStrike" kern="1200" cap="none" spc="0" normalizeH="0" baseline="0" noProof="0" smtClean="0">
                                                            <a:ln>
                                                              <a:noFill/>
                                                            </a:ln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effectLst/>
                                                            <a:uLnTx/>
                                                            <a:uFillTx/>
                                                            <a:latin typeface="Cambria Math" panose="02040503050406030204" pitchFamily="18" charset="0"/>
                                                            <a:ea typeface="游ゴシック" panose="020B0400000000000000" pitchFamily="34" charset="-128"/>
                                                          </a:rPr>
                                                          <m:t>.0</m:t>
                                                        </m:r>
                                                      </m:e>
                                                    </m:mr>
                                                    <m:mr>
                                                      <m:e>
                                                        <m:r>
                                                          <a:rPr kumimoji="1" lang="en-NZ" altLang="ja-JP" sz="1800" b="0" i="1" u="none" strike="noStrike" kern="1200" cap="none" spc="0" normalizeH="0" baseline="0" noProof="0" smtClean="0">
                                                            <a:ln>
                                                              <a:noFill/>
                                                            </a:ln>
                                                            <a:solidFill>
                                                              <a:srgbClr val="C00000"/>
                                                            </a:solidFill>
                                                            <a:effectLst/>
                                                            <a:uLnTx/>
                                                            <a:uFillTx/>
                                                            <a:latin typeface="Cambria Math" panose="02040503050406030204" pitchFamily="18" charset="0"/>
                                                            <a:ea typeface="游ゴシック" panose="020B0400000000000000" pitchFamily="34" charset="-128"/>
                                                          </a:rPr>
                                                          <m:t>1.0</m:t>
                                                        </m:r>
                                                      </m:e>
                                                    </m:mr>
                                                    <m:mr>
                                                      <m:e>
                                                        <m:r>
                                                          <a:rPr kumimoji="1" lang="en-NZ" altLang="ja-JP" sz="1800" b="0" i="1" u="none" strike="noStrike" kern="1200" cap="none" spc="0" normalizeH="0" baseline="0" noProof="0" smtClean="0">
                                                            <a:ln>
                                                              <a:noFill/>
                                                            </a:ln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effectLst/>
                                                            <a:uLnTx/>
                                                            <a:uFillTx/>
                                                            <a:latin typeface="Cambria Math" panose="02040503050406030204" pitchFamily="18" charset="0"/>
                                                            <a:ea typeface="游ゴシック" panose="020B0400000000000000" pitchFamily="34" charset="-128"/>
                                                          </a:rPr>
                                                          <m:t>0.0</m:t>
                                                        </m:r>
                                                      </m:e>
                                                    </m:mr>
                                                  </m:m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en-US" altLang="ja-JP" sz="1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10" name="Text Placeholder 5">
                <a:extLst>
                  <a:ext uri="{FF2B5EF4-FFF2-40B4-BE49-F238E27FC236}">
                    <a16:creationId xmlns:a16="http://schemas.microsoft.com/office/drawing/2014/main" id="{FE773DA3-6E61-AF42-32AF-BF43E2B3C5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4414" y="2978680"/>
                <a:ext cx="4597564" cy="199086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Placeholder 5">
                <a:extLst>
                  <a:ext uri="{FF2B5EF4-FFF2-40B4-BE49-F238E27FC236}">
                    <a16:creationId xmlns:a16="http://schemas.microsoft.com/office/drawing/2014/main" id="{BE6777D7-EAEE-B41D-5336-5F6154529BE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43486" y="5132862"/>
                <a:ext cx="4809696" cy="104979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lvl="0" indent="-342900">
                  <a:lnSpc>
                    <a:spcPct val="100000"/>
                  </a:lnSpc>
                  <a:buFont typeface="+mj-lt"/>
                  <a:buAutoNum type="alphaLcParenR" startAt="2"/>
                  <a:defRPr/>
                </a:pPr>
                <a:r>
                  <a:rPr kumimoji="1" lang="en-US" altLang="ja-JP" sz="1500" b="0" i="0" u="none" strike="noStrike" kern="1200" cap="none" spc="0" normalizeH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The state space can be decomposed into the following communication classes </a:t>
                </a:r>
                <a:br>
                  <a:rPr kumimoji="1" lang="en-US" altLang="ja-JP" sz="1500" b="0" i="0" u="none" strike="noStrike" kern="1200" cap="none" spc="0" normalizeH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</a:br>
                <a14:m>
                  <m:oMath xmlns:m="http://schemas.openxmlformats.org/officeDocument/2006/math">
                    <m:r>
                      <a:rPr kumimoji="1" lang="en-NZ" altLang="ja-JP" sz="15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𝑺</m:t>
                    </m:r>
                    <m:r>
                      <a:rPr kumimoji="1" lang="en-NZ" altLang="ja-JP" sz="15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kumimoji="1" lang="en-NZ" altLang="ja-JP" sz="15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dPr>
                      <m:e>
                        <m:r>
                          <a:rPr kumimoji="1" lang="en-NZ" altLang="ja-JP" sz="15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𝟏</m:t>
                        </m:r>
                        <m:r>
                          <a:rPr kumimoji="1" lang="en-NZ" altLang="ja-JP" sz="15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,</m:t>
                        </m:r>
                        <m:r>
                          <a:rPr kumimoji="1" lang="en-NZ" altLang="ja-JP" sz="15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𝟐</m:t>
                        </m:r>
                        <m:r>
                          <a:rPr kumimoji="1" lang="en-NZ" altLang="ja-JP" sz="15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,</m:t>
                        </m:r>
                        <m:r>
                          <a:rPr kumimoji="1" lang="en-NZ" altLang="ja-JP" sz="15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𝟑</m:t>
                        </m:r>
                        <m:r>
                          <a:rPr kumimoji="1" lang="en-NZ" altLang="ja-JP" sz="15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,</m:t>
                        </m:r>
                        <m:r>
                          <a:rPr kumimoji="1" lang="en-NZ" altLang="ja-JP" sz="15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𝟓</m:t>
                        </m:r>
                        <m:r>
                          <a:rPr kumimoji="1" lang="en-NZ" altLang="ja-JP" sz="15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} ∪{</m:t>
                        </m:r>
                        <m:r>
                          <a:rPr kumimoji="1" lang="en-NZ" altLang="ja-JP" sz="15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𝟒</m:t>
                        </m:r>
                      </m:e>
                    </m:d>
                    <m:r>
                      <a:rPr kumimoji="1" lang="en-NZ" altLang="ja-JP" sz="15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∪{</m:t>
                    </m:r>
                    <m:r>
                      <a:rPr kumimoji="1" lang="en-NZ" altLang="ja-JP" sz="15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𝟔</m:t>
                    </m:r>
                    <m:r>
                      <a:rPr kumimoji="1" lang="en-NZ" altLang="ja-JP" sz="15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,</m:t>
                    </m:r>
                    <m:r>
                      <a:rPr kumimoji="1" lang="en-NZ" altLang="ja-JP" sz="15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𝟕</m:t>
                    </m:r>
                    <m:r>
                      <a:rPr kumimoji="1" lang="en-NZ" altLang="ja-JP" sz="15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}</m:t>
                    </m:r>
                  </m:oMath>
                </a14:m>
                <a:r>
                  <a:rPr kumimoji="1" lang="en-US" altLang="ja-JP" sz="15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:br>
                  <a:rPr kumimoji="1" lang="en-US" altLang="ja-JP" sz="15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</a:br>
                <a:r>
                  <a:rPr kumimoji="1" lang="en-US" altLang="ja-JP" sz="150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such</a:t>
                </a:r>
                <a:r>
                  <a:rPr kumimoji="1" lang="en-US" altLang="ja-JP" sz="1500" i="0" u="none" strike="noStrike" kern="1200" cap="none" spc="0" normalizeH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that the </a:t>
                </a:r>
                <a:r>
                  <a:rPr lang="en-US" altLang="ja-JP" sz="1500" dirty="0">
                    <a:solidFill>
                      <a:schemeClr val="tx1"/>
                    </a:solidFill>
                  </a:rPr>
                  <a:t>chain is reducible.</a:t>
                </a:r>
                <a:endParaRPr kumimoji="1" lang="en-US" altLang="ja-JP" sz="15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11" name="Text Placeholder 5">
                <a:extLst>
                  <a:ext uri="{FF2B5EF4-FFF2-40B4-BE49-F238E27FC236}">
                    <a16:creationId xmlns:a16="http://schemas.microsoft.com/office/drawing/2014/main" id="{BE6777D7-EAEE-B41D-5336-5F6154529B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3486" y="5132862"/>
                <a:ext cx="4809696" cy="1049795"/>
              </a:xfrm>
              <a:prstGeom prst="rect">
                <a:avLst/>
              </a:prstGeom>
              <a:blipFill>
                <a:blip r:embed="rId4"/>
                <a:stretch>
                  <a:fillRect l="-634" t="-1744" b="-2907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3592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E01D7A31-5FF0-43DC-9F4D-F2B96A58DE6A}"/>
              </a:ext>
            </a:extLst>
          </p:cNvPr>
          <p:cNvSpPr txBox="1">
            <a:spLocks/>
          </p:cNvSpPr>
          <p:nvPr/>
        </p:nvSpPr>
        <p:spPr>
          <a:xfrm>
            <a:off x="9444251" y="86139"/>
            <a:ext cx="2645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Question </a:t>
            </a:r>
            <a:r>
              <a:rPr kumimoji="1" lang="en-US" altLang="ja-JP" sz="1600" dirty="0">
                <a:solidFill>
                  <a:srgbClr val="DEDDDD"/>
                </a:solidFill>
                <a:latin typeface="Gidole"/>
                <a:ea typeface="游ゴシック" panose="020B0400000000000000" pitchFamily="34" charset="-128"/>
              </a:rPr>
              <a:t>2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4F3E9ADB-6AEC-42EA-808B-5A433C8B4560}"/>
              </a:ext>
            </a:extLst>
          </p:cNvPr>
          <p:cNvSpPr txBox="1">
            <a:spLocks/>
          </p:cNvSpPr>
          <p:nvPr/>
        </p:nvSpPr>
        <p:spPr>
          <a:xfrm>
            <a:off x="319464" y="196889"/>
            <a:ext cx="2819522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Question 2: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65B06D6C-CCB3-4D8F-9171-6B4779FED53B}"/>
              </a:ext>
            </a:extLst>
          </p:cNvPr>
          <p:cNvSpPr txBox="1">
            <a:spLocks/>
          </p:cNvSpPr>
          <p:nvPr/>
        </p:nvSpPr>
        <p:spPr>
          <a:xfrm>
            <a:off x="319464" y="940568"/>
            <a:ext cx="11615496" cy="4471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Consider the discrete state space Markov chain defined by the weighted directed graph shown below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57A1651E-EB04-03C2-2685-C9E727BAA284}"/>
              </a:ext>
            </a:extLst>
          </p:cNvPr>
          <p:cNvSpPr txBox="1">
            <a:spLocks/>
          </p:cNvSpPr>
          <p:nvPr/>
        </p:nvSpPr>
        <p:spPr>
          <a:xfrm>
            <a:off x="4356520" y="1387764"/>
            <a:ext cx="7742830" cy="124935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LcParenR"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Write out the transition matrix defined by this Markov chain.</a:t>
            </a:r>
            <a:endParaRPr lang="en-US" altLang="ja-JP" sz="1800" dirty="0">
              <a:solidFill>
                <a:srgbClr val="0070C0"/>
              </a:solidFill>
              <a:latin typeface="Calibri" panose="020F0502020204030204"/>
              <a:ea typeface="游ゴシック" panose="020B0400000000000000" pitchFamily="34" charset="-128"/>
            </a:endParaRPr>
          </a:p>
          <a:p>
            <a:pPr marL="342900" marR="0" lvl="0" indent="-342900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LcParenR"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Is the chain </a:t>
            </a:r>
            <a:r>
              <a:rPr lang="en-US" altLang="ja-JP" sz="1800" dirty="0">
                <a:solidFill>
                  <a:srgbClr val="0070C0"/>
                </a:solidFill>
                <a:latin typeface="Calibri" panose="020F0502020204030204"/>
                <a:ea typeface="游ゴシック" panose="020B0400000000000000" pitchFamily="34" charset="-128"/>
              </a:rPr>
              <a:t>reducible or irreducible?</a:t>
            </a:r>
          </a:p>
          <a:p>
            <a:pPr marL="342900" marR="0" lvl="0" indent="-342900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LcParenR"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State whether each communication class is positive recurrent, </a:t>
            </a:r>
            <a:b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</a:b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null recurrent or transient?</a:t>
            </a:r>
          </a:p>
          <a:p>
            <a:pPr marL="342900" marR="0" lvl="0" indent="-342900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LcParenR"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State whether each communication class </a:t>
            </a:r>
            <a:r>
              <a:rPr lang="en-US" altLang="ja-JP" sz="1800" dirty="0">
                <a:solidFill>
                  <a:srgbClr val="0070C0"/>
                </a:solidFill>
                <a:latin typeface="Calibri" panose="020F0502020204030204"/>
                <a:ea typeface="游ゴシック" panose="020B0400000000000000" pitchFamily="34" charset="-128"/>
              </a:rPr>
              <a:t>periodic or aperiodic?</a:t>
            </a:r>
            <a:endParaRPr kumimoji="1" lang="en-US" altLang="ja-JP" sz="1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2E4D883-4ED0-B141-B9A7-C9432B88C84B}"/>
              </a:ext>
            </a:extLst>
          </p:cNvPr>
          <p:cNvSpPr/>
          <p:nvPr/>
        </p:nvSpPr>
        <p:spPr>
          <a:xfrm>
            <a:off x="753555" y="3604810"/>
            <a:ext cx="657561" cy="885732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4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BA5BC0D-81A4-6878-3E1D-BB88BBF0C3F9}"/>
              </a:ext>
            </a:extLst>
          </p:cNvPr>
          <p:cNvSpPr/>
          <p:nvPr/>
        </p:nvSpPr>
        <p:spPr>
          <a:xfrm>
            <a:off x="3016596" y="3604810"/>
            <a:ext cx="657561" cy="885732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52E59FC-2B85-87F5-E6AF-915E2BDBF979}"/>
              </a:ext>
            </a:extLst>
          </p:cNvPr>
          <p:cNvSpPr/>
          <p:nvPr/>
        </p:nvSpPr>
        <p:spPr>
          <a:xfrm>
            <a:off x="1880429" y="4709939"/>
            <a:ext cx="657561" cy="885732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6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14B3AB7-EAF9-F3E9-DE1E-CBCEBD4A518E}"/>
              </a:ext>
            </a:extLst>
          </p:cNvPr>
          <p:cNvCxnSpPr>
            <a:cxnSpLocks/>
            <a:stCxn id="20" idx="6"/>
            <a:endCxn id="13" idx="0"/>
          </p:cNvCxnSpPr>
          <p:nvPr/>
        </p:nvCxnSpPr>
        <p:spPr>
          <a:xfrm>
            <a:off x="2595984" y="1782343"/>
            <a:ext cx="744746" cy="43277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C71AA6D-F8D9-9115-ED8C-157A5E12758D}"/>
              </a:ext>
            </a:extLst>
          </p:cNvPr>
          <p:cNvCxnSpPr>
            <a:cxnSpLocks/>
            <a:stCxn id="8" idx="4"/>
            <a:endCxn id="14" idx="1"/>
          </p:cNvCxnSpPr>
          <p:nvPr/>
        </p:nvCxnSpPr>
        <p:spPr>
          <a:xfrm>
            <a:off x="1082336" y="4490542"/>
            <a:ext cx="894391" cy="34910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E013083-7455-D950-87CB-27944FD31C16}"/>
              </a:ext>
            </a:extLst>
          </p:cNvPr>
          <p:cNvCxnSpPr>
            <a:cxnSpLocks/>
            <a:stCxn id="12" idx="4"/>
            <a:endCxn id="14" idx="7"/>
          </p:cNvCxnSpPr>
          <p:nvPr/>
        </p:nvCxnSpPr>
        <p:spPr>
          <a:xfrm flipH="1">
            <a:off x="2441692" y="4490542"/>
            <a:ext cx="903685" cy="34910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9516F5EE-8447-8477-839D-B93FE7DB934F}"/>
              </a:ext>
            </a:extLst>
          </p:cNvPr>
          <p:cNvSpPr/>
          <p:nvPr/>
        </p:nvSpPr>
        <p:spPr>
          <a:xfrm>
            <a:off x="753554" y="2215061"/>
            <a:ext cx="657561" cy="885732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5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8F85377-24F2-EB26-65AC-8C82A2160624}"/>
              </a:ext>
            </a:extLst>
          </p:cNvPr>
          <p:cNvSpPr/>
          <p:nvPr/>
        </p:nvSpPr>
        <p:spPr>
          <a:xfrm>
            <a:off x="3011949" y="2215120"/>
            <a:ext cx="657561" cy="885732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2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45BAF42-92D8-3A5D-4619-E7B314CEB055}"/>
              </a:ext>
            </a:extLst>
          </p:cNvPr>
          <p:cNvSpPr/>
          <p:nvPr/>
        </p:nvSpPr>
        <p:spPr>
          <a:xfrm>
            <a:off x="2682674" y="5484532"/>
            <a:ext cx="657561" cy="885732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7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B464A4B-C36B-442E-C825-74E6CEDF4EE6}"/>
              </a:ext>
            </a:extLst>
          </p:cNvPr>
          <p:cNvSpPr/>
          <p:nvPr/>
        </p:nvSpPr>
        <p:spPr>
          <a:xfrm>
            <a:off x="1938423" y="1339477"/>
            <a:ext cx="657561" cy="885732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1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48CE5B9-3DC5-8D9E-96CD-FD58B7448218}"/>
              </a:ext>
            </a:extLst>
          </p:cNvPr>
          <p:cNvCxnSpPr>
            <a:cxnSpLocks/>
            <a:stCxn id="13" idx="4"/>
            <a:endCxn id="12" idx="0"/>
          </p:cNvCxnSpPr>
          <p:nvPr/>
        </p:nvCxnSpPr>
        <p:spPr>
          <a:xfrm>
            <a:off x="3340730" y="3100852"/>
            <a:ext cx="4647" cy="50395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C6887FE-01AB-23C1-627C-DAF25FE05B81}"/>
              </a:ext>
            </a:extLst>
          </p:cNvPr>
          <p:cNvCxnSpPr>
            <a:cxnSpLocks/>
            <a:stCxn id="14" idx="6"/>
            <a:endCxn id="17" idx="0"/>
          </p:cNvCxnSpPr>
          <p:nvPr/>
        </p:nvCxnSpPr>
        <p:spPr>
          <a:xfrm>
            <a:off x="2537990" y="5152805"/>
            <a:ext cx="473465" cy="33172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92AF078-B7D4-C431-EBBC-927109C40107}"/>
              </a:ext>
            </a:extLst>
          </p:cNvPr>
          <p:cNvCxnSpPr>
            <a:cxnSpLocks/>
            <a:stCxn id="17" idx="2"/>
            <a:endCxn id="14" idx="4"/>
          </p:cNvCxnSpPr>
          <p:nvPr/>
        </p:nvCxnSpPr>
        <p:spPr>
          <a:xfrm flipH="1" flipV="1">
            <a:off x="2209210" y="5595671"/>
            <a:ext cx="473464" cy="33172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52D9A20-3722-BAE6-53F7-1FDDAC8F806C}"/>
              </a:ext>
            </a:extLst>
          </p:cNvPr>
          <p:cNvCxnSpPr>
            <a:cxnSpLocks/>
            <a:stCxn id="8" idx="0"/>
            <a:endCxn id="9" idx="4"/>
          </p:cNvCxnSpPr>
          <p:nvPr/>
        </p:nvCxnSpPr>
        <p:spPr>
          <a:xfrm flipH="1" flipV="1">
            <a:off x="1082335" y="3100793"/>
            <a:ext cx="1" cy="50401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4387872-9B96-7F86-DA4D-78C4A8F922B4}"/>
              </a:ext>
            </a:extLst>
          </p:cNvPr>
          <p:cNvCxnSpPr>
            <a:cxnSpLocks/>
            <a:stCxn id="9" idx="0"/>
            <a:endCxn id="20" idx="2"/>
          </p:cNvCxnSpPr>
          <p:nvPr/>
        </p:nvCxnSpPr>
        <p:spPr>
          <a:xfrm flipV="1">
            <a:off x="1082335" y="1782343"/>
            <a:ext cx="856088" cy="43271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063648B-7F1A-D918-3E75-5AAA938BBC0B}"/>
              </a:ext>
            </a:extLst>
          </p:cNvPr>
          <p:cNvCxnSpPr>
            <a:cxnSpLocks/>
            <a:stCxn id="12" idx="2"/>
            <a:endCxn id="9" idx="6"/>
          </p:cNvCxnSpPr>
          <p:nvPr/>
        </p:nvCxnSpPr>
        <p:spPr>
          <a:xfrm flipH="1" flipV="1">
            <a:off x="1411115" y="2657927"/>
            <a:ext cx="1605481" cy="138974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Curved 46">
            <a:extLst>
              <a:ext uri="{FF2B5EF4-FFF2-40B4-BE49-F238E27FC236}">
                <a16:creationId xmlns:a16="http://schemas.microsoft.com/office/drawing/2014/main" id="{7981F668-3E28-9488-053C-21D2909419F7}"/>
              </a:ext>
            </a:extLst>
          </p:cNvPr>
          <p:cNvCxnSpPr>
            <a:stCxn id="9" idx="2"/>
            <a:endCxn id="9" idx="3"/>
          </p:cNvCxnSpPr>
          <p:nvPr/>
        </p:nvCxnSpPr>
        <p:spPr>
          <a:xfrm rot="10800000" flipH="1" flipV="1">
            <a:off x="753554" y="2657927"/>
            <a:ext cx="96298" cy="313154"/>
          </a:xfrm>
          <a:prstGeom prst="curvedConnector4">
            <a:avLst>
              <a:gd name="adj1" fmla="val -237388"/>
              <a:gd name="adj2" fmla="val 21442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BE6777D7-EAEE-B41D-5336-5F6154529BE0}"/>
              </a:ext>
            </a:extLst>
          </p:cNvPr>
          <p:cNvSpPr txBox="1">
            <a:spLocks/>
          </p:cNvSpPr>
          <p:nvPr/>
        </p:nvSpPr>
        <p:spPr>
          <a:xfrm>
            <a:off x="4380104" y="3070759"/>
            <a:ext cx="6147610" cy="249001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lnSpc>
                <a:spcPct val="100000"/>
              </a:lnSpc>
              <a:buFont typeface="+mj-lt"/>
              <a:buAutoNum type="alphaLcParenR" startAt="3"/>
              <a:defRPr/>
            </a:pPr>
            <a:r>
              <a:rPr lang="en-US" altLang="ja-JP" sz="1500" dirty="0">
                <a:solidFill>
                  <a:schemeClr val="tx1"/>
                </a:solidFill>
                <a:latin typeface="Calibri" panose="020F0502020204030204"/>
                <a:ea typeface="游ゴシック" panose="020B0400000000000000" pitchFamily="34" charset="-128"/>
              </a:rPr>
              <a:t>States</a:t>
            </a:r>
            <a:r>
              <a:rPr kumimoji="1" lang="en-US" altLang="ja-JP" sz="15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 in the same communication class are either all positive recurrent, all null recurrent or all transient.</a:t>
            </a:r>
            <a:br>
              <a:rPr kumimoji="1" lang="en-US" altLang="ja-JP" sz="15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</a:br>
            <a:br>
              <a:rPr kumimoji="1" lang="en-US" altLang="ja-JP" sz="15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</a:br>
            <a:r>
              <a:rPr kumimoji="1" lang="en-US" altLang="ja-JP" sz="15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{1,2,3,5} </a:t>
            </a:r>
            <a:r>
              <a:rPr kumimoji="1" lang="en-US" altLang="ja-JP" sz="15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are transient</a:t>
            </a:r>
            <a:r>
              <a:rPr kumimoji="1" lang="en-US" altLang="ja-JP" sz="1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 </a:t>
            </a:r>
            <a:r>
              <a:rPr kumimoji="1" lang="en-US" altLang="ja-JP" sz="15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states as it is not certain that</a:t>
            </a:r>
            <a:r>
              <a:rPr kumimoji="1" lang="en-US" altLang="ja-JP" sz="150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 the chain will return to these states in the future</a:t>
            </a:r>
            <a:br>
              <a:rPr kumimoji="1" lang="en-US" altLang="ja-JP" sz="150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</a:br>
            <a:br>
              <a:rPr kumimoji="1" lang="en-US" altLang="ja-JP" sz="150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</a:br>
            <a:r>
              <a:rPr kumimoji="1" lang="en-US" altLang="ja-JP" sz="150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{4} is a transient state as the chain never returns here</a:t>
            </a:r>
            <a:br>
              <a:rPr kumimoji="1" lang="en-US" altLang="ja-JP" sz="150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</a:br>
            <a:br>
              <a:rPr kumimoji="1" lang="en-US" altLang="ja-JP" sz="150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</a:br>
            <a:r>
              <a:rPr kumimoji="1" lang="en-US" altLang="ja-JP" sz="150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{6,7} are positive recurrent as the chain is guaranteed to return to state 6 or 7 in two transitions.</a:t>
            </a:r>
            <a:endParaRPr kumimoji="1" lang="en-US" altLang="ja-JP" sz="1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AAB6EDDA-BAAA-5AB2-82E6-0ABA528E2BAD}"/>
              </a:ext>
            </a:extLst>
          </p:cNvPr>
          <p:cNvSpPr txBox="1">
            <a:spLocks/>
          </p:cNvSpPr>
          <p:nvPr/>
        </p:nvSpPr>
        <p:spPr>
          <a:xfrm>
            <a:off x="4380104" y="5719966"/>
            <a:ext cx="5935987" cy="104979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lnSpc>
                <a:spcPct val="100000"/>
              </a:lnSpc>
              <a:buFont typeface="+mj-lt"/>
              <a:buAutoNum type="alphaLcParenR" startAt="4"/>
              <a:defRPr/>
            </a:pPr>
            <a:r>
              <a:rPr kumimoji="1" lang="en-NZ" altLang="ja-JP" sz="15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States in the same communication class all have the same period.</a:t>
            </a:r>
            <a:br>
              <a:rPr kumimoji="1" lang="en-NZ" altLang="ja-JP" sz="15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</a:br>
            <a:r>
              <a:rPr lang="en-NZ" altLang="ja-JP" sz="1500" dirty="0">
                <a:solidFill>
                  <a:schemeClr val="tx1"/>
                </a:solidFill>
              </a:rPr>
              <a:t>{1,2,3,5} have period 1 (aperiodic) due to existence of self-loop at 5</a:t>
            </a:r>
            <a:br>
              <a:rPr kumimoji="1" lang="en-NZ" altLang="ja-JP" sz="15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</a:br>
            <a:r>
              <a:rPr lang="en-NZ" altLang="ja-JP" sz="1500" dirty="0">
                <a:solidFill>
                  <a:schemeClr val="tx1"/>
                </a:solidFill>
                <a:latin typeface="Calibri" panose="020F0502020204030204"/>
                <a:ea typeface="游ゴシック" panose="020B0400000000000000" pitchFamily="34" charset="-128"/>
              </a:rPr>
              <a:t>{4} has ill-defined period (chain never returns).</a:t>
            </a:r>
            <a:br>
              <a:rPr lang="en-NZ" altLang="ja-JP" sz="1500" dirty="0">
                <a:solidFill>
                  <a:schemeClr val="tx1"/>
                </a:solidFill>
                <a:latin typeface="Calibri" panose="020F0502020204030204"/>
                <a:ea typeface="游ゴシック" panose="020B0400000000000000" pitchFamily="34" charset="-128"/>
              </a:rPr>
            </a:br>
            <a:r>
              <a:rPr lang="en-NZ" altLang="ja-JP" sz="1500" dirty="0">
                <a:solidFill>
                  <a:schemeClr val="tx1"/>
                </a:solidFill>
                <a:latin typeface="Calibri" panose="020F0502020204030204"/>
                <a:ea typeface="游ゴシック" panose="020B0400000000000000" pitchFamily="34" charset="-128"/>
              </a:rPr>
              <a:t>{6,7} have period 2.</a:t>
            </a:r>
            <a:endParaRPr kumimoji="1" lang="en-US" altLang="ja-JP" sz="1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25118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65B06D6C-CCB3-4D8F-9171-6B4779FED53B}"/>
              </a:ext>
            </a:extLst>
          </p:cNvPr>
          <p:cNvSpPr txBox="1">
            <a:spLocks/>
          </p:cNvSpPr>
          <p:nvPr/>
        </p:nvSpPr>
        <p:spPr>
          <a:xfrm>
            <a:off x="319463" y="859039"/>
            <a:ext cx="6284610" cy="4471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Consider the discrete state space Markov chain defined below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5">
                <a:extLst>
                  <a:ext uri="{FF2B5EF4-FFF2-40B4-BE49-F238E27FC236}">
                    <a16:creationId xmlns:a16="http://schemas.microsoft.com/office/drawing/2014/main" id="{821F6F52-A425-0203-4963-D33DB0F9560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57859" y="1555113"/>
                <a:ext cx="4085230" cy="141521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kumimoji="1" lang="en-US" altLang="ja-JP" sz="180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ja-JP" sz="180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0</m:t>
                                </m:r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.00</m:t>
                                </m:r>
                              </m:e>
                              <m:e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0.80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US" altLang="ja-JP" sz="180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NZ" altLang="ja-JP" sz="1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0.00</m:t>
                                      </m:r>
                                    </m:e>
                                    <m:e>
                                      <m:r>
                                        <a:rPr lang="en-NZ" altLang="ja-JP" sz="1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0.00</m:t>
                                      </m:r>
                                    </m:e>
                                    <m:e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0.20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0.50</m:t>
                                </m:r>
                              </m:e>
                              <m:e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0.00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US" altLang="ja-JP" sz="180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0</m:t>
                                      </m:r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.25</m:t>
                                      </m:r>
                                    </m:e>
                                    <m:e>
                                      <m:r>
                                        <a:rPr lang="en-NZ" altLang="ja-JP" sz="1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0.00</m:t>
                                      </m:r>
                                    </m:e>
                                    <m:e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0.25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US" altLang="ja-JP" sz="180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NZ" altLang="ja-JP" sz="1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0.00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NZ" altLang="ja-JP" sz="1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0.00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0.50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US" altLang="ja-JP" sz="180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0</m:t>
                                      </m:r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.30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NZ" altLang="ja-JP" sz="1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0.00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NZ" altLang="ja-JP" sz="1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0.00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US" altLang="ja-JP" sz="180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US" altLang="ja-JP" sz="180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游ゴシック" panose="020B0400000000000000" pitchFamily="34" charset="-128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0</m:t>
                                            </m:r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.30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0.50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0.25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US" altLang="ja-JP" sz="180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游ゴシック" panose="020B0400000000000000" pitchFamily="34" charset="-128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0</m:t>
                                            </m:r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.40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NZ" altLang="ja-JP" sz="1800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0.00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0.25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US" altLang="ja-JP" sz="180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游ゴシック" panose="020B0400000000000000" pitchFamily="34" charset="-128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a:rPr lang="en-NZ" altLang="ja-JP" sz="1800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0.00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0.50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NZ" altLang="ja-JP" sz="1800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0.00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en-US" altLang="ja-JP" sz="180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2" name="Text Placeholder 5">
                <a:extLst>
                  <a:ext uri="{FF2B5EF4-FFF2-40B4-BE49-F238E27FC236}">
                    <a16:creationId xmlns:a16="http://schemas.microsoft.com/office/drawing/2014/main" id="{821F6F52-A425-0203-4963-D33DB0F956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7859" y="1555113"/>
                <a:ext cx="4085230" cy="14152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FE8653E7-8E70-F4E1-08CA-D9792B339E49}"/>
              </a:ext>
            </a:extLst>
          </p:cNvPr>
          <p:cNvSpPr txBox="1">
            <a:spLocks/>
          </p:cNvSpPr>
          <p:nvPr/>
        </p:nvSpPr>
        <p:spPr>
          <a:xfrm>
            <a:off x="1747609" y="1237886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1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FE5CB15-9C0E-FE0D-2961-0535AB9FE278}"/>
              </a:ext>
            </a:extLst>
          </p:cNvPr>
          <p:cNvSpPr txBox="1">
            <a:spLocks/>
          </p:cNvSpPr>
          <p:nvPr/>
        </p:nvSpPr>
        <p:spPr>
          <a:xfrm>
            <a:off x="2395878" y="1237886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2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3A3E02E9-26D6-CF28-7759-3DD9FD6EA0D5}"/>
              </a:ext>
            </a:extLst>
          </p:cNvPr>
          <p:cNvSpPr txBox="1">
            <a:spLocks/>
          </p:cNvSpPr>
          <p:nvPr/>
        </p:nvSpPr>
        <p:spPr>
          <a:xfrm>
            <a:off x="3076339" y="1237886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3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4642364A-7BEE-9ADD-6B41-0C3331B33A04}"/>
              </a:ext>
            </a:extLst>
          </p:cNvPr>
          <p:cNvSpPr txBox="1">
            <a:spLocks/>
          </p:cNvSpPr>
          <p:nvPr/>
        </p:nvSpPr>
        <p:spPr>
          <a:xfrm>
            <a:off x="3756800" y="1256413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4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ECE8E70A-5271-7FF6-EDF9-CB040FCF132C}"/>
              </a:ext>
            </a:extLst>
          </p:cNvPr>
          <p:cNvSpPr txBox="1">
            <a:spLocks/>
          </p:cNvSpPr>
          <p:nvPr/>
        </p:nvSpPr>
        <p:spPr>
          <a:xfrm>
            <a:off x="4405069" y="1256413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5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D0E0604C-7573-7D78-9A71-0FB3A528DB23}"/>
              </a:ext>
            </a:extLst>
          </p:cNvPr>
          <p:cNvSpPr txBox="1">
            <a:spLocks/>
          </p:cNvSpPr>
          <p:nvPr/>
        </p:nvSpPr>
        <p:spPr>
          <a:xfrm>
            <a:off x="1247539" y="1536586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1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22A22D0A-A2C5-A83D-56C0-C803CD786C07}"/>
              </a:ext>
            </a:extLst>
          </p:cNvPr>
          <p:cNvSpPr txBox="1">
            <a:spLocks/>
          </p:cNvSpPr>
          <p:nvPr/>
        </p:nvSpPr>
        <p:spPr>
          <a:xfrm>
            <a:off x="1247539" y="1796420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2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D66AC2D2-9809-3429-5D74-78F145AA3521}"/>
              </a:ext>
            </a:extLst>
          </p:cNvPr>
          <p:cNvSpPr txBox="1">
            <a:spLocks/>
          </p:cNvSpPr>
          <p:nvPr/>
        </p:nvSpPr>
        <p:spPr>
          <a:xfrm>
            <a:off x="1247539" y="2056254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3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CEAE0613-6590-2911-1973-6507FCD4B936}"/>
              </a:ext>
            </a:extLst>
          </p:cNvPr>
          <p:cNvSpPr txBox="1">
            <a:spLocks/>
          </p:cNvSpPr>
          <p:nvPr/>
        </p:nvSpPr>
        <p:spPr>
          <a:xfrm>
            <a:off x="1247539" y="2311446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4</a:t>
            </a:r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FFF4E0FB-70AF-1EB2-BD5B-711A81101109}"/>
              </a:ext>
            </a:extLst>
          </p:cNvPr>
          <p:cNvSpPr txBox="1">
            <a:spLocks/>
          </p:cNvSpPr>
          <p:nvPr/>
        </p:nvSpPr>
        <p:spPr>
          <a:xfrm>
            <a:off x="1253574" y="2555067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5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D583274-C45C-63F4-A94A-8F5EFD227638}"/>
              </a:ext>
            </a:extLst>
          </p:cNvPr>
          <p:cNvSpPr/>
          <p:nvPr/>
        </p:nvSpPr>
        <p:spPr>
          <a:xfrm>
            <a:off x="8496995" y="497414"/>
            <a:ext cx="354842" cy="38213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1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08BCE91-0957-382C-7B26-6B97A86E6D44}"/>
              </a:ext>
            </a:extLst>
          </p:cNvPr>
          <p:cNvSpPr/>
          <p:nvPr/>
        </p:nvSpPr>
        <p:spPr>
          <a:xfrm>
            <a:off x="10041466" y="1207097"/>
            <a:ext cx="354842" cy="38213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2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F2F9F241-4A9D-34B1-7DA8-D6D4425A7EFB}"/>
              </a:ext>
            </a:extLst>
          </p:cNvPr>
          <p:cNvSpPr/>
          <p:nvPr/>
        </p:nvSpPr>
        <p:spPr>
          <a:xfrm>
            <a:off x="9311311" y="2780003"/>
            <a:ext cx="354842" cy="38213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3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240B1616-E0C0-5FF6-6200-E302F2BC3923}"/>
              </a:ext>
            </a:extLst>
          </p:cNvPr>
          <p:cNvSpPr/>
          <p:nvPr/>
        </p:nvSpPr>
        <p:spPr>
          <a:xfrm>
            <a:off x="7757740" y="2780003"/>
            <a:ext cx="354842" cy="38213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4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CEEE3291-C116-2E71-3867-E28A7DFAA3CA}"/>
              </a:ext>
            </a:extLst>
          </p:cNvPr>
          <p:cNvSpPr/>
          <p:nvPr/>
        </p:nvSpPr>
        <p:spPr>
          <a:xfrm>
            <a:off x="6979818" y="1207097"/>
            <a:ext cx="354842" cy="38213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5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9E9D28C-3F8B-62F6-6B77-4A6900C19AF0}"/>
              </a:ext>
            </a:extLst>
          </p:cNvPr>
          <p:cNvCxnSpPr>
            <a:cxnSpLocks/>
          </p:cNvCxnSpPr>
          <p:nvPr/>
        </p:nvCxnSpPr>
        <p:spPr>
          <a:xfrm flipH="1">
            <a:off x="9689246" y="1608682"/>
            <a:ext cx="604699" cy="124673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25B6559-6924-0E21-9376-8B9F9745D25C}"/>
              </a:ext>
            </a:extLst>
          </p:cNvPr>
          <p:cNvCxnSpPr>
            <a:cxnSpLocks/>
            <a:endCxn id="38" idx="3"/>
          </p:cNvCxnSpPr>
          <p:nvPr/>
        </p:nvCxnSpPr>
        <p:spPr>
          <a:xfrm flipV="1">
            <a:off x="9489780" y="1533270"/>
            <a:ext cx="603651" cy="119794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A31F77F-4A98-F9E6-0C19-B793CB7833CE}"/>
              </a:ext>
            </a:extLst>
          </p:cNvPr>
          <p:cNvCxnSpPr>
            <a:cxnSpLocks/>
            <a:stCxn id="40" idx="7"/>
            <a:endCxn id="39" idx="1"/>
          </p:cNvCxnSpPr>
          <p:nvPr/>
        </p:nvCxnSpPr>
        <p:spPr>
          <a:xfrm>
            <a:off x="8060617" y="2835966"/>
            <a:ext cx="130265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3499911-8054-6F83-3628-BFC38CE4B6A5}"/>
              </a:ext>
            </a:extLst>
          </p:cNvPr>
          <p:cNvCxnSpPr>
            <a:cxnSpLocks/>
            <a:stCxn id="39" idx="3"/>
            <a:endCxn id="40" idx="5"/>
          </p:cNvCxnSpPr>
          <p:nvPr/>
        </p:nvCxnSpPr>
        <p:spPr>
          <a:xfrm flipH="1">
            <a:off x="8060617" y="3106176"/>
            <a:ext cx="130265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8CE8EA4-E685-EE84-1B09-5FA6627CC859}"/>
              </a:ext>
            </a:extLst>
          </p:cNvPr>
          <p:cNvCxnSpPr>
            <a:cxnSpLocks/>
          </p:cNvCxnSpPr>
          <p:nvPr/>
        </p:nvCxnSpPr>
        <p:spPr>
          <a:xfrm>
            <a:off x="7457490" y="1569111"/>
            <a:ext cx="1853821" cy="109591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AD57B54C-C8AE-F003-4AEC-F5C20A5854ED}"/>
              </a:ext>
            </a:extLst>
          </p:cNvPr>
          <p:cNvCxnSpPr>
            <a:cxnSpLocks/>
            <a:stCxn id="40" idx="2"/>
          </p:cNvCxnSpPr>
          <p:nvPr/>
        </p:nvCxnSpPr>
        <p:spPr>
          <a:xfrm flipH="1" flipV="1">
            <a:off x="7079462" y="1596402"/>
            <a:ext cx="678278" cy="137466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46CA938-23EB-2081-50DA-3EAFAE6C45D9}"/>
              </a:ext>
            </a:extLst>
          </p:cNvPr>
          <p:cNvCxnSpPr>
            <a:cxnSpLocks/>
            <a:endCxn id="40" idx="0"/>
          </p:cNvCxnSpPr>
          <p:nvPr/>
        </p:nvCxnSpPr>
        <p:spPr>
          <a:xfrm>
            <a:off x="7306445" y="1513147"/>
            <a:ext cx="628716" cy="126685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9532D890-8B8E-51E3-E873-F7C611FDDD30}"/>
              </a:ext>
            </a:extLst>
          </p:cNvPr>
          <p:cNvCxnSpPr>
            <a:cxnSpLocks/>
            <a:stCxn id="41" idx="0"/>
            <a:endCxn id="36" idx="1"/>
          </p:cNvCxnSpPr>
          <p:nvPr/>
        </p:nvCxnSpPr>
        <p:spPr>
          <a:xfrm flipV="1">
            <a:off x="7157239" y="553377"/>
            <a:ext cx="1391721" cy="65372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C42B740C-C5ED-5091-A1AC-FF7B5E8CE06C}"/>
              </a:ext>
            </a:extLst>
          </p:cNvPr>
          <p:cNvCxnSpPr>
            <a:cxnSpLocks/>
            <a:stCxn id="36" idx="3"/>
            <a:endCxn id="41" idx="6"/>
          </p:cNvCxnSpPr>
          <p:nvPr/>
        </p:nvCxnSpPr>
        <p:spPr>
          <a:xfrm flipH="1">
            <a:off x="7334660" y="823587"/>
            <a:ext cx="1214300" cy="57457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F981E981-6287-7C35-AA9D-020A12BE53AD}"/>
              </a:ext>
            </a:extLst>
          </p:cNvPr>
          <p:cNvCxnSpPr>
            <a:cxnSpLocks/>
            <a:stCxn id="36" idx="7"/>
            <a:endCxn id="38" idx="0"/>
          </p:cNvCxnSpPr>
          <p:nvPr/>
        </p:nvCxnSpPr>
        <p:spPr>
          <a:xfrm>
            <a:off x="8799872" y="553377"/>
            <a:ext cx="1419015" cy="65372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2596BA6A-A1E1-50D8-9F88-24823627BB96}"/>
              </a:ext>
            </a:extLst>
          </p:cNvPr>
          <p:cNvCxnSpPr>
            <a:cxnSpLocks/>
            <a:stCxn id="38" idx="2"/>
            <a:endCxn id="36" idx="5"/>
          </p:cNvCxnSpPr>
          <p:nvPr/>
        </p:nvCxnSpPr>
        <p:spPr>
          <a:xfrm flipH="1" flipV="1">
            <a:off x="8799872" y="823587"/>
            <a:ext cx="1241594" cy="57457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BDB35D8-9F3D-426C-1CF2-DEB344BB5564}"/>
              </a:ext>
            </a:extLst>
          </p:cNvPr>
          <p:cNvCxnSpPr>
            <a:cxnSpLocks/>
            <a:stCxn id="38" idx="2"/>
          </p:cNvCxnSpPr>
          <p:nvPr/>
        </p:nvCxnSpPr>
        <p:spPr>
          <a:xfrm flipH="1">
            <a:off x="7394761" y="1398165"/>
            <a:ext cx="2646705" cy="5321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 Placeholder 5">
            <a:extLst>
              <a:ext uri="{FF2B5EF4-FFF2-40B4-BE49-F238E27FC236}">
                <a16:creationId xmlns:a16="http://schemas.microsoft.com/office/drawing/2014/main" id="{5C514145-B1BB-5F85-5FCD-B59CC7BBC58A}"/>
              </a:ext>
            </a:extLst>
          </p:cNvPr>
          <p:cNvSpPr txBox="1">
            <a:spLocks/>
          </p:cNvSpPr>
          <p:nvPr/>
        </p:nvSpPr>
        <p:spPr>
          <a:xfrm>
            <a:off x="9363276" y="539132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0.8</a:t>
            </a:r>
          </a:p>
        </p:txBody>
      </p:sp>
      <p:sp>
        <p:nvSpPr>
          <p:cNvPr id="57" name="Text Placeholder 5">
            <a:extLst>
              <a:ext uri="{FF2B5EF4-FFF2-40B4-BE49-F238E27FC236}">
                <a16:creationId xmlns:a16="http://schemas.microsoft.com/office/drawing/2014/main" id="{B5BC2088-040F-D6B2-723A-2BA468157C54}"/>
              </a:ext>
            </a:extLst>
          </p:cNvPr>
          <p:cNvSpPr txBox="1">
            <a:spLocks/>
          </p:cNvSpPr>
          <p:nvPr/>
        </p:nvSpPr>
        <p:spPr>
          <a:xfrm>
            <a:off x="7910493" y="964361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0.2</a:t>
            </a:r>
          </a:p>
        </p:txBody>
      </p:sp>
      <p:sp>
        <p:nvSpPr>
          <p:cNvPr id="58" name="Text Placeholder 5">
            <a:extLst>
              <a:ext uri="{FF2B5EF4-FFF2-40B4-BE49-F238E27FC236}">
                <a16:creationId xmlns:a16="http://schemas.microsoft.com/office/drawing/2014/main" id="{CAF9613A-3FE7-69EA-9496-3E73FCC788C9}"/>
              </a:ext>
            </a:extLst>
          </p:cNvPr>
          <p:cNvSpPr txBox="1">
            <a:spLocks/>
          </p:cNvSpPr>
          <p:nvPr/>
        </p:nvSpPr>
        <p:spPr>
          <a:xfrm>
            <a:off x="9947765" y="2117066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0.25</a:t>
            </a:r>
          </a:p>
        </p:txBody>
      </p:sp>
      <p:sp>
        <p:nvSpPr>
          <p:cNvPr id="59" name="Text Placeholder 5">
            <a:extLst>
              <a:ext uri="{FF2B5EF4-FFF2-40B4-BE49-F238E27FC236}">
                <a16:creationId xmlns:a16="http://schemas.microsoft.com/office/drawing/2014/main" id="{AB8DB633-A7FE-84C5-121E-5FAC72A1E119}"/>
              </a:ext>
            </a:extLst>
          </p:cNvPr>
          <p:cNvSpPr txBox="1">
            <a:spLocks/>
          </p:cNvSpPr>
          <p:nvPr/>
        </p:nvSpPr>
        <p:spPr>
          <a:xfrm>
            <a:off x="8353690" y="1398165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0.25</a:t>
            </a:r>
          </a:p>
        </p:txBody>
      </p:sp>
      <p:sp>
        <p:nvSpPr>
          <p:cNvPr id="60" name="Text Placeholder 5">
            <a:extLst>
              <a:ext uri="{FF2B5EF4-FFF2-40B4-BE49-F238E27FC236}">
                <a16:creationId xmlns:a16="http://schemas.microsoft.com/office/drawing/2014/main" id="{1386B1A4-587A-F421-80F3-749C6DED08B0}"/>
              </a:ext>
            </a:extLst>
          </p:cNvPr>
          <p:cNvSpPr txBox="1">
            <a:spLocks/>
          </p:cNvSpPr>
          <p:nvPr/>
        </p:nvSpPr>
        <p:spPr>
          <a:xfrm>
            <a:off x="8861110" y="1018768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0.5</a:t>
            </a:r>
          </a:p>
        </p:txBody>
      </p:sp>
      <p:sp>
        <p:nvSpPr>
          <p:cNvPr id="61" name="Text Placeholder 5">
            <a:extLst>
              <a:ext uri="{FF2B5EF4-FFF2-40B4-BE49-F238E27FC236}">
                <a16:creationId xmlns:a16="http://schemas.microsoft.com/office/drawing/2014/main" id="{3988B68F-9992-4A5D-FAFE-C4B961D4B182}"/>
              </a:ext>
            </a:extLst>
          </p:cNvPr>
          <p:cNvSpPr txBox="1">
            <a:spLocks/>
          </p:cNvSpPr>
          <p:nvPr/>
        </p:nvSpPr>
        <p:spPr>
          <a:xfrm>
            <a:off x="9244031" y="1815462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0.3</a:t>
            </a:r>
          </a:p>
        </p:txBody>
      </p:sp>
      <p:sp>
        <p:nvSpPr>
          <p:cNvPr id="62" name="Text Placeholder 5">
            <a:extLst>
              <a:ext uri="{FF2B5EF4-FFF2-40B4-BE49-F238E27FC236}">
                <a16:creationId xmlns:a16="http://schemas.microsoft.com/office/drawing/2014/main" id="{355D810A-2DE4-699A-AED1-3946815DEFC1}"/>
              </a:ext>
            </a:extLst>
          </p:cNvPr>
          <p:cNvSpPr txBox="1">
            <a:spLocks/>
          </p:cNvSpPr>
          <p:nvPr/>
        </p:nvSpPr>
        <p:spPr>
          <a:xfrm>
            <a:off x="9788319" y="2944862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0.3</a:t>
            </a:r>
          </a:p>
        </p:txBody>
      </p:sp>
      <p:cxnSp>
        <p:nvCxnSpPr>
          <p:cNvPr id="63" name="Connector: Curved 62">
            <a:extLst>
              <a:ext uri="{FF2B5EF4-FFF2-40B4-BE49-F238E27FC236}">
                <a16:creationId xmlns:a16="http://schemas.microsoft.com/office/drawing/2014/main" id="{E7E271C7-CF60-19D8-AF68-24824C9DBBCC}"/>
              </a:ext>
            </a:extLst>
          </p:cNvPr>
          <p:cNvCxnSpPr>
            <a:cxnSpLocks/>
            <a:stCxn id="39" idx="4"/>
            <a:endCxn id="39" idx="6"/>
          </p:cNvCxnSpPr>
          <p:nvPr/>
        </p:nvCxnSpPr>
        <p:spPr>
          <a:xfrm rot="5400000" flipH="1" flipV="1">
            <a:off x="9481908" y="2977894"/>
            <a:ext cx="191068" cy="177421"/>
          </a:xfrm>
          <a:prstGeom prst="curvedConnector4">
            <a:avLst>
              <a:gd name="adj1" fmla="val -119643"/>
              <a:gd name="adj2" fmla="val 22884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8" name="Text Placeholder 5">
            <a:extLst>
              <a:ext uri="{FF2B5EF4-FFF2-40B4-BE49-F238E27FC236}">
                <a16:creationId xmlns:a16="http://schemas.microsoft.com/office/drawing/2014/main" id="{924E60DB-0A47-3A16-1FB7-A0F492B2EA4D}"/>
              </a:ext>
            </a:extLst>
          </p:cNvPr>
          <p:cNvSpPr txBox="1">
            <a:spLocks/>
          </p:cNvSpPr>
          <p:nvPr/>
        </p:nvSpPr>
        <p:spPr>
          <a:xfrm>
            <a:off x="8475737" y="3073185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0.4</a:t>
            </a:r>
          </a:p>
        </p:txBody>
      </p:sp>
      <p:sp>
        <p:nvSpPr>
          <p:cNvPr id="2049" name="Text Placeholder 5">
            <a:extLst>
              <a:ext uri="{FF2B5EF4-FFF2-40B4-BE49-F238E27FC236}">
                <a16:creationId xmlns:a16="http://schemas.microsoft.com/office/drawing/2014/main" id="{837367DA-AFB6-081E-660D-090CA06176AE}"/>
              </a:ext>
            </a:extLst>
          </p:cNvPr>
          <p:cNvSpPr txBox="1">
            <a:spLocks/>
          </p:cNvSpPr>
          <p:nvPr/>
        </p:nvSpPr>
        <p:spPr>
          <a:xfrm>
            <a:off x="8360165" y="2486141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0.5</a:t>
            </a:r>
          </a:p>
        </p:txBody>
      </p:sp>
      <p:sp>
        <p:nvSpPr>
          <p:cNvPr id="2051" name="Text Placeholder 5">
            <a:extLst>
              <a:ext uri="{FF2B5EF4-FFF2-40B4-BE49-F238E27FC236}">
                <a16:creationId xmlns:a16="http://schemas.microsoft.com/office/drawing/2014/main" id="{320B4B26-801D-DB12-D99C-26DB22EF218A}"/>
              </a:ext>
            </a:extLst>
          </p:cNvPr>
          <p:cNvSpPr txBox="1">
            <a:spLocks/>
          </p:cNvSpPr>
          <p:nvPr/>
        </p:nvSpPr>
        <p:spPr>
          <a:xfrm>
            <a:off x="7394541" y="580850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0.5</a:t>
            </a:r>
          </a:p>
        </p:txBody>
      </p:sp>
      <p:sp>
        <p:nvSpPr>
          <p:cNvPr id="2052" name="Text Placeholder 5">
            <a:extLst>
              <a:ext uri="{FF2B5EF4-FFF2-40B4-BE49-F238E27FC236}">
                <a16:creationId xmlns:a16="http://schemas.microsoft.com/office/drawing/2014/main" id="{DB68A977-474A-CACD-A557-9302EBA1E96C}"/>
              </a:ext>
            </a:extLst>
          </p:cNvPr>
          <p:cNvSpPr txBox="1">
            <a:spLocks/>
          </p:cNvSpPr>
          <p:nvPr/>
        </p:nvSpPr>
        <p:spPr>
          <a:xfrm>
            <a:off x="8352372" y="1878276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0.25</a:t>
            </a:r>
          </a:p>
        </p:txBody>
      </p:sp>
      <p:sp>
        <p:nvSpPr>
          <p:cNvPr id="2053" name="Text Placeholder 5">
            <a:extLst>
              <a:ext uri="{FF2B5EF4-FFF2-40B4-BE49-F238E27FC236}">
                <a16:creationId xmlns:a16="http://schemas.microsoft.com/office/drawing/2014/main" id="{B87D9889-2A60-1F64-B9BA-60D789C085C3}"/>
              </a:ext>
            </a:extLst>
          </p:cNvPr>
          <p:cNvSpPr txBox="1">
            <a:spLocks/>
          </p:cNvSpPr>
          <p:nvPr/>
        </p:nvSpPr>
        <p:spPr>
          <a:xfrm>
            <a:off x="7646190" y="2093603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0.25</a:t>
            </a:r>
          </a:p>
        </p:txBody>
      </p:sp>
      <p:sp>
        <p:nvSpPr>
          <p:cNvPr id="2054" name="Text Placeholder 5">
            <a:extLst>
              <a:ext uri="{FF2B5EF4-FFF2-40B4-BE49-F238E27FC236}">
                <a16:creationId xmlns:a16="http://schemas.microsoft.com/office/drawing/2014/main" id="{7C7C62E6-A517-B96D-0964-20ECBE8FFFF3}"/>
              </a:ext>
            </a:extLst>
          </p:cNvPr>
          <p:cNvSpPr txBox="1">
            <a:spLocks/>
          </p:cNvSpPr>
          <p:nvPr/>
        </p:nvSpPr>
        <p:spPr>
          <a:xfrm>
            <a:off x="319462" y="3472472"/>
            <a:ext cx="11708765" cy="6933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LcParenR"/>
              <a:tabLst/>
              <a:defRPr/>
            </a:pPr>
            <a:r>
              <a:rPr lang="en-US" altLang="ja-JP" sz="1800" dirty="0">
                <a:solidFill>
                  <a:srgbClr val="0070C0"/>
                </a:solidFill>
                <a:latin typeface="Calibri" panose="020F0502020204030204"/>
                <a:ea typeface="游ゴシック" panose="020B0400000000000000" pitchFamily="34" charset="-128"/>
              </a:rPr>
              <a:t>What conditions ensure that a discrete state space Markov chain has a </a:t>
            </a:r>
            <a:r>
              <a:rPr lang="en-US" altLang="ja-JP" sz="1800" b="1" dirty="0">
                <a:solidFill>
                  <a:srgbClr val="0070C0"/>
                </a:solidFill>
                <a:latin typeface="Calibri" panose="020F0502020204030204"/>
                <a:ea typeface="游ゴシック" panose="020B0400000000000000" pitchFamily="34" charset="-128"/>
              </a:rPr>
              <a:t>stationary distribution</a:t>
            </a:r>
            <a:r>
              <a:rPr lang="en-US" altLang="ja-JP" sz="1800" dirty="0">
                <a:solidFill>
                  <a:srgbClr val="0070C0"/>
                </a:solidFill>
                <a:latin typeface="Calibri" panose="020F0502020204030204"/>
                <a:ea typeface="游ゴシック" panose="020B0400000000000000" pitchFamily="34" charset="-128"/>
              </a:rPr>
              <a:t>? </a:t>
            </a:r>
            <a:br>
              <a:rPr lang="en-US" altLang="ja-JP" sz="1800" dirty="0">
                <a:solidFill>
                  <a:srgbClr val="0070C0"/>
                </a:solidFill>
                <a:latin typeface="Calibri" panose="020F0502020204030204"/>
                <a:ea typeface="游ゴシック" panose="020B0400000000000000" pitchFamily="34" charset="-128"/>
              </a:rPr>
            </a:br>
            <a:r>
              <a:rPr lang="en-US" altLang="ja-JP" sz="1800" dirty="0">
                <a:solidFill>
                  <a:srgbClr val="0070C0"/>
                </a:solidFill>
                <a:latin typeface="Calibri" panose="020F0502020204030204"/>
                <a:ea typeface="游ゴシック" panose="020B0400000000000000" pitchFamily="34" charset="-128"/>
              </a:rPr>
              <a:t>Are these conditions satisfied here? If so, find the stationary distribution.</a:t>
            </a:r>
          </a:p>
        </p:txBody>
      </p:sp>
      <p:sp>
        <p:nvSpPr>
          <p:cNvPr id="2056" name="TextBox 2055">
            <a:extLst>
              <a:ext uri="{FF2B5EF4-FFF2-40B4-BE49-F238E27FC236}">
                <a16:creationId xmlns:a16="http://schemas.microsoft.com/office/drawing/2014/main" id="{3CB94BB0-2F15-860E-5706-295701B34259}"/>
              </a:ext>
            </a:extLst>
          </p:cNvPr>
          <p:cNvSpPr txBox="1"/>
          <p:nvPr/>
        </p:nvSpPr>
        <p:spPr>
          <a:xfrm>
            <a:off x="319462" y="4251120"/>
            <a:ext cx="107630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lphaLcParenR" startAt="2"/>
            </a:pPr>
            <a:r>
              <a:rPr lang="en-US" altLang="ja-JP" sz="1800" dirty="0">
                <a:solidFill>
                  <a:srgbClr val="0070C0"/>
                </a:solidFill>
                <a:latin typeface="Calibri" panose="020F0502020204030204"/>
                <a:ea typeface="游ゴシック" panose="020B0400000000000000" pitchFamily="34" charset="-128"/>
              </a:rPr>
              <a:t>What conditions ensure that a discrete state space Markov chain has a </a:t>
            </a:r>
            <a:r>
              <a:rPr lang="en-US" altLang="ja-JP" sz="1800" b="1" dirty="0">
                <a:solidFill>
                  <a:srgbClr val="0070C0"/>
                </a:solidFill>
                <a:latin typeface="Calibri" panose="020F0502020204030204"/>
                <a:ea typeface="游ゴシック" panose="020B0400000000000000" pitchFamily="34" charset="-128"/>
              </a:rPr>
              <a:t>limiting distribution</a:t>
            </a:r>
            <a:r>
              <a:rPr lang="en-US" altLang="ja-JP" sz="1800" dirty="0">
                <a:solidFill>
                  <a:srgbClr val="0070C0"/>
                </a:solidFill>
                <a:latin typeface="Calibri" panose="020F0502020204030204"/>
                <a:ea typeface="游ゴシック" panose="020B0400000000000000" pitchFamily="34" charset="-128"/>
              </a:rPr>
              <a:t>? </a:t>
            </a:r>
            <a:br>
              <a:rPr lang="en-US" altLang="ja-JP" sz="1800" dirty="0">
                <a:solidFill>
                  <a:srgbClr val="0070C0"/>
                </a:solidFill>
                <a:latin typeface="Calibri" panose="020F0502020204030204"/>
                <a:ea typeface="游ゴシック" panose="020B0400000000000000" pitchFamily="34" charset="-128"/>
              </a:rPr>
            </a:br>
            <a:r>
              <a:rPr lang="en-US" altLang="ja-JP" sz="1800" dirty="0">
                <a:solidFill>
                  <a:srgbClr val="0070C0"/>
                </a:solidFill>
                <a:latin typeface="Calibri" panose="020F0502020204030204"/>
                <a:ea typeface="游ゴシック" panose="020B0400000000000000" pitchFamily="34" charset="-128"/>
              </a:rPr>
              <a:t>Are these conditions satisfied here? </a:t>
            </a:r>
            <a:endParaRPr lang="en-NZ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7" name="TextBox 2056">
                <a:extLst>
                  <a:ext uri="{FF2B5EF4-FFF2-40B4-BE49-F238E27FC236}">
                    <a16:creationId xmlns:a16="http://schemas.microsoft.com/office/drawing/2014/main" id="{07CF4C74-AE19-6726-217A-838C23C32DA7}"/>
                  </a:ext>
                </a:extLst>
              </p:cNvPr>
              <p:cNvSpPr txBox="1"/>
              <p:nvPr/>
            </p:nvSpPr>
            <p:spPr>
              <a:xfrm>
                <a:off x="319462" y="5074073"/>
                <a:ext cx="10804947" cy="4191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+mj-lt"/>
                  <a:buAutoNum type="alphaLcParenR" startAt="3"/>
                </a:pPr>
                <a:r>
                  <a:rPr lang="en-US" altLang="ja-JP" sz="1800" dirty="0">
                    <a:solidFill>
                      <a:srgbClr val="0070C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Given your answer to the above, give an expression for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kumimoji="1" lang="en-NZ" altLang="ja-JP" sz="1800" b="0" i="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lim</m:t>
                            </m:r>
                          </m:e>
                          <m:lim>
                            <m: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𝒏</m:t>
                            </m:r>
                            <m:r>
                              <m:rPr>
                                <m:lit/>
                              </m:rP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 </m:t>
                            </m:r>
                            <m: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kumimoji="1" lang="en-NZ" altLang="ja-JP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  <m:d>
                          <m:dPr>
                            <m:ctrlPr>
                              <a:rPr kumimoji="1" lang="en-NZ" altLang="ja-JP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NZ" altLang="ja-JP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p>
                              <m:sSupPr>
                                <m:ctrlPr>
                                  <a:rPr kumimoji="1" lang="en-NZ" altLang="ja-JP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NZ" altLang="ja-JP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kumimoji="1" lang="en-NZ" altLang="ja-JP" b="1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NZ" altLang="ja-JP" b="1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e>
                                </m:d>
                              </m:sup>
                            </m:sSup>
                            <m:r>
                              <a:rPr kumimoji="1" lang="en-NZ" altLang="ja-JP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kumimoji="1" lang="en-NZ" altLang="ja-JP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𝒋</m:t>
                            </m:r>
                            <m:r>
                              <a:rPr kumimoji="1" lang="en-NZ" altLang="ja-JP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</m:e>
                    </m:func>
                  </m:oMath>
                </a14:m>
                <a:r>
                  <a:rPr lang="en-NZ" dirty="0">
                    <a:solidFill>
                      <a:srgbClr val="0070C0"/>
                    </a:solidFill>
                  </a:rPr>
                  <a:t> for each </a:t>
                </a:r>
                <a14:m>
                  <m:oMath xmlns:m="http://schemas.openxmlformats.org/officeDocument/2006/math">
                    <m:r>
                      <a:rPr lang="en-NZ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NZ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=1, …, 5</m:t>
                    </m:r>
                  </m:oMath>
                </a14:m>
                <a:endParaRPr lang="en-NZ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057" name="TextBox 2056">
                <a:extLst>
                  <a:ext uri="{FF2B5EF4-FFF2-40B4-BE49-F238E27FC236}">
                    <a16:creationId xmlns:a16="http://schemas.microsoft.com/office/drawing/2014/main" id="{07CF4C74-AE19-6726-217A-838C23C32D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2" y="5074073"/>
                <a:ext cx="10804947" cy="419154"/>
              </a:xfrm>
              <a:prstGeom prst="rect">
                <a:avLst/>
              </a:prstGeom>
              <a:blipFill>
                <a:blip r:embed="rId4"/>
                <a:stretch>
                  <a:fillRect l="-451" b="-17391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58" name="TextBox 2057">
                <a:extLst>
                  <a:ext uri="{FF2B5EF4-FFF2-40B4-BE49-F238E27FC236}">
                    <a16:creationId xmlns:a16="http://schemas.microsoft.com/office/drawing/2014/main" id="{180BC43B-B59A-60FA-1018-FB271A628AC0}"/>
                  </a:ext>
                </a:extLst>
              </p:cNvPr>
              <p:cNvSpPr txBox="1"/>
              <p:nvPr/>
            </p:nvSpPr>
            <p:spPr>
              <a:xfrm>
                <a:off x="319462" y="5649088"/>
                <a:ext cx="10763055" cy="4528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+mj-lt"/>
                  <a:buAutoNum type="alphaLcParenR" startAt="4"/>
                </a:pPr>
                <a:r>
                  <a:rPr lang="en-NZ" dirty="0">
                    <a:solidFill>
                      <a:srgbClr val="0070C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Give an expression for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kumimoji="1" lang="en-NZ" altLang="ja-JP" sz="1800" b="0" i="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lim</m:t>
                            </m:r>
                          </m:e>
                          <m:lim>
                            <m: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𝒏</m:t>
                            </m:r>
                            <m: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</m:ctrlPr>
                          </m:sSupPr>
                          <m:e>
                            <m: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𝑷</m:t>
                            </m:r>
                          </m:e>
                          <m:sup>
                            <m: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𝒏</m:t>
                            </m:r>
                          </m:sup>
                        </m:sSup>
                      </m:e>
                    </m:func>
                  </m:oMath>
                </a14:m>
                <a:r>
                  <a:rPr lang="en-NZ" dirty="0">
                    <a:solidFill>
                      <a:srgbClr val="0070C0"/>
                    </a:solidFill>
                  </a:rPr>
                  <a:t>. Check your answer by raising the matrix </a:t>
                </a:r>
                <a14:m>
                  <m:oMath xmlns:m="http://schemas.openxmlformats.org/officeDocument/2006/math">
                    <m:r>
                      <a:rPr lang="en-NZ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r>
                  <a:rPr lang="en-NZ" dirty="0">
                    <a:solidFill>
                      <a:srgbClr val="0070C0"/>
                    </a:solidFill>
                  </a:rPr>
                  <a:t> to successively higher powers in R.</a:t>
                </a:r>
              </a:p>
            </p:txBody>
          </p:sp>
        </mc:Choice>
        <mc:Fallback xmlns="">
          <p:sp>
            <p:nvSpPr>
              <p:cNvPr id="2058" name="TextBox 2057">
                <a:extLst>
                  <a:ext uri="{FF2B5EF4-FFF2-40B4-BE49-F238E27FC236}">
                    <a16:creationId xmlns:a16="http://schemas.microsoft.com/office/drawing/2014/main" id="{180BC43B-B59A-60FA-1018-FB271A628A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2" y="5649088"/>
                <a:ext cx="10763055" cy="452816"/>
              </a:xfrm>
              <a:prstGeom prst="rect">
                <a:avLst/>
              </a:prstGeom>
              <a:blipFill>
                <a:blip r:embed="rId5"/>
                <a:stretch>
                  <a:fillRect l="-453" t="-6757" b="-4054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59" name="TextBox 2058">
                <a:extLst>
                  <a:ext uri="{FF2B5EF4-FFF2-40B4-BE49-F238E27FC236}">
                    <a16:creationId xmlns:a16="http://schemas.microsoft.com/office/drawing/2014/main" id="{99AED9A8-6367-32F4-A9F5-6C187377931C}"/>
                  </a:ext>
                </a:extLst>
              </p:cNvPr>
              <p:cNvSpPr txBox="1"/>
              <p:nvPr/>
            </p:nvSpPr>
            <p:spPr>
              <a:xfrm>
                <a:off x="391880" y="1993609"/>
                <a:ext cx="13670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NZ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NZ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NZ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59" name="TextBox 2058">
                <a:extLst>
                  <a:ext uri="{FF2B5EF4-FFF2-40B4-BE49-F238E27FC236}">
                    <a16:creationId xmlns:a16="http://schemas.microsoft.com/office/drawing/2014/main" id="{99AED9A8-6367-32F4-A9F5-6C18737793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880" y="1993609"/>
                <a:ext cx="136705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B8DEF9AC-8B83-4C15-8E36-443DB79FDACC}"/>
              </a:ext>
            </a:extLst>
          </p:cNvPr>
          <p:cNvSpPr txBox="1">
            <a:spLocks/>
          </p:cNvSpPr>
          <p:nvPr/>
        </p:nvSpPr>
        <p:spPr>
          <a:xfrm>
            <a:off x="9444251" y="86139"/>
            <a:ext cx="2645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Question 3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9" name="Title 6">
            <a:extLst>
              <a:ext uri="{FF2B5EF4-FFF2-40B4-BE49-F238E27FC236}">
                <a16:creationId xmlns:a16="http://schemas.microsoft.com/office/drawing/2014/main" id="{9BFE9DDC-B439-CA60-333A-8360ABE2775E}"/>
              </a:ext>
            </a:extLst>
          </p:cNvPr>
          <p:cNvSpPr txBox="1">
            <a:spLocks/>
          </p:cNvSpPr>
          <p:nvPr/>
        </p:nvSpPr>
        <p:spPr>
          <a:xfrm>
            <a:off x="319464" y="196889"/>
            <a:ext cx="2819522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Question 3: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CADD009E-1663-3A78-61C8-59C0B9AC0384}"/>
              </a:ext>
            </a:extLst>
          </p:cNvPr>
          <p:cNvSpPr txBox="1">
            <a:spLocks/>
          </p:cNvSpPr>
          <p:nvPr/>
        </p:nvSpPr>
        <p:spPr>
          <a:xfrm>
            <a:off x="3011606" y="6551432"/>
            <a:ext cx="6168789" cy="3085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Associated code = </a:t>
            </a:r>
            <a:r>
              <a:rPr kumimoji="1" lang="en-NZ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Tutorial 4 – Q3</a:t>
            </a:r>
            <a:endParaRPr kumimoji="1" lang="en-US" altLang="ja-JP" sz="12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6849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65B06D6C-CCB3-4D8F-9171-6B4779FED53B}"/>
              </a:ext>
            </a:extLst>
          </p:cNvPr>
          <p:cNvSpPr txBox="1">
            <a:spLocks/>
          </p:cNvSpPr>
          <p:nvPr/>
        </p:nvSpPr>
        <p:spPr>
          <a:xfrm>
            <a:off x="319463" y="859039"/>
            <a:ext cx="6284610" cy="4471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Consider the discrete state space Markov chain defined below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5">
                <a:extLst>
                  <a:ext uri="{FF2B5EF4-FFF2-40B4-BE49-F238E27FC236}">
                    <a16:creationId xmlns:a16="http://schemas.microsoft.com/office/drawing/2014/main" id="{821F6F52-A425-0203-4963-D33DB0F9560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57859" y="1555113"/>
                <a:ext cx="4085230" cy="141521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kumimoji="1" lang="en-US" altLang="ja-JP" sz="180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ja-JP" sz="180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0</m:t>
                                </m:r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.00</m:t>
                                </m:r>
                              </m:e>
                              <m:e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0.80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US" altLang="ja-JP" sz="180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NZ" altLang="ja-JP" sz="1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0.00</m:t>
                                      </m:r>
                                    </m:e>
                                    <m:e>
                                      <m:r>
                                        <a:rPr lang="en-NZ" altLang="ja-JP" sz="1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0.00</m:t>
                                      </m:r>
                                    </m:e>
                                    <m:e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0.20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0.50</m:t>
                                </m:r>
                              </m:e>
                              <m:e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0.00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US" altLang="ja-JP" sz="180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0</m:t>
                                      </m:r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.25</m:t>
                                      </m:r>
                                    </m:e>
                                    <m:e>
                                      <m:r>
                                        <a:rPr lang="en-NZ" altLang="ja-JP" sz="1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0.00</m:t>
                                      </m:r>
                                    </m:e>
                                    <m:e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0.25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US" altLang="ja-JP" sz="180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NZ" altLang="ja-JP" sz="1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0.00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NZ" altLang="ja-JP" sz="1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0.00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0.50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US" altLang="ja-JP" sz="180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0</m:t>
                                      </m:r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.30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NZ" altLang="ja-JP" sz="1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0.00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NZ" altLang="ja-JP" sz="1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0.00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US" altLang="ja-JP" sz="180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US" altLang="ja-JP" sz="180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游ゴシック" panose="020B0400000000000000" pitchFamily="34" charset="-128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0</m:t>
                                            </m:r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.30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0.50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0.25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US" altLang="ja-JP" sz="180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游ゴシック" panose="020B0400000000000000" pitchFamily="34" charset="-128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0</m:t>
                                            </m:r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.40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NZ" altLang="ja-JP" sz="1800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0.00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0.25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US" altLang="ja-JP" sz="180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游ゴシック" panose="020B0400000000000000" pitchFamily="34" charset="-128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a:rPr lang="en-NZ" altLang="ja-JP" sz="1800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0.00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0.50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NZ" altLang="ja-JP" sz="1800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0.00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en-US" altLang="ja-JP" sz="180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2" name="Text Placeholder 5">
                <a:extLst>
                  <a:ext uri="{FF2B5EF4-FFF2-40B4-BE49-F238E27FC236}">
                    <a16:creationId xmlns:a16="http://schemas.microsoft.com/office/drawing/2014/main" id="{821F6F52-A425-0203-4963-D33DB0F956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7859" y="1555113"/>
                <a:ext cx="4085230" cy="14152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FE8653E7-8E70-F4E1-08CA-D9792B339E49}"/>
              </a:ext>
            </a:extLst>
          </p:cNvPr>
          <p:cNvSpPr txBox="1">
            <a:spLocks/>
          </p:cNvSpPr>
          <p:nvPr/>
        </p:nvSpPr>
        <p:spPr>
          <a:xfrm>
            <a:off x="1747609" y="1237886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1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FE5CB15-9C0E-FE0D-2961-0535AB9FE278}"/>
              </a:ext>
            </a:extLst>
          </p:cNvPr>
          <p:cNvSpPr txBox="1">
            <a:spLocks/>
          </p:cNvSpPr>
          <p:nvPr/>
        </p:nvSpPr>
        <p:spPr>
          <a:xfrm>
            <a:off x="2395878" y="1237886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2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3A3E02E9-26D6-CF28-7759-3DD9FD6EA0D5}"/>
              </a:ext>
            </a:extLst>
          </p:cNvPr>
          <p:cNvSpPr txBox="1">
            <a:spLocks/>
          </p:cNvSpPr>
          <p:nvPr/>
        </p:nvSpPr>
        <p:spPr>
          <a:xfrm>
            <a:off x="3076339" y="1237886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3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4642364A-7BEE-9ADD-6B41-0C3331B33A04}"/>
              </a:ext>
            </a:extLst>
          </p:cNvPr>
          <p:cNvSpPr txBox="1">
            <a:spLocks/>
          </p:cNvSpPr>
          <p:nvPr/>
        </p:nvSpPr>
        <p:spPr>
          <a:xfrm>
            <a:off x="3756800" y="1256413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4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ECE8E70A-5271-7FF6-EDF9-CB040FCF132C}"/>
              </a:ext>
            </a:extLst>
          </p:cNvPr>
          <p:cNvSpPr txBox="1">
            <a:spLocks/>
          </p:cNvSpPr>
          <p:nvPr/>
        </p:nvSpPr>
        <p:spPr>
          <a:xfrm>
            <a:off x="4405069" y="1256413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5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D0E0604C-7573-7D78-9A71-0FB3A528DB23}"/>
              </a:ext>
            </a:extLst>
          </p:cNvPr>
          <p:cNvSpPr txBox="1">
            <a:spLocks/>
          </p:cNvSpPr>
          <p:nvPr/>
        </p:nvSpPr>
        <p:spPr>
          <a:xfrm>
            <a:off x="1247539" y="1536586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1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22A22D0A-A2C5-A83D-56C0-C803CD786C07}"/>
              </a:ext>
            </a:extLst>
          </p:cNvPr>
          <p:cNvSpPr txBox="1">
            <a:spLocks/>
          </p:cNvSpPr>
          <p:nvPr/>
        </p:nvSpPr>
        <p:spPr>
          <a:xfrm>
            <a:off x="1247539" y="1796420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2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D66AC2D2-9809-3429-5D74-78F145AA3521}"/>
              </a:ext>
            </a:extLst>
          </p:cNvPr>
          <p:cNvSpPr txBox="1">
            <a:spLocks/>
          </p:cNvSpPr>
          <p:nvPr/>
        </p:nvSpPr>
        <p:spPr>
          <a:xfrm>
            <a:off x="1247539" y="2056254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3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CEAE0613-6590-2911-1973-6507FCD4B936}"/>
              </a:ext>
            </a:extLst>
          </p:cNvPr>
          <p:cNvSpPr txBox="1">
            <a:spLocks/>
          </p:cNvSpPr>
          <p:nvPr/>
        </p:nvSpPr>
        <p:spPr>
          <a:xfrm>
            <a:off x="1247539" y="2311446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4</a:t>
            </a:r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FFF4E0FB-70AF-1EB2-BD5B-711A81101109}"/>
              </a:ext>
            </a:extLst>
          </p:cNvPr>
          <p:cNvSpPr txBox="1">
            <a:spLocks/>
          </p:cNvSpPr>
          <p:nvPr/>
        </p:nvSpPr>
        <p:spPr>
          <a:xfrm>
            <a:off x="1253574" y="2555067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5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D583274-C45C-63F4-A94A-8F5EFD227638}"/>
              </a:ext>
            </a:extLst>
          </p:cNvPr>
          <p:cNvSpPr/>
          <p:nvPr/>
        </p:nvSpPr>
        <p:spPr>
          <a:xfrm>
            <a:off x="8496995" y="497414"/>
            <a:ext cx="354842" cy="38213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1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08BCE91-0957-382C-7B26-6B97A86E6D44}"/>
              </a:ext>
            </a:extLst>
          </p:cNvPr>
          <p:cNvSpPr/>
          <p:nvPr/>
        </p:nvSpPr>
        <p:spPr>
          <a:xfrm>
            <a:off x="10041466" y="1207097"/>
            <a:ext cx="354842" cy="38213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2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F2F9F241-4A9D-34B1-7DA8-D6D4425A7EFB}"/>
              </a:ext>
            </a:extLst>
          </p:cNvPr>
          <p:cNvSpPr/>
          <p:nvPr/>
        </p:nvSpPr>
        <p:spPr>
          <a:xfrm>
            <a:off x="9311311" y="2780003"/>
            <a:ext cx="354842" cy="38213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3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240B1616-E0C0-5FF6-6200-E302F2BC3923}"/>
              </a:ext>
            </a:extLst>
          </p:cNvPr>
          <p:cNvSpPr/>
          <p:nvPr/>
        </p:nvSpPr>
        <p:spPr>
          <a:xfrm>
            <a:off x="7757740" y="2780003"/>
            <a:ext cx="354842" cy="38213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4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CEEE3291-C116-2E71-3867-E28A7DFAA3CA}"/>
              </a:ext>
            </a:extLst>
          </p:cNvPr>
          <p:cNvSpPr/>
          <p:nvPr/>
        </p:nvSpPr>
        <p:spPr>
          <a:xfrm>
            <a:off x="6979818" y="1207097"/>
            <a:ext cx="354842" cy="38213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5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9E9D28C-3F8B-62F6-6B77-4A6900C19AF0}"/>
              </a:ext>
            </a:extLst>
          </p:cNvPr>
          <p:cNvCxnSpPr>
            <a:cxnSpLocks/>
          </p:cNvCxnSpPr>
          <p:nvPr/>
        </p:nvCxnSpPr>
        <p:spPr>
          <a:xfrm flipH="1">
            <a:off x="9689246" y="1608682"/>
            <a:ext cx="604699" cy="124673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25B6559-6924-0E21-9376-8B9F9745D25C}"/>
              </a:ext>
            </a:extLst>
          </p:cNvPr>
          <p:cNvCxnSpPr>
            <a:cxnSpLocks/>
            <a:endCxn id="38" idx="3"/>
          </p:cNvCxnSpPr>
          <p:nvPr/>
        </p:nvCxnSpPr>
        <p:spPr>
          <a:xfrm flipV="1">
            <a:off x="9489780" y="1533270"/>
            <a:ext cx="603651" cy="119794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A31F77F-4A98-F9E6-0C19-B793CB7833CE}"/>
              </a:ext>
            </a:extLst>
          </p:cNvPr>
          <p:cNvCxnSpPr>
            <a:cxnSpLocks/>
            <a:stCxn id="40" idx="7"/>
            <a:endCxn id="39" idx="1"/>
          </p:cNvCxnSpPr>
          <p:nvPr/>
        </p:nvCxnSpPr>
        <p:spPr>
          <a:xfrm>
            <a:off x="8060617" y="2835966"/>
            <a:ext cx="130265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3499911-8054-6F83-3628-BFC38CE4B6A5}"/>
              </a:ext>
            </a:extLst>
          </p:cNvPr>
          <p:cNvCxnSpPr>
            <a:cxnSpLocks/>
            <a:stCxn id="39" idx="3"/>
            <a:endCxn id="40" idx="5"/>
          </p:cNvCxnSpPr>
          <p:nvPr/>
        </p:nvCxnSpPr>
        <p:spPr>
          <a:xfrm flipH="1">
            <a:off x="8060617" y="3106176"/>
            <a:ext cx="130265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8CE8EA4-E685-EE84-1B09-5FA6627CC859}"/>
              </a:ext>
            </a:extLst>
          </p:cNvPr>
          <p:cNvCxnSpPr>
            <a:cxnSpLocks/>
          </p:cNvCxnSpPr>
          <p:nvPr/>
        </p:nvCxnSpPr>
        <p:spPr>
          <a:xfrm>
            <a:off x="7457490" y="1569111"/>
            <a:ext cx="1853821" cy="109591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AD57B54C-C8AE-F003-4AEC-F5C20A5854ED}"/>
              </a:ext>
            </a:extLst>
          </p:cNvPr>
          <p:cNvCxnSpPr>
            <a:cxnSpLocks/>
            <a:stCxn id="40" idx="2"/>
          </p:cNvCxnSpPr>
          <p:nvPr/>
        </p:nvCxnSpPr>
        <p:spPr>
          <a:xfrm flipH="1" flipV="1">
            <a:off x="7079462" y="1596402"/>
            <a:ext cx="678278" cy="137466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46CA938-23EB-2081-50DA-3EAFAE6C45D9}"/>
              </a:ext>
            </a:extLst>
          </p:cNvPr>
          <p:cNvCxnSpPr>
            <a:cxnSpLocks/>
            <a:endCxn id="40" idx="0"/>
          </p:cNvCxnSpPr>
          <p:nvPr/>
        </p:nvCxnSpPr>
        <p:spPr>
          <a:xfrm>
            <a:off x="7306445" y="1513147"/>
            <a:ext cx="628716" cy="126685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9532D890-8B8E-51E3-E873-F7C611FDDD30}"/>
              </a:ext>
            </a:extLst>
          </p:cNvPr>
          <p:cNvCxnSpPr>
            <a:cxnSpLocks/>
            <a:stCxn id="41" idx="0"/>
            <a:endCxn id="36" idx="1"/>
          </p:cNvCxnSpPr>
          <p:nvPr/>
        </p:nvCxnSpPr>
        <p:spPr>
          <a:xfrm flipV="1">
            <a:off x="7157239" y="553377"/>
            <a:ext cx="1391721" cy="65372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C42B740C-C5ED-5091-A1AC-FF7B5E8CE06C}"/>
              </a:ext>
            </a:extLst>
          </p:cNvPr>
          <p:cNvCxnSpPr>
            <a:cxnSpLocks/>
            <a:stCxn id="36" idx="3"/>
            <a:endCxn id="41" idx="6"/>
          </p:cNvCxnSpPr>
          <p:nvPr/>
        </p:nvCxnSpPr>
        <p:spPr>
          <a:xfrm flipH="1">
            <a:off x="7334660" y="823587"/>
            <a:ext cx="1214300" cy="57457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F981E981-6287-7C35-AA9D-020A12BE53AD}"/>
              </a:ext>
            </a:extLst>
          </p:cNvPr>
          <p:cNvCxnSpPr>
            <a:cxnSpLocks/>
            <a:stCxn id="36" idx="7"/>
            <a:endCxn id="38" idx="0"/>
          </p:cNvCxnSpPr>
          <p:nvPr/>
        </p:nvCxnSpPr>
        <p:spPr>
          <a:xfrm>
            <a:off x="8799872" y="553377"/>
            <a:ext cx="1419015" cy="65372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2596BA6A-A1E1-50D8-9F88-24823627BB96}"/>
              </a:ext>
            </a:extLst>
          </p:cNvPr>
          <p:cNvCxnSpPr>
            <a:cxnSpLocks/>
            <a:stCxn id="38" idx="2"/>
            <a:endCxn id="36" idx="5"/>
          </p:cNvCxnSpPr>
          <p:nvPr/>
        </p:nvCxnSpPr>
        <p:spPr>
          <a:xfrm flipH="1" flipV="1">
            <a:off x="8799872" y="823587"/>
            <a:ext cx="1241594" cy="57457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BDB35D8-9F3D-426C-1CF2-DEB344BB5564}"/>
              </a:ext>
            </a:extLst>
          </p:cNvPr>
          <p:cNvCxnSpPr>
            <a:cxnSpLocks/>
            <a:stCxn id="38" idx="2"/>
          </p:cNvCxnSpPr>
          <p:nvPr/>
        </p:nvCxnSpPr>
        <p:spPr>
          <a:xfrm flipH="1">
            <a:off x="7394761" y="1398165"/>
            <a:ext cx="2646705" cy="5321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 Placeholder 5">
            <a:extLst>
              <a:ext uri="{FF2B5EF4-FFF2-40B4-BE49-F238E27FC236}">
                <a16:creationId xmlns:a16="http://schemas.microsoft.com/office/drawing/2014/main" id="{5C514145-B1BB-5F85-5FCD-B59CC7BBC58A}"/>
              </a:ext>
            </a:extLst>
          </p:cNvPr>
          <p:cNvSpPr txBox="1">
            <a:spLocks/>
          </p:cNvSpPr>
          <p:nvPr/>
        </p:nvSpPr>
        <p:spPr>
          <a:xfrm>
            <a:off x="9363276" y="539132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0.8</a:t>
            </a:r>
          </a:p>
        </p:txBody>
      </p:sp>
      <p:sp>
        <p:nvSpPr>
          <p:cNvPr id="57" name="Text Placeholder 5">
            <a:extLst>
              <a:ext uri="{FF2B5EF4-FFF2-40B4-BE49-F238E27FC236}">
                <a16:creationId xmlns:a16="http://schemas.microsoft.com/office/drawing/2014/main" id="{B5BC2088-040F-D6B2-723A-2BA468157C54}"/>
              </a:ext>
            </a:extLst>
          </p:cNvPr>
          <p:cNvSpPr txBox="1">
            <a:spLocks/>
          </p:cNvSpPr>
          <p:nvPr/>
        </p:nvSpPr>
        <p:spPr>
          <a:xfrm>
            <a:off x="7910493" y="964361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0.2</a:t>
            </a:r>
          </a:p>
        </p:txBody>
      </p:sp>
      <p:sp>
        <p:nvSpPr>
          <p:cNvPr id="58" name="Text Placeholder 5">
            <a:extLst>
              <a:ext uri="{FF2B5EF4-FFF2-40B4-BE49-F238E27FC236}">
                <a16:creationId xmlns:a16="http://schemas.microsoft.com/office/drawing/2014/main" id="{CAF9613A-3FE7-69EA-9496-3E73FCC788C9}"/>
              </a:ext>
            </a:extLst>
          </p:cNvPr>
          <p:cNvSpPr txBox="1">
            <a:spLocks/>
          </p:cNvSpPr>
          <p:nvPr/>
        </p:nvSpPr>
        <p:spPr>
          <a:xfrm>
            <a:off x="9947765" y="2117066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0.25</a:t>
            </a:r>
          </a:p>
        </p:txBody>
      </p:sp>
      <p:sp>
        <p:nvSpPr>
          <p:cNvPr id="59" name="Text Placeholder 5">
            <a:extLst>
              <a:ext uri="{FF2B5EF4-FFF2-40B4-BE49-F238E27FC236}">
                <a16:creationId xmlns:a16="http://schemas.microsoft.com/office/drawing/2014/main" id="{AB8DB633-A7FE-84C5-121E-5FAC72A1E119}"/>
              </a:ext>
            </a:extLst>
          </p:cNvPr>
          <p:cNvSpPr txBox="1">
            <a:spLocks/>
          </p:cNvSpPr>
          <p:nvPr/>
        </p:nvSpPr>
        <p:spPr>
          <a:xfrm>
            <a:off x="8353690" y="1398165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0.25</a:t>
            </a:r>
          </a:p>
        </p:txBody>
      </p:sp>
      <p:sp>
        <p:nvSpPr>
          <p:cNvPr id="60" name="Text Placeholder 5">
            <a:extLst>
              <a:ext uri="{FF2B5EF4-FFF2-40B4-BE49-F238E27FC236}">
                <a16:creationId xmlns:a16="http://schemas.microsoft.com/office/drawing/2014/main" id="{1386B1A4-587A-F421-80F3-749C6DED08B0}"/>
              </a:ext>
            </a:extLst>
          </p:cNvPr>
          <p:cNvSpPr txBox="1">
            <a:spLocks/>
          </p:cNvSpPr>
          <p:nvPr/>
        </p:nvSpPr>
        <p:spPr>
          <a:xfrm>
            <a:off x="8861110" y="1018768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0.5</a:t>
            </a:r>
          </a:p>
        </p:txBody>
      </p:sp>
      <p:sp>
        <p:nvSpPr>
          <p:cNvPr id="61" name="Text Placeholder 5">
            <a:extLst>
              <a:ext uri="{FF2B5EF4-FFF2-40B4-BE49-F238E27FC236}">
                <a16:creationId xmlns:a16="http://schemas.microsoft.com/office/drawing/2014/main" id="{3988B68F-9992-4A5D-FAFE-C4B961D4B182}"/>
              </a:ext>
            </a:extLst>
          </p:cNvPr>
          <p:cNvSpPr txBox="1">
            <a:spLocks/>
          </p:cNvSpPr>
          <p:nvPr/>
        </p:nvSpPr>
        <p:spPr>
          <a:xfrm>
            <a:off x="9244031" y="1815462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0.3</a:t>
            </a:r>
          </a:p>
        </p:txBody>
      </p:sp>
      <p:sp>
        <p:nvSpPr>
          <p:cNvPr id="62" name="Text Placeholder 5">
            <a:extLst>
              <a:ext uri="{FF2B5EF4-FFF2-40B4-BE49-F238E27FC236}">
                <a16:creationId xmlns:a16="http://schemas.microsoft.com/office/drawing/2014/main" id="{355D810A-2DE4-699A-AED1-3946815DEFC1}"/>
              </a:ext>
            </a:extLst>
          </p:cNvPr>
          <p:cNvSpPr txBox="1">
            <a:spLocks/>
          </p:cNvSpPr>
          <p:nvPr/>
        </p:nvSpPr>
        <p:spPr>
          <a:xfrm>
            <a:off x="9788319" y="2944862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0.3</a:t>
            </a:r>
          </a:p>
        </p:txBody>
      </p:sp>
      <p:cxnSp>
        <p:nvCxnSpPr>
          <p:cNvPr id="63" name="Connector: Curved 62">
            <a:extLst>
              <a:ext uri="{FF2B5EF4-FFF2-40B4-BE49-F238E27FC236}">
                <a16:creationId xmlns:a16="http://schemas.microsoft.com/office/drawing/2014/main" id="{E7E271C7-CF60-19D8-AF68-24824C9DBBCC}"/>
              </a:ext>
            </a:extLst>
          </p:cNvPr>
          <p:cNvCxnSpPr>
            <a:cxnSpLocks/>
            <a:stCxn id="39" idx="4"/>
            <a:endCxn id="39" idx="6"/>
          </p:cNvCxnSpPr>
          <p:nvPr/>
        </p:nvCxnSpPr>
        <p:spPr>
          <a:xfrm rot="5400000" flipH="1" flipV="1">
            <a:off x="9481908" y="2977894"/>
            <a:ext cx="191068" cy="177421"/>
          </a:xfrm>
          <a:prstGeom prst="curvedConnector4">
            <a:avLst>
              <a:gd name="adj1" fmla="val -119643"/>
              <a:gd name="adj2" fmla="val 22884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8" name="Text Placeholder 5">
            <a:extLst>
              <a:ext uri="{FF2B5EF4-FFF2-40B4-BE49-F238E27FC236}">
                <a16:creationId xmlns:a16="http://schemas.microsoft.com/office/drawing/2014/main" id="{924E60DB-0A47-3A16-1FB7-A0F492B2EA4D}"/>
              </a:ext>
            </a:extLst>
          </p:cNvPr>
          <p:cNvSpPr txBox="1">
            <a:spLocks/>
          </p:cNvSpPr>
          <p:nvPr/>
        </p:nvSpPr>
        <p:spPr>
          <a:xfrm>
            <a:off x="8475737" y="3073185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0.4</a:t>
            </a:r>
          </a:p>
        </p:txBody>
      </p:sp>
      <p:sp>
        <p:nvSpPr>
          <p:cNvPr id="2049" name="Text Placeholder 5">
            <a:extLst>
              <a:ext uri="{FF2B5EF4-FFF2-40B4-BE49-F238E27FC236}">
                <a16:creationId xmlns:a16="http://schemas.microsoft.com/office/drawing/2014/main" id="{837367DA-AFB6-081E-660D-090CA06176AE}"/>
              </a:ext>
            </a:extLst>
          </p:cNvPr>
          <p:cNvSpPr txBox="1">
            <a:spLocks/>
          </p:cNvSpPr>
          <p:nvPr/>
        </p:nvSpPr>
        <p:spPr>
          <a:xfrm>
            <a:off x="8360165" y="2486141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0.5</a:t>
            </a:r>
          </a:p>
        </p:txBody>
      </p:sp>
      <p:sp>
        <p:nvSpPr>
          <p:cNvPr id="2051" name="Text Placeholder 5">
            <a:extLst>
              <a:ext uri="{FF2B5EF4-FFF2-40B4-BE49-F238E27FC236}">
                <a16:creationId xmlns:a16="http://schemas.microsoft.com/office/drawing/2014/main" id="{320B4B26-801D-DB12-D99C-26DB22EF218A}"/>
              </a:ext>
            </a:extLst>
          </p:cNvPr>
          <p:cNvSpPr txBox="1">
            <a:spLocks/>
          </p:cNvSpPr>
          <p:nvPr/>
        </p:nvSpPr>
        <p:spPr>
          <a:xfrm>
            <a:off x="7394541" y="580850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0.5</a:t>
            </a:r>
          </a:p>
        </p:txBody>
      </p:sp>
      <p:sp>
        <p:nvSpPr>
          <p:cNvPr id="2052" name="Text Placeholder 5">
            <a:extLst>
              <a:ext uri="{FF2B5EF4-FFF2-40B4-BE49-F238E27FC236}">
                <a16:creationId xmlns:a16="http://schemas.microsoft.com/office/drawing/2014/main" id="{DB68A977-474A-CACD-A557-9302EBA1E96C}"/>
              </a:ext>
            </a:extLst>
          </p:cNvPr>
          <p:cNvSpPr txBox="1">
            <a:spLocks/>
          </p:cNvSpPr>
          <p:nvPr/>
        </p:nvSpPr>
        <p:spPr>
          <a:xfrm>
            <a:off x="8352372" y="1878276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0.25</a:t>
            </a:r>
          </a:p>
        </p:txBody>
      </p:sp>
      <p:sp>
        <p:nvSpPr>
          <p:cNvPr id="2053" name="Text Placeholder 5">
            <a:extLst>
              <a:ext uri="{FF2B5EF4-FFF2-40B4-BE49-F238E27FC236}">
                <a16:creationId xmlns:a16="http://schemas.microsoft.com/office/drawing/2014/main" id="{B87D9889-2A60-1F64-B9BA-60D789C085C3}"/>
              </a:ext>
            </a:extLst>
          </p:cNvPr>
          <p:cNvSpPr txBox="1">
            <a:spLocks/>
          </p:cNvSpPr>
          <p:nvPr/>
        </p:nvSpPr>
        <p:spPr>
          <a:xfrm>
            <a:off x="7646190" y="2093603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0.25</a:t>
            </a:r>
          </a:p>
        </p:txBody>
      </p:sp>
      <p:sp>
        <p:nvSpPr>
          <p:cNvPr id="2054" name="Text Placeholder 5">
            <a:extLst>
              <a:ext uri="{FF2B5EF4-FFF2-40B4-BE49-F238E27FC236}">
                <a16:creationId xmlns:a16="http://schemas.microsoft.com/office/drawing/2014/main" id="{7C7C62E6-A517-B96D-0964-20ECBE8FFFF3}"/>
              </a:ext>
            </a:extLst>
          </p:cNvPr>
          <p:cNvSpPr txBox="1">
            <a:spLocks/>
          </p:cNvSpPr>
          <p:nvPr/>
        </p:nvSpPr>
        <p:spPr>
          <a:xfrm>
            <a:off x="319463" y="3457626"/>
            <a:ext cx="6660356" cy="6933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LcParenR"/>
              <a:tabLst/>
              <a:defRPr/>
            </a:pPr>
            <a:r>
              <a:rPr lang="en-US" altLang="ja-JP" sz="1800" dirty="0">
                <a:solidFill>
                  <a:srgbClr val="0070C0"/>
                </a:solidFill>
                <a:latin typeface="Calibri" panose="020F0502020204030204"/>
                <a:ea typeface="游ゴシック" panose="020B0400000000000000" pitchFamily="34" charset="-128"/>
              </a:rPr>
              <a:t>What conditions ensure that a discrete state space Markov chain has a </a:t>
            </a:r>
            <a:r>
              <a:rPr lang="en-US" altLang="ja-JP" sz="1800" b="1" dirty="0">
                <a:solidFill>
                  <a:srgbClr val="0070C0"/>
                </a:solidFill>
                <a:latin typeface="Calibri" panose="020F0502020204030204"/>
                <a:ea typeface="游ゴシック" panose="020B0400000000000000" pitchFamily="34" charset="-128"/>
              </a:rPr>
              <a:t>stationary distribution</a:t>
            </a:r>
            <a:r>
              <a:rPr lang="en-US" altLang="ja-JP" sz="1800" dirty="0">
                <a:solidFill>
                  <a:srgbClr val="0070C0"/>
                </a:solidFill>
                <a:latin typeface="Calibri" panose="020F0502020204030204"/>
                <a:ea typeface="游ゴシック" panose="020B0400000000000000" pitchFamily="34" charset="-128"/>
              </a:rPr>
              <a:t>? Are these conditions satisfied here? If so, find the stationary distribution.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9" name="TextBox 2058">
                <a:extLst>
                  <a:ext uri="{FF2B5EF4-FFF2-40B4-BE49-F238E27FC236}">
                    <a16:creationId xmlns:a16="http://schemas.microsoft.com/office/drawing/2014/main" id="{99AED9A8-6367-32F4-A9F5-6C187377931C}"/>
                  </a:ext>
                </a:extLst>
              </p:cNvPr>
              <p:cNvSpPr txBox="1"/>
              <p:nvPr/>
            </p:nvSpPr>
            <p:spPr>
              <a:xfrm>
                <a:off x="391880" y="1993609"/>
                <a:ext cx="13670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NZ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NZ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NZ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59" name="TextBox 2058">
                <a:extLst>
                  <a:ext uri="{FF2B5EF4-FFF2-40B4-BE49-F238E27FC236}">
                    <a16:creationId xmlns:a16="http://schemas.microsoft.com/office/drawing/2014/main" id="{99AED9A8-6367-32F4-A9F5-6C18737793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880" y="1993609"/>
                <a:ext cx="136705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DAD26423-D596-B85C-208B-97D66D300F1C}"/>
              </a:ext>
            </a:extLst>
          </p:cNvPr>
          <p:cNvSpPr txBox="1">
            <a:spLocks/>
          </p:cNvSpPr>
          <p:nvPr/>
        </p:nvSpPr>
        <p:spPr>
          <a:xfrm>
            <a:off x="672405" y="4384451"/>
            <a:ext cx="6407057" cy="16129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ja-JP" sz="1600" dirty="0">
                <a:solidFill>
                  <a:schemeClr val="tx1"/>
                </a:solidFill>
                <a:latin typeface="Calibri" panose="020F0502020204030204"/>
                <a:ea typeface="游ゴシック" panose="020B0400000000000000" pitchFamily="34" charset="-128"/>
              </a:rPr>
              <a:t>If a discrete state space Markov chain is irreducible and positive recurrent, =&gt; it has a stationary distribution (see Theorem 5 of lecture notes). </a:t>
            </a:r>
          </a:p>
          <a:p>
            <a:pPr marR="0" lvl="0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ja-JP" sz="1600" dirty="0">
              <a:solidFill>
                <a:schemeClr val="tx1"/>
              </a:solidFill>
              <a:latin typeface="Calibri" panose="020F0502020204030204"/>
              <a:ea typeface="游ゴシック" panose="020B0400000000000000" pitchFamily="34" charset="-128"/>
            </a:endParaRPr>
          </a:p>
          <a:p>
            <a:pPr marR="0" lvl="0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ja-JP" sz="1600" dirty="0">
                <a:solidFill>
                  <a:schemeClr val="tx1"/>
                </a:solidFill>
                <a:latin typeface="Calibri" panose="020F0502020204030204"/>
                <a:ea typeface="游ゴシック" panose="020B0400000000000000" pitchFamily="34" charset="-128"/>
              </a:rPr>
              <a:t>This chain is irreducible (only one communication class) and positive recurrent (an irreducible Markov chain with a </a:t>
            </a:r>
            <a:r>
              <a:rPr lang="en-US" altLang="ja-JP" sz="1600" b="1" dirty="0">
                <a:solidFill>
                  <a:schemeClr val="tx1"/>
                </a:solidFill>
                <a:latin typeface="Calibri" panose="020F0502020204030204"/>
                <a:ea typeface="游ゴシック" panose="020B0400000000000000" pitchFamily="34" charset="-128"/>
              </a:rPr>
              <a:t>finite</a:t>
            </a:r>
            <a:r>
              <a:rPr lang="en-US" altLang="ja-JP" sz="1600" dirty="0">
                <a:solidFill>
                  <a:schemeClr val="tx1"/>
                </a:solidFill>
                <a:latin typeface="Calibri" panose="020F0502020204030204"/>
                <a:ea typeface="游ゴシック" panose="020B0400000000000000" pitchFamily="34" charset="-128"/>
              </a:rPr>
              <a:t> state space can’t be transient or null recurrent). As such the chain has a stationary distribution.</a:t>
            </a:r>
            <a:endParaRPr lang="en-US" altLang="ja-JP" sz="1600" dirty="0">
              <a:solidFill>
                <a:srgbClr val="0070C0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BE8AE2DD-F4C7-A42B-B091-88649C346350}"/>
              </a:ext>
            </a:extLst>
          </p:cNvPr>
          <p:cNvSpPr txBox="1">
            <a:spLocks/>
          </p:cNvSpPr>
          <p:nvPr/>
        </p:nvSpPr>
        <p:spPr>
          <a:xfrm>
            <a:off x="9444251" y="86139"/>
            <a:ext cx="2645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Question 3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12" name="Title 6">
            <a:extLst>
              <a:ext uri="{FF2B5EF4-FFF2-40B4-BE49-F238E27FC236}">
                <a16:creationId xmlns:a16="http://schemas.microsoft.com/office/drawing/2014/main" id="{CAA8669B-2A17-EACA-5CC5-31A862F6E38D}"/>
              </a:ext>
            </a:extLst>
          </p:cNvPr>
          <p:cNvSpPr txBox="1">
            <a:spLocks/>
          </p:cNvSpPr>
          <p:nvPr/>
        </p:nvSpPr>
        <p:spPr>
          <a:xfrm>
            <a:off x="319464" y="196889"/>
            <a:ext cx="2819522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Question 3: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A2C3CC24-ACBB-5449-D410-09C281412834}"/>
              </a:ext>
            </a:extLst>
          </p:cNvPr>
          <p:cNvSpPr txBox="1">
            <a:spLocks/>
          </p:cNvSpPr>
          <p:nvPr/>
        </p:nvSpPr>
        <p:spPr>
          <a:xfrm>
            <a:off x="3011606" y="6551432"/>
            <a:ext cx="6168789" cy="3085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Associated code = </a:t>
            </a:r>
            <a:r>
              <a:rPr kumimoji="1" lang="en-NZ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Tutorial 4 – Q3</a:t>
            </a:r>
            <a:endParaRPr kumimoji="1" lang="en-US" altLang="ja-JP" sz="12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2249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65B06D6C-CCB3-4D8F-9171-6B4779FED53B}"/>
              </a:ext>
            </a:extLst>
          </p:cNvPr>
          <p:cNvSpPr txBox="1">
            <a:spLocks/>
          </p:cNvSpPr>
          <p:nvPr/>
        </p:nvSpPr>
        <p:spPr>
          <a:xfrm>
            <a:off x="319463" y="859039"/>
            <a:ext cx="6284610" cy="4471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Consider the discrete state space Markov chain defined below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5">
                <a:extLst>
                  <a:ext uri="{FF2B5EF4-FFF2-40B4-BE49-F238E27FC236}">
                    <a16:creationId xmlns:a16="http://schemas.microsoft.com/office/drawing/2014/main" id="{821F6F52-A425-0203-4963-D33DB0F9560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57859" y="1555113"/>
                <a:ext cx="4085230" cy="141521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kumimoji="1" lang="en-US" altLang="ja-JP" sz="180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ja-JP" sz="180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0</m:t>
                                </m:r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.00</m:t>
                                </m:r>
                              </m:e>
                              <m:e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0.80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US" altLang="ja-JP" sz="180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NZ" altLang="ja-JP" sz="1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0.00</m:t>
                                      </m:r>
                                    </m:e>
                                    <m:e>
                                      <m:r>
                                        <a:rPr lang="en-NZ" altLang="ja-JP" sz="1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0.00</m:t>
                                      </m:r>
                                    </m:e>
                                    <m:e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0.20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0.50</m:t>
                                </m:r>
                              </m:e>
                              <m:e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0.00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US" altLang="ja-JP" sz="180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0</m:t>
                                      </m:r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.25</m:t>
                                      </m:r>
                                    </m:e>
                                    <m:e>
                                      <m:r>
                                        <a:rPr lang="en-NZ" altLang="ja-JP" sz="1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0.00</m:t>
                                      </m:r>
                                    </m:e>
                                    <m:e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0.25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US" altLang="ja-JP" sz="180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NZ" altLang="ja-JP" sz="1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0.00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NZ" altLang="ja-JP" sz="1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0.00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0.50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US" altLang="ja-JP" sz="180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0</m:t>
                                      </m:r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.30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NZ" altLang="ja-JP" sz="1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0.00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NZ" altLang="ja-JP" sz="1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0.00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US" altLang="ja-JP" sz="180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US" altLang="ja-JP" sz="180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游ゴシック" panose="020B0400000000000000" pitchFamily="34" charset="-128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0</m:t>
                                            </m:r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.30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0.50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0.25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US" altLang="ja-JP" sz="180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游ゴシック" panose="020B0400000000000000" pitchFamily="34" charset="-128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0</m:t>
                                            </m:r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.40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NZ" altLang="ja-JP" sz="1800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0.00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0.25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US" altLang="ja-JP" sz="180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游ゴシック" panose="020B0400000000000000" pitchFamily="34" charset="-128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a:rPr lang="en-NZ" altLang="ja-JP" sz="1800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0.00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0.50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NZ" altLang="ja-JP" sz="1800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0.00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en-US" altLang="ja-JP" sz="180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2" name="Text Placeholder 5">
                <a:extLst>
                  <a:ext uri="{FF2B5EF4-FFF2-40B4-BE49-F238E27FC236}">
                    <a16:creationId xmlns:a16="http://schemas.microsoft.com/office/drawing/2014/main" id="{821F6F52-A425-0203-4963-D33DB0F956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7859" y="1555113"/>
                <a:ext cx="4085230" cy="14152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FE8653E7-8E70-F4E1-08CA-D9792B339E49}"/>
              </a:ext>
            </a:extLst>
          </p:cNvPr>
          <p:cNvSpPr txBox="1">
            <a:spLocks/>
          </p:cNvSpPr>
          <p:nvPr/>
        </p:nvSpPr>
        <p:spPr>
          <a:xfrm>
            <a:off x="1747609" y="1237886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1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FE5CB15-9C0E-FE0D-2961-0535AB9FE278}"/>
              </a:ext>
            </a:extLst>
          </p:cNvPr>
          <p:cNvSpPr txBox="1">
            <a:spLocks/>
          </p:cNvSpPr>
          <p:nvPr/>
        </p:nvSpPr>
        <p:spPr>
          <a:xfrm>
            <a:off x="2395878" y="1237886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2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3A3E02E9-26D6-CF28-7759-3DD9FD6EA0D5}"/>
              </a:ext>
            </a:extLst>
          </p:cNvPr>
          <p:cNvSpPr txBox="1">
            <a:spLocks/>
          </p:cNvSpPr>
          <p:nvPr/>
        </p:nvSpPr>
        <p:spPr>
          <a:xfrm>
            <a:off x="3076339" y="1237886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3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4642364A-7BEE-9ADD-6B41-0C3331B33A04}"/>
              </a:ext>
            </a:extLst>
          </p:cNvPr>
          <p:cNvSpPr txBox="1">
            <a:spLocks/>
          </p:cNvSpPr>
          <p:nvPr/>
        </p:nvSpPr>
        <p:spPr>
          <a:xfrm>
            <a:off x="3756800" y="1256413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4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ECE8E70A-5271-7FF6-EDF9-CB040FCF132C}"/>
              </a:ext>
            </a:extLst>
          </p:cNvPr>
          <p:cNvSpPr txBox="1">
            <a:spLocks/>
          </p:cNvSpPr>
          <p:nvPr/>
        </p:nvSpPr>
        <p:spPr>
          <a:xfrm>
            <a:off x="4405069" y="1256413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5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D0E0604C-7573-7D78-9A71-0FB3A528DB23}"/>
              </a:ext>
            </a:extLst>
          </p:cNvPr>
          <p:cNvSpPr txBox="1">
            <a:spLocks/>
          </p:cNvSpPr>
          <p:nvPr/>
        </p:nvSpPr>
        <p:spPr>
          <a:xfrm>
            <a:off x="1247539" y="1536586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1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22A22D0A-A2C5-A83D-56C0-C803CD786C07}"/>
              </a:ext>
            </a:extLst>
          </p:cNvPr>
          <p:cNvSpPr txBox="1">
            <a:spLocks/>
          </p:cNvSpPr>
          <p:nvPr/>
        </p:nvSpPr>
        <p:spPr>
          <a:xfrm>
            <a:off x="1247539" y="1796420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2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D66AC2D2-9809-3429-5D74-78F145AA3521}"/>
              </a:ext>
            </a:extLst>
          </p:cNvPr>
          <p:cNvSpPr txBox="1">
            <a:spLocks/>
          </p:cNvSpPr>
          <p:nvPr/>
        </p:nvSpPr>
        <p:spPr>
          <a:xfrm>
            <a:off x="1247539" y="2056254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3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CEAE0613-6590-2911-1973-6507FCD4B936}"/>
              </a:ext>
            </a:extLst>
          </p:cNvPr>
          <p:cNvSpPr txBox="1">
            <a:spLocks/>
          </p:cNvSpPr>
          <p:nvPr/>
        </p:nvSpPr>
        <p:spPr>
          <a:xfrm>
            <a:off x="1247539" y="2311446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4</a:t>
            </a:r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FFF4E0FB-70AF-1EB2-BD5B-711A81101109}"/>
              </a:ext>
            </a:extLst>
          </p:cNvPr>
          <p:cNvSpPr txBox="1">
            <a:spLocks/>
          </p:cNvSpPr>
          <p:nvPr/>
        </p:nvSpPr>
        <p:spPr>
          <a:xfrm>
            <a:off x="1253574" y="2555067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5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D583274-C45C-63F4-A94A-8F5EFD227638}"/>
              </a:ext>
            </a:extLst>
          </p:cNvPr>
          <p:cNvSpPr/>
          <p:nvPr/>
        </p:nvSpPr>
        <p:spPr>
          <a:xfrm>
            <a:off x="8496995" y="497414"/>
            <a:ext cx="354842" cy="38213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1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08BCE91-0957-382C-7B26-6B97A86E6D44}"/>
              </a:ext>
            </a:extLst>
          </p:cNvPr>
          <p:cNvSpPr/>
          <p:nvPr/>
        </p:nvSpPr>
        <p:spPr>
          <a:xfrm>
            <a:off x="10041466" y="1207097"/>
            <a:ext cx="354842" cy="38213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2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F2F9F241-4A9D-34B1-7DA8-D6D4425A7EFB}"/>
              </a:ext>
            </a:extLst>
          </p:cNvPr>
          <p:cNvSpPr/>
          <p:nvPr/>
        </p:nvSpPr>
        <p:spPr>
          <a:xfrm>
            <a:off x="9311311" y="2780003"/>
            <a:ext cx="354842" cy="38213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3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240B1616-E0C0-5FF6-6200-E302F2BC3923}"/>
              </a:ext>
            </a:extLst>
          </p:cNvPr>
          <p:cNvSpPr/>
          <p:nvPr/>
        </p:nvSpPr>
        <p:spPr>
          <a:xfrm>
            <a:off x="7757740" y="2780003"/>
            <a:ext cx="354842" cy="38213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4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CEEE3291-C116-2E71-3867-E28A7DFAA3CA}"/>
              </a:ext>
            </a:extLst>
          </p:cNvPr>
          <p:cNvSpPr/>
          <p:nvPr/>
        </p:nvSpPr>
        <p:spPr>
          <a:xfrm>
            <a:off x="6979818" y="1207097"/>
            <a:ext cx="354842" cy="38213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5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9E9D28C-3F8B-62F6-6B77-4A6900C19AF0}"/>
              </a:ext>
            </a:extLst>
          </p:cNvPr>
          <p:cNvCxnSpPr>
            <a:cxnSpLocks/>
          </p:cNvCxnSpPr>
          <p:nvPr/>
        </p:nvCxnSpPr>
        <p:spPr>
          <a:xfrm flipH="1">
            <a:off x="9689246" y="1608682"/>
            <a:ext cx="604699" cy="124673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25B6559-6924-0E21-9376-8B9F9745D25C}"/>
              </a:ext>
            </a:extLst>
          </p:cNvPr>
          <p:cNvCxnSpPr>
            <a:cxnSpLocks/>
            <a:endCxn id="38" idx="3"/>
          </p:cNvCxnSpPr>
          <p:nvPr/>
        </p:nvCxnSpPr>
        <p:spPr>
          <a:xfrm flipV="1">
            <a:off x="9489780" y="1533270"/>
            <a:ext cx="603651" cy="119794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A31F77F-4A98-F9E6-0C19-B793CB7833CE}"/>
              </a:ext>
            </a:extLst>
          </p:cNvPr>
          <p:cNvCxnSpPr>
            <a:cxnSpLocks/>
            <a:stCxn id="40" idx="7"/>
            <a:endCxn id="39" idx="1"/>
          </p:cNvCxnSpPr>
          <p:nvPr/>
        </p:nvCxnSpPr>
        <p:spPr>
          <a:xfrm>
            <a:off x="8060617" y="2835966"/>
            <a:ext cx="130265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3499911-8054-6F83-3628-BFC38CE4B6A5}"/>
              </a:ext>
            </a:extLst>
          </p:cNvPr>
          <p:cNvCxnSpPr>
            <a:cxnSpLocks/>
            <a:stCxn id="39" idx="3"/>
            <a:endCxn id="40" idx="5"/>
          </p:cNvCxnSpPr>
          <p:nvPr/>
        </p:nvCxnSpPr>
        <p:spPr>
          <a:xfrm flipH="1">
            <a:off x="8060617" y="3106176"/>
            <a:ext cx="130265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8CE8EA4-E685-EE84-1B09-5FA6627CC859}"/>
              </a:ext>
            </a:extLst>
          </p:cNvPr>
          <p:cNvCxnSpPr>
            <a:cxnSpLocks/>
          </p:cNvCxnSpPr>
          <p:nvPr/>
        </p:nvCxnSpPr>
        <p:spPr>
          <a:xfrm>
            <a:off x="7457490" y="1569111"/>
            <a:ext cx="1853821" cy="109591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AD57B54C-C8AE-F003-4AEC-F5C20A5854ED}"/>
              </a:ext>
            </a:extLst>
          </p:cNvPr>
          <p:cNvCxnSpPr>
            <a:cxnSpLocks/>
            <a:stCxn id="40" idx="2"/>
          </p:cNvCxnSpPr>
          <p:nvPr/>
        </p:nvCxnSpPr>
        <p:spPr>
          <a:xfrm flipH="1" flipV="1">
            <a:off x="7079462" y="1596402"/>
            <a:ext cx="678278" cy="137466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46CA938-23EB-2081-50DA-3EAFAE6C45D9}"/>
              </a:ext>
            </a:extLst>
          </p:cNvPr>
          <p:cNvCxnSpPr>
            <a:cxnSpLocks/>
            <a:endCxn id="40" idx="0"/>
          </p:cNvCxnSpPr>
          <p:nvPr/>
        </p:nvCxnSpPr>
        <p:spPr>
          <a:xfrm>
            <a:off x="7306445" y="1513147"/>
            <a:ext cx="628716" cy="126685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9532D890-8B8E-51E3-E873-F7C611FDDD30}"/>
              </a:ext>
            </a:extLst>
          </p:cNvPr>
          <p:cNvCxnSpPr>
            <a:cxnSpLocks/>
            <a:stCxn id="41" idx="0"/>
            <a:endCxn id="36" idx="1"/>
          </p:cNvCxnSpPr>
          <p:nvPr/>
        </p:nvCxnSpPr>
        <p:spPr>
          <a:xfrm flipV="1">
            <a:off x="7157239" y="553377"/>
            <a:ext cx="1391721" cy="65372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C42B740C-C5ED-5091-A1AC-FF7B5E8CE06C}"/>
              </a:ext>
            </a:extLst>
          </p:cNvPr>
          <p:cNvCxnSpPr>
            <a:cxnSpLocks/>
            <a:stCxn id="36" idx="3"/>
            <a:endCxn id="41" idx="6"/>
          </p:cNvCxnSpPr>
          <p:nvPr/>
        </p:nvCxnSpPr>
        <p:spPr>
          <a:xfrm flipH="1">
            <a:off x="7334660" y="823587"/>
            <a:ext cx="1214300" cy="57457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F981E981-6287-7C35-AA9D-020A12BE53AD}"/>
              </a:ext>
            </a:extLst>
          </p:cNvPr>
          <p:cNvCxnSpPr>
            <a:cxnSpLocks/>
            <a:stCxn id="36" idx="7"/>
            <a:endCxn id="38" idx="0"/>
          </p:cNvCxnSpPr>
          <p:nvPr/>
        </p:nvCxnSpPr>
        <p:spPr>
          <a:xfrm>
            <a:off x="8799872" y="553377"/>
            <a:ext cx="1419015" cy="65372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2596BA6A-A1E1-50D8-9F88-24823627BB96}"/>
              </a:ext>
            </a:extLst>
          </p:cNvPr>
          <p:cNvCxnSpPr>
            <a:cxnSpLocks/>
            <a:stCxn id="38" idx="2"/>
            <a:endCxn id="36" idx="5"/>
          </p:cNvCxnSpPr>
          <p:nvPr/>
        </p:nvCxnSpPr>
        <p:spPr>
          <a:xfrm flipH="1" flipV="1">
            <a:off x="8799872" y="823587"/>
            <a:ext cx="1241594" cy="57457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BDB35D8-9F3D-426C-1CF2-DEB344BB5564}"/>
              </a:ext>
            </a:extLst>
          </p:cNvPr>
          <p:cNvCxnSpPr>
            <a:cxnSpLocks/>
            <a:stCxn id="38" idx="2"/>
          </p:cNvCxnSpPr>
          <p:nvPr/>
        </p:nvCxnSpPr>
        <p:spPr>
          <a:xfrm flipH="1">
            <a:off x="7394761" y="1398165"/>
            <a:ext cx="2646705" cy="5321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 Placeholder 5">
            <a:extLst>
              <a:ext uri="{FF2B5EF4-FFF2-40B4-BE49-F238E27FC236}">
                <a16:creationId xmlns:a16="http://schemas.microsoft.com/office/drawing/2014/main" id="{5C514145-B1BB-5F85-5FCD-B59CC7BBC58A}"/>
              </a:ext>
            </a:extLst>
          </p:cNvPr>
          <p:cNvSpPr txBox="1">
            <a:spLocks/>
          </p:cNvSpPr>
          <p:nvPr/>
        </p:nvSpPr>
        <p:spPr>
          <a:xfrm>
            <a:off x="9363276" y="539132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0.8</a:t>
            </a:r>
          </a:p>
        </p:txBody>
      </p:sp>
      <p:sp>
        <p:nvSpPr>
          <p:cNvPr id="57" name="Text Placeholder 5">
            <a:extLst>
              <a:ext uri="{FF2B5EF4-FFF2-40B4-BE49-F238E27FC236}">
                <a16:creationId xmlns:a16="http://schemas.microsoft.com/office/drawing/2014/main" id="{B5BC2088-040F-D6B2-723A-2BA468157C54}"/>
              </a:ext>
            </a:extLst>
          </p:cNvPr>
          <p:cNvSpPr txBox="1">
            <a:spLocks/>
          </p:cNvSpPr>
          <p:nvPr/>
        </p:nvSpPr>
        <p:spPr>
          <a:xfrm>
            <a:off x="7910493" y="964361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0.2</a:t>
            </a:r>
          </a:p>
        </p:txBody>
      </p:sp>
      <p:sp>
        <p:nvSpPr>
          <p:cNvPr id="58" name="Text Placeholder 5">
            <a:extLst>
              <a:ext uri="{FF2B5EF4-FFF2-40B4-BE49-F238E27FC236}">
                <a16:creationId xmlns:a16="http://schemas.microsoft.com/office/drawing/2014/main" id="{CAF9613A-3FE7-69EA-9496-3E73FCC788C9}"/>
              </a:ext>
            </a:extLst>
          </p:cNvPr>
          <p:cNvSpPr txBox="1">
            <a:spLocks/>
          </p:cNvSpPr>
          <p:nvPr/>
        </p:nvSpPr>
        <p:spPr>
          <a:xfrm>
            <a:off x="9947765" y="2117066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0.25</a:t>
            </a:r>
          </a:p>
        </p:txBody>
      </p:sp>
      <p:sp>
        <p:nvSpPr>
          <p:cNvPr id="59" name="Text Placeholder 5">
            <a:extLst>
              <a:ext uri="{FF2B5EF4-FFF2-40B4-BE49-F238E27FC236}">
                <a16:creationId xmlns:a16="http://schemas.microsoft.com/office/drawing/2014/main" id="{AB8DB633-A7FE-84C5-121E-5FAC72A1E119}"/>
              </a:ext>
            </a:extLst>
          </p:cNvPr>
          <p:cNvSpPr txBox="1">
            <a:spLocks/>
          </p:cNvSpPr>
          <p:nvPr/>
        </p:nvSpPr>
        <p:spPr>
          <a:xfrm>
            <a:off x="8353690" y="1398165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0.25</a:t>
            </a:r>
          </a:p>
        </p:txBody>
      </p:sp>
      <p:sp>
        <p:nvSpPr>
          <p:cNvPr id="60" name="Text Placeholder 5">
            <a:extLst>
              <a:ext uri="{FF2B5EF4-FFF2-40B4-BE49-F238E27FC236}">
                <a16:creationId xmlns:a16="http://schemas.microsoft.com/office/drawing/2014/main" id="{1386B1A4-587A-F421-80F3-749C6DED08B0}"/>
              </a:ext>
            </a:extLst>
          </p:cNvPr>
          <p:cNvSpPr txBox="1">
            <a:spLocks/>
          </p:cNvSpPr>
          <p:nvPr/>
        </p:nvSpPr>
        <p:spPr>
          <a:xfrm>
            <a:off x="8861110" y="1018768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0.5</a:t>
            </a:r>
          </a:p>
        </p:txBody>
      </p:sp>
      <p:sp>
        <p:nvSpPr>
          <p:cNvPr id="61" name="Text Placeholder 5">
            <a:extLst>
              <a:ext uri="{FF2B5EF4-FFF2-40B4-BE49-F238E27FC236}">
                <a16:creationId xmlns:a16="http://schemas.microsoft.com/office/drawing/2014/main" id="{3988B68F-9992-4A5D-FAFE-C4B961D4B182}"/>
              </a:ext>
            </a:extLst>
          </p:cNvPr>
          <p:cNvSpPr txBox="1">
            <a:spLocks/>
          </p:cNvSpPr>
          <p:nvPr/>
        </p:nvSpPr>
        <p:spPr>
          <a:xfrm>
            <a:off x="9244031" y="1815462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0.3</a:t>
            </a:r>
          </a:p>
        </p:txBody>
      </p:sp>
      <p:sp>
        <p:nvSpPr>
          <p:cNvPr id="62" name="Text Placeholder 5">
            <a:extLst>
              <a:ext uri="{FF2B5EF4-FFF2-40B4-BE49-F238E27FC236}">
                <a16:creationId xmlns:a16="http://schemas.microsoft.com/office/drawing/2014/main" id="{355D810A-2DE4-699A-AED1-3946815DEFC1}"/>
              </a:ext>
            </a:extLst>
          </p:cNvPr>
          <p:cNvSpPr txBox="1">
            <a:spLocks/>
          </p:cNvSpPr>
          <p:nvPr/>
        </p:nvSpPr>
        <p:spPr>
          <a:xfrm>
            <a:off x="9788319" y="2944862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0.3</a:t>
            </a:r>
          </a:p>
        </p:txBody>
      </p:sp>
      <p:cxnSp>
        <p:nvCxnSpPr>
          <p:cNvPr id="63" name="Connector: Curved 62">
            <a:extLst>
              <a:ext uri="{FF2B5EF4-FFF2-40B4-BE49-F238E27FC236}">
                <a16:creationId xmlns:a16="http://schemas.microsoft.com/office/drawing/2014/main" id="{E7E271C7-CF60-19D8-AF68-24824C9DBBCC}"/>
              </a:ext>
            </a:extLst>
          </p:cNvPr>
          <p:cNvCxnSpPr>
            <a:cxnSpLocks/>
            <a:stCxn id="39" idx="4"/>
            <a:endCxn id="39" idx="6"/>
          </p:cNvCxnSpPr>
          <p:nvPr/>
        </p:nvCxnSpPr>
        <p:spPr>
          <a:xfrm rot="5400000" flipH="1" flipV="1">
            <a:off x="9481908" y="2977894"/>
            <a:ext cx="191068" cy="177421"/>
          </a:xfrm>
          <a:prstGeom prst="curvedConnector4">
            <a:avLst>
              <a:gd name="adj1" fmla="val -119643"/>
              <a:gd name="adj2" fmla="val 22884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8" name="Text Placeholder 5">
            <a:extLst>
              <a:ext uri="{FF2B5EF4-FFF2-40B4-BE49-F238E27FC236}">
                <a16:creationId xmlns:a16="http://schemas.microsoft.com/office/drawing/2014/main" id="{924E60DB-0A47-3A16-1FB7-A0F492B2EA4D}"/>
              </a:ext>
            </a:extLst>
          </p:cNvPr>
          <p:cNvSpPr txBox="1">
            <a:spLocks/>
          </p:cNvSpPr>
          <p:nvPr/>
        </p:nvSpPr>
        <p:spPr>
          <a:xfrm>
            <a:off x="8475737" y="3073185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0.4</a:t>
            </a:r>
          </a:p>
        </p:txBody>
      </p:sp>
      <p:sp>
        <p:nvSpPr>
          <p:cNvPr id="2049" name="Text Placeholder 5">
            <a:extLst>
              <a:ext uri="{FF2B5EF4-FFF2-40B4-BE49-F238E27FC236}">
                <a16:creationId xmlns:a16="http://schemas.microsoft.com/office/drawing/2014/main" id="{837367DA-AFB6-081E-660D-090CA06176AE}"/>
              </a:ext>
            </a:extLst>
          </p:cNvPr>
          <p:cNvSpPr txBox="1">
            <a:spLocks/>
          </p:cNvSpPr>
          <p:nvPr/>
        </p:nvSpPr>
        <p:spPr>
          <a:xfrm>
            <a:off x="8360165" y="2486141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0.5</a:t>
            </a:r>
          </a:p>
        </p:txBody>
      </p:sp>
      <p:sp>
        <p:nvSpPr>
          <p:cNvPr id="2051" name="Text Placeholder 5">
            <a:extLst>
              <a:ext uri="{FF2B5EF4-FFF2-40B4-BE49-F238E27FC236}">
                <a16:creationId xmlns:a16="http://schemas.microsoft.com/office/drawing/2014/main" id="{320B4B26-801D-DB12-D99C-26DB22EF218A}"/>
              </a:ext>
            </a:extLst>
          </p:cNvPr>
          <p:cNvSpPr txBox="1">
            <a:spLocks/>
          </p:cNvSpPr>
          <p:nvPr/>
        </p:nvSpPr>
        <p:spPr>
          <a:xfrm>
            <a:off x="7394541" y="580850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0.5</a:t>
            </a:r>
          </a:p>
        </p:txBody>
      </p:sp>
      <p:sp>
        <p:nvSpPr>
          <p:cNvPr id="2052" name="Text Placeholder 5">
            <a:extLst>
              <a:ext uri="{FF2B5EF4-FFF2-40B4-BE49-F238E27FC236}">
                <a16:creationId xmlns:a16="http://schemas.microsoft.com/office/drawing/2014/main" id="{DB68A977-474A-CACD-A557-9302EBA1E96C}"/>
              </a:ext>
            </a:extLst>
          </p:cNvPr>
          <p:cNvSpPr txBox="1">
            <a:spLocks/>
          </p:cNvSpPr>
          <p:nvPr/>
        </p:nvSpPr>
        <p:spPr>
          <a:xfrm>
            <a:off x="8352372" y="1878276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0.25</a:t>
            </a:r>
          </a:p>
        </p:txBody>
      </p:sp>
      <p:sp>
        <p:nvSpPr>
          <p:cNvPr id="2053" name="Text Placeholder 5">
            <a:extLst>
              <a:ext uri="{FF2B5EF4-FFF2-40B4-BE49-F238E27FC236}">
                <a16:creationId xmlns:a16="http://schemas.microsoft.com/office/drawing/2014/main" id="{B87D9889-2A60-1F64-B9BA-60D789C085C3}"/>
              </a:ext>
            </a:extLst>
          </p:cNvPr>
          <p:cNvSpPr txBox="1">
            <a:spLocks/>
          </p:cNvSpPr>
          <p:nvPr/>
        </p:nvSpPr>
        <p:spPr>
          <a:xfrm>
            <a:off x="7646190" y="2093603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0.25</a:t>
            </a:r>
          </a:p>
        </p:txBody>
      </p:sp>
      <p:sp>
        <p:nvSpPr>
          <p:cNvPr id="2054" name="Text Placeholder 5">
            <a:extLst>
              <a:ext uri="{FF2B5EF4-FFF2-40B4-BE49-F238E27FC236}">
                <a16:creationId xmlns:a16="http://schemas.microsoft.com/office/drawing/2014/main" id="{7C7C62E6-A517-B96D-0964-20ECBE8FFFF3}"/>
              </a:ext>
            </a:extLst>
          </p:cNvPr>
          <p:cNvSpPr txBox="1">
            <a:spLocks/>
          </p:cNvSpPr>
          <p:nvPr/>
        </p:nvSpPr>
        <p:spPr>
          <a:xfrm>
            <a:off x="319463" y="3457626"/>
            <a:ext cx="6660356" cy="6933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LcParenR"/>
              <a:tabLst/>
              <a:defRPr/>
            </a:pPr>
            <a:r>
              <a:rPr lang="en-US" altLang="ja-JP" sz="1800" dirty="0">
                <a:solidFill>
                  <a:srgbClr val="0070C0"/>
                </a:solidFill>
                <a:latin typeface="Calibri" panose="020F0502020204030204"/>
                <a:ea typeface="游ゴシック" panose="020B0400000000000000" pitchFamily="34" charset="-128"/>
              </a:rPr>
              <a:t>What conditions ensure that a discrete state space Markov chain has a </a:t>
            </a:r>
            <a:r>
              <a:rPr lang="en-US" altLang="ja-JP" sz="1800" b="1" dirty="0">
                <a:solidFill>
                  <a:srgbClr val="0070C0"/>
                </a:solidFill>
                <a:latin typeface="Calibri" panose="020F0502020204030204"/>
                <a:ea typeface="游ゴシック" panose="020B0400000000000000" pitchFamily="34" charset="-128"/>
              </a:rPr>
              <a:t>stationary distribution</a:t>
            </a:r>
            <a:r>
              <a:rPr lang="en-US" altLang="ja-JP" sz="1800" dirty="0">
                <a:solidFill>
                  <a:srgbClr val="0070C0"/>
                </a:solidFill>
                <a:latin typeface="Calibri" panose="020F0502020204030204"/>
                <a:ea typeface="游ゴシック" panose="020B0400000000000000" pitchFamily="34" charset="-128"/>
              </a:rPr>
              <a:t>? Are these conditions satisfied here? If so, find the stationary distribution.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9" name="TextBox 2058">
                <a:extLst>
                  <a:ext uri="{FF2B5EF4-FFF2-40B4-BE49-F238E27FC236}">
                    <a16:creationId xmlns:a16="http://schemas.microsoft.com/office/drawing/2014/main" id="{99AED9A8-6367-32F4-A9F5-6C187377931C}"/>
                  </a:ext>
                </a:extLst>
              </p:cNvPr>
              <p:cNvSpPr txBox="1"/>
              <p:nvPr/>
            </p:nvSpPr>
            <p:spPr>
              <a:xfrm>
                <a:off x="391880" y="1993609"/>
                <a:ext cx="13670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NZ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NZ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NZ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59" name="TextBox 2058">
                <a:extLst>
                  <a:ext uri="{FF2B5EF4-FFF2-40B4-BE49-F238E27FC236}">
                    <a16:creationId xmlns:a16="http://schemas.microsoft.com/office/drawing/2014/main" id="{99AED9A8-6367-32F4-A9F5-6C18737793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880" y="1993609"/>
                <a:ext cx="136705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5">
                <a:extLst>
                  <a:ext uri="{FF2B5EF4-FFF2-40B4-BE49-F238E27FC236}">
                    <a16:creationId xmlns:a16="http://schemas.microsoft.com/office/drawing/2014/main" id="{DAD26423-D596-B85C-208B-97D66D300F1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34185" y="4448814"/>
                <a:ext cx="6660356" cy="154857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R="0" lvl="0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r>
                  <a:rPr lang="en-US" altLang="ja-JP" sz="16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The adjacent code shows that the vector …</a:t>
                </a:r>
              </a:p>
              <a:p>
                <a:pPr marR="0" lvl="0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endParaRPr lang="en-US" altLang="ja-JP" sz="200" dirty="0">
                  <a:solidFill>
                    <a:schemeClr val="tx1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marR="0" lvl="0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endParaRPr lang="en-US" altLang="ja-JP" sz="200" dirty="0">
                  <a:solidFill>
                    <a:schemeClr val="tx1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lvl="0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NZ" altLang="ja-JP" sz="15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𝝅</m:t>
                      </m:r>
                      <m:r>
                        <a:rPr lang="en-NZ" altLang="ja-JP" sz="15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= </m:t>
                      </m:r>
                      <m:d>
                        <m:dPr>
                          <m:ctrlPr>
                            <a:rPr lang="en-NZ" altLang="ja-JP" sz="15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NZ" altLang="ja-JP" sz="15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NZ" altLang="ja-JP" sz="15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NZ" altLang="ja-JP" sz="15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NZ" altLang="ja-JP" sz="15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𝟐𝟎𝟑𝟗𝟖𝟒𝟖</m:t>
                                </m:r>
                              </m:e>
                              <m:e>
                                <m:r>
                                  <a:rPr lang="en-NZ" altLang="ja-JP" sz="15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NZ" altLang="ja-JP" sz="15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NZ" altLang="ja-JP" sz="15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𝟐𝟑𝟕𝟏𝟗𝟏𝟕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NZ" altLang="ja-JP" sz="15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NZ" altLang="ja-JP" sz="15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  <m:r>
                                        <a:rPr lang="en-NZ" altLang="ja-JP" sz="15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</m:t>
                                      </m:r>
                                      <m:r>
                                        <a:rPr lang="en-NZ" altLang="ja-JP" sz="15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𝟐𝟒𝟔𝟔𝟕𝟗𝟑</m:t>
                                      </m:r>
                                    </m:e>
                                    <m:e>
                                      <m:r>
                                        <a:rPr lang="en-NZ" altLang="ja-JP" sz="15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  <m:r>
                                        <a:rPr lang="en-NZ" altLang="ja-JP" sz="15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</m:t>
                                      </m:r>
                                      <m:r>
                                        <a:rPr lang="en-NZ" altLang="ja-JP" sz="15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𝟏𝟒𝟏𝟑𝟔𝟔𝟐</m:t>
                                      </m:r>
                                    </m:e>
                                    <m:e>
                                      <m:r>
                                        <a:rPr lang="en-NZ" altLang="ja-JP" sz="15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  <m:r>
                                        <a:rPr lang="en-NZ" altLang="ja-JP" sz="15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</m:t>
                                      </m:r>
                                      <m:r>
                                        <a:rPr lang="en-NZ" altLang="ja-JP" sz="15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𝟏𝟕𝟎𝟕𝟕𝟖𝟎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ja-JP" sz="1500" b="1" dirty="0">
                  <a:solidFill>
                    <a:schemeClr val="tx1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lvl="0">
                  <a:lnSpc>
                    <a:spcPct val="100000"/>
                  </a:lnSpc>
                  <a:defRPr/>
                </a:pPr>
                <a:endParaRPr lang="en-US" altLang="ja-JP" sz="200" dirty="0">
                  <a:solidFill>
                    <a:schemeClr val="tx1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lvl="0">
                  <a:lnSpc>
                    <a:spcPct val="100000"/>
                  </a:lnSpc>
                  <a:defRPr/>
                </a:pPr>
                <a:endParaRPr lang="en-US" altLang="ja-JP" sz="200" dirty="0">
                  <a:solidFill>
                    <a:schemeClr val="tx1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lvl="0">
                  <a:lnSpc>
                    <a:spcPct val="100000"/>
                  </a:lnSpc>
                  <a:defRPr/>
                </a:pPr>
                <a:r>
                  <a:rPr lang="en-US" altLang="ja-JP" sz="16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… is the stationary distribution of the chain.</a:t>
                </a:r>
              </a:p>
              <a:p>
                <a:pPr lvl="0">
                  <a:lnSpc>
                    <a:spcPct val="100000"/>
                  </a:lnSpc>
                  <a:defRPr/>
                </a:pPr>
                <a:endParaRPr lang="en-US" altLang="ja-JP" sz="1600" dirty="0">
                  <a:solidFill>
                    <a:schemeClr val="tx1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lvl="0">
                  <a:lnSpc>
                    <a:spcPct val="100000"/>
                  </a:lnSpc>
                  <a:defRPr/>
                </a:pPr>
                <a:r>
                  <a:rPr lang="en-US" altLang="ja-JP" sz="16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This vector (uniquely) solves the equation </a:t>
                </a:r>
                <a14:m>
                  <m:oMath xmlns:m="http://schemas.openxmlformats.org/officeDocument/2006/math">
                    <m:r>
                      <a:rPr lang="en-NZ" altLang="ja-JP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𝝅</m:t>
                    </m:r>
                    <m:r>
                      <a:rPr lang="en-NZ" altLang="ja-JP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=</m:t>
                    </m:r>
                    <m:r>
                      <a:rPr lang="en-NZ" altLang="ja-JP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𝝅</m:t>
                    </m:r>
                    <m:r>
                      <a:rPr lang="en-NZ" altLang="ja-JP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 </m:t>
                    </m:r>
                    <m:r>
                      <a:rPr lang="en-NZ" altLang="ja-JP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𝑷</m:t>
                    </m:r>
                  </m:oMath>
                </a14:m>
                <a:r>
                  <a:rPr lang="en-US" altLang="ja-JP" sz="1600" b="1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.</a:t>
                </a:r>
              </a:p>
            </p:txBody>
          </p:sp>
        </mc:Choice>
        <mc:Fallback xmlns="">
          <p:sp>
            <p:nvSpPr>
              <p:cNvPr id="3" name="Text Placeholder 5">
                <a:extLst>
                  <a:ext uri="{FF2B5EF4-FFF2-40B4-BE49-F238E27FC236}">
                    <a16:creationId xmlns:a16="http://schemas.microsoft.com/office/drawing/2014/main" id="{DAD26423-D596-B85C-208B-97D66D300F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185" y="4448814"/>
                <a:ext cx="6660356" cy="1548576"/>
              </a:xfrm>
              <a:prstGeom prst="rect">
                <a:avLst/>
              </a:prstGeom>
              <a:blipFill>
                <a:blip r:embed="rId5"/>
                <a:stretch>
                  <a:fillRect l="-457" t="-1181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DFE7B992-2B0A-FFC3-3339-2995FC342BA4}"/>
              </a:ext>
            </a:extLst>
          </p:cNvPr>
          <p:cNvSpPr txBox="1">
            <a:spLocks/>
          </p:cNvSpPr>
          <p:nvPr/>
        </p:nvSpPr>
        <p:spPr>
          <a:xfrm>
            <a:off x="7330961" y="3474179"/>
            <a:ext cx="4670384" cy="3024959"/>
          </a:xfrm>
          <a:prstGeom prst="rect">
            <a:avLst/>
          </a:prstGeom>
          <a:solidFill>
            <a:srgbClr val="F3F3FF"/>
          </a:solidFill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defRPr/>
            </a:pPr>
            <a:r>
              <a:rPr lang="en-NZ" altLang="ja-JP" sz="1000" dirty="0">
                <a:solidFill>
                  <a:schemeClr val="accent6">
                    <a:lumMod val="75000"/>
                  </a:schemeClr>
                </a:solidFill>
              </a:rPr>
              <a:t># 1.1a - Define transition matrix P</a:t>
            </a:r>
          </a:p>
          <a:p>
            <a:pPr lvl="0">
              <a:lnSpc>
                <a:spcPct val="100000"/>
              </a:lnSpc>
              <a:defRPr/>
            </a:pPr>
            <a:r>
              <a:rPr lang="en-NZ" altLang="ja-JP" sz="1000" dirty="0" err="1">
                <a:solidFill>
                  <a:schemeClr val="tx1"/>
                </a:solidFill>
              </a:rPr>
              <a:t>statenames</a:t>
            </a:r>
            <a:r>
              <a:rPr lang="en-NZ" altLang="ja-JP" sz="1000" dirty="0">
                <a:solidFill>
                  <a:schemeClr val="tx1"/>
                </a:solidFill>
              </a:rPr>
              <a:t> &lt;- c("1", "2", "3", "4" , "5" )</a:t>
            </a:r>
          </a:p>
          <a:p>
            <a:pPr lvl="0">
              <a:lnSpc>
                <a:spcPct val="100000"/>
              </a:lnSpc>
              <a:defRPr/>
            </a:pPr>
            <a:r>
              <a:rPr lang="en-NZ" altLang="ja-JP" sz="1000" dirty="0">
                <a:solidFill>
                  <a:schemeClr val="tx1"/>
                </a:solidFill>
              </a:rPr>
              <a:t>P &lt;- matrix(  c(	</a:t>
            </a:r>
          </a:p>
          <a:p>
            <a:pPr lvl="0">
              <a:lnSpc>
                <a:spcPct val="100000"/>
              </a:lnSpc>
              <a:defRPr/>
            </a:pPr>
            <a:r>
              <a:rPr lang="en-NZ" altLang="ja-JP" sz="1000" dirty="0">
                <a:solidFill>
                  <a:schemeClr val="tx1"/>
                </a:solidFill>
              </a:rPr>
              <a:t>  </a:t>
            </a:r>
            <a:r>
              <a:rPr lang="en-NZ" altLang="ja-JP" sz="1000" dirty="0">
                <a:solidFill>
                  <a:srgbClr val="0070C0"/>
                </a:solidFill>
              </a:rPr>
              <a:t>0.00, 0.80, 0.00, 0.00, 0.20,</a:t>
            </a:r>
          </a:p>
          <a:p>
            <a:pPr lvl="0">
              <a:lnSpc>
                <a:spcPct val="100000"/>
              </a:lnSpc>
              <a:defRPr/>
            </a:pPr>
            <a:r>
              <a:rPr lang="en-NZ" altLang="ja-JP" sz="1000" dirty="0">
                <a:solidFill>
                  <a:srgbClr val="0070C0"/>
                </a:solidFill>
              </a:rPr>
              <a:t>  0.50, 0.00, 0.25, 0.00, 0.25,</a:t>
            </a:r>
          </a:p>
          <a:p>
            <a:pPr lvl="0">
              <a:lnSpc>
                <a:spcPct val="100000"/>
              </a:lnSpc>
              <a:defRPr/>
            </a:pPr>
            <a:r>
              <a:rPr lang="en-NZ" altLang="ja-JP" sz="1000" dirty="0">
                <a:solidFill>
                  <a:srgbClr val="0070C0"/>
                </a:solidFill>
              </a:rPr>
              <a:t>  0.00, 0.30, 0.30, 0.40, 0.00,</a:t>
            </a:r>
          </a:p>
          <a:p>
            <a:pPr lvl="0">
              <a:lnSpc>
                <a:spcPct val="100000"/>
              </a:lnSpc>
              <a:defRPr/>
            </a:pPr>
            <a:r>
              <a:rPr lang="en-NZ" altLang="ja-JP" sz="1000" dirty="0">
                <a:solidFill>
                  <a:srgbClr val="0070C0"/>
                </a:solidFill>
              </a:rPr>
              <a:t>  0.00, 0.00, 0.50, 0.00, 0.50,</a:t>
            </a:r>
          </a:p>
          <a:p>
            <a:pPr lvl="0">
              <a:lnSpc>
                <a:spcPct val="100000"/>
              </a:lnSpc>
              <a:defRPr/>
            </a:pPr>
            <a:r>
              <a:rPr lang="en-NZ" altLang="ja-JP" sz="1000" dirty="0">
                <a:solidFill>
                  <a:srgbClr val="0070C0"/>
                </a:solidFill>
              </a:rPr>
              <a:t>  0.50, 0.00, 0.25, 0.25, 0.00</a:t>
            </a:r>
            <a:r>
              <a:rPr lang="en-NZ" altLang="ja-JP" sz="1000" dirty="0">
                <a:solidFill>
                  <a:schemeClr val="tx1"/>
                </a:solidFill>
              </a:rPr>
              <a:t>), </a:t>
            </a:r>
            <a:r>
              <a:rPr lang="en-NZ" altLang="ja-JP" sz="1000" dirty="0" err="1">
                <a:solidFill>
                  <a:schemeClr val="tx1"/>
                </a:solidFill>
              </a:rPr>
              <a:t>nrow</a:t>
            </a:r>
            <a:r>
              <a:rPr lang="en-NZ" altLang="ja-JP" sz="1000" dirty="0">
                <a:solidFill>
                  <a:schemeClr val="tx1"/>
                </a:solidFill>
              </a:rPr>
              <a:t>=5, </a:t>
            </a:r>
            <a:r>
              <a:rPr lang="en-NZ" altLang="ja-JP" sz="1000" dirty="0" err="1">
                <a:solidFill>
                  <a:schemeClr val="tx1"/>
                </a:solidFill>
              </a:rPr>
              <a:t>byrow</a:t>
            </a:r>
            <a:r>
              <a:rPr lang="en-NZ" altLang="ja-JP" sz="1000" dirty="0">
                <a:solidFill>
                  <a:schemeClr val="tx1"/>
                </a:solidFill>
              </a:rPr>
              <a:t>=TRUE,</a:t>
            </a:r>
          </a:p>
          <a:p>
            <a:pPr lvl="0">
              <a:lnSpc>
                <a:spcPct val="100000"/>
              </a:lnSpc>
              <a:defRPr/>
            </a:pPr>
            <a:r>
              <a:rPr lang="en-NZ" altLang="ja-JP" sz="1000" dirty="0">
                <a:solidFill>
                  <a:schemeClr val="tx1"/>
                </a:solidFill>
              </a:rPr>
              <a:t>  </a:t>
            </a:r>
            <a:r>
              <a:rPr lang="en-NZ" altLang="ja-JP" sz="1000" dirty="0" err="1">
                <a:solidFill>
                  <a:schemeClr val="tx1"/>
                </a:solidFill>
              </a:rPr>
              <a:t>dimnames</a:t>
            </a:r>
            <a:r>
              <a:rPr lang="en-NZ" altLang="ja-JP" sz="1000" dirty="0">
                <a:solidFill>
                  <a:schemeClr val="tx1"/>
                </a:solidFill>
              </a:rPr>
              <a:t> = list(</a:t>
            </a:r>
            <a:r>
              <a:rPr lang="en-NZ" altLang="ja-JP" sz="1000" dirty="0" err="1">
                <a:solidFill>
                  <a:schemeClr val="tx1"/>
                </a:solidFill>
              </a:rPr>
              <a:t>statenames</a:t>
            </a:r>
            <a:r>
              <a:rPr lang="en-NZ" altLang="ja-JP" sz="1000" dirty="0">
                <a:solidFill>
                  <a:schemeClr val="tx1"/>
                </a:solidFill>
              </a:rPr>
              <a:t>, </a:t>
            </a:r>
            <a:r>
              <a:rPr lang="en-NZ" altLang="ja-JP" sz="1000" dirty="0" err="1">
                <a:solidFill>
                  <a:schemeClr val="tx1"/>
                </a:solidFill>
              </a:rPr>
              <a:t>statenames</a:t>
            </a:r>
            <a:r>
              <a:rPr lang="en-NZ" altLang="ja-JP" sz="1000" dirty="0">
                <a:solidFill>
                  <a:schemeClr val="tx1"/>
                </a:solidFill>
              </a:rPr>
              <a:t>))</a:t>
            </a:r>
          </a:p>
          <a:p>
            <a:pPr lvl="0">
              <a:lnSpc>
                <a:spcPct val="100000"/>
              </a:lnSpc>
              <a:defRPr/>
            </a:pPr>
            <a:endParaRPr lang="en-NZ" altLang="ja-JP" sz="1000" dirty="0">
              <a:solidFill>
                <a:schemeClr val="accent6">
                  <a:lumMod val="75000"/>
                </a:schemeClr>
              </a:solidFill>
            </a:endParaRPr>
          </a:p>
          <a:p>
            <a:pPr lvl="0">
              <a:lnSpc>
                <a:spcPct val="100000"/>
              </a:lnSpc>
              <a:defRPr/>
            </a:pPr>
            <a:r>
              <a:rPr lang="en-NZ" altLang="ja-JP" sz="1000" dirty="0">
                <a:solidFill>
                  <a:schemeClr val="accent6">
                    <a:lumMod val="75000"/>
                  </a:schemeClr>
                </a:solidFill>
              </a:rPr>
              <a:t># 1.1b - Specifying that the transition matrix P defines a Markov chain</a:t>
            </a:r>
          </a:p>
          <a:p>
            <a:pPr lvl="0">
              <a:lnSpc>
                <a:spcPct val="100000"/>
              </a:lnSpc>
              <a:defRPr/>
            </a:pPr>
            <a:r>
              <a:rPr lang="en-NZ" altLang="ja-JP" sz="1000" dirty="0" err="1">
                <a:solidFill>
                  <a:schemeClr val="tx1"/>
                </a:solidFill>
              </a:rPr>
              <a:t>mcp</a:t>
            </a:r>
            <a:r>
              <a:rPr lang="en-NZ" altLang="ja-JP" sz="1000" dirty="0">
                <a:solidFill>
                  <a:schemeClr val="tx1"/>
                </a:solidFill>
              </a:rPr>
              <a:t> &lt;- new("</a:t>
            </a:r>
            <a:r>
              <a:rPr lang="en-NZ" altLang="ja-JP" sz="1000" dirty="0" err="1">
                <a:solidFill>
                  <a:schemeClr val="tx1"/>
                </a:solidFill>
              </a:rPr>
              <a:t>markovchain</a:t>
            </a:r>
            <a:r>
              <a:rPr lang="en-NZ" altLang="ja-JP" sz="1000" dirty="0">
                <a:solidFill>
                  <a:schemeClr val="tx1"/>
                </a:solidFill>
              </a:rPr>
              <a:t>", </a:t>
            </a:r>
            <a:r>
              <a:rPr lang="en-NZ" altLang="ja-JP" sz="1000" dirty="0" err="1">
                <a:solidFill>
                  <a:schemeClr val="tx1"/>
                </a:solidFill>
              </a:rPr>
              <a:t>transitionMatrix</a:t>
            </a:r>
            <a:r>
              <a:rPr lang="en-NZ" altLang="ja-JP" sz="1000" dirty="0">
                <a:solidFill>
                  <a:schemeClr val="tx1"/>
                </a:solidFill>
              </a:rPr>
              <a:t>=P)</a:t>
            </a:r>
          </a:p>
          <a:p>
            <a:pPr lvl="0">
              <a:lnSpc>
                <a:spcPct val="100000"/>
              </a:lnSpc>
              <a:defRPr/>
            </a:pPr>
            <a:endParaRPr lang="en-NZ" altLang="ja-JP" sz="1000" dirty="0">
              <a:solidFill>
                <a:schemeClr val="accent6">
                  <a:lumMod val="75000"/>
                </a:schemeClr>
              </a:solidFill>
            </a:endParaRPr>
          </a:p>
          <a:p>
            <a:pPr lvl="0">
              <a:lnSpc>
                <a:spcPct val="100000"/>
              </a:lnSpc>
              <a:defRPr/>
            </a:pPr>
            <a:r>
              <a:rPr lang="en-NZ" altLang="ja-JP" sz="1000" dirty="0">
                <a:solidFill>
                  <a:schemeClr val="accent6">
                    <a:lumMod val="75000"/>
                  </a:schemeClr>
                </a:solidFill>
              </a:rPr>
              <a:t># 1.1c - Determine the stationary distribution of the Markov chain defined by P</a:t>
            </a:r>
          </a:p>
          <a:p>
            <a:pPr lvl="0">
              <a:lnSpc>
                <a:spcPct val="100000"/>
              </a:lnSpc>
              <a:defRPr/>
            </a:pPr>
            <a:r>
              <a:rPr lang="en-NZ" altLang="ja-JP" sz="1000" dirty="0" err="1">
                <a:solidFill>
                  <a:schemeClr val="tx1"/>
                </a:solidFill>
              </a:rPr>
              <a:t>steadyStates</a:t>
            </a:r>
            <a:r>
              <a:rPr lang="en-NZ" altLang="ja-JP" sz="1000" dirty="0">
                <a:solidFill>
                  <a:schemeClr val="tx1"/>
                </a:solidFill>
              </a:rPr>
              <a:t>(</a:t>
            </a:r>
            <a:r>
              <a:rPr lang="en-NZ" altLang="ja-JP" sz="1000" dirty="0" err="1">
                <a:solidFill>
                  <a:schemeClr val="tx1"/>
                </a:solidFill>
              </a:rPr>
              <a:t>mcp</a:t>
            </a:r>
            <a:r>
              <a:rPr lang="en-NZ" altLang="ja-JP" sz="1000" dirty="0">
                <a:solidFill>
                  <a:schemeClr val="tx1"/>
                </a:solidFill>
              </a:rPr>
              <a:t>)  </a:t>
            </a:r>
          </a:p>
          <a:p>
            <a:pPr lvl="0">
              <a:lnSpc>
                <a:spcPct val="100000"/>
              </a:lnSpc>
              <a:defRPr/>
            </a:pPr>
            <a:endParaRPr lang="en-NZ" altLang="ja-JP" sz="1000" dirty="0">
              <a:solidFill>
                <a:prstClr val="black"/>
              </a:solidFill>
            </a:endParaRPr>
          </a:p>
          <a:p>
            <a:pPr lvl="0">
              <a:lnSpc>
                <a:spcPct val="100000"/>
              </a:lnSpc>
              <a:defRPr/>
            </a:pPr>
            <a:r>
              <a:rPr lang="en-NZ" altLang="ja-JP" sz="1000" dirty="0">
                <a:solidFill>
                  <a:prstClr val="black"/>
                </a:solidFill>
              </a:rPr>
              <a:t>        1         	  2         	3         	4        	5</a:t>
            </a:r>
          </a:p>
          <a:p>
            <a:pPr lvl="0">
              <a:lnSpc>
                <a:spcPct val="100000"/>
              </a:lnSpc>
              <a:defRPr/>
            </a:pPr>
            <a:r>
              <a:rPr lang="en-NZ" altLang="ja-JP" sz="1000" dirty="0">
                <a:solidFill>
                  <a:prstClr val="black"/>
                </a:solidFill>
              </a:rPr>
              <a:t>[1,]  0.2039848 	  0.2371917 	0.2466793 	0.1413662 	0.170778</a:t>
            </a:r>
          </a:p>
        </p:txBody>
      </p:sp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E8EF6840-D32E-BB05-DDB5-DDB132FEC112}"/>
              </a:ext>
            </a:extLst>
          </p:cNvPr>
          <p:cNvSpPr txBox="1">
            <a:spLocks/>
          </p:cNvSpPr>
          <p:nvPr/>
        </p:nvSpPr>
        <p:spPr>
          <a:xfrm>
            <a:off x="9444251" y="86139"/>
            <a:ext cx="2645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Question 3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12" name="Title 6">
            <a:extLst>
              <a:ext uri="{FF2B5EF4-FFF2-40B4-BE49-F238E27FC236}">
                <a16:creationId xmlns:a16="http://schemas.microsoft.com/office/drawing/2014/main" id="{AC93E388-9519-9794-7F93-76B8E7D0D1CE}"/>
              </a:ext>
            </a:extLst>
          </p:cNvPr>
          <p:cNvSpPr txBox="1">
            <a:spLocks/>
          </p:cNvSpPr>
          <p:nvPr/>
        </p:nvSpPr>
        <p:spPr>
          <a:xfrm>
            <a:off x="319464" y="196889"/>
            <a:ext cx="2819522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Question 3: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10E81089-805B-F302-F366-DCC1D2366E6F}"/>
              </a:ext>
            </a:extLst>
          </p:cNvPr>
          <p:cNvSpPr txBox="1">
            <a:spLocks/>
          </p:cNvSpPr>
          <p:nvPr/>
        </p:nvSpPr>
        <p:spPr>
          <a:xfrm>
            <a:off x="3011606" y="6551432"/>
            <a:ext cx="6168789" cy="3085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Associated code = </a:t>
            </a:r>
            <a:r>
              <a:rPr kumimoji="1" lang="en-NZ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Tutorial 4 – Q3</a:t>
            </a:r>
            <a:endParaRPr kumimoji="1" lang="en-US" altLang="ja-JP" sz="12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44816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65B06D6C-CCB3-4D8F-9171-6B4779FED53B}"/>
              </a:ext>
            </a:extLst>
          </p:cNvPr>
          <p:cNvSpPr txBox="1">
            <a:spLocks/>
          </p:cNvSpPr>
          <p:nvPr/>
        </p:nvSpPr>
        <p:spPr>
          <a:xfrm>
            <a:off x="319463" y="859039"/>
            <a:ext cx="6284610" cy="4471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Consider the discrete state space Markov chain defined below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5">
                <a:extLst>
                  <a:ext uri="{FF2B5EF4-FFF2-40B4-BE49-F238E27FC236}">
                    <a16:creationId xmlns:a16="http://schemas.microsoft.com/office/drawing/2014/main" id="{821F6F52-A425-0203-4963-D33DB0F9560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57859" y="1555113"/>
                <a:ext cx="4085230" cy="141521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kumimoji="1" lang="en-US" altLang="ja-JP" sz="180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ja-JP" sz="180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0</m:t>
                                </m:r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.00</m:t>
                                </m:r>
                              </m:e>
                              <m:e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0.80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US" altLang="ja-JP" sz="180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NZ" altLang="ja-JP" sz="1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0.00</m:t>
                                      </m:r>
                                    </m:e>
                                    <m:e>
                                      <m:r>
                                        <a:rPr lang="en-NZ" altLang="ja-JP" sz="1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0.00</m:t>
                                      </m:r>
                                    </m:e>
                                    <m:e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0.20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0.50</m:t>
                                </m:r>
                              </m:e>
                              <m:e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0.00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US" altLang="ja-JP" sz="180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0</m:t>
                                      </m:r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.25</m:t>
                                      </m:r>
                                    </m:e>
                                    <m:e>
                                      <m:r>
                                        <a:rPr lang="en-NZ" altLang="ja-JP" sz="1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0.00</m:t>
                                      </m:r>
                                    </m:e>
                                    <m:e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0.25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US" altLang="ja-JP" sz="180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NZ" altLang="ja-JP" sz="1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0.00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NZ" altLang="ja-JP" sz="1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0.00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0.50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US" altLang="ja-JP" sz="180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0</m:t>
                                      </m:r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.30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NZ" altLang="ja-JP" sz="1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0.00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NZ" altLang="ja-JP" sz="1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0.00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US" altLang="ja-JP" sz="180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US" altLang="ja-JP" sz="180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游ゴシック" panose="020B0400000000000000" pitchFamily="34" charset="-128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0</m:t>
                                            </m:r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.30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0.50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0.25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US" altLang="ja-JP" sz="180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游ゴシック" panose="020B0400000000000000" pitchFamily="34" charset="-128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0</m:t>
                                            </m:r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.40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NZ" altLang="ja-JP" sz="1800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0.00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0.25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US" altLang="ja-JP" sz="180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游ゴシック" panose="020B0400000000000000" pitchFamily="34" charset="-128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a:rPr lang="en-NZ" altLang="ja-JP" sz="1800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0.00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0.50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NZ" altLang="ja-JP" sz="1800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0.00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en-US" altLang="ja-JP" sz="180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2" name="Text Placeholder 5">
                <a:extLst>
                  <a:ext uri="{FF2B5EF4-FFF2-40B4-BE49-F238E27FC236}">
                    <a16:creationId xmlns:a16="http://schemas.microsoft.com/office/drawing/2014/main" id="{821F6F52-A425-0203-4963-D33DB0F956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7859" y="1555113"/>
                <a:ext cx="4085230" cy="14152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FE8653E7-8E70-F4E1-08CA-D9792B339E49}"/>
              </a:ext>
            </a:extLst>
          </p:cNvPr>
          <p:cNvSpPr txBox="1">
            <a:spLocks/>
          </p:cNvSpPr>
          <p:nvPr/>
        </p:nvSpPr>
        <p:spPr>
          <a:xfrm>
            <a:off x="1747609" y="1237886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1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FE5CB15-9C0E-FE0D-2961-0535AB9FE278}"/>
              </a:ext>
            </a:extLst>
          </p:cNvPr>
          <p:cNvSpPr txBox="1">
            <a:spLocks/>
          </p:cNvSpPr>
          <p:nvPr/>
        </p:nvSpPr>
        <p:spPr>
          <a:xfrm>
            <a:off x="2395878" y="1237886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2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3A3E02E9-26D6-CF28-7759-3DD9FD6EA0D5}"/>
              </a:ext>
            </a:extLst>
          </p:cNvPr>
          <p:cNvSpPr txBox="1">
            <a:spLocks/>
          </p:cNvSpPr>
          <p:nvPr/>
        </p:nvSpPr>
        <p:spPr>
          <a:xfrm>
            <a:off x="3076339" y="1237886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3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4642364A-7BEE-9ADD-6B41-0C3331B33A04}"/>
              </a:ext>
            </a:extLst>
          </p:cNvPr>
          <p:cNvSpPr txBox="1">
            <a:spLocks/>
          </p:cNvSpPr>
          <p:nvPr/>
        </p:nvSpPr>
        <p:spPr>
          <a:xfrm>
            <a:off x="3756800" y="1256413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4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ECE8E70A-5271-7FF6-EDF9-CB040FCF132C}"/>
              </a:ext>
            </a:extLst>
          </p:cNvPr>
          <p:cNvSpPr txBox="1">
            <a:spLocks/>
          </p:cNvSpPr>
          <p:nvPr/>
        </p:nvSpPr>
        <p:spPr>
          <a:xfrm>
            <a:off x="4405069" y="1256413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5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D0E0604C-7573-7D78-9A71-0FB3A528DB23}"/>
              </a:ext>
            </a:extLst>
          </p:cNvPr>
          <p:cNvSpPr txBox="1">
            <a:spLocks/>
          </p:cNvSpPr>
          <p:nvPr/>
        </p:nvSpPr>
        <p:spPr>
          <a:xfrm>
            <a:off x="1247539" y="1536586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1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22A22D0A-A2C5-A83D-56C0-C803CD786C07}"/>
              </a:ext>
            </a:extLst>
          </p:cNvPr>
          <p:cNvSpPr txBox="1">
            <a:spLocks/>
          </p:cNvSpPr>
          <p:nvPr/>
        </p:nvSpPr>
        <p:spPr>
          <a:xfrm>
            <a:off x="1247539" y="1796420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2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D66AC2D2-9809-3429-5D74-78F145AA3521}"/>
              </a:ext>
            </a:extLst>
          </p:cNvPr>
          <p:cNvSpPr txBox="1">
            <a:spLocks/>
          </p:cNvSpPr>
          <p:nvPr/>
        </p:nvSpPr>
        <p:spPr>
          <a:xfrm>
            <a:off x="1247539" y="2056254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3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CEAE0613-6590-2911-1973-6507FCD4B936}"/>
              </a:ext>
            </a:extLst>
          </p:cNvPr>
          <p:cNvSpPr txBox="1">
            <a:spLocks/>
          </p:cNvSpPr>
          <p:nvPr/>
        </p:nvSpPr>
        <p:spPr>
          <a:xfrm>
            <a:off x="1247539" y="2311446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4</a:t>
            </a:r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FFF4E0FB-70AF-1EB2-BD5B-711A81101109}"/>
              </a:ext>
            </a:extLst>
          </p:cNvPr>
          <p:cNvSpPr txBox="1">
            <a:spLocks/>
          </p:cNvSpPr>
          <p:nvPr/>
        </p:nvSpPr>
        <p:spPr>
          <a:xfrm>
            <a:off x="1253574" y="2555067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5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D583274-C45C-63F4-A94A-8F5EFD227638}"/>
              </a:ext>
            </a:extLst>
          </p:cNvPr>
          <p:cNvSpPr/>
          <p:nvPr/>
        </p:nvSpPr>
        <p:spPr>
          <a:xfrm>
            <a:off x="8496995" y="497414"/>
            <a:ext cx="354842" cy="38213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1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08BCE91-0957-382C-7B26-6B97A86E6D44}"/>
              </a:ext>
            </a:extLst>
          </p:cNvPr>
          <p:cNvSpPr/>
          <p:nvPr/>
        </p:nvSpPr>
        <p:spPr>
          <a:xfrm>
            <a:off x="10041466" y="1207097"/>
            <a:ext cx="354842" cy="38213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2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F2F9F241-4A9D-34B1-7DA8-D6D4425A7EFB}"/>
              </a:ext>
            </a:extLst>
          </p:cNvPr>
          <p:cNvSpPr/>
          <p:nvPr/>
        </p:nvSpPr>
        <p:spPr>
          <a:xfrm>
            <a:off x="9311311" y="2780003"/>
            <a:ext cx="354842" cy="38213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3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240B1616-E0C0-5FF6-6200-E302F2BC3923}"/>
              </a:ext>
            </a:extLst>
          </p:cNvPr>
          <p:cNvSpPr/>
          <p:nvPr/>
        </p:nvSpPr>
        <p:spPr>
          <a:xfrm>
            <a:off x="7757740" y="2780003"/>
            <a:ext cx="354842" cy="38213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4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CEEE3291-C116-2E71-3867-E28A7DFAA3CA}"/>
              </a:ext>
            </a:extLst>
          </p:cNvPr>
          <p:cNvSpPr/>
          <p:nvPr/>
        </p:nvSpPr>
        <p:spPr>
          <a:xfrm>
            <a:off x="6979818" y="1207097"/>
            <a:ext cx="354842" cy="38213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5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9E9D28C-3F8B-62F6-6B77-4A6900C19AF0}"/>
              </a:ext>
            </a:extLst>
          </p:cNvPr>
          <p:cNvCxnSpPr>
            <a:cxnSpLocks/>
          </p:cNvCxnSpPr>
          <p:nvPr/>
        </p:nvCxnSpPr>
        <p:spPr>
          <a:xfrm flipH="1">
            <a:off x="9689246" y="1608682"/>
            <a:ext cx="604699" cy="124673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25B6559-6924-0E21-9376-8B9F9745D25C}"/>
              </a:ext>
            </a:extLst>
          </p:cNvPr>
          <p:cNvCxnSpPr>
            <a:cxnSpLocks/>
            <a:endCxn id="38" idx="3"/>
          </p:cNvCxnSpPr>
          <p:nvPr/>
        </p:nvCxnSpPr>
        <p:spPr>
          <a:xfrm flipV="1">
            <a:off x="9489780" y="1533270"/>
            <a:ext cx="603651" cy="119794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A31F77F-4A98-F9E6-0C19-B793CB7833CE}"/>
              </a:ext>
            </a:extLst>
          </p:cNvPr>
          <p:cNvCxnSpPr>
            <a:cxnSpLocks/>
            <a:stCxn id="40" idx="7"/>
            <a:endCxn id="39" idx="1"/>
          </p:cNvCxnSpPr>
          <p:nvPr/>
        </p:nvCxnSpPr>
        <p:spPr>
          <a:xfrm>
            <a:off x="8060617" y="2835966"/>
            <a:ext cx="130265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3499911-8054-6F83-3628-BFC38CE4B6A5}"/>
              </a:ext>
            </a:extLst>
          </p:cNvPr>
          <p:cNvCxnSpPr>
            <a:cxnSpLocks/>
            <a:stCxn id="39" idx="3"/>
            <a:endCxn id="40" idx="5"/>
          </p:cNvCxnSpPr>
          <p:nvPr/>
        </p:nvCxnSpPr>
        <p:spPr>
          <a:xfrm flipH="1">
            <a:off x="8060617" y="3106176"/>
            <a:ext cx="130265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8CE8EA4-E685-EE84-1B09-5FA6627CC859}"/>
              </a:ext>
            </a:extLst>
          </p:cNvPr>
          <p:cNvCxnSpPr>
            <a:cxnSpLocks/>
          </p:cNvCxnSpPr>
          <p:nvPr/>
        </p:nvCxnSpPr>
        <p:spPr>
          <a:xfrm>
            <a:off x="7457490" y="1569111"/>
            <a:ext cx="1853821" cy="109591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AD57B54C-C8AE-F003-4AEC-F5C20A5854ED}"/>
              </a:ext>
            </a:extLst>
          </p:cNvPr>
          <p:cNvCxnSpPr>
            <a:cxnSpLocks/>
            <a:stCxn id="40" idx="2"/>
          </p:cNvCxnSpPr>
          <p:nvPr/>
        </p:nvCxnSpPr>
        <p:spPr>
          <a:xfrm flipH="1" flipV="1">
            <a:off x="7079462" y="1596402"/>
            <a:ext cx="678278" cy="137466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46CA938-23EB-2081-50DA-3EAFAE6C45D9}"/>
              </a:ext>
            </a:extLst>
          </p:cNvPr>
          <p:cNvCxnSpPr>
            <a:cxnSpLocks/>
            <a:endCxn id="40" idx="0"/>
          </p:cNvCxnSpPr>
          <p:nvPr/>
        </p:nvCxnSpPr>
        <p:spPr>
          <a:xfrm>
            <a:off x="7306445" y="1513147"/>
            <a:ext cx="628716" cy="126685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9532D890-8B8E-51E3-E873-F7C611FDDD30}"/>
              </a:ext>
            </a:extLst>
          </p:cNvPr>
          <p:cNvCxnSpPr>
            <a:cxnSpLocks/>
            <a:stCxn id="41" idx="0"/>
            <a:endCxn id="36" idx="1"/>
          </p:cNvCxnSpPr>
          <p:nvPr/>
        </p:nvCxnSpPr>
        <p:spPr>
          <a:xfrm flipV="1">
            <a:off x="7157239" y="553377"/>
            <a:ext cx="1391721" cy="65372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C42B740C-C5ED-5091-A1AC-FF7B5E8CE06C}"/>
              </a:ext>
            </a:extLst>
          </p:cNvPr>
          <p:cNvCxnSpPr>
            <a:cxnSpLocks/>
            <a:stCxn id="36" idx="3"/>
            <a:endCxn id="41" idx="6"/>
          </p:cNvCxnSpPr>
          <p:nvPr/>
        </p:nvCxnSpPr>
        <p:spPr>
          <a:xfrm flipH="1">
            <a:off x="7334660" y="823587"/>
            <a:ext cx="1214300" cy="57457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F981E981-6287-7C35-AA9D-020A12BE53AD}"/>
              </a:ext>
            </a:extLst>
          </p:cNvPr>
          <p:cNvCxnSpPr>
            <a:cxnSpLocks/>
            <a:stCxn id="36" idx="7"/>
            <a:endCxn id="38" idx="0"/>
          </p:cNvCxnSpPr>
          <p:nvPr/>
        </p:nvCxnSpPr>
        <p:spPr>
          <a:xfrm>
            <a:off x="8799872" y="553377"/>
            <a:ext cx="1419015" cy="65372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2596BA6A-A1E1-50D8-9F88-24823627BB96}"/>
              </a:ext>
            </a:extLst>
          </p:cNvPr>
          <p:cNvCxnSpPr>
            <a:cxnSpLocks/>
            <a:stCxn id="38" idx="2"/>
            <a:endCxn id="36" idx="5"/>
          </p:cNvCxnSpPr>
          <p:nvPr/>
        </p:nvCxnSpPr>
        <p:spPr>
          <a:xfrm flipH="1" flipV="1">
            <a:off x="8799872" y="823587"/>
            <a:ext cx="1241594" cy="57457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BDB35D8-9F3D-426C-1CF2-DEB344BB5564}"/>
              </a:ext>
            </a:extLst>
          </p:cNvPr>
          <p:cNvCxnSpPr>
            <a:cxnSpLocks/>
            <a:stCxn id="38" idx="2"/>
          </p:cNvCxnSpPr>
          <p:nvPr/>
        </p:nvCxnSpPr>
        <p:spPr>
          <a:xfrm flipH="1">
            <a:off x="7394761" y="1398165"/>
            <a:ext cx="2646705" cy="5321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 Placeholder 5">
            <a:extLst>
              <a:ext uri="{FF2B5EF4-FFF2-40B4-BE49-F238E27FC236}">
                <a16:creationId xmlns:a16="http://schemas.microsoft.com/office/drawing/2014/main" id="{5C514145-B1BB-5F85-5FCD-B59CC7BBC58A}"/>
              </a:ext>
            </a:extLst>
          </p:cNvPr>
          <p:cNvSpPr txBox="1">
            <a:spLocks/>
          </p:cNvSpPr>
          <p:nvPr/>
        </p:nvSpPr>
        <p:spPr>
          <a:xfrm>
            <a:off x="9363276" y="539132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0.8</a:t>
            </a:r>
          </a:p>
        </p:txBody>
      </p:sp>
      <p:sp>
        <p:nvSpPr>
          <p:cNvPr id="57" name="Text Placeholder 5">
            <a:extLst>
              <a:ext uri="{FF2B5EF4-FFF2-40B4-BE49-F238E27FC236}">
                <a16:creationId xmlns:a16="http://schemas.microsoft.com/office/drawing/2014/main" id="{B5BC2088-040F-D6B2-723A-2BA468157C54}"/>
              </a:ext>
            </a:extLst>
          </p:cNvPr>
          <p:cNvSpPr txBox="1">
            <a:spLocks/>
          </p:cNvSpPr>
          <p:nvPr/>
        </p:nvSpPr>
        <p:spPr>
          <a:xfrm>
            <a:off x="7910493" y="964361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0.2</a:t>
            </a:r>
          </a:p>
        </p:txBody>
      </p:sp>
      <p:sp>
        <p:nvSpPr>
          <p:cNvPr id="58" name="Text Placeholder 5">
            <a:extLst>
              <a:ext uri="{FF2B5EF4-FFF2-40B4-BE49-F238E27FC236}">
                <a16:creationId xmlns:a16="http://schemas.microsoft.com/office/drawing/2014/main" id="{CAF9613A-3FE7-69EA-9496-3E73FCC788C9}"/>
              </a:ext>
            </a:extLst>
          </p:cNvPr>
          <p:cNvSpPr txBox="1">
            <a:spLocks/>
          </p:cNvSpPr>
          <p:nvPr/>
        </p:nvSpPr>
        <p:spPr>
          <a:xfrm>
            <a:off x="9947765" y="2117066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0.25</a:t>
            </a:r>
          </a:p>
        </p:txBody>
      </p:sp>
      <p:sp>
        <p:nvSpPr>
          <p:cNvPr id="59" name="Text Placeholder 5">
            <a:extLst>
              <a:ext uri="{FF2B5EF4-FFF2-40B4-BE49-F238E27FC236}">
                <a16:creationId xmlns:a16="http://schemas.microsoft.com/office/drawing/2014/main" id="{AB8DB633-A7FE-84C5-121E-5FAC72A1E119}"/>
              </a:ext>
            </a:extLst>
          </p:cNvPr>
          <p:cNvSpPr txBox="1">
            <a:spLocks/>
          </p:cNvSpPr>
          <p:nvPr/>
        </p:nvSpPr>
        <p:spPr>
          <a:xfrm>
            <a:off x="8353690" y="1398165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0.25</a:t>
            </a:r>
          </a:p>
        </p:txBody>
      </p:sp>
      <p:sp>
        <p:nvSpPr>
          <p:cNvPr id="60" name="Text Placeholder 5">
            <a:extLst>
              <a:ext uri="{FF2B5EF4-FFF2-40B4-BE49-F238E27FC236}">
                <a16:creationId xmlns:a16="http://schemas.microsoft.com/office/drawing/2014/main" id="{1386B1A4-587A-F421-80F3-749C6DED08B0}"/>
              </a:ext>
            </a:extLst>
          </p:cNvPr>
          <p:cNvSpPr txBox="1">
            <a:spLocks/>
          </p:cNvSpPr>
          <p:nvPr/>
        </p:nvSpPr>
        <p:spPr>
          <a:xfrm>
            <a:off x="8861110" y="1018768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0.5</a:t>
            </a:r>
          </a:p>
        </p:txBody>
      </p:sp>
      <p:sp>
        <p:nvSpPr>
          <p:cNvPr id="61" name="Text Placeholder 5">
            <a:extLst>
              <a:ext uri="{FF2B5EF4-FFF2-40B4-BE49-F238E27FC236}">
                <a16:creationId xmlns:a16="http://schemas.microsoft.com/office/drawing/2014/main" id="{3988B68F-9992-4A5D-FAFE-C4B961D4B182}"/>
              </a:ext>
            </a:extLst>
          </p:cNvPr>
          <p:cNvSpPr txBox="1">
            <a:spLocks/>
          </p:cNvSpPr>
          <p:nvPr/>
        </p:nvSpPr>
        <p:spPr>
          <a:xfrm>
            <a:off x="9244031" y="1815462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0.3</a:t>
            </a:r>
          </a:p>
        </p:txBody>
      </p:sp>
      <p:sp>
        <p:nvSpPr>
          <p:cNvPr id="62" name="Text Placeholder 5">
            <a:extLst>
              <a:ext uri="{FF2B5EF4-FFF2-40B4-BE49-F238E27FC236}">
                <a16:creationId xmlns:a16="http://schemas.microsoft.com/office/drawing/2014/main" id="{355D810A-2DE4-699A-AED1-3946815DEFC1}"/>
              </a:ext>
            </a:extLst>
          </p:cNvPr>
          <p:cNvSpPr txBox="1">
            <a:spLocks/>
          </p:cNvSpPr>
          <p:nvPr/>
        </p:nvSpPr>
        <p:spPr>
          <a:xfrm>
            <a:off x="9788319" y="2944862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0.3</a:t>
            </a:r>
          </a:p>
        </p:txBody>
      </p:sp>
      <p:cxnSp>
        <p:nvCxnSpPr>
          <p:cNvPr id="63" name="Connector: Curved 62">
            <a:extLst>
              <a:ext uri="{FF2B5EF4-FFF2-40B4-BE49-F238E27FC236}">
                <a16:creationId xmlns:a16="http://schemas.microsoft.com/office/drawing/2014/main" id="{E7E271C7-CF60-19D8-AF68-24824C9DBBCC}"/>
              </a:ext>
            </a:extLst>
          </p:cNvPr>
          <p:cNvCxnSpPr>
            <a:cxnSpLocks/>
            <a:stCxn id="39" idx="4"/>
            <a:endCxn id="39" idx="6"/>
          </p:cNvCxnSpPr>
          <p:nvPr/>
        </p:nvCxnSpPr>
        <p:spPr>
          <a:xfrm rot="5400000" flipH="1" flipV="1">
            <a:off x="9481908" y="2977894"/>
            <a:ext cx="191068" cy="177421"/>
          </a:xfrm>
          <a:prstGeom prst="curvedConnector4">
            <a:avLst>
              <a:gd name="adj1" fmla="val -119643"/>
              <a:gd name="adj2" fmla="val 22884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8" name="Text Placeholder 5">
            <a:extLst>
              <a:ext uri="{FF2B5EF4-FFF2-40B4-BE49-F238E27FC236}">
                <a16:creationId xmlns:a16="http://schemas.microsoft.com/office/drawing/2014/main" id="{924E60DB-0A47-3A16-1FB7-A0F492B2EA4D}"/>
              </a:ext>
            </a:extLst>
          </p:cNvPr>
          <p:cNvSpPr txBox="1">
            <a:spLocks/>
          </p:cNvSpPr>
          <p:nvPr/>
        </p:nvSpPr>
        <p:spPr>
          <a:xfrm>
            <a:off x="8475737" y="3073185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0.4</a:t>
            </a:r>
          </a:p>
        </p:txBody>
      </p:sp>
      <p:sp>
        <p:nvSpPr>
          <p:cNvPr id="2049" name="Text Placeholder 5">
            <a:extLst>
              <a:ext uri="{FF2B5EF4-FFF2-40B4-BE49-F238E27FC236}">
                <a16:creationId xmlns:a16="http://schemas.microsoft.com/office/drawing/2014/main" id="{837367DA-AFB6-081E-660D-090CA06176AE}"/>
              </a:ext>
            </a:extLst>
          </p:cNvPr>
          <p:cNvSpPr txBox="1">
            <a:spLocks/>
          </p:cNvSpPr>
          <p:nvPr/>
        </p:nvSpPr>
        <p:spPr>
          <a:xfrm>
            <a:off x="8360165" y="2486141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0.5</a:t>
            </a:r>
          </a:p>
        </p:txBody>
      </p:sp>
      <p:sp>
        <p:nvSpPr>
          <p:cNvPr id="2051" name="Text Placeholder 5">
            <a:extLst>
              <a:ext uri="{FF2B5EF4-FFF2-40B4-BE49-F238E27FC236}">
                <a16:creationId xmlns:a16="http://schemas.microsoft.com/office/drawing/2014/main" id="{320B4B26-801D-DB12-D99C-26DB22EF218A}"/>
              </a:ext>
            </a:extLst>
          </p:cNvPr>
          <p:cNvSpPr txBox="1">
            <a:spLocks/>
          </p:cNvSpPr>
          <p:nvPr/>
        </p:nvSpPr>
        <p:spPr>
          <a:xfrm>
            <a:off x="7394541" y="580850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0.5</a:t>
            </a:r>
          </a:p>
        </p:txBody>
      </p:sp>
      <p:sp>
        <p:nvSpPr>
          <p:cNvPr id="2052" name="Text Placeholder 5">
            <a:extLst>
              <a:ext uri="{FF2B5EF4-FFF2-40B4-BE49-F238E27FC236}">
                <a16:creationId xmlns:a16="http://schemas.microsoft.com/office/drawing/2014/main" id="{DB68A977-474A-CACD-A557-9302EBA1E96C}"/>
              </a:ext>
            </a:extLst>
          </p:cNvPr>
          <p:cNvSpPr txBox="1">
            <a:spLocks/>
          </p:cNvSpPr>
          <p:nvPr/>
        </p:nvSpPr>
        <p:spPr>
          <a:xfrm>
            <a:off x="8352372" y="1878276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0.25</a:t>
            </a:r>
          </a:p>
        </p:txBody>
      </p:sp>
      <p:sp>
        <p:nvSpPr>
          <p:cNvPr id="2053" name="Text Placeholder 5">
            <a:extLst>
              <a:ext uri="{FF2B5EF4-FFF2-40B4-BE49-F238E27FC236}">
                <a16:creationId xmlns:a16="http://schemas.microsoft.com/office/drawing/2014/main" id="{B87D9889-2A60-1F64-B9BA-60D789C085C3}"/>
              </a:ext>
            </a:extLst>
          </p:cNvPr>
          <p:cNvSpPr txBox="1">
            <a:spLocks/>
          </p:cNvSpPr>
          <p:nvPr/>
        </p:nvSpPr>
        <p:spPr>
          <a:xfrm>
            <a:off x="7646190" y="2093603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0.25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9" name="TextBox 2058">
                <a:extLst>
                  <a:ext uri="{FF2B5EF4-FFF2-40B4-BE49-F238E27FC236}">
                    <a16:creationId xmlns:a16="http://schemas.microsoft.com/office/drawing/2014/main" id="{99AED9A8-6367-32F4-A9F5-6C187377931C}"/>
                  </a:ext>
                </a:extLst>
              </p:cNvPr>
              <p:cNvSpPr txBox="1"/>
              <p:nvPr/>
            </p:nvSpPr>
            <p:spPr>
              <a:xfrm>
                <a:off x="391880" y="1993609"/>
                <a:ext cx="13670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NZ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NZ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NZ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59" name="TextBox 2058">
                <a:extLst>
                  <a:ext uri="{FF2B5EF4-FFF2-40B4-BE49-F238E27FC236}">
                    <a16:creationId xmlns:a16="http://schemas.microsoft.com/office/drawing/2014/main" id="{99AED9A8-6367-32F4-A9F5-6C18737793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880" y="1993609"/>
                <a:ext cx="136705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CB1FA95C-CFF6-E75A-8379-3D3AA849BD45}"/>
              </a:ext>
            </a:extLst>
          </p:cNvPr>
          <p:cNvSpPr txBox="1"/>
          <p:nvPr/>
        </p:nvSpPr>
        <p:spPr>
          <a:xfrm>
            <a:off x="319463" y="3404663"/>
            <a:ext cx="107630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lphaLcParenR" startAt="2"/>
            </a:pPr>
            <a:r>
              <a:rPr lang="en-US" altLang="ja-JP" sz="1800" dirty="0">
                <a:solidFill>
                  <a:srgbClr val="0070C0"/>
                </a:solidFill>
                <a:latin typeface="Calibri" panose="020F0502020204030204"/>
                <a:ea typeface="游ゴシック" panose="020B0400000000000000" pitchFamily="34" charset="-128"/>
              </a:rPr>
              <a:t>What conditions ensure that a discrete state space Markov chain has a </a:t>
            </a:r>
            <a:r>
              <a:rPr lang="en-US" altLang="ja-JP" sz="1800" b="1" dirty="0">
                <a:solidFill>
                  <a:srgbClr val="0070C0"/>
                </a:solidFill>
                <a:latin typeface="Calibri" panose="020F0502020204030204"/>
                <a:ea typeface="游ゴシック" panose="020B0400000000000000" pitchFamily="34" charset="-128"/>
              </a:rPr>
              <a:t>limiting distribution</a:t>
            </a:r>
            <a:r>
              <a:rPr lang="en-US" altLang="ja-JP" sz="1800" dirty="0">
                <a:solidFill>
                  <a:srgbClr val="0070C0"/>
                </a:solidFill>
                <a:latin typeface="Calibri" panose="020F0502020204030204"/>
                <a:ea typeface="游ゴシック" panose="020B0400000000000000" pitchFamily="34" charset="-128"/>
              </a:rPr>
              <a:t>? </a:t>
            </a:r>
            <a:br>
              <a:rPr lang="en-US" altLang="ja-JP" sz="1800" dirty="0">
                <a:solidFill>
                  <a:srgbClr val="0070C0"/>
                </a:solidFill>
                <a:latin typeface="Calibri" panose="020F0502020204030204"/>
                <a:ea typeface="游ゴシック" panose="020B0400000000000000" pitchFamily="34" charset="-128"/>
              </a:rPr>
            </a:br>
            <a:r>
              <a:rPr lang="en-US" altLang="ja-JP" sz="1800" dirty="0">
                <a:solidFill>
                  <a:srgbClr val="0070C0"/>
                </a:solidFill>
                <a:latin typeface="Calibri" panose="020F0502020204030204"/>
                <a:ea typeface="游ゴシック" panose="020B0400000000000000" pitchFamily="34" charset="-128"/>
              </a:rPr>
              <a:t>Are these conditions satisfied here? </a:t>
            </a:r>
            <a:endParaRPr lang="en-NZ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21742BB5-A6D1-6A6E-0CA1-A62BA467ECE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1431" y="4079497"/>
                <a:ext cx="10525366" cy="2163287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R="0" lvl="0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r>
                  <a:rPr lang="en-US" altLang="ja-JP" sz="14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If a discrete state space Markov chain is irreducible and ergodic (positive recurrent and aperiodic) then it has a limiting distribution (see Theorem 6 of lecture notes).</a:t>
                </a:r>
              </a:p>
              <a:p>
                <a:pPr marR="0" lvl="0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br>
                  <a:rPr lang="en-US" altLang="ja-JP" sz="14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</a:br>
                <a:r>
                  <a:rPr lang="en-US" altLang="ja-JP" sz="14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This chain is irreducible, positive recurrent and aperiodic (the existence of the self-loop at state 3 is sufficient to show that the chain is periodic). As such, this chain must have a limiting distribution.</a:t>
                </a:r>
              </a:p>
              <a:p>
                <a:pPr marR="0" lvl="0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endParaRPr lang="en-US" altLang="ja-JP" sz="1400" dirty="0">
                  <a:solidFill>
                    <a:schemeClr val="tx1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lvl="0">
                  <a:lnSpc>
                    <a:spcPct val="100000"/>
                  </a:lnSpc>
                  <a:defRPr/>
                </a:pPr>
                <a:r>
                  <a:rPr lang="en-US" altLang="ja-JP" sz="14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By Theorem 6 of the lecture notes, in order to find the limiting distribution, it suffices to find a solution to the equation </a:t>
                </a:r>
                <a14:m>
                  <m:oMath xmlns:m="http://schemas.openxmlformats.org/officeDocument/2006/math">
                    <m:r>
                      <a:rPr lang="en-NZ" altLang="ja-JP" sz="1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𝝅</m:t>
                    </m:r>
                    <m:r>
                      <a:rPr lang="en-NZ" altLang="ja-JP" sz="1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NZ" altLang="ja-JP" sz="1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𝝅</m:t>
                    </m:r>
                    <m:r>
                      <a:rPr lang="en-NZ" altLang="ja-JP" sz="1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NZ" altLang="ja-JP" sz="1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r>
                  <a:rPr lang="en-NZ" altLang="ja-JP" sz="14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.</a:t>
                </a:r>
              </a:p>
              <a:p>
                <a:pPr lvl="0">
                  <a:lnSpc>
                    <a:spcPct val="100000"/>
                  </a:lnSpc>
                  <a:defRPr/>
                </a:pPr>
                <a:endParaRPr lang="en-NZ" altLang="ja-JP" sz="1400" dirty="0">
                  <a:solidFill>
                    <a:schemeClr val="tx1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lvl="0">
                  <a:lnSpc>
                    <a:spcPct val="100000"/>
                  </a:lnSpc>
                  <a:defRPr/>
                </a:pPr>
                <a:r>
                  <a:rPr lang="en-NZ" altLang="ja-JP" sz="14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Since we already know that </a:t>
                </a:r>
                <a14:m>
                  <m:oMath xmlns:m="http://schemas.openxmlformats.org/officeDocument/2006/math">
                    <m:r>
                      <a:rPr lang="en-NZ" altLang="ja-JP" sz="1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𝝅</m:t>
                    </m:r>
                    <m:r>
                      <a:rPr lang="en-NZ" altLang="ja-JP" sz="1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ctrlPr>
                          <a:rPr lang="en-NZ" altLang="ja-JP" sz="1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NZ" altLang="ja-JP" sz="1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NZ" altLang="ja-JP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NZ" altLang="ja-JP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NZ" altLang="ja-JP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𝟐𝟎𝟑𝟗𝟖𝟒𝟖</m:t>
                              </m:r>
                            </m:e>
                            <m:e>
                              <m:r>
                                <a:rPr lang="en-NZ" altLang="ja-JP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NZ" altLang="ja-JP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NZ" altLang="ja-JP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𝟐𝟑𝟕𝟏𝟗𝟏𝟕</m:t>
                              </m: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NZ" altLang="ja-JP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14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NZ" altLang="ja-JP" sz="14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NZ" altLang="ja-JP" sz="14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𝟐𝟒𝟔𝟔𝟕𝟗𝟑</m:t>
                                    </m:r>
                                  </m:e>
                                  <m:e>
                                    <m:r>
                                      <a:rPr lang="en-NZ" altLang="ja-JP" sz="14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NZ" altLang="ja-JP" sz="14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NZ" altLang="ja-JP" sz="14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𝟏𝟒𝟏𝟑𝟔𝟔𝟐</m:t>
                                    </m:r>
                                  </m:e>
                                  <m:e>
                                    <m:r>
                                      <a:rPr lang="en-NZ" altLang="ja-JP" sz="14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NZ" altLang="ja-JP" sz="14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NZ" altLang="ja-JP" sz="14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𝟏𝟕𝟎𝟕𝟕𝟖𝟎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r>
                  <a:rPr lang="en-NZ" altLang="ja-JP" sz="14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uniquely solves this equation,</a:t>
                </a:r>
              </a:p>
              <a:p>
                <a:pPr lvl="0">
                  <a:lnSpc>
                    <a:spcPct val="100000"/>
                  </a:lnSpc>
                  <a:defRPr/>
                </a:pPr>
                <a:r>
                  <a:rPr lang="en-NZ" altLang="ja-JP" sz="14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This must be the limiting distribution .</a:t>
                </a:r>
                <a:br>
                  <a:rPr lang="en-NZ" altLang="ja-JP" sz="14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</a:br>
                <a:endParaRPr lang="en-US" altLang="ja-JP" sz="1400" dirty="0">
                  <a:solidFill>
                    <a:schemeClr val="tx1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21742BB5-A6D1-6A6E-0CA1-A62BA467EC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431" y="4079497"/>
                <a:ext cx="10525366" cy="2163287"/>
              </a:xfrm>
              <a:prstGeom prst="rect">
                <a:avLst/>
              </a:prstGeom>
              <a:blipFill>
                <a:blip r:embed="rId5"/>
                <a:stretch>
                  <a:fillRect l="-174" t="-563" b="-5915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A76AB049-2463-7E4F-3D1A-D89C0A809288}"/>
              </a:ext>
            </a:extLst>
          </p:cNvPr>
          <p:cNvSpPr txBox="1">
            <a:spLocks/>
          </p:cNvSpPr>
          <p:nvPr/>
        </p:nvSpPr>
        <p:spPr>
          <a:xfrm>
            <a:off x="9444251" y="86139"/>
            <a:ext cx="2645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Question 3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14" name="Title 6">
            <a:extLst>
              <a:ext uri="{FF2B5EF4-FFF2-40B4-BE49-F238E27FC236}">
                <a16:creationId xmlns:a16="http://schemas.microsoft.com/office/drawing/2014/main" id="{B5CD0DC2-825B-7FEA-E79B-BF66653496D4}"/>
              </a:ext>
            </a:extLst>
          </p:cNvPr>
          <p:cNvSpPr txBox="1">
            <a:spLocks/>
          </p:cNvSpPr>
          <p:nvPr/>
        </p:nvSpPr>
        <p:spPr>
          <a:xfrm>
            <a:off x="319464" y="196889"/>
            <a:ext cx="2819522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Question 3: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4237071A-51D8-193A-5CAF-783D8BB10ED3}"/>
              </a:ext>
            </a:extLst>
          </p:cNvPr>
          <p:cNvSpPr txBox="1">
            <a:spLocks/>
          </p:cNvSpPr>
          <p:nvPr/>
        </p:nvSpPr>
        <p:spPr>
          <a:xfrm>
            <a:off x="3011606" y="6551432"/>
            <a:ext cx="6168789" cy="3085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Associated code = </a:t>
            </a:r>
            <a:r>
              <a:rPr kumimoji="1" lang="en-NZ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Tutorial 4 – Q3</a:t>
            </a:r>
            <a:endParaRPr kumimoji="1" lang="en-US" altLang="ja-JP" sz="12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0594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65B06D6C-CCB3-4D8F-9171-6B4779FED53B}"/>
              </a:ext>
            </a:extLst>
          </p:cNvPr>
          <p:cNvSpPr txBox="1">
            <a:spLocks/>
          </p:cNvSpPr>
          <p:nvPr/>
        </p:nvSpPr>
        <p:spPr>
          <a:xfrm>
            <a:off x="319463" y="859039"/>
            <a:ext cx="6284610" cy="4471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Consider the discrete state space Markov chain defined below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5">
                <a:extLst>
                  <a:ext uri="{FF2B5EF4-FFF2-40B4-BE49-F238E27FC236}">
                    <a16:creationId xmlns:a16="http://schemas.microsoft.com/office/drawing/2014/main" id="{821F6F52-A425-0203-4963-D33DB0F9560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57859" y="1555113"/>
                <a:ext cx="4085230" cy="141521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kumimoji="1" lang="en-US" altLang="ja-JP" sz="180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ja-JP" sz="180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0</m:t>
                                </m:r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.00</m:t>
                                </m:r>
                              </m:e>
                              <m:e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0.80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US" altLang="ja-JP" sz="180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NZ" altLang="ja-JP" sz="1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0.00</m:t>
                                      </m:r>
                                    </m:e>
                                    <m:e>
                                      <m:r>
                                        <a:rPr lang="en-NZ" altLang="ja-JP" sz="1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0.00</m:t>
                                      </m:r>
                                    </m:e>
                                    <m:e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0.20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0.50</m:t>
                                </m:r>
                              </m:e>
                              <m:e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0.00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US" altLang="ja-JP" sz="180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0</m:t>
                                      </m:r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.25</m:t>
                                      </m:r>
                                    </m:e>
                                    <m:e>
                                      <m:r>
                                        <a:rPr lang="en-NZ" altLang="ja-JP" sz="1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0.00</m:t>
                                      </m:r>
                                    </m:e>
                                    <m:e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0.25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US" altLang="ja-JP" sz="180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NZ" altLang="ja-JP" sz="1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0.00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NZ" altLang="ja-JP" sz="1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0.00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0.50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US" altLang="ja-JP" sz="180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0</m:t>
                                      </m:r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.30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NZ" altLang="ja-JP" sz="1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0.00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NZ" altLang="ja-JP" sz="1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0.00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US" altLang="ja-JP" sz="180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US" altLang="ja-JP" sz="180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游ゴシック" panose="020B0400000000000000" pitchFamily="34" charset="-128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0</m:t>
                                            </m:r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.30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0.50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0.25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US" altLang="ja-JP" sz="180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游ゴシック" panose="020B0400000000000000" pitchFamily="34" charset="-128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0</m:t>
                                            </m:r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.40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NZ" altLang="ja-JP" sz="1800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0.00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0.25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US" altLang="ja-JP" sz="180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游ゴシック" panose="020B0400000000000000" pitchFamily="34" charset="-128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a:rPr lang="en-NZ" altLang="ja-JP" sz="1800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0.00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0.50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NZ" altLang="ja-JP" sz="1800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0.00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en-US" altLang="ja-JP" sz="180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2" name="Text Placeholder 5">
                <a:extLst>
                  <a:ext uri="{FF2B5EF4-FFF2-40B4-BE49-F238E27FC236}">
                    <a16:creationId xmlns:a16="http://schemas.microsoft.com/office/drawing/2014/main" id="{821F6F52-A425-0203-4963-D33DB0F956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7859" y="1555113"/>
                <a:ext cx="4085230" cy="14152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FE8653E7-8E70-F4E1-08CA-D9792B339E49}"/>
              </a:ext>
            </a:extLst>
          </p:cNvPr>
          <p:cNvSpPr txBox="1">
            <a:spLocks/>
          </p:cNvSpPr>
          <p:nvPr/>
        </p:nvSpPr>
        <p:spPr>
          <a:xfrm>
            <a:off x="1747609" y="1237886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1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FE5CB15-9C0E-FE0D-2961-0535AB9FE278}"/>
              </a:ext>
            </a:extLst>
          </p:cNvPr>
          <p:cNvSpPr txBox="1">
            <a:spLocks/>
          </p:cNvSpPr>
          <p:nvPr/>
        </p:nvSpPr>
        <p:spPr>
          <a:xfrm>
            <a:off x="2395878" y="1237886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2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3A3E02E9-26D6-CF28-7759-3DD9FD6EA0D5}"/>
              </a:ext>
            </a:extLst>
          </p:cNvPr>
          <p:cNvSpPr txBox="1">
            <a:spLocks/>
          </p:cNvSpPr>
          <p:nvPr/>
        </p:nvSpPr>
        <p:spPr>
          <a:xfrm>
            <a:off x="3076339" y="1237886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3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4642364A-7BEE-9ADD-6B41-0C3331B33A04}"/>
              </a:ext>
            </a:extLst>
          </p:cNvPr>
          <p:cNvSpPr txBox="1">
            <a:spLocks/>
          </p:cNvSpPr>
          <p:nvPr/>
        </p:nvSpPr>
        <p:spPr>
          <a:xfrm>
            <a:off x="3756800" y="1256413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4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ECE8E70A-5271-7FF6-EDF9-CB040FCF132C}"/>
              </a:ext>
            </a:extLst>
          </p:cNvPr>
          <p:cNvSpPr txBox="1">
            <a:spLocks/>
          </p:cNvSpPr>
          <p:nvPr/>
        </p:nvSpPr>
        <p:spPr>
          <a:xfrm>
            <a:off x="4405069" y="1256413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5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D0E0604C-7573-7D78-9A71-0FB3A528DB23}"/>
              </a:ext>
            </a:extLst>
          </p:cNvPr>
          <p:cNvSpPr txBox="1">
            <a:spLocks/>
          </p:cNvSpPr>
          <p:nvPr/>
        </p:nvSpPr>
        <p:spPr>
          <a:xfrm>
            <a:off x="1247539" y="1536586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1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22A22D0A-A2C5-A83D-56C0-C803CD786C07}"/>
              </a:ext>
            </a:extLst>
          </p:cNvPr>
          <p:cNvSpPr txBox="1">
            <a:spLocks/>
          </p:cNvSpPr>
          <p:nvPr/>
        </p:nvSpPr>
        <p:spPr>
          <a:xfrm>
            <a:off x="1247539" y="1796420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2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D66AC2D2-9809-3429-5D74-78F145AA3521}"/>
              </a:ext>
            </a:extLst>
          </p:cNvPr>
          <p:cNvSpPr txBox="1">
            <a:spLocks/>
          </p:cNvSpPr>
          <p:nvPr/>
        </p:nvSpPr>
        <p:spPr>
          <a:xfrm>
            <a:off x="1247539" y="2056254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3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CEAE0613-6590-2911-1973-6507FCD4B936}"/>
              </a:ext>
            </a:extLst>
          </p:cNvPr>
          <p:cNvSpPr txBox="1">
            <a:spLocks/>
          </p:cNvSpPr>
          <p:nvPr/>
        </p:nvSpPr>
        <p:spPr>
          <a:xfrm>
            <a:off x="1247539" y="2311446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4</a:t>
            </a:r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FFF4E0FB-70AF-1EB2-BD5B-711A81101109}"/>
              </a:ext>
            </a:extLst>
          </p:cNvPr>
          <p:cNvSpPr txBox="1">
            <a:spLocks/>
          </p:cNvSpPr>
          <p:nvPr/>
        </p:nvSpPr>
        <p:spPr>
          <a:xfrm>
            <a:off x="1253574" y="2555067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5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D583274-C45C-63F4-A94A-8F5EFD227638}"/>
              </a:ext>
            </a:extLst>
          </p:cNvPr>
          <p:cNvSpPr/>
          <p:nvPr/>
        </p:nvSpPr>
        <p:spPr>
          <a:xfrm>
            <a:off x="8496995" y="497414"/>
            <a:ext cx="354842" cy="38213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1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08BCE91-0957-382C-7B26-6B97A86E6D44}"/>
              </a:ext>
            </a:extLst>
          </p:cNvPr>
          <p:cNvSpPr/>
          <p:nvPr/>
        </p:nvSpPr>
        <p:spPr>
          <a:xfrm>
            <a:off x="10041466" y="1207097"/>
            <a:ext cx="354842" cy="38213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2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F2F9F241-4A9D-34B1-7DA8-D6D4425A7EFB}"/>
              </a:ext>
            </a:extLst>
          </p:cNvPr>
          <p:cNvSpPr/>
          <p:nvPr/>
        </p:nvSpPr>
        <p:spPr>
          <a:xfrm>
            <a:off x="9311311" y="2780003"/>
            <a:ext cx="354842" cy="38213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3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240B1616-E0C0-5FF6-6200-E302F2BC3923}"/>
              </a:ext>
            </a:extLst>
          </p:cNvPr>
          <p:cNvSpPr/>
          <p:nvPr/>
        </p:nvSpPr>
        <p:spPr>
          <a:xfrm>
            <a:off x="7757740" y="2780003"/>
            <a:ext cx="354842" cy="38213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4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CEEE3291-C116-2E71-3867-E28A7DFAA3CA}"/>
              </a:ext>
            </a:extLst>
          </p:cNvPr>
          <p:cNvSpPr/>
          <p:nvPr/>
        </p:nvSpPr>
        <p:spPr>
          <a:xfrm>
            <a:off x="6979818" y="1207097"/>
            <a:ext cx="354842" cy="38213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5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9E9D28C-3F8B-62F6-6B77-4A6900C19AF0}"/>
              </a:ext>
            </a:extLst>
          </p:cNvPr>
          <p:cNvCxnSpPr>
            <a:cxnSpLocks/>
          </p:cNvCxnSpPr>
          <p:nvPr/>
        </p:nvCxnSpPr>
        <p:spPr>
          <a:xfrm flipH="1">
            <a:off x="9689246" y="1608682"/>
            <a:ext cx="604699" cy="124673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25B6559-6924-0E21-9376-8B9F9745D25C}"/>
              </a:ext>
            </a:extLst>
          </p:cNvPr>
          <p:cNvCxnSpPr>
            <a:cxnSpLocks/>
            <a:endCxn id="38" idx="3"/>
          </p:cNvCxnSpPr>
          <p:nvPr/>
        </p:nvCxnSpPr>
        <p:spPr>
          <a:xfrm flipV="1">
            <a:off x="9489780" y="1533270"/>
            <a:ext cx="603651" cy="119794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A31F77F-4A98-F9E6-0C19-B793CB7833CE}"/>
              </a:ext>
            </a:extLst>
          </p:cNvPr>
          <p:cNvCxnSpPr>
            <a:cxnSpLocks/>
            <a:stCxn id="40" idx="7"/>
            <a:endCxn id="39" idx="1"/>
          </p:cNvCxnSpPr>
          <p:nvPr/>
        </p:nvCxnSpPr>
        <p:spPr>
          <a:xfrm>
            <a:off x="8060617" y="2835966"/>
            <a:ext cx="130265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3499911-8054-6F83-3628-BFC38CE4B6A5}"/>
              </a:ext>
            </a:extLst>
          </p:cNvPr>
          <p:cNvCxnSpPr>
            <a:cxnSpLocks/>
            <a:stCxn id="39" idx="3"/>
            <a:endCxn id="40" idx="5"/>
          </p:cNvCxnSpPr>
          <p:nvPr/>
        </p:nvCxnSpPr>
        <p:spPr>
          <a:xfrm flipH="1">
            <a:off x="8060617" y="3106176"/>
            <a:ext cx="130265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8CE8EA4-E685-EE84-1B09-5FA6627CC859}"/>
              </a:ext>
            </a:extLst>
          </p:cNvPr>
          <p:cNvCxnSpPr>
            <a:cxnSpLocks/>
          </p:cNvCxnSpPr>
          <p:nvPr/>
        </p:nvCxnSpPr>
        <p:spPr>
          <a:xfrm>
            <a:off x="7457490" y="1569111"/>
            <a:ext cx="1853821" cy="109591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AD57B54C-C8AE-F003-4AEC-F5C20A5854ED}"/>
              </a:ext>
            </a:extLst>
          </p:cNvPr>
          <p:cNvCxnSpPr>
            <a:cxnSpLocks/>
            <a:stCxn id="40" idx="2"/>
          </p:cNvCxnSpPr>
          <p:nvPr/>
        </p:nvCxnSpPr>
        <p:spPr>
          <a:xfrm flipH="1" flipV="1">
            <a:off x="7079462" y="1596402"/>
            <a:ext cx="678278" cy="137466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46CA938-23EB-2081-50DA-3EAFAE6C45D9}"/>
              </a:ext>
            </a:extLst>
          </p:cNvPr>
          <p:cNvCxnSpPr>
            <a:cxnSpLocks/>
            <a:endCxn id="40" idx="0"/>
          </p:cNvCxnSpPr>
          <p:nvPr/>
        </p:nvCxnSpPr>
        <p:spPr>
          <a:xfrm>
            <a:off x="7306445" y="1513147"/>
            <a:ext cx="628716" cy="126685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9532D890-8B8E-51E3-E873-F7C611FDDD30}"/>
              </a:ext>
            </a:extLst>
          </p:cNvPr>
          <p:cNvCxnSpPr>
            <a:cxnSpLocks/>
            <a:stCxn id="41" idx="0"/>
            <a:endCxn id="36" idx="1"/>
          </p:cNvCxnSpPr>
          <p:nvPr/>
        </p:nvCxnSpPr>
        <p:spPr>
          <a:xfrm flipV="1">
            <a:off x="7157239" y="553377"/>
            <a:ext cx="1391721" cy="65372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C42B740C-C5ED-5091-A1AC-FF7B5E8CE06C}"/>
              </a:ext>
            </a:extLst>
          </p:cNvPr>
          <p:cNvCxnSpPr>
            <a:cxnSpLocks/>
            <a:stCxn id="36" idx="3"/>
            <a:endCxn id="41" idx="6"/>
          </p:cNvCxnSpPr>
          <p:nvPr/>
        </p:nvCxnSpPr>
        <p:spPr>
          <a:xfrm flipH="1">
            <a:off x="7334660" y="823587"/>
            <a:ext cx="1214300" cy="57457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F981E981-6287-7C35-AA9D-020A12BE53AD}"/>
              </a:ext>
            </a:extLst>
          </p:cNvPr>
          <p:cNvCxnSpPr>
            <a:cxnSpLocks/>
            <a:stCxn id="36" idx="7"/>
            <a:endCxn id="38" idx="0"/>
          </p:cNvCxnSpPr>
          <p:nvPr/>
        </p:nvCxnSpPr>
        <p:spPr>
          <a:xfrm>
            <a:off x="8799872" y="553377"/>
            <a:ext cx="1419015" cy="65372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2596BA6A-A1E1-50D8-9F88-24823627BB96}"/>
              </a:ext>
            </a:extLst>
          </p:cNvPr>
          <p:cNvCxnSpPr>
            <a:cxnSpLocks/>
            <a:stCxn id="38" idx="2"/>
            <a:endCxn id="36" idx="5"/>
          </p:cNvCxnSpPr>
          <p:nvPr/>
        </p:nvCxnSpPr>
        <p:spPr>
          <a:xfrm flipH="1" flipV="1">
            <a:off x="8799872" y="823587"/>
            <a:ext cx="1241594" cy="57457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BDB35D8-9F3D-426C-1CF2-DEB344BB5564}"/>
              </a:ext>
            </a:extLst>
          </p:cNvPr>
          <p:cNvCxnSpPr>
            <a:cxnSpLocks/>
            <a:stCxn id="38" idx="2"/>
          </p:cNvCxnSpPr>
          <p:nvPr/>
        </p:nvCxnSpPr>
        <p:spPr>
          <a:xfrm flipH="1">
            <a:off x="7394761" y="1398165"/>
            <a:ext cx="2646705" cy="5321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 Placeholder 5">
            <a:extLst>
              <a:ext uri="{FF2B5EF4-FFF2-40B4-BE49-F238E27FC236}">
                <a16:creationId xmlns:a16="http://schemas.microsoft.com/office/drawing/2014/main" id="{5C514145-B1BB-5F85-5FCD-B59CC7BBC58A}"/>
              </a:ext>
            </a:extLst>
          </p:cNvPr>
          <p:cNvSpPr txBox="1">
            <a:spLocks/>
          </p:cNvSpPr>
          <p:nvPr/>
        </p:nvSpPr>
        <p:spPr>
          <a:xfrm>
            <a:off x="9363276" y="539132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0.8</a:t>
            </a:r>
          </a:p>
        </p:txBody>
      </p:sp>
      <p:sp>
        <p:nvSpPr>
          <p:cNvPr id="57" name="Text Placeholder 5">
            <a:extLst>
              <a:ext uri="{FF2B5EF4-FFF2-40B4-BE49-F238E27FC236}">
                <a16:creationId xmlns:a16="http://schemas.microsoft.com/office/drawing/2014/main" id="{B5BC2088-040F-D6B2-723A-2BA468157C54}"/>
              </a:ext>
            </a:extLst>
          </p:cNvPr>
          <p:cNvSpPr txBox="1">
            <a:spLocks/>
          </p:cNvSpPr>
          <p:nvPr/>
        </p:nvSpPr>
        <p:spPr>
          <a:xfrm>
            <a:off x="7910493" y="964361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0.2</a:t>
            </a:r>
          </a:p>
        </p:txBody>
      </p:sp>
      <p:sp>
        <p:nvSpPr>
          <p:cNvPr id="58" name="Text Placeholder 5">
            <a:extLst>
              <a:ext uri="{FF2B5EF4-FFF2-40B4-BE49-F238E27FC236}">
                <a16:creationId xmlns:a16="http://schemas.microsoft.com/office/drawing/2014/main" id="{CAF9613A-3FE7-69EA-9496-3E73FCC788C9}"/>
              </a:ext>
            </a:extLst>
          </p:cNvPr>
          <p:cNvSpPr txBox="1">
            <a:spLocks/>
          </p:cNvSpPr>
          <p:nvPr/>
        </p:nvSpPr>
        <p:spPr>
          <a:xfrm>
            <a:off x="9947765" y="2117066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0.25</a:t>
            </a:r>
          </a:p>
        </p:txBody>
      </p:sp>
      <p:sp>
        <p:nvSpPr>
          <p:cNvPr id="59" name="Text Placeholder 5">
            <a:extLst>
              <a:ext uri="{FF2B5EF4-FFF2-40B4-BE49-F238E27FC236}">
                <a16:creationId xmlns:a16="http://schemas.microsoft.com/office/drawing/2014/main" id="{AB8DB633-A7FE-84C5-121E-5FAC72A1E119}"/>
              </a:ext>
            </a:extLst>
          </p:cNvPr>
          <p:cNvSpPr txBox="1">
            <a:spLocks/>
          </p:cNvSpPr>
          <p:nvPr/>
        </p:nvSpPr>
        <p:spPr>
          <a:xfrm>
            <a:off x="8353690" y="1398165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0.25</a:t>
            </a:r>
          </a:p>
        </p:txBody>
      </p:sp>
      <p:sp>
        <p:nvSpPr>
          <p:cNvPr id="60" name="Text Placeholder 5">
            <a:extLst>
              <a:ext uri="{FF2B5EF4-FFF2-40B4-BE49-F238E27FC236}">
                <a16:creationId xmlns:a16="http://schemas.microsoft.com/office/drawing/2014/main" id="{1386B1A4-587A-F421-80F3-749C6DED08B0}"/>
              </a:ext>
            </a:extLst>
          </p:cNvPr>
          <p:cNvSpPr txBox="1">
            <a:spLocks/>
          </p:cNvSpPr>
          <p:nvPr/>
        </p:nvSpPr>
        <p:spPr>
          <a:xfrm>
            <a:off x="8861110" y="1018768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0.5</a:t>
            </a:r>
          </a:p>
        </p:txBody>
      </p:sp>
      <p:sp>
        <p:nvSpPr>
          <p:cNvPr id="61" name="Text Placeholder 5">
            <a:extLst>
              <a:ext uri="{FF2B5EF4-FFF2-40B4-BE49-F238E27FC236}">
                <a16:creationId xmlns:a16="http://schemas.microsoft.com/office/drawing/2014/main" id="{3988B68F-9992-4A5D-FAFE-C4B961D4B182}"/>
              </a:ext>
            </a:extLst>
          </p:cNvPr>
          <p:cNvSpPr txBox="1">
            <a:spLocks/>
          </p:cNvSpPr>
          <p:nvPr/>
        </p:nvSpPr>
        <p:spPr>
          <a:xfrm>
            <a:off x="9244031" y="1815462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0.3</a:t>
            </a:r>
          </a:p>
        </p:txBody>
      </p:sp>
      <p:sp>
        <p:nvSpPr>
          <p:cNvPr id="62" name="Text Placeholder 5">
            <a:extLst>
              <a:ext uri="{FF2B5EF4-FFF2-40B4-BE49-F238E27FC236}">
                <a16:creationId xmlns:a16="http://schemas.microsoft.com/office/drawing/2014/main" id="{355D810A-2DE4-699A-AED1-3946815DEFC1}"/>
              </a:ext>
            </a:extLst>
          </p:cNvPr>
          <p:cNvSpPr txBox="1">
            <a:spLocks/>
          </p:cNvSpPr>
          <p:nvPr/>
        </p:nvSpPr>
        <p:spPr>
          <a:xfrm>
            <a:off x="9788319" y="2944862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0.3</a:t>
            </a:r>
          </a:p>
        </p:txBody>
      </p:sp>
      <p:cxnSp>
        <p:nvCxnSpPr>
          <p:cNvPr id="63" name="Connector: Curved 62">
            <a:extLst>
              <a:ext uri="{FF2B5EF4-FFF2-40B4-BE49-F238E27FC236}">
                <a16:creationId xmlns:a16="http://schemas.microsoft.com/office/drawing/2014/main" id="{E7E271C7-CF60-19D8-AF68-24824C9DBBCC}"/>
              </a:ext>
            </a:extLst>
          </p:cNvPr>
          <p:cNvCxnSpPr>
            <a:cxnSpLocks/>
            <a:stCxn id="39" idx="4"/>
            <a:endCxn id="39" idx="6"/>
          </p:cNvCxnSpPr>
          <p:nvPr/>
        </p:nvCxnSpPr>
        <p:spPr>
          <a:xfrm rot="5400000" flipH="1" flipV="1">
            <a:off x="9481908" y="2977894"/>
            <a:ext cx="191068" cy="177421"/>
          </a:xfrm>
          <a:prstGeom prst="curvedConnector4">
            <a:avLst>
              <a:gd name="adj1" fmla="val -119643"/>
              <a:gd name="adj2" fmla="val 22884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8" name="Text Placeholder 5">
            <a:extLst>
              <a:ext uri="{FF2B5EF4-FFF2-40B4-BE49-F238E27FC236}">
                <a16:creationId xmlns:a16="http://schemas.microsoft.com/office/drawing/2014/main" id="{924E60DB-0A47-3A16-1FB7-A0F492B2EA4D}"/>
              </a:ext>
            </a:extLst>
          </p:cNvPr>
          <p:cNvSpPr txBox="1">
            <a:spLocks/>
          </p:cNvSpPr>
          <p:nvPr/>
        </p:nvSpPr>
        <p:spPr>
          <a:xfrm>
            <a:off x="8475737" y="3073185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0.4</a:t>
            </a:r>
          </a:p>
        </p:txBody>
      </p:sp>
      <p:sp>
        <p:nvSpPr>
          <p:cNvPr id="2049" name="Text Placeholder 5">
            <a:extLst>
              <a:ext uri="{FF2B5EF4-FFF2-40B4-BE49-F238E27FC236}">
                <a16:creationId xmlns:a16="http://schemas.microsoft.com/office/drawing/2014/main" id="{837367DA-AFB6-081E-660D-090CA06176AE}"/>
              </a:ext>
            </a:extLst>
          </p:cNvPr>
          <p:cNvSpPr txBox="1">
            <a:spLocks/>
          </p:cNvSpPr>
          <p:nvPr/>
        </p:nvSpPr>
        <p:spPr>
          <a:xfrm>
            <a:off x="8360165" y="2486141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0.5</a:t>
            </a:r>
          </a:p>
        </p:txBody>
      </p:sp>
      <p:sp>
        <p:nvSpPr>
          <p:cNvPr id="2051" name="Text Placeholder 5">
            <a:extLst>
              <a:ext uri="{FF2B5EF4-FFF2-40B4-BE49-F238E27FC236}">
                <a16:creationId xmlns:a16="http://schemas.microsoft.com/office/drawing/2014/main" id="{320B4B26-801D-DB12-D99C-26DB22EF218A}"/>
              </a:ext>
            </a:extLst>
          </p:cNvPr>
          <p:cNvSpPr txBox="1">
            <a:spLocks/>
          </p:cNvSpPr>
          <p:nvPr/>
        </p:nvSpPr>
        <p:spPr>
          <a:xfrm>
            <a:off x="7394541" y="580850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0.5</a:t>
            </a:r>
          </a:p>
        </p:txBody>
      </p:sp>
      <p:sp>
        <p:nvSpPr>
          <p:cNvPr id="2052" name="Text Placeholder 5">
            <a:extLst>
              <a:ext uri="{FF2B5EF4-FFF2-40B4-BE49-F238E27FC236}">
                <a16:creationId xmlns:a16="http://schemas.microsoft.com/office/drawing/2014/main" id="{DB68A977-474A-CACD-A557-9302EBA1E96C}"/>
              </a:ext>
            </a:extLst>
          </p:cNvPr>
          <p:cNvSpPr txBox="1">
            <a:spLocks/>
          </p:cNvSpPr>
          <p:nvPr/>
        </p:nvSpPr>
        <p:spPr>
          <a:xfrm>
            <a:off x="8352372" y="1878276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0.25</a:t>
            </a:r>
          </a:p>
        </p:txBody>
      </p:sp>
      <p:sp>
        <p:nvSpPr>
          <p:cNvPr id="2053" name="Text Placeholder 5">
            <a:extLst>
              <a:ext uri="{FF2B5EF4-FFF2-40B4-BE49-F238E27FC236}">
                <a16:creationId xmlns:a16="http://schemas.microsoft.com/office/drawing/2014/main" id="{B87D9889-2A60-1F64-B9BA-60D789C085C3}"/>
              </a:ext>
            </a:extLst>
          </p:cNvPr>
          <p:cNvSpPr txBox="1">
            <a:spLocks/>
          </p:cNvSpPr>
          <p:nvPr/>
        </p:nvSpPr>
        <p:spPr>
          <a:xfrm>
            <a:off x="7646190" y="2093603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0.25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9" name="TextBox 2058">
                <a:extLst>
                  <a:ext uri="{FF2B5EF4-FFF2-40B4-BE49-F238E27FC236}">
                    <a16:creationId xmlns:a16="http://schemas.microsoft.com/office/drawing/2014/main" id="{99AED9A8-6367-32F4-A9F5-6C187377931C}"/>
                  </a:ext>
                </a:extLst>
              </p:cNvPr>
              <p:cNvSpPr txBox="1"/>
              <p:nvPr/>
            </p:nvSpPr>
            <p:spPr>
              <a:xfrm>
                <a:off x="391880" y="1993609"/>
                <a:ext cx="13670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NZ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NZ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NZ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59" name="TextBox 2058">
                <a:extLst>
                  <a:ext uri="{FF2B5EF4-FFF2-40B4-BE49-F238E27FC236}">
                    <a16:creationId xmlns:a16="http://schemas.microsoft.com/office/drawing/2014/main" id="{99AED9A8-6367-32F4-A9F5-6C18737793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880" y="1993609"/>
                <a:ext cx="136705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21742BB5-A6D1-6A6E-0CA1-A62BA467ECE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1431" y="4027094"/>
                <a:ext cx="10525366" cy="65317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:r>
                  <a:rPr lang="en-NZ" altLang="ja-JP" sz="14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The existence of a limiting distribution </a:t>
                </a:r>
                <a14:m>
                  <m:oMath xmlns:m="http://schemas.openxmlformats.org/officeDocument/2006/math">
                    <m:r>
                      <a:rPr lang="en-NZ" altLang="ja-JP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𝝅</m:t>
                    </m:r>
                  </m:oMath>
                </a14:m>
                <a:r>
                  <a:rPr lang="en-NZ" altLang="ja-JP" sz="14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implies that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NZ" altLang="ja-JP" sz="1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NZ" altLang="ja-JP" sz="1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lang="en-NZ" altLang="ja-JP" sz="1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𝒍𝒊𝒎</m:t>
                            </m:r>
                          </m:e>
                          <m:lim>
                            <m:r>
                              <a:rPr lang="en-NZ" altLang="ja-JP" sz="1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m:rPr>
                                <m:lit/>
                              </m:rPr>
                              <a:rPr lang="en-NZ" altLang="ja-JP" sz="1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NZ" altLang="ja-JP" sz="1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lang="en-NZ" altLang="ja-JP" sz="1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  <m:d>
                          <m:dPr>
                            <m:ctrlPr>
                              <a:rPr lang="en-NZ" altLang="ja-JP" sz="1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NZ" altLang="ja-JP" sz="1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p>
                              <m:sSupPr>
                                <m:ctrlPr>
                                  <a:rPr lang="en-NZ" altLang="ja-JP" sz="1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NZ" altLang="ja-JP" sz="1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NZ" altLang="ja-JP" sz="14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NZ" altLang="ja-JP" sz="14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e>
                                </m:d>
                              </m:sup>
                            </m:sSup>
                            <m:r>
                              <a:rPr lang="en-NZ" altLang="ja-JP" sz="1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NZ" altLang="ja-JP" sz="1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𝒋</m:t>
                            </m:r>
                            <m:r>
                              <a:rPr lang="en-NZ" altLang="ja-JP" sz="1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</m:e>
                    </m:func>
                    <m:r>
                      <a:rPr lang="en-NZ" altLang="ja-JP" sz="14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NZ" altLang="ja-JP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e>
                      <m:sub>
                        <m:r>
                          <a:rPr lang="en-NZ" altLang="ja-JP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en-NZ" altLang="ja-JP" sz="1400" b="1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:r>
                  <a:rPr lang="en-NZ" altLang="ja-JP" sz="14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irrespective of the initial distribution of the chain,</a:t>
                </a:r>
                <a:br>
                  <a:rPr lang="en-NZ" altLang="ja-JP" sz="14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</a:br>
                <a:r>
                  <a:rPr lang="en-NZ" altLang="ja-JP" sz="14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i.e. the probability that the chain is in state </a:t>
                </a:r>
                <a14:m>
                  <m:oMath xmlns:m="http://schemas.openxmlformats.org/officeDocument/2006/math">
                    <m:r>
                      <a:rPr lang="en-NZ" altLang="ja-JP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𝒋</m:t>
                    </m:r>
                  </m:oMath>
                </a14:m>
                <a:r>
                  <a:rPr lang="en-NZ" altLang="ja-JP" sz="14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after a large number of transitions tends to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NZ" altLang="ja-JP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sSupPr>
                      <m:e>
                        <m:r>
                          <a:rPr lang="en-NZ" altLang="ja-JP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𝒋</m:t>
                        </m:r>
                      </m:e>
                      <m:sup>
                        <m:r>
                          <a:rPr lang="en-NZ" altLang="ja-JP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𝒕𝒉</m:t>
                        </m:r>
                      </m:sup>
                    </m:sSup>
                  </m:oMath>
                </a14:m>
                <a:r>
                  <a:rPr lang="en-NZ" altLang="ja-JP" sz="1400" b="1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:r>
                  <a:rPr lang="en-NZ" altLang="ja-JP" sz="14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element of the vector </a:t>
                </a:r>
                <a14:m>
                  <m:oMath xmlns:m="http://schemas.openxmlformats.org/officeDocument/2006/math">
                    <m:r>
                      <a:rPr lang="en-NZ" altLang="ja-JP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𝝅</m:t>
                    </m:r>
                  </m:oMath>
                </a14:m>
                <a:r>
                  <a:rPr lang="en-NZ" altLang="ja-JP" sz="14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. Therefore, since </a:t>
                </a:r>
                <a:endParaRPr lang="en-US" altLang="ja-JP" sz="1400" dirty="0">
                  <a:solidFill>
                    <a:schemeClr val="tx1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21742BB5-A6D1-6A6E-0CA1-A62BA467EC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431" y="4027094"/>
                <a:ext cx="10525366" cy="653178"/>
              </a:xfrm>
              <a:prstGeom prst="rect">
                <a:avLst/>
              </a:prstGeom>
              <a:blipFill>
                <a:blip r:embed="rId5"/>
                <a:stretch>
                  <a:fillRect l="-174" b="-3738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603752F-9C78-9AD2-0EC1-945ECCE1FBC0}"/>
                  </a:ext>
                </a:extLst>
              </p:cNvPr>
              <p:cNvSpPr txBox="1"/>
              <p:nvPr/>
            </p:nvSpPr>
            <p:spPr>
              <a:xfrm>
                <a:off x="391880" y="3561205"/>
                <a:ext cx="10804947" cy="4191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+mj-lt"/>
                  <a:buAutoNum type="alphaLcParenR" startAt="3"/>
                </a:pPr>
                <a:r>
                  <a:rPr lang="en-US" altLang="ja-JP" sz="1800" dirty="0">
                    <a:solidFill>
                      <a:srgbClr val="0070C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Given your answer to the above, give an expression for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kumimoji="1" lang="en-NZ" altLang="ja-JP" sz="1800" b="0" i="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lim</m:t>
                            </m:r>
                          </m:e>
                          <m:lim>
                            <m: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𝒏</m:t>
                            </m:r>
                            <m:r>
                              <m:rPr>
                                <m:lit/>
                              </m:rP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 </m:t>
                            </m:r>
                            <m: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kumimoji="1" lang="en-NZ" altLang="ja-JP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  <m:d>
                          <m:dPr>
                            <m:ctrlPr>
                              <a:rPr kumimoji="1" lang="en-NZ" altLang="ja-JP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NZ" altLang="ja-JP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p>
                              <m:sSupPr>
                                <m:ctrlPr>
                                  <a:rPr kumimoji="1" lang="en-NZ" altLang="ja-JP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NZ" altLang="ja-JP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kumimoji="1" lang="en-NZ" altLang="ja-JP" b="1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NZ" altLang="ja-JP" b="1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e>
                                </m:d>
                              </m:sup>
                            </m:sSup>
                            <m:r>
                              <a:rPr kumimoji="1" lang="en-NZ" altLang="ja-JP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kumimoji="1" lang="en-NZ" altLang="ja-JP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𝒋</m:t>
                            </m:r>
                            <m:r>
                              <a:rPr kumimoji="1" lang="en-NZ" altLang="ja-JP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</m:e>
                    </m:func>
                  </m:oMath>
                </a14:m>
                <a:r>
                  <a:rPr lang="en-NZ" dirty="0">
                    <a:solidFill>
                      <a:srgbClr val="0070C0"/>
                    </a:solidFill>
                  </a:rPr>
                  <a:t> for each </a:t>
                </a:r>
                <a14:m>
                  <m:oMath xmlns:m="http://schemas.openxmlformats.org/officeDocument/2006/math">
                    <m:r>
                      <a:rPr lang="en-NZ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NZ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=1, …, 5</m:t>
                    </m:r>
                  </m:oMath>
                </a14:m>
                <a:endParaRPr lang="en-NZ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603752F-9C78-9AD2-0EC1-945ECCE1FB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880" y="3561205"/>
                <a:ext cx="10804947" cy="419154"/>
              </a:xfrm>
              <a:prstGeom prst="rect">
                <a:avLst/>
              </a:prstGeom>
              <a:blipFill>
                <a:blip r:embed="rId6"/>
                <a:stretch>
                  <a:fillRect l="-451" b="-17391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29C09316-72EA-5718-9563-FDBABE46A117}"/>
              </a:ext>
            </a:extLst>
          </p:cNvPr>
          <p:cNvSpPr txBox="1">
            <a:spLocks/>
          </p:cNvSpPr>
          <p:nvPr/>
        </p:nvSpPr>
        <p:spPr>
          <a:xfrm>
            <a:off x="9444251" y="86139"/>
            <a:ext cx="2645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Question 3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13" name="Title 6">
            <a:extLst>
              <a:ext uri="{FF2B5EF4-FFF2-40B4-BE49-F238E27FC236}">
                <a16:creationId xmlns:a16="http://schemas.microsoft.com/office/drawing/2014/main" id="{A80F28E9-DAEF-B3AC-832C-4A0BBEF872A4}"/>
              </a:ext>
            </a:extLst>
          </p:cNvPr>
          <p:cNvSpPr txBox="1">
            <a:spLocks/>
          </p:cNvSpPr>
          <p:nvPr/>
        </p:nvSpPr>
        <p:spPr>
          <a:xfrm>
            <a:off x="319464" y="196889"/>
            <a:ext cx="2819522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Question 3: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B23F7EF-9994-7409-B218-42C6D8EFE794}"/>
              </a:ext>
            </a:extLst>
          </p:cNvPr>
          <p:cNvSpPr txBox="1">
            <a:spLocks/>
          </p:cNvSpPr>
          <p:nvPr/>
        </p:nvSpPr>
        <p:spPr>
          <a:xfrm>
            <a:off x="3011606" y="6551432"/>
            <a:ext cx="6168789" cy="3085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Associated code = </a:t>
            </a:r>
            <a:r>
              <a:rPr kumimoji="1" lang="en-NZ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Tutorial 4 – Q3</a:t>
            </a:r>
            <a:endParaRPr kumimoji="1" lang="en-US" altLang="ja-JP" sz="12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Placeholder 5">
                <a:extLst>
                  <a:ext uri="{FF2B5EF4-FFF2-40B4-BE49-F238E27FC236}">
                    <a16:creationId xmlns:a16="http://schemas.microsoft.com/office/drawing/2014/main" id="{82C95040-35B6-7F77-2289-32E75282EF2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04485" y="5437365"/>
                <a:ext cx="6275333" cy="36549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14:m>
                  <m:oMath xmlns:m="http://schemas.openxmlformats.org/officeDocument/2006/math">
                    <m:r>
                      <a:rPr lang="en-NZ" altLang="ja-JP" sz="1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𝝅</m:t>
                    </m:r>
                    <m:r>
                      <a:rPr lang="en-NZ" altLang="ja-JP" sz="1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= </m:t>
                    </m:r>
                    <m:d>
                      <m:dPr>
                        <m:ctrlPr>
                          <a:rPr lang="en-NZ" altLang="ja-JP" sz="1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NZ" altLang="ja-JP" sz="12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NZ" altLang="ja-JP" sz="1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NZ" altLang="ja-JP" sz="1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NZ" altLang="ja-JP" sz="1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𝟐𝟎𝟑𝟗𝟖𝟒𝟖</m:t>
                              </m:r>
                            </m:e>
                            <m:e>
                              <m:r>
                                <a:rPr lang="en-NZ" altLang="ja-JP" sz="1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NZ" altLang="ja-JP" sz="1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NZ" altLang="ja-JP" sz="1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𝟐𝟑𝟕𝟏𝟗𝟏𝟕</m:t>
                              </m: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NZ" altLang="ja-JP" sz="12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游ゴシック" panose="020B0400000000000000" pitchFamily="34" charset="-128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12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NZ" altLang="ja-JP" sz="12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NZ" altLang="ja-JP" sz="12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𝟐𝟒𝟔𝟔𝟕𝟗𝟑</m:t>
                                    </m:r>
                                  </m:e>
                                  <m:e>
                                    <m:r>
                                      <a:rPr lang="en-NZ" altLang="ja-JP" sz="12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NZ" altLang="ja-JP" sz="12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NZ" altLang="ja-JP" sz="12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𝟏𝟒𝟏𝟑𝟔𝟔𝟐</m:t>
                                    </m:r>
                                  </m:e>
                                  <m:e>
                                    <m:r>
                                      <a:rPr lang="en-NZ" altLang="ja-JP" sz="12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NZ" altLang="ja-JP" sz="12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NZ" altLang="ja-JP" sz="12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𝟏𝟕𝟎𝟕𝟕𝟖𝟎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ja-JP" sz="1200" b="1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          =&gt;</a:t>
                </a:r>
              </a:p>
            </p:txBody>
          </p:sp>
        </mc:Choice>
        <mc:Fallback>
          <p:sp>
            <p:nvSpPr>
              <p:cNvPr id="5" name="Text Placeholder 5">
                <a:extLst>
                  <a:ext uri="{FF2B5EF4-FFF2-40B4-BE49-F238E27FC236}">
                    <a16:creationId xmlns:a16="http://schemas.microsoft.com/office/drawing/2014/main" id="{82C95040-35B6-7F77-2289-32E75282EF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485" y="5437365"/>
                <a:ext cx="6275333" cy="365498"/>
              </a:xfrm>
              <a:prstGeom prst="rect">
                <a:avLst/>
              </a:prstGeom>
              <a:blipFill>
                <a:blip r:embed="rId7"/>
                <a:stretch>
                  <a:fillRect t="-1667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84439C49-A26F-2734-819D-42CD2FC7EA2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32977" y="4827387"/>
                <a:ext cx="3963057" cy="162502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NZ" altLang="ja-JP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NZ" altLang="ja-JP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NZ" altLang="ja-JP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𝒍𝒊𝒎</m:t>
                              </m:r>
                            </m:e>
                            <m:lim>
                              <m:r>
                                <a:rPr lang="en-NZ" altLang="ja-JP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m:rPr>
                                  <m:lit/>
                                </m:rPr>
                                <a:rPr lang="en-NZ" altLang="ja-JP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NZ" altLang="ja-JP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r>
                            <a:rPr lang="en-NZ" altLang="ja-JP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NZ" altLang="ja-JP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en-NZ" altLang="ja-JP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NZ" altLang="ja-JP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NZ" altLang="ja-JP" sz="1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NZ" altLang="ja-JP" sz="1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𝒏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en-NZ" altLang="ja-JP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NZ" altLang="ja-JP" sz="1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NZ" altLang="ja-JP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</m:func>
                      <m:r>
                        <a:rPr lang="en-NZ" altLang="ja-JP" sz="14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NZ" altLang="ja-JP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  <m:sub>
                          <m:r>
                            <a:rPr lang="en-NZ" altLang="ja-JP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NZ" altLang="ja-JP" sz="1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NZ" altLang="ja-JP" sz="1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NZ" altLang="ja-JP" sz="1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NZ" altLang="ja-JP" sz="1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𝟐𝟎𝟑𝟗𝟖𝟒𝟖</m:t>
                      </m:r>
                    </m:oMath>
                  </m:oMathPara>
                </a14:m>
                <a:endParaRPr lang="en-NZ" altLang="ja-JP" sz="1400" dirty="0">
                  <a:solidFill>
                    <a:schemeClr val="tx1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lvl="0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NZ" altLang="ja-JP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NZ" altLang="ja-JP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NZ" altLang="ja-JP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𝒍𝒊𝒎</m:t>
                              </m:r>
                            </m:e>
                            <m:lim>
                              <m:r>
                                <a:rPr lang="en-NZ" altLang="ja-JP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m:rPr>
                                  <m:lit/>
                                </m:rPr>
                                <a:rPr lang="en-NZ" altLang="ja-JP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NZ" altLang="ja-JP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r>
                            <a:rPr lang="en-NZ" altLang="ja-JP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NZ" altLang="ja-JP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en-NZ" altLang="ja-JP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NZ" altLang="ja-JP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NZ" altLang="ja-JP" sz="1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NZ" altLang="ja-JP" sz="1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𝒏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en-NZ" altLang="ja-JP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NZ" altLang="ja-JP" sz="1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NZ" altLang="ja-JP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</m:func>
                      <m:r>
                        <a:rPr lang="en-NZ" altLang="ja-JP" sz="14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NZ" altLang="ja-JP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  <m:sub>
                          <m:r>
                            <a:rPr lang="en-NZ" altLang="ja-JP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NZ" altLang="ja-JP" sz="1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NZ" altLang="ja-JP" sz="1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NZ" altLang="ja-JP" sz="1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NZ" altLang="ja-JP" sz="1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𝟐𝟑𝟕𝟏𝟗𝟏𝟕</m:t>
                      </m:r>
                    </m:oMath>
                  </m:oMathPara>
                </a14:m>
                <a:endParaRPr lang="en-NZ" altLang="ja-JP" sz="1400" dirty="0">
                  <a:solidFill>
                    <a:schemeClr val="tx1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lvl="0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NZ" altLang="ja-JP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NZ" altLang="ja-JP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NZ" altLang="ja-JP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𝒍𝒊𝒎</m:t>
                              </m:r>
                            </m:e>
                            <m:lim>
                              <m:r>
                                <a:rPr lang="en-NZ" altLang="ja-JP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m:rPr>
                                  <m:lit/>
                                </m:rPr>
                                <a:rPr lang="en-NZ" altLang="ja-JP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NZ" altLang="ja-JP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r>
                            <a:rPr lang="en-NZ" altLang="ja-JP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NZ" altLang="ja-JP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en-NZ" altLang="ja-JP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NZ" altLang="ja-JP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NZ" altLang="ja-JP" sz="1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NZ" altLang="ja-JP" sz="1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𝒏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en-NZ" altLang="ja-JP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NZ" altLang="ja-JP" sz="1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NZ" altLang="ja-JP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</m:func>
                      <m:r>
                        <a:rPr lang="en-NZ" altLang="ja-JP" sz="14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NZ" altLang="ja-JP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  <m:sub>
                          <m:r>
                            <a:rPr lang="en-NZ" altLang="ja-JP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NZ" altLang="ja-JP" sz="1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NZ" altLang="ja-JP" sz="1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NZ" altLang="ja-JP" sz="1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NZ" altLang="ja-JP" sz="1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𝟐𝟒𝟔𝟔𝟕𝟗𝟑</m:t>
                      </m:r>
                    </m:oMath>
                  </m:oMathPara>
                </a14:m>
                <a:endParaRPr lang="en-NZ" altLang="ja-JP" sz="1400" dirty="0">
                  <a:solidFill>
                    <a:schemeClr val="tx1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lvl="0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NZ" altLang="ja-JP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NZ" altLang="ja-JP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NZ" altLang="ja-JP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𝒍𝒊𝒎</m:t>
                              </m:r>
                            </m:e>
                            <m:lim>
                              <m:r>
                                <a:rPr lang="en-NZ" altLang="ja-JP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m:rPr>
                                  <m:lit/>
                                </m:rPr>
                                <a:rPr lang="en-NZ" altLang="ja-JP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NZ" altLang="ja-JP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r>
                            <a:rPr lang="en-NZ" altLang="ja-JP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NZ" altLang="ja-JP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en-NZ" altLang="ja-JP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NZ" altLang="ja-JP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NZ" altLang="ja-JP" sz="1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NZ" altLang="ja-JP" sz="1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𝒏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en-NZ" altLang="ja-JP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NZ" altLang="ja-JP" sz="1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  <m:r>
                                <a:rPr lang="en-NZ" altLang="ja-JP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</m:func>
                      <m:r>
                        <a:rPr lang="en-NZ" altLang="ja-JP" sz="14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NZ" altLang="ja-JP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  <m:sub>
                          <m:r>
                            <a:rPr lang="en-NZ" altLang="ja-JP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r>
                        <a:rPr lang="en-NZ" altLang="ja-JP" sz="1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NZ" altLang="ja-JP" sz="1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NZ" altLang="ja-JP" sz="1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NZ" altLang="ja-JP" sz="1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𝟏𝟒𝟏𝟑𝟔𝟔𝟐</m:t>
                      </m:r>
                    </m:oMath>
                  </m:oMathPara>
                </a14:m>
                <a:endParaRPr lang="en-NZ" altLang="ja-JP" sz="1400" dirty="0">
                  <a:solidFill>
                    <a:schemeClr val="tx1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lvl="0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NZ" altLang="ja-JP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NZ" altLang="ja-JP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NZ" altLang="ja-JP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𝒍𝒊𝒎</m:t>
                              </m:r>
                            </m:e>
                            <m:lim>
                              <m:r>
                                <a:rPr lang="en-NZ" altLang="ja-JP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m:rPr>
                                  <m:lit/>
                                </m:rPr>
                                <a:rPr lang="en-NZ" altLang="ja-JP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NZ" altLang="ja-JP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r>
                            <a:rPr lang="en-NZ" altLang="ja-JP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NZ" altLang="ja-JP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en-NZ" altLang="ja-JP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NZ" altLang="ja-JP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NZ" altLang="ja-JP" sz="1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NZ" altLang="ja-JP" sz="1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𝒏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en-NZ" altLang="ja-JP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NZ" altLang="ja-JP" sz="1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en-NZ" altLang="ja-JP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</m:func>
                      <m:r>
                        <a:rPr lang="en-NZ" altLang="ja-JP" sz="14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NZ" altLang="ja-JP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  <m:sub>
                          <m:r>
                            <a:rPr lang="en-NZ" altLang="ja-JP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  <m:r>
                        <a:rPr lang="en-NZ" altLang="ja-JP" sz="1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NZ" altLang="ja-JP" sz="1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NZ" altLang="ja-JP" sz="1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NZ" altLang="ja-JP" sz="1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𝟏𝟕𝟎𝟕𝟕𝟖𝟎</m:t>
                      </m:r>
                    </m:oMath>
                  </m:oMathPara>
                </a14:m>
                <a:br>
                  <a:rPr lang="en-NZ" altLang="ja-JP" sz="14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</a:br>
                <a:endParaRPr lang="en-US" altLang="ja-JP" sz="1400" dirty="0">
                  <a:solidFill>
                    <a:schemeClr val="tx1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84439C49-A26F-2734-819D-42CD2FC7EA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2977" y="4827387"/>
                <a:ext cx="3963057" cy="162502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6048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5" grpId="0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65B06D6C-CCB3-4D8F-9171-6B4779FED53B}"/>
              </a:ext>
            </a:extLst>
          </p:cNvPr>
          <p:cNvSpPr txBox="1">
            <a:spLocks/>
          </p:cNvSpPr>
          <p:nvPr/>
        </p:nvSpPr>
        <p:spPr>
          <a:xfrm>
            <a:off x="319463" y="859039"/>
            <a:ext cx="6284610" cy="4471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Consider the discrete state space Markov chain defined below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5">
                <a:extLst>
                  <a:ext uri="{FF2B5EF4-FFF2-40B4-BE49-F238E27FC236}">
                    <a16:creationId xmlns:a16="http://schemas.microsoft.com/office/drawing/2014/main" id="{821F6F52-A425-0203-4963-D33DB0F9560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57859" y="1555113"/>
                <a:ext cx="4085230" cy="141521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kumimoji="1" lang="en-US" altLang="ja-JP" sz="180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ja-JP" sz="180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0</m:t>
                                </m:r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.00</m:t>
                                </m:r>
                              </m:e>
                              <m:e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0.80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US" altLang="ja-JP" sz="180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NZ" altLang="ja-JP" sz="1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0.00</m:t>
                                      </m:r>
                                    </m:e>
                                    <m:e>
                                      <m:r>
                                        <a:rPr lang="en-NZ" altLang="ja-JP" sz="1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0.00</m:t>
                                      </m:r>
                                    </m:e>
                                    <m:e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0.20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0.50</m:t>
                                </m:r>
                              </m:e>
                              <m:e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0.00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US" altLang="ja-JP" sz="180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0</m:t>
                                      </m:r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.25</m:t>
                                      </m:r>
                                    </m:e>
                                    <m:e>
                                      <m:r>
                                        <a:rPr lang="en-NZ" altLang="ja-JP" sz="1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0.00</m:t>
                                      </m:r>
                                    </m:e>
                                    <m:e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0.25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US" altLang="ja-JP" sz="180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NZ" altLang="ja-JP" sz="1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0.00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NZ" altLang="ja-JP" sz="1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0.00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0.50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US" altLang="ja-JP" sz="180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0</m:t>
                                      </m:r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.30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NZ" altLang="ja-JP" sz="1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0.00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NZ" altLang="ja-JP" sz="1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0.00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US" altLang="ja-JP" sz="180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US" altLang="ja-JP" sz="180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游ゴシック" panose="020B0400000000000000" pitchFamily="34" charset="-128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0</m:t>
                                            </m:r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.30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0.50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0.25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US" altLang="ja-JP" sz="180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游ゴシック" panose="020B0400000000000000" pitchFamily="34" charset="-128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0</m:t>
                                            </m:r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.40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NZ" altLang="ja-JP" sz="1800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0.00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0.25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US" altLang="ja-JP" sz="180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游ゴシック" panose="020B0400000000000000" pitchFamily="34" charset="-128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a:rPr lang="en-NZ" altLang="ja-JP" sz="1800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0.00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0.50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NZ" altLang="ja-JP" sz="1800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0.00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en-US" altLang="ja-JP" sz="180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2" name="Text Placeholder 5">
                <a:extLst>
                  <a:ext uri="{FF2B5EF4-FFF2-40B4-BE49-F238E27FC236}">
                    <a16:creationId xmlns:a16="http://schemas.microsoft.com/office/drawing/2014/main" id="{821F6F52-A425-0203-4963-D33DB0F956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7859" y="1555113"/>
                <a:ext cx="4085230" cy="14152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FE8653E7-8E70-F4E1-08CA-D9792B339E49}"/>
              </a:ext>
            </a:extLst>
          </p:cNvPr>
          <p:cNvSpPr txBox="1">
            <a:spLocks/>
          </p:cNvSpPr>
          <p:nvPr/>
        </p:nvSpPr>
        <p:spPr>
          <a:xfrm>
            <a:off x="1747609" y="1237886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1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FE5CB15-9C0E-FE0D-2961-0535AB9FE278}"/>
              </a:ext>
            </a:extLst>
          </p:cNvPr>
          <p:cNvSpPr txBox="1">
            <a:spLocks/>
          </p:cNvSpPr>
          <p:nvPr/>
        </p:nvSpPr>
        <p:spPr>
          <a:xfrm>
            <a:off x="2395878" y="1237886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2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3A3E02E9-26D6-CF28-7759-3DD9FD6EA0D5}"/>
              </a:ext>
            </a:extLst>
          </p:cNvPr>
          <p:cNvSpPr txBox="1">
            <a:spLocks/>
          </p:cNvSpPr>
          <p:nvPr/>
        </p:nvSpPr>
        <p:spPr>
          <a:xfrm>
            <a:off x="3076339" y="1237886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3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4642364A-7BEE-9ADD-6B41-0C3331B33A04}"/>
              </a:ext>
            </a:extLst>
          </p:cNvPr>
          <p:cNvSpPr txBox="1">
            <a:spLocks/>
          </p:cNvSpPr>
          <p:nvPr/>
        </p:nvSpPr>
        <p:spPr>
          <a:xfrm>
            <a:off x="3756800" y="1256413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4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ECE8E70A-5271-7FF6-EDF9-CB040FCF132C}"/>
              </a:ext>
            </a:extLst>
          </p:cNvPr>
          <p:cNvSpPr txBox="1">
            <a:spLocks/>
          </p:cNvSpPr>
          <p:nvPr/>
        </p:nvSpPr>
        <p:spPr>
          <a:xfrm>
            <a:off x="4405069" y="1256413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5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D0E0604C-7573-7D78-9A71-0FB3A528DB23}"/>
              </a:ext>
            </a:extLst>
          </p:cNvPr>
          <p:cNvSpPr txBox="1">
            <a:spLocks/>
          </p:cNvSpPr>
          <p:nvPr/>
        </p:nvSpPr>
        <p:spPr>
          <a:xfrm>
            <a:off x="1247539" y="1536586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1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22A22D0A-A2C5-A83D-56C0-C803CD786C07}"/>
              </a:ext>
            </a:extLst>
          </p:cNvPr>
          <p:cNvSpPr txBox="1">
            <a:spLocks/>
          </p:cNvSpPr>
          <p:nvPr/>
        </p:nvSpPr>
        <p:spPr>
          <a:xfrm>
            <a:off x="1247539" y="1796420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2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D66AC2D2-9809-3429-5D74-78F145AA3521}"/>
              </a:ext>
            </a:extLst>
          </p:cNvPr>
          <p:cNvSpPr txBox="1">
            <a:spLocks/>
          </p:cNvSpPr>
          <p:nvPr/>
        </p:nvSpPr>
        <p:spPr>
          <a:xfrm>
            <a:off x="1247539" y="2056254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3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CEAE0613-6590-2911-1973-6507FCD4B936}"/>
              </a:ext>
            </a:extLst>
          </p:cNvPr>
          <p:cNvSpPr txBox="1">
            <a:spLocks/>
          </p:cNvSpPr>
          <p:nvPr/>
        </p:nvSpPr>
        <p:spPr>
          <a:xfrm>
            <a:off x="1247539" y="2311446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4</a:t>
            </a:r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FFF4E0FB-70AF-1EB2-BD5B-711A81101109}"/>
              </a:ext>
            </a:extLst>
          </p:cNvPr>
          <p:cNvSpPr txBox="1">
            <a:spLocks/>
          </p:cNvSpPr>
          <p:nvPr/>
        </p:nvSpPr>
        <p:spPr>
          <a:xfrm>
            <a:off x="1253574" y="2555067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5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D583274-C45C-63F4-A94A-8F5EFD227638}"/>
              </a:ext>
            </a:extLst>
          </p:cNvPr>
          <p:cNvSpPr/>
          <p:nvPr/>
        </p:nvSpPr>
        <p:spPr>
          <a:xfrm>
            <a:off x="8496995" y="497414"/>
            <a:ext cx="354842" cy="38213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1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08BCE91-0957-382C-7B26-6B97A86E6D44}"/>
              </a:ext>
            </a:extLst>
          </p:cNvPr>
          <p:cNvSpPr/>
          <p:nvPr/>
        </p:nvSpPr>
        <p:spPr>
          <a:xfrm>
            <a:off x="10041466" y="1207097"/>
            <a:ext cx="354842" cy="38213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2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F2F9F241-4A9D-34B1-7DA8-D6D4425A7EFB}"/>
              </a:ext>
            </a:extLst>
          </p:cNvPr>
          <p:cNvSpPr/>
          <p:nvPr/>
        </p:nvSpPr>
        <p:spPr>
          <a:xfrm>
            <a:off x="9311311" y="2780003"/>
            <a:ext cx="354842" cy="38213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3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240B1616-E0C0-5FF6-6200-E302F2BC3923}"/>
              </a:ext>
            </a:extLst>
          </p:cNvPr>
          <p:cNvSpPr/>
          <p:nvPr/>
        </p:nvSpPr>
        <p:spPr>
          <a:xfrm>
            <a:off x="7757740" y="2780003"/>
            <a:ext cx="354842" cy="38213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4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CEEE3291-C116-2E71-3867-E28A7DFAA3CA}"/>
              </a:ext>
            </a:extLst>
          </p:cNvPr>
          <p:cNvSpPr/>
          <p:nvPr/>
        </p:nvSpPr>
        <p:spPr>
          <a:xfrm>
            <a:off x="6979818" y="1207097"/>
            <a:ext cx="354842" cy="38213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5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9E9D28C-3F8B-62F6-6B77-4A6900C19AF0}"/>
              </a:ext>
            </a:extLst>
          </p:cNvPr>
          <p:cNvCxnSpPr>
            <a:cxnSpLocks/>
          </p:cNvCxnSpPr>
          <p:nvPr/>
        </p:nvCxnSpPr>
        <p:spPr>
          <a:xfrm flipH="1">
            <a:off x="9689246" y="1608682"/>
            <a:ext cx="604699" cy="124673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25B6559-6924-0E21-9376-8B9F9745D25C}"/>
              </a:ext>
            </a:extLst>
          </p:cNvPr>
          <p:cNvCxnSpPr>
            <a:cxnSpLocks/>
            <a:endCxn id="38" idx="3"/>
          </p:cNvCxnSpPr>
          <p:nvPr/>
        </p:nvCxnSpPr>
        <p:spPr>
          <a:xfrm flipV="1">
            <a:off x="9489780" y="1533270"/>
            <a:ext cx="603651" cy="119794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A31F77F-4A98-F9E6-0C19-B793CB7833CE}"/>
              </a:ext>
            </a:extLst>
          </p:cNvPr>
          <p:cNvCxnSpPr>
            <a:cxnSpLocks/>
            <a:stCxn id="40" idx="7"/>
            <a:endCxn id="39" idx="1"/>
          </p:cNvCxnSpPr>
          <p:nvPr/>
        </p:nvCxnSpPr>
        <p:spPr>
          <a:xfrm>
            <a:off x="8060617" y="2835966"/>
            <a:ext cx="130265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3499911-8054-6F83-3628-BFC38CE4B6A5}"/>
              </a:ext>
            </a:extLst>
          </p:cNvPr>
          <p:cNvCxnSpPr>
            <a:cxnSpLocks/>
            <a:stCxn id="39" idx="3"/>
            <a:endCxn id="40" idx="5"/>
          </p:cNvCxnSpPr>
          <p:nvPr/>
        </p:nvCxnSpPr>
        <p:spPr>
          <a:xfrm flipH="1">
            <a:off x="8060617" y="3106176"/>
            <a:ext cx="130265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8CE8EA4-E685-EE84-1B09-5FA6627CC859}"/>
              </a:ext>
            </a:extLst>
          </p:cNvPr>
          <p:cNvCxnSpPr>
            <a:cxnSpLocks/>
          </p:cNvCxnSpPr>
          <p:nvPr/>
        </p:nvCxnSpPr>
        <p:spPr>
          <a:xfrm>
            <a:off x="7457490" y="1569111"/>
            <a:ext cx="1853821" cy="109591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AD57B54C-C8AE-F003-4AEC-F5C20A5854ED}"/>
              </a:ext>
            </a:extLst>
          </p:cNvPr>
          <p:cNvCxnSpPr>
            <a:cxnSpLocks/>
            <a:stCxn id="40" idx="2"/>
          </p:cNvCxnSpPr>
          <p:nvPr/>
        </p:nvCxnSpPr>
        <p:spPr>
          <a:xfrm flipH="1" flipV="1">
            <a:off x="7079462" y="1596402"/>
            <a:ext cx="678278" cy="137466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46CA938-23EB-2081-50DA-3EAFAE6C45D9}"/>
              </a:ext>
            </a:extLst>
          </p:cNvPr>
          <p:cNvCxnSpPr>
            <a:cxnSpLocks/>
            <a:endCxn id="40" idx="0"/>
          </p:cNvCxnSpPr>
          <p:nvPr/>
        </p:nvCxnSpPr>
        <p:spPr>
          <a:xfrm>
            <a:off x="7306445" y="1513147"/>
            <a:ext cx="628716" cy="126685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9532D890-8B8E-51E3-E873-F7C611FDDD30}"/>
              </a:ext>
            </a:extLst>
          </p:cNvPr>
          <p:cNvCxnSpPr>
            <a:cxnSpLocks/>
            <a:stCxn id="41" idx="0"/>
            <a:endCxn id="36" idx="1"/>
          </p:cNvCxnSpPr>
          <p:nvPr/>
        </p:nvCxnSpPr>
        <p:spPr>
          <a:xfrm flipV="1">
            <a:off x="7157239" y="553377"/>
            <a:ext cx="1391721" cy="65372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C42B740C-C5ED-5091-A1AC-FF7B5E8CE06C}"/>
              </a:ext>
            </a:extLst>
          </p:cNvPr>
          <p:cNvCxnSpPr>
            <a:cxnSpLocks/>
            <a:stCxn id="36" idx="3"/>
            <a:endCxn id="41" idx="6"/>
          </p:cNvCxnSpPr>
          <p:nvPr/>
        </p:nvCxnSpPr>
        <p:spPr>
          <a:xfrm flipH="1">
            <a:off x="7334660" y="823587"/>
            <a:ext cx="1214300" cy="57457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F981E981-6287-7C35-AA9D-020A12BE53AD}"/>
              </a:ext>
            </a:extLst>
          </p:cNvPr>
          <p:cNvCxnSpPr>
            <a:cxnSpLocks/>
            <a:stCxn id="36" idx="7"/>
            <a:endCxn id="38" idx="0"/>
          </p:cNvCxnSpPr>
          <p:nvPr/>
        </p:nvCxnSpPr>
        <p:spPr>
          <a:xfrm>
            <a:off x="8799872" y="553377"/>
            <a:ext cx="1419015" cy="65372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2596BA6A-A1E1-50D8-9F88-24823627BB96}"/>
              </a:ext>
            </a:extLst>
          </p:cNvPr>
          <p:cNvCxnSpPr>
            <a:cxnSpLocks/>
            <a:stCxn id="38" idx="2"/>
            <a:endCxn id="36" idx="5"/>
          </p:cNvCxnSpPr>
          <p:nvPr/>
        </p:nvCxnSpPr>
        <p:spPr>
          <a:xfrm flipH="1" flipV="1">
            <a:off x="8799872" y="823587"/>
            <a:ext cx="1241594" cy="57457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BDB35D8-9F3D-426C-1CF2-DEB344BB5564}"/>
              </a:ext>
            </a:extLst>
          </p:cNvPr>
          <p:cNvCxnSpPr>
            <a:cxnSpLocks/>
            <a:stCxn id="38" idx="2"/>
          </p:cNvCxnSpPr>
          <p:nvPr/>
        </p:nvCxnSpPr>
        <p:spPr>
          <a:xfrm flipH="1">
            <a:off x="7394761" y="1398165"/>
            <a:ext cx="2646705" cy="5321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 Placeholder 5">
            <a:extLst>
              <a:ext uri="{FF2B5EF4-FFF2-40B4-BE49-F238E27FC236}">
                <a16:creationId xmlns:a16="http://schemas.microsoft.com/office/drawing/2014/main" id="{5C514145-B1BB-5F85-5FCD-B59CC7BBC58A}"/>
              </a:ext>
            </a:extLst>
          </p:cNvPr>
          <p:cNvSpPr txBox="1">
            <a:spLocks/>
          </p:cNvSpPr>
          <p:nvPr/>
        </p:nvSpPr>
        <p:spPr>
          <a:xfrm>
            <a:off x="9363276" y="539132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0.8</a:t>
            </a:r>
          </a:p>
        </p:txBody>
      </p:sp>
      <p:sp>
        <p:nvSpPr>
          <p:cNvPr id="57" name="Text Placeholder 5">
            <a:extLst>
              <a:ext uri="{FF2B5EF4-FFF2-40B4-BE49-F238E27FC236}">
                <a16:creationId xmlns:a16="http://schemas.microsoft.com/office/drawing/2014/main" id="{B5BC2088-040F-D6B2-723A-2BA468157C54}"/>
              </a:ext>
            </a:extLst>
          </p:cNvPr>
          <p:cNvSpPr txBox="1">
            <a:spLocks/>
          </p:cNvSpPr>
          <p:nvPr/>
        </p:nvSpPr>
        <p:spPr>
          <a:xfrm>
            <a:off x="7910493" y="964361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0.2</a:t>
            </a:r>
          </a:p>
        </p:txBody>
      </p:sp>
      <p:sp>
        <p:nvSpPr>
          <p:cNvPr id="58" name="Text Placeholder 5">
            <a:extLst>
              <a:ext uri="{FF2B5EF4-FFF2-40B4-BE49-F238E27FC236}">
                <a16:creationId xmlns:a16="http://schemas.microsoft.com/office/drawing/2014/main" id="{CAF9613A-3FE7-69EA-9496-3E73FCC788C9}"/>
              </a:ext>
            </a:extLst>
          </p:cNvPr>
          <p:cNvSpPr txBox="1">
            <a:spLocks/>
          </p:cNvSpPr>
          <p:nvPr/>
        </p:nvSpPr>
        <p:spPr>
          <a:xfrm>
            <a:off x="9947765" y="2117066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0.25</a:t>
            </a:r>
          </a:p>
        </p:txBody>
      </p:sp>
      <p:sp>
        <p:nvSpPr>
          <p:cNvPr id="59" name="Text Placeholder 5">
            <a:extLst>
              <a:ext uri="{FF2B5EF4-FFF2-40B4-BE49-F238E27FC236}">
                <a16:creationId xmlns:a16="http://schemas.microsoft.com/office/drawing/2014/main" id="{AB8DB633-A7FE-84C5-121E-5FAC72A1E119}"/>
              </a:ext>
            </a:extLst>
          </p:cNvPr>
          <p:cNvSpPr txBox="1">
            <a:spLocks/>
          </p:cNvSpPr>
          <p:nvPr/>
        </p:nvSpPr>
        <p:spPr>
          <a:xfrm>
            <a:off x="8353690" y="1398165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0.25</a:t>
            </a:r>
          </a:p>
        </p:txBody>
      </p:sp>
      <p:sp>
        <p:nvSpPr>
          <p:cNvPr id="60" name="Text Placeholder 5">
            <a:extLst>
              <a:ext uri="{FF2B5EF4-FFF2-40B4-BE49-F238E27FC236}">
                <a16:creationId xmlns:a16="http://schemas.microsoft.com/office/drawing/2014/main" id="{1386B1A4-587A-F421-80F3-749C6DED08B0}"/>
              </a:ext>
            </a:extLst>
          </p:cNvPr>
          <p:cNvSpPr txBox="1">
            <a:spLocks/>
          </p:cNvSpPr>
          <p:nvPr/>
        </p:nvSpPr>
        <p:spPr>
          <a:xfrm>
            <a:off x="8861110" y="1018768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0.5</a:t>
            </a:r>
          </a:p>
        </p:txBody>
      </p:sp>
      <p:sp>
        <p:nvSpPr>
          <p:cNvPr id="61" name="Text Placeholder 5">
            <a:extLst>
              <a:ext uri="{FF2B5EF4-FFF2-40B4-BE49-F238E27FC236}">
                <a16:creationId xmlns:a16="http://schemas.microsoft.com/office/drawing/2014/main" id="{3988B68F-9992-4A5D-FAFE-C4B961D4B182}"/>
              </a:ext>
            </a:extLst>
          </p:cNvPr>
          <p:cNvSpPr txBox="1">
            <a:spLocks/>
          </p:cNvSpPr>
          <p:nvPr/>
        </p:nvSpPr>
        <p:spPr>
          <a:xfrm>
            <a:off x="9244031" y="1815462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0.3</a:t>
            </a:r>
          </a:p>
        </p:txBody>
      </p:sp>
      <p:sp>
        <p:nvSpPr>
          <p:cNvPr id="62" name="Text Placeholder 5">
            <a:extLst>
              <a:ext uri="{FF2B5EF4-FFF2-40B4-BE49-F238E27FC236}">
                <a16:creationId xmlns:a16="http://schemas.microsoft.com/office/drawing/2014/main" id="{355D810A-2DE4-699A-AED1-3946815DEFC1}"/>
              </a:ext>
            </a:extLst>
          </p:cNvPr>
          <p:cNvSpPr txBox="1">
            <a:spLocks/>
          </p:cNvSpPr>
          <p:nvPr/>
        </p:nvSpPr>
        <p:spPr>
          <a:xfrm>
            <a:off x="9788319" y="2944862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0.3</a:t>
            </a:r>
          </a:p>
        </p:txBody>
      </p:sp>
      <p:cxnSp>
        <p:nvCxnSpPr>
          <p:cNvPr id="63" name="Connector: Curved 62">
            <a:extLst>
              <a:ext uri="{FF2B5EF4-FFF2-40B4-BE49-F238E27FC236}">
                <a16:creationId xmlns:a16="http://schemas.microsoft.com/office/drawing/2014/main" id="{E7E271C7-CF60-19D8-AF68-24824C9DBBCC}"/>
              </a:ext>
            </a:extLst>
          </p:cNvPr>
          <p:cNvCxnSpPr>
            <a:cxnSpLocks/>
            <a:stCxn id="39" idx="4"/>
            <a:endCxn id="39" idx="6"/>
          </p:cNvCxnSpPr>
          <p:nvPr/>
        </p:nvCxnSpPr>
        <p:spPr>
          <a:xfrm rot="5400000" flipH="1" flipV="1">
            <a:off x="9481908" y="2977894"/>
            <a:ext cx="191068" cy="177421"/>
          </a:xfrm>
          <a:prstGeom prst="curvedConnector4">
            <a:avLst>
              <a:gd name="adj1" fmla="val -119643"/>
              <a:gd name="adj2" fmla="val 22884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8" name="Text Placeholder 5">
            <a:extLst>
              <a:ext uri="{FF2B5EF4-FFF2-40B4-BE49-F238E27FC236}">
                <a16:creationId xmlns:a16="http://schemas.microsoft.com/office/drawing/2014/main" id="{924E60DB-0A47-3A16-1FB7-A0F492B2EA4D}"/>
              </a:ext>
            </a:extLst>
          </p:cNvPr>
          <p:cNvSpPr txBox="1">
            <a:spLocks/>
          </p:cNvSpPr>
          <p:nvPr/>
        </p:nvSpPr>
        <p:spPr>
          <a:xfrm>
            <a:off x="8475737" y="3073185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0.4</a:t>
            </a:r>
          </a:p>
        </p:txBody>
      </p:sp>
      <p:sp>
        <p:nvSpPr>
          <p:cNvPr id="2049" name="Text Placeholder 5">
            <a:extLst>
              <a:ext uri="{FF2B5EF4-FFF2-40B4-BE49-F238E27FC236}">
                <a16:creationId xmlns:a16="http://schemas.microsoft.com/office/drawing/2014/main" id="{837367DA-AFB6-081E-660D-090CA06176AE}"/>
              </a:ext>
            </a:extLst>
          </p:cNvPr>
          <p:cNvSpPr txBox="1">
            <a:spLocks/>
          </p:cNvSpPr>
          <p:nvPr/>
        </p:nvSpPr>
        <p:spPr>
          <a:xfrm>
            <a:off x="8360165" y="2486141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0.5</a:t>
            </a:r>
          </a:p>
        </p:txBody>
      </p:sp>
      <p:sp>
        <p:nvSpPr>
          <p:cNvPr id="2051" name="Text Placeholder 5">
            <a:extLst>
              <a:ext uri="{FF2B5EF4-FFF2-40B4-BE49-F238E27FC236}">
                <a16:creationId xmlns:a16="http://schemas.microsoft.com/office/drawing/2014/main" id="{320B4B26-801D-DB12-D99C-26DB22EF218A}"/>
              </a:ext>
            </a:extLst>
          </p:cNvPr>
          <p:cNvSpPr txBox="1">
            <a:spLocks/>
          </p:cNvSpPr>
          <p:nvPr/>
        </p:nvSpPr>
        <p:spPr>
          <a:xfrm>
            <a:off x="7394541" y="580850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0.5</a:t>
            </a:r>
          </a:p>
        </p:txBody>
      </p:sp>
      <p:sp>
        <p:nvSpPr>
          <p:cNvPr id="2052" name="Text Placeholder 5">
            <a:extLst>
              <a:ext uri="{FF2B5EF4-FFF2-40B4-BE49-F238E27FC236}">
                <a16:creationId xmlns:a16="http://schemas.microsoft.com/office/drawing/2014/main" id="{DB68A977-474A-CACD-A557-9302EBA1E96C}"/>
              </a:ext>
            </a:extLst>
          </p:cNvPr>
          <p:cNvSpPr txBox="1">
            <a:spLocks/>
          </p:cNvSpPr>
          <p:nvPr/>
        </p:nvSpPr>
        <p:spPr>
          <a:xfrm>
            <a:off x="8352372" y="1878276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0.25</a:t>
            </a:r>
          </a:p>
        </p:txBody>
      </p:sp>
      <p:sp>
        <p:nvSpPr>
          <p:cNvPr id="2053" name="Text Placeholder 5">
            <a:extLst>
              <a:ext uri="{FF2B5EF4-FFF2-40B4-BE49-F238E27FC236}">
                <a16:creationId xmlns:a16="http://schemas.microsoft.com/office/drawing/2014/main" id="{B87D9889-2A60-1F64-B9BA-60D789C085C3}"/>
              </a:ext>
            </a:extLst>
          </p:cNvPr>
          <p:cNvSpPr txBox="1">
            <a:spLocks/>
          </p:cNvSpPr>
          <p:nvPr/>
        </p:nvSpPr>
        <p:spPr>
          <a:xfrm>
            <a:off x="7646190" y="2093603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0.25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9" name="TextBox 2058">
                <a:extLst>
                  <a:ext uri="{FF2B5EF4-FFF2-40B4-BE49-F238E27FC236}">
                    <a16:creationId xmlns:a16="http://schemas.microsoft.com/office/drawing/2014/main" id="{99AED9A8-6367-32F4-A9F5-6C187377931C}"/>
                  </a:ext>
                </a:extLst>
              </p:cNvPr>
              <p:cNvSpPr txBox="1"/>
              <p:nvPr/>
            </p:nvSpPr>
            <p:spPr>
              <a:xfrm>
                <a:off x="391880" y="1993609"/>
                <a:ext cx="13670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NZ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NZ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NZ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59" name="TextBox 2058">
                <a:extLst>
                  <a:ext uri="{FF2B5EF4-FFF2-40B4-BE49-F238E27FC236}">
                    <a16:creationId xmlns:a16="http://schemas.microsoft.com/office/drawing/2014/main" id="{99AED9A8-6367-32F4-A9F5-6C18737793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880" y="1993609"/>
                <a:ext cx="136705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21742BB5-A6D1-6A6E-0CA1-A62BA467ECE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1431" y="4027093"/>
                <a:ext cx="10525366" cy="54843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:r>
                  <a:rPr lang="en-NZ" altLang="ja-JP" sz="14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The existence of a limiting distribution </a:t>
                </a:r>
                <a14:m>
                  <m:oMath xmlns:m="http://schemas.openxmlformats.org/officeDocument/2006/math">
                    <m:r>
                      <a:rPr lang="en-NZ" altLang="ja-JP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𝝅</m:t>
                    </m:r>
                  </m:oMath>
                </a14:m>
                <a:r>
                  <a:rPr lang="en-NZ" altLang="ja-JP" sz="14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implies that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NZ" altLang="ja-JP" sz="1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NZ" altLang="ja-JP" sz="1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NZ" altLang="ja-JP" sz="1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NZ" altLang="ja-JP" sz="1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NZ" altLang="ja-JP" sz="1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bSup>
                          <m:sSubSupPr>
                            <m:ctrlPr>
                              <a:rPr lang="en-NZ" altLang="ja-JP" sz="1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NZ" altLang="ja-JP" sz="1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NZ" altLang="ja-JP" sz="1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𝒊𝒋</m:t>
                            </m:r>
                          </m:sub>
                          <m:sup>
                            <m:d>
                              <m:dPr>
                                <m:ctrlPr>
                                  <a:rPr lang="en-NZ" altLang="ja-JP" sz="1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NZ" altLang="ja-JP" sz="1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e>
                            </m:d>
                          </m:sup>
                        </m:sSubSup>
                        <m:r>
                          <a:rPr lang="en-NZ" altLang="ja-JP" sz="1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NZ" altLang="ja-JP" sz="1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NZ" altLang="ja-JP" sz="1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𝝅</m:t>
                            </m:r>
                          </m:e>
                          <m:sub>
                            <m:r>
                              <a:rPr lang="en-NZ" altLang="ja-JP" sz="1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b>
                        </m:sSub>
                      </m:e>
                    </m:func>
                    <m:r>
                      <a:rPr lang="en-NZ" altLang="ja-JP" sz="1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NZ" altLang="ja-JP" sz="14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As such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NZ" altLang="ja-JP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sSupPr>
                      <m:e>
                        <m:r>
                          <a:rPr lang="en-NZ" altLang="ja-JP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𝒋</m:t>
                        </m:r>
                      </m:e>
                      <m:sup>
                        <m:r>
                          <a:rPr lang="en-NZ" altLang="ja-JP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𝒕𝒉</m:t>
                        </m:r>
                      </m:sup>
                    </m:sSup>
                  </m:oMath>
                </a14:m>
                <a:r>
                  <a:rPr lang="en-NZ" altLang="ja-JP" sz="14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column of the n-step transition matrix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NZ" altLang="ja-JP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sSupPr>
                      <m:e>
                        <m:r>
                          <a:rPr lang="en-NZ" altLang="ja-JP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𝑷</m:t>
                        </m:r>
                      </m:e>
                      <m:sup>
                        <m:r>
                          <a:rPr lang="en-NZ" altLang="ja-JP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en-NZ" altLang="ja-JP" sz="1400" b="1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:r>
                  <a:rPr lang="en-NZ" altLang="ja-JP" sz="14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will tend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1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e>
                      <m:sub>
                        <m:r>
                          <a:rPr lang="en-NZ" altLang="ja-JP" sz="1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br>
                  <a:rPr lang="en-NZ" altLang="ja-JP" sz="14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</a:br>
                <a:r>
                  <a:rPr lang="en-NZ" altLang="ja-JP" sz="14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</a:p>
              <a:p>
                <a:pPr lvl="0">
                  <a:lnSpc>
                    <a:spcPct val="100000"/>
                  </a:lnSpc>
                  <a:defRPr/>
                </a:pPr>
                <a:br>
                  <a:rPr lang="en-NZ" altLang="ja-JP" sz="14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</a:br>
                <a:endParaRPr lang="en-US" altLang="ja-JP" sz="1400" dirty="0">
                  <a:solidFill>
                    <a:schemeClr val="tx1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21742BB5-A6D1-6A6E-0CA1-A62BA467EC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431" y="4027093"/>
                <a:ext cx="10525366" cy="548439"/>
              </a:xfrm>
              <a:prstGeom prst="rect">
                <a:avLst/>
              </a:prstGeom>
              <a:blipFill>
                <a:blip r:embed="rId5"/>
                <a:stretch>
                  <a:fillRect l="-174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29C09316-72EA-5718-9563-FDBABE46A117}"/>
              </a:ext>
            </a:extLst>
          </p:cNvPr>
          <p:cNvSpPr txBox="1">
            <a:spLocks/>
          </p:cNvSpPr>
          <p:nvPr/>
        </p:nvSpPr>
        <p:spPr>
          <a:xfrm>
            <a:off x="9444251" y="86139"/>
            <a:ext cx="2645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Question 3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13" name="Title 6">
            <a:extLst>
              <a:ext uri="{FF2B5EF4-FFF2-40B4-BE49-F238E27FC236}">
                <a16:creationId xmlns:a16="http://schemas.microsoft.com/office/drawing/2014/main" id="{A80F28E9-DAEF-B3AC-832C-4A0BBEF872A4}"/>
              </a:ext>
            </a:extLst>
          </p:cNvPr>
          <p:cNvSpPr txBox="1">
            <a:spLocks/>
          </p:cNvSpPr>
          <p:nvPr/>
        </p:nvSpPr>
        <p:spPr>
          <a:xfrm>
            <a:off x="319464" y="196889"/>
            <a:ext cx="2819522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Question 3: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B23F7EF-9994-7409-B218-42C6D8EFE794}"/>
              </a:ext>
            </a:extLst>
          </p:cNvPr>
          <p:cNvSpPr txBox="1">
            <a:spLocks/>
          </p:cNvSpPr>
          <p:nvPr/>
        </p:nvSpPr>
        <p:spPr>
          <a:xfrm>
            <a:off x="3011606" y="6551432"/>
            <a:ext cx="6168789" cy="3085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Associated code = </a:t>
            </a:r>
            <a:r>
              <a:rPr kumimoji="1" lang="en-NZ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Tutorial 4 – Q3</a:t>
            </a:r>
            <a:endParaRPr kumimoji="1" lang="en-US" altLang="ja-JP" sz="12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1F1C734-B0CE-6A64-5FE0-95F069FAD849}"/>
                  </a:ext>
                </a:extLst>
              </p:cNvPr>
              <p:cNvSpPr txBox="1"/>
              <p:nvPr/>
            </p:nvSpPr>
            <p:spPr>
              <a:xfrm>
                <a:off x="513742" y="3644691"/>
                <a:ext cx="10763055" cy="4528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+mj-lt"/>
                  <a:buAutoNum type="alphaLcParenR" startAt="4"/>
                </a:pPr>
                <a:r>
                  <a:rPr lang="en-NZ" dirty="0">
                    <a:solidFill>
                      <a:srgbClr val="0070C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Give an expression for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kumimoji="1" lang="en-NZ" altLang="ja-JP" sz="1800" b="0" i="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lim</m:t>
                            </m:r>
                          </m:e>
                          <m:lim>
                            <m: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𝒏</m:t>
                            </m:r>
                            <m: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</m:ctrlPr>
                          </m:sSupPr>
                          <m:e>
                            <m: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𝑷</m:t>
                            </m:r>
                          </m:e>
                          <m:sup>
                            <m: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𝒏</m:t>
                            </m:r>
                          </m:sup>
                        </m:sSup>
                      </m:e>
                    </m:func>
                  </m:oMath>
                </a14:m>
                <a:r>
                  <a:rPr lang="en-NZ" dirty="0">
                    <a:solidFill>
                      <a:srgbClr val="0070C0"/>
                    </a:solidFill>
                  </a:rPr>
                  <a:t>. Check your answer by raising the matrix </a:t>
                </a:r>
                <a14:m>
                  <m:oMath xmlns:m="http://schemas.openxmlformats.org/officeDocument/2006/math">
                    <m:r>
                      <a:rPr lang="en-NZ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r>
                  <a:rPr lang="en-NZ" dirty="0">
                    <a:solidFill>
                      <a:srgbClr val="0070C0"/>
                    </a:solidFill>
                  </a:rPr>
                  <a:t> to successively higher powers in R.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1F1C734-B0CE-6A64-5FE0-95F069FAD8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742" y="3644691"/>
                <a:ext cx="10763055" cy="452816"/>
              </a:xfrm>
              <a:prstGeom prst="rect">
                <a:avLst/>
              </a:prstGeom>
              <a:blipFill>
                <a:blip r:embed="rId6"/>
                <a:stretch>
                  <a:fillRect l="-453" t="-6757" b="-4054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CC4EBA1D-2548-8409-392C-284B1B7093F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2283" y="4472711"/>
                <a:ext cx="11267434" cy="129412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en-NZ" altLang="ja-JP" sz="1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en-NZ" altLang="ja-JP" sz="16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1" lang="en-NZ" altLang="ja-JP" sz="1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  <m:t>𝒏</m:t>
                              </m:r>
                              <m:r>
                                <a:rPr kumimoji="1" lang="en-NZ" altLang="ja-JP" sz="1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kumimoji="1" lang="en-NZ" altLang="ja-JP" sz="1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</m:ctrlPr>
                            </m:sSupPr>
                            <m:e>
                              <m:r>
                                <a:rPr kumimoji="1" lang="en-NZ" altLang="ja-JP" sz="1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  <m:t>𝑷</m:t>
                              </m:r>
                            </m:e>
                            <m:sup>
                              <m:r>
                                <a:rPr kumimoji="1" lang="en-NZ" altLang="ja-JP" sz="1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  <m:t>𝒏</m:t>
                              </m:r>
                            </m:sup>
                          </m:sSup>
                        </m:e>
                      </m:func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NZ" altLang="ja-JP" sz="1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NZ" altLang="ja-JP" sz="16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NZ" altLang="ja-JP" sz="16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NZ" altLang="ja-JP" sz="16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𝟐𝟎𝟑𝟗𝟖𝟒𝟖</m:t>
                                </m:r>
                              </m:e>
                              <m:e>
                                <m:r>
                                  <a:rPr lang="en-NZ" altLang="ja-JP" sz="16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NZ" altLang="ja-JP" sz="16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NZ" altLang="ja-JP" sz="16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𝟐𝟑𝟕𝟏𝟗𝟏𝟕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NZ" altLang="ja-JP" sz="16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  <m:r>
                                        <a:rPr lang="en-NZ" altLang="ja-JP" sz="16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</m:t>
                                      </m:r>
                                      <m:r>
                                        <a:rPr lang="en-NZ" altLang="ja-JP" sz="16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𝟐𝟒𝟔𝟔𝟕𝟗𝟑</m:t>
                                      </m:r>
                                    </m:e>
                                    <m:e>
                                      <m:r>
                                        <a:rPr lang="en-NZ" altLang="ja-JP" sz="16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  <m:r>
                                        <a:rPr lang="en-NZ" altLang="ja-JP" sz="16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</m:t>
                                      </m:r>
                                      <m:r>
                                        <a:rPr lang="en-NZ" altLang="ja-JP" sz="16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𝟏𝟒𝟏𝟑𝟔𝟔𝟐</m:t>
                                      </m:r>
                                    </m:e>
                                    <m:e>
                                      <m:r>
                                        <a:rPr lang="en-NZ" altLang="ja-JP" sz="16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  <m:r>
                                        <a:rPr lang="en-NZ" altLang="ja-JP" sz="16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</m:t>
                                      </m:r>
                                      <m:r>
                                        <a:rPr lang="en-NZ" altLang="ja-JP" sz="16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𝟏𝟕𝟎𝟕𝟕𝟖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en-NZ" altLang="ja-JP" sz="16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NZ" altLang="ja-JP" sz="16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NZ" altLang="ja-JP" sz="16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𝟐𝟎𝟑𝟗𝟖𝟒𝟖</m:t>
                                </m:r>
                              </m:e>
                              <m:e>
                                <m:r>
                                  <a:rPr lang="en-NZ" altLang="ja-JP" sz="16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NZ" altLang="ja-JP" sz="16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NZ" altLang="ja-JP" sz="16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𝟐𝟑𝟕𝟏𝟗𝟏𝟕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NZ" altLang="ja-JP" sz="16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  <m:r>
                                        <a:rPr lang="en-NZ" altLang="ja-JP" sz="16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</m:t>
                                      </m:r>
                                      <m:r>
                                        <a:rPr lang="en-NZ" altLang="ja-JP" sz="16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𝟐𝟒𝟔𝟔𝟕𝟗𝟑</m:t>
                                      </m:r>
                                    </m:e>
                                    <m:e>
                                      <m:r>
                                        <a:rPr lang="en-NZ" altLang="ja-JP" sz="16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  <m:r>
                                        <a:rPr lang="en-NZ" altLang="ja-JP" sz="16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</m:t>
                                      </m:r>
                                      <m:r>
                                        <a:rPr lang="en-NZ" altLang="ja-JP" sz="16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𝟏𝟒𝟏𝟑𝟔𝟔𝟐</m:t>
                                      </m:r>
                                    </m:e>
                                    <m:e>
                                      <m:r>
                                        <a:rPr lang="en-NZ" altLang="ja-JP" sz="16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  <m:r>
                                        <a:rPr lang="en-NZ" altLang="ja-JP" sz="16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</m:t>
                                      </m:r>
                                      <m:r>
                                        <a:rPr lang="en-NZ" altLang="ja-JP" sz="16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𝟏𝟕𝟎𝟕𝟕𝟖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NZ" altLang="ja-JP" sz="16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  <m:r>
                                        <a:rPr lang="en-NZ" altLang="ja-JP" sz="16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</m:t>
                                      </m:r>
                                      <m:r>
                                        <a:rPr lang="en-NZ" altLang="ja-JP" sz="16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𝟐𝟎𝟑𝟗𝟖𝟒𝟖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NZ" altLang="ja-JP" sz="16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  <m:r>
                                        <a:rPr lang="en-NZ" altLang="ja-JP" sz="16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</m:t>
                                      </m:r>
                                      <m:r>
                                        <a:rPr lang="en-NZ" altLang="ja-JP" sz="16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𝟐𝟎𝟑𝟗𝟖𝟒𝟖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NZ" altLang="ja-JP" sz="16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  <m:r>
                                        <a:rPr lang="en-NZ" altLang="ja-JP" sz="16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</m:t>
                                      </m:r>
                                      <m:r>
                                        <a:rPr lang="en-NZ" altLang="ja-JP" sz="16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𝟐𝟎𝟑𝟗𝟖𝟒𝟖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NZ" altLang="ja-JP" sz="16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  <m:r>
                                        <a:rPr lang="en-NZ" altLang="ja-JP" sz="16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</m:t>
                                      </m:r>
                                      <m:r>
                                        <a:rPr lang="en-NZ" altLang="ja-JP" sz="16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𝟐𝟑𝟕𝟏𝟗𝟏𝟕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NZ" altLang="ja-JP" sz="16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  <m:r>
                                        <a:rPr lang="en-NZ" altLang="ja-JP" sz="16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</m:t>
                                      </m:r>
                                      <m:r>
                                        <a:rPr lang="en-NZ" altLang="ja-JP" sz="16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𝟐𝟑𝟕𝟏𝟗𝟏𝟕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NZ" altLang="ja-JP" sz="16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  <m:r>
                                        <a:rPr lang="en-NZ" altLang="ja-JP" sz="16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</m:t>
                                      </m:r>
                                      <m:r>
                                        <a:rPr lang="en-NZ" altLang="ja-JP" sz="16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𝟐𝟑𝟕𝟏𝟗𝟏𝟕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NZ" altLang="ja-JP" sz="1600" b="1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游ゴシック" panose="020B0400000000000000" pitchFamily="34" charset="-128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a:rPr lang="en-NZ" altLang="ja-JP" sz="1600" b="1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𝟎</m:t>
                                            </m:r>
                                            <m:r>
                                              <a:rPr lang="en-NZ" altLang="ja-JP" sz="1600" b="1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.</m:t>
                                            </m:r>
                                            <m:r>
                                              <a:rPr lang="en-NZ" altLang="ja-JP" sz="1600" b="1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𝟐𝟒𝟔𝟔𝟕𝟗𝟑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NZ" altLang="ja-JP" sz="1600" b="1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𝟎</m:t>
                                            </m:r>
                                            <m:r>
                                              <a:rPr lang="en-NZ" altLang="ja-JP" sz="1600" b="1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.</m:t>
                                            </m:r>
                                            <m:r>
                                              <a:rPr lang="en-NZ" altLang="ja-JP" sz="1600" b="1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𝟐𝟒𝟔𝟔𝟕𝟗𝟑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NZ" altLang="ja-JP" sz="1600" b="1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𝟎</m:t>
                                            </m:r>
                                            <m:r>
                                              <a:rPr lang="en-NZ" altLang="ja-JP" sz="1600" b="1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.</m:t>
                                            </m:r>
                                            <m:r>
                                              <a:rPr lang="en-NZ" altLang="ja-JP" sz="1600" b="1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𝟐𝟒𝟔𝟔𝟕𝟗𝟑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NZ" altLang="ja-JP" sz="1600" b="1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游ゴシック" panose="020B0400000000000000" pitchFamily="34" charset="-128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a:rPr lang="en-NZ" altLang="ja-JP" sz="1600" b="1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𝟎</m:t>
                                            </m:r>
                                            <m:r>
                                              <a:rPr lang="en-NZ" altLang="ja-JP" sz="1600" b="1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.</m:t>
                                            </m:r>
                                            <m:r>
                                              <a:rPr lang="en-NZ" altLang="ja-JP" sz="1600" b="1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𝟏𝟒𝟏𝟑𝟔𝟔𝟐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NZ" altLang="ja-JP" sz="1600" b="1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𝟎</m:t>
                                            </m:r>
                                            <m:r>
                                              <a:rPr lang="en-NZ" altLang="ja-JP" sz="1600" b="1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.</m:t>
                                            </m:r>
                                            <m:r>
                                              <a:rPr lang="en-NZ" altLang="ja-JP" sz="1600" b="1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𝟏𝟒𝟏𝟑𝟔𝟔𝟐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NZ" altLang="ja-JP" sz="1600" b="1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𝟎</m:t>
                                            </m:r>
                                            <m:r>
                                              <a:rPr lang="en-NZ" altLang="ja-JP" sz="1600" b="1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.</m:t>
                                            </m:r>
                                            <m:r>
                                              <a:rPr lang="en-NZ" altLang="ja-JP" sz="1600" b="1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𝟏𝟒𝟏𝟑𝟔𝟔𝟐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NZ" altLang="ja-JP" sz="1600" b="1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游ゴシック" panose="020B0400000000000000" pitchFamily="34" charset="-128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a:rPr lang="en-NZ" altLang="ja-JP" sz="1600" b="1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𝟎</m:t>
                                            </m:r>
                                            <m:r>
                                              <a:rPr lang="en-NZ" altLang="ja-JP" sz="1600" b="1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.</m:t>
                                            </m:r>
                                            <m:r>
                                              <a:rPr lang="en-NZ" altLang="ja-JP" sz="1600" b="1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𝟏𝟕𝟎𝟕𝟕𝟖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NZ" altLang="ja-JP" sz="1600" b="1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𝟎</m:t>
                                            </m:r>
                                            <m:r>
                                              <a:rPr lang="en-NZ" altLang="ja-JP" sz="1600" b="1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.</m:t>
                                            </m:r>
                                            <m:r>
                                              <a:rPr lang="en-NZ" altLang="ja-JP" sz="1600" b="1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𝟏𝟕𝟎𝟕𝟕𝟖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NZ" altLang="ja-JP" sz="1600" b="1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𝟎</m:t>
                                            </m:r>
                                            <m:r>
                                              <a:rPr lang="en-NZ" altLang="ja-JP" sz="1600" b="1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.</m:t>
                                            </m:r>
                                            <m:r>
                                              <a:rPr lang="en-NZ" altLang="ja-JP" sz="1600" b="1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𝟏𝟕𝟎𝟕𝟕𝟖</m:t>
                                            </m:r>
                                            <m:r>
                                              <a:rPr kumimoji="1" lang="en-NZ" altLang="ja-JP" sz="1600" b="1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 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en-US" altLang="ja-JP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CC4EBA1D-2548-8409-392C-284B1B7093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283" y="4472711"/>
                <a:ext cx="11267434" cy="129412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3F6824A4-3B27-28FA-43E6-295F2A478DF4}"/>
              </a:ext>
            </a:extLst>
          </p:cNvPr>
          <p:cNvSpPr txBox="1">
            <a:spLocks/>
          </p:cNvSpPr>
          <p:nvPr/>
        </p:nvSpPr>
        <p:spPr>
          <a:xfrm>
            <a:off x="751431" y="6058899"/>
            <a:ext cx="10525366" cy="35621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defRPr/>
            </a:pPr>
            <a:r>
              <a:rPr lang="en-NZ" altLang="ja-JP" sz="1400" dirty="0">
                <a:solidFill>
                  <a:schemeClr val="tx1"/>
                </a:solidFill>
                <a:latin typeface="Calibri" panose="020F0502020204030204"/>
                <a:ea typeface="游ゴシック" panose="020B0400000000000000" pitchFamily="34" charset="-128"/>
              </a:rPr>
              <a:t>This is shown explicitly in Section 2 of the associated code.</a:t>
            </a:r>
            <a:br>
              <a:rPr lang="en-NZ" altLang="ja-JP" sz="1400" dirty="0">
                <a:solidFill>
                  <a:schemeClr val="tx1"/>
                </a:solidFill>
                <a:latin typeface="Calibri" panose="020F0502020204030204"/>
                <a:ea typeface="游ゴシック" panose="020B0400000000000000" pitchFamily="34" charset="-128"/>
              </a:rPr>
            </a:br>
            <a:r>
              <a:rPr lang="en-NZ" altLang="ja-JP" sz="1400" dirty="0">
                <a:solidFill>
                  <a:schemeClr val="tx1"/>
                </a:solidFill>
                <a:latin typeface="Calibri" panose="020F0502020204030204"/>
                <a:ea typeface="游ゴシック" panose="020B0400000000000000" pitchFamily="34" charset="-128"/>
              </a:rPr>
              <a:t> </a:t>
            </a:r>
          </a:p>
          <a:p>
            <a:pPr lvl="0">
              <a:lnSpc>
                <a:spcPct val="100000"/>
              </a:lnSpc>
              <a:defRPr/>
            </a:pPr>
            <a:br>
              <a:rPr lang="en-NZ" altLang="ja-JP" sz="1400" dirty="0">
                <a:solidFill>
                  <a:schemeClr val="tx1"/>
                </a:solidFill>
                <a:latin typeface="Calibri" panose="020F0502020204030204"/>
                <a:ea typeface="游ゴシック" panose="020B0400000000000000" pitchFamily="34" charset="-128"/>
              </a:rPr>
            </a:br>
            <a:endParaRPr lang="en-US" altLang="ja-JP" sz="1400" dirty="0">
              <a:solidFill>
                <a:schemeClr val="tx1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CE3D146-ED58-E92A-3B92-7585FE1F1E31}"/>
                  </a:ext>
                </a:extLst>
              </p:cNvPr>
              <p:cNvSpPr txBox="1"/>
              <p:nvPr/>
            </p:nvSpPr>
            <p:spPr>
              <a:xfrm>
                <a:off x="2938664" y="5718527"/>
                <a:ext cx="7009101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NZ" altLang="ja-JP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NZ" altLang="ja-JP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NZ" altLang="ja-JP" sz="16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NZ" altLang="ja-JP" sz="16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NZ" altLang="ja-JP" sz="16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𝟐𝟎𝟑𝟗𝟖𝟒𝟖</m:t>
                                </m:r>
                              </m:e>
                              <m:e>
                                <m:r>
                                  <a:rPr lang="en-NZ" altLang="ja-JP" sz="16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NZ" altLang="ja-JP" sz="16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NZ" altLang="ja-JP" sz="16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𝟐𝟑𝟕𝟏𝟗𝟏𝟕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NZ" altLang="ja-JP" sz="16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NZ" altLang="ja-JP" sz="16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  <m:r>
                                        <a:rPr lang="en-NZ" altLang="ja-JP" sz="16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</m:t>
                                      </m:r>
                                      <m:r>
                                        <a:rPr lang="en-NZ" altLang="ja-JP" sz="16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𝟐𝟒𝟔𝟔𝟕𝟗𝟑</m:t>
                                      </m:r>
                                    </m:e>
                                    <m:e>
                                      <m:r>
                                        <a:rPr lang="en-NZ" altLang="ja-JP" sz="16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  <m:r>
                                        <a:rPr lang="en-NZ" altLang="ja-JP" sz="16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</m:t>
                                      </m:r>
                                      <m:r>
                                        <a:rPr lang="en-NZ" altLang="ja-JP" sz="16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𝟏𝟒𝟏𝟑𝟔𝟔𝟐</m:t>
                                      </m:r>
                                    </m:e>
                                    <m:e>
                                      <m:r>
                                        <a:rPr lang="en-NZ" altLang="ja-JP" sz="16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  <m:r>
                                        <a:rPr lang="en-NZ" altLang="ja-JP" sz="16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</m:t>
                                      </m:r>
                                      <m:r>
                                        <a:rPr lang="en-NZ" altLang="ja-JP" sz="16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𝟏𝟕𝟎𝟕𝟕𝟖𝟎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NZ" sz="16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CE3D146-ED58-E92A-3B92-7585FE1F1E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8664" y="5718527"/>
                <a:ext cx="7009101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541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6" grpId="0"/>
      <p:bldP spid="9" grpId="0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E01D7A31-5FF0-43DC-9F4D-F2B96A58DE6A}"/>
              </a:ext>
            </a:extLst>
          </p:cNvPr>
          <p:cNvSpPr txBox="1">
            <a:spLocks/>
          </p:cNvSpPr>
          <p:nvPr/>
        </p:nvSpPr>
        <p:spPr>
          <a:xfrm>
            <a:off x="9444251" y="86139"/>
            <a:ext cx="2645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Question 4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4F3E9ADB-6AEC-42EA-808B-5A433C8B4560}"/>
              </a:ext>
            </a:extLst>
          </p:cNvPr>
          <p:cNvSpPr txBox="1">
            <a:spLocks/>
          </p:cNvSpPr>
          <p:nvPr/>
        </p:nvSpPr>
        <p:spPr>
          <a:xfrm>
            <a:off x="319464" y="196889"/>
            <a:ext cx="2819522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Question 4: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65B06D6C-CCB3-4D8F-9171-6B4779FED53B}"/>
              </a:ext>
            </a:extLst>
          </p:cNvPr>
          <p:cNvSpPr txBox="1">
            <a:spLocks/>
          </p:cNvSpPr>
          <p:nvPr/>
        </p:nvSpPr>
        <p:spPr>
          <a:xfrm>
            <a:off x="319464" y="860699"/>
            <a:ext cx="11144655" cy="4471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Consider the following discrete state space Markov chains defined by the following transition matrices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 Placeholder 5">
                <a:extLst>
                  <a:ext uri="{FF2B5EF4-FFF2-40B4-BE49-F238E27FC236}">
                    <a16:creationId xmlns:a16="http://schemas.microsoft.com/office/drawing/2014/main" id="{BE7F2AC8-BE98-8818-EFAD-DF04A239E77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4" y="1939074"/>
                <a:ext cx="4226256" cy="147146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just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NZ" altLang="ja-JP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𝑃</m:t>
                      </m:r>
                      <m:r>
                        <a:rPr kumimoji="1" lang="en-NZ" altLang="ja-JP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NZ" altLang="ja-JP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NZ" altLang="ja-JP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0</m:t>
                                </m:r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.95</m:t>
                                </m:r>
                              </m:e>
                              <m:e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0.05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  <a:cs typeface="+mn-cs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0</m:t>
                                      </m:r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.00</m:t>
                                      </m:r>
                                    </m:e>
                                    <m:e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0.00</m:t>
                                      </m:r>
                                    </m:e>
                                    <m:e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0.00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0.05</m:t>
                                </m:r>
                              </m:e>
                              <m:e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0.90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  <a:cs typeface="+mn-cs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0</m:t>
                                      </m:r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.05</m:t>
                                      </m:r>
                                    </m:e>
                                    <m:e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0.00</m:t>
                                      </m:r>
                                    </m:e>
                                    <m:e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0.00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  <a:cs typeface="+mn-cs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0</m:t>
                                      </m:r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.00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NZ" altLang="ja-JP" sz="18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NZ" altLang="ja-JP" sz="18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.00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NZ" altLang="ja-JP" sz="18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NZ" altLang="ja-JP" sz="18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.00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  <a:cs typeface="+mn-cs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0</m:t>
                                      </m:r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.05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NZ" altLang="ja-JP" sz="18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NZ" altLang="ja-JP" sz="18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.00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NZ" altLang="ja-JP" sz="18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NZ" altLang="ja-JP" sz="18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.00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  <a:cs typeface="+mn-cs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NZ" altLang="ja-JP" sz="18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70C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游ゴシック" panose="020B0400000000000000" pitchFamily="34" charset="-128"/>
                                              <a:cs typeface="+mn-cs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0070C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  <a:cs typeface="+mn-cs"/>
                                              </a:rPr>
                                              <m:t>0</m:t>
                                            </m:r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0070C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  <a:cs typeface="+mn-cs"/>
                                              </a:rPr>
                                              <m:t>.90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0070C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  <a:cs typeface="+mn-cs"/>
                                              </a:rPr>
                                              <m:t>0.05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NZ" altLang="ja-JP" sz="1800" i="1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  <m:r>
                                              <a:rPr lang="en-NZ" altLang="ja-JP" sz="1800" i="1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.00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NZ" altLang="ja-JP" sz="18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70C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游ゴシック" panose="020B0400000000000000" pitchFamily="34" charset="-128"/>
                                              <a:cs typeface="+mn-cs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0070C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  <a:cs typeface="+mn-cs"/>
                                              </a:rPr>
                                              <m:t>0</m:t>
                                            </m:r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0070C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  <a:cs typeface="+mn-cs"/>
                                              </a:rPr>
                                              <m:t>.05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0070C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  <a:cs typeface="+mn-cs"/>
                                              </a:rPr>
                                              <m:t>0.90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0070C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  <a:cs typeface="+mn-cs"/>
                                              </a:rPr>
                                              <m:t>0.05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NZ" altLang="ja-JP" sz="18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70C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游ゴシック" panose="020B0400000000000000" pitchFamily="34" charset="-128"/>
                                              <a:cs typeface="+mn-cs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NZ" altLang="ja-JP" sz="1800" i="1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  <m:r>
                                              <a:rPr lang="en-NZ" altLang="ja-JP" sz="1800" i="1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.00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0070C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  <a:cs typeface="+mn-cs"/>
                                              </a:rPr>
                                              <m:t>0.05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0070C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  <a:cs typeface="+mn-cs"/>
                                              </a:rPr>
                                              <m:t>0.95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kumimoji="1" lang="en-NZ" altLang="ja-JP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</m:t>
                      </m:r>
                    </m:oMath>
                  </m:oMathPara>
                </a14:m>
                <a:endParaRPr kumimoji="1" lang="en-US" altLang="ja-JP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56" name="Text Placeholder 5">
                <a:extLst>
                  <a:ext uri="{FF2B5EF4-FFF2-40B4-BE49-F238E27FC236}">
                    <a16:creationId xmlns:a16="http://schemas.microsoft.com/office/drawing/2014/main" id="{BE7F2AC8-BE98-8818-EFAD-DF04A239E7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4" y="1939074"/>
                <a:ext cx="4226256" cy="14714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 Placeholder 5">
                <a:extLst>
                  <a:ext uri="{FF2B5EF4-FFF2-40B4-BE49-F238E27FC236}">
                    <a16:creationId xmlns:a16="http://schemas.microsoft.com/office/drawing/2014/main" id="{3705C549-2831-B0B5-F5D0-9C8695A7EAE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4" y="3638417"/>
                <a:ext cx="4226256" cy="147146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just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NZ" altLang="ja-JP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𝑄</m:t>
                      </m:r>
                      <m:r>
                        <a:rPr kumimoji="1" lang="en-NZ" altLang="ja-JP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NZ" altLang="ja-JP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NZ" altLang="ja-JP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0</m:t>
                                </m:r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.50</m:t>
                                </m:r>
                              </m:e>
                              <m:e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0.25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  <a:cs typeface="+mn-cs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0</m:t>
                                      </m:r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.25</m:t>
                                      </m:r>
                                    </m:e>
                                    <m:e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0.00</m:t>
                                      </m:r>
                                    </m:e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NZ" altLang="ja-JP" sz="18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NZ" altLang="ja-JP" sz="18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.00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0.25</m:t>
                                </m:r>
                              </m:e>
                              <m:e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0.50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  <a:cs typeface="+mn-cs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0</m:t>
                                      </m:r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.15</m:t>
                                      </m:r>
                                    </m:e>
                                    <m:e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0.10</m:t>
                                      </m:r>
                                    </m:e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NZ" altLang="ja-JP" sz="18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NZ" altLang="ja-JP" sz="18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.00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  <a:cs typeface="+mn-cs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0</m:t>
                                      </m:r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.15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0.10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0.00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  <a:cs typeface="+mn-cs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0</m:t>
                                      </m:r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.25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0.00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0.00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  <a:cs typeface="+mn-cs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NZ" altLang="ja-JP" sz="18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70C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游ゴシック" panose="020B0400000000000000" pitchFamily="34" charset="-128"/>
                                              <a:cs typeface="+mn-cs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0070C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  <a:cs typeface="+mn-cs"/>
                                              </a:rPr>
                                              <m:t>0</m:t>
                                            </m:r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0070C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  <a:cs typeface="+mn-cs"/>
                                              </a:rPr>
                                              <m:t>.50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0070C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  <a:cs typeface="+mn-cs"/>
                                              </a:rPr>
                                              <m:t>0.10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0070C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  <a:cs typeface="+mn-cs"/>
                                              </a:rPr>
                                              <m:t>0.00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NZ" altLang="ja-JP" sz="18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70C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游ゴシック" panose="020B0400000000000000" pitchFamily="34" charset="-128"/>
                                              <a:cs typeface="+mn-cs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0070C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  <a:cs typeface="+mn-cs"/>
                                              </a:rPr>
                                              <m:t>0</m:t>
                                            </m:r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0070C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  <a:cs typeface="+mn-cs"/>
                                              </a:rPr>
                                              <m:t>.10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0070C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  <a:cs typeface="+mn-cs"/>
                                              </a:rPr>
                                              <m:t>0.60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0070C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  <a:cs typeface="+mn-cs"/>
                                              </a:rPr>
                                              <m:t>0.20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NZ" altLang="ja-JP" sz="18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70C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游ゴシック" panose="020B0400000000000000" pitchFamily="34" charset="-128"/>
                                              <a:cs typeface="+mn-cs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NZ" altLang="ja-JP" sz="1800" i="1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  <m:r>
                                              <a:rPr lang="en-NZ" altLang="ja-JP" sz="1800" i="1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.00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0070C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  <a:cs typeface="+mn-cs"/>
                                              </a:rPr>
                                              <m:t>0.20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0070C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  <a:cs typeface="+mn-cs"/>
                                              </a:rPr>
                                              <m:t>0.80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kumimoji="1" lang="en-NZ" altLang="ja-JP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</m:t>
                      </m:r>
                    </m:oMath>
                  </m:oMathPara>
                </a14:m>
                <a:endParaRPr kumimoji="1" lang="en-US" altLang="ja-JP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60" name="Text Placeholder 5">
                <a:extLst>
                  <a:ext uri="{FF2B5EF4-FFF2-40B4-BE49-F238E27FC236}">
                    <a16:creationId xmlns:a16="http://schemas.microsoft.com/office/drawing/2014/main" id="{3705C549-2831-B0B5-F5D0-9C8695A7EA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4" y="3638417"/>
                <a:ext cx="4226256" cy="14714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 Placeholder 5">
                <a:extLst>
                  <a:ext uri="{FF2B5EF4-FFF2-40B4-BE49-F238E27FC236}">
                    <a16:creationId xmlns:a16="http://schemas.microsoft.com/office/drawing/2014/main" id="{46BC6CB5-176B-6D67-F09F-370818CF690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90364" y="1369350"/>
                <a:ext cx="6673755" cy="5182082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marR="0" lvl="0" indent="-342900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lphaLcParenR"/>
                  <a:tabLst/>
                  <a:defRPr/>
                </a:pPr>
                <a:r>
                  <a:rPr lang="en-US" altLang="ja-JP" sz="1600" dirty="0">
                    <a:solidFill>
                      <a:srgbClr val="0070C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State whether the Markov chains defined are</a:t>
                </a:r>
                <a:r>
                  <a:rPr kumimoji="1" lang="en-US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</a:t>
                </a:r>
                <a:r>
                  <a:rPr lang="en-US" altLang="ja-JP" sz="1600" dirty="0">
                    <a:solidFill>
                      <a:srgbClr val="0070C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reducible or irreducible?</a:t>
                </a:r>
                <a:br>
                  <a:rPr lang="en-US" altLang="ja-JP" sz="1600" dirty="0">
                    <a:solidFill>
                      <a:srgbClr val="0070C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</a:br>
                <a:endParaRPr lang="en-US" altLang="ja-JP" sz="1600" dirty="0">
                  <a:solidFill>
                    <a:srgbClr val="0070C0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marL="342900" marR="0" lvl="0" indent="-342900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lphaLcParenR"/>
                  <a:tabLst/>
                  <a:defRPr/>
                </a:pPr>
                <a:r>
                  <a:rPr kumimoji="1" lang="en-US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State whether </a:t>
                </a:r>
                <a:r>
                  <a:rPr lang="en-US" altLang="ja-JP" sz="1600" dirty="0">
                    <a:solidFill>
                      <a:srgbClr val="0070C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the Markov chains defined are</a:t>
                </a:r>
                <a:r>
                  <a:rPr kumimoji="1" lang="en-US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positive recurrent, null recurrent or transient?</a:t>
                </a:r>
                <a:br>
                  <a:rPr kumimoji="1" lang="en-US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</a:br>
                <a:endParaRPr kumimoji="1" lang="en-US" altLang="ja-JP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342900" marR="0" lvl="0" indent="-342900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lphaLcParenR"/>
                  <a:tabLst/>
                  <a:defRPr/>
                </a:pPr>
                <a:r>
                  <a:rPr lang="en-US" altLang="ja-JP" sz="1600" dirty="0">
                    <a:solidFill>
                      <a:srgbClr val="0070C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What conditions ensure that a discrete state space Markov chain has a </a:t>
                </a:r>
                <a:r>
                  <a:rPr lang="en-US" altLang="ja-JP" sz="1600" b="1" dirty="0">
                    <a:solidFill>
                      <a:srgbClr val="0070C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stationary distribution</a:t>
                </a:r>
                <a:r>
                  <a:rPr lang="en-US" altLang="ja-JP" sz="1600" dirty="0">
                    <a:solidFill>
                      <a:srgbClr val="0070C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? Are these conditions satisfied here?</a:t>
                </a:r>
                <a:br>
                  <a:rPr lang="en-US" altLang="ja-JP" sz="1600" dirty="0">
                    <a:solidFill>
                      <a:srgbClr val="0070C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</a:br>
                <a:endParaRPr lang="en-US" altLang="ja-JP" sz="1600" dirty="0">
                  <a:solidFill>
                    <a:srgbClr val="0070C0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marL="342900" marR="0" lvl="0" indent="-342900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lphaLcParenR"/>
                  <a:tabLst/>
                  <a:defRPr/>
                </a:pPr>
                <a:r>
                  <a:rPr kumimoji="1" lang="en-US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Find the stationary distribution of the Markov chains defined by </a:t>
                </a:r>
                <a:r>
                  <a:rPr kumimoji="1" lang="en-US" altLang="ja-JP" sz="16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P</a:t>
                </a:r>
                <a:r>
                  <a:rPr kumimoji="1" lang="en-US" altLang="ja-JP" sz="16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and </a:t>
                </a:r>
                <a:r>
                  <a:rPr kumimoji="1" lang="en-US" altLang="ja-JP" sz="16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Q</a:t>
                </a:r>
                <a:r>
                  <a:rPr kumimoji="1" lang="en-US" altLang="ja-JP" sz="16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.</a:t>
                </a:r>
                <a:br>
                  <a:rPr kumimoji="1" lang="en-US" altLang="ja-JP" sz="16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</a:br>
                <a:endParaRPr kumimoji="1" lang="en-US" altLang="ja-JP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342900" marR="0" lvl="0" indent="-342900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lphaLcParenR"/>
                  <a:tabLst/>
                  <a:defRPr/>
                </a:pPr>
                <a:r>
                  <a:rPr kumimoji="1" lang="en-US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State whether </a:t>
                </a:r>
                <a:r>
                  <a:rPr lang="en-US" altLang="ja-JP" sz="1600" dirty="0">
                    <a:solidFill>
                      <a:srgbClr val="0070C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the Markov chains defined are</a:t>
                </a:r>
                <a:r>
                  <a:rPr kumimoji="1" lang="en-US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</a:t>
                </a:r>
                <a:r>
                  <a:rPr lang="en-US" altLang="ja-JP" sz="1600" dirty="0">
                    <a:solidFill>
                      <a:srgbClr val="0070C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periodic or aperiodic?</a:t>
                </a:r>
                <a:br>
                  <a:rPr lang="en-US" altLang="ja-JP" sz="1600" dirty="0">
                    <a:solidFill>
                      <a:srgbClr val="0070C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</a:br>
                <a:endParaRPr lang="en-US" altLang="ja-JP" sz="1600" dirty="0">
                  <a:solidFill>
                    <a:srgbClr val="0070C0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marL="342900" marR="0" lvl="0" indent="-342900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lphaLcParenR"/>
                  <a:tabLst/>
                  <a:defRPr/>
                </a:pPr>
                <a:r>
                  <a:rPr lang="en-US" altLang="ja-JP" sz="1600" dirty="0">
                    <a:solidFill>
                      <a:srgbClr val="0070C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What conditions ensure that a discrete state space Markov chain has a </a:t>
                </a:r>
                <a:r>
                  <a:rPr lang="en-US" altLang="ja-JP" sz="1600" b="1" dirty="0">
                    <a:solidFill>
                      <a:srgbClr val="0070C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limiting distribution</a:t>
                </a:r>
                <a:r>
                  <a:rPr lang="en-US" altLang="ja-JP" sz="1600" dirty="0">
                    <a:solidFill>
                      <a:srgbClr val="0070C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? Are these conditions satisfied here?</a:t>
                </a:r>
                <a:br>
                  <a:rPr lang="en-US" altLang="ja-JP" sz="1600" dirty="0">
                    <a:solidFill>
                      <a:srgbClr val="0070C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</a:br>
                <a:endParaRPr lang="en-US" altLang="ja-JP" sz="1600" dirty="0">
                  <a:solidFill>
                    <a:srgbClr val="0070C0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marL="342900" lvl="0" indent="-342900">
                  <a:lnSpc>
                    <a:spcPct val="100000"/>
                  </a:lnSpc>
                  <a:buFont typeface="+mj-lt"/>
                  <a:buAutoNum type="alphaLcParenR"/>
                  <a:defRPr/>
                </a:pPr>
                <a:r>
                  <a:rPr lang="en-US" altLang="ja-JP" sz="1600" dirty="0">
                    <a:solidFill>
                      <a:srgbClr val="0070C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Given your answers to the above, give an expression for </a:t>
                </a:r>
                <a:br>
                  <a:rPr lang="en-US" altLang="ja-JP" sz="1600" dirty="0">
                    <a:solidFill>
                      <a:srgbClr val="0070C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</a:b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sz="16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funcPr>
                      <m:fName>
                        <m:r>
                          <a:rPr lang="en-NZ" altLang="ja-JP" sz="1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𝑋</m:t>
                        </m:r>
                        <m:r>
                          <a:rPr lang="en-NZ" altLang="ja-JP" sz="1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=</m:t>
                        </m:r>
                        <m:limLow>
                          <m:limLowPr>
                            <m:ctrlPr>
                              <a:rPr lang="en-US" altLang="ja-JP" sz="160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ja-JP" sz="1600" i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lim</m:t>
                            </m:r>
                          </m:e>
                          <m:lim>
                            <m:r>
                              <a:rPr lang="en-NZ" altLang="ja-JP" sz="16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𝑛</m:t>
                            </m:r>
                            <m:r>
                              <a:rPr lang="en-NZ" altLang="ja-JP" sz="16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NZ" altLang="ja-JP" sz="16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</m:ctrlPr>
                          </m:sSupPr>
                          <m:e>
                            <m:r>
                              <a:rPr lang="en-NZ" altLang="ja-JP" sz="16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𝑃</m:t>
                            </m:r>
                          </m:e>
                          <m:sup>
                            <m:r>
                              <a:rPr lang="en-NZ" altLang="ja-JP" sz="16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𝑛</m:t>
                            </m:r>
                          </m:sup>
                        </m:sSup>
                      </m:e>
                    </m:func>
                  </m:oMath>
                </a14:m>
                <a:r>
                  <a:rPr lang="en-US" altLang="ja-JP" sz="1600" dirty="0">
                    <a:solidFill>
                      <a:srgbClr val="0070C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NZ" altLang="ja-JP" sz="1600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NZ" altLang="ja-JP" sz="1600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ja-JP" sz="16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ja-JP" sz="16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ja-JP" sz="160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NZ" altLang="ja-JP" sz="16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NZ" altLang="ja-JP" sz="16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NZ" altLang="ja-JP" sz="16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NZ" altLang="ja-JP" sz="16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NZ" altLang="ja-JP" sz="16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func>
                  </m:oMath>
                </a14:m>
                <a:br>
                  <a:rPr lang="en-NZ" altLang="ja-JP" sz="1600" dirty="0">
                    <a:solidFill>
                      <a:srgbClr val="0070C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</a:br>
                <a:endParaRPr lang="en-US" altLang="ja-JP" sz="1600" dirty="0">
                  <a:solidFill>
                    <a:srgbClr val="0070C0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marL="342900" lvl="0" indent="-342900">
                  <a:lnSpc>
                    <a:spcPct val="100000"/>
                  </a:lnSpc>
                  <a:buFont typeface="+mj-lt"/>
                  <a:buAutoNum type="alphaLcParenR"/>
                  <a:defRPr/>
                </a:pPr>
                <a:r>
                  <a:rPr lang="en-US" altLang="ja-JP" sz="1600" dirty="0">
                    <a:solidFill>
                      <a:srgbClr val="0070C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Create a program in R to investigate the </a:t>
                </a:r>
                <a:r>
                  <a:rPr lang="en-US" altLang="ja-JP" sz="1600" b="1" dirty="0">
                    <a:solidFill>
                      <a:srgbClr val="0070C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rate</a:t>
                </a:r>
                <a:r>
                  <a:rPr lang="en-US" altLang="ja-JP" sz="1600" dirty="0">
                    <a:solidFill>
                      <a:srgbClr val="0070C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at which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NZ" altLang="ja-JP" sz="1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sSupPr>
                      <m:e>
                        <m:r>
                          <a:rPr lang="en-NZ" altLang="ja-JP" sz="1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𝑃</m:t>
                        </m:r>
                      </m:e>
                      <m:sup>
                        <m:r>
                          <a:rPr lang="en-NZ" altLang="ja-JP" sz="1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ja-JP" sz="1600" dirty="0">
                    <a:solidFill>
                      <a:srgbClr val="0070C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NZ" altLang="ja-JP" sz="1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sSupPr>
                      <m:e>
                        <m:r>
                          <a:rPr lang="en-NZ" altLang="ja-JP" sz="1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𝑄</m:t>
                        </m:r>
                      </m:e>
                      <m:sup>
                        <m:r>
                          <a:rPr lang="en-NZ" altLang="ja-JP" sz="1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ja-JP" sz="1600" dirty="0">
                    <a:solidFill>
                      <a:srgbClr val="0070C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converge</a:t>
                </a:r>
              </a:p>
              <a:p>
                <a:pPr marL="342900" marR="0" lvl="0" indent="-342900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lphaLcParenR"/>
                  <a:tabLst/>
                  <a:defRPr/>
                </a:pPr>
                <a:endParaRPr kumimoji="1" lang="en-US" altLang="ja-JP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62" name="Text Placeholder 5">
                <a:extLst>
                  <a:ext uri="{FF2B5EF4-FFF2-40B4-BE49-F238E27FC236}">
                    <a16:creationId xmlns:a16="http://schemas.microsoft.com/office/drawing/2014/main" id="{46BC6CB5-176B-6D67-F09F-370818CF69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0364" y="1369350"/>
                <a:ext cx="6673755" cy="5182082"/>
              </a:xfrm>
              <a:prstGeom prst="rect">
                <a:avLst/>
              </a:prstGeom>
              <a:blipFill>
                <a:blip r:embed="rId5"/>
                <a:stretch>
                  <a:fillRect l="-548" t="-353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48" name="Text Placeholder 5">
            <a:extLst>
              <a:ext uri="{FF2B5EF4-FFF2-40B4-BE49-F238E27FC236}">
                <a16:creationId xmlns:a16="http://schemas.microsoft.com/office/drawing/2014/main" id="{1137314B-5424-8BB7-A9C7-F0ED401F8E74}"/>
              </a:ext>
            </a:extLst>
          </p:cNvPr>
          <p:cNvSpPr txBox="1">
            <a:spLocks/>
          </p:cNvSpPr>
          <p:nvPr/>
        </p:nvSpPr>
        <p:spPr>
          <a:xfrm>
            <a:off x="3011606" y="6551432"/>
            <a:ext cx="6168789" cy="3085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Associated code = </a:t>
            </a:r>
            <a:r>
              <a:rPr kumimoji="1" lang="en-NZ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Tutorial 4 – Q4</a:t>
            </a:r>
            <a:endParaRPr kumimoji="1" lang="en-US" altLang="ja-JP" sz="12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44375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 Placeholder 5">
                <a:extLst>
                  <a:ext uri="{FF2B5EF4-FFF2-40B4-BE49-F238E27FC236}">
                    <a16:creationId xmlns:a16="http://schemas.microsoft.com/office/drawing/2014/main" id="{BE7F2AC8-BE98-8818-EFAD-DF04A239E77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4" y="1939074"/>
                <a:ext cx="4226256" cy="147146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just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NZ" altLang="ja-JP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𝑃</m:t>
                      </m:r>
                      <m:r>
                        <a:rPr kumimoji="1" lang="en-NZ" altLang="ja-JP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NZ" altLang="ja-JP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NZ" altLang="ja-JP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0</m:t>
                                </m:r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.95</m:t>
                                </m:r>
                              </m:e>
                              <m:e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0.05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  <a:cs typeface="+mn-cs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0</m:t>
                                      </m:r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.00</m:t>
                                      </m:r>
                                    </m:e>
                                    <m:e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0.00</m:t>
                                      </m:r>
                                    </m:e>
                                    <m:e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0.00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0.05</m:t>
                                </m:r>
                              </m:e>
                              <m:e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0.90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  <a:cs typeface="+mn-cs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0</m:t>
                                      </m:r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.05</m:t>
                                      </m:r>
                                    </m:e>
                                    <m:e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0.00</m:t>
                                      </m:r>
                                    </m:e>
                                    <m:e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0.00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  <a:cs typeface="+mn-cs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0</m:t>
                                      </m:r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.00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NZ" altLang="ja-JP" sz="18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NZ" altLang="ja-JP" sz="18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.00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NZ" altLang="ja-JP" sz="18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NZ" altLang="ja-JP" sz="18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.00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  <a:cs typeface="+mn-cs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0</m:t>
                                      </m:r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.05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NZ" altLang="ja-JP" sz="18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NZ" altLang="ja-JP" sz="18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.00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NZ" altLang="ja-JP" sz="18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NZ" altLang="ja-JP" sz="18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.00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  <a:cs typeface="+mn-cs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NZ" altLang="ja-JP" sz="18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70C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游ゴシック" panose="020B0400000000000000" pitchFamily="34" charset="-128"/>
                                              <a:cs typeface="+mn-cs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FF000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  <a:cs typeface="+mn-cs"/>
                                              </a:rPr>
                                              <m:t>0</m:t>
                                            </m:r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FF000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  <a:cs typeface="+mn-cs"/>
                                              </a:rPr>
                                              <m:t>.90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FF000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  <a:cs typeface="+mn-cs"/>
                                              </a:rPr>
                                              <m:t>0.05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NZ" altLang="ja-JP" sz="1800" i="1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  <m:r>
                                              <a:rPr lang="en-NZ" altLang="ja-JP" sz="1800" i="1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.00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NZ" altLang="ja-JP" sz="18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FF000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游ゴシック" panose="020B0400000000000000" pitchFamily="34" charset="-128"/>
                                              <a:cs typeface="+mn-cs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FF000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  <a:cs typeface="+mn-cs"/>
                                              </a:rPr>
                                              <m:t>0</m:t>
                                            </m:r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FF000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  <a:cs typeface="+mn-cs"/>
                                              </a:rPr>
                                              <m:t>.05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FF000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  <a:cs typeface="+mn-cs"/>
                                              </a:rPr>
                                              <m:t>0.90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FF000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  <a:cs typeface="+mn-cs"/>
                                              </a:rPr>
                                              <m:t>0.05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NZ" altLang="ja-JP" sz="18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FF000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游ゴシック" panose="020B0400000000000000" pitchFamily="34" charset="-128"/>
                                              <a:cs typeface="+mn-cs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NZ" altLang="ja-JP" sz="1800" i="1" smtClean="0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  <m:r>
                                              <a:rPr lang="en-NZ" altLang="ja-JP" sz="1800" i="1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.00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FF000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  <a:cs typeface="+mn-cs"/>
                                              </a:rPr>
                                              <m:t>0.05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FF000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  <a:cs typeface="+mn-cs"/>
                                              </a:rPr>
                                              <m:t>0.95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kumimoji="1" lang="en-NZ" altLang="ja-JP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</m:t>
                      </m:r>
                    </m:oMath>
                  </m:oMathPara>
                </a14:m>
                <a:endParaRPr kumimoji="1" lang="en-US" altLang="ja-JP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56" name="Text Placeholder 5">
                <a:extLst>
                  <a:ext uri="{FF2B5EF4-FFF2-40B4-BE49-F238E27FC236}">
                    <a16:creationId xmlns:a16="http://schemas.microsoft.com/office/drawing/2014/main" id="{BE7F2AC8-BE98-8818-EFAD-DF04A239E7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4" y="1939074"/>
                <a:ext cx="4226256" cy="14714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 Placeholder 5">
                <a:extLst>
                  <a:ext uri="{FF2B5EF4-FFF2-40B4-BE49-F238E27FC236}">
                    <a16:creationId xmlns:a16="http://schemas.microsoft.com/office/drawing/2014/main" id="{3705C549-2831-B0B5-F5D0-9C8695A7EAE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4" y="3638417"/>
                <a:ext cx="4226256" cy="147146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just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NZ" altLang="ja-JP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𝑄</m:t>
                      </m:r>
                      <m:r>
                        <a:rPr kumimoji="1" lang="en-NZ" altLang="ja-JP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NZ" altLang="ja-JP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NZ" altLang="ja-JP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0</m:t>
                                </m:r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.50</m:t>
                                </m:r>
                              </m:e>
                              <m:e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0.25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  <a:cs typeface="+mn-cs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0</m:t>
                                      </m:r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.25</m:t>
                                      </m:r>
                                    </m:e>
                                    <m:e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0.00</m:t>
                                      </m:r>
                                    </m:e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NZ" altLang="ja-JP" sz="18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NZ" altLang="ja-JP" sz="18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.00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0.25</m:t>
                                </m:r>
                              </m:e>
                              <m:e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0.50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  <a:cs typeface="+mn-cs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0</m:t>
                                      </m:r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.15</m:t>
                                      </m:r>
                                    </m:e>
                                    <m:e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0.10</m:t>
                                      </m:r>
                                    </m:e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NZ" altLang="ja-JP" sz="18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NZ" altLang="ja-JP" sz="18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.00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  <a:cs typeface="+mn-cs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0</m:t>
                                      </m:r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.15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0.10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0.00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  <a:cs typeface="+mn-cs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0</m:t>
                                      </m:r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.25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0.00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0.00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  <a:cs typeface="+mn-cs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NZ" altLang="ja-JP" sz="18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70C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游ゴシック" panose="020B0400000000000000" pitchFamily="34" charset="-128"/>
                                              <a:cs typeface="+mn-cs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FF000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  <a:cs typeface="+mn-cs"/>
                                              </a:rPr>
                                              <m:t>0</m:t>
                                            </m:r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FF000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  <a:cs typeface="+mn-cs"/>
                                              </a:rPr>
                                              <m:t>.50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FF000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  <a:cs typeface="+mn-cs"/>
                                              </a:rPr>
                                              <m:t>0.10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0070C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  <a:cs typeface="+mn-cs"/>
                                              </a:rPr>
                                              <m:t>0.00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NZ" altLang="ja-JP" sz="18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FF000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游ゴシック" panose="020B0400000000000000" pitchFamily="34" charset="-128"/>
                                              <a:cs typeface="+mn-cs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FF000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  <a:cs typeface="+mn-cs"/>
                                              </a:rPr>
                                              <m:t>0</m:t>
                                            </m:r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FF000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  <a:cs typeface="+mn-cs"/>
                                              </a:rPr>
                                              <m:t>.10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FF000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  <a:cs typeface="+mn-cs"/>
                                              </a:rPr>
                                              <m:t>0.60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FF000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  <a:cs typeface="+mn-cs"/>
                                              </a:rPr>
                                              <m:t>0.20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NZ" altLang="ja-JP" sz="18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FF000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游ゴシック" panose="020B0400000000000000" pitchFamily="34" charset="-128"/>
                                              <a:cs typeface="+mn-cs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NZ" altLang="ja-JP" sz="1800" i="1" smtClean="0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  <m:r>
                                              <a:rPr lang="en-NZ" altLang="ja-JP" sz="1800" i="1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.00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FF000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  <a:cs typeface="+mn-cs"/>
                                              </a:rPr>
                                              <m:t>0.20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FF000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  <a:cs typeface="+mn-cs"/>
                                              </a:rPr>
                                              <m:t>0.80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kumimoji="1" lang="en-NZ" altLang="ja-JP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</m:t>
                      </m:r>
                    </m:oMath>
                  </m:oMathPara>
                </a14:m>
                <a:endParaRPr kumimoji="1" lang="en-US" altLang="ja-JP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60" name="Text Placeholder 5">
                <a:extLst>
                  <a:ext uri="{FF2B5EF4-FFF2-40B4-BE49-F238E27FC236}">
                    <a16:creationId xmlns:a16="http://schemas.microsoft.com/office/drawing/2014/main" id="{3705C549-2831-B0B5-F5D0-9C8695A7EA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4" y="3638417"/>
                <a:ext cx="4226256" cy="14714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Text Placeholder 5">
            <a:extLst>
              <a:ext uri="{FF2B5EF4-FFF2-40B4-BE49-F238E27FC236}">
                <a16:creationId xmlns:a16="http://schemas.microsoft.com/office/drawing/2014/main" id="{46BC6CB5-176B-6D67-F09F-370818CF6906}"/>
              </a:ext>
            </a:extLst>
          </p:cNvPr>
          <p:cNvSpPr txBox="1">
            <a:spLocks/>
          </p:cNvSpPr>
          <p:nvPr/>
        </p:nvSpPr>
        <p:spPr>
          <a:xfrm>
            <a:off x="4790364" y="600501"/>
            <a:ext cx="6673755" cy="595093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LcParenR"/>
              <a:tabLst/>
              <a:defRPr/>
            </a:pPr>
            <a:r>
              <a:rPr lang="en-US" altLang="ja-JP" sz="1600" dirty="0">
                <a:solidFill>
                  <a:srgbClr val="0070C0"/>
                </a:solidFill>
                <a:latin typeface="Calibri" panose="020F0502020204030204"/>
                <a:ea typeface="游ゴシック" panose="020B0400000000000000" pitchFamily="34" charset="-128"/>
              </a:rPr>
              <a:t>State whether the Markov chains defined are</a:t>
            </a: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</a:t>
            </a:r>
            <a:r>
              <a:rPr lang="en-US" altLang="ja-JP" sz="1600" dirty="0">
                <a:solidFill>
                  <a:srgbClr val="0070C0"/>
                </a:solidFill>
                <a:latin typeface="Calibri" panose="020F0502020204030204"/>
                <a:ea typeface="游ゴシック" panose="020B0400000000000000" pitchFamily="34" charset="-128"/>
              </a:rPr>
              <a:t>reducible or irreducible?</a:t>
            </a:r>
            <a:br>
              <a:rPr lang="en-US" altLang="ja-JP" sz="1600" dirty="0">
                <a:solidFill>
                  <a:srgbClr val="0070C0"/>
                </a:solidFill>
                <a:latin typeface="Calibri" panose="020F0502020204030204"/>
                <a:ea typeface="游ゴシック" panose="020B0400000000000000" pitchFamily="34" charset="-128"/>
              </a:rPr>
            </a:br>
            <a:r>
              <a:rPr lang="en-US" altLang="ja-JP" sz="1600" dirty="0">
                <a:solidFill>
                  <a:schemeClr val="tx1"/>
                </a:solidFill>
                <a:latin typeface="Calibri" panose="020F0502020204030204"/>
                <a:ea typeface="游ゴシック" panose="020B0400000000000000" pitchFamily="34" charset="-128"/>
              </a:rPr>
              <a:t>All states communicate with each other, so the chain is irreducible. </a:t>
            </a:r>
            <a:br>
              <a:rPr lang="en-US" altLang="ja-JP" sz="1600" dirty="0">
                <a:solidFill>
                  <a:schemeClr val="tx1"/>
                </a:solidFill>
                <a:latin typeface="Calibri" panose="020F0502020204030204"/>
                <a:ea typeface="游ゴシック" panose="020B0400000000000000" pitchFamily="34" charset="-128"/>
              </a:rPr>
            </a:br>
            <a:r>
              <a:rPr lang="en-US" altLang="ja-JP" sz="1600" dirty="0">
                <a:solidFill>
                  <a:schemeClr val="tx1"/>
                </a:solidFill>
                <a:latin typeface="Calibri" panose="020F0502020204030204"/>
                <a:ea typeface="游ゴシック" panose="020B0400000000000000" pitchFamily="34" charset="-128"/>
              </a:rPr>
              <a:t>This is obvious because the ‘main-diagonal’ terms shown in red in either matrix are non-zero.</a:t>
            </a:r>
            <a:br>
              <a:rPr lang="en-US" altLang="ja-JP" sz="1600" dirty="0">
                <a:solidFill>
                  <a:srgbClr val="0070C0"/>
                </a:solidFill>
                <a:latin typeface="Calibri" panose="020F0502020204030204"/>
                <a:ea typeface="游ゴシック" panose="020B0400000000000000" pitchFamily="34" charset="-128"/>
              </a:rPr>
            </a:br>
            <a:endParaRPr lang="en-US" altLang="ja-JP" sz="1600" dirty="0">
              <a:solidFill>
                <a:srgbClr val="0070C0"/>
              </a:solidFill>
              <a:latin typeface="Calibri" panose="020F0502020204030204"/>
              <a:ea typeface="游ゴシック" panose="020B0400000000000000" pitchFamily="34" charset="-128"/>
            </a:endParaRPr>
          </a:p>
          <a:p>
            <a:pPr marL="342900" marR="0" lvl="0" indent="-342900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LcParenR"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State whether </a:t>
            </a:r>
            <a:r>
              <a:rPr lang="en-US" altLang="ja-JP" sz="1600" dirty="0">
                <a:solidFill>
                  <a:srgbClr val="0070C0"/>
                </a:solidFill>
                <a:latin typeface="Calibri" panose="020F0502020204030204"/>
                <a:ea typeface="游ゴシック" panose="020B0400000000000000" pitchFamily="34" charset="-128"/>
              </a:rPr>
              <a:t>the Markov chains defined are</a:t>
            </a: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positive recurrent, null recurrent or transient?</a:t>
            </a:r>
            <a:b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</a:br>
            <a:r>
              <a:rPr lang="en-US" altLang="ja-JP" sz="1600" dirty="0">
                <a:solidFill>
                  <a:schemeClr val="tx1"/>
                </a:solidFill>
                <a:latin typeface="Calibri" panose="020F0502020204030204"/>
                <a:ea typeface="游ゴシック" panose="020B0400000000000000" pitchFamily="34" charset="-128"/>
              </a:rPr>
              <a:t>Both chains have a finite state space and are irreducible. </a:t>
            </a:r>
            <a:br>
              <a:rPr lang="en-US" altLang="ja-JP" sz="1600" dirty="0">
                <a:solidFill>
                  <a:schemeClr val="tx1"/>
                </a:solidFill>
                <a:latin typeface="Calibri" panose="020F0502020204030204"/>
                <a:ea typeface="游ゴシック" panose="020B0400000000000000" pitchFamily="34" charset="-128"/>
              </a:rPr>
            </a:br>
            <a:r>
              <a:rPr lang="en-US" altLang="ja-JP" sz="1600" dirty="0">
                <a:solidFill>
                  <a:schemeClr val="tx1"/>
                </a:solidFill>
                <a:latin typeface="Calibri" panose="020F0502020204030204"/>
                <a:ea typeface="游ゴシック" panose="020B0400000000000000" pitchFamily="34" charset="-128"/>
              </a:rPr>
              <a:t>Therefore, they are both positive recurrent.</a:t>
            </a:r>
            <a:br>
              <a:rPr lang="en-US" altLang="ja-JP" sz="1600" dirty="0">
                <a:solidFill>
                  <a:schemeClr val="tx1"/>
                </a:solidFill>
                <a:latin typeface="Calibri" panose="020F0502020204030204"/>
                <a:ea typeface="游ゴシック" panose="020B0400000000000000" pitchFamily="34" charset="-128"/>
              </a:rPr>
            </a:br>
            <a:r>
              <a:rPr lang="en-US" altLang="ja-JP" sz="1400" i="1" dirty="0">
                <a:solidFill>
                  <a:schemeClr val="bg2">
                    <a:lumMod val="50000"/>
                  </a:schemeClr>
                </a:solidFill>
                <a:latin typeface="Calibri" panose="020F0502020204030204"/>
                <a:ea typeface="游ゴシック" panose="020B0400000000000000" pitchFamily="34" charset="-128"/>
              </a:rPr>
              <a:t>An irreducible chain with a finite state space cannot have a transient state, otherwise all states would be transient and the chain would only return to each state a finite number of times.</a:t>
            </a:r>
            <a:br>
              <a:rPr lang="en-US" altLang="ja-JP" sz="1400" i="1" dirty="0">
                <a:solidFill>
                  <a:schemeClr val="bg2">
                    <a:lumMod val="50000"/>
                  </a:schemeClr>
                </a:solidFill>
                <a:latin typeface="Calibri" panose="020F0502020204030204"/>
                <a:ea typeface="游ゴシック" panose="020B0400000000000000" pitchFamily="34" charset="-128"/>
              </a:rPr>
            </a:br>
            <a:br>
              <a:rPr lang="en-US" altLang="ja-JP" sz="1400" i="1" dirty="0">
                <a:solidFill>
                  <a:schemeClr val="bg2">
                    <a:lumMod val="50000"/>
                  </a:schemeClr>
                </a:solidFill>
                <a:latin typeface="Calibri" panose="020F0502020204030204"/>
                <a:ea typeface="游ゴシック" panose="020B0400000000000000" pitchFamily="34" charset="-128"/>
              </a:rPr>
            </a:br>
            <a:r>
              <a:rPr lang="en-US" altLang="ja-JP" sz="1400" i="1" dirty="0">
                <a:solidFill>
                  <a:schemeClr val="bg2">
                    <a:lumMod val="50000"/>
                  </a:schemeClr>
                </a:solidFill>
                <a:latin typeface="Calibri" panose="020F0502020204030204"/>
                <a:ea typeface="游ゴシック" panose="020B0400000000000000" pitchFamily="34" charset="-128"/>
              </a:rPr>
              <a:t>Likewise, an irreducible chain with a finite state space cannot have a null recurrent state, otherwise all states would by null recurrent and the expected return time to each state would be infinite.</a:t>
            </a:r>
            <a:b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</a:br>
            <a:endParaRPr kumimoji="1" lang="en-US" altLang="ja-JP" sz="16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342900" marR="0" lvl="0" indent="-342900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LcParenR"/>
              <a:tabLst/>
              <a:defRPr/>
            </a:pPr>
            <a:r>
              <a:rPr lang="en-US" altLang="ja-JP" sz="1600" dirty="0">
                <a:solidFill>
                  <a:srgbClr val="0070C0"/>
                </a:solidFill>
                <a:latin typeface="Calibri" panose="020F0502020204030204"/>
                <a:ea typeface="游ゴシック" panose="020B0400000000000000" pitchFamily="34" charset="-128"/>
              </a:rPr>
              <a:t>What conditions ensure that a discrete state space Markov chain has a </a:t>
            </a:r>
            <a:r>
              <a:rPr lang="en-US" altLang="ja-JP" sz="1600" b="1" dirty="0">
                <a:solidFill>
                  <a:srgbClr val="0070C0"/>
                </a:solidFill>
                <a:latin typeface="Calibri" panose="020F0502020204030204"/>
                <a:ea typeface="游ゴシック" panose="020B0400000000000000" pitchFamily="34" charset="-128"/>
              </a:rPr>
              <a:t>stationary distribution</a:t>
            </a:r>
            <a:r>
              <a:rPr lang="en-US" altLang="ja-JP" sz="1600" dirty="0">
                <a:solidFill>
                  <a:srgbClr val="0070C0"/>
                </a:solidFill>
                <a:latin typeface="Calibri" panose="020F0502020204030204"/>
                <a:ea typeface="游ゴシック" panose="020B0400000000000000" pitchFamily="34" charset="-128"/>
              </a:rPr>
              <a:t>? Are these conditions satisfied here?</a:t>
            </a:r>
            <a:br>
              <a:rPr lang="en-US" altLang="ja-JP" sz="1600" dirty="0">
                <a:solidFill>
                  <a:srgbClr val="0070C0"/>
                </a:solidFill>
                <a:latin typeface="Calibri" panose="020F0502020204030204"/>
                <a:ea typeface="游ゴシック" panose="020B0400000000000000" pitchFamily="34" charset="-128"/>
              </a:rPr>
            </a:br>
            <a:r>
              <a:rPr lang="en-US" altLang="ja-JP" sz="1600" dirty="0">
                <a:solidFill>
                  <a:schemeClr val="tx1"/>
                </a:solidFill>
                <a:latin typeface="Calibri" panose="020F0502020204030204"/>
                <a:ea typeface="游ゴシック" panose="020B0400000000000000" pitchFamily="34" charset="-128"/>
              </a:rPr>
              <a:t>If a discrete state space Markov chain is irreducible and positive recurrent, then it has a stationary distribution (see Theorem 5 of lecture notes).</a:t>
            </a:r>
            <a:br>
              <a:rPr lang="en-US" altLang="ja-JP" sz="1600" dirty="0">
                <a:solidFill>
                  <a:schemeClr val="tx1"/>
                </a:solidFill>
                <a:latin typeface="Calibri" panose="020F0502020204030204"/>
                <a:ea typeface="游ゴシック" panose="020B0400000000000000" pitchFamily="34" charset="-128"/>
              </a:rPr>
            </a:br>
            <a:r>
              <a:rPr lang="en-US" altLang="ja-JP" sz="1600" dirty="0">
                <a:solidFill>
                  <a:schemeClr val="tx1"/>
                </a:solidFill>
                <a:latin typeface="Calibri" panose="020F0502020204030204"/>
                <a:ea typeface="游ゴシック" panose="020B0400000000000000" pitchFamily="34" charset="-128"/>
              </a:rPr>
              <a:t>Both Markov chains satisfy these conditions and so both have a stationary distribution. </a:t>
            </a:r>
            <a:endParaRPr lang="en-US" altLang="ja-JP" sz="1600" dirty="0">
              <a:solidFill>
                <a:srgbClr val="0070C0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72B290DE-4231-0105-F4B1-BED50E2F72AD}"/>
              </a:ext>
            </a:extLst>
          </p:cNvPr>
          <p:cNvSpPr txBox="1">
            <a:spLocks/>
          </p:cNvSpPr>
          <p:nvPr/>
        </p:nvSpPr>
        <p:spPr>
          <a:xfrm>
            <a:off x="3011606" y="6551432"/>
            <a:ext cx="6168789" cy="3085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Associated code = </a:t>
            </a:r>
            <a:r>
              <a:rPr kumimoji="1" lang="en-NZ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Tutorial 4 – Q4</a:t>
            </a:r>
            <a:endParaRPr kumimoji="1" lang="en-US" altLang="ja-JP" sz="12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8871E5DD-6668-11BF-E17F-0E389E2511D5}"/>
              </a:ext>
            </a:extLst>
          </p:cNvPr>
          <p:cNvSpPr txBox="1">
            <a:spLocks/>
          </p:cNvSpPr>
          <p:nvPr/>
        </p:nvSpPr>
        <p:spPr>
          <a:xfrm>
            <a:off x="9444251" y="86139"/>
            <a:ext cx="2645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Question 4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8" name="Title 6">
            <a:extLst>
              <a:ext uri="{FF2B5EF4-FFF2-40B4-BE49-F238E27FC236}">
                <a16:creationId xmlns:a16="http://schemas.microsoft.com/office/drawing/2014/main" id="{A3E90811-5208-D816-7631-8723E947A0DE}"/>
              </a:ext>
            </a:extLst>
          </p:cNvPr>
          <p:cNvSpPr txBox="1">
            <a:spLocks/>
          </p:cNvSpPr>
          <p:nvPr/>
        </p:nvSpPr>
        <p:spPr>
          <a:xfrm>
            <a:off x="319464" y="196889"/>
            <a:ext cx="2819522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Question 4: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02295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1F919D86-08B6-F802-E92C-FAC2AAA4CD1D}"/>
              </a:ext>
            </a:extLst>
          </p:cNvPr>
          <p:cNvSpPr txBox="1">
            <a:spLocks/>
          </p:cNvSpPr>
          <p:nvPr/>
        </p:nvSpPr>
        <p:spPr>
          <a:xfrm>
            <a:off x="727881" y="1367801"/>
            <a:ext cx="4670384" cy="3024959"/>
          </a:xfrm>
          <a:prstGeom prst="rect">
            <a:avLst/>
          </a:prstGeom>
          <a:solidFill>
            <a:srgbClr val="F3F3FF"/>
          </a:solidFill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defRPr/>
            </a:pPr>
            <a:r>
              <a:rPr lang="en-NZ" altLang="ja-JP" sz="1000" dirty="0">
                <a:solidFill>
                  <a:schemeClr val="accent6">
                    <a:lumMod val="75000"/>
                  </a:schemeClr>
                </a:solidFill>
              </a:rPr>
              <a:t># 1.1a - Define transition matrix P</a:t>
            </a:r>
          </a:p>
          <a:p>
            <a:pPr lvl="0">
              <a:lnSpc>
                <a:spcPct val="100000"/>
              </a:lnSpc>
              <a:defRPr/>
            </a:pPr>
            <a:r>
              <a:rPr lang="en-NZ" altLang="ja-JP" sz="1000" dirty="0" err="1">
                <a:solidFill>
                  <a:schemeClr val="tx1"/>
                </a:solidFill>
              </a:rPr>
              <a:t>statenames</a:t>
            </a:r>
            <a:r>
              <a:rPr lang="en-NZ" altLang="ja-JP" sz="1000" dirty="0">
                <a:solidFill>
                  <a:schemeClr val="tx1"/>
                </a:solidFill>
              </a:rPr>
              <a:t> &lt;- c("1", "2", "3", "4" , "5" )</a:t>
            </a:r>
          </a:p>
          <a:p>
            <a:pPr lvl="0">
              <a:lnSpc>
                <a:spcPct val="100000"/>
              </a:lnSpc>
              <a:defRPr/>
            </a:pPr>
            <a:r>
              <a:rPr lang="en-NZ" altLang="ja-JP" sz="1000" dirty="0">
                <a:solidFill>
                  <a:schemeClr val="tx1"/>
                </a:solidFill>
              </a:rPr>
              <a:t>P &lt;- matrix(  c(	</a:t>
            </a:r>
          </a:p>
          <a:p>
            <a:pPr lvl="0">
              <a:lnSpc>
                <a:spcPct val="100000"/>
              </a:lnSpc>
              <a:defRPr/>
            </a:pPr>
            <a:r>
              <a:rPr lang="en-NZ" altLang="ja-JP" sz="1000" dirty="0">
                <a:solidFill>
                  <a:schemeClr val="tx1"/>
                </a:solidFill>
              </a:rPr>
              <a:t>  </a:t>
            </a:r>
            <a:r>
              <a:rPr lang="en-NZ" altLang="ja-JP" sz="1000" dirty="0">
                <a:solidFill>
                  <a:srgbClr val="0070C0"/>
                </a:solidFill>
              </a:rPr>
              <a:t>0.95, 0.05, 0.00, 0.00, 0.00,</a:t>
            </a:r>
          </a:p>
          <a:p>
            <a:pPr lvl="0">
              <a:lnSpc>
                <a:spcPct val="100000"/>
              </a:lnSpc>
              <a:defRPr/>
            </a:pPr>
            <a:r>
              <a:rPr lang="en-NZ" altLang="ja-JP" sz="1000" dirty="0">
                <a:solidFill>
                  <a:srgbClr val="0070C0"/>
                </a:solidFill>
              </a:rPr>
              <a:t>  0.05, 0.90, 0.05, 0.00, 0.00,</a:t>
            </a:r>
          </a:p>
          <a:p>
            <a:pPr lvl="0">
              <a:lnSpc>
                <a:spcPct val="100000"/>
              </a:lnSpc>
              <a:defRPr/>
            </a:pPr>
            <a:r>
              <a:rPr lang="en-NZ" altLang="ja-JP" sz="1000" dirty="0">
                <a:solidFill>
                  <a:srgbClr val="0070C0"/>
                </a:solidFill>
              </a:rPr>
              <a:t>  0.00, 0.05, 0.90, 0.05, 0.00,</a:t>
            </a:r>
          </a:p>
          <a:p>
            <a:pPr lvl="0">
              <a:lnSpc>
                <a:spcPct val="100000"/>
              </a:lnSpc>
              <a:defRPr/>
            </a:pPr>
            <a:r>
              <a:rPr lang="en-NZ" altLang="ja-JP" sz="1000" dirty="0">
                <a:solidFill>
                  <a:srgbClr val="0070C0"/>
                </a:solidFill>
              </a:rPr>
              <a:t>  0.00, 0.00, 0.05, 0.90, 0.05,</a:t>
            </a:r>
          </a:p>
          <a:p>
            <a:pPr lvl="0">
              <a:lnSpc>
                <a:spcPct val="100000"/>
              </a:lnSpc>
              <a:defRPr/>
            </a:pPr>
            <a:r>
              <a:rPr lang="en-NZ" altLang="ja-JP" sz="1000" dirty="0">
                <a:solidFill>
                  <a:srgbClr val="0070C0"/>
                </a:solidFill>
              </a:rPr>
              <a:t>  0.00, 0.00, 0.00, 0.05, 0.95</a:t>
            </a:r>
            <a:r>
              <a:rPr lang="en-NZ" altLang="ja-JP" sz="1000" dirty="0">
                <a:solidFill>
                  <a:schemeClr val="tx1"/>
                </a:solidFill>
              </a:rPr>
              <a:t>), </a:t>
            </a:r>
            <a:r>
              <a:rPr lang="en-NZ" altLang="ja-JP" sz="1000" dirty="0" err="1">
                <a:solidFill>
                  <a:schemeClr val="tx1"/>
                </a:solidFill>
              </a:rPr>
              <a:t>nrow</a:t>
            </a:r>
            <a:r>
              <a:rPr lang="en-NZ" altLang="ja-JP" sz="1000" dirty="0">
                <a:solidFill>
                  <a:schemeClr val="tx1"/>
                </a:solidFill>
              </a:rPr>
              <a:t>=5, </a:t>
            </a:r>
            <a:r>
              <a:rPr lang="en-NZ" altLang="ja-JP" sz="1000" dirty="0" err="1">
                <a:solidFill>
                  <a:schemeClr val="tx1"/>
                </a:solidFill>
              </a:rPr>
              <a:t>byrow</a:t>
            </a:r>
            <a:r>
              <a:rPr lang="en-NZ" altLang="ja-JP" sz="1000" dirty="0">
                <a:solidFill>
                  <a:schemeClr val="tx1"/>
                </a:solidFill>
              </a:rPr>
              <a:t>=TRUE,</a:t>
            </a:r>
          </a:p>
          <a:p>
            <a:pPr lvl="0">
              <a:lnSpc>
                <a:spcPct val="100000"/>
              </a:lnSpc>
              <a:defRPr/>
            </a:pPr>
            <a:r>
              <a:rPr lang="en-NZ" altLang="ja-JP" sz="1000" dirty="0">
                <a:solidFill>
                  <a:schemeClr val="tx1"/>
                </a:solidFill>
              </a:rPr>
              <a:t>  </a:t>
            </a:r>
            <a:r>
              <a:rPr lang="en-NZ" altLang="ja-JP" sz="1000" dirty="0" err="1">
                <a:solidFill>
                  <a:schemeClr val="tx1"/>
                </a:solidFill>
              </a:rPr>
              <a:t>dimnames</a:t>
            </a:r>
            <a:r>
              <a:rPr lang="en-NZ" altLang="ja-JP" sz="1000" dirty="0">
                <a:solidFill>
                  <a:schemeClr val="tx1"/>
                </a:solidFill>
              </a:rPr>
              <a:t> = list(</a:t>
            </a:r>
            <a:r>
              <a:rPr lang="en-NZ" altLang="ja-JP" sz="1000" dirty="0" err="1">
                <a:solidFill>
                  <a:schemeClr val="tx1"/>
                </a:solidFill>
              </a:rPr>
              <a:t>statenames</a:t>
            </a:r>
            <a:r>
              <a:rPr lang="en-NZ" altLang="ja-JP" sz="1000" dirty="0">
                <a:solidFill>
                  <a:schemeClr val="tx1"/>
                </a:solidFill>
              </a:rPr>
              <a:t>, </a:t>
            </a:r>
            <a:r>
              <a:rPr lang="en-NZ" altLang="ja-JP" sz="1000" dirty="0" err="1">
                <a:solidFill>
                  <a:schemeClr val="tx1"/>
                </a:solidFill>
              </a:rPr>
              <a:t>statenames</a:t>
            </a:r>
            <a:r>
              <a:rPr lang="en-NZ" altLang="ja-JP" sz="1000" dirty="0">
                <a:solidFill>
                  <a:schemeClr val="tx1"/>
                </a:solidFill>
              </a:rPr>
              <a:t>))</a:t>
            </a:r>
          </a:p>
          <a:p>
            <a:pPr lvl="0">
              <a:lnSpc>
                <a:spcPct val="100000"/>
              </a:lnSpc>
              <a:defRPr/>
            </a:pPr>
            <a:endParaRPr lang="en-NZ" altLang="ja-JP" sz="1000" dirty="0">
              <a:solidFill>
                <a:schemeClr val="accent6">
                  <a:lumMod val="75000"/>
                </a:schemeClr>
              </a:solidFill>
            </a:endParaRPr>
          </a:p>
          <a:p>
            <a:pPr lvl="0">
              <a:lnSpc>
                <a:spcPct val="100000"/>
              </a:lnSpc>
              <a:defRPr/>
            </a:pPr>
            <a:r>
              <a:rPr lang="en-NZ" altLang="ja-JP" sz="1000" dirty="0">
                <a:solidFill>
                  <a:schemeClr val="accent6">
                    <a:lumMod val="75000"/>
                  </a:schemeClr>
                </a:solidFill>
              </a:rPr>
              <a:t># 1.1b - Specifying that the transition matrix P defines a Markov chain</a:t>
            </a:r>
          </a:p>
          <a:p>
            <a:pPr lvl="0">
              <a:lnSpc>
                <a:spcPct val="100000"/>
              </a:lnSpc>
              <a:defRPr/>
            </a:pPr>
            <a:r>
              <a:rPr lang="en-NZ" altLang="ja-JP" sz="1000" dirty="0" err="1">
                <a:solidFill>
                  <a:schemeClr val="tx1"/>
                </a:solidFill>
              </a:rPr>
              <a:t>mcp</a:t>
            </a:r>
            <a:r>
              <a:rPr lang="en-NZ" altLang="ja-JP" sz="1000" dirty="0">
                <a:solidFill>
                  <a:schemeClr val="tx1"/>
                </a:solidFill>
              </a:rPr>
              <a:t> &lt;- new("</a:t>
            </a:r>
            <a:r>
              <a:rPr lang="en-NZ" altLang="ja-JP" sz="1000" dirty="0" err="1">
                <a:solidFill>
                  <a:schemeClr val="tx1"/>
                </a:solidFill>
              </a:rPr>
              <a:t>markovchain</a:t>
            </a:r>
            <a:r>
              <a:rPr lang="en-NZ" altLang="ja-JP" sz="1000" dirty="0">
                <a:solidFill>
                  <a:schemeClr val="tx1"/>
                </a:solidFill>
              </a:rPr>
              <a:t>", </a:t>
            </a:r>
            <a:r>
              <a:rPr lang="en-NZ" altLang="ja-JP" sz="1000" dirty="0" err="1">
                <a:solidFill>
                  <a:schemeClr val="tx1"/>
                </a:solidFill>
              </a:rPr>
              <a:t>transitionMatrix</a:t>
            </a:r>
            <a:r>
              <a:rPr lang="en-NZ" altLang="ja-JP" sz="1000" dirty="0">
                <a:solidFill>
                  <a:schemeClr val="tx1"/>
                </a:solidFill>
              </a:rPr>
              <a:t>=P)</a:t>
            </a:r>
          </a:p>
          <a:p>
            <a:pPr lvl="0">
              <a:lnSpc>
                <a:spcPct val="100000"/>
              </a:lnSpc>
              <a:defRPr/>
            </a:pPr>
            <a:endParaRPr lang="en-NZ" altLang="ja-JP" sz="1000" dirty="0">
              <a:solidFill>
                <a:schemeClr val="accent6">
                  <a:lumMod val="75000"/>
                </a:schemeClr>
              </a:solidFill>
            </a:endParaRPr>
          </a:p>
          <a:p>
            <a:pPr lvl="0">
              <a:lnSpc>
                <a:spcPct val="100000"/>
              </a:lnSpc>
              <a:defRPr/>
            </a:pPr>
            <a:r>
              <a:rPr lang="en-NZ" altLang="ja-JP" sz="1000" dirty="0">
                <a:solidFill>
                  <a:schemeClr val="accent6">
                    <a:lumMod val="75000"/>
                  </a:schemeClr>
                </a:solidFill>
              </a:rPr>
              <a:t># 1.1c - Determine the stationary distribution of the Markov chain defined by P</a:t>
            </a:r>
          </a:p>
          <a:p>
            <a:pPr lvl="0">
              <a:lnSpc>
                <a:spcPct val="100000"/>
              </a:lnSpc>
              <a:defRPr/>
            </a:pPr>
            <a:r>
              <a:rPr lang="en-NZ" altLang="ja-JP" sz="1000" dirty="0" err="1">
                <a:solidFill>
                  <a:schemeClr val="tx1"/>
                </a:solidFill>
              </a:rPr>
              <a:t>steadyStates</a:t>
            </a:r>
            <a:r>
              <a:rPr lang="en-NZ" altLang="ja-JP" sz="1000" dirty="0">
                <a:solidFill>
                  <a:schemeClr val="tx1"/>
                </a:solidFill>
              </a:rPr>
              <a:t>(</a:t>
            </a:r>
            <a:r>
              <a:rPr lang="en-NZ" altLang="ja-JP" sz="1000" dirty="0" err="1">
                <a:solidFill>
                  <a:schemeClr val="tx1"/>
                </a:solidFill>
              </a:rPr>
              <a:t>mcp</a:t>
            </a:r>
            <a:r>
              <a:rPr lang="en-NZ" altLang="ja-JP" sz="1000" dirty="0">
                <a:solidFill>
                  <a:schemeClr val="tx1"/>
                </a:solidFill>
              </a:rPr>
              <a:t>)  </a:t>
            </a:r>
          </a:p>
          <a:p>
            <a:pPr lvl="0">
              <a:lnSpc>
                <a:spcPct val="100000"/>
              </a:lnSpc>
              <a:defRPr/>
            </a:pPr>
            <a:endParaRPr lang="en-NZ" altLang="ja-JP" sz="1000" dirty="0">
              <a:solidFill>
                <a:prstClr val="black"/>
              </a:solidFill>
            </a:endParaRPr>
          </a:p>
          <a:p>
            <a:pPr lvl="0">
              <a:lnSpc>
                <a:spcPct val="100000"/>
              </a:lnSpc>
              <a:defRPr/>
            </a:pPr>
            <a:r>
              <a:rPr lang="en-NZ" altLang="ja-JP" sz="1000" dirty="0">
                <a:solidFill>
                  <a:prstClr val="black"/>
                </a:solidFill>
              </a:rPr>
              <a:t>        1       2      3       4      5</a:t>
            </a:r>
          </a:p>
          <a:p>
            <a:pPr lvl="0">
              <a:lnSpc>
                <a:spcPct val="100000"/>
              </a:lnSpc>
              <a:defRPr/>
            </a:pPr>
            <a:r>
              <a:rPr lang="en-NZ" altLang="ja-JP" sz="1000" dirty="0">
                <a:solidFill>
                  <a:prstClr val="black"/>
                </a:solidFill>
              </a:rPr>
              <a:t> [1,] 0.2   0.2   0.2   0.2   0.2</a:t>
            </a:r>
          </a:p>
        </p:txBody>
      </p:sp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 Placeholder 5">
                <a:extLst>
                  <a:ext uri="{FF2B5EF4-FFF2-40B4-BE49-F238E27FC236}">
                    <a16:creationId xmlns:a16="http://schemas.microsoft.com/office/drawing/2014/main" id="{BE7F2AC8-BE98-8818-EFAD-DF04A239E77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4790" y="4574284"/>
                <a:ext cx="5620082" cy="115599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just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NZ" altLang="ja-JP" sz="1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𝜋</m:t>
                      </m:r>
                      <m:r>
                        <a:rPr kumimoji="1" lang="en-NZ" altLang="ja-JP" sz="1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𝑃</m:t>
                      </m:r>
                      <m:r>
                        <a:rPr kumimoji="1" lang="en-NZ" altLang="ja-JP" sz="1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=</m:t>
                      </m:r>
                      <m:d>
                        <m:dPr>
                          <m:ctrlPr>
                            <a:rPr kumimoji="1" lang="en-NZ" altLang="ja-JP" sz="1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NZ" altLang="ja-JP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NZ" altLang="ja-JP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0</m:t>
                                </m:r>
                                <m:r>
                                  <a:rPr kumimoji="1" lang="en-NZ" altLang="ja-JP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.2</m:t>
                                </m:r>
                              </m:e>
                              <m:e>
                                <m:r>
                                  <a:rPr kumimoji="1" lang="en-NZ" altLang="ja-JP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0.2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1" lang="en-NZ" altLang="ja-JP" sz="1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0</m:t>
                                      </m:r>
                                      <m:r>
                                        <a:rPr kumimoji="1" lang="en-NZ" altLang="ja-JP" sz="1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.2</m:t>
                                      </m:r>
                                    </m:e>
                                    <m:e>
                                      <m:r>
                                        <a:rPr kumimoji="1" lang="en-NZ" altLang="ja-JP" sz="1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0.2</m:t>
                                      </m:r>
                                    </m:e>
                                    <m:e>
                                      <m:r>
                                        <a:rPr kumimoji="1" lang="en-NZ" altLang="ja-JP" sz="1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0.2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kumimoji="1" lang="en-NZ" altLang="ja-JP" sz="1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 ∗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NZ" altLang="ja-JP" sz="1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NZ" altLang="ja-JP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NZ" altLang="ja-JP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0</m:t>
                                </m:r>
                                <m:r>
                                  <a:rPr kumimoji="1" lang="en-NZ" altLang="ja-JP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.95</m:t>
                                </m:r>
                              </m:e>
                              <m:e>
                                <m:r>
                                  <a:rPr kumimoji="1" lang="en-NZ" altLang="ja-JP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0.05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1" lang="en-NZ" altLang="ja-JP" sz="1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0</m:t>
                                      </m:r>
                                      <m:r>
                                        <a:rPr kumimoji="1" lang="en-NZ" altLang="ja-JP" sz="1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.00</m:t>
                                      </m:r>
                                    </m:e>
                                    <m:e>
                                      <m:r>
                                        <a:rPr kumimoji="1" lang="en-NZ" altLang="ja-JP" sz="1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0.00</m:t>
                                      </m:r>
                                    </m:e>
                                    <m:e>
                                      <m:r>
                                        <a:rPr kumimoji="1" lang="en-NZ" altLang="ja-JP" sz="1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0.00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kumimoji="1" lang="en-NZ" altLang="ja-JP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0.05</m:t>
                                </m:r>
                              </m:e>
                              <m:e>
                                <m:r>
                                  <a:rPr kumimoji="1" lang="en-NZ" altLang="ja-JP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0.90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1" lang="en-NZ" altLang="ja-JP" sz="1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0</m:t>
                                      </m:r>
                                      <m:r>
                                        <a:rPr kumimoji="1" lang="en-NZ" altLang="ja-JP" sz="1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.05</m:t>
                                      </m:r>
                                    </m:e>
                                    <m:e>
                                      <m:r>
                                        <a:rPr kumimoji="1" lang="en-NZ" altLang="ja-JP" sz="1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0.00</m:t>
                                      </m:r>
                                    </m:e>
                                    <m:e>
                                      <m:r>
                                        <a:rPr kumimoji="1" lang="en-NZ" altLang="ja-JP" sz="1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0.00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1" lang="en-NZ" altLang="ja-JP" sz="1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0</m:t>
                                      </m:r>
                                      <m:r>
                                        <a:rPr kumimoji="1" lang="en-NZ" altLang="ja-JP" sz="1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.00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NZ" altLang="ja-JP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NZ" altLang="ja-JP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.00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NZ" altLang="ja-JP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NZ" altLang="ja-JP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.00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1" lang="en-NZ" altLang="ja-JP" sz="1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0</m:t>
                                      </m:r>
                                      <m:r>
                                        <a:rPr kumimoji="1" lang="en-NZ" altLang="ja-JP" sz="1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.05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NZ" altLang="ja-JP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NZ" altLang="ja-JP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.00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NZ" altLang="ja-JP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NZ" altLang="ja-JP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.00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NZ" altLang="ja-JP" sz="14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游ゴシック" panose="020B0400000000000000" pitchFamily="34" charset="-128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kumimoji="1" lang="en-NZ" altLang="ja-JP" sz="14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0</m:t>
                                            </m:r>
                                            <m:r>
                                              <a:rPr kumimoji="1" lang="en-NZ" altLang="ja-JP" sz="14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.90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4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0.05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NZ" altLang="ja-JP" sz="14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  <m:r>
                                              <a:rPr lang="en-NZ" altLang="ja-JP" sz="14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.00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NZ" altLang="ja-JP" sz="14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游ゴシック" panose="020B0400000000000000" pitchFamily="34" charset="-128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kumimoji="1" lang="en-NZ" altLang="ja-JP" sz="14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0</m:t>
                                            </m:r>
                                            <m:r>
                                              <a:rPr kumimoji="1" lang="en-NZ" altLang="ja-JP" sz="14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.05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4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0.90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4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0.05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NZ" altLang="ja-JP" sz="14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游ゴシック" panose="020B0400000000000000" pitchFamily="34" charset="-128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NZ" altLang="ja-JP" sz="140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  <m:r>
                                              <a:rPr lang="en-NZ" altLang="ja-JP" sz="14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.00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4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0.05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4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0.95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kumimoji="1" lang="en-NZ" altLang="ja-JP" sz="1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 </m:t>
                      </m:r>
                    </m:oMath>
                  </m:oMathPara>
                </a14:m>
                <a:endParaRPr kumimoji="1" lang="en-US" altLang="ja-JP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56" name="Text Placeholder 5">
                <a:extLst>
                  <a:ext uri="{FF2B5EF4-FFF2-40B4-BE49-F238E27FC236}">
                    <a16:creationId xmlns:a16="http://schemas.microsoft.com/office/drawing/2014/main" id="{BE7F2AC8-BE98-8818-EFAD-DF04A239E7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790" y="4574284"/>
                <a:ext cx="5620082" cy="11559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Text Placeholder 5">
            <a:extLst>
              <a:ext uri="{FF2B5EF4-FFF2-40B4-BE49-F238E27FC236}">
                <a16:creationId xmlns:a16="http://schemas.microsoft.com/office/drawing/2014/main" id="{46BC6CB5-176B-6D67-F09F-370818CF6906}"/>
              </a:ext>
            </a:extLst>
          </p:cNvPr>
          <p:cNvSpPr txBox="1">
            <a:spLocks/>
          </p:cNvSpPr>
          <p:nvPr/>
        </p:nvSpPr>
        <p:spPr>
          <a:xfrm>
            <a:off x="319464" y="903383"/>
            <a:ext cx="11144655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lnSpc>
                <a:spcPct val="100000"/>
              </a:lnSpc>
              <a:buFont typeface="+mj-lt"/>
              <a:buAutoNum type="alphaLcParenR" startAt="4"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Find the stationary distribution of the Markov chains defined by </a:t>
            </a:r>
            <a:r>
              <a:rPr kumimoji="1" lang="en-US" altLang="ja-JP" sz="1600" b="0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P</a:t>
            </a:r>
            <a:r>
              <a:rPr kumimoji="1" lang="en-US" altLang="ja-JP" sz="1600" b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and </a:t>
            </a:r>
            <a:r>
              <a:rPr kumimoji="1" lang="en-US" altLang="ja-JP" sz="1600" b="0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Q</a:t>
            </a:r>
            <a:endParaRPr lang="en-US" altLang="ja-JP" sz="1600" dirty="0">
              <a:solidFill>
                <a:srgbClr val="0070C0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EF8B267B-178A-0499-D391-49EFF5764B84}"/>
              </a:ext>
            </a:extLst>
          </p:cNvPr>
          <p:cNvSpPr txBox="1">
            <a:spLocks/>
          </p:cNvSpPr>
          <p:nvPr/>
        </p:nvSpPr>
        <p:spPr>
          <a:xfrm>
            <a:off x="6096424" y="1367801"/>
            <a:ext cx="4670384" cy="3024959"/>
          </a:xfrm>
          <a:prstGeom prst="rect">
            <a:avLst/>
          </a:prstGeom>
          <a:solidFill>
            <a:srgbClr val="F3F3FF"/>
          </a:solidFill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defRPr/>
            </a:pPr>
            <a:r>
              <a:rPr lang="en-NZ" altLang="ja-JP" sz="1000" dirty="0">
                <a:solidFill>
                  <a:schemeClr val="accent6">
                    <a:lumMod val="75000"/>
                  </a:schemeClr>
                </a:solidFill>
              </a:rPr>
              <a:t># 1.1d - Define transition matrix Q</a:t>
            </a:r>
          </a:p>
          <a:p>
            <a:pPr lvl="0">
              <a:lnSpc>
                <a:spcPct val="100000"/>
              </a:lnSpc>
              <a:defRPr/>
            </a:pPr>
            <a:r>
              <a:rPr lang="en-NZ" altLang="ja-JP" sz="1000" dirty="0" err="1">
                <a:solidFill>
                  <a:schemeClr val="tx1"/>
                </a:solidFill>
              </a:rPr>
              <a:t>statenames</a:t>
            </a:r>
            <a:r>
              <a:rPr lang="en-NZ" altLang="ja-JP" sz="1000" dirty="0">
                <a:solidFill>
                  <a:schemeClr val="tx1"/>
                </a:solidFill>
              </a:rPr>
              <a:t> &lt;- c("1", "2", "3", "4" , "5" )</a:t>
            </a:r>
          </a:p>
          <a:p>
            <a:pPr lvl="0">
              <a:lnSpc>
                <a:spcPct val="100000"/>
              </a:lnSpc>
              <a:defRPr/>
            </a:pPr>
            <a:r>
              <a:rPr lang="en-NZ" altLang="ja-JP" sz="1000" dirty="0">
                <a:solidFill>
                  <a:schemeClr val="tx1"/>
                </a:solidFill>
              </a:rPr>
              <a:t>Q &lt;- matrix(  c(	</a:t>
            </a:r>
          </a:p>
          <a:p>
            <a:pPr lvl="0">
              <a:lnSpc>
                <a:spcPct val="100000"/>
              </a:lnSpc>
              <a:defRPr/>
            </a:pPr>
            <a:r>
              <a:rPr lang="en-NZ" altLang="ja-JP" sz="1000" dirty="0">
                <a:solidFill>
                  <a:srgbClr val="0070C0"/>
                </a:solidFill>
              </a:rPr>
              <a:t>  0.50, 0.25, 0.25, 0.00, 0.00,</a:t>
            </a:r>
          </a:p>
          <a:p>
            <a:pPr lvl="0">
              <a:lnSpc>
                <a:spcPct val="100000"/>
              </a:lnSpc>
              <a:defRPr/>
            </a:pPr>
            <a:r>
              <a:rPr lang="en-NZ" altLang="ja-JP" sz="1000" dirty="0">
                <a:solidFill>
                  <a:srgbClr val="0070C0"/>
                </a:solidFill>
              </a:rPr>
              <a:t>  0.25, 0.50, 0.15, 0.10, 0.00,</a:t>
            </a:r>
          </a:p>
          <a:p>
            <a:pPr lvl="0">
              <a:lnSpc>
                <a:spcPct val="100000"/>
              </a:lnSpc>
              <a:defRPr/>
            </a:pPr>
            <a:r>
              <a:rPr lang="en-NZ" altLang="ja-JP" sz="1000" dirty="0">
                <a:solidFill>
                  <a:srgbClr val="0070C0"/>
                </a:solidFill>
              </a:rPr>
              <a:t>  0.15, 0.25, 0.50, 0.10, 0.00,</a:t>
            </a:r>
          </a:p>
          <a:p>
            <a:pPr lvl="0">
              <a:lnSpc>
                <a:spcPct val="100000"/>
              </a:lnSpc>
              <a:defRPr/>
            </a:pPr>
            <a:r>
              <a:rPr lang="en-NZ" altLang="ja-JP" sz="1000" dirty="0">
                <a:solidFill>
                  <a:srgbClr val="0070C0"/>
                </a:solidFill>
              </a:rPr>
              <a:t>  0.10, 0.00, 0.10, 0.60, 0.20,</a:t>
            </a:r>
          </a:p>
          <a:p>
            <a:pPr lvl="0">
              <a:lnSpc>
                <a:spcPct val="100000"/>
              </a:lnSpc>
              <a:defRPr/>
            </a:pPr>
            <a:r>
              <a:rPr lang="en-NZ" altLang="ja-JP" sz="1000" dirty="0">
                <a:solidFill>
                  <a:srgbClr val="0070C0"/>
                </a:solidFill>
              </a:rPr>
              <a:t>  0.00, 0.00, 0.00, 0.20, 0.80</a:t>
            </a:r>
            <a:r>
              <a:rPr lang="en-NZ" altLang="ja-JP" sz="1000" dirty="0">
                <a:solidFill>
                  <a:schemeClr val="tx1"/>
                </a:solidFill>
              </a:rPr>
              <a:t>), </a:t>
            </a:r>
            <a:r>
              <a:rPr lang="en-NZ" altLang="ja-JP" sz="1000" dirty="0" err="1">
                <a:solidFill>
                  <a:schemeClr val="tx1"/>
                </a:solidFill>
              </a:rPr>
              <a:t>nrow</a:t>
            </a:r>
            <a:r>
              <a:rPr lang="en-NZ" altLang="ja-JP" sz="1000" dirty="0">
                <a:solidFill>
                  <a:schemeClr val="tx1"/>
                </a:solidFill>
              </a:rPr>
              <a:t>=5, </a:t>
            </a:r>
            <a:r>
              <a:rPr lang="en-NZ" altLang="ja-JP" sz="1000" dirty="0" err="1">
                <a:solidFill>
                  <a:schemeClr val="tx1"/>
                </a:solidFill>
              </a:rPr>
              <a:t>byrow</a:t>
            </a:r>
            <a:r>
              <a:rPr lang="en-NZ" altLang="ja-JP" sz="1000" dirty="0">
                <a:solidFill>
                  <a:schemeClr val="tx1"/>
                </a:solidFill>
              </a:rPr>
              <a:t>=TRUE,</a:t>
            </a:r>
          </a:p>
          <a:p>
            <a:pPr lvl="0">
              <a:lnSpc>
                <a:spcPct val="100000"/>
              </a:lnSpc>
              <a:defRPr/>
            </a:pPr>
            <a:r>
              <a:rPr lang="en-NZ" altLang="ja-JP" sz="1000" dirty="0">
                <a:solidFill>
                  <a:schemeClr val="tx1"/>
                </a:solidFill>
              </a:rPr>
              <a:t>  </a:t>
            </a:r>
            <a:r>
              <a:rPr lang="en-NZ" altLang="ja-JP" sz="1000" dirty="0" err="1">
                <a:solidFill>
                  <a:schemeClr val="tx1"/>
                </a:solidFill>
              </a:rPr>
              <a:t>dimnames</a:t>
            </a:r>
            <a:r>
              <a:rPr lang="en-NZ" altLang="ja-JP" sz="1000" dirty="0">
                <a:solidFill>
                  <a:schemeClr val="tx1"/>
                </a:solidFill>
              </a:rPr>
              <a:t> = list(</a:t>
            </a:r>
            <a:r>
              <a:rPr lang="en-NZ" altLang="ja-JP" sz="1000" dirty="0" err="1">
                <a:solidFill>
                  <a:schemeClr val="tx1"/>
                </a:solidFill>
              </a:rPr>
              <a:t>statenames</a:t>
            </a:r>
            <a:r>
              <a:rPr lang="en-NZ" altLang="ja-JP" sz="1000" dirty="0">
                <a:solidFill>
                  <a:schemeClr val="tx1"/>
                </a:solidFill>
              </a:rPr>
              <a:t>, </a:t>
            </a:r>
            <a:r>
              <a:rPr lang="en-NZ" altLang="ja-JP" sz="1000" dirty="0" err="1">
                <a:solidFill>
                  <a:schemeClr val="tx1"/>
                </a:solidFill>
              </a:rPr>
              <a:t>statenames</a:t>
            </a:r>
            <a:r>
              <a:rPr lang="en-NZ" altLang="ja-JP" sz="1000" dirty="0">
                <a:solidFill>
                  <a:schemeClr val="tx1"/>
                </a:solidFill>
              </a:rPr>
              <a:t>))</a:t>
            </a:r>
            <a:br>
              <a:rPr lang="en-NZ" altLang="ja-JP" sz="1000" dirty="0">
                <a:solidFill>
                  <a:schemeClr val="tx1"/>
                </a:solidFill>
              </a:rPr>
            </a:br>
            <a:endParaRPr lang="en-NZ" altLang="ja-JP" sz="1000" dirty="0">
              <a:solidFill>
                <a:schemeClr val="accent6">
                  <a:lumMod val="75000"/>
                </a:schemeClr>
              </a:solidFill>
            </a:endParaRPr>
          </a:p>
          <a:p>
            <a:pPr lvl="0">
              <a:lnSpc>
                <a:spcPct val="100000"/>
              </a:lnSpc>
              <a:defRPr/>
            </a:pPr>
            <a:r>
              <a:rPr lang="en-NZ" altLang="ja-JP" sz="1000" dirty="0">
                <a:solidFill>
                  <a:schemeClr val="accent6">
                    <a:lumMod val="75000"/>
                  </a:schemeClr>
                </a:solidFill>
              </a:rPr>
              <a:t># 1.1e - Specifying that the transition matrix Q defines a Markov chain</a:t>
            </a:r>
          </a:p>
          <a:p>
            <a:pPr lvl="0">
              <a:lnSpc>
                <a:spcPct val="100000"/>
              </a:lnSpc>
              <a:defRPr/>
            </a:pPr>
            <a:r>
              <a:rPr lang="en-NZ" altLang="ja-JP" sz="1000" dirty="0" err="1">
                <a:solidFill>
                  <a:schemeClr val="tx1"/>
                </a:solidFill>
              </a:rPr>
              <a:t>mcq</a:t>
            </a:r>
            <a:r>
              <a:rPr lang="en-NZ" altLang="ja-JP" sz="1000" dirty="0">
                <a:solidFill>
                  <a:schemeClr val="tx1"/>
                </a:solidFill>
              </a:rPr>
              <a:t> &lt;- new("</a:t>
            </a:r>
            <a:r>
              <a:rPr lang="en-NZ" altLang="ja-JP" sz="1000" dirty="0" err="1">
                <a:solidFill>
                  <a:schemeClr val="tx1"/>
                </a:solidFill>
              </a:rPr>
              <a:t>markovchain</a:t>
            </a:r>
            <a:r>
              <a:rPr lang="en-NZ" altLang="ja-JP" sz="1000" dirty="0">
                <a:solidFill>
                  <a:schemeClr val="tx1"/>
                </a:solidFill>
              </a:rPr>
              <a:t>", </a:t>
            </a:r>
            <a:r>
              <a:rPr lang="en-NZ" altLang="ja-JP" sz="1000" dirty="0" err="1">
                <a:solidFill>
                  <a:schemeClr val="tx1"/>
                </a:solidFill>
              </a:rPr>
              <a:t>transitionMatrix</a:t>
            </a:r>
            <a:r>
              <a:rPr lang="en-NZ" altLang="ja-JP" sz="1000" dirty="0">
                <a:solidFill>
                  <a:schemeClr val="tx1"/>
                </a:solidFill>
              </a:rPr>
              <a:t>=Q)</a:t>
            </a:r>
          </a:p>
          <a:p>
            <a:pPr lvl="0">
              <a:lnSpc>
                <a:spcPct val="100000"/>
              </a:lnSpc>
              <a:defRPr/>
            </a:pPr>
            <a:endParaRPr lang="en-NZ" altLang="ja-JP" sz="1000" dirty="0">
              <a:solidFill>
                <a:schemeClr val="accent6">
                  <a:lumMod val="75000"/>
                </a:schemeClr>
              </a:solidFill>
            </a:endParaRPr>
          </a:p>
          <a:p>
            <a:pPr lvl="0">
              <a:lnSpc>
                <a:spcPct val="100000"/>
              </a:lnSpc>
              <a:defRPr/>
            </a:pPr>
            <a:r>
              <a:rPr lang="en-NZ" altLang="ja-JP" sz="1000" dirty="0">
                <a:solidFill>
                  <a:schemeClr val="accent6">
                    <a:lumMod val="75000"/>
                  </a:schemeClr>
                </a:solidFill>
              </a:rPr>
              <a:t># 1.1f - Determine the stationary distribution of the Markov chain defined by Q</a:t>
            </a:r>
          </a:p>
          <a:p>
            <a:pPr lvl="0">
              <a:lnSpc>
                <a:spcPct val="100000"/>
              </a:lnSpc>
              <a:defRPr/>
            </a:pPr>
            <a:r>
              <a:rPr lang="en-NZ" altLang="ja-JP" sz="1000" dirty="0" err="1">
                <a:solidFill>
                  <a:schemeClr val="tx1"/>
                </a:solidFill>
              </a:rPr>
              <a:t>steadyStates</a:t>
            </a:r>
            <a:r>
              <a:rPr lang="en-NZ" altLang="ja-JP" sz="1000" dirty="0">
                <a:solidFill>
                  <a:schemeClr val="tx1"/>
                </a:solidFill>
              </a:rPr>
              <a:t>(</a:t>
            </a:r>
            <a:r>
              <a:rPr lang="en-NZ" altLang="ja-JP" sz="1000" dirty="0" err="1">
                <a:solidFill>
                  <a:schemeClr val="tx1"/>
                </a:solidFill>
              </a:rPr>
              <a:t>mcq</a:t>
            </a:r>
            <a:r>
              <a:rPr lang="en-NZ" altLang="ja-JP" sz="1000" dirty="0">
                <a:solidFill>
                  <a:schemeClr val="tx1"/>
                </a:solidFill>
              </a:rPr>
              <a:t>)  </a:t>
            </a:r>
          </a:p>
          <a:p>
            <a:pPr lvl="0">
              <a:lnSpc>
                <a:spcPct val="100000"/>
              </a:lnSpc>
              <a:defRPr/>
            </a:pPr>
            <a:endParaRPr lang="en-NZ" altLang="ja-JP" sz="1000" dirty="0">
              <a:solidFill>
                <a:prstClr val="black"/>
              </a:solidFill>
            </a:endParaRPr>
          </a:p>
          <a:p>
            <a:pPr lvl="0">
              <a:lnSpc>
                <a:spcPct val="100000"/>
              </a:lnSpc>
              <a:defRPr/>
            </a:pPr>
            <a:r>
              <a:rPr lang="en-NZ" altLang="ja-JP" sz="1000" dirty="0">
                <a:solidFill>
                  <a:prstClr val="black"/>
                </a:solidFill>
              </a:rPr>
              <a:t>        1       2      3       4      5</a:t>
            </a:r>
          </a:p>
          <a:p>
            <a:pPr lvl="0">
              <a:lnSpc>
                <a:spcPct val="100000"/>
              </a:lnSpc>
              <a:defRPr/>
            </a:pPr>
            <a:r>
              <a:rPr lang="en-NZ" altLang="ja-JP" sz="1000" dirty="0">
                <a:solidFill>
                  <a:prstClr val="black"/>
                </a:solidFill>
              </a:rPr>
              <a:t> [1,] 0.2   0.2   0.2   0.2   0.2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Placeholder 5">
                <a:extLst>
                  <a:ext uri="{FF2B5EF4-FFF2-40B4-BE49-F238E27FC236}">
                    <a16:creationId xmlns:a16="http://schemas.microsoft.com/office/drawing/2014/main" id="{30DE1358-098C-7434-11FF-9A1D824DF68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15641" y="5597883"/>
                <a:ext cx="3571617" cy="36512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just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NZ" altLang="ja-JP" sz="1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=</m:t>
                      </m:r>
                      <m:d>
                        <m:dPr>
                          <m:ctrlPr>
                            <a:rPr kumimoji="1" lang="en-NZ" altLang="ja-JP" sz="1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NZ" altLang="ja-JP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NZ" altLang="ja-JP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0</m:t>
                                </m:r>
                                <m:r>
                                  <a:rPr kumimoji="1" lang="en-NZ" altLang="ja-JP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.2</m:t>
                                </m:r>
                              </m:e>
                              <m:e>
                                <m:r>
                                  <a:rPr kumimoji="1" lang="en-NZ" altLang="ja-JP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0.2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1" lang="en-NZ" altLang="ja-JP" sz="1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0</m:t>
                                      </m:r>
                                      <m:r>
                                        <a:rPr kumimoji="1" lang="en-NZ" altLang="ja-JP" sz="1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.2</m:t>
                                      </m:r>
                                    </m:e>
                                    <m:e>
                                      <m:r>
                                        <a:rPr kumimoji="1" lang="en-NZ" altLang="ja-JP" sz="1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0.2</m:t>
                                      </m:r>
                                    </m:e>
                                    <m:e>
                                      <m:r>
                                        <a:rPr kumimoji="1" lang="en-NZ" altLang="ja-JP" sz="1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0.2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kumimoji="1" lang="en-NZ" altLang="ja-JP" sz="1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 = </m:t>
                      </m:r>
                      <m:r>
                        <a:rPr kumimoji="1" lang="en-NZ" altLang="ja-JP" sz="1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𝜋</m:t>
                      </m:r>
                    </m:oMath>
                  </m:oMathPara>
                </a14:m>
                <a:endParaRPr kumimoji="1" lang="en-US" altLang="ja-JP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10" name="Text Placeholder 5">
                <a:extLst>
                  <a:ext uri="{FF2B5EF4-FFF2-40B4-BE49-F238E27FC236}">
                    <a16:creationId xmlns:a16="http://schemas.microsoft.com/office/drawing/2014/main" id="{30DE1358-098C-7434-11FF-9A1D824DF6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641" y="5597883"/>
                <a:ext cx="3571617" cy="3651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94B94F21-E946-A3B9-930E-1434CDA4C99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58645" y="4574284"/>
                <a:ext cx="5620082" cy="115599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just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NZ" altLang="ja-JP" sz="1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𝜋</m:t>
                      </m:r>
                      <m:r>
                        <a:rPr kumimoji="1" lang="en-NZ" altLang="ja-JP" sz="1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𝑄</m:t>
                      </m:r>
                      <m:r>
                        <a:rPr kumimoji="1" lang="en-NZ" altLang="ja-JP" sz="1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=</m:t>
                      </m:r>
                      <m:d>
                        <m:dPr>
                          <m:ctrlPr>
                            <a:rPr kumimoji="1" lang="en-NZ" altLang="ja-JP" sz="1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NZ" altLang="ja-JP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NZ" altLang="ja-JP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0</m:t>
                                </m:r>
                                <m:r>
                                  <a:rPr kumimoji="1" lang="en-NZ" altLang="ja-JP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.2</m:t>
                                </m:r>
                              </m:e>
                              <m:e>
                                <m:r>
                                  <a:rPr kumimoji="1" lang="en-NZ" altLang="ja-JP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0.2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1" lang="en-NZ" altLang="ja-JP" sz="1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0</m:t>
                                      </m:r>
                                      <m:r>
                                        <a:rPr kumimoji="1" lang="en-NZ" altLang="ja-JP" sz="1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.2</m:t>
                                      </m:r>
                                    </m:e>
                                    <m:e>
                                      <m:r>
                                        <a:rPr kumimoji="1" lang="en-NZ" altLang="ja-JP" sz="1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0.2</m:t>
                                      </m:r>
                                    </m:e>
                                    <m:e>
                                      <m:r>
                                        <a:rPr kumimoji="1" lang="en-NZ" altLang="ja-JP" sz="1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0.2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kumimoji="1" lang="en-NZ" altLang="ja-JP" sz="1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 ∗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NZ" altLang="ja-JP" sz="1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NZ" altLang="ja-JP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NZ" altLang="ja-JP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NZ" altLang="ja-JP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.50</m:t>
                                </m:r>
                              </m:e>
                              <m:e>
                                <m:r>
                                  <a:rPr lang="en-NZ" altLang="ja-JP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0.25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NZ" altLang="ja-JP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NZ" altLang="ja-JP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NZ" altLang="ja-JP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.25</m:t>
                                      </m:r>
                                    </m:e>
                                    <m:e>
                                      <m:r>
                                        <a:rPr lang="en-NZ" altLang="ja-JP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0.00</m:t>
                                      </m:r>
                                    </m:e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NZ" altLang="ja-JP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NZ" altLang="ja-JP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.00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en-NZ" altLang="ja-JP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0.25</m:t>
                                </m:r>
                              </m:e>
                              <m:e>
                                <m:r>
                                  <a:rPr lang="en-NZ" altLang="ja-JP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0.50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NZ" altLang="ja-JP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NZ" altLang="ja-JP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NZ" altLang="ja-JP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.15</m:t>
                                      </m:r>
                                    </m:e>
                                    <m:e>
                                      <m:r>
                                        <a:rPr lang="en-NZ" altLang="ja-JP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0.10</m:t>
                                      </m:r>
                                    </m:e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NZ" altLang="ja-JP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NZ" altLang="ja-JP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.00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NZ" altLang="ja-JP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NZ" altLang="ja-JP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NZ" altLang="ja-JP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.15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NZ" altLang="ja-JP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0.10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NZ" altLang="ja-JP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0.00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NZ" altLang="ja-JP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NZ" altLang="ja-JP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NZ" altLang="ja-JP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.25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NZ" altLang="ja-JP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0.00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NZ" altLang="ja-JP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0.00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NZ" altLang="ja-JP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NZ" altLang="ja-JP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NZ" altLang="ja-JP" sz="14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  <m:r>
                                              <a:rPr lang="en-NZ" altLang="ja-JP" sz="14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.50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NZ" altLang="ja-JP" sz="14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0.10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NZ" altLang="ja-JP" sz="14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0.00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NZ" altLang="ja-JP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NZ" altLang="ja-JP" sz="14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  <m:r>
                                              <a:rPr lang="en-NZ" altLang="ja-JP" sz="14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.10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NZ" altLang="ja-JP" sz="14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0.60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NZ" altLang="ja-JP" sz="14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0.20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NZ" altLang="ja-JP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NZ" altLang="ja-JP" sz="14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  <m:r>
                                              <a:rPr lang="en-NZ" altLang="ja-JP" sz="14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.00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NZ" altLang="ja-JP" sz="14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0.20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NZ" altLang="ja-JP" sz="14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0.80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kumimoji="1" lang="en-NZ" altLang="ja-JP" sz="1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 </m:t>
                      </m:r>
                    </m:oMath>
                  </m:oMathPara>
                </a14:m>
                <a:endParaRPr kumimoji="1" lang="en-US" altLang="ja-JP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94B94F21-E946-A3B9-930E-1434CDA4C9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8645" y="4574284"/>
                <a:ext cx="5620082" cy="115599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Placeholder 5">
                <a:extLst>
                  <a:ext uri="{FF2B5EF4-FFF2-40B4-BE49-F238E27FC236}">
                    <a16:creationId xmlns:a16="http://schemas.microsoft.com/office/drawing/2014/main" id="{463D123E-C896-517B-903E-F2286CAA3A5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99496" y="5597883"/>
                <a:ext cx="3571617" cy="36512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just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NZ" altLang="ja-JP" sz="1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=</m:t>
                      </m:r>
                      <m:d>
                        <m:dPr>
                          <m:ctrlPr>
                            <a:rPr kumimoji="1" lang="en-NZ" altLang="ja-JP" sz="1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NZ" altLang="ja-JP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NZ" altLang="ja-JP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0</m:t>
                                </m:r>
                                <m:r>
                                  <a:rPr kumimoji="1" lang="en-NZ" altLang="ja-JP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.2</m:t>
                                </m:r>
                              </m:e>
                              <m:e>
                                <m:r>
                                  <a:rPr kumimoji="1" lang="en-NZ" altLang="ja-JP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0.2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1" lang="en-NZ" altLang="ja-JP" sz="1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0</m:t>
                                      </m:r>
                                      <m:r>
                                        <a:rPr kumimoji="1" lang="en-NZ" altLang="ja-JP" sz="1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.2</m:t>
                                      </m:r>
                                    </m:e>
                                    <m:e>
                                      <m:r>
                                        <a:rPr kumimoji="1" lang="en-NZ" altLang="ja-JP" sz="1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0.2</m:t>
                                      </m:r>
                                    </m:e>
                                    <m:e>
                                      <m:r>
                                        <a:rPr kumimoji="1" lang="en-NZ" altLang="ja-JP" sz="1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0.2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kumimoji="1" lang="en-NZ" altLang="ja-JP" sz="1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 = </m:t>
                      </m:r>
                      <m:r>
                        <a:rPr kumimoji="1" lang="en-NZ" altLang="ja-JP" sz="1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𝜋</m:t>
                      </m:r>
                    </m:oMath>
                  </m:oMathPara>
                </a14:m>
                <a:endParaRPr kumimoji="1" lang="en-US" altLang="ja-JP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14" name="Text Placeholder 5">
                <a:extLst>
                  <a:ext uri="{FF2B5EF4-FFF2-40B4-BE49-F238E27FC236}">
                    <a16:creationId xmlns:a16="http://schemas.microsoft.com/office/drawing/2014/main" id="{463D123E-C896-517B-903E-F2286CAA3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9496" y="5597883"/>
                <a:ext cx="3571617" cy="36512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192868A0-A2A2-419D-BEAA-211558AB4160}"/>
              </a:ext>
            </a:extLst>
          </p:cNvPr>
          <p:cNvSpPr txBox="1">
            <a:spLocks/>
          </p:cNvSpPr>
          <p:nvPr/>
        </p:nvSpPr>
        <p:spPr>
          <a:xfrm>
            <a:off x="2759123" y="6087014"/>
            <a:ext cx="6673755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ja-JP" sz="1600" b="1" dirty="0">
                <a:solidFill>
                  <a:schemeClr val="tx1"/>
                </a:solidFill>
                <a:latin typeface="Calibri" panose="020F0502020204030204"/>
                <a:ea typeface="游ゴシック" panose="020B0400000000000000" pitchFamily="34" charset="-128"/>
              </a:rPr>
              <a:t>Both Markov chains have the same stationary distribution!</a:t>
            </a:r>
            <a:endParaRPr lang="en-US" altLang="ja-JP" sz="1600" b="1" dirty="0">
              <a:solidFill>
                <a:srgbClr val="0070C0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A438501D-301C-0549-B9A3-B000800C60A8}"/>
              </a:ext>
            </a:extLst>
          </p:cNvPr>
          <p:cNvSpPr txBox="1">
            <a:spLocks/>
          </p:cNvSpPr>
          <p:nvPr/>
        </p:nvSpPr>
        <p:spPr>
          <a:xfrm>
            <a:off x="3011606" y="6551432"/>
            <a:ext cx="6168789" cy="3085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Associated code = </a:t>
            </a:r>
            <a:r>
              <a:rPr kumimoji="1" lang="en-NZ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Tutorial 4 – Q4</a:t>
            </a:r>
            <a:endParaRPr kumimoji="1" lang="en-US" altLang="ja-JP" sz="12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421E8274-3FBC-7981-686A-EFF37416B068}"/>
              </a:ext>
            </a:extLst>
          </p:cNvPr>
          <p:cNvSpPr txBox="1">
            <a:spLocks/>
          </p:cNvSpPr>
          <p:nvPr/>
        </p:nvSpPr>
        <p:spPr>
          <a:xfrm>
            <a:off x="9444251" y="86139"/>
            <a:ext cx="2645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Question 4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754CC12E-8FA2-1097-090B-A9611C514E34}"/>
              </a:ext>
            </a:extLst>
          </p:cNvPr>
          <p:cNvSpPr txBox="1">
            <a:spLocks/>
          </p:cNvSpPr>
          <p:nvPr/>
        </p:nvSpPr>
        <p:spPr>
          <a:xfrm>
            <a:off x="319464" y="196889"/>
            <a:ext cx="2819522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Question 4: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349866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6" grpId="0"/>
      <p:bldP spid="8" grpId="0" animBg="1"/>
      <p:bldP spid="10" grpId="0"/>
      <p:bldP spid="12" grpId="0"/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 Placeholder 5">
                <a:extLst>
                  <a:ext uri="{FF2B5EF4-FFF2-40B4-BE49-F238E27FC236}">
                    <a16:creationId xmlns:a16="http://schemas.microsoft.com/office/drawing/2014/main" id="{BE7F2AC8-BE98-8818-EFAD-DF04A239E77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4" y="1359302"/>
                <a:ext cx="4226256" cy="147146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just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NZ" altLang="ja-JP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𝑃</m:t>
                      </m:r>
                      <m:r>
                        <a:rPr kumimoji="1" lang="en-NZ" altLang="ja-JP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NZ" altLang="ja-JP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NZ" altLang="ja-JP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0</m:t>
                                </m:r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.95</m:t>
                                </m:r>
                              </m:e>
                              <m:e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0.05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  <a:cs typeface="+mn-cs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0</m:t>
                                      </m:r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.00</m:t>
                                      </m:r>
                                    </m:e>
                                    <m:e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0.00</m:t>
                                      </m:r>
                                    </m:e>
                                    <m:e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0.00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0.05</m:t>
                                </m:r>
                              </m:e>
                              <m:e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0.90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  <a:cs typeface="+mn-cs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0</m:t>
                                      </m:r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.05</m:t>
                                      </m:r>
                                    </m:e>
                                    <m:e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0.00</m:t>
                                      </m:r>
                                    </m:e>
                                    <m:e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0.00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  <a:cs typeface="+mn-cs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0</m:t>
                                      </m:r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.00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NZ" altLang="ja-JP" sz="18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NZ" altLang="ja-JP" sz="18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.00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NZ" altLang="ja-JP" sz="18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NZ" altLang="ja-JP" sz="18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.00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  <a:cs typeface="+mn-cs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0</m:t>
                                      </m:r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.05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NZ" altLang="ja-JP" sz="18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NZ" altLang="ja-JP" sz="18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.00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NZ" altLang="ja-JP" sz="18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NZ" altLang="ja-JP" sz="18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.00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  <a:cs typeface="+mn-cs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NZ" altLang="ja-JP" sz="18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70C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游ゴシック" panose="020B0400000000000000" pitchFamily="34" charset="-128"/>
                                              <a:cs typeface="+mn-cs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FF000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  <a:cs typeface="+mn-cs"/>
                                              </a:rPr>
                                              <m:t>0</m:t>
                                            </m:r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FF000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  <a:cs typeface="+mn-cs"/>
                                              </a:rPr>
                                              <m:t>.90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0070C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  <a:cs typeface="+mn-cs"/>
                                              </a:rPr>
                                              <m:t>0.05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NZ" altLang="ja-JP" sz="1800" i="1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  <m:r>
                                              <a:rPr lang="en-NZ" altLang="ja-JP" sz="1800" i="1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.00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NZ" altLang="ja-JP" sz="18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70C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游ゴシック" panose="020B0400000000000000" pitchFamily="34" charset="-128"/>
                                              <a:cs typeface="+mn-cs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0070C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  <a:cs typeface="+mn-cs"/>
                                              </a:rPr>
                                              <m:t>0</m:t>
                                            </m:r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0070C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  <a:cs typeface="+mn-cs"/>
                                              </a:rPr>
                                              <m:t>.05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FF000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  <a:cs typeface="+mn-cs"/>
                                              </a:rPr>
                                              <m:t>0.90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0070C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  <a:cs typeface="+mn-cs"/>
                                              </a:rPr>
                                              <m:t>0.05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NZ" altLang="ja-JP" sz="18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70C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游ゴシック" panose="020B0400000000000000" pitchFamily="34" charset="-128"/>
                                              <a:cs typeface="+mn-cs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NZ" altLang="ja-JP" sz="1800" i="1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  <m:r>
                                              <a:rPr lang="en-NZ" altLang="ja-JP" sz="1800" i="1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.00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0070C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  <a:cs typeface="+mn-cs"/>
                                              </a:rPr>
                                              <m:t>0.05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FF000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  <a:cs typeface="+mn-cs"/>
                                              </a:rPr>
                                              <m:t>0.95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kumimoji="1" lang="en-NZ" altLang="ja-JP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</m:t>
                      </m:r>
                    </m:oMath>
                  </m:oMathPara>
                </a14:m>
                <a:endParaRPr kumimoji="1" lang="en-US" altLang="ja-JP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56" name="Text Placeholder 5">
                <a:extLst>
                  <a:ext uri="{FF2B5EF4-FFF2-40B4-BE49-F238E27FC236}">
                    <a16:creationId xmlns:a16="http://schemas.microsoft.com/office/drawing/2014/main" id="{BE7F2AC8-BE98-8818-EFAD-DF04A239E7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4" y="1359302"/>
                <a:ext cx="4226256" cy="14714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 Placeholder 5">
                <a:extLst>
                  <a:ext uri="{FF2B5EF4-FFF2-40B4-BE49-F238E27FC236}">
                    <a16:creationId xmlns:a16="http://schemas.microsoft.com/office/drawing/2014/main" id="{3705C549-2831-B0B5-F5D0-9C8695A7EAE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4" y="3285734"/>
                <a:ext cx="4226256" cy="147146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just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NZ" altLang="ja-JP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𝑄</m:t>
                      </m:r>
                      <m:r>
                        <a:rPr kumimoji="1" lang="en-NZ" altLang="ja-JP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NZ" altLang="ja-JP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NZ" altLang="ja-JP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0</m:t>
                                </m:r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.50</m:t>
                                </m:r>
                              </m:e>
                              <m:e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0.25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  <a:cs typeface="+mn-cs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0</m:t>
                                      </m:r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.25</m:t>
                                      </m:r>
                                    </m:e>
                                    <m:e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0.00</m:t>
                                      </m:r>
                                    </m:e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NZ" altLang="ja-JP" sz="18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NZ" altLang="ja-JP" sz="18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.00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0.25</m:t>
                                </m:r>
                              </m:e>
                              <m:e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0.50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  <a:cs typeface="+mn-cs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0</m:t>
                                      </m:r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.15</m:t>
                                      </m:r>
                                    </m:e>
                                    <m:e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0.10</m:t>
                                      </m:r>
                                    </m:e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NZ" altLang="ja-JP" sz="18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NZ" altLang="ja-JP" sz="18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.00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  <a:cs typeface="+mn-cs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0</m:t>
                                      </m:r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.15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0.10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0.00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  <a:cs typeface="+mn-cs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0</m:t>
                                      </m:r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.25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0.00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0.00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  <a:cs typeface="+mn-cs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NZ" altLang="ja-JP" sz="18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70C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游ゴシック" panose="020B0400000000000000" pitchFamily="34" charset="-128"/>
                                              <a:cs typeface="+mn-cs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FF000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  <a:cs typeface="+mn-cs"/>
                                              </a:rPr>
                                              <m:t>0</m:t>
                                            </m:r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FF000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  <a:cs typeface="+mn-cs"/>
                                              </a:rPr>
                                              <m:t>.50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0070C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  <a:cs typeface="+mn-cs"/>
                                              </a:rPr>
                                              <m:t>0.10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0070C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  <a:cs typeface="+mn-cs"/>
                                              </a:rPr>
                                              <m:t>0.00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NZ" altLang="ja-JP" sz="18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70C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游ゴシック" panose="020B0400000000000000" pitchFamily="34" charset="-128"/>
                                              <a:cs typeface="+mn-cs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0070C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  <a:cs typeface="+mn-cs"/>
                                              </a:rPr>
                                              <m:t>0</m:t>
                                            </m:r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0070C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  <a:cs typeface="+mn-cs"/>
                                              </a:rPr>
                                              <m:t>.10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FF000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  <a:cs typeface="+mn-cs"/>
                                              </a:rPr>
                                              <m:t>0.60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0070C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  <a:cs typeface="+mn-cs"/>
                                              </a:rPr>
                                              <m:t>0.20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NZ" altLang="ja-JP" sz="18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FF000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游ゴシック" panose="020B0400000000000000" pitchFamily="34" charset="-128"/>
                                              <a:cs typeface="+mn-cs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NZ" altLang="ja-JP" sz="1800" i="1" smtClean="0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  <m:r>
                                              <a:rPr lang="en-NZ" altLang="ja-JP" sz="1800" i="1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.00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0070C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  <a:cs typeface="+mn-cs"/>
                                              </a:rPr>
                                              <m:t>0.20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FF000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  <a:cs typeface="+mn-cs"/>
                                              </a:rPr>
                                              <m:t>0.80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kumimoji="1" lang="en-NZ" altLang="ja-JP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</m:t>
                      </m:r>
                    </m:oMath>
                  </m:oMathPara>
                </a14:m>
                <a:endParaRPr kumimoji="1" lang="en-US" altLang="ja-JP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60" name="Text Placeholder 5">
                <a:extLst>
                  <a:ext uri="{FF2B5EF4-FFF2-40B4-BE49-F238E27FC236}">
                    <a16:creationId xmlns:a16="http://schemas.microsoft.com/office/drawing/2014/main" id="{3705C549-2831-B0B5-F5D0-9C8695A7EA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4" y="3285734"/>
                <a:ext cx="4226256" cy="14714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5">
                <a:extLst>
                  <a:ext uri="{FF2B5EF4-FFF2-40B4-BE49-F238E27FC236}">
                    <a16:creationId xmlns:a16="http://schemas.microsoft.com/office/drawing/2014/main" id="{745B273C-F7CA-5688-5CCC-A88401CB667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44461" y="1164846"/>
                <a:ext cx="6673755" cy="452830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marR="0" lvl="0" indent="-342900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lphaLcParenR" startAt="5"/>
                  <a:tabLst/>
                  <a:defRPr/>
                </a:pPr>
                <a:r>
                  <a:rPr kumimoji="1" lang="en-US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State whether </a:t>
                </a:r>
                <a:r>
                  <a:rPr lang="en-US" altLang="ja-JP" sz="1600" dirty="0">
                    <a:solidFill>
                      <a:srgbClr val="0070C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the Markov chains defined are</a:t>
                </a:r>
                <a:r>
                  <a:rPr kumimoji="1" lang="en-US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</a:t>
                </a:r>
                <a:r>
                  <a:rPr lang="en-US" altLang="ja-JP" sz="1600" dirty="0">
                    <a:solidFill>
                      <a:srgbClr val="0070C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periodic or aperiodic?</a:t>
                </a:r>
                <a:br>
                  <a:rPr lang="en-US" altLang="ja-JP" sz="1600" dirty="0">
                    <a:solidFill>
                      <a:srgbClr val="0070C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</a:br>
                <a:r>
                  <a:rPr lang="en-US" altLang="ja-JP" sz="14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States in the same communication class all have the same period.</a:t>
                </a:r>
                <a:br>
                  <a:rPr lang="en-US" altLang="ja-JP" sz="14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</a:br>
                <a:r>
                  <a:rPr lang="en-US" altLang="ja-JP" sz="14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Since the chain is irreducible (there is only one communication class) all states have the same period.</a:t>
                </a:r>
                <a:br>
                  <a:rPr lang="en-US" altLang="ja-JP" sz="14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</a:br>
                <a:r>
                  <a:rPr lang="en-US" altLang="ja-JP" sz="14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Since each Markov chain has ‘self-loops’ (i.e. the terms on the lead diagonal highlighted in red are non-zero) each state must have period 1. Hence the chain is aperiodic.</a:t>
                </a:r>
                <a:br>
                  <a:rPr lang="en-US" altLang="ja-JP" sz="16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</a:br>
                <a:br>
                  <a:rPr lang="en-US" altLang="ja-JP" sz="16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</a:br>
                <a:br>
                  <a:rPr lang="en-US" altLang="ja-JP" sz="16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</a:br>
                <a:endParaRPr lang="en-US" altLang="ja-JP" sz="1600" dirty="0">
                  <a:solidFill>
                    <a:srgbClr val="0070C0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marL="342900" lvl="0" indent="-342900">
                  <a:lnSpc>
                    <a:spcPct val="100000"/>
                  </a:lnSpc>
                  <a:buFont typeface="+mj-lt"/>
                  <a:buAutoNum type="alphaLcParenR" startAt="5"/>
                  <a:defRPr/>
                </a:pPr>
                <a:r>
                  <a:rPr lang="en-US" altLang="ja-JP" sz="1600" dirty="0">
                    <a:solidFill>
                      <a:srgbClr val="0070C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What conditions ensure that a discrete state space Markov chain has a </a:t>
                </a:r>
                <a:r>
                  <a:rPr lang="en-US" altLang="ja-JP" sz="1600" b="1" dirty="0">
                    <a:solidFill>
                      <a:srgbClr val="0070C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limiting distribution</a:t>
                </a:r>
                <a:r>
                  <a:rPr lang="en-US" altLang="ja-JP" sz="1600" dirty="0">
                    <a:solidFill>
                      <a:srgbClr val="0070C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? Are these conditions satisfied here?</a:t>
                </a:r>
                <a:br>
                  <a:rPr lang="en-US" altLang="ja-JP" sz="1600" dirty="0">
                    <a:solidFill>
                      <a:srgbClr val="0070C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</a:br>
                <a:r>
                  <a:rPr lang="en-US" altLang="ja-JP" sz="14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If a discrete state space Markov chain is irreducible and ergodic (positive recurrent and aperiodic) then it has a limiting distribution (see Theorem 6 of lecture notes).</a:t>
                </a:r>
                <a:br>
                  <a:rPr lang="en-US" altLang="ja-JP" sz="14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</a:br>
                <a:br>
                  <a:rPr lang="en-US" altLang="ja-JP" sz="14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</a:br>
                <a:r>
                  <a:rPr lang="en-US" altLang="ja-JP" sz="14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Both Markov chains satisfy these conditions and so both have a limiting distribution. This is precisely the stationary distribution calculated in question d), i.e.</a:t>
                </a:r>
                <a:br>
                  <a:rPr lang="en-US" altLang="ja-JP" sz="14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</a:br>
                <a:br>
                  <a:rPr lang="en-US" altLang="ja-JP" sz="14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</a:br>
                <a14:m>
                  <m:oMath xmlns:m="http://schemas.openxmlformats.org/officeDocument/2006/math">
                    <m:r>
                      <a:rPr lang="en-NZ" altLang="ja-JP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𝝅</m:t>
                    </m:r>
                    <m:r>
                      <a:rPr lang="en-NZ" altLang="ja-JP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NZ" altLang="ja-JP" sz="1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NZ" altLang="ja-JP" sz="1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NZ" altLang="ja-JP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NZ" altLang="ja-JP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NZ" altLang="ja-JP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  <m:e>
                              <m:r>
                                <a:rPr lang="en-NZ" altLang="ja-JP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NZ" altLang="ja-JP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NZ" altLang="ja-JP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NZ" altLang="ja-JP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14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NZ" altLang="ja-JP" sz="14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NZ" altLang="ja-JP" sz="14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e>
                                  <m:e>
                                    <m:r>
                                      <a:rPr lang="en-NZ" altLang="ja-JP" sz="14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NZ" altLang="ja-JP" sz="14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NZ" altLang="ja-JP" sz="14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e>
                                  <m:e>
                                    <m:r>
                                      <a:rPr lang="en-NZ" altLang="ja-JP" sz="14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NZ" altLang="ja-JP" sz="14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NZ" altLang="ja-JP" sz="14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br>
                  <a:rPr lang="en-US" altLang="ja-JP" sz="14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</a:br>
                <a:br>
                  <a:rPr lang="en-NZ" altLang="ja-JP" sz="1600" dirty="0">
                    <a:solidFill>
                      <a:srgbClr val="0070C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</a:br>
                <a:endParaRPr lang="en-US" altLang="ja-JP" sz="1600" dirty="0">
                  <a:solidFill>
                    <a:srgbClr val="0070C0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>
          <p:sp>
            <p:nvSpPr>
              <p:cNvPr id="3" name="Text Placeholder 5">
                <a:extLst>
                  <a:ext uri="{FF2B5EF4-FFF2-40B4-BE49-F238E27FC236}">
                    <a16:creationId xmlns:a16="http://schemas.microsoft.com/office/drawing/2014/main" id="{745B273C-F7CA-5688-5CCC-A88401CB66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4461" y="1164846"/>
                <a:ext cx="6673755" cy="4528308"/>
              </a:xfrm>
              <a:prstGeom prst="rect">
                <a:avLst/>
              </a:prstGeom>
              <a:blipFill>
                <a:blip r:embed="rId5"/>
                <a:stretch>
                  <a:fillRect l="-457" t="-404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41F837AB-FC3D-8F52-C735-13E65BE8E668}"/>
              </a:ext>
            </a:extLst>
          </p:cNvPr>
          <p:cNvSpPr txBox="1">
            <a:spLocks/>
          </p:cNvSpPr>
          <p:nvPr/>
        </p:nvSpPr>
        <p:spPr>
          <a:xfrm>
            <a:off x="3011606" y="6551432"/>
            <a:ext cx="6168789" cy="3085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Associated code = </a:t>
            </a:r>
            <a:r>
              <a:rPr kumimoji="1" lang="en-NZ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Tutorial 4 – Q4</a:t>
            </a:r>
            <a:endParaRPr kumimoji="1" lang="en-US" altLang="ja-JP" sz="12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3AC664B8-1904-2734-6572-2E7C5F9C125B}"/>
              </a:ext>
            </a:extLst>
          </p:cNvPr>
          <p:cNvSpPr txBox="1">
            <a:spLocks/>
          </p:cNvSpPr>
          <p:nvPr/>
        </p:nvSpPr>
        <p:spPr>
          <a:xfrm>
            <a:off x="9444251" y="86139"/>
            <a:ext cx="2645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Question 4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8" name="Title 6">
            <a:extLst>
              <a:ext uri="{FF2B5EF4-FFF2-40B4-BE49-F238E27FC236}">
                <a16:creationId xmlns:a16="http://schemas.microsoft.com/office/drawing/2014/main" id="{F25860C6-EC47-EDA7-C7DF-8C90CB1370D6}"/>
              </a:ext>
            </a:extLst>
          </p:cNvPr>
          <p:cNvSpPr txBox="1">
            <a:spLocks/>
          </p:cNvSpPr>
          <p:nvPr/>
        </p:nvSpPr>
        <p:spPr>
          <a:xfrm>
            <a:off x="319464" y="196889"/>
            <a:ext cx="2819522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Question 4: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214244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Placeholder 5">
                <a:extLst>
                  <a:ext uri="{FF2B5EF4-FFF2-40B4-BE49-F238E27FC236}">
                    <a16:creationId xmlns:a16="http://schemas.microsoft.com/office/drawing/2014/main" id="{897529DF-3A30-E266-5A63-993F856A220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59559" y="1048749"/>
                <a:ext cx="10858658" cy="479800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lvl="0" indent="-342900">
                  <a:lnSpc>
                    <a:spcPct val="100000"/>
                  </a:lnSpc>
                  <a:buFont typeface="+mj-lt"/>
                  <a:buAutoNum type="alphaLcParenR" startAt="7"/>
                  <a:defRPr/>
                </a:pPr>
                <a:r>
                  <a:rPr lang="en-US" altLang="ja-JP" sz="1600" dirty="0">
                    <a:solidFill>
                      <a:srgbClr val="0070C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Given your answers to the above, give an expression for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sz="16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funcPr>
                      <m:fName>
                        <m:r>
                          <a:rPr lang="en-NZ" altLang="ja-JP" sz="1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𝑋</m:t>
                        </m:r>
                        <m:r>
                          <a:rPr lang="en-NZ" altLang="ja-JP" sz="1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=</m:t>
                        </m:r>
                        <m:limLow>
                          <m:limLowPr>
                            <m:ctrlPr>
                              <a:rPr lang="en-US" altLang="ja-JP" sz="160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ja-JP" sz="1600" i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lim</m:t>
                            </m:r>
                          </m:e>
                          <m:lim>
                            <m:r>
                              <a:rPr lang="en-NZ" altLang="ja-JP" sz="16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𝑛</m:t>
                            </m:r>
                            <m:r>
                              <a:rPr lang="en-NZ" altLang="ja-JP" sz="16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NZ" altLang="ja-JP" sz="16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</m:ctrlPr>
                          </m:sSupPr>
                          <m:e>
                            <m:r>
                              <a:rPr lang="en-NZ" altLang="ja-JP" sz="16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𝑃</m:t>
                            </m:r>
                          </m:e>
                          <m:sup>
                            <m:r>
                              <a:rPr lang="en-NZ" altLang="ja-JP" sz="16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𝑛</m:t>
                            </m:r>
                          </m:sup>
                        </m:sSup>
                      </m:e>
                    </m:func>
                  </m:oMath>
                </a14:m>
                <a:r>
                  <a:rPr lang="en-US" altLang="ja-JP" sz="1600" dirty="0">
                    <a:solidFill>
                      <a:srgbClr val="0070C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NZ" altLang="ja-JP" sz="1600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NZ" altLang="ja-JP" sz="1600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ja-JP" sz="16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ja-JP" sz="16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ja-JP" sz="160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NZ" altLang="ja-JP" sz="16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NZ" altLang="ja-JP" sz="16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NZ" altLang="ja-JP" sz="16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NZ" altLang="ja-JP" sz="16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NZ" altLang="ja-JP" sz="16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func>
                  </m:oMath>
                </a14:m>
                <a:endParaRPr lang="en-US" altLang="ja-JP" sz="1600" dirty="0">
                  <a:solidFill>
                    <a:schemeClr val="tx1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10" name="Text Placeholder 5">
                <a:extLst>
                  <a:ext uri="{FF2B5EF4-FFF2-40B4-BE49-F238E27FC236}">
                    <a16:creationId xmlns:a16="http://schemas.microsoft.com/office/drawing/2014/main" id="{897529DF-3A30-E266-5A63-993F856A22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559" y="1048749"/>
                <a:ext cx="10858658" cy="479800"/>
              </a:xfrm>
              <a:prstGeom prst="rect">
                <a:avLst/>
              </a:prstGeom>
              <a:blipFill>
                <a:blip r:embed="rId3"/>
                <a:stretch>
                  <a:fillRect l="-337" t="-2532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DDF79600-A08E-9630-FCA5-B72A0CB0942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73207" y="3368832"/>
                <a:ext cx="8247387" cy="13654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just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ja-JP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limLow>
                            <m:limLowPr>
                              <m:ctrlPr>
                                <a:rPr lang="en-US" altLang="ja-JP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ja-JP" sz="16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NZ" altLang="ja-JP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NZ" altLang="ja-JP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NZ" altLang="ja-JP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NZ" altLang="ja-JP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en-NZ" altLang="ja-JP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func>
                      <m:r>
                        <a:rPr lang="en-NZ" altLang="ja-JP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= 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NZ" altLang="ja-JP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NZ" altLang="ja-JP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NZ" altLang="ja-JP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0</m:t>
                                </m:r>
                                <m:r>
                                  <a:rPr kumimoji="1" lang="en-NZ" altLang="ja-JP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.20</m:t>
                                </m:r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en-NZ" altLang="ja-JP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NZ" altLang="ja-JP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.20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NZ" altLang="ja-JP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NZ" altLang="ja-JP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.20</m:t>
                                      </m:r>
                                    </m:e>
                                    <m:e>
                                      <m:r>
                                        <a:rPr kumimoji="1" lang="en-NZ" altLang="ja-JP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0.20</m:t>
                                      </m:r>
                                    </m:e>
                                    <m:e>
                                      <m:r>
                                        <a:rPr kumimoji="1" lang="en-NZ" altLang="ja-JP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0.20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kumimoji="1" lang="en-NZ" altLang="ja-JP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0.20</m:t>
                                </m:r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en-NZ" altLang="ja-JP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NZ" altLang="ja-JP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.20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NZ" altLang="ja-JP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NZ" altLang="ja-JP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.20</m:t>
                                      </m:r>
                                    </m:e>
                                    <m:e>
                                      <m:r>
                                        <a:rPr kumimoji="1" lang="en-NZ" altLang="ja-JP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0.20</m:t>
                                      </m:r>
                                    </m:e>
                                    <m:e>
                                      <m:r>
                                        <a:rPr kumimoji="1" lang="en-NZ" altLang="ja-JP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0.20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1" lang="en-NZ" altLang="ja-JP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0</m:t>
                                      </m:r>
                                      <m:r>
                                        <a:rPr kumimoji="1" lang="en-NZ" altLang="ja-JP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</a:rPr>
                                        <m:t>.20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NZ" altLang="ja-JP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NZ" altLang="ja-JP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</m:t>
                                      </m:r>
                                      <m:r>
                                        <a:rPr lang="en-NZ" altLang="ja-JP" sz="16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NZ" altLang="ja-JP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NZ" altLang="ja-JP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</m:t>
                                      </m:r>
                                      <m:r>
                                        <a:rPr lang="en-NZ" altLang="ja-JP" sz="16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NZ" altLang="ja-JP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NZ" altLang="ja-JP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NZ" altLang="ja-JP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.20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NZ" altLang="ja-JP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NZ" altLang="ja-JP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.20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NZ" altLang="ja-JP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NZ" altLang="ja-JP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</m:t>
                                      </m:r>
                                      <m:r>
                                        <a:rPr lang="en-NZ" altLang="ja-JP" sz="16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NZ" altLang="ja-JP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NZ" altLang="ja-JP" sz="16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游ゴシック" panose="020B0400000000000000" pitchFamily="34" charset="-128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NZ" altLang="ja-JP" sz="16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  <m:r>
                                              <a:rPr lang="en-NZ" altLang="ja-JP" sz="16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.20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NZ" altLang="ja-JP" sz="16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  <m:r>
                                              <a:rPr lang="en-NZ" altLang="ja-JP" sz="16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.20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NZ" altLang="ja-JP" sz="16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  <m:r>
                                              <a:rPr lang="en-NZ" altLang="ja-JP" sz="16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.</m:t>
                                            </m:r>
                                            <m:r>
                                              <a:rPr lang="en-NZ" altLang="ja-JP" sz="16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  <m:r>
                                              <a:rPr lang="en-NZ" altLang="ja-JP" sz="16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NZ" altLang="ja-JP" sz="16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游ゴシック" panose="020B0400000000000000" pitchFamily="34" charset="-128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kumimoji="1" lang="en-NZ" altLang="ja-JP" sz="16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0</m:t>
                                            </m:r>
                                            <m:r>
                                              <a:rPr kumimoji="1" lang="en-NZ" altLang="ja-JP" sz="16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.20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6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0.20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6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0.20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NZ" altLang="ja-JP" sz="16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游ゴシック" panose="020B0400000000000000" pitchFamily="34" charset="-128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NZ" altLang="ja-JP" sz="160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  <m:r>
                                              <a:rPr lang="en-NZ" altLang="ja-JP" sz="16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.</m:t>
                                            </m:r>
                                            <m:r>
                                              <a:rPr lang="en-NZ" altLang="ja-JP" sz="16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  <m:r>
                                              <a:rPr lang="en-NZ" altLang="ja-JP" sz="16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6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0.20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6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</a:rPr>
                                              <m:t>0.20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kumimoji="1" lang="en-NZ" altLang="ja-JP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  =</m:t>
                      </m:r>
                      <m:func>
                        <m:funcPr>
                          <m:ctrlPr>
                            <a:rPr lang="en-US" altLang="ja-JP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limLow>
                            <m:limLowPr>
                              <m:ctrlPr>
                                <a:rPr lang="en-US" altLang="ja-JP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ja-JP" sz="16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NZ" altLang="ja-JP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NZ" altLang="ja-JP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NZ" altLang="ja-JP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NZ" altLang="ja-JP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func>
                      <m:r>
                        <a:rPr lang="en-NZ" altLang="ja-JP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=  </m:t>
                      </m:r>
                      <m:r>
                        <a:rPr lang="en-NZ" altLang="ja-JP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kumimoji="1" lang="en-US" altLang="ja-JP" sz="16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DDF79600-A08E-9630-FCA5-B72A0CB094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3207" y="3368832"/>
                <a:ext cx="8247387" cy="136541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Placeholder 5">
                <a:extLst>
                  <a:ext uri="{FF2B5EF4-FFF2-40B4-BE49-F238E27FC236}">
                    <a16:creationId xmlns:a16="http://schemas.microsoft.com/office/drawing/2014/main" id="{ADC23553-6A12-589F-CBCC-399896EFBE2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73783" y="1551651"/>
                <a:ext cx="10858658" cy="136075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:r>
                  <a:rPr lang="en-NZ" altLang="ja-JP" sz="16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The existence of a limiting distribution </a:t>
                </a:r>
                <a14:m>
                  <m:oMath xmlns:m="http://schemas.openxmlformats.org/officeDocument/2006/math">
                    <m:r>
                      <a:rPr lang="en-NZ" altLang="ja-JP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𝜋</m:t>
                    </m:r>
                  </m:oMath>
                </a14:m>
                <a:r>
                  <a:rPr lang="en-NZ" altLang="ja-JP" sz="16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implies that </a:t>
                </a:r>
                <a:br>
                  <a:rPr lang="en-NZ" altLang="ja-JP" sz="16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NZ" altLang="ja-JP" sz="1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NZ" altLang="ja-JP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NZ" altLang="ja-JP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NZ" altLang="ja-JP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NZ" altLang="ja-JP" sz="16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NZ" altLang="ja-JP" sz="16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</m:d>
                            </m:sup>
                          </m:sSup>
                          <m:r>
                            <a:rPr lang="en-NZ" altLang="ja-JP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NZ" altLang="ja-JP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NZ" altLang="ja-JP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NZ" altLang="ja-JP" sz="1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NZ" altLang="ja-JP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  <m:sub>
                          <m:r>
                            <a:rPr lang="en-NZ" altLang="ja-JP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</m:sSub>
                      <m:r>
                        <a:rPr lang="en-NZ" altLang="ja-JP" sz="1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NZ" altLang="ja-JP" sz="1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𝒂𝒔</m:t>
                      </m:r>
                      <m:r>
                        <a:rPr lang="en-NZ" altLang="ja-JP" sz="1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NZ" altLang="ja-JP" sz="1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NZ" altLang="ja-JP" sz="1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→∞     ∀   </m:t>
                      </m:r>
                      <m:r>
                        <a:rPr lang="en-NZ" altLang="ja-JP" sz="1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NZ" altLang="ja-JP" sz="1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NZ" altLang="ja-JP" sz="1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</m:oMath>
                  </m:oMathPara>
                </a14:m>
                <a:br>
                  <a:rPr lang="en-NZ" altLang="ja-JP" sz="1600" dirty="0">
                    <a:solidFill>
                      <a:srgbClr val="0070C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</a:br>
                <a:r>
                  <a:rPr lang="en-NZ" altLang="ja-JP" sz="16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(see Theorem 6 of the lecture notes). In other words, the existence of a limiting distribution means that, after a sufficiently long period of time, the probability that the n</a:t>
                </a:r>
                <a:r>
                  <a:rPr lang="en-NZ" altLang="ja-JP" sz="1600" baseline="300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th</a:t>
                </a:r>
                <a:r>
                  <a:rPr lang="en-NZ" altLang="ja-JP" sz="16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 random variable in the chain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NZ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sSupPr>
                      <m:e>
                        <m:r>
                          <a:rPr lang="en-NZ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𝑋</m:t>
                        </m:r>
                      </m:e>
                      <m:sup>
                        <m:r>
                          <a:rPr lang="en-NZ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(</m:t>
                        </m:r>
                        <m:r>
                          <a:rPr lang="en-NZ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𝑛</m:t>
                        </m:r>
                        <m:r>
                          <a:rPr lang="en-NZ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NZ" altLang="ja-JP" sz="16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is in state </a:t>
                </a:r>
                <a:r>
                  <a:rPr lang="en-NZ" altLang="ja-JP" sz="1600" i="1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j </a:t>
                </a:r>
                <a:r>
                  <a:rPr lang="en-NZ" altLang="ja-JP" sz="16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is equal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sSubPr>
                      <m:e>
                        <m:r>
                          <a:rPr lang="en-NZ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𝜋</m:t>
                        </m:r>
                      </m:e>
                      <m:sub>
                        <m:r>
                          <a:rPr lang="en-NZ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ja-JP" sz="1600" dirty="0">
                    <a:solidFill>
                      <a:srgbClr val="0070C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.</a:t>
                </a:r>
                <a:endParaRPr lang="en-US" altLang="ja-JP" sz="1600" dirty="0">
                  <a:solidFill>
                    <a:schemeClr val="tx1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11" name="Text Placeholder 5">
                <a:extLst>
                  <a:ext uri="{FF2B5EF4-FFF2-40B4-BE49-F238E27FC236}">
                    <a16:creationId xmlns:a16="http://schemas.microsoft.com/office/drawing/2014/main" id="{ADC23553-6A12-589F-CBCC-399896EFBE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783" y="1551651"/>
                <a:ext cx="10858658" cy="1360751"/>
              </a:xfrm>
              <a:prstGeom prst="rect">
                <a:avLst/>
              </a:prstGeom>
              <a:blipFill>
                <a:blip r:embed="rId5"/>
                <a:stretch>
                  <a:fillRect l="-337" t="-1345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48EFFACD-6338-62D1-9C77-83A52DFC5597}"/>
              </a:ext>
            </a:extLst>
          </p:cNvPr>
          <p:cNvSpPr txBox="1">
            <a:spLocks/>
          </p:cNvSpPr>
          <p:nvPr/>
        </p:nvSpPr>
        <p:spPr>
          <a:xfrm>
            <a:off x="773783" y="4773003"/>
            <a:ext cx="10858658" cy="3945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defRPr/>
            </a:pPr>
            <a:r>
              <a:rPr lang="en-NZ" altLang="ja-JP" sz="1600" dirty="0">
                <a:solidFill>
                  <a:schemeClr val="tx1"/>
                </a:solidFill>
                <a:latin typeface="Calibri" panose="020F0502020204030204"/>
                <a:ea typeface="游ゴシック" panose="020B0400000000000000" pitchFamily="34" charset="-128"/>
              </a:rPr>
              <a:t>For either Markov chain, after a sufficiently long period of time, there is an equal chance that the chain is in each state. </a:t>
            </a:r>
            <a:endParaRPr lang="en-US" altLang="ja-JP" sz="1600" dirty="0">
              <a:solidFill>
                <a:schemeClr val="tx1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C81A4CF3-06BF-EFD8-170C-DD867BE8A26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73783" y="2909484"/>
                <a:ext cx="10858658" cy="39457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:r>
                  <a:rPr lang="en-NZ" altLang="ja-JP" sz="16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In the context of this question, since </a:t>
                </a:r>
                <a14:m>
                  <m:oMath xmlns:m="http://schemas.openxmlformats.org/officeDocument/2006/math">
                    <m:r>
                      <a:rPr lang="en-NZ" altLang="ja-JP" sz="16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𝝅</m:t>
                    </m:r>
                    <m:r>
                      <a:rPr lang="en-NZ" altLang="ja-JP" sz="16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NZ" altLang="ja-JP" sz="16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NZ" altLang="ja-JP" sz="16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NZ" altLang="ja-JP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NZ" altLang="ja-JP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NZ" altLang="ja-JP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  <m:e>
                              <m:r>
                                <a:rPr lang="en-NZ" altLang="ja-JP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NZ" altLang="ja-JP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NZ" altLang="ja-JP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NZ" altLang="ja-JP" sz="16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16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NZ" altLang="ja-JP" sz="16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NZ" altLang="ja-JP" sz="16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e>
                                  <m:e>
                                    <m:r>
                                      <a:rPr lang="en-NZ" altLang="ja-JP" sz="16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NZ" altLang="ja-JP" sz="16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NZ" altLang="ja-JP" sz="16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e>
                                  <m:e>
                                    <m:r>
                                      <a:rPr lang="en-NZ" altLang="ja-JP" sz="16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NZ" altLang="ja-JP" sz="16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NZ" altLang="ja-JP" sz="16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  <m:r>
                      <a:rPr lang="en-NZ" altLang="ja-JP" sz="16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NZ" altLang="ja-JP" sz="16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we will have have that... </a:t>
                </a:r>
                <a:endParaRPr lang="en-US" altLang="ja-JP" sz="1600" dirty="0">
                  <a:solidFill>
                    <a:schemeClr val="tx1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C81A4CF3-06BF-EFD8-170C-DD867BE8A2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783" y="2909484"/>
                <a:ext cx="10858658" cy="394576"/>
              </a:xfrm>
              <a:prstGeom prst="rect">
                <a:avLst/>
              </a:prstGeom>
              <a:blipFill>
                <a:blip r:embed="rId6"/>
                <a:stretch>
                  <a:fillRect l="-337" t="-4615" b="-4615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92918AB0-3FBB-679C-3530-7D1D79254D85}"/>
              </a:ext>
            </a:extLst>
          </p:cNvPr>
          <p:cNvSpPr txBox="1">
            <a:spLocks/>
          </p:cNvSpPr>
          <p:nvPr/>
        </p:nvSpPr>
        <p:spPr>
          <a:xfrm>
            <a:off x="3011606" y="6551432"/>
            <a:ext cx="6168789" cy="3085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Associated code = </a:t>
            </a:r>
            <a:r>
              <a:rPr kumimoji="1" lang="en-NZ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Tutorial 4 – Q4</a:t>
            </a:r>
            <a:endParaRPr kumimoji="1" lang="en-US" altLang="ja-JP" sz="12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245797E-202F-AF90-77B7-C9D415A4F258}"/>
              </a:ext>
            </a:extLst>
          </p:cNvPr>
          <p:cNvSpPr txBox="1">
            <a:spLocks/>
          </p:cNvSpPr>
          <p:nvPr/>
        </p:nvSpPr>
        <p:spPr>
          <a:xfrm>
            <a:off x="9444251" y="86139"/>
            <a:ext cx="2645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Question 4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9" name="Title 6">
            <a:extLst>
              <a:ext uri="{FF2B5EF4-FFF2-40B4-BE49-F238E27FC236}">
                <a16:creationId xmlns:a16="http://schemas.microsoft.com/office/drawing/2014/main" id="{9149BE9C-BCA5-F542-8B1D-0152311D0178}"/>
              </a:ext>
            </a:extLst>
          </p:cNvPr>
          <p:cNvSpPr txBox="1">
            <a:spLocks/>
          </p:cNvSpPr>
          <p:nvPr/>
        </p:nvSpPr>
        <p:spPr>
          <a:xfrm>
            <a:off x="319464" y="196889"/>
            <a:ext cx="2819522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Question 4: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15333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3" grpId="0"/>
      <p:bldP spid="1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DB4DF52B-B9A7-2F0E-2634-6227C5849F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153" y="1835029"/>
            <a:ext cx="7185925" cy="4656898"/>
          </a:xfrm>
          <a:prstGeom prst="rect">
            <a:avLst/>
          </a:prstGeom>
        </p:spPr>
      </p:pic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Placeholder 5">
                <a:extLst>
                  <a:ext uri="{FF2B5EF4-FFF2-40B4-BE49-F238E27FC236}">
                    <a16:creationId xmlns:a16="http://schemas.microsoft.com/office/drawing/2014/main" id="{897529DF-3A30-E266-5A63-993F856A220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59559" y="843560"/>
                <a:ext cx="10858658" cy="479800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lnSpc>
                    <a:spcPct val="100000"/>
                  </a:lnSpc>
                  <a:buFont typeface="+mj-lt"/>
                  <a:buAutoNum type="alphaLcParenR" startAt="8"/>
                  <a:defRPr/>
                </a:pPr>
                <a:r>
                  <a:rPr lang="en-US" altLang="ja-JP" sz="1600" dirty="0">
                    <a:solidFill>
                      <a:srgbClr val="0070C0"/>
                    </a:solidFill>
                  </a:rPr>
                  <a:t>Create a program in R to investigate the </a:t>
                </a:r>
                <a:r>
                  <a:rPr lang="en-US" altLang="ja-JP" sz="1600" b="1" dirty="0">
                    <a:solidFill>
                      <a:srgbClr val="0070C0"/>
                    </a:solidFill>
                  </a:rPr>
                  <a:t>rate</a:t>
                </a:r>
                <a:r>
                  <a:rPr lang="en-US" altLang="ja-JP" sz="1600" dirty="0">
                    <a:solidFill>
                      <a:srgbClr val="0070C0"/>
                    </a:solidFill>
                  </a:rPr>
                  <a:t> at which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NZ" altLang="ja-JP" sz="16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NZ" altLang="ja-JP" sz="16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NZ" altLang="ja-JP" sz="16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ja-JP" sz="1600" dirty="0">
                    <a:solidFill>
                      <a:srgbClr val="0070C0"/>
                    </a:solidFill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NZ" altLang="ja-JP" sz="16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NZ" altLang="ja-JP" sz="16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NZ" altLang="ja-JP" sz="16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ja-JP" sz="1600" dirty="0">
                    <a:solidFill>
                      <a:srgbClr val="0070C0"/>
                    </a:solidFill>
                  </a:rPr>
                  <a:t> converge</a:t>
                </a:r>
              </a:p>
              <a:p>
                <a:pPr marL="342900" lvl="0" indent="-342900">
                  <a:lnSpc>
                    <a:spcPct val="100000"/>
                  </a:lnSpc>
                  <a:buFont typeface="+mj-lt"/>
                  <a:buAutoNum type="alphaLcParenR" startAt="8"/>
                  <a:defRPr/>
                </a:pPr>
                <a:endParaRPr lang="en-US" altLang="ja-JP" sz="1600" dirty="0">
                  <a:solidFill>
                    <a:schemeClr val="tx1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10" name="Text Placeholder 5">
                <a:extLst>
                  <a:ext uri="{FF2B5EF4-FFF2-40B4-BE49-F238E27FC236}">
                    <a16:creationId xmlns:a16="http://schemas.microsoft.com/office/drawing/2014/main" id="{897529DF-3A30-E266-5A63-993F856A22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559" y="843560"/>
                <a:ext cx="10858658" cy="479800"/>
              </a:xfrm>
              <a:prstGeom prst="rect">
                <a:avLst/>
              </a:prstGeom>
              <a:blipFill>
                <a:blip r:embed="rId4"/>
                <a:stretch>
                  <a:fillRect l="-337" t="-3797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Placeholder 5">
                <a:extLst>
                  <a:ext uri="{FF2B5EF4-FFF2-40B4-BE49-F238E27FC236}">
                    <a16:creationId xmlns:a16="http://schemas.microsoft.com/office/drawing/2014/main" id="{ADC23553-6A12-589F-CBCC-399896EFBE2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780460" y="1942531"/>
                <a:ext cx="3840070" cy="440983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just">
                  <a:lnSpc>
                    <a:spcPct val="100000"/>
                  </a:lnSpc>
                  <a:defRPr/>
                </a:pPr>
                <a:r>
                  <a:rPr lang="en-NZ" altLang="ja-JP" sz="16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The distance between two matrices can be measured by the </a:t>
                </a:r>
                <a:r>
                  <a:rPr lang="en-NZ" altLang="ja-JP" sz="1600" dirty="0" err="1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Frobenius</a:t>
                </a:r>
                <a:r>
                  <a:rPr lang="en-NZ" altLang="ja-JP" sz="16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norm </a:t>
                </a:r>
                <a:br>
                  <a:rPr lang="en-NZ" altLang="ja-JP" sz="16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</a:br>
                <a:r>
                  <a:rPr lang="en-NZ" altLang="ja-JP" sz="16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(see </a:t>
                </a:r>
                <a:r>
                  <a:rPr lang="en-NZ" altLang="ja-JP" sz="16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  <a:hlinkClick r:id="rId5"/>
                  </a:rPr>
                  <a:t>here</a:t>
                </a:r>
                <a:r>
                  <a:rPr lang="en-NZ" altLang="ja-JP" sz="16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for a definition of the </a:t>
                </a:r>
                <a:r>
                  <a:rPr lang="en-NZ" altLang="ja-JP" sz="1600" dirty="0" err="1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Frobenius</a:t>
                </a:r>
                <a:r>
                  <a:rPr lang="en-NZ" altLang="ja-JP" sz="16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norm).</a:t>
                </a:r>
              </a:p>
              <a:p>
                <a:pPr lvl="0" algn="just">
                  <a:lnSpc>
                    <a:spcPct val="100000"/>
                  </a:lnSpc>
                  <a:defRPr/>
                </a:pPr>
                <a:br>
                  <a:rPr lang="en-NZ" altLang="ja-JP" sz="16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</a:br>
                <a:r>
                  <a:rPr lang="en-NZ" altLang="ja-JP" sz="16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In Section 2 of the code, we calculate the distance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NZ" altLang="ja-JP" sz="1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NZ" altLang="ja-JP" sz="16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</m:ctrlPr>
                              </m:sSupPr>
                              <m:e>
                                <m:r>
                                  <a:rPr lang="en-NZ" altLang="ja-JP" sz="16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𝑷</m:t>
                                </m:r>
                              </m:e>
                              <m:sup>
                                <m:r>
                                  <a:rPr lang="en-NZ" altLang="ja-JP" sz="16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𝒏</m:t>
                                </m:r>
                              </m:sup>
                            </m:sSup>
                            <m:r>
                              <a:rPr lang="en-NZ" altLang="ja-JP" sz="1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 −</m:t>
                            </m:r>
                            <m:r>
                              <a:rPr lang="en-NZ" altLang="ja-JP" sz="1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𝑿</m:t>
                            </m:r>
                          </m:e>
                        </m:d>
                      </m:e>
                      <m:sub>
                        <m:r>
                          <a:rPr lang="en-NZ" altLang="ja-JP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𝑭</m:t>
                        </m:r>
                      </m:sub>
                    </m:sSub>
                  </m:oMath>
                </a14:m>
                <a:r>
                  <a:rPr lang="en-US" altLang="ja-JP" sz="16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16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NZ" altLang="ja-JP" sz="16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NZ" altLang="ja-JP" sz="16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NZ" altLang="ja-JP" sz="16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𝑸</m:t>
                                </m:r>
                              </m:e>
                              <m:sup>
                                <m:r>
                                  <a:rPr lang="en-NZ" altLang="ja-JP" sz="16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sup>
                            </m:sSup>
                            <m:r>
                              <a:rPr lang="en-NZ" altLang="ja-JP" sz="16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r>
                              <a:rPr lang="en-NZ" altLang="ja-JP" sz="16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d>
                      </m:e>
                      <m:sub>
                        <m:r>
                          <a:rPr lang="en-NZ" altLang="ja-JP" sz="16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</m:sub>
                    </m:sSub>
                  </m:oMath>
                </a14:m>
                <a:r>
                  <a:rPr lang="en-US" altLang="ja-JP" sz="16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for all </a:t>
                </a:r>
                <a14:m>
                  <m:oMath xmlns:m="http://schemas.openxmlformats.org/officeDocument/2006/math">
                    <m:r>
                      <a:rPr lang="en-NZ" altLang="ja-JP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𝑛</m:t>
                    </m:r>
                    <m:r>
                      <a:rPr lang="en-NZ" altLang="ja-JP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=1, …, 100</m:t>
                    </m:r>
                  </m:oMath>
                </a14:m>
                <a:r>
                  <a:rPr lang="en-US" altLang="ja-JP" sz="16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.</a:t>
                </a:r>
                <a:br>
                  <a:rPr lang="en-US" altLang="ja-JP" sz="16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</a:br>
                <a:br>
                  <a:rPr lang="en-US" altLang="ja-JP" sz="16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</a:br>
                <a:r>
                  <a:rPr lang="en-US" altLang="ja-JP" sz="16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This information is shown in the adjacent graph. We see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NZ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sSupPr>
                      <m:e>
                        <m:r>
                          <a:rPr lang="en-NZ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𝑄</m:t>
                        </m:r>
                      </m:e>
                      <m:sup>
                        <m:r>
                          <a:rPr lang="en-NZ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𝑛</m:t>
                        </m:r>
                      </m:sup>
                    </m:sSup>
                    <m:r>
                      <a:rPr lang="en-NZ" altLang="ja-JP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→</m:t>
                    </m:r>
                    <m:r>
                      <a:rPr lang="en-NZ" altLang="ja-JP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𝑋</m:t>
                    </m:r>
                  </m:oMath>
                </a14:m>
                <a:r>
                  <a:rPr lang="en-US" altLang="ja-JP" sz="16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much quicker than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NZ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sSupPr>
                      <m:e>
                        <m:r>
                          <a:rPr lang="en-NZ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𝑃</m:t>
                        </m:r>
                      </m:e>
                      <m:sup>
                        <m:r>
                          <a:rPr lang="en-NZ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𝑛</m:t>
                        </m:r>
                      </m:sup>
                    </m:sSup>
                    <m:r>
                      <a:rPr lang="en-NZ" altLang="ja-JP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→</m:t>
                    </m:r>
                    <m:r>
                      <a:rPr lang="en-NZ" altLang="ja-JP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𝑋</m:t>
                    </m:r>
                  </m:oMath>
                </a14:m>
                <a:r>
                  <a:rPr lang="en-US" altLang="ja-JP" sz="16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.</a:t>
                </a:r>
              </a:p>
              <a:p>
                <a:pPr lvl="0" algn="just">
                  <a:lnSpc>
                    <a:spcPct val="100000"/>
                  </a:lnSpc>
                  <a:defRPr/>
                </a:pPr>
                <a:endParaRPr lang="en-US" altLang="ja-JP" sz="1600" dirty="0">
                  <a:solidFill>
                    <a:schemeClr val="tx1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lvl="0" algn="just">
                  <a:lnSpc>
                    <a:spcPct val="100000"/>
                  </a:lnSpc>
                  <a:defRPr/>
                </a:pPr>
                <a:r>
                  <a:rPr lang="en-US" altLang="ja-JP" sz="16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As an aside, the rate of convergence is entirely determined by the eigenvalues of the matrices in this instance.</a:t>
                </a:r>
              </a:p>
            </p:txBody>
          </p:sp>
        </mc:Choice>
        <mc:Fallback xmlns="">
          <p:sp>
            <p:nvSpPr>
              <p:cNvPr id="11" name="Text Placeholder 5">
                <a:extLst>
                  <a:ext uri="{FF2B5EF4-FFF2-40B4-BE49-F238E27FC236}">
                    <a16:creationId xmlns:a16="http://schemas.microsoft.com/office/drawing/2014/main" id="{ADC23553-6A12-589F-CBCC-399896EFBE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0460" y="1942531"/>
                <a:ext cx="3840070" cy="4409835"/>
              </a:xfrm>
              <a:prstGeom prst="rect">
                <a:avLst/>
              </a:prstGeom>
              <a:blipFill>
                <a:blip r:embed="rId6"/>
                <a:stretch>
                  <a:fillRect l="-794" t="-415" r="-952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B57160FA-C189-3BA0-CB0E-4B9D1BD678BF}"/>
              </a:ext>
            </a:extLst>
          </p:cNvPr>
          <p:cNvSpPr txBox="1">
            <a:spLocks/>
          </p:cNvSpPr>
          <p:nvPr/>
        </p:nvSpPr>
        <p:spPr>
          <a:xfrm>
            <a:off x="903816" y="1152259"/>
            <a:ext cx="2786835" cy="3085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See Section 2 of the code</a:t>
            </a:r>
            <a:endParaRPr kumimoji="1" lang="en-US" altLang="ja-JP" sz="14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16817A5C-B3A7-92E9-10EC-C3DBB4E1FC59}"/>
              </a:ext>
            </a:extLst>
          </p:cNvPr>
          <p:cNvSpPr txBox="1">
            <a:spLocks/>
          </p:cNvSpPr>
          <p:nvPr/>
        </p:nvSpPr>
        <p:spPr>
          <a:xfrm>
            <a:off x="964162" y="1596497"/>
            <a:ext cx="5900661" cy="3460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ja-JP" sz="1400" b="1" dirty="0">
                <a:solidFill>
                  <a:schemeClr val="tx1"/>
                </a:solidFill>
                <a:latin typeface="Calibri" panose="020F0502020204030204"/>
                <a:ea typeface="游ゴシック" panose="020B0400000000000000" pitchFamily="34" charset="-128"/>
              </a:rPr>
              <a:t>Rate of Convergence to Limiting Distribution in the </a:t>
            </a:r>
            <a:r>
              <a:rPr lang="en-US" altLang="ja-JP" sz="1400" b="1" dirty="0" err="1">
                <a:solidFill>
                  <a:schemeClr val="tx1"/>
                </a:solidFill>
                <a:latin typeface="Calibri" panose="020F0502020204030204"/>
                <a:ea typeface="游ゴシック" panose="020B0400000000000000" pitchFamily="34" charset="-128"/>
              </a:rPr>
              <a:t>Frobenius</a:t>
            </a:r>
            <a:r>
              <a:rPr lang="en-US" altLang="ja-JP" sz="1400" b="1" dirty="0">
                <a:solidFill>
                  <a:schemeClr val="tx1"/>
                </a:solidFill>
                <a:latin typeface="Calibri" panose="020F0502020204030204"/>
                <a:ea typeface="游ゴシック" panose="020B0400000000000000" pitchFamily="34" charset="-128"/>
              </a:rPr>
              <a:t> Norm</a:t>
            </a:r>
            <a:endParaRPr kumimoji="1" lang="en-US" altLang="ja-JP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71387C57-611F-A589-699C-32D356F54016}"/>
              </a:ext>
            </a:extLst>
          </p:cNvPr>
          <p:cNvSpPr txBox="1">
            <a:spLocks/>
          </p:cNvSpPr>
          <p:nvPr/>
        </p:nvSpPr>
        <p:spPr>
          <a:xfrm>
            <a:off x="3011606" y="6551432"/>
            <a:ext cx="6168789" cy="3085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Associated code = </a:t>
            </a:r>
            <a:r>
              <a:rPr kumimoji="1" lang="en-NZ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Tutorial 4 – Q4</a:t>
            </a:r>
            <a:endParaRPr kumimoji="1" lang="en-US" altLang="ja-JP" sz="12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4EF30ED6-04D3-10B9-1042-32D0044558D3}"/>
              </a:ext>
            </a:extLst>
          </p:cNvPr>
          <p:cNvSpPr txBox="1">
            <a:spLocks/>
          </p:cNvSpPr>
          <p:nvPr/>
        </p:nvSpPr>
        <p:spPr>
          <a:xfrm>
            <a:off x="9444251" y="86139"/>
            <a:ext cx="2645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Question 4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8" name="Title 6">
            <a:extLst>
              <a:ext uri="{FF2B5EF4-FFF2-40B4-BE49-F238E27FC236}">
                <a16:creationId xmlns:a16="http://schemas.microsoft.com/office/drawing/2014/main" id="{65F955ED-899B-A5D0-3C82-2C6D0747E3E3}"/>
              </a:ext>
            </a:extLst>
          </p:cNvPr>
          <p:cNvSpPr txBox="1">
            <a:spLocks/>
          </p:cNvSpPr>
          <p:nvPr/>
        </p:nvSpPr>
        <p:spPr>
          <a:xfrm>
            <a:off x="319464" y="196889"/>
            <a:ext cx="2819522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Question 4: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7812E756-E7CB-82EB-1B8C-2E1020B668A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523853" y="4812217"/>
                <a:ext cx="1144291" cy="38978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just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NZ" altLang="ja-JP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NZ" altLang="ja-JP" sz="1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NZ" altLang="ja-JP" sz="12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游ゴシック" panose="020B0400000000000000" pitchFamily="34" charset="-128"/>
                                    </a:rPr>
                                  </m:ctrlPr>
                                </m:sSupPr>
                                <m:e>
                                  <m:r>
                                    <a:rPr lang="en-NZ" altLang="ja-JP" sz="12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游ゴシック" panose="020B0400000000000000" pitchFamily="34" charset="-128"/>
                                    </a:rPr>
                                    <m:t>𝑷</m:t>
                                  </m:r>
                                </m:e>
                                <m:sup>
                                  <m:r>
                                    <a:rPr lang="en-NZ" altLang="ja-JP" sz="12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游ゴシック" panose="020B0400000000000000" pitchFamily="34" charset="-128"/>
                                    </a:rPr>
                                    <m:t>𝒏</m:t>
                                  </m:r>
                                </m:sup>
                              </m:sSup>
                              <m:r>
                                <a:rPr lang="en-NZ" altLang="ja-JP" sz="1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  <m:t> −</m:t>
                              </m:r>
                              <m:r>
                                <a:rPr lang="en-NZ" altLang="ja-JP" sz="1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  <m:t>𝑿</m:t>
                              </m:r>
                            </m:e>
                          </m:d>
                        </m:e>
                        <m:sub>
                          <m:r>
                            <a:rPr lang="en-NZ" altLang="ja-JP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𝑭</m:t>
                          </m:r>
                        </m:sub>
                      </m:sSub>
                    </m:oMath>
                  </m:oMathPara>
                </a14:m>
                <a:br>
                  <a:rPr lang="en-US" altLang="ja-JP" sz="12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</a:br>
                <a:endParaRPr lang="en-US" altLang="ja-JP" sz="1200" dirty="0">
                  <a:solidFill>
                    <a:schemeClr val="tx1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7812E756-E7CB-82EB-1B8C-2E1020B668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3853" y="4812217"/>
                <a:ext cx="1144291" cy="38978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Placeholder 5">
                <a:extLst>
                  <a:ext uri="{FF2B5EF4-FFF2-40B4-BE49-F238E27FC236}">
                    <a16:creationId xmlns:a16="http://schemas.microsoft.com/office/drawing/2014/main" id="{1CF04634-D11D-5743-3E27-D9441CD2458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582303" y="5261503"/>
                <a:ext cx="1027393" cy="38978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just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NZ" altLang="ja-JP" sz="12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NZ" altLang="ja-JP" sz="12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NZ" altLang="ja-JP" sz="12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NZ" altLang="ja-JP" sz="12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  <m:sup>
                                  <m:r>
                                    <a:rPr lang="en-NZ" altLang="ja-JP" sz="12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p>
                              </m:sSup>
                              <m:r>
                                <a:rPr lang="en-NZ" altLang="ja-JP" sz="12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en-NZ" altLang="ja-JP" sz="12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b>
                          <m:r>
                            <a:rPr lang="en-NZ" altLang="ja-JP" sz="12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sub>
                      </m:sSub>
                    </m:oMath>
                  </m:oMathPara>
                </a14:m>
                <a:br>
                  <a:rPr lang="en-US" altLang="ja-JP" sz="1200" dirty="0">
                    <a:solidFill>
                      <a:srgbClr val="C0000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</a:br>
                <a:endParaRPr lang="en-US" altLang="ja-JP" sz="1200" dirty="0">
                  <a:solidFill>
                    <a:srgbClr val="C00000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>
          <p:sp>
            <p:nvSpPr>
              <p:cNvPr id="9" name="Text Placeholder 5">
                <a:extLst>
                  <a:ext uri="{FF2B5EF4-FFF2-40B4-BE49-F238E27FC236}">
                    <a16:creationId xmlns:a16="http://schemas.microsoft.com/office/drawing/2014/main" id="{1CF04634-D11D-5743-3E27-D9441CD245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2303" y="5261503"/>
                <a:ext cx="1027393" cy="38978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7444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" grpId="0"/>
      <p:bldP spid="16" grpId="0"/>
      <p:bldP spid="6" grpId="0"/>
      <p:bldP spid="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5362</TotalTime>
  <Words>2959</Words>
  <Application>Microsoft Office PowerPoint</Application>
  <PresentationFormat>Widescreen</PresentationFormat>
  <Paragraphs>447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Calibri Light</vt:lpstr>
      <vt:lpstr>Cambria Math</vt:lpstr>
      <vt:lpstr>Coo Hew</vt:lpstr>
      <vt:lpstr>Gidole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Adam Ward</dc:creator>
  <cp:lastModifiedBy>Adam Ward</cp:lastModifiedBy>
  <cp:revision>122</cp:revision>
  <dcterms:created xsi:type="dcterms:W3CDTF">2022-02-19T23:15:01Z</dcterms:created>
  <dcterms:modified xsi:type="dcterms:W3CDTF">2022-10-02T03:28:00Z</dcterms:modified>
</cp:coreProperties>
</file>