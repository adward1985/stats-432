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89" r:id="rId4"/>
    <p:sldId id="290" r:id="rId5"/>
    <p:sldId id="260" r:id="rId6"/>
    <p:sldId id="291" r:id="rId7"/>
    <p:sldId id="320" r:id="rId8"/>
    <p:sldId id="302" r:id="rId9"/>
    <p:sldId id="303" r:id="rId10"/>
    <p:sldId id="261" r:id="rId11"/>
    <p:sldId id="304" r:id="rId12"/>
    <p:sldId id="305" r:id="rId13"/>
    <p:sldId id="306" r:id="rId14"/>
    <p:sldId id="307" r:id="rId15"/>
    <p:sldId id="262" r:id="rId16"/>
    <p:sldId id="308" r:id="rId17"/>
    <p:sldId id="311" r:id="rId18"/>
    <p:sldId id="312" r:id="rId19"/>
    <p:sldId id="321" r:id="rId20"/>
    <p:sldId id="313" r:id="rId21"/>
    <p:sldId id="314" r:id="rId22"/>
    <p:sldId id="315" r:id="rId23"/>
    <p:sldId id="263" r:id="rId24"/>
    <p:sldId id="316" r:id="rId25"/>
    <p:sldId id="317" r:id="rId26"/>
    <p:sldId id="318" r:id="rId27"/>
    <p:sldId id="319" r:id="rId28"/>
    <p:sldId id="322"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CC"/>
    <a:srgbClr val="FFFFFF"/>
    <a:srgbClr val="FF0105"/>
    <a:srgbClr val="6E4533"/>
    <a:srgbClr val="01F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7" d="100"/>
          <a:sy n="87" d="100"/>
        </p:scale>
        <p:origin x="696" y="6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21A16-44FB-4423-894A-F66A1F39DC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Z"/>
          </a:p>
        </p:txBody>
      </p:sp>
      <p:sp>
        <p:nvSpPr>
          <p:cNvPr id="3" name="Subtitle 2">
            <a:extLst>
              <a:ext uri="{FF2B5EF4-FFF2-40B4-BE49-F238E27FC236}">
                <a16:creationId xmlns:a16="http://schemas.microsoft.com/office/drawing/2014/main" id="{15868836-2772-4BCF-B2F3-6D0007902A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a:extLst>
              <a:ext uri="{FF2B5EF4-FFF2-40B4-BE49-F238E27FC236}">
                <a16:creationId xmlns:a16="http://schemas.microsoft.com/office/drawing/2014/main" id="{C5CBB549-3BF8-4B43-83D7-A7544EFC06F4}"/>
              </a:ext>
            </a:extLst>
          </p:cNvPr>
          <p:cNvSpPr>
            <a:spLocks noGrp="1"/>
          </p:cNvSpPr>
          <p:nvPr>
            <p:ph type="dt" sz="half" idx="10"/>
          </p:nvPr>
        </p:nvSpPr>
        <p:spPr/>
        <p:txBody>
          <a:bodyPr/>
          <a:lstStyle/>
          <a:p>
            <a:fld id="{A47F9836-DD01-4C5E-BB86-EF1CDD695ABF}" type="datetimeFigureOut">
              <a:rPr lang="en-NZ" smtClean="0"/>
              <a:t>11/10/2022</a:t>
            </a:fld>
            <a:endParaRPr lang="en-NZ"/>
          </a:p>
        </p:txBody>
      </p:sp>
      <p:sp>
        <p:nvSpPr>
          <p:cNvPr id="5" name="Footer Placeholder 4">
            <a:extLst>
              <a:ext uri="{FF2B5EF4-FFF2-40B4-BE49-F238E27FC236}">
                <a16:creationId xmlns:a16="http://schemas.microsoft.com/office/drawing/2014/main" id="{BAB9ACFA-3449-402B-AB48-83D0FE53C7A2}"/>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DE01E530-1937-4B19-AD36-0B260D529F53}"/>
              </a:ext>
            </a:extLst>
          </p:cNvPr>
          <p:cNvSpPr>
            <a:spLocks noGrp="1"/>
          </p:cNvSpPr>
          <p:nvPr>
            <p:ph type="sldNum" sz="quarter" idx="12"/>
          </p:nvPr>
        </p:nvSpPr>
        <p:spPr/>
        <p:txBody>
          <a:bodyPr/>
          <a:lstStyle/>
          <a:p>
            <a:fld id="{FF340C3D-D086-448E-A2CD-10F99288F595}" type="slidenum">
              <a:rPr lang="en-NZ" smtClean="0"/>
              <a:t>‹#›</a:t>
            </a:fld>
            <a:endParaRPr lang="en-NZ"/>
          </a:p>
        </p:txBody>
      </p:sp>
    </p:spTree>
    <p:extLst>
      <p:ext uri="{BB962C8B-B14F-4D97-AF65-F5344CB8AC3E}">
        <p14:creationId xmlns:p14="http://schemas.microsoft.com/office/powerpoint/2010/main" val="4162230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C1495-9256-4788-A586-98934E6DF652}"/>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9FED8D8A-B70D-45C3-A46E-F4819ECDA3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9D2DE2A9-4A84-4F08-BE72-7CFC244592A1}"/>
              </a:ext>
            </a:extLst>
          </p:cNvPr>
          <p:cNvSpPr>
            <a:spLocks noGrp="1"/>
          </p:cNvSpPr>
          <p:nvPr>
            <p:ph type="dt" sz="half" idx="10"/>
          </p:nvPr>
        </p:nvSpPr>
        <p:spPr/>
        <p:txBody>
          <a:bodyPr/>
          <a:lstStyle/>
          <a:p>
            <a:fld id="{A47F9836-DD01-4C5E-BB86-EF1CDD695ABF}" type="datetimeFigureOut">
              <a:rPr lang="en-NZ" smtClean="0"/>
              <a:t>11/10/2022</a:t>
            </a:fld>
            <a:endParaRPr lang="en-NZ"/>
          </a:p>
        </p:txBody>
      </p:sp>
      <p:sp>
        <p:nvSpPr>
          <p:cNvPr id="5" name="Footer Placeholder 4">
            <a:extLst>
              <a:ext uri="{FF2B5EF4-FFF2-40B4-BE49-F238E27FC236}">
                <a16:creationId xmlns:a16="http://schemas.microsoft.com/office/drawing/2014/main" id="{EC8E06DA-9DC8-4793-BC47-9C689E603688}"/>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02251BCE-B2CA-4F24-8780-55BB6A071729}"/>
              </a:ext>
            </a:extLst>
          </p:cNvPr>
          <p:cNvSpPr>
            <a:spLocks noGrp="1"/>
          </p:cNvSpPr>
          <p:nvPr>
            <p:ph type="sldNum" sz="quarter" idx="12"/>
          </p:nvPr>
        </p:nvSpPr>
        <p:spPr/>
        <p:txBody>
          <a:bodyPr/>
          <a:lstStyle/>
          <a:p>
            <a:fld id="{FF340C3D-D086-448E-A2CD-10F99288F595}" type="slidenum">
              <a:rPr lang="en-NZ" smtClean="0"/>
              <a:t>‹#›</a:t>
            </a:fld>
            <a:endParaRPr lang="en-NZ"/>
          </a:p>
        </p:txBody>
      </p:sp>
    </p:spTree>
    <p:extLst>
      <p:ext uri="{BB962C8B-B14F-4D97-AF65-F5344CB8AC3E}">
        <p14:creationId xmlns:p14="http://schemas.microsoft.com/office/powerpoint/2010/main" val="2009154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B2A08-3B88-4201-A3D1-6BDC9B8F9E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Z"/>
          </a:p>
        </p:txBody>
      </p:sp>
      <p:sp>
        <p:nvSpPr>
          <p:cNvPr id="3" name="Text Placeholder 2">
            <a:extLst>
              <a:ext uri="{FF2B5EF4-FFF2-40B4-BE49-F238E27FC236}">
                <a16:creationId xmlns:a16="http://schemas.microsoft.com/office/drawing/2014/main" id="{DCB3EE32-094D-4B31-AB95-191417A3BBF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DB8DA0-D663-4E24-934F-6135F730A9B1}"/>
              </a:ext>
            </a:extLst>
          </p:cNvPr>
          <p:cNvSpPr>
            <a:spLocks noGrp="1"/>
          </p:cNvSpPr>
          <p:nvPr>
            <p:ph type="dt" sz="half" idx="10"/>
          </p:nvPr>
        </p:nvSpPr>
        <p:spPr/>
        <p:txBody>
          <a:bodyPr/>
          <a:lstStyle/>
          <a:p>
            <a:fld id="{A47F9836-DD01-4C5E-BB86-EF1CDD695ABF}" type="datetimeFigureOut">
              <a:rPr lang="en-NZ" smtClean="0"/>
              <a:t>11/10/2022</a:t>
            </a:fld>
            <a:endParaRPr lang="en-NZ"/>
          </a:p>
        </p:txBody>
      </p:sp>
      <p:sp>
        <p:nvSpPr>
          <p:cNvPr id="5" name="Footer Placeholder 4">
            <a:extLst>
              <a:ext uri="{FF2B5EF4-FFF2-40B4-BE49-F238E27FC236}">
                <a16:creationId xmlns:a16="http://schemas.microsoft.com/office/drawing/2014/main" id="{BCB110B4-D817-40F8-9F21-BDE0D4509FD1}"/>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888697CB-226F-42BF-BBF2-F2F2C24828CE}"/>
              </a:ext>
            </a:extLst>
          </p:cNvPr>
          <p:cNvSpPr>
            <a:spLocks noGrp="1"/>
          </p:cNvSpPr>
          <p:nvPr>
            <p:ph type="sldNum" sz="quarter" idx="12"/>
          </p:nvPr>
        </p:nvSpPr>
        <p:spPr/>
        <p:txBody>
          <a:bodyPr/>
          <a:lstStyle/>
          <a:p>
            <a:fld id="{FF340C3D-D086-448E-A2CD-10F99288F595}" type="slidenum">
              <a:rPr lang="en-NZ" smtClean="0"/>
              <a:t>‹#›</a:t>
            </a:fld>
            <a:endParaRPr lang="en-NZ"/>
          </a:p>
        </p:txBody>
      </p:sp>
    </p:spTree>
    <p:extLst>
      <p:ext uri="{BB962C8B-B14F-4D97-AF65-F5344CB8AC3E}">
        <p14:creationId xmlns:p14="http://schemas.microsoft.com/office/powerpoint/2010/main" val="1479372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99C63-7A77-498E-83BB-825A373EA537}"/>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D4EC12B1-6869-455D-B787-B9A417FBE9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a:extLst>
              <a:ext uri="{FF2B5EF4-FFF2-40B4-BE49-F238E27FC236}">
                <a16:creationId xmlns:a16="http://schemas.microsoft.com/office/drawing/2014/main" id="{EFCE1666-C8DA-4597-BDE5-B7019BC51D1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a:extLst>
              <a:ext uri="{FF2B5EF4-FFF2-40B4-BE49-F238E27FC236}">
                <a16:creationId xmlns:a16="http://schemas.microsoft.com/office/drawing/2014/main" id="{FFCAA25C-BDB9-464D-BCCE-032B748CAEC1}"/>
              </a:ext>
            </a:extLst>
          </p:cNvPr>
          <p:cNvSpPr>
            <a:spLocks noGrp="1"/>
          </p:cNvSpPr>
          <p:nvPr>
            <p:ph type="dt" sz="half" idx="10"/>
          </p:nvPr>
        </p:nvSpPr>
        <p:spPr/>
        <p:txBody>
          <a:bodyPr/>
          <a:lstStyle/>
          <a:p>
            <a:fld id="{A47F9836-DD01-4C5E-BB86-EF1CDD695ABF}" type="datetimeFigureOut">
              <a:rPr lang="en-NZ" smtClean="0"/>
              <a:t>11/10/2022</a:t>
            </a:fld>
            <a:endParaRPr lang="en-NZ"/>
          </a:p>
        </p:txBody>
      </p:sp>
      <p:sp>
        <p:nvSpPr>
          <p:cNvPr id="6" name="Footer Placeholder 5">
            <a:extLst>
              <a:ext uri="{FF2B5EF4-FFF2-40B4-BE49-F238E27FC236}">
                <a16:creationId xmlns:a16="http://schemas.microsoft.com/office/drawing/2014/main" id="{2EB5FDBB-FFA2-493D-86F4-657D5C358C58}"/>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EEB004DC-5B76-4F8B-A55D-41FFFB1EDE0E}"/>
              </a:ext>
            </a:extLst>
          </p:cNvPr>
          <p:cNvSpPr>
            <a:spLocks noGrp="1"/>
          </p:cNvSpPr>
          <p:nvPr>
            <p:ph type="sldNum" sz="quarter" idx="12"/>
          </p:nvPr>
        </p:nvSpPr>
        <p:spPr/>
        <p:txBody>
          <a:bodyPr/>
          <a:lstStyle/>
          <a:p>
            <a:fld id="{FF340C3D-D086-448E-A2CD-10F99288F595}" type="slidenum">
              <a:rPr lang="en-NZ" smtClean="0"/>
              <a:t>‹#›</a:t>
            </a:fld>
            <a:endParaRPr lang="en-NZ"/>
          </a:p>
        </p:txBody>
      </p:sp>
    </p:spTree>
    <p:extLst>
      <p:ext uri="{BB962C8B-B14F-4D97-AF65-F5344CB8AC3E}">
        <p14:creationId xmlns:p14="http://schemas.microsoft.com/office/powerpoint/2010/main" val="7286213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7E6D5-DB99-4AE1-9B94-500558DC84DF}"/>
              </a:ext>
            </a:extLst>
          </p:cNvPr>
          <p:cNvSpPr>
            <a:spLocks noGrp="1"/>
          </p:cNvSpPr>
          <p:nvPr>
            <p:ph type="title"/>
          </p:nvPr>
        </p:nvSpPr>
        <p:spPr>
          <a:xfrm>
            <a:off x="839788" y="365125"/>
            <a:ext cx="10515600" cy="1325563"/>
          </a:xfrm>
        </p:spPr>
        <p:txBody>
          <a:bodyPr/>
          <a:lstStyle/>
          <a:p>
            <a:r>
              <a:rPr lang="en-US"/>
              <a:t>Click to edit Master title style</a:t>
            </a:r>
            <a:endParaRPr lang="en-NZ"/>
          </a:p>
        </p:txBody>
      </p:sp>
      <p:sp>
        <p:nvSpPr>
          <p:cNvPr id="3" name="Text Placeholder 2">
            <a:extLst>
              <a:ext uri="{FF2B5EF4-FFF2-40B4-BE49-F238E27FC236}">
                <a16:creationId xmlns:a16="http://schemas.microsoft.com/office/drawing/2014/main" id="{C11516ED-4595-49FA-97B6-10F46A7F65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281667B-4C84-47E0-BA33-4050C747E50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a:extLst>
              <a:ext uri="{FF2B5EF4-FFF2-40B4-BE49-F238E27FC236}">
                <a16:creationId xmlns:a16="http://schemas.microsoft.com/office/drawing/2014/main" id="{F3D72F7C-B609-447E-B775-8D87D1CEAB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4D23A4-8485-45CF-80C2-800C912BB04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Date Placeholder 6">
            <a:extLst>
              <a:ext uri="{FF2B5EF4-FFF2-40B4-BE49-F238E27FC236}">
                <a16:creationId xmlns:a16="http://schemas.microsoft.com/office/drawing/2014/main" id="{B2E570F9-574F-475C-A83C-715DA13E30CC}"/>
              </a:ext>
            </a:extLst>
          </p:cNvPr>
          <p:cNvSpPr>
            <a:spLocks noGrp="1"/>
          </p:cNvSpPr>
          <p:nvPr>
            <p:ph type="dt" sz="half" idx="10"/>
          </p:nvPr>
        </p:nvSpPr>
        <p:spPr/>
        <p:txBody>
          <a:bodyPr/>
          <a:lstStyle/>
          <a:p>
            <a:fld id="{A47F9836-DD01-4C5E-BB86-EF1CDD695ABF}" type="datetimeFigureOut">
              <a:rPr lang="en-NZ" smtClean="0"/>
              <a:t>11/10/2022</a:t>
            </a:fld>
            <a:endParaRPr lang="en-NZ"/>
          </a:p>
        </p:txBody>
      </p:sp>
      <p:sp>
        <p:nvSpPr>
          <p:cNvPr id="8" name="Footer Placeholder 7">
            <a:extLst>
              <a:ext uri="{FF2B5EF4-FFF2-40B4-BE49-F238E27FC236}">
                <a16:creationId xmlns:a16="http://schemas.microsoft.com/office/drawing/2014/main" id="{CC21E06B-E77C-4A2E-9328-56FEFC5C0D9E}"/>
              </a:ext>
            </a:extLst>
          </p:cNvPr>
          <p:cNvSpPr>
            <a:spLocks noGrp="1"/>
          </p:cNvSpPr>
          <p:nvPr>
            <p:ph type="ftr" sz="quarter" idx="11"/>
          </p:nvPr>
        </p:nvSpPr>
        <p:spPr/>
        <p:txBody>
          <a:bodyPr/>
          <a:lstStyle/>
          <a:p>
            <a:endParaRPr lang="en-NZ"/>
          </a:p>
        </p:txBody>
      </p:sp>
      <p:sp>
        <p:nvSpPr>
          <p:cNvPr id="9" name="Slide Number Placeholder 8">
            <a:extLst>
              <a:ext uri="{FF2B5EF4-FFF2-40B4-BE49-F238E27FC236}">
                <a16:creationId xmlns:a16="http://schemas.microsoft.com/office/drawing/2014/main" id="{DC92289E-8469-4B44-8EA8-40453D61F2E8}"/>
              </a:ext>
            </a:extLst>
          </p:cNvPr>
          <p:cNvSpPr>
            <a:spLocks noGrp="1"/>
          </p:cNvSpPr>
          <p:nvPr>
            <p:ph type="sldNum" sz="quarter" idx="12"/>
          </p:nvPr>
        </p:nvSpPr>
        <p:spPr/>
        <p:txBody>
          <a:bodyPr/>
          <a:lstStyle/>
          <a:p>
            <a:fld id="{FF340C3D-D086-448E-A2CD-10F99288F595}" type="slidenum">
              <a:rPr lang="en-NZ" smtClean="0"/>
              <a:t>‹#›</a:t>
            </a:fld>
            <a:endParaRPr lang="en-NZ"/>
          </a:p>
        </p:txBody>
      </p:sp>
    </p:spTree>
    <p:extLst>
      <p:ext uri="{BB962C8B-B14F-4D97-AF65-F5344CB8AC3E}">
        <p14:creationId xmlns:p14="http://schemas.microsoft.com/office/powerpoint/2010/main" val="35520068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70214-BC12-4637-91FD-ABEFFFDEA59D}"/>
              </a:ext>
            </a:extLst>
          </p:cNvPr>
          <p:cNvSpPr>
            <a:spLocks noGrp="1"/>
          </p:cNvSpPr>
          <p:nvPr>
            <p:ph type="title"/>
          </p:nvPr>
        </p:nvSpPr>
        <p:spPr/>
        <p:txBody>
          <a:bodyPr/>
          <a:lstStyle/>
          <a:p>
            <a:r>
              <a:rPr lang="en-US"/>
              <a:t>Click to edit Master title style</a:t>
            </a:r>
            <a:endParaRPr lang="en-NZ"/>
          </a:p>
        </p:txBody>
      </p:sp>
      <p:sp>
        <p:nvSpPr>
          <p:cNvPr id="3" name="Date Placeholder 2">
            <a:extLst>
              <a:ext uri="{FF2B5EF4-FFF2-40B4-BE49-F238E27FC236}">
                <a16:creationId xmlns:a16="http://schemas.microsoft.com/office/drawing/2014/main" id="{EAB8C60F-7763-4B64-80D0-B86E318F6DCB}"/>
              </a:ext>
            </a:extLst>
          </p:cNvPr>
          <p:cNvSpPr>
            <a:spLocks noGrp="1"/>
          </p:cNvSpPr>
          <p:nvPr>
            <p:ph type="dt" sz="half" idx="10"/>
          </p:nvPr>
        </p:nvSpPr>
        <p:spPr/>
        <p:txBody>
          <a:bodyPr/>
          <a:lstStyle/>
          <a:p>
            <a:fld id="{A47F9836-DD01-4C5E-BB86-EF1CDD695ABF}" type="datetimeFigureOut">
              <a:rPr lang="en-NZ" smtClean="0"/>
              <a:t>11/10/2022</a:t>
            </a:fld>
            <a:endParaRPr lang="en-NZ"/>
          </a:p>
        </p:txBody>
      </p:sp>
      <p:sp>
        <p:nvSpPr>
          <p:cNvPr id="4" name="Footer Placeholder 3">
            <a:extLst>
              <a:ext uri="{FF2B5EF4-FFF2-40B4-BE49-F238E27FC236}">
                <a16:creationId xmlns:a16="http://schemas.microsoft.com/office/drawing/2014/main" id="{59F8352D-D8D8-4A00-9533-5A89F5B0C901}"/>
              </a:ext>
            </a:extLst>
          </p:cNvPr>
          <p:cNvSpPr>
            <a:spLocks noGrp="1"/>
          </p:cNvSpPr>
          <p:nvPr>
            <p:ph type="ftr" sz="quarter" idx="11"/>
          </p:nvPr>
        </p:nvSpPr>
        <p:spPr/>
        <p:txBody>
          <a:bodyPr/>
          <a:lstStyle/>
          <a:p>
            <a:endParaRPr lang="en-NZ"/>
          </a:p>
        </p:txBody>
      </p:sp>
      <p:sp>
        <p:nvSpPr>
          <p:cNvPr id="5" name="Slide Number Placeholder 4">
            <a:extLst>
              <a:ext uri="{FF2B5EF4-FFF2-40B4-BE49-F238E27FC236}">
                <a16:creationId xmlns:a16="http://schemas.microsoft.com/office/drawing/2014/main" id="{8B0222F7-FF85-4E64-A7A2-D8696FDE6CDB}"/>
              </a:ext>
            </a:extLst>
          </p:cNvPr>
          <p:cNvSpPr>
            <a:spLocks noGrp="1"/>
          </p:cNvSpPr>
          <p:nvPr>
            <p:ph type="sldNum" sz="quarter" idx="12"/>
          </p:nvPr>
        </p:nvSpPr>
        <p:spPr/>
        <p:txBody>
          <a:bodyPr/>
          <a:lstStyle/>
          <a:p>
            <a:fld id="{FF340C3D-D086-448E-A2CD-10F99288F595}" type="slidenum">
              <a:rPr lang="en-NZ" smtClean="0"/>
              <a:t>‹#›</a:t>
            </a:fld>
            <a:endParaRPr lang="en-NZ"/>
          </a:p>
        </p:txBody>
      </p:sp>
    </p:spTree>
    <p:extLst>
      <p:ext uri="{BB962C8B-B14F-4D97-AF65-F5344CB8AC3E}">
        <p14:creationId xmlns:p14="http://schemas.microsoft.com/office/powerpoint/2010/main" val="34717782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0E5220-F724-45DF-BD91-FF4FED735B5F}"/>
              </a:ext>
            </a:extLst>
          </p:cNvPr>
          <p:cNvSpPr>
            <a:spLocks noGrp="1"/>
          </p:cNvSpPr>
          <p:nvPr>
            <p:ph type="dt" sz="half" idx="10"/>
          </p:nvPr>
        </p:nvSpPr>
        <p:spPr/>
        <p:txBody>
          <a:bodyPr/>
          <a:lstStyle/>
          <a:p>
            <a:fld id="{A47F9836-DD01-4C5E-BB86-EF1CDD695ABF}" type="datetimeFigureOut">
              <a:rPr lang="en-NZ" smtClean="0"/>
              <a:t>11/10/2022</a:t>
            </a:fld>
            <a:endParaRPr lang="en-NZ"/>
          </a:p>
        </p:txBody>
      </p:sp>
      <p:sp>
        <p:nvSpPr>
          <p:cNvPr id="3" name="Footer Placeholder 2">
            <a:extLst>
              <a:ext uri="{FF2B5EF4-FFF2-40B4-BE49-F238E27FC236}">
                <a16:creationId xmlns:a16="http://schemas.microsoft.com/office/drawing/2014/main" id="{DA48AD07-CE0C-40CE-B4DC-5E80775E0D9E}"/>
              </a:ext>
            </a:extLst>
          </p:cNvPr>
          <p:cNvSpPr>
            <a:spLocks noGrp="1"/>
          </p:cNvSpPr>
          <p:nvPr>
            <p:ph type="ftr" sz="quarter" idx="11"/>
          </p:nvPr>
        </p:nvSpPr>
        <p:spPr/>
        <p:txBody>
          <a:bodyPr/>
          <a:lstStyle/>
          <a:p>
            <a:endParaRPr lang="en-NZ"/>
          </a:p>
        </p:txBody>
      </p:sp>
      <p:sp>
        <p:nvSpPr>
          <p:cNvPr id="4" name="Slide Number Placeholder 3">
            <a:extLst>
              <a:ext uri="{FF2B5EF4-FFF2-40B4-BE49-F238E27FC236}">
                <a16:creationId xmlns:a16="http://schemas.microsoft.com/office/drawing/2014/main" id="{4232DCAA-7F03-4230-87D0-DFCBB2265D96}"/>
              </a:ext>
            </a:extLst>
          </p:cNvPr>
          <p:cNvSpPr>
            <a:spLocks noGrp="1"/>
          </p:cNvSpPr>
          <p:nvPr>
            <p:ph type="sldNum" sz="quarter" idx="12"/>
          </p:nvPr>
        </p:nvSpPr>
        <p:spPr/>
        <p:txBody>
          <a:bodyPr/>
          <a:lstStyle/>
          <a:p>
            <a:fld id="{FF340C3D-D086-448E-A2CD-10F99288F595}" type="slidenum">
              <a:rPr lang="en-NZ" smtClean="0"/>
              <a:t>‹#›</a:t>
            </a:fld>
            <a:endParaRPr lang="en-NZ"/>
          </a:p>
        </p:txBody>
      </p:sp>
    </p:spTree>
    <p:extLst>
      <p:ext uri="{BB962C8B-B14F-4D97-AF65-F5344CB8AC3E}">
        <p14:creationId xmlns:p14="http://schemas.microsoft.com/office/powerpoint/2010/main" val="2798496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7ED78-5F9D-4972-86C2-DBBDAC6944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Content Placeholder 2">
            <a:extLst>
              <a:ext uri="{FF2B5EF4-FFF2-40B4-BE49-F238E27FC236}">
                <a16:creationId xmlns:a16="http://schemas.microsoft.com/office/drawing/2014/main" id="{D28C8E96-603F-4802-89C9-F0E54E9BCC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a:extLst>
              <a:ext uri="{FF2B5EF4-FFF2-40B4-BE49-F238E27FC236}">
                <a16:creationId xmlns:a16="http://schemas.microsoft.com/office/drawing/2014/main" id="{4887DE77-E66F-4DBA-AA14-2838B7C89A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DC6C43-9B09-4AE0-B204-C35DF9FF7C90}"/>
              </a:ext>
            </a:extLst>
          </p:cNvPr>
          <p:cNvSpPr>
            <a:spLocks noGrp="1"/>
          </p:cNvSpPr>
          <p:nvPr>
            <p:ph type="dt" sz="half" idx="10"/>
          </p:nvPr>
        </p:nvSpPr>
        <p:spPr/>
        <p:txBody>
          <a:bodyPr/>
          <a:lstStyle/>
          <a:p>
            <a:fld id="{A47F9836-DD01-4C5E-BB86-EF1CDD695ABF}" type="datetimeFigureOut">
              <a:rPr lang="en-NZ" smtClean="0"/>
              <a:t>11/10/2022</a:t>
            </a:fld>
            <a:endParaRPr lang="en-NZ"/>
          </a:p>
        </p:txBody>
      </p:sp>
      <p:sp>
        <p:nvSpPr>
          <p:cNvPr id="6" name="Footer Placeholder 5">
            <a:extLst>
              <a:ext uri="{FF2B5EF4-FFF2-40B4-BE49-F238E27FC236}">
                <a16:creationId xmlns:a16="http://schemas.microsoft.com/office/drawing/2014/main" id="{F9372004-E7F5-443D-9E10-9E00093D77A3}"/>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1740DDD7-2203-4C2A-A616-1822962BF1D8}"/>
              </a:ext>
            </a:extLst>
          </p:cNvPr>
          <p:cNvSpPr>
            <a:spLocks noGrp="1"/>
          </p:cNvSpPr>
          <p:nvPr>
            <p:ph type="sldNum" sz="quarter" idx="12"/>
          </p:nvPr>
        </p:nvSpPr>
        <p:spPr/>
        <p:txBody>
          <a:bodyPr/>
          <a:lstStyle/>
          <a:p>
            <a:fld id="{FF340C3D-D086-448E-A2CD-10F99288F595}" type="slidenum">
              <a:rPr lang="en-NZ" smtClean="0"/>
              <a:t>‹#›</a:t>
            </a:fld>
            <a:endParaRPr lang="en-NZ"/>
          </a:p>
        </p:txBody>
      </p:sp>
    </p:spTree>
    <p:extLst>
      <p:ext uri="{BB962C8B-B14F-4D97-AF65-F5344CB8AC3E}">
        <p14:creationId xmlns:p14="http://schemas.microsoft.com/office/powerpoint/2010/main" val="30136477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A44FA-760A-4BC3-88AE-28BAE062E3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Picture Placeholder 2">
            <a:extLst>
              <a:ext uri="{FF2B5EF4-FFF2-40B4-BE49-F238E27FC236}">
                <a16:creationId xmlns:a16="http://schemas.microsoft.com/office/drawing/2014/main" id="{CD416422-2B7E-4C80-A071-71D7F07B40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id="{46843CD3-A7DF-422B-B38B-5584DB3895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0FEF6D-2F08-4EAB-B7FF-ED24657ED2E8}"/>
              </a:ext>
            </a:extLst>
          </p:cNvPr>
          <p:cNvSpPr>
            <a:spLocks noGrp="1"/>
          </p:cNvSpPr>
          <p:nvPr>
            <p:ph type="dt" sz="half" idx="10"/>
          </p:nvPr>
        </p:nvSpPr>
        <p:spPr/>
        <p:txBody>
          <a:bodyPr/>
          <a:lstStyle/>
          <a:p>
            <a:fld id="{A47F9836-DD01-4C5E-BB86-EF1CDD695ABF}" type="datetimeFigureOut">
              <a:rPr lang="en-NZ" smtClean="0"/>
              <a:t>11/10/2022</a:t>
            </a:fld>
            <a:endParaRPr lang="en-NZ"/>
          </a:p>
        </p:txBody>
      </p:sp>
      <p:sp>
        <p:nvSpPr>
          <p:cNvPr id="6" name="Footer Placeholder 5">
            <a:extLst>
              <a:ext uri="{FF2B5EF4-FFF2-40B4-BE49-F238E27FC236}">
                <a16:creationId xmlns:a16="http://schemas.microsoft.com/office/drawing/2014/main" id="{17EBF7E0-0C0D-4B52-8EE6-83DCE5FB58A5}"/>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871A77BC-3EB6-444C-9450-AE99B93147D6}"/>
              </a:ext>
            </a:extLst>
          </p:cNvPr>
          <p:cNvSpPr>
            <a:spLocks noGrp="1"/>
          </p:cNvSpPr>
          <p:nvPr>
            <p:ph type="sldNum" sz="quarter" idx="12"/>
          </p:nvPr>
        </p:nvSpPr>
        <p:spPr/>
        <p:txBody>
          <a:bodyPr/>
          <a:lstStyle/>
          <a:p>
            <a:fld id="{FF340C3D-D086-448E-A2CD-10F99288F595}" type="slidenum">
              <a:rPr lang="en-NZ" smtClean="0"/>
              <a:t>‹#›</a:t>
            </a:fld>
            <a:endParaRPr lang="en-NZ"/>
          </a:p>
        </p:txBody>
      </p:sp>
    </p:spTree>
    <p:extLst>
      <p:ext uri="{BB962C8B-B14F-4D97-AF65-F5344CB8AC3E}">
        <p14:creationId xmlns:p14="http://schemas.microsoft.com/office/powerpoint/2010/main" val="6791340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1BF57-0A31-4322-854C-0987679DE598}"/>
              </a:ext>
            </a:extLst>
          </p:cNvPr>
          <p:cNvSpPr>
            <a:spLocks noGrp="1"/>
          </p:cNvSpPr>
          <p:nvPr>
            <p:ph type="title"/>
          </p:nvPr>
        </p:nvSpPr>
        <p:spPr/>
        <p:txBody>
          <a:bodyPr/>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0BA9637E-E6B5-45C9-BDF4-333911E28F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5DA289F8-4819-45D8-8632-AF0BCE10F957}"/>
              </a:ext>
            </a:extLst>
          </p:cNvPr>
          <p:cNvSpPr>
            <a:spLocks noGrp="1"/>
          </p:cNvSpPr>
          <p:nvPr>
            <p:ph type="dt" sz="half" idx="10"/>
          </p:nvPr>
        </p:nvSpPr>
        <p:spPr/>
        <p:txBody>
          <a:bodyPr/>
          <a:lstStyle/>
          <a:p>
            <a:fld id="{A47F9836-DD01-4C5E-BB86-EF1CDD695ABF}" type="datetimeFigureOut">
              <a:rPr lang="en-NZ" smtClean="0"/>
              <a:t>11/10/2022</a:t>
            </a:fld>
            <a:endParaRPr lang="en-NZ"/>
          </a:p>
        </p:txBody>
      </p:sp>
      <p:sp>
        <p:nvSpPr>
          <p:cNvPr id="5" name="Footer Placeholder 4">
            <a:extLst>
              <a:ext uri="{FF2B5EF4-FFF2-40B4-BE49-F238E27FC236}">
                <a16:creationId xmlns:a16="http://schemas.microsoft.com/office/drawing/2014/main" id="{A9AA0AD8-4F2D-434B-966F-A33C54326FC4}"/>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E7FC6F59-FB29-41E5-8425-4269F8A3F50A}"/>
              </a:ext>
            </a:extLst>
          </p:cNvPr>
          <p:cNvSpPr>
            <a:spLocks noGrp="1"/>
          </p:cNvSpPr>
          <p:nvPr>
            <p:ph type="sldNum" sz="quarter" idx="12"/>
          </p:nvPr>
        </p:nvSpPr>
        <p:spPr/>
        <p:txBody>
          <a:bodyPr/>
          <a:lstStyle/>
          <a:p>
            <a:fld id="{FF340C3D-D086-448E-A2CD-10F99288F595}" type="slidenum">
              <a:rPr lang="en-NZ" smtClean="0"/>
              <a:t>‹#›</a:t>
            </a:fld>
            <a:endParaRPr lang="en-NZ"/>
          </a:p>
        </p:txBody>
      </p:sp>
    </p:spTree>
    <p:extLst>
      <p:ext uri="{BB962C8B-B14F-4D97-AF65-F5344CB8AC3E}">
        <p14:creationId xmlns:p14="http://schemas.microsoft.com/office/powerpoint/2010/main" val="408774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B1AAA54-5E08-4105-AE7C-6EAB903A1C5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D138EC6D-352B-481B-9D43-6D8549580F8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9897FA9D-9083-415E-96E6-A372C0349E1E}"/>
              </a:ext>
            </a:extLst>
          </p:cNvPr>
          <p:cNvSpPr>
            <a:spLocks noGrp="1"/>
          </p:cNvSpPr>
          <p:nvPr>
            <p:ph type="dt" sz="half" idx="10"/>
          </p:nvPr>
        </p:nvSpPr>
        <p:spPr/>
        <p:txBody>
          <a:bodyPr/>
          <a:lstStyle/>
          <a:p>
            <a:fld id="{A47F9836-DD01-4C5E-BB86-EF1CDD695ABF}" type="datetimeFigureOut">
              <a:rPr lang="en-NZ" smtClean="0"/>
              <a:t>11/10/2022</a:t>
            </a:fld>
            <a:endParaRPr lang="en-NZ"/>
          </a:p>
        </p:txBody>
      </p:sp>
      <p:sp>
        <p:nvSpPr>
          <p:cNvPr id="5" name="Footer Placeholder 4">
            <a:extLst>
              <a:ext uri="{FF2B5EF4-FFF2-40B4-BE49-F238E27FC236}">
                <a16:creationId xmlns:a16="http://schemas.microsoft.com/office/drawing/2014/main" id="{B6F67DDB-7799-4FBB-ABF3-182D0B998DDF}"/>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DAF7B6D7-00FB-44AA-9102-B1DBB62BBE92}"/>
              </a:ext>
            </a:extLst>
          </p:cNvPr>
          <p:cNvSpPr>
            <a:spLocks noGrp="1"/>
          </p:cNvSpPr>
          <p:nvPr>
            <p:ph type="sldNum" sz="quarter" idx="12"/>
          </p:nvPr>
        </p:nvSpPr>
        <p:spPr/>
        <p:txBody>
          <a:bodyPr/>
          <a:lstStyle/>
          <a:p>
            <a:fld id="{FF340C3D-D086-448E-A2CD-10F99288F595}" type="slidenum">
              <a:rPr lang="en-NZ" smtClean="0"/>
              <a:t>‹#›</a:t>
            </a:fld>
            <a:endParaRPr lang="en-NZ"/>
          </a:p>
        </p:txBody>
      </p:sp>
    </p:spTree>
    <p:extLst>
      <p:ext uri="{BB962C8B-B14F-4D97-AF65-F5344CB8AC3E}">
        <p14:creationId xmlns:p14="http://schemas.microsoft.com/office/powerpoint/2010/main" val="24952068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DF09ADF-1E88-4AA7-82EE-F25AE7B7F7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Z"/>
          </a:p>
        </p:txBody>
      </p:sp>
      <p:sp>
        <p:nvSpPr>
          <p:cNvPr id="3" name="Text Placeholder 2">
            <a:extLst>
              <a:ext uri="{FF2B5EF4-FFF2-40B4-BE49-F238E27FC236}">
                <a16:creationId xmlns:a16="http://schemas.microsoft.com/office/drawing/2014/main" id="{3E75FA0E-2D97-4057-BE8C-FB41D5B5FF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4DA21B18-20A8-4107-B303-932A20192D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7F9836-DD01-4C5E-BB86-EF1CDD695ABF}" type="datetimeFigureOut">
              <a:rPr lang="en-NZ" smtClean="0"/>
              <a:t>11/10/2022</a:t>
            </a:fld>
            <a:endParaRPr lang="en-NZ"/>
          </a:p>
        </p:txBody>
      </p:sp>
      <p:sp>
        <p:nvSpPr>
          <p:cNvPr id="5" name="Footer Placeholder 4">
            <a:extLst>
              <a:ext uri="{FF2B5EF4-FFF2-40B4-BE49-F238E27FC236}">
                <a16:creationId xmlns:a16="http://schemas.microsoft.com/office/drawing/2014/main" id="{46A0607E-00D2-4003-84DE-BD9E5A8394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Z"/>
          </a:p>
        </p:txBody>
      </p:sp>
      <p:sp>
        <p:nvSpPr>
          <p:cNvPr id="6" name="Slide Number Placeholder 5">
            <a:extLst>
              <a:ext uri="{FF2B5EF4-FFF2-40B4-BE49-F238E27FC236}">
                <a16:creationId xmlns:a16="http://schemas.microsoft.com/office/drawing/2014/main" id="{315F2476-C4A4-4643-9058-4C8BD8F662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340C3D-D086-448E-A2CD-10F99288F595}" type="slidenum">
              <a:rPr lang="en-NZ" smtClean="0"/>
              <a:t>‹#›</a:t>
            </a:fld>
            <a:endParaRPr lang="en-NZ"/>
          </a:p>
        </p:txBody>
      </p:sp>
    </p:spTree>
    <p:extLst>
      <p:ext uri="{BB962C8B-B14F-4D97-AF65-F5344CB8AC3E}">
        <p14:creationId xmlns:p14="http://schemas.microsoft.com/office/powerpoint/2010/main" val="29418855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image" Target="../media/image170.png"/><Relationship Id="rId3" Type="http://schemas.openxmlformats.org/officeDocument/2006/relationships/image" Target="../media/image17.png"/><Relationship Id="rId7" Type="http://schemas.openxmlformats.org/officeDocument/2006/relationships/image" Target="../media/image160.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150.png"/><Relationship Id="rId5" Type="http://schemas.openxmlformats.org/officeDocument/2006/relationships/image" Target="../media/image140.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6.png"/><Relationship Id="rId7" Type="http://schemas.openxmlformats.org/officeDocument/2006/relationships/image" Target="../media/image34.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8.png"/><Relationship Id="rId4" Type="http://schemas.openxmlformats.org/officeDocument/2006/relationships/image" Target="../media/image3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 Id="rId5" Type="http://schemas.openxmlformats.org/officeDocument/2006/relationships/image" Target="../media/image390.png"/><Relationship Id="rId4" Type="http://schemas.openxmlformats.org/officeDocument/2006/relationships/image" Target="../media/image380.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0.png"/></Relationships>
</file>

<file path=ppt/slides/_rels/slide2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47.png"/><Relationship Id="rId4" Type="http://schemas.openxmlformats.org/officeDocument/2006/relationships/image" Target="../media/image46.png"/></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6" name="Picture 2" descr="Programmes and courses | Study at Wellington | Victoria University of  Wellington">
            <a:extLst>
              <a:ext uri="{FF2B5EF4-FFF2-40B4-BE49-F238E27FC236}">
                <a16:creationId xmlns:a16="http://schemas.microsoft.com/office/drawing/2014/main" id="{087F352A-9067-4A20-840B-9F57464891D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85" r="1" b="1"/>
          <a:stretch/>
        </p:blipFill>
        <p:spPr bwMode="auto">
          <a:xfrm>
            <a:off x="457200" y="457200"/>
            <a:ext cx="11277600" cy="59436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F6EF4C4-5CC1-4D9D-A4EE-9A6C2CC6D81C}"/>
              </a:ext>
            </a:extLst>
          </p:cNvPr>
          <p:cNvSpPr txBox="1"/>
          <p:nvPr/>
        </p:nvSpPr>
        <p:spPr>
          <a:xfrm>
            <a:off x="3858329" y="913501"/>
            <a:ext cx="6923403" cy="116955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3500" b="1" i="0" u="sng" strike="noStrike" kern="1200" cap="none" spc="0" normalizeH="0" baseline="0" noProof="0" dirty="0">
                <a:ln>
                  <a:noFill/>
                </a:ln>
                <a:solidFill>
                  <a:prstClr val="white"/>
                </a:solidFill>
                <a:effectLst/>
                <a:uLnTx/>
                <a:uFillTx/>
                <a:latin typeface="Calibri" panose="020F0502020204030204"/>
                <a:ea typeface="+mn-ea"/>
                <a:cs typeface="+mn-cs"/>
              </a:rPr>
              <a:t>STATS 432 </a:t>
            </a:r>
            <a:br>
              <a:rPr kumimoji="0" lang="en-NZ" sz="3500" b="1"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NZ" sz="3500" b="0" i="0" u="none" strike="noStrike" kern="1200" cap="none" spc="0" normalizeH="0" baseline="0" noProof="0" dirty="0">
                <a:ln>
                  <a:noFill/>
                </a:ln>
                <a:solidFill>
                  <a:prstClr val="white"/>
                </a:solidFill>
                <a:effectLst/>
                <a:uLnTx/>
                <a:uFillTx/>
                <a:latin typeface="Calibri" panose="020F0502020204030204"/>
                <a:ea typeface="+mn-ea"/>
                <a:cs typeface="+mn-cs"/>
              </a:rPr>
              <a:t>Computational Statistics</a:t>
            </a:r>
          </a:p>
        </p:txBody>
      </p:sp>
      <p:sp>
        <p:nvSpPr>
          <p:cNvPr id="17" name="TextBox 16">
            <a:extLst>
              <a:ext uri="{FF2B5EF4-FFF2-40B4-BE49-F238E27FC236}">
                <a16:creationId xmlns:a16="http://schemas.microsoft.com/office/drawing/2014/main" id="{15E15834-4C1C-48A4-9F77-1A195C7F3F70}"/>
              </a:ext>
            </a:extLst>
          </p:cNvPr>
          <p:cNvSpPr txBox="1"/>
          <p:nvPr/>
        </p:nvSpPr>
        <p:spPr>
          <a:xfrm>
            <a:off x="4038600" y="4646474"/>
            <a:ext cx="6923403"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2800" b="0" i="0" u="none" strike="noStrike" kern="1200" cap="none" spc="0" normalizeH="0" baseline="0" noProof="0" dirty="0">
                <a:ln>
                  <a:noFill/>
                </a:ln>
                <a:solidFill>
                  <a:prstClr val="white"/>
                </a:solidFill>
                <a:effectLst/>
                <a:uLnTx/>
                <a:uFillTx/>
                <a:latin typeface="Calibri" panose="020F0502020204030204"/>
                <a:ea typeface="+mn-ea"/>
                <a:cs typeface="+mn-cs"/>
              </a:rPr>
              <a:t>Chapter 10 – Convergence Diagnostics</a:t>
            </a:r>
          </a:p>
        </p:txBody>
      </p:sp>
    </p:spTree>
    <p:extLst>
      <p:ext uri="{BB962C8B-B14F-4D97-AF65-F5344CB8AC3E}">
        <p14:creationId xmlns:p14="http://schemas.microsoft.com/office/powerpoint/2010/main" val="2477869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7F14062D-E1C1-4F63-B0FD-D013BDA5782B}"/>
              </a:ext>
            </a:extLst>
          </p:cNvPr>
          <p:cNvSpPr txBox="1"/>
          <p:nvPr/>
        </p:nvSpPr>
        <p:spPr>
          <a:xfrm>
            <a:off x="43707" y="2844225"/>
            <a:ext cx="12104586" cy="7848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NZ" sz="4500" b="1" dirty="0">
                <a:solidFill>
                  <a:srgbClr val="FFC000"/>
                </a:solidFill>
                <a:latin typeface="Calibri" panose="020F0502020204030204"/>
              </a:rPr>
              <a:t>10.1 – Overview</a:t>
            </a:r>
            <a:endPar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1326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mc:AlternateContent xmlns:mc="http://schemas.openxmlformats.org/markup-compatibility/2006">
        <mc:Choice xmlns:a14="http://schemas.microsoft.com/office/drawing/2010/main" Requires="a14">
          <p:sp>
            <p:nvSpPr>
              <p:cNvPr id="29" name="Text Placeholder 5">
                <a:extLst>
                  <a:ext uri="{FF2B5EF4-FFF2-40B4-BE49-F238E27FC236}">
                    <a16:creationId xmlns:a16="http://schemas.microsoft.com/office/drawing/2014/main" id="{22133E97-575D-55D8-9876-1CF65E0DAC7D}"/>
                  </a:ext>
                </a:extLst>
              </p:cNvPr>
              <p:cNvSpPr txBox="1">
                <a:spLocks/>
              </p:cNvSpPr>
              <p:nvPr/>
            </p:nvSpPr>
            <p:spPr>
              <a:xfrm>
                <a:off x="291660" y="2010827"/>
                <a:ext cx="11608680" cy="50775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After a large number of transitions, observations drawn from the</a:t>
                </a:r>
                <a:r>
                  <a:rPr kumimoji="1" lang="en-NZ" altLang="ja-JP" sz="18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chain </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will be distributed according to </a:t>
                </a:r>
                <a14:m>
                  <m:oMath xmlns:m="http://schemas.openxmlformats.org/officeDocument/2006/math">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𝒇</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𝑿</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𝒙</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oMath>
                </a14:m>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p:txBody>
          </p:sp>
        </mc:Choice>
        <mc:Fallback>
          <p:sp>
            <p:nvSpPr>
              <p:cNvPr id="29" name="Text Placeholder 5">
                <a:extLst>
                  <a:ext uri="{FF2B5EF4-FFF2-40B4-BE49-F238E27FC236}">
                    <a16:creationId xmlns:a16="http://schemas.microsoft.com/office/drawing/2014/main" id="{22133E97-575D-55D8-9876-1CF65E0DAC7D}"/>
                  </a:ext>
                </a:extLst>
              </p:cNvPr>
              <p:cNvSpPr txBox="1">
                <a:spLocks noRot="1" noChangeAspect="1" noMove="1" noResize="1" noEditPoints="1" noAdjustHandles="1" noChangeArrowheads="1" noChangeShapeType="1" noTextEdit="1"/>
              </p:cNvSpPr>
              <p:nvPr/>
            </p:nvSpPr>
            <p:spPr>
              <a:xfrm>
                <a:off x="291660" y="2010827"/>
                <a:ext cx="11608680" cy="507758"/>
              </a:xfrm>
              <a:prstGeom prst="rect">
                <a:avLst/>
              </a:prstGeom>
              <a:blipFill>
                <a:blip r:embed="rId3"/>
                <a:stretch>
                  <a:fillRect l="-473" t="-7229"/>
                </a:stretch>
              </a:blipFill>
            </p:spPr>
            <p:txBody>
              <a:bodyPr/>
              <a:lstStyle/>
              <a:p>
                <a:r>
                  <a:rPr lang="en-NZ">
                    <a:noFill/>
                  </a:rPr>
                  <a:t> </a:t>
                </a:r>
              </a:p>
            </p:txBody>
          </p:sp>
        </mc:Fallback>
      </mc:AlternateContent>
      <p:pic>
        <p:nvPicPr>
          <p:cNvPr id="32" name="Picture 31">
            <a:extLst>
              <a:ext uri="{FF2B5EF4-FFF2-40B4-BE49-F238E27FC236}">
                <a16:creationId xmlns:a16="http://schemas.microsoft.com/office/drawing/2014/main" id="{FF7D7281-999D-929F-3711-B070549A3C38}"/>
              </a:ext>
            </a:extLst>
          </p:cNvPr>
          <p:cNvPicPr>
            <a:picLocks noChangeAspect="1"/>
          </p:cNvPicPr>
          <p:nvPr/>
        </p:nvPicPr>
        <p:blipFill>
          <a:blip r:embed="rId4"/>
          <a:stretch>
            <a:fillRect/>
          </a:stretch>
        </p:blipFill>
        <p:spPr>
          <a:xfrm>
            <a:off x="557356" y="2678335"/>
            <a:ext cx="4690921" cy="3492807"/>
          </a:xfrm>
          <a:prstGeom prst="rect">
            <a:avLst/>
          </a:prstGeom>
        </p:spPr>
      </p:pic>
      <p:cxnSp>
        <p:nvCxnSpPr>
          <p:cNvPr id="33" name="Straight Connector 32">
            <a:extLst>
              <a:ext uri="{FF2B5EF4-FFF2-40B4-BE49-F238E27FC236}">
                <a16:creationId xmlns:a16="http://schemas.microsoft.com/office/drawing/2014/main" id="{9F883A18-EAB4-2814-A34F-5544ACA30981}"/>
              </a:ext>
            </a:extLst>
          </p:cNvPr>
          <p:cNvCxnSpPr>
            <a:cxnSpLocks/>
          </p:cNvCxnSpPr>
          <p:nvPr/>
        </p:nvCxnSpPr>
        <p:spPr>
          <a:xfrm>
            <a:off x="2079791" y="3014732"/>
            <a:ext cx="1" cy="272437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34" name="Text Placeholder 5">
            <a:extLst>
              <a:ext uri="{FF2B5EF4-FFF2-40B4-BE49-F238E27FC236}">
                <a16:creationId xmlns:a16="http://schemas.microsoft.com/office/drawing/2014/main" id="{6C96A6B7-F4D5-ACE4-FABE-BE01018388CF}"/>
              </a:ext>
            </a:extLst>
          </p:cNvPr>
          <p:cNvSpPr txBox="1">
            <a:spLocks/>
          </p:cNvSpPr>
          <p:nvPr/>
        </p:nvSpPr>
        <p:spPr>
          <a:xfrm>
            <a:off x="1031974" y="3261571"/>
            <a:ext cx="816949" cy="25246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0" i="0" u="none" strike="noStrike" kern="1200" cap="none" spc="0" normalizeH="0" baseline="0" noProof="0" dirty="0">
                <a:ln>
                  <a:noFill/>
                </a:ln>
                <a:solidFill>
                  <a:srgbClr val="FF0000"/>
                </a:solidFill>
                <a:effectLst/>
                <a:uLnTx/>
                <a:uFillTx/>
                <a:latin typeface="Calibri" panose="020F0502020204030204"/>
                <a:ea typeface="游ゴシック" panose="020B0400000000000000" pitchFamily="34" charset="-128"/>
                <a:cs typeface="+mn-cs"/>
              </a:rPr>
              <a:t>Burn in</a:t>
            </a:r>
          </a:p>
        </p:txBody>
      </p:sp>
      <p:cxnSp>
        <p:nvCxnSpPr>
          <p:cNvPr id="35" name="Straight Arrow Connector 34">
            <a:extLst>
              <a:ext uri="{FF2B5EF4-FFF2-40B4-BE49-F238E27FC236}">
                <a16:creationId xmlns:a16="http://schemas.microsoft.com/office/drawing/2014/main" id="{BD1E926F-18D8-E4DF-2C20-0B85E60A634C}"/>
              </a:ext>
            </a:extLst>
          </p:cNvPr>
          <p:cNvCxnSpPr>
            <a:cxnSpLocks/>
          </p:cNvCxnSpPr>
          <p:nvPr/>
        </p:nvCxnSpPr>
        <p:spPr>
          <a:xfrm>
            <a:off x="898566" y="3626696"/>
            <a:ext cx="1037790" cy="1"/>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A428389D-922B-399D-902C-C16D661A9A83}"/>
              </a:ext>
            </a:extLst>
          </p:cNvPr>
          <p:cNvCxnSpPr>
            <a:cxnSpLocks/>
          </p:cNvCxnSpPr>
          <p:nvPr/>
        </p:nvCxnSpPr>
        <p:spPr>
          <a:xfrm>
            <a:off x="2183730" y="3626696"/>
            <a:ext cx="2852294" cy="0"/>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 Placeholder 5">
                <a:extLst>
                  <a:ext uri="{FF2B5EF4-FFF2-40B4-BE49-F238E27FC236}">
                    <a16:creationId xmlns:a16="http://schemas.microsoft.com/office/drawing/2014/main" id="{535C417E-3E6B-0D2F-825E-2B0C3D4CF526}"/>
                  </a:ext>
                </a:extLst>
              </p:cNvPr>
              <p:cNvSpPr txBox="1">
                <a:spLocks/>
              </p:cNvSpPr>
              <p:nvPr/>
            </p:nvSpPr>
            <p:spPr>
              <a:xfrm>
                <a:off x="2992489" y="3306985"/>
                <a:ext cx="1343091" cy="34339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p>
                        <m:sSupPr>
                          <m:ctrlPr>
                            <a:rPr kumimoji="1" lang="en-NZ" altLang="ja-JP" sz="1400" b="0" i="1" u="none" strike="noStrike" kern="1200" cap="none" spc="0" normalizeH="0" baseline="0" noProof="0" dirty="0" smtClean="0">
                              <a:ln>
                                <a:noFill/>
                              </a:ln>
                              <a:solidFill>
                                <a:srgbClr val="FF0000"/>
                              </a:solidFill>
                              <a:effectLst/>
                              <a:uLnTx/>
                              <a:uFillTx/>
                              <a:latin typeface="Cambria Math" panose="02040503050406030204" pitchFamily="18" charset="0"/>
                              <a:cs typeface="+mn-cs"/>
                            </a:rPr>
                          </m:ctrlPr>
                        </m:sSupPr>
                        <m:e>
                          <m:r>
                            <a:rPr kumimoji="1" lang="en-NZ" altLang="ja-JP" sz="1400" b="0" i="1" u="none" strike="noStrike" kern="1200" cap="none" spc="0" normalizeH="0" baseline="0" noProof="0" dirty="0" smtClean="0">
                              <a:ln>
                                <a:noFill/>
                              </a:ln>
                              <a:solidFill>
                                <a:srgbClr val="FF0000"/>
                              </a:solidFill>
                              <a:effectLst/>
                              <a:uLnTx/>
                              <a:uFillTx/>
                              <a:latin typeface="Cambria Math" panose="02040503050406030204" pitchFamily="18" charset="0"/>
                              <a:cs typeface="+mn-cs"/>
                            </a:rPr>
                            <m:t>𝑋</m:t>
                          </m:r>
                        </m:e>
                        <m:sup>
                          <m:r>
                            <a:rPr kumimoji="1" lang="en-NZ" altLang="ja-JP" sz="1400" b="0" i="1" u="none" strike="noStrike" kern="1200" cap="none" spc="0" normalizeH="0" baseline="0" noProof="0" dirty="0" smtClean="0">
                              <a:ln>
                                <a:noFill/>
                              </a:ln>
                              <a:solidFill>
                                <a:srgbClr val="FF0000"/>
                              </a:solidFill>
                              <a:effectLst/>
                              <a:uLnTx/>
                              <a:uFillTx/>
                              <a:latin typeface="Cambria Math" panose="02040503050406030204" pitchFamily="18" charset="0"/>
                              <a:cs typeface="+mn-cs"/>
                            </a:rPr>
                            <m:t>(</m:t>
                          </m:r>
                          <m:r>
                            <a:rPr kumimoji="1" lang="en-NZ" altLang="ja-JP" sz="1400" b="0" i="1" u="none" strike="noStrike" kern="1200" cap="none" spc="0" normalizeH="0" baseline="0" noProof="0" dirty="0" smtClean="0">
                              <a:ln>
                                <a:noFill/>
                              </a:ln>
                              <a:solidFill>
                                <a:srgbClr val="FF0000"/>
                              </a:solidFill>
                              <a:effectLst/>
                              <a:uLnTx/>
                              <a:uFillTx/>
                              <a:latin typeface="Cambria Math" panose="02040503050406030204" pitchFamily="18" charset="0"/>
                              <a:cs typeface="+mn-cs"/>
                            </a:rPr>
                            <m:t>𝑡</m:t>
                          </m:r>
                          <m:r>
                            <a:rPr kumimoji="1" lang="en-NZ" altLang="ja-JP" sz="1400" b="0" i="1" u="none" strike="noStrike" kern="1200" cap="none" spc="0" normalizeH="0" baseline="0" noProof="0" dirty="0" smtClean="0">
                              <a:ln>
                                <a:noFill/>
                              </a:ln>
                              <a:solidFill>
                                <a:srgbClr val="FF0000"/>
                              </a:solidFill>
                              <a:effectLst/>
                              <a:uLnTx/>
                              <a:uFillTx/>
                              <a:latin typeface="Cambria Math" panose="02040503050406030204" pitchFamily="18" charset="0"/>
                              <a:cs typeface="+mn-cs"/>
                            </a:rPr>
                            <m:t>)</m:t>
                          </m:r>
                        </m:sup>
                      </m:sSup>
                      <m:r>
                        <a:rPr kumimoji="1" lang="en-NZ" altLang="ja-JP" sz="1400" b="0" i="1" u="none" strike="noStrike" kern="1200" cap="none" spc="0" normalizeH="0" baseline="0" noProof="0" dirty="0" smtClean="0">
                          <a:ln>
                            <a:noFill/>
                          </a:ln>
                          <a:solidFill>
                            <a:srgbClr val="FF0000"/>
                          </a:solidFill>
                          <a:effectLst/>
                          <a:uLnTx/>
                          <a:uFillTx/>
                          <a:latin typeface="Cambria Math" panose="02040503050406030204" pitchFamily="18" charset="0"/>
                          <a:cs typeface="+mn-cs"/>
                        </a:rPr>
                        <m:t> ~ </m:t>
                      </m:r>
                      <m:r>
                        <a:rPr kumimoji="1" lang="en-NZ" altLang="ja-JP" sz="1400" b="0" i="1" u="none" strike="noStrike" kern="1200" cap="none" spc="0" normalizeH="0" baseline="0" noProof="0" dirty="0" smtClean="0">
                          <a:ln>
                            <a:noFill/>
                          </a:ln>
                          <a:solidFill>
                            <a:srgbClr val="FF0000"/>
                          </a:solidFill>
                          <a:effectLst/>
                          <a:uLnTx/>
                          <a:uFillTx/>
                          <a:latin typeface="Cambria Math" panose="02040503050406030204" pitchFamily="18" charset="0"/>
                          <a:cs typeface="+mn-cs"/>
                        </a:rPr>
                        <m:t>𝑓</m:t>
                      </m:r>
                    </m:oMath>
                  </m:oMathPara>
                </a14:m>
                <a:endParaRPr kumimoji="1" lang="en-NZ" altLang="ja-JP" sz="1400" b="0" i="0" u="none" strike="noStrike" kern="1200" cap="none" spc="0" normalizeH="0" baseline="0" noProof="0" dirty="0">
                  <a:ln>
                    <a:noFill/>
                  </a:ln>
                  <a:solidFill>
                    <a:srgbClr val="FF0000"/>
                  </a:solidFill>
                  <a:effectLst/>
                  <a:uLnTx/>
                  <a:uFillTx/>
                  <a:latin typeface="Calibri" panose="020F0502020204030204"/>
                  <a:ea typeface="游ゴシック" panose="020B0400000000000000" pitchFamily="34" charset="-128"/>
                  <a:cs typeface="+mn-cs"/>
                </a:endParaRPr>
              </a:p>
            </p:txBody>
          </p:sp>
        </mc:Choice>
        <mc:Fallback xmlns="">
          <p:sp>
            <p:nvSpPr>
              <p:cNvPr id="37" name="Text Placeholder 5">
                <a:extLst>
                  <a:ext uri="{FF2B5EF4-FFF2-40B4-BE49-F238E27FC236}">
                    <a16:creationId xmlns:a16="http://schemas.microsoft.com/office/drawing/2014/main" id="{535C417E-3E6B-0D2F-825E-2B0C3D4CF526}"/>
                  </a:ext>
                </a:extLst>
              </p:cNvPr>
              <p:cNvSpPr txBox="1">
                <a:spLocks noRot="1" noChangeAspect="1" noMove="1" noResize="1" noEditPoints="1" noAdjustHandles="1" noChangeArrowheads="1" noChangeShapeType="1" noTextEdit="1"/>
              </p:cNvSpPr>
              <p:nvPr/>
            </p:nvSpPr>
            <p:spPr>
              <a:xfrm>
                <a:off x="2992489" y="3306985"/>
                <a:ext cx="1343091" cy="343393"/>
              </a:xfrm>
              <a:prstGeom prst="rect">
                <a:avLst/>
              </a:prstGeom>
              <a:blipFill>
                <a:blip r:embed="rId5"/>
                <a:stretch>
                  <a:fillRect/>
                </a:stretch>
              </a:blipFill>
            </p:spPr>
            <p:txBody>
              <a:bodyPr/>
              <a:lstStyle/>
              <a:p>
                <a:r>
                  <a:rPr lang="en-NZ">
                    <a:noFill/>
                  </a:rPr>
                  <a:t> </a:t>
                </a:r>
              </a:p>
            </p:txBody>
          </p:sp>
        </mc:Fallback>
      </mc:AlternateContent>
      <p:sp>
        <p:nvSpPr>
          <p:cNvPr id="17" name="Title 6">
            <a:extLst>
              <a:ext uri="{FF2B5EF4-FFF2-40B4-BE49-F238E27FC236}">
                <a16:creationId xmlns:a16="http://schemas.microsoft.com/office/drawing/2014/main" id="{3012CB40-7BFC-849B-BE87-00F2AF82E7F1}"/>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10.1 – Overview</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8" name="Footer Placeholder 2">
            <a:extLst>
              <a:ext uri="{FF2B5EF4-FFF2-40B4-BE49-F238E27FC236}">
                <a16:creationId xmlns:a16="http://schemas.microsoft.com/office/drawing/2014/main" id="{48B34FB6-2786-2AF8-FADE-8468DE47531A}"/>
              </a:ext>
            </a:extLst>
          </p:cNvPr>
          <p:cNvSpPr txBox="1">
            <a:spLocks/>
          </p:cNvSpPr>
          <p:nvPr/>
        </p:nvSpPr>
        <p:spPr>
          <a:xfrm>
            <a:off x="8993875" y="86139"/>
            <a:ext cx="309549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10.1 - Overview</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mc:AlternateContent xmlns:mc="http://schemas.openxmlformats.org/markup-compatibility/2006">
        <mc:Choice xmlns:a14="http://schemas.microsoft.com/office/drawing/2010/main" Requires="a14">
          <p:sp>
            <p:nvSpPr>
              <p:cNvPr id="19" name="Text Placeholder 5">
                <a:extLst>
                  <a:ext uri="{FF2B5EF4-FFF2-40B4-BE49-F238E27FC236}">
                    <a16:creationId xmlns:a16="http://schemas.microsoft.com/office/drawing/2014/main" id="{D8338D8C-3936-DAB5-23D2-F64F970CE7AD}"/>
                  </a:ext>
                </a:extLst>
              </p:cNvPr>
              <p:cNvSpPr txBox="1">
                <a:spLocks/>
              </p:cNvSpPr>
              <p:nvPr/>
            </p:nvSpPr>
            <p:spPr>
              <a:xfrm>
                <a:off x="291660" y="900312"/>
                <a:ext cx="11608680" cy="113389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dirty="0">
                    <a:solidFill>
                      <a:schemeClr val="tx1"/>
                    </a:solidFill>
                  </a:rPr>
                  <a:t>The Metropolis-Hastings algorithm creates an irreducible, ergodic (positive recurrent and aperiodic) continuous state space Markov chain </a:t>
                </a:r>
                <a14:m>
                  <m:oMath xmlns:m="http://schemas.openxmlformats.org/officeDocument/2006/math">
                    <m:sSubSup>
                      <m:sSubSupPr>
                        <m:ctrlPr>
                          <a:rPr lang="en-NZ" altLang="ja-JP" sz="1800" b="1" i="1">
                            <a:solidFill>
                              <a:prstClr val="black"/>
                            </a:solidFill>
                            <a:latin typeface="Cambria Math" panose="02040503050406030204" pitchFamily="18" charset="0"/>
                          </a:rPr>
                        </m:ctrlPr>
                      </m:sSubSupPr>
                      <m:e>
                        <m:d>
                          <m:dPr>
                            <m:begChr m:val="{"/>
                            <m:endChr m:val="}"/>
                            <m:ctrlPr>
                              <a:rPr lang="en-NZ" altLang="ja-JP" sz="1800" b="1" i="1">
                                <a:solidFill>
                                  <a:prstClr val="black"/>
                                </a:solidFill>
                                <a:latin typeface="Cambria Math" panose="02040503050406030204" pitchFamily="18" charset="0"/>
                              </a:rPr>
                            </m:ctrlPr>
                          </m:dPr>
                          <m:e>
                            <m:sSup>
                              <m:sSupPr>
                                <m:ctrlPr>
                                  <a:rPr lang="en-NZ" altLang="ja-JP" sz="1800" b="1" i="1">
                                    <a:solidFill>
                                      <a:prstClr val="black"/>
                                    </a:solidFill>
                                    <a:latin typeface="Cambria Math" panose="02040503050406030204" pitchFamily="18" charset="0"/>
                                  </a:rPr>
                                </m:ctrlPr>
                              </m:sSupPr>
                              <m:e>
                                <m:r>
                                  <a:rPr lang="en-NZ" altLang="ja-JP" sz="1800" b="1" i="1">
                                    <a:solidFill>
                                      <a:prstClr val="black"/>
                                    </a:solidFill>
                                    <a:latin typeface="Cambria Math" panose="02040503050406030204" pitchFamily="18" charset="0"/>
                                  </a:rPr>
                                  <m:t>𝑿</m:t>
                                </m:r>
                              </m:e>
                              <m:sup>
                                <m:d>
                                  <m:dPr>
                                    <m:ctrlPr>
                                      <a:rPr lang="en-NZ" altLang="ja-JP" sz="1800" b="1" i="1">
                                        <a:solidFill>
                                          <a:prstClr val="black"/>
                                        </a:solidFill>
                                        <a:latin typeface="Cambria Math" panose="02040503050406030204" pitchFamily="18" charset="0"/>
                                      </a:rPr>
                                    </m:ctrlPr>
                                  </m:dPr>
                                  <m:e>
                                    <m:r>
                                      <a:rPr lang="en-NZ" altLang="ja-JP" sz="1800" b="1" i="1">
                                        <a:solidFill>
                                          <a:prstClr val="black"/>
                                        </a:solidFill>
                                        <a:latin typeface="Cambria Math" panose="02040503050406030204" pitchFamily="18" charset="0"/>
                                      </a:rPr>
                                      <m:t>𝒕</m:t>
                                    </m:r>
                                  </m:e>
                                </m:d>
                              </m:sup>
                            </m:sSup>
                          </m:e>
                        </m:d>
                      </m:e>
                      <m:sub>
                        <m:r>
                          <a:rPr lang="en-NZ" altLang="ja-JP" sz="1800" b="1" i="1">
                            <a:solidFill>
                              <a:prstClr val="black"/>
                            </a:solidFill>
                            <a:latin typeface="Cambria Math" panose="02040503050406030204" pitchFamily="18" charset="0"/>
                          </a:rPr>
                          <m:t>𝒕</m:t>
                        </m:r>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𝟎</m:t>
                        </m:r>
                      </m:sub>
                      <m:sup>
                        <m:r>
                          <a:rPr lang="en-NZ" altLang="ja-JP" sz="1800" b="1" i="1">
                            <a:solidFill>
                              <a:prstClr val="black"/>
                            </a:solidFill>
                            <a:latin typeface="Cambria Math" panose="02040503050406030204" pitchFamily="18" charset="0"/>
                          </a:rPr>
                          <m:t>∞</m:t>
                        </m:r>
                      </m:sup>
                    </m:sSubSup>
                  </m:oMath>
                </a14:m>
                <a:r>
                  <a:rPr lang="en-NZ" altLang="ja-JP" sz="1800" dirty="0">
                    <a:solidFill>
                      <a:schemeClr val="tx1"/>
                    </a:solidFill>
                  </a:rPr>
                  <a:t> which converges to a target distribution </a:t>
                </a:r>
                <a14:m>
                  <m:oMath xmlns:m="http://schemas.openxmlformats.org/officeDocument/2006/math">
                    <m:sSub>
                      <m:sSubPr>
                        <m:ctrlPr>
                          <a:rPr lang="en-NZ" altLang="ja-JP" sz="1800" b="1" i="1" smtClean="0">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𝒇</m:t>
                        </m:r>
                      </m:e>
                      <m:sub>
                        <m:r>
                          <a:rPr lang="en-NZ" altLang="ja-JP" sz="1800" b="1" i="1" smtClean="0">
                            <a:solidFill>
                              <a:prstClr val="black"/>
                            </a:solidFill>
                            <a:latin typeface="Cambria Math" panose="02040503050406030204" pitchFamily="18" charset="0"/>
                          </a:rPr>
                          <m:t>𝑿</m:t>
                        </m:r>
                      </m:sub>
                    </m:sSub>
                    <m:r>
                      <a:rPr lang="en-NZ" altLang="ja-JP" sz="1800" b="1" i="1" smtClean="0">
                        <a:solidFill>
                          <a:prstClr val="black"/>
                        </a:solidFill>
                        <a:latin typeface="Cambria Math" panose="02040503050406030204" pitchFamily="18" charset="0"/>
                      </a:rPr>
                      <m:t>(</m:t>
                    </m:r>
                    <m:r>
                      <a:rPr lang="en-NZ" altLang="ja-JP" sz="1800" b="1" i="1" smtClean="0">
                        <a:solidFill>
                          <a:prstClr val="black"/>
                        </a:solidFill>
                        <a:latin typeface="Cambria Math" panose="02040503050406030204" pitchFamily="18" charset="0"/>
                      </a:rPr>
                      <m:t>𝒙</m:t>
                    </m:r>
                    <m:r>
                      <a:rPr lang="en-NZ" altLang="ja-JP" sz="1800" b="1" i="1" smtClean="0">
                        <a:solidFill>
                          <a:prstClr val="black"/>
                        </a:solidFill>
                        <a:latin typeface="Cambria Math" panose="02040503050406030204" pitchFamily="18" charset="0"/>
                      </a:rPr>
                      <m:t>) </m:t>
                    </m:r>
                  </m:oMath>
                </a14:m>
                <a:r>
                  <a:rPr lang="en-NZ" altLang="ja-JP" sz="1800" dirty="0">
                    <a:solidFill>
                      <a:schemeClr val="tx1"/>
                    </a:solidFill>
                  </a:rPr>
                  <a:t>in the sense that</a:t>
                </a:r>
              </a:p>
              <a:p>
                <a:pPr lvl="0">
                  <a:lnSpc>
                    <a:spcPct val="100000"/>
                  </a:lnSpc>
                  <a:defRPr/>
                </a:pPr>
                <a:endParaRPr lang="en-NZ" altLang="ja-JP" sz="200" dirty="0">
                  <a:solidFill>
                    <a:schemeClr val="tx1"/>
                  </a:solidFill>
                </a:endParaRPr>
              </a:p>
              <a:p>
                <a:pPr lvl="0">
                  <a:lnSpc>
                    <a:spcPct val="100000"/>
                  </a:lnSpc>
                  <a:defRPr/>
                </a:pPr>
                <a:endParaRPr lang="en-NZ" altLang="ja-JP" sz="200" dirty="0">
                  <a:solidFill>
                    <a:schemeClr val="tx1"/>
                  </a:solidFill>
                </a:endParaRPr>
              </a:p>
              <a:p>
                <a:pPr lvl="0">
                  <a:lnSpc>
                    <a:spcPct val="100000"/>
                  </a:lnSpc>
                  <a:defRPr/>
                </a:pPr>
                <a14:m>
                  <m:oMathPara xmlns:m="http://schemas.openxmlformats.org/officeDocument/2006/math">
                    <m:oMathParaPr>
                      <m:jc m:val="centerGroup"/>
                    </m:oMathParaPr>
                    <m:oMath xmlns:m="http://schemas.openxmlformats.org/officeDocument/2006/math">
                      <m:func>
                        <m:funcPr>
                          <m:ctrlPr>
                            <a:rPr lang="en-NZ" altLang="ja-JP" sz="1800" b="1" i="1">
                              <a:solidFill>
                                <a:prstClr val="black"/>
                              </a:solidFill>
                              <a:latin typeface="Cambria Math" panose="02040503050406030204" pitchFamily="18" charset="0"/>
                            </a:rPr>
                          </m:ctrlPr>
                        </m:funcPr>
                        <m:fName>
                          <m:sSup>
                            <m:sSupPr>
                              <m:ctrlPr>
                                <a:rPr lang="en-NZ" altLang="ja-JP" sz="1800" b="1" i="1">
                                  <a:solidFill>
                                    <a:prstClr val="black"/>
                                  </a:solidFill>
                                  <a:latin typeface="Cambria Math" panose="02040503050406030204" pitchFamily="18" charset="0"/>
                                </a:rPr>
                              </m:ctrlPr>
                            </m:sSupPr>
                            <m:e>
                              <m:r>
                                <a:rPr lang="en-NZ" altLang="ja-JP" sz="1800" b="1" i="1">
                                  <a:solidFill>
                                    <a:prstClr val="black"/>
                                  </a:solidFill>
                                  <a:latin typeface="Cambria Math" panose="02040503050406030204" pitchFamily="18" charset="0"/>
                                </a:rPr>
                                <m:t>𝒌</m:t>
                              </m:r>
                            </m:e>
                            <m:sup>
                              <m:d>
                                <m:dPr>
                                  <m:ctrlPr>
                                    <a:rPr lang="en-NZ" altLang="ja-JP" sz="1800" b="1" i="1">
                                      <a:solidFill>
                                        <a:prstClr val="black"/>
                                      </a:solidFill>
                                      <a:latin typeface="Cambria Math" panose="02040503050406030204" pitchFamily="18" charset="0"/>
                                    </a:rPr>
                                  </m:ctrlPr>
                                </m:dPr>
                                <m:e>
                                  <m:r>
                                    <a:rPr lang="en-NZ" altLang="ja-JP" sz="1800" b="1" i="1">
                                      <a:solidFill>
                                        <a:prstClr val="black"/>
                                      </a:solidFill>
                                      <a:latin typeface="Cambria Math" panose="02040503050406030204" pitchFamily="18" charset="0"/>
                                    </a:rPr>
                                    <m:t>𝒏</m:t>
                                  </m:r>
                                </m:e>
                              </m:d>
                            </m:sup>
                          </m:sSup>
                          <m:d>
                            <m:dPr>
                              <m:ctrlPr>
                                <a:rPr lang="en-NZ" altLang="ja-JP" sz="1800" b="1" i="1">
                                  <a:solidFill>
                                    <a:prstClr val="black"/>
                                  </a:solidFill>
                                  <a:latin typeface="Cambria Math" panose="02040503050406030204" pitchFamily="18" charset="0"/>
                                </a:rPr>
                              </m:ctrlPr>
                            </m:dPr>
                            <m:e>
                              <m:r>
                                <a:rPr lang="en-NZ" altLang="ja-JP" sz="1800" b="1" i="1">
                                  <a:solidFill>
                                    <a:prstClr val="black"/>
                                  </a:solidFill>
                                  <a:latin typeface="Cambria Math" panose="02040503050406030204" pitchFamily="18" charset="0"/>
                                </a:rPr>
                                <m:t>𝒙</m:t>
                              </m:r>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𝒚</m:t>
                              </m:r>
                            </m:e>
                          </m:d>
                          <m:r>
                            <a:rPr lang="en-NZ" altLang="ja-JP" sz="1800" b="1" i="1">
                              <a:solidFill>
                                <a:prstClr val="black"/>
                              </a:solidFill>
                              <a:latin typeface="Cambria Math" panose="02040503050406030204" pitchFamily="18" charset="0"/>
                            </a:rPr>
                            <m:t> →  </m:t>
                          </m:r>
                        </m:fName>
                        <m:e>
                          <m:r>
                            <a:rPr lang="en-NZ" altLang="ja-JP" sz="1800" b="1" i="1" smtClean="0">
                              <a:solidFill>
                                <a:prstClr val="black"/>
                              </a:solidFill>
                              <a:latin typeface="Cambria Math" panose="02040503050406030204" pitchFamily="18" charset="0"/>
                            </a:rPr>
                            <m:t>𝒇</m:t>
                          </m:r>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𝒚</m:t>
                          </m:r>
                          <m:r>
                            <a:rPr lang="en-NZ" altLang="ja-JP" sz="1800" b="1" i="1">
                              <a:solidFill>
                                <a:prstClr val="black"/>
                              </a:solidFill>
                              <a:latin typeface="Cambria Math" panose="02040503050406030204" pitchFamily="18" charset="0"/>
                            </a:rPr>
                            <m:t>)</m:t>
                          </m:r>
                        </m:e>
                      </m:func>
                      <m:r>
                        <a:rPr lang="en-NZ" altLang="ja-JP" sz="1800" b="1" i="1">
                          <a:solidFill>
                            <a:prstClr val="black"/>
                          </a:solidFill>
                          <a:latin typeface="Cambria Math" panose="02040503050406030204" pitchFamily="18" charset="0"/>
                        </a:rPr>
                        <m:t>     </m:t>
                      </m:r>
                      <m:r>
                        <a:rPr lang="en-NZ" altLang="ja-JP" sz="1800" b="1" i="1">
                          <a:solidFill>
                            <a:prstClr val="black"/>
                          </a:solidFill>
                          <a:latin typeface="Cambria Math" panose="02040503050406030204" pitchFamily="18" charset="0"/>
                        </a:rPr>
                        <m:t>𝒂𝒔</m:t>
                      </m:r>
                      <m:r>
                        <a:rPr lang="en-NZ" altLang="ja-JP" sz="1800" b="1" i="1">
                          <a:solidFill>
                            <a:prstClr val="black"/>
                          </a:solidFill>
                          <a:latin typeface="Cambria Math" panose="02040503050406030204" pitchFamily="18" charset="0"/>
                        </a:rPr>
                        <m:t>  </m:t>
                      </m:r>
                      <m:r>
                        <a:rPr lang="en-NZ" altLang="ja-JP" sz="1800" b="1" i="1">
                          <a:solidFill>
                            <a:prstClr val="black"/>
                          </a:solidFill>
                          <a:latin typeface="Cambria Math" panose="02040503050406030204" pitchFamily="18" charset="0"/>
                        </a:rPr>
                        <m:t>𝒏</m:t>
                      </m:r>
                      <m:r>
                        <a:rPr lang="en-NZ" altLang="ja-JP" sz="1800" b="1" i="1">
                          <a:solidFill>
                            <a:prstClr val="black"/>
                          </a:solidFill>
                          <a:latin typeface="Cambria Math" panose="02040503050406030204" pitchFamily="18" charset="0"/>
                        </a:rPr>
                        <m:t>→∞</m:t>
                      </m:r>
                    </m:oMath>
                  </m:oMathPara>
                </a14:m>
                <a:endParaRPr lang="en-NZ" altLang="ja-JP" sz="1800" dirty="0">
                  <a:solidFill>
                    <a:schemeClr val="tx1"/>
                  </a:solidFill>
                </a:endParaRPr>
              </a:p>
            </p:txBody>
          </p:sp>
        </mc:Choice>
        <mc:Fallback>
          <p:sp>
            <p:nvSpPr>
              <p:cNvPr id="19" name="Text Placeholder 5">
                <a:extLst>
                  <a:ext uri="{FF2B5EF4-FFF2-40B4-BE49-F238E27FC236}">
                    <a16:creationId xmlns:a16="http://schemas.microsoft.com/office/drawing/2014/main" id="{D8338D8C-3936-DAB5-23D2-F64F970CE7AD}"/>
                  </a:ext>
                </a:extLst>
              </p:cNvPr>
              <p:cNvSpPr txBox="1">
                <a:spLocks noRot="1" noChangeAspect="1" noMove="1" noResize="1" noEditPoints="1" noAdjustHandles="1" noChangeArrowheads="1" noChangeShapeType="1" noTextEdit="1"/>
              </p:cNvSpPr>
              <p:nvPr/>
            </p:nvSpPr>
            <p:spPr>
              <a:xfrm>
                <a:off x="291660" y="900312"/>
                <a:ext cx="11608680" cy="1133892"/>
              </a:xfrm>
              <a:prstGeom prst="rect">
                <a:avLst/>
              </a:prstGeom>
              <a:blipFill>
                <a:blip r:embed="rId6"/>
                <a:stretch>
                  <a:fillRect l="-473" t="-3226" r="-788" b="-1613"/>
                </a:stretch>
              </a:blipFill>
            </p:spPr>
            <p:txBody>
              <a:bodyPr/>
              <a:lstStyle/>
              <a:p>
                <a:r>
                  <a:rPr lang="en-NZ">
                    <a:noFill/>
                  </a:rPr>
                  <a:t> </a:t>
                </a:r>
              </a:p>
            </p:txBody>
          </p:sp>
        </mc:Fallback>
      </mc:AlternateContent>
      <mc:AlternateContent xmlns:mc="http://schemas.openxmlformats.org/markup-compatibility/2006">
        <mc:Choice xmlns:a14="http://schemas.microsoft.com/office/drawing/2010/main" Requires="a14">
          <p:sp>
            <p:nvSpPr>
              <p:cNvPr id="20" name="Text Placeholder 5">
                <a:extLst>
                  <a:ext uri="{FF2B5EF4-FFF2-40B4-BE49-F238E27FC236}">
                    <a16:creationId xmlns:a16="http://schemas.microsoft.com/office/drawing/2014/main" id="{9E1160F1-A70D-AF9F-EB9D-5E9C59D7C82E}"/>
                  </a:ext>
                </a:extLst>
              </p:cNvPr>
              <p:cNvSpPr txBox="1">
                <a:spLocks/>
              </p:cNvSpPr>
              <p:nvPr/>
            </p:nvSpPr>
            <p:spPr>
              <a:xfrm>
                <a:off x="5302913" y="3306985"/>
                <a:ext cx="6187679" cy="90791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dirty="0">
                    <a:solidFill>
                      <a:schemeClr val="tx1"/>
                    </a:solidFill>
                  </a:rPr>
                  <a:t>Unfortunately, in most cases it is impossible to determine the value of </a:t>
                </a:r>
                <a:r>
                  <a:rPr lang="en-NZ" altLang="ja-JP" sz="1800" b="1" i="1" dirty="0">
                    <a:solidFill>
                      <a:schemeClr val="tx1"/>
                    </a:solidFill>
                  </a:rPr>
                  <a:t>N</a:t>
                </a:r>
                <a:r>
                  <a:rPr lang="en-NZ" altLang="ja-JP" sz="1800" dirty="0">
                    <a:solidFill>
                      <a:schemeClr val="tx1"/>
                    </a:solidFill>
                  </a:rPr>
                  <a:t> such that we can say with certainty that </a:t>
                </a:r>
                <a14:m>
                  <m:oMath xmlns:m="http://schemas.openxmlformats.org/officeDocument/2006/math">
                    <m:sSup>
                      <m:sSupPr>
                        <m:ctrlPr>
                          <a:rPr lang="en-NZ" altLang="ja-JP" sz="1800" b="1" i="1" smtClean="0">
                            <a:solidFill>
                              <a:schemeClr val="tx1"/>
                            </a:solidFill>
                            <a:latin typeface="Cambria Math" panose="02040503050406030204" pitchFamily="18" charset="0"/>
                          </a:rPr>
                        </m:ctrlPr>
                      </m:sSupPr>
                      <m:e>
                        <m:r>
                          <a:rPr lang="en-NZ" altLang="ja-JP" sz="1800" b="1" i="1" smtClean="0">
                            <a:solidFill>
                              <a:schemeClr val="tx1"/>
                            </a:solidFill>
                            <a:latin typeface="Cambria Math" panose="02040503050406030204" pitchFamily="18" charset="0"/>
                          </a:rPr>
                          <m:t>𝑿</m:t>
                        </m:r>
                      </m:e>
                      <m:sup>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𝒕</m:t>
                        </m:r>
                        <m:r>
                          <a:rPr lang="en-NZ" altLang="ja-JP" sz="1800" b="1" i="1" smtClean="0">
                            <a:solidFill>
                              <a:schemeClr val="tx1"/>
                            </a:solidFill>
                            <a:latin typeface="Cambria Math" panose="02040503050406030204" pitchFamily="18" charset="0"/>
                          </a:rPr>
                          <m:t>)</m:t>
                        </m:r>
                      </m:sup>
                    </m:sSup>
                    <m:r>
                      <a:rPr lang="en-NZ" altLang="ja-JP" sz="1800" b="1" i="1" smtClean="0">
                        <a:solidFill>
                          <a:schemeClr val="tx1"/>
                        </a:solidFill>
                        <a:latin typeface="Cambria Math" panose="02040503050406030204" pitchFamily="18" charset="0"/>
                      </a:rPr>
                      <m:t> ~ </m:t>
                    </m:r>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𝒇</m:t>
                        </m:r>
                      </m:e>
                      <m:sub>
                        <m:r>
                          <a:rPr lang="en-NZ" altLang="ja-JP" sz="1800" b="1" i="1" smtClean="0">
                            <a:solidFill>
                              <a:schemeClr val="tx1"/>
                            </a:solidFill>
                            <a:latin typeface="Cambria Math" panose="02040503050406030204" pitchFamily="18" charset="0"/>
                          </a:rPr>
                          <m:t>𝑿</m:t>
                        </m:r>
                      </m:sub>
                    </m:sSub>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𝒙</m:t>
                    </m:r>
                    <m:r>
                      <a:rPr lang="en-NZ" altLang="ja-JP" sz="1800" b="1" i="1" smtClean="0">
                        <a:solidFill>
                          <a:schemeClr val="tx1"/>
                        </a:solidFill>
                        <a:latin typeface="Cambria Math" panose="02040503050406030204" pitchFamily="18" charset="0"/>
                      </a:rPr>
                      <m:t>)</m:t>
                    </m:r>
                  </m:oMath>
                </a14:m>
                <a:endParaRPr lang="en-NZ" altLang="ja-JP" sz="1800" dirty="0">
                  <a:solidFill>
                    <a:schemeClr val="tx1"/>
                  </a:solidFill>
                </a:endParaRPr>
              </a:p>
              <a:p>
                <a:pPr lvl="0">
                  <a:lnSpc>
                    <a:spcPct val="100000"/>
                  </a:lnSpc>
                  <a:defRPr/>
                </a:pPr>
                <a:r>
                  <a:rPr lang="en-NZ" altLang="ja-JP" sz="1800" dirty="0">
                    <a:solidFill>
                      <a:schemeClr val="tx1"/>
                    </a:solidFill>
                  </a:rPr>
                  <a:t>for all </a:t>
                </a:r>
                <a:r>
                  <a:rPr lang="en-NZ" altLang="ja-JP" sz="1800" b="1" i="1" dirty="0">
                    <a:solidFill>
                      <a:schemeClr val="tx1"/>
                    </a:solidFill>
                  </a:rPr>
                  <a:t>t ≥ N.</a:t>
                </a:r>
                <a:endParaRPr lang="en-NZ" altLang="ja-JP" sz="1800" dirty="0">
                  <a:solidFill>
                    <a:schemeClr val="tx1"/>
                  </a:solidFill>
                </a:endParaRPr>
              </a:p>
            </p:txBody>
          </p:sp>
        </mc:Choice>
        <mc:Fallback>
          <p:sp>
            <p:nvSpPr>
              <p:cNvPr id="20" name="Text Placeholder 5">
                <a:extLst>
                  <a:ext uri="{FF2B5EF4-FFF2-40B4-BE49-F238E27FC236}">
                    <a16:creationId xmlns:a16="http://schemas.microsoft.com/office/drawing/2014/main" id="{9E1160F1-A70D-AF9F-EB9D-5E9C59D7C82E}"/>
                  </a:ext>
                </a:extLst>
              </p:cNvPr>
              <p:cNvSpPr txBox="1">
                <a:spLocks noRot="1" noChangeAspect="1" noMove="1" noResize="1" noEditPoints="1" noAdjustHandles="1" noChangeArrowheads="1" noChangeShapeType="1" noTextEdit="1"/>
              </p:cNvSpPr>
              <p:nvPr/>
            </p:nvSpPr>
            <p:spPr>
              <a:xfrm>
                <a:off x="5302913" y="3306985"/>
                <a:ext cx="6187679" cy="907915"/>
              </a:xfrm>
              <a:prstGeom prst="rect">
                <a:avLst/>
              </a:prstGeom>
              <a:blipFill>
                <a:blip r:embed="rId7"/>
                <a:stretch>
                  <a:fillRect l="-887" t="-3356" b="-12752"/>
                </a:stretch>
              </a:blipFill>
            </p:spPr>
            <p:txBody>
              <a:bodyPr/>
              <a:lstStyle/>
              <a:p>
                <a:r>
                  <a:rPr lang="en-NZ">
                    <a:noFill/>
                  </a:rPr>
                  <a:t> </a:t>
                </a:r>
              </a:p>
            </p:txBody>
          </p:sp>
        </mc:Fallback>
      </mc:AlternateContent>
      <p:sp>
        <p:nvSpPr>
          <p:cNvPr id="21" name="Text Placeholder 5">
            <a:extLst>
              <a:ext uri="{FF2B5EF4-FFF2-40B4-BE49-F238E27FC236}">
                <a16:creationId xmlns:a16="http://schemas.microsoft.com/office/drawing/2014/main" id="{29D5E00D-E54D-4ADA-BECD-6FD76A3AAA85}"/>
              </a:ext>
            </a:extLst>
          </p:cNvPr>
          <p:cNvSpPr txBox="1">
            <a:spLocks/>
          </p:cNvSpPr>
          <p:nvPr/>
        </p:nvSpPr>
        <p:spPr>
          <a:xfrm>
            <a:off x="5302914" y="4376921"/>
            <a:ext cx="5990520" cy="90791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dirty="0">
                <a:solidFill>
                  <a:srgbClr val="C00000"/>
                </a:solidFill>
              </a:rPr>
              <a:t>i.e. its impossible to tell when the chain has converged to the target distribution!</a:t>
            </a:r>
          </a:p>
        </p:txBody>
      </p:sp>
    </p:spTree>
    <p:extLst>
      <p:ext uri="{BB962C8B-B14F-4D97-AF65-F5344CB8AC3E}">
        <p14:creationId xmlns:p14="http://schemas.microsoft.com/office/powerpoint/2010/main" val="2889722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7" name="Title 6">
            <a:extLst>
              <a:ext uri="{FF2B5EF4-FFF2-40B4-BE49-F238E27FC236}">
                <a16:creationId xmlns:a16="http://schemas.microsoft.com/office/drawing/2014/main" id="{3012CB40-7BFC-849B-BE87-00F2AF82E7F1}"/>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10.1 – Overview</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8" name="Footer Placeholder 2">
            <a:extLst>
              <a:ext uri="{FF2B5EF4-FFF2-40B4-BE49-F238E27FC236}">
                <a16:creationId xmlns:a16="http://schemas.microsoft.com/office/drawing/2014/main" id="{48B34FB6-2786-2AF8-FADE-8468DE47531A}"/>
              </a:ext>
            </a:extLst>
          </p:cNvPr>
          <p:cNvSpPr txBox="1">
            <a:spLocks/>
          </p:cNvSpPr>
          <p:nvPr/>
        </p:nvSpPr>
        <p:spPr>
          <a:xfrm>
            <a:off x="8993875" y="86139"/>
            <a:ext cx="309549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10.1 - Overview</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19" name="Text Placeholder 5">
            <a:extLst>
              <a:ext uri="{FF2B5EF4-FFF2-40B4-BE49-F238E27FC236}">
                <a16:creationId xmlns:a16="http://schemas.microsoft.com/office/drawing/2014/main" id="{D8338D8C-3936-DAB5-23D2-F64F970CE7AD}"/>
              </a:ext>
            </a:extLst>
          </p:cNvPr>
          <p:cNvSpPr txBox="1">
            <a:spLocks/>
          </p:cNvSpPr>
          <p:nvPr/>
        </p:nvSpPr>
        <p:spPr>
          <a:xfrm>
            <a:off x="291660" y="900312"/>
            <a:ext cx="11608680"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dirty="0">
                <a:solidFill>
                  <a:schemeClr val="tx1"/>
                </a:solidFill>
              </a:rPr>
              <a:t>Despite this there are a number of visual and empirical tests that can be performed in order to asses convergence.</a:t>
            </a:r>
          </a:p>
          <a:p>
            <a:pPr lvl="0">
              <a:lnSpc>
                <a:spcPct val="100000"/>
              </a:lnSpc>
              <a:defRPr/>
            </a:pPr>
            <a:r>
              <a:rPr lang="en-NZ" altLang="ja-JP" sz="1800" dirty="0">
                <a:solidFill>
                  <a:schemeClr val="tx1"/>
                </a:solidFill>
              </a:rPr>
              <a:t>These include:</a:t>
            </a:r>
          </a:p>
        </p:txBody>
      </p:sp>
      <p:sp>
        <p:nvSpPr>
          <p:cNvPr id="15" name="Text Placeholder 5">
            <a:extLst>
              <a:ext uri="{FF2B5EF4-FFF2-40B4-BE49-F238E27FC236}">
                <a16:creationId xmlns:a16="http://schemas.microsoft.com/office/drawing/2014/main" id="{A8DFDC75-995A-3ADD-5610-C77600A20D08}"/>
              </a:ext>
            </a:extLst>
          </p:cNvPr>
          <p:cNvSpPr txBox="1">
            <a:spLocks/>
          </p:cNvSpPr>
          <p:nvPr/>
        </p:nvSpPr>
        <p:spPr>
          <a:xfrm>
            <a:off x="319463" y="1687032"/>
            <a:ext cx="1488170" cy="33767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b="1" dirty="0">
                <a:solidFill>
                  <a:srgbClr val="C00000"/>
                </a:solidFill>
              </a:rPr>
              <a:t>Visual Tests:</a:t>
            </a:r>
          </a:p>
        </p:txBody>
      </p:sp>
      <p:sp>
        <p:nvSpPr>
          <p:cNvPr id="16" name="Text Placeholder 5">
            <a:extLst>
              <a:ext uri="{FF2B5EF4-FFF2-40B4-BE49-F238E27FC236}">
                <a16:creationId xmlns:a16="http://schemas.microsoft.com/office/drawing/2014/main" id="{9ABD96DE-5C8E-8F20-2928-3BE3D59530DA}"/>
              </a:ext>
            </a:extLst>
          </p:cNvPr>
          <p:cNvSpPr txBox="1">
            <a:spLocks/>
          </p:cNvSpPr>
          <p:nvPr/>
        </p:nvSpPr>
        <p:spPr>
          <a:xfrm>
            <a:off x="583319" y="2120390"/>
            <a:ext cx="6322447"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Tx/>
              <a:buChar char="-"/>
              <a:defRPr/>
            </a:pPr>
            <a:r>
              <a:rPr lang="en-NZ" altLang="ja-JP" sz="1800" dirty="0">
                <a:solidFill>
                  <a:schemeClr val="tx1"/>
                </a:solidFill>
              </a:rPr>
              <a:t>Time series plots </a:t>
            </a:r>
            <a:r>
              <a:rPr lang="en-NZ" altLang="ja-JP" sz="1600" dirty="0">
                <a:solidFill>
                  <a:schemeClr val="tx1"/>
                </a:solidFill>
              </a:rPr>
              <a:t>(provide info on convergence &amp; mixing)</a:t>
            </a:r>
          </a:p>
          <a:p>
            <a:pPr marL="285750" indent="-285750">
              <a:lnSpc>
                <a:spcPct val="100000"/>
              </a:lnSpc>
              <a:buFontTx/>
              <a:buChar char="-"/>
              <a:defRPr/>
            </a:pPr>
            <a:r>
              <a:rPr lang="en-NZ" altLang="ja-JP" sz="1800" dirty="0">
                <a:solidFill>
                  <a:schemeClr val="tx1"/>
                </a:solidFill>
              </a:rPr>
              <a:t>Auto-correlation plots </a:t>
            </a:r>
            <a:r>
              <a:rPr lang="en-NZ" altLang="ja-JP" sz="1600" dirty="0">
                <a:solidFill>
                  <a:schemeClr val="tx1"/>
                </a:solidFill>
              </a:rPr>
              <a:t>(provide info on mixing and </a:t>
            </a:r>
            <a:r>
              <a:rPr lang="en-NZ" altLang="ja-JP" sz="1600" dirty="0" err="1">
                <a:solidFill>
                  <a:schemeClr val="tx1"/>
                </a:solidFill>
              </a:rPr>
              <a:t>iid’ness</a:t>
            </a:r>
            <a:r>
              <a:rPr lang="en-NZ" altLang="ja-JP" sz="1600" dirty="0">
                <a:solidFill>
                  <a:schemeClr val="tx1"/>
                </a:solidFill>
              </a:rPr>
              <a:t>)</a:t>
            </a:r>
          </a:p>
          <a:p>
            <a:pPr marL="285750" lvl="0" indent="-285750">
              <a:lnSpc>
                <a:spcPct val="100000"/>
              </a:lnSpc>
              <a:buFontTx/>
              <a:buChar char="-"/>
              <a:defRPr/>
            </a:pPr>
            <a:endParaRPr lang="en-NZ" altLang="ja-JP" sz="1800" dirty="0">
              <a:solidFill>
                <a:schemeClr val="tx1"/>
              </a:solidFill>
            </a:endParaRPr>
          </a:p>
        </p:txBody>
      </p:sp>
      <p:sp>
        <p:nvSpPr>
          <p:cNvPr id="21" name="Text Placeholder 5">
            <a:extLst>
              <a:ext uri="{FF2B5EF4-FFF2-40B4-BE49-F238E27FC236}">
                <a16:creationId xmlns:a16="http://schemas.microsoft.com/office/drawing/2014/main" id="{E228C72D-523D-0D79-4B32-2B4D503271AA}"/>
              </a:ext>
            </a:extLst>
          </p:cNvPr>
          <p:cNvSpPr txBox="1">
            <a:spLocks/>
          </p:cNvSpPr>
          <p:nvPr/>
        </p:nvSpPr>
        <p:spPr>
          <a:xfrm>
            <a:off x="319463" y="3009225"/>
            <a:ext cx="2232668" cy="33767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b="1" dirty="0">
                <a:solidFill>
                  <a:srgbClr val="C00000"/>
                </a:solidFill>
              </a:rPr>
              <a:t>Summary Statistics:</a:t>
            </a:r>
          </a:p>
        </p:txBody>
      </p:sp>
      <p:sp>
        <p:nvSpPr>
          <p:cNvPr id="22" name="Text Placeholder 5">
            <a:extLst>
              <a:ext uri="{FF2B5EF4-FFF2-40B4-BE49-F238E27FC236}">
                <a16:creationId xmlns:a16="http://schemas.microsoft.com/office/drawing/2014/main" id="{303A5524-CB7C-18D9-8E53-7F5C7383F10C}"/>
              </a:ext>
            </a:extLst>
          </p:cNvPr>
          <p:cNvSpPr txBox="1">
            <a:spLocks/>
          </p:cNvSpPr>
          <p:nvPr/>
        </p:nvSpPr>
        <p:spPr>
          <a:xfrm>
            <a:off x="583319" y="3490485"/>
            <a:ext cx="6445277" cy="98849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Tx/>
              <a:buChar char="-"/>
              <a:defRPr/>
            </a:pPr>
            <a:r>
              <a:rPr lang="en-NZ" altLang="ja-JP" sz="1800" dirty="0">
                <a:solidFill>
                  <a:schemeClr val="tx1"/>
                </a:solidFill>
              </a:rPr>
              <a:t>Obtaining summary statistics of the post-burn-in values of </a:t>
            </a:r>
            <a:br>
              <a:rPr lang="en-NZ" altLang="ja-JP" sz="1800" dirty="0">
                <a:solidFill>
                  <a:schemeClr val="tx1"/>
                </a:solidFill>
              </a:rPr>
            </a:br>
            <a:r>
              <a:rPr lang="en-NZ" altLang="ja-JP" sz="1800" dirty="0">
                <a:solidFill>
                  <a:schemeClr val="tx1"/>
                </a:solidFill>
              </a:rPr>
              <a:t>the chain using the </a:t>
            </a:r>
            <a:r>
              <a:rPr lang="en-NZ" altLang="ja-JP" sz="1800" b="1" i="1" dirty="0">
                <a:solidFill>
                  <a:schemeClr val="tx1"/>
                </a:solidFill>
              </a:rPr>
              <a:t>coda</a:t>
            </a:r>
            <a:r>
              <a:rPr lang="en-NZ" altLang="ja-JP" sz="1800" dirty="0">
                <a:solidFill>
                  <a:schemeClr val="tx1"/>
                </a:solidFill>
              </a:rPr>
              <a:t> package in R.</a:t>
            </a:r>
            <a:br>
              <a:rPr lang="en-NZ" altLang="ja-JP" sz="1800" dirty="0">
                <a:solidFill>
                  <a:schemeClr val="tx1"/>
                </a:solidFill>
              </a:rPr>
            </a:br>
            <a:r>
              <a:rPr lang="en-NZ" altLang="ja-JP" sz="1000" dirty="0">
                <a:solidFill>
                  <a:schemeClr val="tx1"/>
                </a:solidFill>
              </a:rPr>
              <a:t>If the target distribution has a particular mean and variance, then the post-burn-in values of the chain </a:t>
            </a:r>
            <a:br>
              <a:rPr lang="en-NZ" altLang="ja-JP" sz="1000" dirty="0">
                <a:solidFill>
                  <a:schemeClr val="tx1"/>
                </a:solidFill>
              </a:rPr>
            </a:br>
            <a:r>
              <a:rPr lang="en-NZ" altLang="ja-JP" sz="1000" dirty="0">
                <a:solidFill>
                  <a:schemeClr val="tx1"/>
                </a:solidFill>
              </a:rPr>
              <a:t>should also have a similar mean and variance.</a:t>
            </a:r>
            <a:endParaRPr lang="en-NZ" altLang="ja-JP" sz="1800" dirty="0">
              <a:solidFill>
                <a:schemeClr val="tx1"/>
              </a:solidFill>
            </a:endParaRPr>
          </a:p>
        </p:txBody>
      </p:sp>
      <p:sp>
        <p:nvSpPr>
          <p:cNvPr id="23" name="Text Placeholder 5">
            <a:extLst>
              <a:ext uri="{FF2B5EF4-FFF2-40B4-BE49-F238E27FC236}">
                <a16:creationId xmlns:a16="http://schemas.microsoft.com/office/drawing/2014/main" id="{F08A0BC6-EDA0-ACE6-57D2-6E99BA378EA3}"/>
              </a:ext>
            </a:extLst>
          </p:cNvPr>
          <p:cNvSpPr txBox="1">
            <a:spLocks/>
          </p:cNvSpPr>
          <p:nvPr/>
        </p:nvSpPr>
        <p:spPr>
          <a:xfrm>
            <a:off x="319463" y="4623830"/>
            <a:ext cx="2232668" cy="33767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b="1" dirty="0">
                <a:solidFill>
                  <a:srgbClr val="C00000"/>
                </a:solidFill>
              </a:rPr>
              <a:t>Statistical Tests:</a:t>
            </a:r>
          </a:p>
        </p:txBody>
      </p:sp>
      <p:sp>
        <p:nvSpPr>
          <p:cNvPr id="24" name="Text Placeholder 5">
            <a:extLst>
              <a:ext uri="{FF2B5EF4-FFF2-40B4-BE49-F238E27FC236}">
                <a16:creationId xmlns:a16="http://schemas.microsoft.com/office/drawing/2014/main" id="{F63E549A-44AE-4364-1CD5-173255069A38}"/>
              </a:ext>
            </a:extLst>
          </p:cNvPr>
          <p:cNvSpPr txBox="1">
            <a:spLocks/>
          </p:cNvSpPr>
          <p:nvPr/>
        </p:nvSpPr>
        <p:spPr>
          <a:xfrm>
            <a:off x="583318" y="5024250"/>
            <a:ext cx="6445277"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Tx/>
              <a:buChar char="-"/>
              <a:defRPr/>
            </a:pPr>
            <a:r>
              <a:rPr lang="en-NZ" altLang="ja-JP" sz="1800" dirty="0" err="1">
                <a:solidFill>
                  <a:schemeClr val="tx1"/>
                </a:solidFill>
              </a:rPr>
              <a:t>Geweke</a:t>
            </a:r>
            <a:r>
              <a:rPr lang="en-NZ" altLang="ja-JP" sz="1800" dirty="0">
                <a:solidFill>
                  <a:schemeClr val="tx1"/>
                </a:solidFill>
              </a:rPr>
              <a:t> Time Series Diagnostic</a:t>
            </a:r>
          </a:p>
          <a:p>
            <a:pPr marL="285750" lvl="0" indent="-285750">
              <a:lnSpc>
                <a:spcPct val="100000"/>
              </a:lnSpc>
              <a:buFontTx/>
              <a:buChar char="-"/>
              <a:defRPr/>
            </a:pPr>
            <a:r>
              <a:rPr lang="en-NZ" altLang="ja-JP" sz="1800" dirty="0">
                <a:solidFill>
                  <a:schemeClr val="tx1"/>
                </a:solidFill>
              </a:rPr>
              <a:t>Gelman &amp; Rubin Multiple Sequence Diagnostic</a:t>
            </a:r>
          </a:p>
          <a:p>
            <a:pPr marL="285750" lvl="0" indent="-285750">
              <a:lnSpc>
                <a:spcPct val="100000"/>
              </a:lnSpc>
              <a:buFontTx/>
              <a:buChar char="-"/>
              <a:defRPr/>
            </a:pPr>
            <a:r>
              <a:rPr lang="en-NZ" altLang="ja-JP" sz="1800" dirty="0">
                <a:solidFill>
                  <a:schemeClr val="tx1"/>
                </a:solidFill>
              </a:rPr>
              <a:t>Heidelberger &amp; Welch Diagnostic</a:t>
            </a:r>
          </a:p>
        </p:txBody>
      </p:sp>
      <p:sp>
        <p:nvSpPr>
          <p:cNvPr id="25" name="Text Placeholder 5">
            <a:extLst>
              <a:ext uri="{FF2B5EF4-FFF2-40B4-BE49-F238E27FC236}">
                <a16:creationId xmlns:a16="http://schemas.microsoft.com/office/drawing/2014/main" id="{EB8594CA-2C81-9CF9-5619-5557C596D9AA}"/>
              </a:ext>
            </a:extLst>
          </p:cNvPr>
          <p:cNvSpPr txBox="1">
            <a:spLocks/>
          </p:cNvSpPr>
          <p:nvPr/>
        </p:nvSpPr>
        <p:spPr>
          <a:xfrm>
            <a:off x="7742830" y="1687032"/>
            <a:ext cx="3865850" cy="33767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800" b="1" u="sng" dirty="0">
                <a:solidFill>
                  <a:schemeClr val="tx1"/>
                </a:solidFill>
              </a:rPr>
              <a:t>Notes:</a:t>
            </a:r>
          </a:p>
        </p:txBody>
      </p:sp>
      <p:sp>
        <p:nvSpPr>
          <p:cNvPr id="26" name="Text Placeholder 5">
            <a:extLst>
              <a:ext uri="{FF2B5EF4-FFF2-40B4-BE49-F238E27FC236}">
                <a16:creationId xmlns:a16="http://schemas.microsoft.com/office/drawing/2014/main" id="{D897C5B7-95C1-2ED8-DBF6-D07BC8EF8071}"/>
              </a:ext>
            </a:extLst>
          </p:cNvPr>
          <p:cNvSpPr txBox="1">
            <a:spLocks/>
          </p:cNvSpPr>
          <p:nvPr/>
        </p:nvSpPr>
        <p:spPr>
          <a:xfrm>
            <a:off x="7574507" y="2154781"/>
            <a:ext cx="4325833" cy="380290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i="1" dirty="0">
                <a:solidFill>
                  <a:schemeClr val="bg2">
                    <a:lumMod val="50000"/>
                  </a:schemeClr>
                </a:solidFill>
              </a:rPr>
              <a:t>If a chain passes all three of the statistical tests mentioned below, this does not imply convergence.</a:t>
            </a:r>
          </a:p>
          <a:p>
            <a:pPr lvl="0">
              <a:lnSpc>
                <a:spcPct val="100000"/>
              </a:lnSpc>
              <a:defRPr/>
            </a:pPr>
            <a:endParaRPr lang="en-NZ" altLang="ja-JP" sz="200" i="1" dirty="0">
              <a:solidFill>
                <a:schemeClr val="bg2">
                  <a:lumMod val="50000"/>
                </a:schemeClr>
              </a:solidFill>
            </a:endParaRPr>
          </a:p>
          <a:p>
            <a:pPr lvl="0">
              <a:lnSpc>
                <a:spcPct val="100000"/>
              </a:lnSpc>
              <a:defRPr/>
            </a:pPr>
            <a:endParaRPr lang="en-NZ" altLang="ja-JP" sz="200" i="1" dirty="0">
              <a:solidFill>
                <a:schemeClr val="bg2">
                  <a:lumMod val="50000"/>
                </a:schemeClr>
              </a:solidFill>
            </a:endParaRPr>
          </a:p>
          <a:p>
            <a:pPr lvl="0">
              <a:lnSpc>
                <a:spcPct val="100000"/>
              </a:lnSpc>
              <a:defRPr/>
            </a:pPr>
            <a:endParaRPr lang="en-NZ" altLang="ja-JP" sz="200" i="1" dirty="0">
              <a:solidFill>
                <a:schemeClr val="bg2">
                  <a:lumMod val="50000"/>
                </a:schemeClr>
              </a:solidFill>
            </a:endParaRPr>
          </a:p>
          <a:p>
            <a:pPr lvl="0">
              <a:lnSpc>
                <a:spcPct val="100000"/>
              </a:lnSpc>
              <a:defRPr/>
            </a:pPr>
            <a:r>
              <a:rPr lang="en-NZ" altLang="ja-JP" sz="1800" i="1" dirty="0">
                <a:solidFill>
                  <a:schemeClr val="bg2">
                    <a:lumMod val="50000"/>
                  </a:schemeClr>
                </a:solidFill>
              </a:rPr>
              <a:t>However, if a chain fails any of the three tests, this implies non-convergence.</a:t>
            </a:r>
            <a:br>
              <a:rPr lang="en-NZ" altLang="ja-JP" sz="1800" i="1" dirty="0">
                <a:solidFill>
                  <a:schemeClr val="bg2">
                    <a:lumMod val="50000"/>
                  </a:schemeClr>
                </a:solidFill>
              </a:rPr>
            </a:br>
            <a:endParaRPr lang="en-NZ" altLang="ja-JP" sz="1800" i="1" dirty="0">
              <a:solidFill>
                <a:schemeClr val="bg2">
                  <a:lumMod val="50000"/>
                </a:schemeClr>
              </a:solidFill>
            </a:endParaRPr>
          </a:p>
          <a:p>
            <a:pPr lvl="0">
              <a:lnSpc>
                <a:spcPct val="100000"/>
              </a:lnSpc>
              <a:defRPr/>
            </a:pPr>
            <a:endParaRPr lang="en-NZ" altLang="ja-JP" sz="1800" i="1" dirty="0">
              <a:solidFill>
                <a:schemeClr val="bg2">
                  <a:lumMod val="50000"/>
                </a:schemeClr>
              </a:solidFill>
            </a:endParaRPr>
          </a:p>
          <a:p>
            <a:pPr lvl="0">
              <a:lnSpc>
                <a:spcPct val="100000"/>
              </a:lnSpc>
              <a:defRPr/>
            </a:pPr>
            <a:r>
              <a:rPr lang="en-NZ" altLang="ja-JP" sz="1800" i="1" dirty="0">
                <a:solidFill>
                  <a:schemeClr val="bg2">
                    <a:lumMod val="50000"/>
                  </a:schemeClr>
                </a:solidFill>
              </a:rPr>
              <a:t>Statistical tests are not a substitute for visual plots, because statistical tests do not tell you how efficient the chain is.</a:t>
            </a:r>
          </a:p>
        </p:txBody>
      </p:sp>
      <p:cxnSp>
        <p:nvCxnSpPr>
          <p:cNvPr id="3" name="Straight Connector 2">
            <a:extLst>
              <a:ext uri="{FF2B5EF4-FFF2-40B4-BE49-F238E27FC236}">
                <a16:creationId xmlns:a16="http://schemas.microsoft.com/office/drawing/2014/main" id="{2C72EC52-35BA-0AB9-06FE-318AD302CD19}"/>
              </a:ext>
            </a:extLst>
          </p:cNvPr>
          <p:cNvCxnSpPr/>
          <p:nvPr/>
        </p:nvCxnSpPr>
        <p:spPr>
          <a:xfrm>
            <a:off x="7206018" y="1883391"/>
            <a:ext cx="0" cy="4299266"/>
          </a:xfrm>
          <a:prstGeom prst="line">
            <a:avLst/>
          </a:prstGeom>
          <a:ln w="3175">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5901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21" grpId="0"/>
      <p:bldP spid="22" grpId="0"/>
      <p:bldP spid="23" grpId="0"/>
      <p:bldP spid="24" grpId="0"/>
      <p:bldP spid="25" grpId="0"/>
      <p:bldP spid="26"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7F14062D-E1C1-4F63-B0FD-D013BDA5782B}"/>
              </a:ext>
            </a:extLst>
          </p:cNvPr>
          <p:cNvSpPr txBox="1"/>
          <p:nvPr/>
        </p:nvSpPr>
        <p:spPr>
          <a:xfrm>
            <a:off x="43707" y="2844225"/>
            <a:ext cx="12104586" cy="7848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NZ" sz="4500" b="1" dirty="0">
                <a:solidFill>
                  <a:srgbClr val="FFC000"/>
                </a:solidFill>
                <a:latin typeface="Calibri" panose="020F0502020204030204"/>
              </a:rPr>
              <a:t>10.2 – Summary Statistics</a:t>
            </a:r>
            <a:endPar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48755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7" name="Title 6">
            <a:extLst>
              <a:ext uri="{FF2B5EF4-FFF2-40B4-BE49-F238E27FC236}">
                <a16:creationId xmlns:a16="http://schemas.microsoft.com/office/drawing/2014/main" id="{3012CB40-7BFC-849B-BE87-00F2AF82E7F1}"/>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10.2 – Summary Statistics</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8" name="Footer Placeholder 2">
            <a:extLst>
              <a:ext uri="{FF2B5EF4-FFF2-40B4-BE49-F238E27FC236}">
                <a16:creationId xmlns:a16="http://schemas.microsoft.com/office/drawing/2014/main" id="{48B34FB6-2786-2AF8-FADE-8468DE47531A}"/>
              </a:ext>
            </a:extLst>
          </p:cNvPr>
          <p:cNvSpPr txBox="1">
            <a:spLocks/>
          </p:cNvSpPr>
          <p:nvPr/>
        </p:nvSpPr>
        <p:spPr>
          <a:xfrm>
            <a:off x="8993875" y="86139"/>
            <a:ext cx="309549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10.2 – Summary Statistics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19" name="Text Placeholder 5">
                <a:extLst>
                  <a:ext uri="{FF2B5EF4-FFF2-40B4-BE49-F238E27FC236}">
                    <a16:creationId xmlns:a16="http://schemas.microsoft.com/office/drawing/2014/main" id="{D8338D8C-3936-DAB5-23D2-F64F970CE7AD}"/>
                  </a:ext>
                </a:extLst>
              </p:cNvPr>
              <p:cNvSpPr txBox="1">
                <a:spLocks/>
              </p:cNvSpPr>
              <p:nvPr/>
            </p:nvSpPr>
            <p:spPr>
              <a:xfrm>
                <a:off x="291660" y="900312"/>
                <a:ext cx="11608680" cy="9421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dirty="0">
                    <a:solidFill>
                      <a:srgbClr val="002060"/>
                    </a:solidFill>
                  </a:rPr>
                  <a:t>Consider the problem of obtaining a sample of observations from the bivariate normal distribution defined by</a:t>
                </a:r>
              </a:p>
              <a:p>
                <a:pPr lvl="0" algn="ctr">
                  <a:lnSpc>
                    <a:spcPct val="100000"/>
                  </a:lnSpc>
                  <a:defRPr/>
                </a:pPr>
                <a14:m>
                  <m:oMath xmlns:m="http://schemas.openxmlformats.org/officeDocument/2006/math">
                    <m:r>
                      <a:rPr lang="en-NZ" altLang="ja-JP" sz="1800" b="1" i="1" smtClean="0">
                        <a:solidFill>
                          <a:srgbClr val="002060"/>
                        </a:solidFill>
                        <a:latin typeface="Cambria Math" panose="02040503050406030204" pitchFamily="18" charset="0"/>
                      </a:rPr>
                      <m:t>𝑵</m:t>
                    </m:r>
                    <m:r>
                      <a:rPr lang="en-NZ" altLang="ja-JP" sz="1800" b="1" i="1" smtClean="0">
                        <a:solidFill>
                          <a:srgbClr val="002060"/>
                        </a:solidFill>
                        <a:latin typeface="Cambria Math" panose="02040503050406030204" pitchFamily="18" charset="0"/>
                      </a:rPr>
                      <m:t>( </m:t>
                    </m:r>
                    <m:bar>
                      <m:barPr>
                        <m:ctrlPr>
                          <a:rPr lang="en-NZ" altLang="ja-JP" sz="1800" b="1" i="1" smtClean="0">
                            <a:solidFill>
                              <a:srgbClr val="002060"/>
                            </a:solidFill>
                            <a:latin typeface="Cambria Math" panose="02040503050406030204" pitchFamily="18" charset="0"/>
                          </a:rPr>
                        </m:ctrlPr>
                      </m:barPr>
                      <m:e>
                        <m:r>
                          <a:rPr lang="en-NZ" altLang="ja-JP" sz="1800" b="1" i="1" smtClean="0">
                            <a:solidFill>
                              <a:srgbClr val="002060"/>
                            </a:solidFill>
                            <a:latin typeface="Cambria Math" panose="02040503050406030204" pitchFamily="18" charset="0"/>
                          </a:rPr>
                          <m:t>𝝁</m:t>
                        </m:r>
                      </m:e>
                    </m:bar>
                    <m:r>
                      <a:rPr lang="en-NZ" altLang="ja-JP" sz="1800" b="1" i="1" smtClean="0">
                        <a:solidFill>
                          <a:srgbClr val="002060"/>
                        </a:solidFill>
                        <a:latin typeface="Cambria Math" panose="02040503050406030204" pitchFamily="18" charset="0"/>
                      </a:rPr>
                      <m:t> , </m:t>
                    </m:r>
                    <m:r>
                      <a:rPr lang="en-NZ" altLang="ja-JP" sz="1800" b="1" i="0" smtClean="0">
                        <a:solidFill>
                          <a:srgbClr val="002060"/>
                        </a:solidFill>
                        <a:latin typeface="Cambria Math" panose="02040503050406030204" pitchFamily="18" charset="0"/>
                      </a:rPr>
                      <m:t>𝚺</m:t>
                    </m:r>
                    <m:r>
                      <a:rPr lang="en-NZ" altLang="ja-JP" sz="1800" b="1" i="1" smtClean="0">
                        <a:solidFill>
                          <a:srgbClr val="002060"/>
                        </a:solidFill>
                        <a:latin typeface="Cambria Math" panose="02040503050406030204" pitchFamily="18" charset="0"/>
                      </a:rPr>
                      <m:t> )</m:t>
                    </m:r>
                  </m:oMath>
                </a14:m>
                <a:r>
                  <a:rPr lang="en-NZ" altLang="ja-JP" sz="1800" b="1" dirty="0">
                    <a:solidFill>
                      <a:srgbClr val="002060"/>
                    </a:solidFill>
                  </a:rPr>
                  <a:t>     </a:t>
                </a:r>
                <a:r>
                  <a:rPr lang="en-NZ" altLang="ja-JP" sz="1800" dirty="0">
                    <a:solidFill>
                      <a:srgbClr val="002060"/>
                    </a:solidFill>
                  </a:rPr>
                  <a:t>where</a:t>
                </a:r>
                <a:r>
                  <a:rPr lang="en-NZ" altLang="ja-JP" sz="1800" b="1" dirty="0">
                    <a:solidFill>
                      <a:srgbClr val="002060"/>
                    </a:solidFill>
                  </a:rPr>
                  <a:t>    </a:t>
                </a:r>
                <a14:m>
                  <m:oMath xmlns:m="http://schemas.openxmlformats.org/officeDocument/2006/math">
                    <m:bar>
                      <m:barPr>
                        <m:ctrlPr>
                          <a:rPr lang="en-NZ" altLang="ja-JP" sz="1800" b="1" i="1">
                            <a:solidFill>
                              <a:srgbClr val="002060"/>
                            </a:solidFill>
                            <a:latin typeface="Cambria Math" panose="02040503050406030204" pitchFamily="18" charset="0"/>
                          </a:rPr>
                        </m:ctrlPr>
                      </m:barPr>
                      <m:e>
                        <m:r>
                          <a:rPr lang="en-NZ" altLang="ja-JP" sz="1800" b="1" i="1">
                            <a:solidFill>
                              <a:srgbClr val="002060"/>
                            </a:solidFill>
                            <a:latin typeface="Cambria Math" panose="02040503050406030204" pitchFamily="18" charset="0"/>
                          </a:rPr>
                          <m:t>𝝁</m:t>
                        </m:r>
                      </m:e>
                    </m:bar>
                    <m:r>
                      <a:rPr lang="en-NZ" altLang="ja-JP" sz="1800" b="1" i="1" smtClean="0">
                        <a:solidFill>
                          <a:srgbClr val="002060"/>
                        </a:solidFill>
                        <a:latin typeface="Cambria Math" panose="02040503050406030204" pitchFamily="18" charset="0"/>
                      </a:rPr>
                      <m:t>=</m:t>
                    </m:r>
                    <m:sSup>
                      <m:sSupPr>
                        <m:ctrlPr>
                          <a:rPr lang="en-NZ" altLang="ja-JP" sz="1800" b="1" i="1" smtClean="0">
                            <a:solidFill>
                              <a:srgbClr val="002060"/>
                            </a:solidFill>
                            <a:latin typeface="Cambria Math" panose="02040503050406030204" pitchFamily="18" charset="0"/>
                          </a:rPr>
                        </m:ctrlPr>
                      </m:sSupPr>
                      <m:e>
                        <m:d>
                          <m:dPr>
                            <m:ctrlPr>
                              <a:rPr lang="en-NZ" altLang="ja-JP" sz="1800" b="1" i="1" smtClean="0">
                                <a:solidFill>
                                  <a:srgbClr val="002060"/>
                                </a:solidFill>
                                <a:latin typeface="Cambria Math" panose="02040503050406030204" pitchFamily="18" charset="0"/>
                              </a:rPr>
                            </m:ctrlPr>
                          </m:dPr>
                          <m:e>
                            <m:r>
                              <a:rPr lang="en-NZ" altLang="ja-JP" sz="1800" b="1" i="1" smtClean="0">
                                <a:solidFill>
                                  <a:srgbClr val="002060"/>
                                </a:solidFill>
                                <a:latin typeface="Cambria Math" panose="02040503050406030204" pitchFamily="18" charset="0"/>
                              </a:rPr>
                              <m:t>𝟑</m:t>
                            </m:r>
                            <m:r>
                              <a:rPr lang="en-NZ" altLang="ja-JP" sz="1800" b="1" i="1" smtClean="0">
                                <a:solidFill>
                                  <a:srgbClr val="002060"/>
                                </a:solidFill>
                                <a:latin typeface="Cambria Math" panose="02040503050406030204" pitchFamily="18" charset="0"/>
                              </a:rPr>
                              <m:t>,</m:t>
                            </m:r>
                            <m:r>
                              <a:rPr lang="en-NZ" altLang="ja-JP" sz="1800" b="1" i="1" smtClean="0">
                                <a:solidFill>
                                  <a:srgbClr val="002060"/>
                                </a:solidFill>
                                <a:latin typeface="Cambria Math" panose="02040503050406030204" pitchFamily="18" charset="0"/>
                              </a:rPr>
                              <m:t>𝟏</m:t>
                            </m:r>
                          </m:e>
                        </m:d>
                      </m:e>
                      <m:sup>
                        <m:r>
                          <a:rPr lang="en-NZ" altLang="ja-JP" sz="1800" b="1" i="1" smtClean="0">
                            <a:solidFill>
                              <a:srgbClr val="002060"/>
                            </a:solidFill>
                            <a:latin typeface="Cambria Math" panose="02040503050406030204" pitchFamily="18" charset="0"/>
                          </a:rPr>
                          <m:t>𝑻</m:t>
                        </m:r>
                      </m:sup>
                    </m:sSup>
                  </m:oMath>
                </a14:m>
                <a:r>
                  <a:rPr lang="en-NZ" altLang="ja-JP" sz="1800" b="1" dirty="0">
                    <a:solidFill>
                      <a:srgbClr val="002060"/>
                    </a:solidFill>
                  </a:rPr>
                  <a:t>    </a:t>
                </a:r>
                <a:r>
                  <a:rPr lang="en-NZ" altLang="ja-JP" sz="1800" dirty="0">
                    <a:solidFill>
                      <a:srgbClr val="002060"/>
                    </a:solidFill>
                  </a:rPr>
                  <a:t>and</a:t>
                </a:r>
                <a:r>
                  <a:rPr lang="en-NZ" altLang="ja-JP" sz="1800" b="1" dirty="0">
                    <a:solidFill>
                      <a:srgbClr val="002060"/>
                    </a:solidFill>
                  </a:rPr>
                  <a:t>    </a:t>
                </a:r>
                <a14:m>
                  <m:oMath xmlns:m="http://schemas.openxmlformats.org/officeDocument/2006/math">
                    <m:r>
                      <a:rPr lang="en-NZ" altLang="ja-JP" sz="1800" b="1" i="0" smtClean="0">
                        <a:solidFill>
                          <a:srgbClr val="002060"/>
                        </a:solidFill>
                        <a:latin typeface="Cambria Math" panose="02040503050406030204" pitchFamily="18" charset="0"/>
                      </a:rPr>
                      <m:t>𝚺</m:t>
                    </m:r>
                    <m:r>
                      <a:rPr lang="en-NZ" altLang="ja-JP" sz="1800" b="1" i="1" smtClean="0">
                        <a:solidFill>
                          <a:srgbClr val="002060"/>
                        </a:solidFill>
                        <a:latin typeface="Cambria Math" panose="02040503050406030204" pitchFamily="18" charset="0"/>
                      </a:rPr>
                      <m:t>= </m:t>
                    </m:r>
                    <m:d>
                      <m:dPr>
                        <m:begChr m:val="["/>
                        <m:endChr m:val="]"/>
                        <m:ctrlPr>
                          <a:rPr lang="en-NZ" altLang="ja-JP" sz="1800" b="1" i="1" smtClean="0">
                            <a:solidFill>
                              <a:srgbClr val="002060"/>
                            </a:solidFill>
                            <a:latin typeface="Cambria Math" panose="02040503050406030204" pitchFamily="18" charset="0"/>
                          </a:rPr>
                        </m:ctrlPr>
                      </m:dPr>
                      <m:e>
                        <m:m>
                          <m:mPr>
                            <m:mcs>
                              <m:mc>
                                <m:mcPr>
                                  <m:count m:val="2"/>
                                  <m:mcJc m:val="center"/>
                                </m:mcPr>
                              </m:mc>
                            </m:mcs>
                            <m:ctrlPr>
                              <a:rPr lang="en-NZ" altLang="ja-JP" sz="1800" b="1" i="1" smtClean="0">
                                <a:solidFill>
                                  <a:srgbClr val="002060"/>
                                </a:solidFill>
                                <a:latin typeface="Cambria Math" panose="02040503050406030204" pitchFamily="18" charset="0"/>
                              </a:rPr>
                            </m:ctrlPr>
                          </m:mPr>
                          <m:mr>
                            <m:e>
                              <m:r>
                                <m:rPr>
                                  <m:brk m:alnAt="7"/>
                                </m:rPr>
                                <a:rPr lang="en-NZ" altLang="ja-JP" sz="1800" b="1" i="1" smtClean="0">
                                  <a:solidFill>
                                    <a:srgbClr val="002060"/>
                                  </a:solidFill>
                                  <a:latin typeface="Cambria Math" panose="02040503050406030204" pitchFamily="18" charset="0"/>
                                </a:rPr>
                                <m:t>𝟏</m:t>
                              </m:r>
                            </m:e>
                            <m:e>
                              <m:r>
                                <a:rPr lang="en-NZ" altLang="ja-JP" sz="1800" b="1" i="1" smtClean="0">
                                  <a:solidFill>
                                    <a:srgbClr val="002060"/>
                                  </a:solidFill>
                                  <a:latin typeface="Cambria Math" panose="02040503050406030204" pitchFamily="18" charset="0"/>
                                </a:rPr>
                                <m:t>−</m:t>
                              </m:r>
                              <m:r>
                                <a:rPr lang="en-NZ" altLang="ja-JP" sz="1800" b="1" i="1" smtClean="0">
                                  <a:solidFill>
                                    <a:srgbClr val="002060"/>
                                  </a:solidFill>
                                  <a:latin typeface="Cambria Math" panose="02040503050406030204" pitchFamily="18" charset="0"/>
                                </a:rPr>
                                <m:t>𝟎</m:t>
                              </m:r>
                              <m:r>
                                <a:rPr lang="en-NZ" altLang="ja-JP" sz="1800" b="1" i="1" smtClean="0">
                                  <a:solidFill>
                                    <a:srgbClr val="002060"/>
                                  </a:solidFill>
                                  <a:latin typeface="Cambria Math" panose="02040503050406030204" pitchFamily="18" charset="0"/>
                                </a:rPr>
                                <m:t>.</m:t>
                              </m:r>
                              <m:r>
                                <a:rPr lang="en-NZ" altLang="ja-JP" sz="1800" b="1" i="1" smtClean="0">
                                  <a:solidFill>
                                    <a:srgbClr val="002060"/>
                                  </a:solidFill>
                                  <a:latin typeface="Cambria Math" panose="02040503050406030204" pitchFamily="18" charset="0"/>
                                </a:rPr>
                                <m:t>𝟓</m:t>
                              </m:r>
                            </m:e>
                          </m:mr>
                          <m:mr>
                            <m:e>
                              <m:r>
                                <a:rPr lang="en-NZ" altLang="ja-JP" sz="1800" b="1" i="1" smtClean="0">
                                  <a:solidFill>
                                    <a:srgbClr val="002060"/>
                                  </a:solidFill>
                                  <a:latin typeface="Cambria Math" panose="02040503050406030204" pitchFamily="18" charset="0"/>
                                </a:rPr>
                                <m:t>−</m:t>
                              </m:r>
                              <m:r>
                                <a:rPr lang="en-NZ" altLang="ja-JP" sz="1800" b="1" i="1" smtClean="0">
                                  <a:solidFill>
                                    <a:srgbClr val="002060"/>
                                  </a:solidFill>
                                  <a:latin typeface="Cambria Math" panose="02040503050406030204" pitchFamily="18" charset="0"/>
                                </a:rPr>
                                <m:t>𝟎</m:t>
                              </m:r>
                              <m:r>
                                <a:rPr lang="en-NZ" altLang="ja-JP" sz="1800" b="1" i="1" smtClean="0">
                                  <a:solidFill>
                                    <a:srgbClr val="002060"/>
                                  </a:solidFill>
                                  <a:latin typeface="Cambria Math" panose="02040503050406030204" pitchFamily="18" charset="0"/>
                                </a:rPr>
                                <m:t>.</m:t>
                              </m:r>
                              <m:r>
                                <a:rPr lang="en-NZ" altLang="ja-JP" sz="1800" b="1" i="1" smtClean="0">
                                  <a:solidFill>
                                    <a:srgbClr val="002060"/>
                                  </a:solidFill>
                                  <a:latin typeface="Cambria Math" panose="02040503050406030204" pitchFamily="18" charset="0"/>
                                </a:rPr>
                                <m:t>𝟓</m:t>
                              </m:r>
                            </m:e>
                            <m:e>
                              <m:r>
                                <a:rPr lang="en-NZ" altLang="ja-JP" sz="1800" b="1" i="1" smtClean="0">
                                  <a:solidFill>
                                    <a:srgbClr val="002060"/>
                                  </a:solidFill>
                                  <a:latin typeface="Cambria Math" panose="02040503050406030204" pitchFamily="18" charset="0"/>
                                </a:rPr>
                                <m:t>𝟐</m:t>
                              </m:r>
                              <m:r>
                                <a:rPr lang="en-NZ" altLang="ja-JP" sz="1800" b="1" i="1" smtClean="0">
                                  <a:solidFill>
                                    <a:srgbClr val="002060"/>
                                  </a:solidFill>
                                  <a:latin typeface="Cambria Math" panose="02040503050406030204" pitchFamily="18" charset="0"/>
                                </a:rPr>
                                <m:t>.</m:t>
                              </m:r>
                              <m:r>
                                <a:rPr lang="en-NZ" altLang="ja-JP" sz="1800" b="1" i="1" smtClean="0">
                                  <a:solidFill>
                                    <a:srgbClr val="002060"/>
                                  </a:solidFill>
                                  <a:latin typeface="Cambria Math" panose="02040503050406030204" pitchFamily="18" charset="0"/>
                                </a:rPr>
                                <m:t>𝟎</m:t>
                              </m:r>
                            </m:e>
                          </m:mr>
                        </m:m>
                      </m:e>
                    </m:d>
                  </m:oMath>
                </a14:m>
                <a:endParaRPr lang="en-NZ" altLang="ja-JP" sz="1800" b="1" dirty="0">
                  <a:solidFill>
                    <a:srgbClr val="002060"/>
                  </a:solidFill>
                </a:endParaRPr>
              </a:p>
            </p:txBody>
          </p:sp>
        </mc:Choice>
        <mc:Fallback xmlns="">
          <p:sp>
            <p:nvSpPr>
              <p:cNvPr id="19" name="Text Placeholder 5">
                <a:extLst>
                  <a:ext uri="{FF2B5EF4-FFF2-40B4-BE49-F238E27FC236}">
                    <a16:creationId xmlns:a16="http://schemas.microsoft.com/office/drawing/2014/main" id="{D8338D8C-3936-DAB5-23D2-F64F970CE7AD}"/>
                  </a:ext>
                </a:extLst>
              </p:cNvPr>
              <p:cNvSpPr txBox="1">
                <a:spLocks noRot="1" noChangeAspect="1" noMove="1" noResize="1" noEditPoints="1" noAdjustHandles="1" noChangeArrowheads="1" noChangeShapeType="1" noTextEdit="1"/>
              </p:cNvSpPr>
              <p:nvPr/>
            </p:nvSpPr>
            <p:spPr>
              <a:xfrm>
                <a:off x="291660" y="900312"/>
                <a:ext cx="11608680" cy="942136"/>
              </a:xfrm>
              <a:prstGeom prst="rect">
                <a:avLst/>
              </a:prstGeom>
              <a:blipFill>
                <a:blip r:embed="rId3"/>
                <a:stretch>
                  <a:fillRect l="-473" t="-3896"/>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02069609-C918-3C1F-94DD-EB7B910F40A2}"/>
                  </a:ext>
                </a:extLst>
              </p:cNvPr>
              <p:cNvSpPr txBox="1">
                <a:spLocks/>
              </p:cNvSpPr>
              <p:nvPr/>
            </p:nvSpPr>
            <p:spPr>
              <a:xfrm>
                <a:off x="319463" y="2032058"/>
                <a:ext cx="11608680" cy="174837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dirty="0">
                    <a:solidFill>
                      <a:schemeClr val="tx1"/>
                    </a:solidFill>
                  </a:rPr>
                  <a:t>In this case we wish to use the Metropolis-Hastings algorithm to create a 2-dimensional Markov chain </a:t>
                </a:r>
                <a14:m>
                  <m:oMath xmlns:m="http://schemas.openxmlformats.org/officeDocument/2006/math">
                    <m:sSubSup>
                      <m:sSubSup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SupPr>
                      <m:e>
                        <m:d>
                          <m:dPr>
                            <m:begChr m:val="{"/>
                            <m:endChr m:val="}"/>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dPr>
                          <m:e>
                            <m:sSup>
                              <m:sSup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p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𝑿</m:t>
                                </m:r>
                              </m:e>
                              <m:sup>
                                <m:d>
                                  <m:d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d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𝒕</m:t>
                                    </m:r>
                                  </m:e>
                                </m:d>
                              </m:sup>
                            </m:sSup>
                          </m:e>
                        </m:d>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𝒕</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𝟎</m:t>
                        </m:r>
                      </m:sub>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sup>
                    </m:sSubSup>
                  </m:oMath>
                </a14:m>
                <a:r>
                  <a:rPr lang="en-NZ" altLang="ja-JP" sz="1800" b="1" dirty="0">
                    <a:solidFill>
                      <a:schemeClr val="tx1"/>
                    </a:solidFill>
                  </a:rPr>
                  <a:t> </a:t>
                </a:r>
                <a:br>
                  <a:rPr lang="en-NZ" altLang="ja-JP" sz="1800" b="1" dirty="0">
                    <a:solidFill>
                      <a:schemeClr val="tx1"/>
                    </a:solidFill>
                  </a:rPr>
                </a:br>
                <a:r>
                  <a:rPr lang="en-NZ" altLang="ja-JP" sz="1800" dirty="0">
                    <a:solidFill>
                      <a:schemeClr val="tx1"/>
                    </a:solidFill>
                  </a:rPr>
                  <a:t>where </a:t>
                </a:r>
                <a14:m>
                  <m:oMath xmlns:m="http://schemas.openxmlformats.org/officeDocument/2006/math">
                    <m:sSup>
                      <m:sSupPr>
                        <m:ctrlPr>
                          <a:rPr lang="en-NZ" altLang="ja-JP" sz="1800" b="1" i="1" smtClean="0">
                            <a:solidFill>
                              <a:schemeClr val="tx1"/>
                            </a:solidFill>
                            <a:latin typeface="Cambria Math" panose="02040503050406030204" pitchFamily="18" charset="0"/>
                          </a:rPr>
                        </m:ctrlPr>
                      </m:sSupPr>
                      <m:e>
                        <m:r>
                          <a:rPr lang="en-NZ" altLang="ja-JP" sz="1800" b="1" i="1" smtClean="0">
                            <a:solidFill>
                              <a:schemeClr val="tx1"/>
                            </a:solidFill>
                            <a:latin typeface="Cambria Math" panose="02040503050406030204" pitchFamily="18" charset="0"/>
                          </a:rPr>
                          <m:t>𝑿</m:t>
                        </m:r>
                      </m:e>
                      <m:sup>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𝒕</m:t>
                        </m:r>
                        <m:r>
                          <a:rPr lang="en-NZ" altLang="ja-JP" sz="1800" b="1" i="1" smtClean="0">
                            <a:solidFill>
                              <a:schemeClr val="tx1"/>
                            </a:solidFill>
                            <a:latin typeface="Cambria Math" panose="02040503050406030204" pitchFamily="18" charset="0"/>
                          </a:rPr>
                          <m:t>)</m:t>
                        </m:r>
                      </m:sup>
                    </m:sSup>
                    <m:r>
                      <a:rPr lang="en-NZ" altLang="ja-JP" sz="1800" b="1" i="1" smtClean="0">
                        <a:solidFill>
                          <a:schemeClr val="tx1"/>
                        </a:solidFill>
                        <a:latin typeface="Cambria Math" panose="02040503050406030204" pitchFamily="18" charset="0"/>
                      </a:rPr>
                      <m:t>= </m:t>
                    </m:r>
                    <m:d>
                      <m:dPr>
                        <m:ctrlPr>
                          <a:rPr lang="en-NZ" altLang="ja-JP" sz="1800" b="1" i="1" smtClean="0">
                            <a:solidFill>
                              <a:schemeClr val="tx1"/>
                            </a:solidFill>
                            <a:latin typeface="Cambria Math" panose="02040503050406030204" pitchFamily="18" charset="0"/>
                          </a:rPr>
                        </m:ctrlPr>
                      </m:dPr>
                      <m:e>
                        <m:m>
                          <m:mPr>
                            <m:mcs>
                              <m:mc>
                                <m:mcPr>
                                  <m:count m:val="2"/>
                                  <m:mcJc m:val="center"/>
                                </m:mcPr>
                              </m:mc>
                            </m:mcs>
                            <m:ctrlPr>
                              <a:rPr lang="en-NZ" altLang="ja-JP" sz="1800" b="1" i="1" smtClean="0">
                                <a:solidFill>
                                  <a:schemeClr val="tx1"/>
                                </a:solidFill>
                                <a:latin typeface="Cambria Math" panose="02040503050406030204" pitchFamily="18" charset="0"/>
                              </a:rPr>
                            </m:ctrlPr>
                          </m:mPr>
                          <m:mr>
                            <m:e>
                              <m:sSubSup>
                                <m:sSubSupPr>
                                  <m:ctrlPr>
                                    <a:rPr lang="en-NZ" altLang="ja-JP" sz="1800" b="1" i="1" smtClean="0">
                                      <a:solidFill>
                                        <a:schemeClr val="tx1"/>
                                      </a:solidFill>
                                      <a:latin typeface="Cambria Math" panose="02040503050406030204" pitchFamily="18" charset="0"/>
                                    </a:rPr>
                                  </m:ctrlPr>
                                </m:sSubSupPr>
                                <m:e>
                                  <m:r>
                                    <a:rPr lang="en-NZ" altLang="ja-JP" sz="1800" b="1" i="1">
                                      <a:solidFill>
                                        <a:schemeClr val="tx1"/>
                                      </a:solidFill>
                                      <a:latin typeface="Cambria Math" panose="02040503050406030204" pitchFamily="18" charset="0"/>
                                    </a:rPr>
                                    <m:t>𝑿</m:t>
                                  </m:r>
                                </m:e>
                                <m:sub>
                                  <m:r>
                                    <a:rPr lang="en-NZ" altLang="ja-JP" sz="1800" b="1" i="1" smtClean="0">
                                      <a:solidFill>
                                        <a:schemeClr val="tx1"/>
                                      </a:solidFill>
                                      <a:latin typeface="Cambria Math" panose="02040503050406030204" pitchFamily="18" charset="0"/>
                                    </a:rPr>
                                    <m:t>𝟏</m:t>
                                  </m:r>
                                </m:sub>
                                <m:sup>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𝒕</m:t>
                                      </m:r>
                                    </m:e>
                                  </m:d>
                                </m:sup>
                              </m:sSubSup>
                              <m:r>
                                <a:rPr lang="en-NZ" altLang="ja-JP" sz="1800" b="1" i="1" smtClean="0">
                                  <a:solidFill>
                                    <a:schemeClr val="tx1"/>
                                  </a:solidFill>
                                  <a:latin typeface="Cambria Math" panose="02040503050406030204" pitchFamily="18" charset="0"/>
                                </a:rPr>
                                <m:t>,</m:t>
                              </m:r>
                            </m:e>
                            <m:e>
                              <m:sSubSup>
                                <m:sSubSupPr>
                                  <m:ctrlPr>
                                    <a:rPr lang="en-NZ" altLang="ja-JP" sz="1800" b="1" i="1" smtClean="0">
                                      <a:solidFill>
                                        <a:schemeClr val="tx1"/>
                                      </a:solidFill>
                                      <a:latin typeface="Cambria Math" panose="02040503050406030204" pitchFamily="18" charset="0"/>
                                    </a:rPr>
                                  </m:ctrlPr>
                                </m:sSubSupPr>
                                <m:e>
                                  <m:r>
                                    <a:rPr lang="en-NZ" altLang="ja-JP" sz="1800" b="1" i="1">
                                      <a:solidFill>
                                        <a:schemeClr val="tx1"/>
                                      </a:solidFill>
                                      <a:latin typeface="Cambria Math" panose="02040503050406030204" pitchFamily="18" charset="0"/>
                                    </a:rPr>
                                    <m:t>𝑿</m:t>
                                  </m:r>
                                </m:e>
                                <m:sub>
                                  <m:r>
                                    <a:rPr lang="en-NZ" altLang="ja-JP" sz="1800" b="1" i="1" smtClean="0">
                                      <a:solidFill>
                                        <a:schemeClr val="tx1"/>
                                      </a:solidFill>
                                      <a:latin typeface="Cambria Math" panose="02040503050406030204" pitchFamily="18" charset="0"/>
                                    </a:rPr>
                                    <m:t>𝟐</m:t>
                                  </m:r>
                                </m:sub>
                                <m:sup>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𝒕</m:t>
                                      </m:r>
                                    </m:e>
                                  </m:d>
                                </m:sup>
                              </m:sSubSup>
                            </m:e>
                          </m:mr>
                        </m:m>
                      </m:e>
                    </m:d>
                  </m:oMath>
                </a14:m>
                <a:r>
                  <a:rPr lang="en-NZ" altLang="ja-JP" sz="1800" b="1" dirty="0">
                    <a:solidFill>
                      <a:schemeClr val="tx1"/>
                    </a:solidFill>
                  </a:rPr>
                  <a:t> </a:t>
                </a:r>
                <a:r>
                  <a:rPr lang="en-NZ" altLang="ja-JP" sz="1800" dirty="0">
                    <a:solidFill>
                      <a:schemeClr val="tx1"/>
                    </a:solidFill>
                  </a:rPr>
                  <a:t>which converges to the target distribution</a:t>
                </a:r>
              </a:p>
              <a:p>
                <a:pPr lvl="0">
                  <a:lnSpc>
                    <a:spcPct val="100000"/>
                  </a:lnSpc>
                  <a:defRPr/>
                </a:pPr>
                <a:endParaRPr lang="en-NZ" altLang="ja-JP" sz="200" dirty="0">
                  <a:solidFill>
                    <a:schemeClr val="tx1"/>
                  </a:solidFill>
                </a:endParaRPr>
              </a:p>
              <a:p>
                <a:pPr lvl="0">
                  <a:lnSpc>
                    <a:spcPct val="100000"/>
                  </a:lnSpc>
                  <a:defRPr/>
                </a:pPr>
                <a:endParaRPr lang="en-NZ" altLang="ja-JP" sz="200" dirty="0">
                  <a:solidFill>
                    <a:schemeClr val="tx1"/>
                  </a:solidFill>
                </a:endParaRPr>
              </a:p>
              <a:p>
                <a:pPr lvl="0" algn="ctr">
                  <a:lnSpc>
                    <a:spcPct val="100000"/>
                  </a:lnSpc>
                  <a:defRPr/>
                </a:pPr>
                <a14:m>
                  <m:oMathPara xmlns:m="http://schemas.openxmlformats.org/officeDocument/2006/math">
                    <m:oMathParaPr>
                      <m:jc m:val="centerGroup"/>
                    </m:oMathParaPr>
                    <m:oMath xmlns:m="http://schemas.openxmlformats.org/officeDocument/2006/math">
                      <m:r>
                        <a:rPr lang="en-NZ" altLang="ja-JP" sz="1800" b="1" i="1" smtClean="0">
                          <a:solidFill>
                            <a:schemeClr val="tx1"/>
                          </a:solidFill>
                          <a:latin typeface="Cambria Math" panose="02040503050406030204" pitchFamily="18" charset="0"/>
                        </a:rPr>
                        <m:t>𝒇</m:t>
                      </m:r>
                      <m:d>
                        <m:dPr>
                          <m:ctrlPr>
                            <a:rPr lang="en-NZ" altLang="ja-JP" sz="1800" b="1" i="1" smtClean="0">
                              <a:solidFill>
                                <a:schemeClr val="tx1"/>
                              </a:solidFill>
                              <a:latin typeface="Cambria Math" panose="02040503050406030204" pitchFamily="18" charset="0"/>
                            </a:rPr>
                          </m:ctrlPr>
                        </m:dPr>
                        <m:e>
                          <m:bar>
                            <m:barPr>
                              <m:ctrlPr>
                                <a:rPr lang="en-NZ" altLang="ja-JP" sz="1800" b="1" i="1" smtClean="0">
                                  <a:solidFill>
                                    <a:schemeClr val="tx1"/>
                                  </a:solidFill>
                                  <a:latin typeface="Cambria Math" panose="02040503050406030204" pitchFamily="18" charset="0"/>
                                </a:rPr>
                              </m:ctrlPr>
                            </m:barPr>
                            <m:e>
                              <m:r>
                                <a:rPr lang="en-NZ" altLang="ja-JP" sz="1800" b="1" i="1" smtClean="0">
                                  <a:solidFill>
                                    <a:schemeClr val="tx1"/>
                                  </a:solidFill>
                                  <a:latin typeface="Cambria Math" panose="02040503050406030204" pitchFamily="18" charset="0"/>
                                </a:rPr>
                                <m:t>𝒙</m:t>
                              </m:r>
                            </m:e>
                          </m:bar>
                        </m:e>
                      </m:d>
                      <m:r>
                        <a:rPr lang="en-NZ" altLang="ja-JP" sz="1800" b="1" i="1" smtClean="0">
                          <a:solidFill>
                            <a:schemeClr val="tx1"/>
                          </a:solidFill>
                          <a:latin typeface="Cambria Math" panose="02040503050406030204" pitchFamily="18" charset="0"/>
                        </a:rPr>
                        <m:t>=  </m:t>
                      </m:r>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𝟏</m:t>
                          </m:r>
                        </m:num>
                        <m:den>
                          <m:r>
                            <a:rPr lang="en-NZ" altLang="ja-JP" sz="1800" b="1" i="1" smtClean="0">
                              <a:solidFill>
                                <a:schemeClr val="tx1"/>
                              </a:solidFill>
                              <a:latin typeface="Cambria Math" panose="02040503050406030204" pitchFamily="18" charset="0"/>
                            </a:rPr>
                            <m:t>𝟐</m:t>
                          </m:r>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𝝅</m:t>
                          </m:r>
                          <m:r>
                            <a:rPr lang="en-NZ" altLang="ja-JP" sz="1800" b="1" i="1" smtClean="0">
                              <a:solidFill>
                                <a:schemeClr val="tx1"/>
                              </a:solidFill>
                              <a:latin typeface="Cambria Math" panose="02040503050406030204" pitchFamily="18" charset="0"/>
                            </a:rPr>
                            <m:t> | </m:t>
                          </m:r>
                          <m:r>
                            <a:rPr lang="en-NZ" altLang="ja-JP" sz="1800" b="1" i="0" smtClean="0">
                              <a:solidFill>
                                <a:schemeClr val="tx1"/>
                              </a:solidFill>
                              <a:latin typeface="Cambria Math" panose="02040503050406030204" pitchFamily="18" charset="0"/>
                            </a:rPr>
                            <m:t>𝚺</m:t>
                          </m:r>
                          <m:r>
                            <a:rPr lang="en-NZ" altLang="ja-JP" sz="1800" b="1" i="1" smtClean="0">
                              <a:solidFill>
                                <a:schemeClr val="tx1"/>
                              </a:solidFill>
                              <a:latin typeface="Cambria Math" panose="02040503050406030204" pitchFamily="18" charset="0"/>
                            </a:rPr>
                            <m:t> </m:t>
                          </m:r>
                          <m:sSup>
                            <m:sSupPr>
                              <m:ctrlPr>
                                <a:rPr lang="en-NZ" altLang="ja-JP" sz="1800" b="1" i="1" smtClean="0">
                                  <a:solidFill>
                                    <a:schemeClr val="tx1"/>
                                  </a:solidFill>
                                  <a:latin typeface="Cambria Math" panose="02040503050406030204" pitchFamily="18" charset="0"/>
                                </a:rPr>
                              </m:ctrlPr>
                            </m:sSupPr>
                            <m:e>
                              <m:d>
                                <m:dPr>
                                  <m:begChr m:val=""/>
                                  <m:endChr m:val="|"/>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m:t>
                                  </m:r>
                                </m:e>
                              </m:d>
                            </m:e>
                            <m:sup>
                              <m:r>
                                <a:rPr lang="en-NZ" altLang="ja-JP" sz="1800" b="1" i="1" smtClean="0">
                                  <a:solidFill>
                                    <a:schemeClr val="tx1"/>
                                  </a:solidFill>
                                  <a:latin typeface="Cambria Math" panose="02040503050406030204" pitchFamily="18" charset="0"/>
                                </a:rPr>
                                <m:t>𝟏</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𝟐</m:t>
                              </m:r>
                            </m:sup>
                          </m:sSup>
                        </m:den>
                      </m:f>
                      <m:r>
                        <a:rPr lang="en-NZ" altLang="ja-JP" sz="1800" b="1" i="1" smtClean="0">
                          <a:solidFill>
                            <a:schemeClr val="tx1"/>
                          </a:solidFill>
                          <a:latin typeface="Cambria Math" panose="02040503050406030204" pitchFamily="18" charset="0"/>
                        </a:rPr>
                        <m:t> </m:t>
                      </m:r>
                      <m:sSup>
                        <m:sSupPr>
                          <m:ctrlPr>
                            <a:rPr lang="en-NZ" altLang="ja-JP" sz="1800" b="1" i="1" smtClean="0">
                              <a:solidFill>
                                <a:schemeClr val="tx1"/>
                              </a:solidFill>
                              <a:latin typeface="Cambria Math" panose="02040503050406030204" pitchFamily="18" charset="0"/>
                            </a:rPr>
                          </m:ctrlPr>
                        </m:sSupPr>
                        <m:e>
                          <m:r>
                            <a:rPr lang="en-NZ" altLang="ja-JP" sz="1800" b="1" i="1" smtClean="0">
                              <a:solidFill>
                                <a:schemeClr val="tx1"/>
                              </a:solidFill>
                              <a:latin typeface="Cambria Math" panose="02040503050406030204" pitchFamily="18" charset="0"/>
                            </a:rPr>
                            <m:t>𝒆</m:t>
                          </m:r>
                        </m:e>
                        <m:sup>
                          <m:r>
                            <a:rPr lang="en-NZ" altLang="ja-JP" sz="1800" b="1" i="1" smtClean="0">
                              <a:solidFill>
                                <a:schemeClr val="tx1"/>
                              </a:solidFill>
                              <a:latin typeface="Cambria Math" panose="02040503050406030204" pitchFamily="18" charset="0"/>
                            </a:rPr>
                            <m:t>−</m:t>
                          </m:r>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𝟏</m:t>
                              </m:r>
                            </m:num>
                            <m:den>
                              <m:r>
                                <a:rPr lang="en-NZ" altLang="ja-JP" sz="1800" b="1" i="1" smtClean="0">
                                  <a:solidFill>
                                    <a:schemeClr val="tx1"/>
                                  </a:solidFill>
                                  <a:latin typeface="Cambria Math" panose="02040503050406030204" pitchFamily="18" charset="0"/>
                                </a:rPr>
                                <m:t>𝟐</m:t>
                              </m:r>
                            </m:den>
                          </m:f>
                          <m:r>
                            <a:rPr lang="en-NZ" altLang="ja-JP" sz="1800" b="1" i="1" smtClean="0">
                              <a:solidFill>
                                <a:schemeClr val="tx1"/>
                              </a:solidFill>
                              <a:latin typeface="Cambria Math" panose="02040503050406030204" pitchFamily="18" charset="0"/>
                            </a:rPr>
                            <m:t> </m:t>
                          </m:r>
                          <m:sSup>
                            <m:sSupPr>
                              <m:ctrlPr>
                                <a:rPr lang="en-NZ" altLang="ja-JP" sz="1800" b="1" i="1" smtClean="0">
                                  <a:solidFill>
                                    <a:schemeClr val="tx1"/>
                                  </a:solidFill>
                                  <a:latin typeface="Cambria Math" panose="02040503050406030204" pitchFamily="18" charset="0"/>
                                </a:rPr>
                              </m:ctrlPr>
                            </m:sSupPr>
                            <m:e>
                              <m:d>
                                <m:dPr>
                                  <m:ctrlPr>
                                    <a:rPr lang="en-NZ" altLang="ja-JP" sz="1800" b="1" i="1" smtClean="0">
                                      <a:solidFill>
                                        <a:schemeClr val="tx1"/>
                                      </a:solidFill>
                                      <a:latin typeface="Cambria Math" panose="02040503050406030204" pitchFamily="18" charset="0"/>
                                    </a:rPr>
                                  </m:ctrlPr>
                                </m:dPr>
                                <m:e>
                                  <m:bar>
                                    <m:barPr>
                                      <m:ctrlPr>
                                        <a:rPr lang="en-NZ" altLang="ja-JP" sz="1800" b="1" i="1">
                                          <a:solidFill>
                                            <a:schemeClr val="tx1"/>
                                          </a:solidFill>
                                          <a:latin typeface="Cambria Math" panose="02040503050406030204" pitchFamily="18" charset="0"/>
                                        </a:rPr>
                                      </m:ctrlPr>
                                    </m:barPr>
                                    <m:e>
                                      <m:r>
                                        <a:rPr lang="en-NZ" altLang="ja-JP" sz="1800" b="1" i="1">
                                          <a:solidFill>
                                            <a:schemeClr val="tx1"/>
                                          </a:solidFill>
                                          <a:latin typeface="Cambria Math" panose="02040503050406030204" pitchFamily="18" charset="0"/>
                                        </a:rPr>
                                        <m:t>𝒙</m:t>
                                      </m:r>
                                    </m:e>
                                  </m:bar>
                                  <m:r>
                                    <a:rPr lang="en-NZ" altLang="ja-JP" sz="1800" b="1" i="1" smtClean="0">
                                      <a:solidFill>
                                        <a:schemeClr val="tx1"/>
                                      </a:solidFill>
                                      <a:latin typeface="Cambria Math" panose="02040503050406030204" pitchFamily="18" charset="0"/>
                                    </a:rPr>
                                    <m:t> −</m:t>
                                  </m:r>
                                  <m:bar>
                                    <m:barPr>
                                      <m:ctrlPr>
                                        <a:rPr lang="en-NZ" altLang="ja-JP" sz="1800" b="1" i="1">
                                          <a:solidFill>
                                            <a:schemeClr val="tx1"/>
                                          </a:solidFill>
                                          <a:latin typeface="Cambria Math" panose="02040503050406030204" pitchFamily="18" charset="0"/>
                                        </a:rPr>
                                      </m:ctrlPr>
                                    </m:barPr>
                                    <m:e>
                                      <m:r>
                                        <a:rPr lang="en-NZ" altLang="ja-JP" sz="1800" b="1" i="1" smtClean="0">
                                          <a:solidFill>
                                            <a:schemeClr val="tx1"/>
                                          </a:solidFill>
                                          <a:latin typeface="Cambria Math" panose="02040503050406030204" pitchFamily="18" charset="0"/>
                                        </a:rPr>
                                        <m:t>𝝁</m:t>
                                      </m:r>
                                    </m:e>
                                  </m:bar>
                                </m:e>
                              </m:d>
                            </m:e>
                            <m:sup>
                              <m:r>
                                <a:rPr lang="en-NZ" altLang="ja-JP" sz="1800" b="1" i="1" smtClean="0">
                                  <a:solidFill>
                                    <a:schemeClr val="tx1"/>
                                  </a:solidFill>
                                  <a:latin typeface="Cambria Math" panose="02040503050406030204" pitchFamily="18" charset="0"/>
                                </a:rPr>
                                <m:t>𝑻</m:t>
                              </m:r>
                            </m:sup>
                          </m:sSup>
                          <m:sSup>
                            <m:sSupPr>
                              <m:ctrlPr>
                                <a:rPr lang="en-NZ" altLang="ja-JP" sz="1800" b="1" i="1" smtClean="0">
                                  <a:solidFill>
                                    <a:schemeClr val="tx1"/>
                                  </a:solidFill>
                                  <a:latin typeface="Cambria Math" panose="02040503050406030204" pitchFamily="18" charset="0"/>
                                </a:rPr>
                              </m:ctrlPr>
                            </m:sSupPr>
                            <m:e>
                              <m:r>
                                <a:rPr lang="en-NZ" altLang="ja-JP" sz="1800" b="1" i="0" smtClean="0">
                                  <a:solidFill>
                                    <a:schemeClr val="tx1"/>
                                  </a:solidFill>
                                  <a:latin typeface="Cambria Math" panose="02040503050406030204" pitchFamily="18" charset="0"/>
                                </a:rPr>
                                <m:t>𝚺</m:t>
                              </m:r>
                            </m:e>
                            <m:sup>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sup>
                          </m:sSup>
                          <m:r>
                            <a:rPr lang="en-NZ" altLang="ja-JP" sz="1800" b="1" i="1" smtClean="0">
                              <a:solidFill>
                                <a:schemeClr val="tx1"/>
                              </a:solidFill>
                              <a:latin typeface="Cambria Math" panose="02040503050406030204" pitchFamily="18" charset="0"/>
                            </a:rPr>
                            <m:t> (</m:t>
                          </m:r>
                          <m:bar>
                            <m:barPr>
                              <m:ctrlPr>
                                <a:rPr lang="en-NZ" altLang="ja-JP" sz="1800" b="1" i="1">
                                  <a:solidFill>
                                    <a:schemeClr val="tx1"/>
                                  </a:solidFill>
                                  <a:latin typeface="Cambria Math" panose="02040503050406030204" pitchFamily="18" charset="0"/>
                                </a:rPr>
                              </m:ctrlPr>
                            </m:barPr>
                            <m:e>
                              <m:r>
                                <a:rPr lang="en-NZ" altLang="ja-JP" sz="1800" b="1" i="1">
                                  <a:solidFill>
                                    <a:schemeClr val="tx1"/>
                                  </a:solidFill>
                                  <a:latin typeface="Cambria Math" panose="02040503050406030204" pitchFamily="18" charset="0"/>
                                </a:rPr>
                                <m:t>𝒙</m:t>
                              </m:r>
                            </m:e>
                          </m:bar>
                          <m:r>
                            <a:rPr lang="en-NZ" altLang="ja-JP" sz="1800" b="1" i="1" smtClean="0">
                              <a:solidFill>
                                <a:schemeClr val="tx1"/>
                              </a:solidFill>
                              <a:latin typeface="Cambria Math" panose="02040503050406030204" pitchFamily="18" charset="0"/>
                            </a:rPr>
                            <m:t> −</m:t>
                          </m:r>
                          <m:bar>
                            <m:barPr>
                              <m:ctrlPr>
                                <a:rPr lang="en-NZ" altLang="ja-JP" sz="1800" b="1" i="1">
                                  <a:solidFill>
                                    <a:schemeClr val="tx1"/>
                                  </a:solidFill>
                                  <a:latin typeface="Cambria Math" panose="02040503050406030204" pitchFamily="18" charset="0"/>
                                </a:rPr>
                              </m:ctrlPr>
                            </m:barPr>
                            <m:e>
                              <m:r>
                                <a:rPr lang="en-NZ" altLang="ja-JP" sz="1800" b="1" i="1" smtClean="0">
                                  <a:solidFill>
                                    <a:schemeClr val="tx1"/>
                                  </a:solidFill>
                                  <a:latin typeface="Cambria Math" panose="02040503050406030204" pitchFamily="18" charset="0"/>
                                </a:rPr>
                                <m:t>𝝁</m:t>
                              </m:r>
                            </m:e>
                          </m:bar>
                          <m:r>
                            <a:rPr lang="en-NZ" altLang="ja-JP" sz="1800" b="1" i="1" smtClean="0">
                              <a:solidFill>
                                <a:schemeClr val="tx1"/>
                              </a:solidFill>
                              <a:latin typeface="Cambria Math" panose="02040503050406030204" pitchFamily="18" charset="0"/>
                            </a:rPr>
                            <m:t> )</m:t>
                          </m:r>
                        </m:sup>
                      </m:sSup>
                    </m:oMath>
                  </m:oMathPara>
                </a14:m>
                <a:endParaRPr lang="en-NZ" altLang="ja-JP" sz="1800" dirty="0">
                  <a:solidFill>
                    <a:schemeClr val="tx1"/>
                  </a:solidFill>
                </a:endParaRPr>
              </a:p>
              <a:p>
                <a:pPr lvl="0" algn="ctr">
                  <a:lnSpc>
                    <a:spcPct val="100000"/>
                  </a:lnSpc>
                  <a:defRPr/>
                </a:pPr>
                <a:endParaRPr lang="en-NZ" altLang="ja-JP" sz="200" dirty="0">
                  <a:solidFill>
                    <a:schemeClr val="tx1"/>
                  </a:solidFill>
                </a:endParaRPr>
              </a:p>
              <a:p>
                <a:pPr lvl="0" algn="ctr">
                  <a:lnSpc>
                    <a:spcPct val="100000"/>
                  </a:lnSpc>
                  <a:defRPr/>
                </a:pPr>
                <a:endParaRPr lang="en-NZ" altLang="ja-JP" sz="200" dirty="0">
                  <a:solidFill>
                    <a:schemeClr val="tx1"/>
                  </a:solidFill>
                </a:endParaRPr>
              </a:p>
              <a:p>
                <a:pPr lvl="0">
                  <a:lnSpc>
                    <a:spcPct val="100000"/>
                  </a:lnSpc>
                  <a:defRPr/>
                </a:pPr>
                <a:r>
                  <a:rPr lang="en-NZ" altLang="ja-JP" sz="1800" dirty="0">
                    <a:solidFill>
                      <a:schemeClr val="tx1"/>
                    </a:solidFill>
                  </a:rPr>
                  <a:t>such that after a sufficiently large number of transitions, observations drawn from the chain are distributed according to </a:t>
                </a:r>
                <a:r>
                  <a:rPr lang="en-NZ" altLang="ja-JP" sz="1800" b="1" i="1" dirty="0">
                    <a:solidFill>
                      <a:schemeClr val="tx1"/>
                    </a:solidFill>
                  </a:rPr>
                  <a:t>f.</a:t>
                </a:r>
                <a:endParaRPr lang="en-NZ" altLang="ja-JP" sz="1800" dirty="0">
                  <a:solidFill>
                    <a:schemeClr val="tx1"/>
                  </a:solidFill>
                </a:endParaRPr>
              </a:p>
            </p:txBody>
          </p:sp>
        </mc:Choice>
        <mc:Fallback xmlns="">
          <p:sp>
            <p:nvSpPr>
              <p:cNvPr id="20" name="Text Placeholder 5">
                <a:extLst>
                  <a:ext uri="{FF2B5EF4-FFF2-40B4-BE49-F238E27FC236}">
                    <a16:creationId xmlns:a16="http://schemas.microsoft.com/office/drawing/2014/main" id="{02069609-C918-3C1F-94DD-EB7B910F40A2}"/>
                  </a:ext>
                </a:extLst>
              </p:cNvPr>
              <p:cNvSpPr txBox="1">
                <a:spLocks noRot="1" noChangeAspect="1" noMove="1" noResize="1" noEditPoints="1" noAdjustHandles="1" noChangeArrowheads="1" noChangeShapeType="1" noTextEdit="1"/>
              </p:cNvSpPr>
              <p:nvPr/>
            </p:nvSpPr>
            <p:spPr>
              <a:xfrm>
                <a:off x="319463" y="2032058"/>
                <a:ext cx="11608680" cy="1748372"/>
              </a:xfrm>
              <a:prstGeom prst="rect">
                <a:avLst/>
              </a:prstGeom>
              <a:blipFill>
                <a:blip r:embed="rId4"/>
                <a:stretch>
                  <a:fillRect l="-420" b="-8711"/>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7" name="Text Placeholder 5">
                <a:extLst>
                  <a:ext uri="{FF2B5EF4-FFF2-40B4-BE49-F238E27FC236}">
                    <a16:creationId xmlns:a16="http://schemas.microsoft.com/office/drawing/2014/main" id="{1316DBFE-043A-5FB2-C80A-E2065C61BC7E}"/>
                  </a:ext>
                </a:extLst>
              </p:cNvPr>
              <p:cNvSpPr txBox="1">
                <a:spLocks/>
              </p:cNvSpPr>
              <p:nvPr/>
            </p:nvSpPr>
            <p:spPr>
              <a:xfrm>
                <a:off x="319463" y="3999610"/>
                <a:ext cx="11608680" cy="136161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dirty="0">
                    <a:solidFill>
                      <a:schemeClr val="tx1"/>
                    </a:solidFill>
                  </a:rPr>
                  <a:t>To do so we will use a random walk sampler with normal proposal density:</a:t>
                </a:r>
              </a:p>
              <a:p>
                <a:pPr lvl="0">
                  <a:lnSpc>
                    <a:spcPct val="100000"/>
                  </a:lnSpc>
                  <a:defRPr/>
                </a:pPr>
                <a14:m>
                  <m:oMathPara xmlns:m="http://schemas.openxmlformats.org/officeDocument/2006/math">
                    <m:oMathParaPr>
                      <m:jc m:val="centerGroup"/>
                    </m:oMathParaPr>
                    <m:oMath xmlns:m="http://schemas.openxmlformats.org/officeDocument/2006/math">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𝒚</m:t>
                          </m:r>
                        </m:e>
                        <m:sub>
                          <m:r>
                            <a:rPr lang="en-NZ" altLang="ja-JP" sz="1800" b="1" i="1" smtClean="0">
                              <a:solidFill>
                                <a:schemeClr val="tx1"/>
                              </a:solidFill>
                              <a:latin typeface="Cambria Math" panose="02040503050406030204" pitchFamily="18" charset="0"/>
                            </a:rPr>
                            <m:t>𝟏</m:t>
                          </m:r>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𝒕</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sub>
                      </m:sSub>
                      <m:r>
                        <a:rPr lang="en-NZ" altLang="ja-JP" sz="1800" b="1" i="1" smtClean="0">
                          <a:solidFill>
                            <a:schemeClr val="tx1"/>
                          </a:solidFill>
                          <a:latin typeface="Cambria Math" panose="02040503050406030204" pitchFamily="18" charset="0"/>
                        </a:rPr>
                        <m:t> ~ </m:t>
                      </m:r>
                      <m:r>
                        <a:rPr lang="en-NZ" altLang="ja-JP" sz="1800" b="1" i="1" smtClean="0">
                          <a:solidFill>
                            <a:schemeClr val="tx1"/>
                          </a:solidFill>
                          <a:latin typeface="Cambria Math" panose="02040503050406030204" pitchFamily="18" charset="0"/>
                        </a:rPr>
                        <m:t>𝑵</m:t>
                      </m:r>
                      <m:d>
                        <m:dPr>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 </m:t>
                          </m:r>
                          <m:sSubSup>
                            <m:sSubSupPr>
                              <m:ctrlPr>
                                <a:rPr lang="en-NZ" altLang="ja-JP" sz="1800" b="1" i="1">
                                  <a:solidFill>
                                    <a:schemeClr val="tx1"/>
                                  </a:solidFill>
                                  <a:latin typeface="Cambria Math" panose="02040503050406030204" pitchFamily="18" charset="0"/>
                                </a:rPr>
                              </m:ctrlPr>
                            </m:sSubSupPr>
                            <m:e>
                              <m:r>
                                <a:rPr lang="en-NZ" altLang="ja-JP" sz="1800" b="1" i="1">
                                  <a:solidFill>
                                    <a:schemeClr val="tx1"/>
                                  </a:solidFill>
                                  <a:latin typeface="Cambria Math" panose="02040503050406030204" pitchFamily="18" charset="0"/>
                                </a:rPr>
                                <m:t>𝑿</m:t>
                              </m:r>
                            </m:e>
                            <m:sub>
                              <m:r>
                                <a:rPr lang="en-NZ" altLang="ja-JP" sz="1800" b="1" i="1">
                                  <a:solidFill>
                                    <a:schemeClr val="tx1"/>
                                  </a:solidFill>
                                  <a:latin typeface="Cambria Math" panose="02040503050406030204" pitchFamily="18" charset="0"/>
                                </a:rPr>
                                <m:t>𝟏</m:t>
                              </m:r>
                            </m:sub>
                            <m:sup>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𝒕</m:t>
                                  </m:r>
                                </m:e>
                              </m:d>
                            </m:sup>
                          </m:sSubSup>
                          <m:r>
                            <a:rPr lang="en-NZ" altLang="ja-JP" sz="1800" b="1" i="1" smtClean="0">
                              <a:solidFill>
                                <a:schemeClr val="tx1"/>
                              </a:solidFill>
                              <a:latin typeface="Cambria Math" panose="02040503050406030204" pitchFamily="18" charset="0"/>
                            </a:rPr>
                            <m:t> , </m:t>
                          </m:r>
                          <m:sSubSup>
                            <m:sSubSupPr>
                              <m:ctrlPr>
                                <a:rPr lang="en-NZ" altLang="ja-JP" sz="1800" b="1" i="1" smtClean="0">
                                  <a:solidFill>
                                    <a:schemeClr val="tx1"/>
                                  </a:solidFill>
                                  <a:latin typeface="Cambria Math" panose="02040503050406030204" pitchFamily="18" charset="0"/>
                                </a:rPr>
                              </m:ctrlPr>
                            </m:sSubSupPr>
                            <m:e>
                              <m:r>
                                <a:rPr lang="en-NZ" altLang="ja-JP" sz="1800" b="1" i="1" smtClean="0">
                                  <a:solidFill>
                                    <a:schemeClr val="tx1"/>
                                  </a:solidFill>
                                  <a:latin typeface="Cambria Math" panose="02040503050406030204" pitchFamily="18" charset="0"/>
                                </a:rPr>
                                <m:t>𝝈</m:t>
                              </m:r>
                            </m:e>
                            <m:sub>
                              <m:r>
                                <a:rPr lang="en-NZ" altLang="ja-JP" sz="1800" b="1" i="1" smtClean="0">
                                  <a:solidFill>
                                    <a:schemeClr val="tx1"/>
                                  </a:solidFill>
                                  <a:latin typeface="Cambria Math" panose="02040503050406030204" pitchFamily="18" charset="0"/>
                                </a:rPr>
                                <m:t>𝟏</m:t>
                              </m:r>
                            </m:sub>
                            <m:sup>
                              <m:r>
                                <a:rPr lang="en-NZ" altLang="ja-JP" sz="1800" b="1" i="1" smtClean="0">
                                  <a:solidFill>
                                    <a:schemeClr val="tx1"/>
                                  </a:solidFill>
                                  <a:latin typeface="Cambria Math" panose="02040503050406030204" pitchFamily="18" charset="0"/>
                                </a:rPr>
                                <m:t>𝟐</m:t>
                              </m:r>
                            </m:sup>
                          </m:sSubSup>
                          <m:r>
                            <a:rPr lang="en-NZ" altLang="ja-JP" sz="1800" b="1" i="1" smtClean="0">
                              <a:solidFill>
                                <a:schemeClr val="tx1"/>
                              </a:solidFill>
                              <a:latin typeface="Cambria Math" panose="02040503050406030204" pitchFamily="18" charset="0"/>
                            </a:rPr>
                            <m:t> </m:t>
                          </m:r>
                        </m:e>
                      </m:d>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     </m:t>
                      </m:r>
                      <m:sSub>
                        <m:sSubPr>
                          <m:ctrlPr>
                            <a:rPr lang="en-NZ" altLang="ja-JP" sz="1800" b="1" i="1" smtClean="0">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𝒒</m:t>
                          </m:r>
                        </m:e>
                        <m:sub>
                          <m:r>
                            <a:rPr lang="en-NZ" altLang="ja-JP" sz="1800" b="1" i="1" smtClean="0">
                              <a:solidFill>
                                <a:schemeClr val="tx1"/>
                              </a:solidFill>
                              <a:latin typeface="Cambria Math" panose="02040503050406030204" pitchFamily="18" charset="0"/>
                            </a:rPr>
                            <m:t>𝟏</m:t>
                          </m:r>
                        </m:sub>
                      </m:sSub>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𝒙</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𝒚</m:t>
                          </m:r>
                        </m:e>
                      </m:d>
                      <m:r>
                        <a:rPr lang="en-NZ" altLang="ja-JP" sz="1800" b="1" i="1">
                          <a:solidFill>
                            <a:schemeClr val="tx1"/>
                          </a:solidFill>
                          <a:latin typeface="Cambria Math" panose="02040503050406030204" pitchFamily="18" charset="0"/>
                        </a:rPr>
                        <m:t> =</m:t>
                      </m:r>
                      <m:sSup>
                        <m:sSupPr>
                          <m:ctrlPr>
                            <a:rPr lang="en-NZ" altLang="ja-JP" sz="1800" b="1" i="1" smtClean="0">
                              <a:solidFill>
                                <a:schemeClr val="tx1"/>
                              </a:solidFill>
                              <a:latin typeface="Cambria Math" panose="02040503050406030204" pitchFamily="18" charset="0"/>
                            </a:rPr>
                          </m:ctrlPr>
                        </m:sSupPr>
                        <m:e>
                          <m:d>
                            <m:dPr>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𝟐</m:t>
                              </m:r>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𝝅</m:t>
                              </m:r>
                              <m:sSubSup>
                                <m:sSubSupPr>
                                  <m:ctrlPr>
                                    <a:rPr lang="en-NZ" altLang="ja-JP" sz="1800" b="1" i="1">
                                      <a:solidFill>
                                        <a:schemeClr val="tx1"/>
                                      </a:solidFill>
                                      <a:latin typeface="Cambria Math" panose="02040503050406030204" pitchFamily="18" charset="0"/>
                                    </a:rPr>
                                  </m:ctrlPr>
                                </m:sSubSupPr>
                                <m:e>
                                  <m:r>
                                    <a:rPr lang="en-NZ" altLang="ja-JP" sz="1800" b="1" i="1" smtClean="0">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𝝈</m:t>
                                  </m:r>
                                </m:e>
                                <m:sub>
                                  <m:r>
                                    <a:rPr lang="en-NZ" altLang="ja-JP" sz="1800" b="1" i="1">
                                      <a:solidFill>
                                        <a:schemeClr val="tx1"/>
                                      </a:solidFill>
                                      <a:latin typeface="Cambria Math" panose="02040503050406030204" pitchFamily="18" charset="0"/>
                                    </a:rPr>
                                    <m:t>𝟏</m:t>
                                  </m:r>
                                </m:sub>
                                <m:sup>
                                  <m:r>
                                    <a:rPr lang="en-NZ" altLang="ja-JP" sz="1800" b="1" i="1">
                                      <a:solidFill>
                                        <a:schemeClr val="tx1"/>
                                      </a:solidFill>
                                      <a:latin typeface="Cambria Math" panose="02040503050406030204" pitchFamily="18" charset="0"/>
                                    </a:rPr>
                                    <m:t>𝟐</m:t>
                                  </m:r>
                                </m:sup>
                              </m:sSubSup>
                            </m:e>
                          </m:d>
                        </m:e>
                        <m:sup>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𝟐</m:t>
                          </m:r>
                        </m:sup>
                      </m:sSup>
                      <m:r>
                        <a:rPr lang="en-NZ" altLang="ja-JP" sz="1800" b="1" i="1" smtClean="0">
                          <a:solidFill>
                            <a:schemeClr val="tx1"/>
                          </a:solidFill>
                          <a:latin typeface="Cambria Math" panose="02040503050406030204" pitchFamily="18" charset="0"/>
                        </a:rPr>
                        <m:t> </m:t>
                      </m:r>
                      <m:sSup>
                        <m:sSupPr>
                          <m:ctrlPr>
                            <a:rPr lang="en-NZ" altLang="ja-JP" sz="1800" b="1" i="1">
                              <a:solidFill>
                                <a:schemeClr val="tx1"/>
                              </a:solidFill>
                              <a:latin typeface="Cambria Math" panose="02040503050406030204" pitchFamily="18" charset="0"/>
                            </a:rPr>
                          </m:ctrlPr>
                        </m:sSupPr>
                        <m:e>
                          <m:r>
                            <a:rPr lang="en-NZ" altLang="ja-JP" sz="1800" b="1" i="1">
                              <a:solidFill>
                                <a:schemeClr val="tx1"/>
                              </a:solidFill>
                              <a:latin typeface="Cambria Math" panose="02040503050406030204" pitchFamily="18" charset="0"/>
                            </a:rPr>
                            <m:t>𝒆</m:t>
                          </m:r>
                        </m:e>
                        <m:sup>
                          <m:r>
                            <a:rPr lang="en-NZ" altLang="ja-JP" sz="1800" b="1" i="1">
                              <a:solidFill>
                                <a:schemeClr val="tx1"/>
                              </a:solidFill>
                              <a:latin typeface="Cambria Math" panose="02040503050406030204" pitchFamily="18" charset="0"/>
                            </a:rPr>
                            <m:t>−</m:t>
                          </m:r>
                          <m:f>
                            <m:fPr>
                              <m:ctrlPr>
                                <a:rPr lang="en-NZ" altLang="ja-JP" sz="1800" b="1" i="1">
                                  <a:solidFill>
                                    <a:schemeClr val="tx1"/>
                                  </a:solidFill>
                                  <a:latin typeface="Cambria Math" panose="02040503050406030204" pitchFamily="18" charset="0"/>
                                </a:rPr>
                              </m:ctrlPr>
                            </m:fPr>
                            <m:num>
                              <m:r>
                                <a:rPr lang="en-NZ" altLang="ja-JP" sz="1800" b="1" i="1">
                                  <a:solidFill>
                                    <a:schemeClr val="tx1"/>
                                  </a:solidFill>
                                  <a:latin typeface="Cambria Math" panose="02040503050406030204" pitchFamily="18" charset="0"/>
                                </a:rPr>
                                <m:t>𝟏</m:t>
                              </m:r>
                            </m:num>
                            <m:den>
                              <m:r>
                                <a:rPr lang="en-NZ" altLang="ja-JP" sz="1800" b="1" i="1">
                                  <a:solidFill>
                                    <a:schemeClr val="tx1"/>
                                  </a:solidFill>
                                  <a:latin typeface="Cambria Math" panose="02040503050406030204" pitchFamily="18" charset="0"/>
                                </a:rPr>
                                <m:t>𝟐</m:t>
                              </m:r>
                            </m:den>
                          </m:f>
                          <m:r>
                            <a:rPr lang="en-NZ" altLang="ja-JP" sz="1800" b="1" i="1" smtClean="0">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𝒚</m:t>
                          </m:r>
                          <m:r>
                            <a:rPr lang="en-NZ" altLang="ja-JP" sz="1800" b="1" i="1">
                              <a:solidFill>
                                <a:schemeClr val="tx1"/>
                              </a:solidFill>
                              <a:latin typeface="Cambria Math" panose="02040503050406030204" pitchFamily="18" charset="0"/>
                            </a:rPr>
                            <m:t>− </m:t>
                          </m:r>
                          <m:sSup>
                            <m:sSupPr>
                              <m:ctrlPr>
                                <a:rPr lang="en-NZ" altLang="ja-JP" sz="1800" b="1" i="1">
                                  <a:solidFill>
                                    <a:schemeClr val="tx1"/>
                                  </a:solidFill>
                                  <a:latin typeface="Cambria Math" panose="02040503050406030204" pitchFamily="18" charset="0"/>
                                </a:rPr>
                              </m:ctrlPr>
                            </m:sSupPr>
                            <m:e>
                              <m:r>
                                <a:rPr lang="en-NZ" altLang="ja-JP" sz="1800" b="1" i="1">
                                  <a:solidFill>
                                    <a:schemeClr val="tx1"/>
                                  </a:solidFill>
                                  <a:latin typeface="Cambria Math" panose="02040503050406030204" pitchFamily="18" charset="0"/>
                                </a:rPr>
                                <m:t>𝒙</m:t>
                              </m:r>
                              <m:r>
                                <a:rPr lang="en-NZ" altLang="ja-JP" sz="1800" b="1" i="1">
                                  <a:solidFill>
                                    <a:schemeClr val="tx1"/>
                                  </a:solidFill>
                                  <a:latin typeface="Cambria Math" panose="02040503050406030204" pitchFamily="18" charset="0"/>
                                </a:rPr>
                                <m:t>) </m:t>
                              </m:r>
                            </m:e>
                            <m:sup>
                              <m:r>
                                <a:rPr lang="en-NZ" altLang="ja-JP" sz="1800" b="1" i="1">
                                  <a:solidFill>
                                    <a:schemeClr val="tx1"/>
                                  </a:solidFill>
                                  <a:latin typeface="Cambria Math" panose="02040503050406030204" pitchFamily="18" charset="0"/>
                                </a:rPr>
                                <m:t>𝟐</m:t>
                              </m:r>
                            </m:sup>
                          </m:sSup>
                          <m:r>
                            <a:rPr lang="en-NZ" altLang="ja-JP" sz="1800" b="1" i="1" smtClean="0">
                              <a:solidFill>
                                <a:schemeClr val="tx1"/>
                              </a:solidFill>
                              <a:latin typeface="Cambria Math" panose="02040503050406030204" pitchFamily="18" charset="0"/>
                            </a:rPr>
                            <m:t> / </m:t>
                          </m:r>
                          <m:sSubSup>
                            <m:sSubSupPr>
                              <m:ctrlPr>
                                <a:rPr lang="en-NZ" altLang="ja-JP" sz="1800" b="1" i="1">
                                  <a:solidFill>
                                    <a:schemeClr val="tx1"/>
                                  </a:solidFill>
                                  <a:latin typeface="Cambria Math" panose="02040503050406030204" pitchFamily="18" charset="0"/>
                                </a:rPr>
                              </m:ctrlPr>
                            </m:sSubSupPr>
                            <m:e>
                              <m:r>
                                <a:rPr lang="en-NZ" altLang="ja-JP" sz="1800" b="1" i="1">
                                  <a:solidFill>
                                    <a:schemeClr val="tx1"/>
                                  </a:solidFill>
                                  <a:latin typeface="Cambria Math" panose="02040503050406030204" pitchFamily="18" charset="0"/>
                                </a:rPr>
                                <m:t>𝝈</m:t>
                              </m:r>
                            </m:e>
                            <m:sub>
                              <m:r>
                                <a:rPr lang="en-NZ" altLang="ja-JP" sz="1800" b="1" i="1">
                                  <a:solidFill>
                                    <a:schemeClr val="tx1"/>
                                  </a:solidFill>
                                  <a:latin typeface="Cambria Math" panose="02040503050406030204" pitchFamily="18" charset="0"/>
                                </a:rPr>
                                <m:t>𝟏</m:t>
                              </m:r>
                            </m:sub>
                            <m:sup>
                              <m:r>
                                <a:rPr lang="en-NZ" altLang="ja-JP" sz="1800" b="1" i="1">
                                  <a:solidFill>
                                    <a:schemeClr val="tx1"/>
                                  </a:solidFill>
                                  <a:latin typeface="Cambria Math" panose="02040503050406030204" pitchFamily="18" charset="0"/>
                                </a:rPr>
                                <m:t>𝟐</m:t>
                              </m:r>
                            </m:sup>
                          </m:sSubSup>
                        </m:sup>
                      </m:sSup>
                    </m:oMath>
                  </m:oMathPara>
                </a14:m>
                <a:endParaRPr lang="en-NZ" altLang="ja-JP" sz="1800" b="1" dirty="0">
                  <a:solidFill>
                    <a:schemeClr val="tx1"/>
                  </a:solidFill>
                </a:endParaRPr>
              </a:p>
              <a:p>
                <a:pPr lvl="0">
                  <a:lnSpc>
                    <a:spcPct val="100000"/>
                  </a:lnSpc>
                  <a:defRPr/>
                </a:pPr>
                <a14:m>
                  <m:oMathPara xmlns:m="http://schemas.openxmlformats.org/officeDocument/2006/math">
                    <m:oMathParaPr>
                      <m:jc m:val="centerGroup"/>
                    </m:oMathParaPr>
                    <m:oMath xmlns:m="http://schemas.openxmlformats.org/officeDocument/2006/math">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𝒚</m:t>
                          </m:r>
                        </m:e>
                        <m:sub>
                          <m:r>
                            <a:rPr lang="en-NZ" altLang="ja-JP" sz="1800" b="1" i="1" smtClean="0">
                              <a:solidFill>
                                <a:schemeClr val="tx1"/>
                              </a:solidFill>
                              <a:latin typeface="Cambria Math" panose="02040503050406030204" pitchFamily="18" charset="0"/>
                            </a:rPr>
                            <m:t>𝟐</m:t>
                          </m:r>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𝒕</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sub>
                      </m:sSub>
                      <m:r>
                        <a:rPr lang="en-NZ" altLang="ja-JP" sz="1800" b="1" i="1" smtClean="0">
                          <a:solidFill>
                            <a:schemeClr val="tx1"/>
                          </a:solidFill>
                          <a:latin typeface="Cambria Math" panose="02040503050406030204" pitchFamily="18" charset="0"/>
                        </a:rPr>
                        <m:t> ~ </m:t>
                      </m:r>
                      <m:r>
                        <a:rPr lang="en-NZ" altLang="ja-JP" sz="1800" b="1" i="1" smtClean="0">
                          <a:solidFill>
                            <a:schemeClr val="tx1"/>
                          </a:solidFill>
                          <a:latin typeface="Cambria Math" panose="02040503050406030204" pitchFamily="18" charset="0"/>
                        </a:rPr>
                        <m:t>𝑵</m:t>
                      </m:r>
                      <m:d>
                        <m:dPr>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 </m:t>
                          </m:r>
                          <m:sSubSup>
                            <m:sSubSupPr>
                              <m:ctrlPr>
                                <a:rPr lang="en-NZ" altLang="ja-JP" sz="1800" b="1" i="1">
                                  <a:solidFill>
                                    <a:schemeClr val="tx1"/>
                                  </a:solidFill>
                                  <a:latin typeface="Cambria Math" panose="02040503050406030204" pitchFamily="18" charset="0"/>
                                </a:rPr>
                              </m:ctrlPr>
                            </m:sSubSupPr>
                            <m:e>
                              <m:r>
                                <a:rPr lang="en-NZ" altLang="ja-JP" sz="1800" b="1" i="1">
                                  <a:solidFill>
                                    <a:schemeClr val="tx1"/>
                                  </a:solidFill>
                                  <a:latin typeface="Cambria Math" panose="02040503050406030204" pitchFamily="18" charset="0"/>
                                </a:rPr>
                                <m:t>𝑿</m:t>
                              </m:r>
                            </m:e>
                            <m:sub>
                              <m:r>
                                <a:rPr lang="en-NZ" altLang="ja-JP" sz="1800" b="1" i="1" smtClean="0">
                                  <a:solidFill>
                                    <a:schemeClr val="tx1"/>
                                  </a:solidFill>
                                  <a:latin typeface="Cambria Math" panose="02040503050406030204" pitchFamily="18" charset="0"/>
                                </a:rPr>
                                <m:t>𝟐</m:t>
                              </m:r>
                            </m:sub>
                            <m:sup>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𝒕</m:t>
                                  </m:r>
                                </m:e>
                              </m:d>
                            </m:sup>
                          </m:sSubSup>
                          <m:r>
                            <a:rPr lang="en-NZ" altLang="ja-JP" sz="1800" b="1" i="1" smtClean="0">
                              <a:solidFill>
                                <a:schemeClr val="tx1"/>
                              </a:solidFill>
                              <a:latin typeface="Cambria Math" panose="02040503050406030204" pitchFamily="18" charset="0"/>
                            </a:rPr>
                            <m:t> , </m:t>
                          </m:r>
                          <m:sSubSup>
                            <m:sSubSupPr>
                              <m:ctrlPr>
                                <a:rPr lang="en-NZ" altLang="ja-JP" sz="1800" b="1" i="1" smtClean="0">
                                  <a:solidFill>
                                    <a:schemeClr val="tx1"/>
                                  </a:solidFill>
                                  <a:latin typeface="Cambria Math" panose="02040503050406030204" pitchFamily="18" charset="0"/>
                                </a:rPr>
                              </m:ctrlPr>
                            </m:sSubSupPr>
                            <m:e>
                              <m:r>
                                <a:rPr lang="en-NZ" altLang="ja-JP" sz="1800" b="1" i="1" smtClean="0">
                                  <a:solidFill>
                                    <a:schemeClr val="tx1"/>
                                  </a:solidFill>
                                  <a:latin typeface="Cambria Math" panose="02040503050406030204" pitchFamily="18" charset="0"/>
                                </a:rPr>
                                <m:t>𝝈</m:t>
                              </m:r>
                            </m:e>
                            <m:sub>
                              <m:r>
                                <a:rPr lang="en-NZ" altLang="ja-JP" sz="1800" b="1" i="1" smtClean="0">
                                  <a:solidFill>
                                    <a:schemeClr val="tx1"/>
                                  </a:solidFill>
                                  <a:latin typeface="Cambria Math" panose="02040503050406030204" pitchFamily="18" charset="0"/>
                                </a:rPr>
                                <m:t>𝟐</m:t>
                              </m:r>
                            </m:sub>
                            <m:sup>
                              <m:r>
                                <a:rPr lang="en-NZ" altLang="ja-JP" sz="1800" b="1" i="1" smtClean="0">
                                  <a:solidFill>
                                    <a:schemeClr val="tx1"/>
                                  </a:solidFill>
                                  <a:latin typeface="Cambria Math" panose="02040503050406030204" pitchFamily="18" charset="0"/>
                                </a:rPr>
                                <m:t>𝟐</m:t>
                              </m:r>
                            </m:sup>
                          </m:sSubSup>
                          <m:r>
                            <a:rPr lang="en-NZ" altLang="ja-JP" sz="1800" b="1" i="1" smtClean="0">
                              <a:solidFill>
                                <a:schemeClr val="tx1"/>
                              </a:solidFill>
                              <a:latin typeface="Cambria Math" panose="02040503050406030204" pitchFamily="18" charset="0"/>
                            </a:rPr>
                            <m:t> </m:t>
                          </m:r>
                        </m:e>
                      </m:d>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     </m:t>
                      </m:r>
                      <m:sSub>
                        <m:sSubPr>
                          <m:ctrlPr>
                            <a:rPr lang="en-NZ" altLang="ja-JP" sz="1800" b="1" i="1" smtClean="0">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𝒒</m:t>
                          </m:r>
                        </m:e>
                        <m:sub>
                          <m:r>
                            <a:rPr lang="en-NZ" altLang="ja-JP" sz="1800" b="1" i="1" smtClean="0">
                              <a:solidFill>
                                <a:schemeClr val="tx1"/>
                              </a:solidFill>
                              <a:latin typeface="Cambria Math" panose="02040503050406030204" pitchFamily="18" charset="0"/>
                            </a:rPr>
                            <m:t>𝟐</m:t>
                          </m:r>
                        </m:sub>
                      </m:sSub>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𝒙</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𝒚</m:t>
                          </m:r>
                        </m:e>
                      </m:d>
                      <m:r>
                        <a:rPr lang="en-NZ" altLang="ja-JP" sz="1800" b="1" i="1">
                          <a:solidFill>
                            <a:schemeClr val="tx1"/>
                          </a:solidFill>
                          <a:latin typeface="Cambria Math" panose="02040503050406030204" pitchFamily="18" charset="0"/>
                        </a:rPr>
                        <m:t> =</m:t>
                      </m:r>
                      <m:sSup>
                        <m:sSupPr>
                          <m:ctrlPr>
                            <a:rPr lang="en-NZ" altLang="ja-JP" sz="1800" b="1" i="1" smtClean="0">
                              <a:solidFill>
                                <a:schemeClr val="tx1"/>
                              </a:solidFill>
                              <a:latin typeface="Cambria Math" panose="02040503050406030204" pitchFamily="18" charset="0"/>
                            </a:rPr>
                          </m:ctrlPr>
                        </m:sSupPr>
                        <m:e>
                          <m:d>
                            <m:dPr>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𝟐</m:t>
                              </m:r>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𝝅</m:t>
                              </m:r>
                              <m:sSubSup>
                                <m:sSubSupPr>
                                  <m:ctrlPr>
                                    <a:rPr lang="en-NZ" altLang="ja-JP" sz="1800" b="1" i="1">
                                      <a:solidFill>
                                        <a:schemeClr val="tx1"/>
                                      </a:solidFill>
                                      <a:latin typeface="Cambria Math" panose="02040503050406030204" pitchFamily="18" charset="0"/>
                                    </a:rPr>
                                  </m:ctrlPr>
                                </m:sSubSupPr>
                                <m:e>
                                  <m:r>
                                    <a:rPr lang="en-NZ" altLang="ja-JP" sz="1800" b="1" i="1" smtClean="0">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𝝈</m:t>
                                  </m:r>
                                </m:e>
                                <m:sub>
                                  <m:r>
                                    <a:rPr lang="en-NZ" altLang="ja-JP" sz="1800" b="1" i="1" smtClean="0">
                                      <a:solidFill>
                                        <a:schemeClr val="tx1"/>
                                      </a:solidFill>
                                      <a:latin typeface="Cambria Math" panose="02040503050406030204" pitchFamily="18" charset="0"/>
                                    </a:rPr>
                                    <m:t>𝟐</m:t>
                                  </m:r>
                                </m:sub>
                                <m:sup>
                                  <m:r>
                                    <a:rPr lang="en-NZ" altLang="ja-JP" sz="1800" b="1" i="1">
                                      <a:solidFill>
                                        <a:schemeClr val="tx1"/>
                                      </a:solidFill>
                                      <a:latin typeface="Cambria Math" panose="02040503050406030204" pitchFamily="18" charset="0"/>
                                    </a:rPr>
                                    <m:t>𝟐</m:t>
                                  </m:r>
                                </m:sup>
                              </m:sSubSup>
                            </m:e>
                          </m:d>
                        </m:e>
                        <m:sup>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𝟐</m:t>
                          </m:r>
                        </m:sup>
                      </m:sSup>
                      <m:r>
                        <a:rPr lang="en-NZ" altLang="ja-JP" sz="1800" b="1" i="1" smtClean="0">
                          <a:solidFill>
                            <a:schemeClr val="tx1"/>
                          </a:solidFill>
                          <a:latin typeface="Cambria Math" panose="02040503050406030204" pitchFamily="18" charset="0"/>
                        </a:rPr>
                        <m:t> </m:t>
                      </m:r>
                      <m:sSup>
                        <m:sSupPr>
                          <m:ctrlPr>
                            <a:rPr lang="en-NZ" altLang="ja-JP" sz="1800" b="1" i="1">
                              <a:solidFill>
                                <a:schemeClr val="tx1"/>
                              </a:solidFill>
                              <a:latin typeface="Cambria Math" panose="02040503050406030204" pitchFamily="18" charset="0"/>
                            </a:rPr>
                          </m:ctrlPr>
                        </m:sSupPr>
                        <m:e>
                          <m:r>
                            <a:rPr lang="en-NZ" altLang="ja-JP" sz="1800" b="1" i="1">
                              <a:solidFill>
                                <a:schemeClr val="tx1"/>
                              </a:solidFill>
                              <a:latin typeface="Cambria Math" panose="02040503050406030204" pitchFamily="18" charset="0"/>
                            </a:rPr>
                            <m:t>𝒆</m:t>
                          </m:r>
                        </m:e>
                        <m:sup>
                          <m:r>
                            <a:rPr lang="en-NZ" altLang="ja-JP" sz="1800" b="1" i="1">
                              <a:solidFill>
                                <a:schemeClr val="tx1"/>
                              </a:solidFill>
                              <a:latin typeface="Cambria Math" panose="02040503050406030204" pitchFamily="18" charset="0"/>
                            </a:rPr>
                            <m:t>−</m:t>
                          </m:r>
                          <m:f>
                            <m:fPr>
                              <m:ctrlPr>
                                <a:rPr lang="en-NZ" altLang="ja-JP" sz="1800" b="1" i="1">
                                  <a:solidFill>
                                    <a:schemeClr val="tx1"/>
                                  </a:solidFill>
                                  <a:latin typeface="Cambria Math" panose="02040503050406030204" pitchFamily="18" charset="0"/>
                                </a:rPr>
                              </m:ctrlPr>
                            </m:fPr>
                            <m:num>
                              <m:r>
                                <a:rPr lang="en-NZ" altLang="ja-JP" sz="1800" b="1" i="1">
                                  <a:solidFill>
                                    <a:schemeClr val="tx1"/>
                                  </a:solidFill>
                                  <a:latin typeface="Cambria Math" panose="02040503050406030204" pitchFamily="18" charset="0"/>
                                </a:rPr>
                                <m:t>𝟏</m:t>
                              </m:r>
                            </m:num>
                            <m:den>
                              <m:r>
                                <a:rPr lang="en-NZ" altLang="ja-JP" sz="1800" b="1" i="1">
                                  <a:solidFill>
                                    <a:schemeClr val="tx1"/>
                                  </a:solidFill>
                                  <a:latin typeface="Cambria Math" panose="02040503050406030204" pitchFamily="18" charset="0"/>
                                </a:rPr>
                                <m:t>𝟐</m:t>
                              </m:r>
                            </m:den>
                          </m:f>
                          <m:r>
                            <a:rPr lang="en-NZ" altLang="ja-JP" sz="1800" b="1" i="1" smtClean="0">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𝒚</m:t>
                          </m:r>
                          <m:r>
                            <a:rPr lang="en-NZ" altLang="ja-JP" sz="1800" b="1" i="1">
                              <a:solidFill>
                                <a:schemeClr val="tx1"/>
                              </a:solidFill>
                              <a:latin typeface="Cambria Math" panose="02040503050406030204" pitchFamily="18" charset="0"/>
                            </a:rPr>
                            <m:t>− </m:t>
                          </m:r>
                          <m:sSup>
                            <m:sSupPr>
                              <m:ctrlPr>
                                <a:rPr lang="en-NZ" altLang="ja-JP" sz="1800" b="1" i="1">
                                  <a:solidFill>
                                    <a:schemeClr val="tx1"/>
                                  </a:solidFill>
                                  <a:latin typeface="Cambria Math" panose="02040503050406030204" pitchFamily="18" charset="0"/>
                                </a:rPr>
                              </m:ctrlPr>
                            </m:sSupPr>
                            <m:e>
                              <m:r>
                                <a:rPr lang="en-NZ" altLang="ja-JP" sz="1800" b="1" i="1">
                                  <a:solidFill>
                                    <a:schemeClr val="tx1"/>
                                  </a:solidFill>
                                  <a:latin typeface="Cambria Math" panose="02040503050406030204" pitchFamily="18" charset="0"/>
                                </a:rPr>
                                <m:t>𝒙</m:t>
                              </m:r>
                              <m:r>
                                <a:rPr lang="en-NZ" altLang="ja-JP" sz="1800" b="1" i="1">
                                  <a:solidFill>
                                    <a:schemeClr val="tx1"/>
                                  </a:solidFill>
                                  <a:latin typeface="Cambria Math" panose="02040503050406030204" pitchFamily="18" charset="0"/>
                                </a:rPr>
                                <m:t>) </m:t>
                              </m:r>
                            </m:e>
                            <m:sup>
                              <m:r>
                                <a:rPr lang="en-NZ" altLang="ja-JP" sz="1800" b="1" i="1">
                                  <a:solidFill>
                                    <a:schemeClr val="tx1"/>
                                  </a:solidFill>
                                  <a:latin typeface="Cambria Math" panose="02040503050406030204" pitchFamily="18" charset="0"/>
                                </a:rPr>
                                <m:t>𝟐</m:t>
                              </m:r>
                            </m:sup>
                          </m:sSup>
                          <m:r>
                            <a:rPr lang="en-NZ" altLang="ja-JP" sz="1800" b="1" i="1" smtClean="0">
                              <a:solidFill>
                                <a:schemeClr val="tx1"/>
                              </a:solidFill>
                              <a:latin typeface="Cambria Math" panose="02040503050406030204" pitchFamily="18" charset="0"/>
                            </a:rPr>
                            <m:t>  / </m:t>
                          </m:r>
                          <m:sSubSup>
                            <m:sSubSupPr>
                              <m:ctrlPr>
                                <a:rPr lang="en-NZ" altLang="ja-JP" sz="1800" b="1" i="1">
                                  <a:solidFill>
                                    <a:schemeClr val="tx1"/>
                                  </a:solidFill>
                                  <a:latin typeface="Cambria Math" panose="02040503050406030204" pitchFamily="18" charset="0"/>
                                </a:rPr>
                              </m:ctrlPr>
                            </m:sSubSupPr>
                            <m:e>
                              <m:r>
                                <a:rPr lang="en-NZ" altLang="ja-JP" sz="1800" b="1" i="1">
                                  <a:solidFill>
                                    <a:schemeClr val="tx1"/>
                                  </a:solidFill>
                                  <a:latin typeface="Cambria Math" panose="02040503050406030204" pitchFamily="18" charset="0"/>
                                </a:rPr>
                                <m:t>𝝈</m:t>
                              </m:r>
                            </m:e>
                            <m:sub>
                              <m:r>
                                <a:rPr lang="en-NZ" altLang="ja-JP" sz="1800" b="1" i="1" smtClean="0">
                                  <a:solidFill>
                                    <a:schemeClr val="tx1"/>
                                  </a:solidFill>
                                  <a:latin typeface="Cambria Math" panose="02040503050406030204" pitchFamily="18" charset="0"/>
                                </a:rPr>
                                <m:t>𝟐</m:t>
                              </m:r>
                            </m:sub>
                            <m:sup>
                              <m:r>
                                <a:rPr lang="en-NZ" altLang="ja-JP" sz="1800" b="1" i="1">
                                  <a:solidFill>
                                    <a:schemeClr val="tx1"/>
                                  </a:solidFill>
                                  <a:latin typeface="Cambria Math" panose="02040503050406030204" pitchFamily="18" charset="0"/>
                                </a:rPr>
                                <m:t>𝟐</m:t>
                              </m:r>
                            </m:sup>
                          </m:sSubSup>
                        </m:sup>
                      </m:sSup>
                    </m:oMath>
                  </m:oMathPara>
                </a14:m>
                <a:endParaRPr lang="en-NZ" altLang="ja-JP" sz="1800" b="1" dirty="0">
                  <a:solidFill>
                    <a:schemeClr val="tx1"/>
                  </a:solidFill>
                </a:endParaRPr>
              </a:p>
            </p:txBody>
          </p:sp>
        </mc:Choice>
        <mc:Fallback xmlns="">
          <p:sp>
            <p:nvSpPr>
              <p:cNvPr id="27" name="Text Placeholder 5">
                <a:extLst>
                  <a:ext uri="{FF2B5EF4-FFF2-40B4-BE49-F238E27FC236}">
                    <a16:creationId xmlns:a16="http://schemas.microsoft.com/office/drawing/2014/main" id="{1316DBFE-043A-5FB2-C80A-E2065C61BC7E}"/>
                  </a:ext>
                </a:extLst>
              </p:cNvPr>
              <p:cNvSpPr txBox="1">
                <a:spLocks noRot="1" noChangeAspect="1" noMove="1" noResize="1" noEditPoints="1" noAdjustHandles="1" noChangeArrowheads="1" noChangeShapeType="1" noTextEdit="1"/>
              </p:cNvSpPr>
              <p:nvPr/>
            </p:nvSpPr>
            <p:spPr>
              <a:xfrm>
                <a:off x="319463" y="3999610"/>
                <a:ext cx="11608680" cy="1361614"/>
              </a:xfrm>
              <a:prstGeom prst="rect">
                <a:avLst/>
              </a:prstGeom>
              <a:blipFill>
                <a:blip r:embed="rId5"/>
                <a:stretch>
                  <a:fillRect l="-420" t="-2242"/>
                </a:stretch>
              </a:blipFill>
            </p:spPr>
            <p:txBody>
              <a:bodyPr/>
              <a:lstStyle/>
              <a:p>
                <a:r>
                  <a:rPr lang="en-NZ">
                    <a:noFill/>
                  </a:rPr>
                  <a:t> </a:t>
                </a:r>
              </a:p>
            </p:txBody>
          </p:sp>
        </mc:Fallback>
      </mc:AlternateContent>
      <p:sp>
        <p:nvSpPr>
          <p:cNvPr id="28" name="Text Placeholder 5">
            <a:extLst>
              <a:ext uri="{FF2B5EF4-FFF2-40B4-BE49-F238E27FC236}">
                <a16:creationId xmlns:a16="http://schemas.microsoft.com/office/drawing/2014/main" id="{049D01EF-BC5F-DBE5-7588-82E2492D1EFF}"/>
              </a:ext>
            </a:extLst>
          </p:cNvPr>
          <p:cNvSpPr txBox="1">
            <a:spLocks/>
          </p:cNvSpPr>
          <p:nvPr/>
        </p:nvSpPr>
        <p:spPr>
          <a:xfrm>
            <a:off x="2345361" y="6488487"/>
            <a:ext cx="7501278" cy="28337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rPr>
              <a:t>Associated Code = 10 - Bivariate Normal Example (Convergence</a:t>
            </a:r>
            <a:r>
              <a:rPr kumimoji="1" lang="en-NZ" altLang="ja-JP" sz="1200" u="none" strike="noStrike" kern="1200" cap="none" spc="0" normalizeH="0" noProof="0" dirty="0">
                <a:ln>
                  <a:noFill/>
                </a:ln>
                <a:solidFill>
                  <a:srgbClr val="C00000"/>
                </a:solidFill>
                <a:effectLst/>
                <a:uLnTx/>
                <a:uFillTx/>
                <a:latin typeface="Calibri" panose="020F0502020204030204"/>
                <a:ea typeface="游ゴシック" panose="020B0400000000000000" pitchFamily="34" charset="-128"/>
              </a:rPr>
              <a:t> Tests</a:t>
            </a:r>
            <a:r>
              <a:rPr kumimoji="1" lang="en-NZ"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rPr>
              <a:t>)</a:t>
            </a:r>
            <a:endParaRPr kumimoji="1" lang="en-US"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mc:AlternateContent xmlns:mc="http://schemas.openxmlformats.org/markup-compatibility/2006" xmlns:a14="http://schemas.microsoft.com/office/drawing/2010/main">
        <mc:Choice Requires="a14">
          <p:sp>
            <p:nvSpPr>
              <p:cNvPr id="30" name="Text Placeholder 5">
                <a:extLst>
                  <a:ext uri="{FF2B5EF4-FFF2-40B4-BE49-F238E27FC236}">
                    <a16:creationId xmlns:a16="http://schemas.microsoft.com/office/drawing/2014/main" id="{369E7389-2930-00C7-6626-0692810CF2B4}"/>
                  </a:ext>
                </a:extLst>
              </p:cNvPr>
              <p:cNvSpPr txBox="1">
                <a:spLocks/>
              </p:cNvSpPr>
              <p:nvPr/>
            </p:nvSpPr>
            <p:spPr>
              <a:xfrm>
                <a:off x="319463" y="5580625"/>
                <a:ext cx="11608680" cy="6131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dirty="0">
                    <a:solidFill>
                      <a:schemeClr val="tx1"/>
                    </a:solidFill>
                  </a:rPr>
                  <a:t>Given the symmetry of </a:t>
                </a:r>
                <a14:m>
                  <m:oMath xmlns:m="http://schemas.openxmlformats.org/officeDocument/2006/math">
                    <m:sSub>
                      <m:sSubPr>
                        <m:ctrlPr>
                          <a:rPr lang="en-NZ" altLang="ja-JP" sz="1800" b="1" i="1" smtClean="0">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𝒒</m:t>
                        </m:r>
                      </m:e>
                      <m:sub>
                        <m:r>
                          <a:rPr lang="en-NZ" altLang="ja-JP" sz="1800" b="1" i="1" smtClean="0">
                            <a:solidFill>
                              <a:schemeClr val="tx1"/>
                            </a:solidFill>
                            <a:latin typeface="Cambria Math" panose="02040503050406030204" pitchFamily="18" charset="0"/>
                          </a:rPr>
                          <m:t>𝟏</m:t>
                        </m:r>
                      </m:sub>
                    </m:sSub>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𝒙</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𝒚</m:t>
                        </m:r>
                      </m:e>
                    </m:d>
                  </m:oMath>
                </a14:m>
                <a:r>
                  <a:rPr lang="en-NZ" altLang="ja-JP" sz="1800" dirty="0">
                    <a:solidFill>
                      <a:schemeClr val="tx1"/>
                    </a:solidFill>
                  </a:rPr>
                  <a:t> and </a:t>
                </a:r>
                <a14:m>
                  <m:oMath xmlns:m="http://schemas.openxmlformats.org/officeDocument/2006/math">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𝒒</m:t>
                        </m:r>
                      </m:e>
                      <m:sub>
                        <m:r>
                          <a:rPr lang="en-NZ" altLang="ja-JP" sz="1800" b="1" i="1" smtClean="0">
                            <a:solidFill>
                              <a:schemeClr val="tx1"/>
                            </a:solidFill>
                            <a:latin typeface="Cambria Math" panose="02040503050406030204" pitchFamily="18" charset="0"/>
                          </a:rPr>
                          <m:t>𝟐</m:t>
                        </m:r>
                      </m:sub>
                    </m:sSub>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𝒙</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𝒚</m:t>
                        </m:r>
                      </m:e>
                    </m:d>
                  </m:oMath>
                </a14:m>
                <a:r>
                  <a:rPr lang="en-NZ" altLang="ja-JP" sz="1800" dirty="0">
                    <a:solidFill>
                      <a:schemeClr val="tx1"/>
                    </a:solidFill>
                  </a:rPr>
                  <a:t>,  this implies that the MH acceptance probability simplifies to </a:t>
                </a:r>
              </a:p>
              <a:p>
                <a:pPr lvl="0" algn="ctr">
                  <a:lnSpc>
                    <a:spcPct val="100000"/>
                  </a:lnSpc>
                  <a:defRPr/>
                </a:pPr>
                <a14:m>
                  <m:oMath xmlns:m="http://schemas.openxmlformats.org/officeDocument/2006/math">
                    <m:r>
                      <a:rPr lang="en-NZ" altLang="ja-JP" sz="1800" b="1" i="1">
                        <a:solidFill>
                          <a:schemeClr val="tx1"/>
                        </a:solidFill>
                        <a:latin typeface="Cambria Math" panose="02040503050406030204" pitchFamily="18" charset="0"/>
                      </a:rPr>
                      <m:t>𝜶</m:t>
                    </m:r>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𝒙</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𝒚</m:t>
                        </m:r>
                      </m:e>
                    </m:d>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𝒎𝒊𝒏</m:t>
                    </m:r>
                    <m:r>
                      <a:rPr lang="en-NZ" altLang="ja-JP" sz="1800" b="1" i="1">
                        <a:solidFill>
                          <a:schemeClr val="tx1"/>
                        </a:solidFill>
                        <a:latin typeface="Cambria Math" panose="02040503050406030204" pitchFamily="18" charset="0"/>
                      </a:rPr>
                      <m:t> </m:t>
                    </m:r>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𝟏</m:t>
                        </m:r>
                        <m:r>
                          <a:rPr lang="en-NZ" altLang="ja-JP" sz="1800" b="1" i="1">
                            <a:solidFill>
                              <a:schemeClr val="tx1"/>
                            </a:solidFill>
                            <a:latin typeface="Cambria Math" panose="02040503050406030204" pitchFamily="18" charset="0"/>
                          </a:rPr>
                          <m:t> ,  </m:t>
                        </m:r>
                        <m:f>
                          <m:fPr>
                            <m:ctrlPr>
                              <a:rPr lang="en-NZ" altLang="ja-JP" sz="1800" b="1" i="1">
                                <a:solidFill>
                                  <a:schemeClr val="tx1"/>
                                </a:solidFill>
                                <a:latin typeface="Cambria Math" panose="02040503050406030204" pitchFamily="18" charset="0"/>
                              </a:rPr>
                            </m:ctrlPr>
                          </m:fPr>
                          <m:num>
                            <m:r>
                              <a:rPr lang="en-NZ" altLang="ja-JP" sz="1800" b="1" i="1">
                                <a:solidFill>
                                  <a:schemeClr val="tx1"/>
                                </a:solidFill>
                                <a:latin typeface="Cambria Math" panose="02040503050406030204" pitchFamily="18" charset="0"/>
                              </a:rPr>
                              <m:t>𝒇</m:t>
                            </m:r>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𝒚</m:t>
                                </m:r>
                              </m:e>
                            </m:d>
                          </m:num>
                          <m:den>
                            <m:r>
                              <a:rPr lang="en-NZ" altLang="ja-JP" sz="1800" b="1" i="1">
                                <a:solidFill>
                                  <a:schemeClr val="tx1"/>
                                </a:solidFill>
                                <a:latin typeface="Cambria Math" panose="02040503050406030204" pitchFamily="18" charset="0"/>
                              </a:rPr>
                              <m:t>𝒇</m:t>
                            </m:r>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𝒙</m:t>
                                </m:r>
                              </m:e>
                            </m:d>
                          </m:den>
                        </m:f>
                        <m:r>
                          <a:rPr lang="en-NZ" altLang="ja-JP" sz="1800" b="1" i="1">
                            <a:solidFill>
                              <a:schemeClr val="tx1"/>
                            </a:solidFill>
                            <a:latin typeface="Cambria Math" panose="02040503050406030204" pitchFamily="18" charset="0"/>
                          </a:rPr>
                          <m:t>   </m:t>
                        </m:r>
                      </m:e>
                    </m:d>
                  </m:oMath>
                </a14:m>
                <a:r>
                  <a:rPr lang="en-NZ" altLang="ja-JP" sz="1800" dirty="0">
                    <a:solidFill>
                      <a:schemeClr val="tx1"/>
                    </a:solidFill>
                  </a:rPr>
                  <a:t> </a:t>
                </a:r>
              </a:p>
            </p:txBody>
          </p:sp>
        </mc:Choice>
        <mc:Fallback xmlns="">
          <p:sp>
            <p:nvSpPr>
              <p:cNvPr id="30" name="Text Placeholder 5">
                <a:extLst>
                  <a:ext uri="{FF2B5EF4-FFF2-40B4-BE49-F238E27FC236}">
                    <a16:creationId xmlns:a16="http://schemas.microsoft.com/office/drawing/2014/main" id="{369E7389-2930-00C7-6626-0692810CF2B4}"/>
                  </a:ext>
                </a:extLst>
              </p:cNvPr>
              <p:cNvSpPr txBox="1">
                <a:spLocks noRot="1" noChangeAspect="1" noMove="1" noResize="1" noEditPoints="1" noAdjustHandles="1" noChangeArrowheads="1" noChangeShapeType="1" noTextEdit="1"/>
              </p:cNvSpPr>
              <p:nvPr/>
            </p:nvSpPr>
            <p:spPr>
              <a:xfrm>
                <a:off x="319463" y="5580625"/>
                <a:ext cx="11608680" cy="613136"/>
              </a:xfrm>
              <a:prstGeom prst="rect">
                <a:avLst/>
              </a:prstGeom>
              <a:blipFill>
                <a:blip r:embed="rId6"/>
                <a:stretch>
                  <a:fillRect l="-420" t="-4950" b="-37624"/>
                </a:stretch>
              </a:blipFill>
            </p:spPr>
            <p:txBody>
              <a:bodyPr/>
              <a:lstStyle/>
              <a:p>
                <a:r>
                  <a:rPr lang="en-NZ">
                    <a:noFill/>
                  </a:rPr>
                  <a:t> </a:t>
                </a:r>
              </a:p>
            </p:txBody>
          </p:sp>
        </mc:Fallback>
      </mc:AlternateContent>
    </p:spTree>
    <p:extLst>
      <p:ext uri="{BB962C8B-B14F-4D97-AF65-F5344CB8AC3E}">
        <p14:creationId xmlns:p14="http://schemas.microsoft.com/office/powerpoint/2010/main" val="2319728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7" grpId="0"/>
      <p:bldP spid="3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7" name="Title 6">
            <a:extLst>
              <a:ext uri="{FF2B5EF4-FFF2-40B4-BE49-F238E27FC236}">
                <a16:creationId xmlns:a16="http://schemas.microsoft.com/office/drawing/2014/main" id="{3012CB40-7BFC-849B-BE87-00F2AF82E7F1}"/>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10.2 – Summary Statistics</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8" name="Footer Placeholder 2">
            <a:extLst>
              <a:ext uri="{FF2B5EF4-FFF2-40B4-BE49-F238E27FC236}">
                <a16:creationId xmlns:a16="http://schemas.microsoft.com/office/drawing/2014/main" id="{48B34FB6-2786-2AF8-FADE-8468DE47531A}"/>
              </a:ext>
            </a:extLst>
          </p:cNvPr>
          <p:cNvSpPr txBox="1">
            <a:spLocks/>
          </p:cNvSpPr>
          <p:nvPr/>
        </p:nvSpPr>
        <p:spPr>
          <a:xfrm>
            <a:off x="8993875" y="86139"/>
            <a:ext cx="309549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10.2 – Summary Statistics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mc:AlternateContent xmlns:mc="http://schemas.openxmlformats.org/markup-compatibility/2006">
        <mc:Choice xmlns:a14="http://schemas.microsoft.com/office/drawing/2010/main" Requires="a14">
          <p:sp>
            <p:nvSpPr>
              <p:cNvPr id="19" name="Text Placeholder 5">
                <a:extLst>
                  <a:ext uri="{FF2B5EF4-FFF2-40B4-BE49-F238E27FC236}">
                    <a16:creationId xmlns:a16="http://schemas.microsoft.com/office/drawing/2014/main" id="{D8338D8C-3936-DAB5-23D2-F64F970CE7AD}"/>
                  </a:ext>
                </a:extLst>
              </p:cNvPr>
              <p:cNvSpPr txBox="1">
                <a:spLocks/>
              </p:cNvSpPr>
              <p:nvPr/>
            </p:nvSpPr>
            <p:spPr>
              <a:xfrm>
                <a:off x="291660" y="900312"/>
                <a:ext cx="11608680" cy="9421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dirty="0">
                    <a:solidFill>
                      <a:srgbClr val="002060"/>
                    </a:solidFill>
                  </a:rPr>
                  <a:t>Consider the problem of obtaining a sample of observations from the bivariate normal distribution defined by</a:t>
                </a:r>
              </a:p>
              <a:p>
                <a:pPr lvl="0" algn="ctr">
                  <a:lnSpc>
                    <a:spcPct val="100000"/>
                  </a:lnSpc>
                  <a:defRPr/>
                </a:pPr>
                <a14:m>
                  <m:oMath xmlns:m="http://schemas.openxmlformats.org/officeDocument/2006/math">
                    <m:r>
                      <a:rPr lang="en-NZ" altLang="ja-JP" sz="1800" b="1" i="1" smtClean="0">
                        <a:solidFill>
                          <a:srgbClr val="002060"/>
                        </a:solidFill>
                        <a:latin typeface="Cambria Math" panose="02040503050406030204" pitchFamily="18" charset="0"/>
                      </a:rPr>
                      <m:t>𝑵</m:t>
                    </m:r>
                    <m:r>
                      <a:rPr lang="en-NZ" altLang="ja-JP" sz="1800" b="1" i="1" smtClean="0">
                        <a:solidFill>
                          <a:srgbClr val="002060"/>
                        </a:solidFill>
                        <a:latin typeface="Cambria Math" panose="02040503050406030204" pitchFamily="18" charset="0"/>
                      </a:rPr>
                      <m:t>( </m:t>
                    </m:r>
                    <m:bar>
                      <m:barPr>
                        <m:ctrlPr>
                          <a:rPr lang="en-NZ" altLang="ja-JP" sz="1800" b="1" i="1" smtClean="0">
                            <a:solidFill>
                              <a:srgbClr val="002060"/>
                            </a:solidFill>
                            <a:latin typeface="Cambria Math" panose="02040503050406030204" pitchFamily="18" charset="0"/>
                          </a:rPr>
                        </m:ctrlPr>
                      </m:barPr>
                      <m:e>
                        <m:r>
                          <a:rPr lang="en-NZ" altLang="ja-JP" sz="1800" b="1" i="1" smtClean="0">
                            <a:solidFill>
                              <a:srgbClr val="002060"/>
                            </a:solidFill>
                            <a:latin typeface="Cambria Math" panose="02040503050406030204" pitchFamily="18" charset="0"/>
                          </a:rPr>
                          <m:t>𝝁</m:t>
                        </m:r>
                      </m:e>
                    </m:bar>
                    <m:r>
                      <a:rPr lang="en-NZ" altLang="ja-JP" sz="1800" b="1" i="1" smtClean="0">
                        <a:solidFill>
                          <a:srgbClr val="002060"/>
                        </a:solidFill>
                        <a:latin typeface="Cambria Math" panose="02040503050406030204" pitchFamily="18" charset="0"/>
                      </a:rPr>
                      <m:t> , </m:t>
                    </m:r>
                    <m:r>
                      <a:rPr lang="en-NZ" altLang="ja-JP" sz="1800" b="1" i="0" smtClean="0">
                        <a:solidFill>
                          <a:srgbClr val="002060"/>
                        </a:solidFill>
                        <a:latin typeface="Cambria Math" panose="02040503050406030204" pitchFamily="18" charset="0"/>
                      </a:rPr>
                      <m:t>𝚺</m:t>
                    </m:r>
                    <m:r>
                      <a:rPr lang="en-NZ" altLang="ja-JP" sz="1800" b="1" i="1" smtClean="0">
                        <a:solidFill>
                          <a:srgbClr val="002060"/>
                        </a:solidFill>
                        <a:latin typeface="Cambria Math" panose="02040503050406030204" pitchFamily="18" charset="0"/>
                      </a:rPr>
                      <m:t> )</m:t>
                    </m:r>
                  </m:oMath>
                </a14:m>
                <a:r>
                  <a:rPr lang="en-NZ" altLang="ja-JP" sz="1800" b="1" dirty="0">
                    <a:solidFill>
                      <a:srgbClr val="002060"/>
                    </a:solidFill>
                  </a:rPr>
                  <a:t>     </a:t>
                </a:r>
                <a:r>
                  <a:rPr lang="en-NZ" altLang="ja-JP" sz="1800" dirty="0">
                    <a:solidFill>
                      <a:srgbClr val="002060"/>
                    </a:solidFill>
                  </a:rPr>
                  <a:t>where</a:t>
                </a:r>
                <a:r>
                  <a:rPr lang="en-NZ" altLang="ja-JP" sz="1800" b="1" dirty="0">
                    <a:solidFill>
                      <a:srgbClr val="002060"/>
                    </a:solidFill>
                  </a:rPr>
                  <a:t>    </a:t>
                </a:r>
                <a14:m>
                  <m:oMath xmlns:m="http://schemas.openxmlformats.org/officeDocument/2006/math">
                    <m:bar>
                      <m:barPr>
                        <m:ctrlPr>
                          <a:rPr lang="en-NZ" altLang="ja-JP" sz="1800" b="1" i="1">
                            <a:solidFill>
                              <a:srgbClr val="002060"/>
                            </a:solidFill>
                            <a:latin typeface="Cambria Math" panose="02040503050406030204" pitchFamily="18" charset="0"/>
                          </a:rPr>
                        </m:ctrlPr>
                      </m:barPr>
                      <m:e>
                        <m:r>
                          <a:rPr lang="en-NZ" altLang="ja-JP" sz="1800" b="1" i="1">
                            <a:solidFill>
                              <a:srgbClr val="002060"/>
                            </a:solidFill>
                            <a:latin typeface="Cambria Math" panose="02040503050406030204" pitchFamily="18" charset="0"/>
                          </a:rPr>
                          <m:t>𝝁</m:t>
                        </m:r>
                      </m:e>
                    </m:bar>
                    <m:r>
                      <a:rPr lang="en-NZ" altLang="ja-JP" sz="1800" b="1" i="1" smtClean="0">
                        <a:solidFill>
                          <a:srgbClr val="002060"/>
                        </a:solidFill>
                        <a:latin typeface="Cambria Math" panose="02040503050406030204" pitchFamily="18" charset="0"/>
                      </a:rPr>
                      <m:t>=</m:t>
                    </m:r>
                    <m:sSup>
                      <m:sSupPr>
                        <m:ctrlPr>
                          <a:rPr lang="en-NZ" altLang="ja-JP" sz="1800" b="1" i="1" smtClean="0">
                            <a:solidFill>
                              <a:srgbClr val="002060"/>
                            </a:solidFill>
                            <a:latin typeface="Cambria Math" panose="02040503050406030204" pitchFamily="18" charset="0"/>
                          </a:rPr>
                        </m:ctrlPr>
                      </m:sSupPr>
                      <m:e>
                        <m:d>
                          <m:dPr>
                            <m:ctrlPr>
                              <a:rPr lang="en-NZ" altLang="ja-JP" sz="1800" b="1" i="1" smtClean="0">
                                <a:solidFill>
                                  <a:srgbClr val="002060"/>
                                </a:solidFill>
                                <a:latin typeface="Cambria Math" panose="02040503050406030204" pitchFamily="18" charset="0"/>
                              </a:rPr>
                            </m:ctrlPr>
                          </m:dPr>
                          <m:e>
                            <m:r>
                              <a:rPr lang="en-NZ" altLang="ja-JP" sz="1800" b="1" i="1" smtClean="0">
                                <a:solidFill>
                                  <a:srgbClr val="002060"/>
                                </a:solidFill>
                                <a:latin typeface="Cambria Math" panose="02040503050406030204" pitchFamily="18" charset="0"/>
                              </a:rPr>
                              <m:t>𝟑</m:t>
                            </m:r>
                            <m:r>
                              <a:rPr lang="en-NZ" altLang="ja-JP" sz="1800" b="1" i="1" smtClean="0">
                                <a:solidFill>
                                  <a:srgbClr val="002060"/>
                                </a:solidFill>
                                <a:latin typeface="Cambria Math" panose="02040503050406030204" pitchFamily="18" charset="0"/>
                              </a:rPr>
                              <m:t>,</m:t>
                            </m:r>
                            <m:r>
                              <a:rPr lang="en-NZ" altLang="ja-JP" sz="1800" b="1" i="1" smtClean="0">
                                <a:solidFill>
                                  <a:srgbClr val="002060"/>
                                </a:solidFill>
                                <a:latin typeface="Cambria Math" panose="02040503050406030204" pitchFamily="18" charset="0"/>
                              </a:rPr>
                              <m:t>𝟏</m:t>
                            </m:r>
                          </m:e>
                        </m:d>
                      </m:e>
                      <m:sup>
                        <m:r>
                          <a:rPr lang="en-NZ" altLang="ja-JP" sz="1800" b="1" i="1" smtClean="0">
                            <a:solidFill>
                              <a:srgbClr val="002060"/>
                            </a:solidFill>
                            <a:latin typeface="Cambria Math" panose="02040503050406030204" pitchFamily="18" charset="0"/>
                          </a:rPr>
                          <m:t>𝑻</m:t>
                        </m:r>
                      </m:sup>
                    </m:sSup>
                  </m:oMath>
                </a14:m>
                <a:r>
                  <a:rPr lang="en-NZ" altLang="ja-JP" sz="1800" b="1" dirty="0">
                    <a:solidFill>
                      <a:srgbClr val="002060"/>
                    </a:solidFill>
                  </a:rPr>
                  <a:t>    </a:t>
                </a:r>
                <a:r>
                  <a:rPr lang="en-NZ" altLang="ja-JP" sz="1800" dirty="0">
                    <a:solidFill>
                      <a:srgbClr val="002060"/>
                    </a:solidFill>
                  </a:rPr>
                  <a:t>and</a:t>
                </a:r>
                <a:r>
                  <a:rPr lang="en-NZ" altLang="ja-JP" sz="1800" b="1" dirty="0">
                    <a:solidFill>
                      <a:srgbClr val="002060"/>
                    </a:solidFill>
                  </a:rPr>
                  <a:t>    </a:t>
                </a:r>
                <a14:m>
                  <m:oMath xmlns:m="http://schemas.openxmlformats.org/officeDocument/2006/math">
                    <m:r>
                      <a:rPr lang="en-NZ" altLang="ja-JP" sz="1800" b="1" i="0" smtClean="0">
                        <a:solidFill>
                          <a:srgbClr val="002060"/>
                        </a:solidFill>
                        <a:latin typeface="Cambria Math" panose="02040503050406030204" pitchFamily="18" charset="0"/>
                      </a:rPr>
                      <m:t>𝚺</m:t>
                    </m:r>
                    <m:r>
                      <a:rPr lang="en-NZ" altLang="ja-JP" sz="1800" b="1" i="1" smtClean="0">
                        <a:solidFill>
                          <a:srgbClr val="002060"/>
                        </a:solidFill>
                        <a:latin typeface="Cambria Math" panose="02040503050406030204" pitchFamily="18" charset="0"/>
                      </a:rPr>
                      <m:t>= </m:t>
                    </m:r>
                    <m:d>
                      <m:dPr>
                        <m:begChr m:val="["/>
                        <m:endChr m:val="]"/>
                        <m:ctrlPr>
                          <a:rPr lang="en-NZ" altLang="ja-JP" sz="1800" b="1" i="1" smtClean="0">
                            <a:solidFill>
                              <a:srgbClr val="002060"/>
                            </a:solidFill>
                            <a:latin typeface="Cambria Math" panose="02040503050406030204" pitchFamily="18" charset="0"/>
                          </a:rPr>
                        </m:ctrlPr>
                      </m:dPr>
                      <m:e>
                        <m:m>
                          <m:mPr>
                            <m:mcs>
                              <m:mc>
                                <m:mcPr>
                                  <m:count m:val="2"/>
                                  <m:mcJc m:val="center"/>
                                </m:mcPr>
                              </m:mc>
                            </m:mcs>
                            <m:ctrlPr>
                              <a:rPr lang="en-NZ" altLang="ja-JP" sz="1800" b="1" i="1" smtClean="0">
                                <a:solidFill>
                                  <a:srgbClr val="002060"/>
                                </a:solidFill>
                                <a:latin typeface="Cambria Math" panose="02040503050406030204" pitchFamily="18" charset="0"/>
                              </a:rPr>
                            </m:ctrlPr>
                          </m:mPr>
                          <m:mr>
                            <m:e>
                              <m:r>
                                <m:rPr>
                                  <m:brk m:alnAt="7"/>
                                </m:rPr>
                                <a:rPr lang="en-NZ" altLang="ja-JP" sz="1800" b="1" i="1" smtClean="0">
                                  <a:solidFill>
                                    <a:srgbClr val="002060"/>
                                  </a:solidFill>
                                  <a:latin typeface="Cambria Math" panose="02040503050406030204" pitchFamily="18" charset="0"/>
                                </a:rPr>
                                <m:t>𝟏</m:t>
                              </m:r>
                            </m:e>
                            <m:e>
                              <m:r>
                                <a:rPr lang="en-NZ" altLang="ja-JP" sz="1800" b="1" i="1" smtClean="0">
                                  <a:solidFill>
                                    <a:srgbClr val="002060"/>
                                  </a:solidFill>
                                  <a:latin typeface="Cambria Math" panose="02040503050406030204" pitchFamily="18" charset="0"/>
                                </a:rPr>
                                <m:t>−</m:t>
                              </m:r>
                              <m:r>
                                <a:rPr lang="en-NZ" altLang="ja-JP" sz="1800" b="1" i="1" smtClean="0">
                                  <a:solidFill>
                                    <a:srgbClr val="002060"/>
                                  </a:solidFill>
                                  <a:latin typeface="Cambria Math" panose="02040503050406030204" pitchFamily="18" charset="0"/>
                                </a:rPr>
                                <m:t>𝟎</m:t>
                              </m:r>
                              <m:r>
                                <a:rPr lang="en-NZ" altLang="ja-JP" sz="1800" b="1" i="1" smtClean="0">
                                  <a:solidFill>
                                    <a:srgbClr val="002060"/>
                                  </a:solidFill>
                                  <a:latin typeface="Cambria Math" panose="02040503050406030204" pitchFamily="18" charset="0"/>
                                </a:rPr>
                                <m:t>.</m:t>
                              </m:r>
                              <m:r>
                                <a:rPr lang="en-NZ" altLang="ja-JP" sz="1800" b="1" i="1" smtClean="0">
                                  <a:solidFill>
                                    <a:srgbClr val="002060"/>
                                  </a:solidFill>
                                  <a:latin typeface="Cambria Math" panose="02040503050406030204" pitchFamily="18" charset="0"/>
                                </a:rPr>
                                <m:t>𝟓</m:t>
                              </m:r>
                            </m:e>
                          </m:mr>
                          <m:mr>
                            <m:e>
                              <m:r>
                                <a:rPr lang="en-NZ" altLang="ja-JP" sz="1800" b="1" i="1" smtClean="0">
                                  <a:solidFill>
                                    <a:srgbClr val="002060"/>
                                  </a:solidFill>
                                  <a:latin typeface="Cambria Math" panose="02040503050406030204" pitchFamily="18" charset="0"/>
                                </a:rPr>
                                <m:t>−</m:t>
                              </m:r>
                              <m:r>
                                <a:rPr lang="en-NZ" altLang="ja-JP" sz="1800" b="1" i="1" smtClean="0">
                                  <a:solidFill>
                                    <a:srgbClr val="002060"/>
                                  </a:solidFill>
                                  <a:latin typeface="Cambria Math" panose="02040503050406030204" pitchFamily="18" charset="0"/>
                                </a:rPr>
                                <m:t>𝟎</m:t>
                              </m:r>
                              <m:r>
                                <a:rPr lang="en-NZ" altLang="ja-JP" sz="1800" b="1" i="1" smtClean="0">
                                  <a:solidFill>
                                    <a:srgbClr val="002060"/>
                                  </a:solidFill>
                                  <a:latin typeface="Cambria Math" panose="02040503050406030204" pitchFamily="18" charset="0"/>
                                </a:rPr>
                                <m:t>.</m:t>
                              </m:r>
                              <m:r>
                                <a:rPr lang="en-NZ" altLang="ja-JP" sz="1800" b="1" i="1" smtClean="0">
                                  <a:solidFill>
                                    <a:srgbClr val="002060"/>
                                  </a:solidFill>
                                  <a:latin typeface="Cambria Math" panose="02040503050406030204" pitchFamily="18" charset="0"/>
                                </a:rPr>
                                <m:t>𝟓</m:t>
                              </m:r>
                            </m:e>
                            <m:e>
                              <m:r>
                                <a:rPr lang="en-NZ" altLang="ja-JP" sz="1800" b="1" i="1" smtClean="0">
                                  <a:solidFill>
                                    <a:srgbClr val="002060"/>
                                  </a:solidFill>
                                  <a:latin typeface="Cambria Math" panose="02040503050406030204" pitchFamily="18" charset="0"/>
                                </a:rPr>
                                <m:t>𝟐</m:t>
                              </m:r>
                              <m:r>
                                <a:rPr lang="en-NZ" altLang="ja-JP" sz="1800" b="1" i="1" smtClean="0">
                                  <a:solidFill>
                                    <a:srgbClr val="002060"/>
                                  </a:solidFill>
                                  <a:latin typeface="Cambria Math" panose="02040503050406030204" pitchFamily="18" charset="0"/>
                                </a:rPr>
                                <m:t>.</m:t>
                              </m:r>
                              <m:r>
                                <a:rPr lang="en-NZ" altLang="ja-JP" sz="1800" b="1" i="1" smtClean="0">
                                  <a:solidFill>
                                    <a:srgbClr val="002060"/>
                                  </a:solidFill>
                                  <a:latin typeface="Cambria Math" panose="02040503050406030204" pitchFamily="18" charset="0"/>
                                </a:rPr>
                                <m:t>𝟎</m:t>
                              </m:r>
                            </m:e>
                          </m:mr>
                        </m:m>
                      </m:e>
                    </m:d>
                  </m:oMath>
                </a14:m>
                <a:endParaRPr lang="en-NZ" altLang="ja-JP" sz="1800" b="1" dirty="0">
                  <a:solidFill>
                    <a:srgbClr val="002060"/>
                  </a:solidFill>
                </a:endParaRPr>
              </a:p>
            </p:txBody>
          </p:sp>
        </mc:Choice>
        <mc:Fallback>
          <p:sp>
            <p:nvSpPr>
              <p:cNvPr id="19" name="Text Placeholder 5">
                <a:extLst>
                  <a:ext uri="{FF2B5EF4-FFF2-40B4-BE49-F238E27FC236}">
                    <a16:creationId xmlns:a16="http://schemas.microsoft.com/office/drawing/2014/main" id="{D8338D8C-3936-DAB5-23D2-F64F970CE7AD}"/>
                  </a:ext>
                </a:extLst>
              </p:cNvPr>
              <p:cNvSpPr txBox="1">
                <a:spLocks noRot="1" noChangeAspect="1" noMove="1" noResize="1" noEditPoints="1" noAdjustHandles="1" noChangeArrowheads="1" noChangeShapeType="1" noTextEdit="1"/>
              </p:cNvSpPr>
              <p:nvPr/>
            </p:nvSpPr>
            <p:spPr>
              <a:xfrm>
                <a:off x="291660" y="900312"/>
                <a:ext cx="11608680" cy="942136"/>
              </a:xfrm>
              <a:prstGeom prst="rect">
                <a:avLst/>
              </a:prstGeom>
              <a:blipFill>
                <a:blip r:embed="rId3"/>
                <a:stretch>
                  <a:fillRect l="-473" t="-3896"/>
                </a:stretch>
              </a:blipFill>
            </p:spPr>
            <p:txBody>
              <a:bodyPr/>
              <a:lstStyle/>
              <a:p>
                <a:r>
                  <a:rPr lang="en-NZ">
                    <a:noFill/>
                  </a:rPr>
                  <a:t> </a:t>
                </a:r>
              </a:p>
            </p:txBody>
          </p:sp>
        </mc:Fallback>
      </mc:AlternateContent>
      <mc:AlternateContent xmlns:mc="http://schemas.openxmlformats.org/markup-compatibility/2006">
        <mc:Choice xmlns:a14="http://schemas.microsoft.com/office/drawing/2010/main" Requires="a14">
          <p:sp>
            <p:nvSpPr>
              <p:cNvPr id="20" name="Text Placeholder 5">
                <a:extLst>
                  <a:ext uri="{FF2B5EF4-FFF2-40B4-BE49-F238E27FC236}">
                    <a16:creationId xmlns:a16="http://schemas.microsoft.com/office/drawing/2014/main" id="{02069609-C918-3C1F-94DD-EB7B910F40A2}"/>
                  </a:ext>
                </a:extLst>
              </p:cNvPr>
              <p:cNvSpPr txBox="1">
                <a:spLocks/>
              </p:cNvSpPr>
              <p:nvPr/>
            </p:nvSpPr>
            <p:spPr>
              <a:xfrm>
                <a:off x="319463" y="2032058"/>
                <a:ext cx="11608680" cy="174837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dirty="0">
                    <a:solidFill>
                      <a:schemeClr val="tx1"/>
                    </a:solidFill>
                  </a:rPr>
                  <a:t>In this case we wish to use the Metropolis-Hastings algorithm to create a 2-dimensional Markov chain </a:t>
                </a:r>
                <a14:m>
                  <m:oMath xmlns:m="http://schemas.openxmlformats.org/officeDocument/2006/math">
                    <m:sSubSup>
                      <m:sSubSup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SupPr>
                      <m:e>
                        <m:d>
                          <m:dPr>
                            <m:begChr m:val="{"/>
                            <m:endChr m:val="}"/>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dPr>
                          <m:e>
                            <m:sSup>
                              <m:sSup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p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𝑿</m:t>
                                </m:r>
                              </m:e>
                              <m:sup>
                                <m:d>
                                  <m:d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d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𝒕</m:t>
                                    </m:r>
                                  </m:e>
                                </m:d>
                              </m:sup>
                            </m:sSup>
                          </m:e>
                        </m:d>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𝒕</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𝟎</m:t>
                        </m:r>
                      </m:sub>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sup>
                    </m:sSubSup>
                  </m:oMath>
                </a14:m>
                <a:r>
                  <a:rPr lang="en-NZ" altLang="ja-JP" sz="1800" b="1" dirty="0">
                    <a:solidFill>
                      <a:schemeClr val="tx1"/>
                    </a:solidFill>
                  </a:rPr>
                  <a:t> </a:t>
                </a:r>
                <a:br>
                  <a:rPr lang="en-NZ" altLang="ja-JP" sz="1800" b="1" dirty="0">
                    <a:solidFill>
                      <a:schemeClr val="tx1"/>
                    </a:solidFill>
                  </a:rPr>
                </a:br>
                <a:r>
                  <a:rPr lang="en-NZ" altLang="ja-JP" sz="1800" dirty="0">
                    <a:solidFill>
                      <a:schemeClr val="tx1"/>
                    </a:solidFill>
                  </a:rPr>
                  <a:t>where </a:t>
                </a:r>
                <a14:m>
                  <m:oMath xmlns:m="http://schemas.openxmlformats.org/officeDocument/2006/math">
                    <m:sSup>
                      <m:sSupPr>
                        <m:ctrlPr>
                          <a:rPr lang="en-NZ" altLang="ja-JP" sz="1800" b="1" i="1" smtClean="0">
                            <a:solidFill>
                              <a:schemeClr val="tx1"/>
                            </a:solidFill>
                            <a:latin typeface="Cambria Math" panose="02040503050406030204" pitchFamily="18" charset="0"/>
                          </a:rPr>
                        </m:ctrlPr>
                      </m:sSupPr>
                      <m:e>
                        <m:r>
                          <a:rPr lang="en-NZ" altLang="ja-JP" sz="1800" b="1" i="1" smtClean="0">
                            <a:solidFill>
                              <a:schemeClr val="tx1"/>
                            </a:solidFill>
                            <a:latin typeface="Cambria Math" panose="02040503050406030204" pitchFamily="18" charset="0"/>
                          </a:rPr>
                          <m:t>𝑿</m:t>
                        </m:r>
                      </m:e>
                      <m:sup>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𝒕</m:t>
                        </m:r>
                        <m:r>
                          <a:rPr lang="en-NZ" altLang="ja-JP" sz="1800" b="1" i="1" smtClean="0">
                            <a:solidFill>
                              <a:schemeClr val="tx1"/>
                            </a:solidFill>
                            <a:latin typeface="Cambria Math" panose="02040503050406030204" pitchFamily="18" charset="0"/>
                          </a:rPr>
                          <m:t>)</m:t>
                        </m:r>
                      </m:sup>
                    </m:sSup>
                    <m:r>
                      <a:rPr lang="en-NZ" altLang="ja-JP" sz="1800" b="1" i="1" smtClean="0">
                        <a:solidFill>
                          <a:schemeClr val="tx1"/>
                        </a:solidFill>
                        <a:latin typeface="Cambria Math" panose="02040503050406030204" pitchFamily="18" charset="0"/>
                      </a:rPr>
                      <m:t>= </m:t>
                    </m:r>
                    <m:d>
                      <m:dPr>
                        <m:ctrlPr>
                          <a:rPr lang="en-NZ" altLang="ja-JP" sz="1800" b="1" i="1" smtClean="0">
                            <a:solidFill>
                              <a:schemeClr val="tx1"/>
                            </a:solidFill>
                            <a:latin typeface="Cambria Math" panose="02040503050406030204" pitchFamily="18" charset="0"/>
                          </a:rPr>
                        </m:ctrlPr>
                      </m:dPr>
                      <m:e>
                        <m:m>
                          <m:mPr>
                            <m:mcs>
                              <m:mc>
                                <m:mcPr>
                                  <m:count m:val="2"/>
                                  <m:mcJc m:val="center"/>
                                </m:mcPr>
                              </m:mc>
                            </m:mcs>
                            <m:ctrlPr>
                              <a:rPr lang="en-NZ" altLang="ja-JP" sz="1800" b="1" i="1" smtClean="0">
                                <a:solidFill>
                                  <a:schemeClr val="tx1"/>
                                </a:solidFill>
                                <a:latin typeface="Cambria Math" panose="02040503050406030204" pitchFamily="18" charset="0"/>
                              </a:rPr>
                            </m:ctrlPr>
                          </m:mPr>
                          <m:mr>
                            <m:e>
                              <m:sSubSup>
                                <m:sSubSupPr>
                                  <m:ctrlPr>
                                    <a:rPr lang="en-NZ" altLang="ja-JP" sz="1800" b="1" i="1" smtClean="0">
                                      <a:solidFill>
                                        <a:schemeClr val="tx1"/>
                                      </a:solidFill>
                                      <a:latin typeface="Cambria Math" panose="02040503050406030204" pitchFamily="18" charset="0"/>
                                    </a:rPr>
                                  </m:ctrlPr>
                                </m:sSubSupPr>
                                <m:e>
                                  <m:r>
                                    <a:rPr lang="en-NZ" altLang="ja-JP" sz="1800" b="1" i="1">
                                      <a:solidFill>
                                        <a:schemeClr val="tx1"/>
                                      </a:solidFill>
                                      <a:latin typeface="Cambria Math" panose="02040503050406030204" pitchFamily="18" charset="0"/>
                                    </a:rPr>
                                    <m:t>𝑿</m:t>
                                  </m:r>
                                </m:e>
                                <m:sub>
                                  <m:r>
                                    <a:rPr lang="en-NZ" altLang="ja-JP" sz="1800" b="1" i="1" smtClean="0">
                                      <a:solidFill>
                                        <a:schemeClr val="tx1"/>
                                      </a:solidFill>
                                      <a:latin typeface="Cambria Math" panose="02040503050406030204" pitchFamily="18" charset="0"/>
                                    </a:rPr>
                                    <m:t>𝟏</m:t>
                                  </m:r>
                                </m:sub>
                                <m:sup>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𝒕</m:t>
                                      </m:r>
                                    </m:e>
                                  </m:d>
                                </m:sup>
                              </m:sSubSup>
                              <m:r>
                                <a:rPr lang="en-NZ" altLang="ja-JP" sz="1800" b="1" i="1" smtClean="0">
                                  <a:solidFill>
                                    <a:schemeClr val="tx1"/>
                                  </a:solidFill>
                                  <a:latin typeface="Cambria Math" panose="02040503050406030204" pitchFamily="18" charset="0"/>
                                </a:rPr>
                                <m:t>,</m:t>
                              </m:r>
                            </m:e>
                            <m:e>
                              <m:sSubSup>
                                <m:sSubSupPr>
                                  <m:ctrlPr>
                                    <a:rPr lang="en-NZ" altLang="ja-JP" sz="1800" b="1" i="1" smtClean="0">
                                      <a:solidFill>
                                        <a:schemeClr val="tx1"/>
                                      </a:solidFill>
                                      <a:latin typeface="Cambria Math" panose="02040503050406030204" pitchFamily="18" charset="0"/>
                                    </a:rPr>
                                  </m:ctrlPr>
                                </m:sSubSupPr>
                                <m:e>
                                  <m:r>
                                    <a:rPr lang="en-NZ" altLang="ja-JP" sz="1800" b="1" i="1">
                                      <a:solidFill>
                                        <a:schemeClr val="tx1"/>
                                      </a:solidFill>
                                      <a:latin typeface="Cambria Math" panose="02040503050406030204" pitchFamily="18" charset="0"/>
                                    </a:rPr>
                                    <m:t>𝑿</m:t>
                                  </m:r>
                                </m:e>
                                <m:sub>
                                  <m:r>
                                    <a:rPr lang="en-NZ" altLang="ja-JP" sz="1800" b="1" i="1" smtClean="0">
                                      <a:solidFill>
                                        <a:schemeClr val="tx1"/>
                                      </a:solidFill>
                                      <a:latin typeface="Cambria Math" panose="02040503050406030204" pitchFamily="18" charset="0"/>
                                    </a:rPr>
                                    <m:t>𝟐</m:t>
                                  </m:r>
                                </m:sub>
                                <m:sup>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𝒕</m:t>
                                      </m:r>
                                    </m:e>
                                  </m:d>
                                </m:sup>
                              </m:sSubSup>
                            </m:e>
                          </m:mr>
                        </m:m>
                      </m:e>
                    </m:d>
                  </m:oMath>
                </a14:m>
                <a:r>
                  <a:rPr lang="en-NZ" altLang="ja-JP" sz="1800" b="1" dirty="0">
                    <a:solidFill>
                      <a:schemeClr val="tx1"/>
                    </a:solidFill>
                  </a:rPr>
                  <a:t> </a:t>
                </a:r>
                <a:r>
                  <a:rPr lang="en-NZ" altLang="ja-JP" sz="1800" dirty="0">
                    <a:solidFill>
                      <a:schemeClr val="tx1"/>
                    </a:solidFill>
                  </a:rPr>
                  <a:t>which converges to the target distribution</a:t>
                </a:r>
              </a:p>
              <a:p>
                <a:pPr lvl="0">
                  <a:lnSpc>
                    <a:spcPct val="100000"/>
                  </a:lnSpc>
                  <a:defRPr/>
                </a:pPr>
                <a:endParaRPr lang="en-NZ" altLang="ja-JP" sz="200" dirty="0">
                  <a:solidFill>
                    <a:schemeClr val="tx1"/>
                  </a:solidFill>
                </a:endParaRPr>
              </a:p>
              <a:p>
                <a:pPr lvl="0">
                  <a:lnSpc>
                    <a:spcPct val="100000"/>
                  </a:lnSpc>
                  <a:defRPr/>
                </a:pPr>
                <a:endParaRPr lang="en-NZ" altLang="ja-JP" sz="200" dirty="0">
                  <a:solidFill>
                    <a:schemeClr val="tx1"/>
                  </a:solidFill>
                </a:endParaRPr>
              </a:p>
              <a:p>
                <a:pPr lvl="0" algn="ctr">
                  <a:lnSpc>
                    <a:spcPct val="100000"/>
                  </a:lnSpc>
                  <a:defRPr/>
                </a:pPr>
                <a14:m>
                  <m:oMathPara xmlns:m="http://schemas.openxmlformats.org/officeDocument/2006/math">
                    <m:oMathParaPr>
                      <m:jc m:val="centerGroup"/>
                    </m:oMathParaPr>
                    <m:oMath xmlns:m="http://schemas.openxmlformats.org/officeDocument/2006/math">
                      <m:r>
                        <a:rPr lang="en-NZ" altLang="ja-JP" sz="1800" b="1" i="1" smtClean="0">
                          <a:solidFill>
                            <a:schemeClr val="tx1"/>
                          </a:solidFill>
                          <a:latin typeface="Cambria Math" panose="02040503050406030204" pitchFamily="18" charset="0"/>
                        </a:rPr>
                        <m:t>𝒇</m:t>
                      </m:r>
                      <m:d>
                        <m:dPr>
                          <m:ctrlPr>
                            <a:rPr lang="en-NZ" altLang="ja-JP" sz="1800" b="1" i="1" smtClean="0">
                              <a:solidFill>
                                <a:schemeClr val="tx1"/>
                              </a:solidFill>
                              <a:latin typeface="Cambria Math" panose="02040503050406030204" pitchFamily="18" charset="0"/>
                            </a:rPr>
                          </m:ctrlPr>
                        </m:dPr>
                        <m:e>
                          <m:bar>
                            <m:barPr>
                              <m:ctrlPr>
                                <a:rPr lang="en-NZ" altLang="ja-JP" sz="1800" b="1" i="1" smtClean="0">
                                  <a:solidFill>
                                    <a:schemeClr val="tx1"/>
                                  </a:solidFill>
                                  <a:latin typeface="Cambria Math" panose="02040503050406030204" pitchFamily="18" charset="0"/>
                                </a:rPr>
                              </m:ctrlPr>
                            </m:barPr>
                            <m:e>
                              <m:r>
                                <a:rPr lang="en-NZ" altLang="ja-JP" sz="1800" b="1" i="1" smtClean="0">
                                  <a:solidFill>
                                    <a:schemeClr val="tx1"/>
                                  </a:solidFill>
                                  <a:latin typeface="Cambria Math" panose="02040503050406030204" pitchFamily="18" charset="0"/>
                                </a:rPr>
                                <m:t>𝒙</m:t>
                              </m:r>
                            </m:e>
                          </m:bar>
                        </m:e>
                      </m:d>
                      <m:r>
                        <a:rPr lang="en-NZ" altLang="ja-JP" sz="1800" b="1" i="1" smtClean="0">
                          <a:solidFill>
                            <a:schemeClr val="tx1"/>
                          </a:solidFill>
                          <a:latin typeface="Cambria Math" panose="02040503050406030204" pitchFamily="18" charset="0"/>
                        </a:rPr>
                        <m:t>=  </m:t>
                      </m:r>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𝟏</m:t>
                          </m:r>
                        </m:num>
                        <m:den>
                          <m:r>
                            <a:rPr lang="en-NZ" altLang="ja-JP" sz="1800" b="1" i="1" smtClean="0">
                              <a:solidFill>
                                <a:schemeClr val="tx1"/>
                              </a:solidFill>
                              <a:latin typeface="Cambria Math" panose="02040503050406030204" pitchFamily="18" charset="0"/>
                            </a:rPr>
                            <m:t>𝟐</m:t>
                          </m:r>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𝝅</m:t>
                          </m:r>
                          <m:r>
                            <a:rPr lang="en-NZ" altLang="ja-JP" sz="1800" b="1" i="1" smtClean="0">
                              <a:solidFill>
                                <a:schemeClr val="tx1"/>
                              </a:solidFill>
                              <a:latin typeface="Cambria Math" panose="02040503050406030204" pitchFamily="18" charset="0"/>
                            </a:rPr>
                            <m:t> | </m:t>
                          </m:r>
                          <m:r>
                            <a:rPr lang="en-NZ" altLang="ja-JP" sz="1800" b="1" i="0" smtClean="0">
                              <a:solidFill>
                                <a:schemeClr val="tx1"/>
                              </a:solidFill>
                              <a:latin typeface="Cambria Math" panose="02040503050406030204" pitchFamily="18" charset="0"/>
                            </a:rPr>
                            <m:t>𝚺</m:t>
                          </m:r>
                          <m:r>
                            <a:rPr lang="en-NZ" altLang="ja-JP" sz="1800" b="1" i="1" smtClean="0">
                              <a:solidFill>
                                <a:schemeClr val="tx1"/>
                              </a:solidFill>
                              <a:latin typeface="Cambria Math" panose="02040503050406030204" pitchFamily="18" charset="0"/>
                            </a:rPr>
                            <m:t> </m:t>
                          </m:r>
                          <m:sSup>
                            <m:sSupPr>
                              <m:ctrlPr>
                                <a:rPr lang="en-NZ" altLang="ja-JP" sz="1800" b="1" i="1" smtClean="0">
                                  <a:solidFill>
                                    <a:schemeClr val="tx1"/>
                                  </a:solidFill>
                                  <a:latin typeface="Cambria Math" panose="02040503050406030204" pitchFamily="18" charset="0"/>
                                </a:rPr>
                              </m:ctrlPr>
                            </m:sSupPr>
                            <m:e>
                              <m:d>
                                <m:dPr>
                                  <m:begChr m:val=""/>
                                  <m:endChr m:val="|"/>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m:t>
                                  </m:r>
                                </m:e>
                              </m:d>
                            </m:e>
                            <m:sup>
                              <m:r>
                                <a:rPr lang="en-NZ" altLang="ja-JP" sz="1800" b="1" i="1" smtClean="0">
                                  <a:solidFill>
                                    <a:schemeClr val="tx1"/>
                                  </a:solidFill>
                                  <a:latin typeface="Cambria Math" panose="02040503050406030204" pitchFamily="18" charset="0"/>
                                </a:rPr>
                                <m:t>𝟏</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𝟐</m:t>
                              </m:r>
                            </m:sup>
                          </m:sSup>
                        </m:den>
                      </m:f>
                      <m:r>
                        <a:rPr lang="en-NZ" altLang="ja-JP" sz="1800" b="1" i="1" smtClean="0">
                          <a:solidFill>
                            <a:schemeClr val="tx1"/>
                          </a:solidFill>
                          <a:latin typeface="Cambria Math" panose="02040503050406030204" pitchFamily="18" charset="0"/>
                        </a:rPr>
                        <m:t> </m:t>
                      </m:r>
                      <m:sSup>
                        <m:sSupPr>
                          <m:ctrlPr>
                            <a:rPr lang="en-NZ" altLang="ja-JP" sz="1800" b="1" i="1" smtClean="0">
                              <a:solidFill>
                                <a:schemeClr val="tx1"/>
                              </a:solidFill>
                              <a:latin typeface="Cambria Math" panose="02040503050406030204" pitchFamily="18" charset="0"/>
                            </a:rPr>
                          </m:ctrlPr>
                        </m:sSupPr>
                        <m:e>
                          <m:r>
                            <a:rPr lang="en-NZ" altLang="ja-JP" sz="1800" b="1" i="1" smtClean="0">
                              <a:solidFill>
                                <a:schemeClr val="tx1"/>
                              </a:solidFill>
                              <a:latin typeface="Cambria Math" panose="02040503050406030204" pitchFamily="18" charset="0"/>
                            </a:rPr>
                            <m:t>𝒆</m:t>
                          </m:r>
                        </m:e>
                        <m:sup>
                          <m:r>
                            <a:rPr lang="en-NZ" altLang="ja-JP" sz="1800" b="1" i="1" smtClean="0">
                              <a:solidFill>
                                <a:schemeClr val="tx1"/>
                              </a:solidFill>
                              <a:latin typeface="Cambria Math" panose="02040503050406030204" pitchFamily="18" charset="0"/>
                            </a:rPr>
                            <m:t>−</m:t>
                          </m:r>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𝟏</m:t>
                              </m:r>
                            </m:num>
                            <m:den>
                              <m:r>
                                <a:rPr lang="en-NZ" altLang="ja-JP" sz="1800" b="1" i="1" smtClean="0">
                                  <a:solidFill>
                                    <a:schemeClr val="tx1"/>
                                  </a:solidFill>
                                  <a:latin typeface="Cambria Math" panose="02040503050406030204" pitchFamily="18" charset="0"/>
                                </a:rPr>
                                <m:t>𝟐</m:t>
                              </m:r>
                            </m:den>
                          </m:f>
                          <m:r>
                            <a:rPr lang="en-NZ" altLang="ja-JP" sz="1800" b="1" i="1" smtClean="0">
                              <a:solidFill>
                                <a:schemeClr val="tx1"/>
                              </a:solidFill>
                              <a:latin typeface="Cambria Math" panose="02040503050406030204" pitchFamily="18" charset="0"/>
                            </a:rPr>
                            <m:t> </m:t>
                          </m:r>
                          <m:sSup>
                            <m:sSupPr>
                              <m:ctrlPr>
                                <a:rPr lang="en-NZ" altLang="ja-JP" sz="1800" b="1" i="1" smtClean="0">
                                  <a:solidFill>
                                    <a:schemeClr val="tx1"/>
                                  </a:solidFill>
                                  <a:latin typeface="Cambria Math" panose="02040503050406030204" pitchFamily="18" charset="0"/>
                                </a:rPr>
                              </m:ctrlPr>
                            </m:sSupPr>
                            <m:e>
                              <m:d>
                                <m:dPr>
                                  <m:ctrlPr>
                                    <a:rPr lang="en-NZ" altLang="ja-JP" sz="1800" b="1" i="1" smtClean="0">
                                      <a:solidFill>
                                        <a:schemeClr val="tx1"/>
                                      </a:solidFill>
                                      <a:latin typeface="Cambria Math" panose="02040503050406030204" pitchFamily="18" charset="0"/>
                                    </a:rPr>
                                  </m:ctrlPr>
                                </m:dPr>
                                <m:e>
                                  <m:bar>
                                    <m:barPr>
                                      <m:ctrlPr>
                                        <a:rPr lang="en-NZ" altLang="ja-JP" sz="1800" b="1" i="1">
                                          <a:solidFill>
                                            <a:schemeClr val="tx1"/>
                                          </a:solidFill>
                                          <a:latin typeface="Cambria Math" panose="02040503050406030204" pitchFamily="18" charset="0"/>
                                        </a:rPr>
                                      </m:ctrlPr>
                                    </m:barPr>
                                    <m:e>
                                      <m:r>
                                        <a:rPr lang="en-NZ" altLang="ja-JP" sz="1800" b="1" i="1">
                                          <a:solidFill>
                                            <a:schemeClr val="tx1"/>
                                          </a:solidFill>
                                          <a:latin typeface="Cambria Math" panose="02040503050406030204" pitchFamily="18" charset="0"/>
                                        </a:rPr>
                                        <m:t>𝒙</m:t>
                                      </m:r>
                                    </m:e>
                                  </m:bar>
                                  <m:r>
                                    <a:rPr lang="en-NZ" altLang="ja-JP" sz="1800" b="1" i="1" smtClean="0">
                                      <a:solidFill>
                                        <a:schemeClr val="tx1"/>
                                      </a:solidFill>
                                      <a:latin typeface="Cambria Math" panose="02040503050406030204" pitchFamily="18" charset="0"/>
                                    </a:rPr>
                                    <m:t> −</m:t>
                                  </m:r>
                                  <m:bar>
                                    <m:barPr>
                                      <m:ctrlPr>
                                        <a:rPr lang="en-NZ" altLang="ja-JP" sz="1800" b="1" i="1">
                                          <a:solidFill>
                                            <a:schemeClr val="tx1"/>
                                          </a:solidFill>
                                          <a:latin typeface="Cambria Math" panose="02040503050406030204" pitchFamily="18" charset="0"/>
                                        </a:rPr>
                                      </m:ctrlPr>
                                    </m:barPr>
                                    <m:e>
                                      <m:r>
                                        <a:rPr lang="en-NZ" altLang="ja-JP" sz="1800" b="1" i="1" smtClean="0">
                                          <a:solidFill>
                                            <a:schemeClr val="tx1"/>
                                          </a:solidFill>
                                          <a:latin typeface="Cambria Math" panose="02040503050406030204" pitchFamily="18" charset="0"/>
                                        </a:rPr>
                                        <m:t>𝝁</m:t>
                                      </m:r>
                                    </m:e>
                                  </m:bar>
                                </m:e>
                              </m:d>
                            </m:e>
                            <m:sup>
                              <m:r>
                                <a:rPr lang="en-NZ" altLang="ja-JP" sz="1800" b="1" i="1" smtClean="0">
                                  <a:solidFill>
                                    <a:schemeClr val="tx1"/>
                                  </a:solidFill>
                                  <a:latin typeface="Cambria Math" panose="02040503050406030204" pitchFamily="18" charset="0"/>
                                </a:rPr>
                                <m:t>𝑻</m:t>
                              </m:r>
                            </m:sup>
                          </m:sSup>
                          <m:sSup>
                            <m:sSupPr>
                              <m:ctrlPr>
                                <a:rPr lang="en-NZ" altLang="ja-JP" sz="1800" b="1" i="1" smtClean="0">
                                  <a:solidFill>
                                    <a:schemeClr val="tx1"/>
                                  </a:solidFill>
                                  <a:latin typeface="Cambria Math" panose="02040503050406030204" pitchFamily="18" charset="0"/>
                                </a:rPr>
                              </m:ctrlPr>
                            </m:sSupPr>
                            <m:e>
                              <m:r>
                                <a:rPr lang="en-NZ" altLang="ja-JP" sz="1800" b="1" i="0" smtClean="0">
                                  <a:solidFill>
                                    <a:schemeClr val="tx1"/>
                                  </a:solidFill>
                                  <a:latin typeface="Cambria Math" panose="02040503050406030204" pitchFamily="18" charset="0"/>
                                </a:rPr>
                                <m:t>𝚺</m:t>
                              </m:r>
                            </m:e>
                            <m:sup>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sup>
                          </m:sSup>
                          <m:r>
                            <a:rPr lang="en-NZ" altLang="ja-JP" sz="1800" b="1" i="1" smtClean="0">
                              <a:solidFill>
                                <a:schemeClr val="tx1"/>
                              </a:solidFill>
                              <a:latin typeface="Cambria Math" panose="02040503050406030204" pitchFamily="18" charset="0"/>
                            </a:rPr>
                            <m:t> (</m:t>
                          </m:r>
                          <m:bar>
                            <m:barPr>
                              <m:ctrlPr>
                                <a:rPr lang="en-NZ" altLang="ja-JP" sz="1800" b="1" i="1">
                                  <a:solidFill>
                                    <a:schemeClr val="tx1"/>
                                  </a:solidFill>
                                  <a:latin typeface="Cambria Math" panose="02040503050406030204" pitchFamily="18" charset="0"/>
                                </a:rPr>
                              </m:ctrlPr>
                            </m:barPr>
                            <m:e>
                              <m:r>
                                <a:rPr lang="en-NZ" altLang="ja-JP" sz="1800" b="1" i="1">
                                  <a:solidFill>
                                    <a:schemeClr val="tx1"/>
                                  </a:solidFill>
                                  <a:latin typeface="Cambria Math" panose="02040503050406030204" pitchFamily="18" charset="0"/>
                                </a:rPr>
                                <m:t>𝒙</m:t>
                              </m:r>
                            </m:e>
                          </m:bar>
                          <m:r>
                            <a:rPr lang="en-NZ" altLang="ja-JP" sz="1800" b="1" i="1" smtClean="0">
                              <a:solidFill>
                                <a:schemeClr val="tx1"/>
                              </a:solidFill>
                              <a:latin typeface="Cambria Math" panose="02040503050406030204" pitchFamily="18" charset="0"/>
                            </a:rPr>
                            <m:t> −</m:t>
                          </m:r>
                          <m:bar>
                            <m:barPr>
                              <m:ctrlPr>
                                <a:rPr lang="en-NZ" altLang="ja-JP" sz="1800" b="1" i="1">
                                  <a:solidFill>
                                    <a:schemeClr val="tx1"/>
                                  </a:solidFill>
                                  <a:latin typeface="Cambria Math" panose="02040503050406030204" pitchFamily="18" charset="0"/>
                                </a:rPr>
                              </m:ctrlPr>
                            </m:barPr>
                            <m:e>
                              <m:r>
                                <a:rPr lang="en-NZ" altLang="ja-JP" sz="1800" b="1" i="1" smtClean="0">
                                  <a:solidFill>
                                    <a:schemeClr val="tx1"/>
                                  </a:solidFill>
                                  <a:latin typeface="Cambria Math" panose="02040503050406030204" pitchFamily="18" charset="0"/>
                                </a:rPr>
                                <m:t>𝝁</m:t>
                              </m:r>
                            </m:e>
                          </m:bar>
                          <m:r>
                            <a:rPr lang="en-NZ" altLang="ja-JP" sz="1800" b="1" i="1" smtClean="0">
                              <a:solidFill>
                                <a:schemeClr val="tx1"/>
                              </a:solidFill>
                              <a:latin typeface="Cambria Math" panose="02040503050406030204" pitchFamily="18" charset="0"/>
                            </a:rPr>
                            <m:t> )</m:t>
                          </m:r>
                        </m:sup>
                      </m:sSup>
                    </m:oMath>
                  </m:oMathPara>
                </a14:m>
                <a:endParaRPr lang="en-NZ" altLang="ja-JP" sz="1800" dirty="0">
                  <a:solidFill>
                    <a:schemeClr val="tx1"/>
                  </a:solidFill>
                </a:endParaRPr>
              </a:p>
              <a:p>
                <a:pPr lvl="0" algn="ctr">
                  <a:lnSpc>
                    <a:spcPct val="100000"/>
                  </a:lnSpc>
                  <a:defRPr/>
                </a:pPr>
                <a:endParaRPr lang="en-NZ" altLang="ja-JP" sz="200" dirty="0">
                  <a:solidFill>
                    <a:schemeClr val="tx1"/>
                  </a:solidFill>
                </a:endParaRPr>
              </a:p>
              <a:p>
                <a:pPr lvl="0" algn="ctr">
                  <a:lnSpc>
                    <a:spcPct val="100000"/>
                  </a:lnSpc>
                  <a:defRPr/>
                </a:pPr>
                <a:endParaRPr lang="en-NZ" altLang="ja-JP" sz="200" dirty="0">
                  <a:solidFill>
                    <a:schemeClr val="tx1"/>
                  </a:solidFill>
                </a:endParaRPr>
              </a:p>
              <a:p>
                <a:pPr lvl="0">
                  <a:lnSpc>
                    <a:spcPct val="100000"/>
                  </a:lnSpc>
                  <a:defRPr/>
                </a:pPr>
                <a:r>
                  <a:rPr lang="en-NZ" altLang="ja-JP" sz="1800" dirty="0">
                    <a:solidFill>
                      <a:schemeClr val="tx1"/>
                    </a:solidFill>
                  </a:rPr>
                  <a:t>such that after a sufficiently large number of transitions, observations drawn from the chain are distributed according to </a:t>
                </a:r>
                <a:r>
                  <a:rPr lang="en-NZ" altLang="ja-JP" sz="1800" b="1" i="1" dirty="0">
                    <a:solidFill>
                      <a:schemeClr val="tx1"/>
                    </a:solidFill>
                  </a:rPr>
                  <a:t>f.</a:t>
                </a:r>
                <a:endParaRPr lang="en-NZ" altLang="ja-JP" sz="1800" dirty="0">
                  <a:solidFill>
                    <a:schemeClr val="tx1"/>
                  </a:solidFill>
                </a:endParaRPr>
              </a:p>
            </p:txBody>
          </p:sp>
        </mc:Choice>
        <mc:Fallback>
          <p:sp>
            <p:nvSpPr>
              <p:cNvPr id="20" name="Text Placeholder 5">
                <a:extLst>
                  <a:ext uri="{FF2B5EF4-FFF2-40B4-BE49-F238E27FC236}">
                    <a16:creationId xmlns:a16="http://schemas.microsoft.com/office/drawing/2014/main" id="{02069609-C918-3C1F-94DD-EB7B910F40A2}"/>
                  </a:ext>
                </a:extLst>
              </p:cNvPr>
              <p:cNvSpPr txBox="1">
                <a:spLocks noRot="1" noChangeAspect="1" noMove="1" noResize="1" noEditPoints="1" noAdjustHandles="1" noChangeArrowheads="1" noChangeShapeType="1" noTextEdit="1"/>
              </p:cNvSpPr>
              <p:nvPr/>
            </p:nvSpPr>
            <p:spPr>
              <a:xfrm>
                <a:off x="319463" y="2032058"/>
                <a:ext cx="11608680" cy="1748372"/>
              </a:xfrm>
              <a:prstGeom prst="rect">
                <a:avLst/>
              </a:prstGeom>
              <a:blipFill>
                <a:blip r:embed="rId4"/>
                <a:stretch>
                  <a:fillRect l="-420" b="-8711"/>
                </a:stretch>
              </a:blipFill>
            </p:spPr>
            <p:txBody>
              <a:bodyPr/>
              <a:lstStyle/>
              <a:p>
                <a:r>
                  <a:rPr lang="en-NZ">
                    <a:noFill/>
                  </a:rPr>
                  <a:t> </a:t>
                </a:r>
              </a:p>
            </p:txBody>
          </p:sp>
        </mc:Fallback>
      </mc:AlternateContent>
      <mc:AlternateContent xmlns:mc="http://schemas.openxmlformats.org/markup-compatibility/2006">
        <mc:Choice xmlns:a14="http://schemas.microsoft.com/office/drawing/2010/main" Requires="a14">
          <p:sp>
            <p:nvSpPr>
              <p:cNvPr id="27" name="Text Placeholder 5">
                <a:extLst>
                  <a:ext uri="{FF2B5EF4-FFF2-40B4-BE49-F238E27FC236}">
                    <a16:creationId xmlns:a16="http://schemas.microsoft.com/office/drawing/2014/main" id="{1316DBFE-043A-5FB2-C80A-E2065C61BC7E}"/>
                  </a:ext>
                </a:extLst>
              </p:cNvPr>
              <p:cNvSpPr txBox="1">
                <a:spLocks/>
              </p:cNvSpPr>
              <p:nvPr/>
            </p:nvSpPr>
            <p:spPr>
              <a:xfrm>
                <a:off x="319463" y="3999610"/>
                <a:ext cx="11608680" cy="136161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dirty="0">
                    <a:solidFill>
                      <a:schemeClr val="tx1"/>
                    </a:solidFill>
                  </a:rPr>
                  <a:t>To do so we will use a random walk sampler with normal proposal density:</a:t>
                </a:r>
              </a:p>
              <a:p>
                <a:pPr lvl="0">
                  <a:lnSpc>
                    <a:spcPct val="100000"/>
                  </a:lnSpc>
                  <a:defRPr/>
                </a:pPr>
                <a14:m>
                  <m:oMathPara xmlns:m="http://schemas.openxmlformats.org/officeDocument/2006/math">
                    <m:oMathParaPr>
                      <m:jc m:val="centerGroup"/>
                    </m:oMathParaPr>
                    <m:oMath xmlns:m="http://schemas.openxmlformats.org/officeDocument/2006/math">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𝒚</m:t>
                          </m:r>
                        </m:e>
                        <m:sub>
                          <m:r>
                            <a:rPr lang="en-NZ" altLang="ja-JP" sz="1800" b="1" i="1" smtClean="0">
                              <a:solidFill>
                                <a:schemeClr val="tx1"/>
                              </a:solidFill>
                              <a:latin typeface="Cambria Math" panose="02040503050406030204" pitchFamily="18" charset="0"/>
                            </a:rPr>
                            <m:t>𝟏</m:t>
                          </m:r>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𝒕</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sub>
                      </m:sSub>
                      <m:r>
                        <a:rPr lang="en-NZ" altLang="ja-JP" sz="1800" b="1" i="1" smtClean="0">
                          <a:solidFill>
                            <a:schemeClr val="tx1"/>
                          </a:solidFill>
                          <a:latin typeface="Cambria Math" panose="02040503050406030204" pitchFamily="18" charset="0"/>
                        </a:rPr>
                        <m:t> ~ </m:t>
                      </m:r>
                      <m:r>
                        <a:rPr lang="en-NZ" altLang="ja-JP" sz="1800" b="1" i="1" smtClean="0">
                          <a:solidFill>
                            <a:schemeClr val="tx1"/>
                          </a:solidFill>
                          <a:latin typeface="Cambria Math" panose="02040503050406030204" pitchFamily="18" charset="0"/>
                        </a:rPr>
                        <m:t>𝑵</m:t>
                      </m:r>
                      <m:d>
                        <m:dPr>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 </m:t>
                          </m:r>
                          <m:sSubSup>
                            <m:sSubSupPr>
                              <m:ctrlPr>
                                <a:rPr lang="en-NZ" altLang="ja-JP" sz="1800" b="1" i="1">
                                  <a:solidFill>
                                    <a:schemeClr val="tx1"/>
                                  </a:solidFill>
                                  <a:latin typeface="Cambria Math" panose="02040503050406030204" pitchFamily="18" charset="0"/>
                                </a:rPr>
                              </m:ctrlPr>
                            </m:sSubSupPr>
                            <m:e>
                              <m:r>
                                <a:rPr lang="en-NZ" altLang="ja-JP" sz="1800" b="1" i="1">
                                  <a:solidFill>
                                    <a:schemeClr val="tx1"/>
                                  </a:solidFill>
                                  <a:latin typeface="Cambria Math" panose="02040503050406030204" pitchFamily="18" charset="0"/>
                                </a:rPr>
                                <m:t>𝑿</m:t>
                              </m:r>
                            </m:e>
                            <m:sub>
                              <m:r>
                                <a:rPr lang="en-NZ" altLang="ja-JP" sz="1800" b="1" i="1">
                                  <a:solidFill>
                                    <a:schemeClr val="tx1"/>
                                  </a:solidFill>
                                  <a:latin typeface="Cambria Math" panose="02040503050406030204" pitchFamily="18" charset="0"/>
                                </a:rPr>
                                <m:t>𝟏</m:t>
                              </m:r>
                            </m:sub>
                            <m:sup>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𝒕</m:t>
                                  </m:r>
                                </m:e>
                              </m:d>
                            </m:sup>
                          </m:sSubSup>
                          <m:r>
                            <a:rPr lang="en-NZ" altLang="ja-JP" sz="1800" b="1" i="1" smtClean="0">
                              <a:solidFill>
                                <a:schemeClr val="tx1"/>
                              </a:solidFill>
                              <a:latin typeface="Cambria Math" panose="02040503050406030204" pitchFamily="18" charset="0"/>
                            </a:rPr>
                            <m:t> , </m:t>
                          </m:r>
                          <m:sSubSup>
                            <m:sSubSupPr>
                              <m:ctrlPr>
                                <a:rPr lang="en-NZ" altLang="ja-JP" sz="1800" b="1" i="1" smtClean="0">
                                  <a:solidFill>
                                    <a:schemeClr val="tx1"/>
                                  </a:solidFill>
                                  <a:latin typeface="Cambria Math" panose="02040503050406030204" pitchFamily="18" charset="0"/>
                                </a:rPr>
                              </m:ctrlPr>
                            </m:sSubSupPr>
                            <m:e>
                              <m:r>
                                <a:rPr lang="en-NZ" altLang="ja-JP" sz="1800" b="1" i="1" smtClean="0">
                                  <a:solidFill>
                                    <a:schemeClr val="tx1"/>
                                  </a:solidFill>
                                  <a:latin typeface="Cambria Math" panose="02040503050406030204" pitchFamily="18" charset="0"/>
                                </a:rPr>
                                <m:t>𝝈</m:t>
                              </m:r>
                            </m:e>
                            <m:sub>
                              <m:r>
                                <a:rPr lang="en-NZ" altLang="ja-JP" sz="1800" b="1" i="1" smtClean="0">
                                  <a:solidFill>
                                    <a:schemeClr val="tx1"/>
                                  </a:solidFill>
                                  <a:latin typeface="Cambria Math" panose="02040503050406030204" pitchFamily="18" charset="0"/>
                                </a:rPr>
                                <m:t>𝟏</m:t>
                              </m:r>
                            </m:sub>
                            <m:sup>
                              <m:r>
                                <a:rPr lang="en-NZ" altLang="ja-JP" sz="1800" b="1" i="1" smtClean="0">
                                  <a:solidFill>
                                    <a:schemeClr val="tx1"/>
                                  </a:solidFill>
                                  <a:latin typeface="Cambria Math" panose="02040503050406030204" pitchFamily="18" charset="0"/>
                                </a:rPr>
                                <m:t>𝟐</m:t>
                              </m:r>
                            </m:sup>
                          </m:sSubSup>
                          <m:r>
                            <a:rPr lang="en-NZ" altLang="ja-JP" sz="1800" b="1" i="1" smtClean="0">
                              <a:solidFill>
                                <a:schemeClr val="tx1"/>
                              </a:solidFill>
                              <a:latin typeface="Cambria Math" panose="02040503050406030204" pitchFamily="18" charset="0"/>
                            </a:rPr>
                            <m:t> </m:t>
                          </m:r>
                        </m:e>
                      </m:d>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     </m:t>
                      </m:r>
                      <m:sSub>
                        <m:sSubPr>
                          <m:ctrlPr>
                            <a:rPr lang="en-NZ" altLang="ja-JP" sz="1800" b="1" i="1" smtClean="0">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𝒒</m:t>
                          </m:r>
                        </m:e>
                        <m:sub>
                          <m:r>
                            <a:rPr lang="en-NZ" altLang="ja-JP" sz="1800" b="1" i="1" smtClean="0">
                              <a:solidFill>
                                <a:schemeClr val="tx1"/>
                              </a:solidFill>
                              <a:latin typeface="Cambria Math" panose="02040503050406030204" pitchFamily="18" charset="0"/>
                            </a:rPr>
                            <m:t>𝟏</m:t>
                          </m:r>
                        </m:sub>
                      </m:sSub>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𝒙</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𝒚</m:t>
                          </m:r>
                        </m:e>
                      </m:d>
                      <m:r>
                        <a:rPr lang="en-NZ" altLang="ja-JP" sz="1800" b="1" i="1">
                          <a:solidFill>
                            <a:schemeClr val="tx1"/>
                          </a:solidFill>
                          <a:latin typeface="Cambria Math" panose="02040503050406030204" pitchFamily="18" charset="0"/>
                        </a:rPr>
                        <m:t> =</m:t>
                      </m:r>
                      <m:sSup>
                        <m:sSupPr>
                          <m:ctrlPr>
                            <a:rPr lang="en-NZ" altLang="ja-JP" sz="1800" b="1" i="1" smtClean="0">
                              <a:solidFill>
                                <a:schemeClr val="tx1"/>
                              </a:solidFill>
                              <a:latin typeface="Cambria Math" panose="02040503050406030204" pitchFamily="18" charset="0"/>
                            </a:rPr>
                          </m:ctrlPr>
                        </m:sSupPr>
                        <m:e>
                          <m:d>
                            <m:dPr>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𝟐</m:t>
                              </m:r>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𝝅</m:t>
                              </m:r>
                              <m:sSubSup>
                                <m:sSubSupPr>
                                  <m:ctrlPr>
                                    <a:rPr lang="en-NZ" altLang="ja-JP" sz="1800" b="1" i="1">
                                      <a:solidFill>
                                        <a:schemeClr val="tx1"/>
                                      </a:solidFill>
                                      <a:latin typeface="Cambria Math" panose="02040503050406030204" pitchFamily="18" charset="0"/>
                                    </a:rPr>
                                  </m:ctrlPr>
                                </m:sSubSupPr>
                                <m:e>
                                  <m:r>
                                    <a:rPr lang="en-NZ" altLang="ja-JP" sz="1800" b="1" i="1" smtClean="0">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𝝈</m:t>
                                  </m:r>
                                </m:e>
                                <m:sub>
                                  <m:r>
                                    <a:rPr lang="en-NZ" altLang="ja-JP" sz="1800" b="1" i="1">
                                      <a:solidFill>
                                        <a:schemeClr val="tx1"/>
                                      </a:solidFill>
                                      <a:latin typeface="Cambria Math" panose="02040503050406030204" pitchFamily="18" charset="0"/>
                                    </a:rPr>
                                    <m:t>𝟏</m:t>
                                  </m:r>
                                </m:sub>
                                <m:sup>
                                  <m:r>
                                    <a:rPr lang="en-NZ" altLang="ja-JP" sz="1800" b="1" i="1">
                                      <a:solidFill>
                                        <a:schemeClr val="tx1"/>
                                      </a:solidFill>
                                      <a:latin typeface="Cambria Math" panose="02040503050406030204" pitchFamily="18" charset="0"/>
                                    </a:rPr>
                                    <m:t>𝟐</m:t>
                                  </m:r>
                                </m:sup>
                              </m:sSubSup>
                            </m:e>
                          </m:d>
                        </m:e>
                        <m:sup>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𝟐</m:t>
                          </m:r>
                        </m:sup>
                      </m:sSup>
                      <m:r>
                        <a:rPr lang="en-NZ" altLang="ja-JP" sz="1800" b="1" i="1" smtClean="0">
                          <a:solidFill>
                            <a:schemeClr val="tx1"/>
                          </a:solidFill>
                          <a:latin typeface="Cambria Math" panose="02040503050406030204" pitchFamily="18" charset="0"/>
                        </a:rPr>
                        <m:t> </m:t>
                      </m:r>
                      <m:sSup>
                        <m:sSupPr>
                          <m:ctrlPr>
                            <a:rPr lang="en-NZ" altLang="ja-JP" sz="1800" b="1" i="1">
                              <a:solidFill>
                                <a:schemeClr val="tx1"/>
                              </a:solidFill>
                              <a:latin typeface="Cambria Math" panose="02040503050406030204" pitchFamily="18" charset="0"/>
                            </a:rPr>
                          </m:ctrlPr>
                        </m:sSupPr>
                        <m:e>
                          <m:r>
                            <a:rPr lang="en-NZ" altLang="ja-JP" sz="1800" b="1" i="1">
                              <a:solidFill>
                                <a:schemeClr val="tx1"/>
                              </a:solidFill>
                              <a:latin typeface="Cambria Math" panose="02040503050406030204" pitchFamily="18" charset="0"/>
                            </a:rPr>
                            <m:t>𝒆</m:t>
                          </m:r>
                        </m:e>
                        <m:sup>
                          <m:r>
                            <a:rPr lang="en-NZ" altLang="ja-JP" sz="1800" b="1" i="1">
                              <a:solidFill>
                                <a:schemeClr val="tx1"/>
                              </a:solidFill>
                              <a:latin typeface="Cambria Math" panose="02040503050406030204" pitchFamily="18" charset="0"/>
                            </a:rPr>
                            <m:t>−</m:t>
                          </m:r>
                          <m:f>
                            <m:fPr>
                              <m:ctrlPr>
                                <a:rPr lang="en-NZ" altLang="ja-JP" sz="1800" b="1" i="1">
                                  <a:solidFill>
                                    <a:schemeClr val="tx1"/>
                                  </a:solidFill>
                                  <a:latin typeface="Cambria Math" panose="02040503050406030204" pitchFamily="18" charset="0"/>
                                </a:rPr>
                              </m:ctrlPr>
                            </m:fPr>
                            <m:num>
                              <m:r>
                                <a:rPr lang="en-NZ" altLang="ja-JP" sz="1800" b="1" i="1">
                                  <a:solidFill>
                                    <a:schemeClr val="tx1"/>
                                  </a:solidFill>
                                  <a:latin typeface="Cambria Math" panose="02040503050406030204" pitchFamily="18" charset="0"/>
                                </a:rPr>
                                <m:t>𝟏</m:t>
                              </m:r>
                            </m:num>
                            <m:den>
                              <m:r>
                                <a:rPr lang="en-NZ" altLang="ja-JP" sz="1800" b="1" i="1">
                                  <a:solidFill>
                                    <a:schemeClr val="tx1"/>
                                  </a:solidFill>
                                  <a:latin typeface="Cambria Math" panose="02040503050406030204" pitchFamily="18" charset="0"/>
                                </a:rPr>
                                <m:t>𝟐</m:t>
                              </m:r>
                            </m:den>
                          </m:f>
                          <m:r>
                            <a:rPr lang="en-NZ" altLang="ja-JP" sz="1800" b="1" i="1" smtClean="0">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𝒚</m:t>
                          </m:r>
                          <m:r>
                            <a:rPr lang="en-NZ" altLang="ja-JP" sz="1800" b="1" i="1">
                              <a:solidFill>
                                <a:schemeClr val="tx1"/>
                              </a:solidFill>
                              <a:latin typeface="Cambria Math" panose="02040503050406030204" pitchFamily="18" charset="0"/>
                            </a:rPr>
                            <m:t>− </m:t>
                          </m:r>
                          <m:sSup>
                            <m:sSupPr>
                              <m:ctrlPr>
                                <a:rPr lang="en-NZ" altLang="ja-JP" sz="1800" b="1" i="1">
                                  <a:solidFill>
                                    <a:schemeClr val="tx1"/>
                                  </a:solidFill>
                                  <a:latin typeface="Cambria Math" panose="02040503050406030204" pitchFamily="18" charset="0"/>
                                </a:rPr>
                              </m:ctrlPr>
                            </m:sSupPr>
                            <m:e>
                              <m:r>
                                <a:rPr lang="en-NZ" altLang="ja-JP" sz="1800" b="1" i="1">
                                  <a:solidFill>
                                    <a:schemeClr val="tx1"/>
                                  </a:solidFill>
                                  <a:latin typeface="Cambria Math" panose="02040503050406030204" pitchFamily="18" charset="0"/>
                                </a:rPr>
                                <m:t>𝒙</m:t>
                              </m:r>
                              <m:r>
                                <a:rPr lang="en-NZ" altLang="ja-JP" sz="1800" b="1" i="1">
                                  <a:solidFill>
                                    <a:schemeClr val="tx1"/>
                                  </a:solidFill>
                                  <a:latin typeface="Cambria Math" panose="02040503050406030204" pitchFamily="18" charset="0"/>
                                </a:rPr>
                                <m:t>) </m:t>
                              </m:r>
                            </m:e>
                            <m:sup>
                              <m:r>
                                <a:rPr lang="en-NZ" altLang="ja-JP" sz="1800" b="1" i="1">
                                  <a:solidFill>
                                    <a:schemeClr val="tx1"/>
                                  </a:solidFill>
                                  <a:latin typeface="Cambria Math" panose="02040503050406030204" pitchFamily="18" charset="0"/>
                                </a:rPr>
                                <m:t>𝟐</m:t>
                              </m:r>
                            </m:sup>
                          </m:sSup>
                          <m:r>
                            <a:rPr lang="en-NZ" altLang="ja-JP" sz="1800" b="1" i="1" smtClean="0">
                              <a:solidFill>
                                <a:schemeClr val="tx1"/>
                              </a:solidFill>
                              <a:latin typeface="Cambria Math" panose="02040503050406030204" pitchFamily="18" charset="0"/>
                            </a:rPr>
                            <m:t> / </m:t>
                          </m:r>
                          <m:sSubSup>
                            <m:sSubSupPr>
                              <m:ctrlPr>
                                <a:rPr lang="en-NZ" altLang="ja-JP" sz="1800" b="1" i="1">
                                  <a:solidFill>
                                    <a:schemeClr val="tx1"/>
                                  </a:solidFill>
                                  <a:latin typeface="Cambria Math" panose="02040503050406030204" pitchFamily="18" charset="0"/>
                                </a:rPr>
                              </m:ctrlPr>
                            </m:sSubSupPr>
                            <m:e>
                              <m:r>
                                <a:rPr lang="en-NZ" altLang="ja-JP" sz="1800" b="1" i="1">
                                  <a:solidFill>
                                    <a:schemeClr val="tx1"/>
                                  </a:solidFill>
                                  <a:latin typeface="Cambria Math" panose="02040503050406030204" pitchFamily="18" charset="0"/>
                                </a:rPr>
                                <m:t>𝝈</m:t>
                              </m:r>
                            </m:e>
                            <m:sub>
                              <m:r>
                                <a:rPr lang="en-NZ" altLang="ja-JP" sz="1800" b="1" i="1">
                                  <a:solidFill>
                                    <a:schemeClr val="tx1"/>
                                  </a:solidFill>
                                  <a:latin typeface="Cambria Math" panose="02040503050406030204" pitchFamily="18" charset="0"/>
                                </a:rPr>
                                <m:t>𝟏</m:t>
                              </m:r>
                            </m:sub>
                            <m:sup>
                              <m:r>
                                <a:rPr lang="en-NZ" altLang="ja-JP" sz="1800" b="1" i="1">
                                  <a:solidFill>
                                    <a:schemeClr val="tx1"/>
                                  </a:solidFill>
                                  <a:latin typeface="Cambria Math" panose="02040503050406030204" pitchFamily="18" charset="0"/>
                                </a:rPr>
                                <m:t>𝟐</m:t>
                              </m:r>
                            </m:sup>
                          </m:sSubSup>
                        </m:sup>
                      </m:sSup>
                    </m:oMath>
                  </m:oMathPara>
                </a14:m>
                <a:endParaRPr lang="en-NZ" altLang="ja-JP" sz="1800" b="1" dirty="0">
                  <a:solidFill>
                    <a:schemeClr val="tx1"/>
                  </a:solidFill>
                </a:endParaRPr>
              </a:p>
              <a:p>
                <a:pPr lvl="0">
                  <a:lnSpc>
                    <a:spcPct val="100000"/>
                  </a:lnSpc>
                  <a:defRPr/>
                </a:pPr>
                <a14:m>
                  <m:oMathPara xmlns:m="http://schemas.openxmlformats.org/officeDocument/2006/math">
                    <m:oMathParaPr>
                      <m:jc m:val="centerGroup"/>
                    </m:oMathParaPr>
                    <m:oMath xmlns:m="http://schemas.openxmlformats.org/officeDocument/2006/math">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𝒚</m:t>
                          </m:r>
                        </m:e>
                        <m:sub>
                          <m:r>
                            <a:rPr lang="en-NZ" altLang="ja-JP" sz="1800" b="1" i="1" smtClean="0">
                              <a:solidFill>
                                <a:schemeClr val="tx1"/>
                              </a:solidFill>
                              <a:latin typeface="Cambria Math" panose="02040503050406030204" pitchFamily="18" charset="0"/>
                            </a:rPr>
                            <m:t>𝟐</m:t>
                          </m:r>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𝒕</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sub>
                      </m:sSub>
                      <m:r>
                        <a:rPr lang="en-NZ" altLang="ja-JP" sz="1800" b="1" i="1" smtClean="0">
                          <a:solidFill>
                            <a:schemeClr val="tx1"/>
                          </a:solidFill>
                          <a:latin typeface="Cambria Math" panose="02040503050406030204" pitchFamily="18" charset="0"/>
                        </a:rPr>
                        <m:t> ~ </m:t>
                      </m:r>
                      <m:r>
                        <a:rPr lang="en-NZ" altLang="ja-JP" sz="1800" b="1" i="1" smtClean="0">
                          <a:solidFill>
                            <a:schemeClr val="tx1"/>
                          </a:solidFill>
                          <a:latin typeface="Cambria Math" panose="02040503050406030204" pitchFamily="18" charset="0"/>
                        </a:rPr>
                        <m:t>𝑵</m:t>
                      </m:r>
                      <m:d>
                        <m:dPr>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 </m:t>
                          </m:r>
                          <m:sSubSup>
                            <m:sSubSupPr>
                              <m:ctrlPr>
                                <a:rPr lang="en-NZ" altLang="ja-JP" sz="1800" b="1" i="1">
                                  <a:solidFill>
                                    <a:schemeClr val="tx1"/>
                                  </a:solidFill>
                                  <a:latin typeface="Cambria Math" panose="02040503050406030204" pitchFamily="18" charset="0"/>
                                </a:rPr>
                              </m:ctrlPr>
                            </m:sSubSupPr>
                            <m:e>
                              <m:r>
                                <a:rPr lang="en-NZ" altLang="ja-JP" sz="1800" b="1" i="1">
                                  <a:solidFill>
                                    <a:schemeClr val="tx1"/>
                                  </a:solidFill>
                                  <a:latin typeface="Cambria Math" panose="02040503050406030204" pitchFamily="18" charset="0"/>
                                </a:rPr>
                                <m:t>𝑿</m:t>
                              </m:r>
                            </m:e>
                            <m:sub>
                              <m:r>
                                <a:rPr lang="en-NZ" altLang="ja-JP" sz="1800" b="1" i="1" smtClean="0">
                                  <a:solidFill>
                                    <a:schemeClr val="tx1"/>
                                  </a:solidFill>
                                  <a:latin typeface="Cambria Math" panose="02040503050406030204" pitchFamily="18" charset="0"/>
                                </a:rPr>
                                <m:t>𝟐</m:t>
                              </m:r>
                            </m:sub>
                            <m:sup>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𝒕</m:t>
                                  </m:r>
                                </m:e>
                              </m:d>
                            </m:sup>
                          </m:sSubSup>
                          <m:r>
                            <a:rPr lang="en-NZ" altLang="ja-JP" sz="1800" b="1" i="1" smtClean="0">
                              <a:solidFill>
                                <a:schemeClr val="tx1"/>
                              </a:solidFill>
                              <a:latin typeface="Cambria Math" panose="02040503050406030204" pitchFamily="18" charset="0"/>
                            </a:rPr>
                            <m:t> , </m:t>
                          </m:r>
                          <m:sSubSup>
                            <m:sSubSupPr>
                              <m:ctrlPr>
                                <a:rPr lang="en-NZ" altLang="ja-JP" sz="1800" b="1" i="1" smtClean="0">
                                  <a:solidFill>
                                    <a:schemeClr val="tx1"/>
                                  </a:solidFill>
                                  <a:latin typeface="Cambria Math" panose="02040503050406030204" pitchFamily="18" charset="0"/>
                                </a:rPr>
                              </m:ctrlPr>
                            </m:sSubSupPr>
                            <m:e>
                              <m:r>
                                <a:rPr lang="en-NZ" altLang="ja-JP" sz="1800" b="1" i="1" smtClean="0">
                                  <a:solidFill>
                                    <a:schemeClr val="tx1"/>
                                  </a:solidFill>
                                  <a:latin typeface="Cambria Math" panose="02040503050406030204" pitchFamily="18" charset="0"/>
                                </a:rPr>
                                <m:t>𝝈</m:t>
                              </m:r>
                            </m:e>
                            <m:sub>
                              <m:r>
                                <a:rPr lang="en-NZ" altLang="ja-JP" sz="1800" b="1" i="1" smtClean="0">
                                  <a:solidFill>
                                    <a:schemeClr val="tx1"/>
                                  </a:solidFill>
                                  <a:latin typeface="Cambria Math" panose="02040503050406030204" pitchFamily="18" charset="0"/>
                                </a:rPr>
                                <m:t>𝟐</m:t>
                              </m:r>
                            </m:sub>
                            <m:sup>
                              <m:r>
                                <a:rPr lang="en-NZ" altLang="ja-JP" sz="1800" b="1" i="1" smtClean="0">
                                  <a:solidFill>
                                    <a:schemeClr val="tx1"/>
                                  </a:solidFill>
                                  <a:latin typeface="Cambria Math" panose="02040503050406030204" pitchFamily="18" charset="0"/>
                                </a:rPr>
                                <m:t>𝟐</m:t>
                              </m:r>
                            </m:sup>
                          </m:sSubSup>
                          <m:r>
                            <a:rPr lang="en-NZ" altLang="ja-JP" sz="1800" b="1" i="1" smtClean="0">
                              <a:solidFill>
                                <a:schemeClr val="tx1"/>
                              </a:solidFill>
                              <a:latin typeface="Cambria Math" panose="02040503050406030204" pitchFamily="18" charset="0"/>
                            </a:rPr>
                            <m:t> </m:t>
                          </m:r>
                        </m:e>
                      </m:d>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     </m:t>
                      </m:r>
                      <m:sSub>
                        <m:sSubPr>
                          <m:ctrlPr>
                            <a:rPr lang="en-NZ" altLang="ja-JP" sz="1800" b="1" i="1" smtClean="0">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𝒒</m:t>
                          </m:r>
                        </m:e>
                        <m:sub>
                          <m:r>
                            <a:rPr lang="en-NZ" altLang="ja-JP" sz="1800" b="1" i="1" smtClean="0">
                              <a:solidFill>
                                <a:schemeClr val="tx1"/>
                              </a:solidFill>
                              <a:latin typeface="Cambria Math" panose="02040503050406030204" pitchFamily="18" charset="0"/>
                            </a:rPr>
                            <m:t>𝟐</m:t>
                          </m:r>
                        </m:sub>
                      </m:sSub>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𝒙</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𝒚</m:t>
                          </m:r>
                        </m:e>
                      </m:d>
                      <m:r>
                        <a:rPr lang="en-NZ" altLang="ja-JP" sz="1800" b="1" i="1">
                          <a:solidFill>
                            <a:schemeClr val="tx1"/>
                          </a:solidFill>
                          <a:latin typeface="Cambria Math" panose="02040503050406030204" pitchFamily="18" charset="0"/>
                        </a:rPr>
                        <m:t> =</m:t>
                      </m:r>
                      <m:sSup>
                        <m:sSupPr>
                          <m:ctrlPr>
                            <a:rPr lang="en-NZ" altLang="ja-JP" sz="1800" b="1" i="1" smtClean="0">
                              <a:solidFill>
                                <a:schemeClr val="tx1"/>
                              </a:solidFill>
                              <a:latin typeface="Cambria Math" panose="02040503050406030204" pitchFamily="18" charset="0"/>
                            </a:rPr>
                          </m:ctrlPr>
                        </m:sSupPr>
                        <m:e>
                          <m:d>
                            <m:dPr>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𝟐</m:t>
                              </m:r>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𝝅</m:t>
                              </m:r>
                              <m:sSubSup>
                                <m:sSubSupPr>
                                  <m:ctrlPr>
                                    <a:rPr lang="en-NZ" altLang="ja-JP" sz="1800" b="1" i="1">
                                      <a:solidFill>
                                        <a:schemeClr val="tx1"/>
                                      </a:solidFill>
                                      <a:latin typeface="Cambria Math" panose="02040503050406030204" pitchFamily="18" charset="0"/>
                                    </a:rPr>
                                  </m:ctrlPr>
                                </m:sSubSupPr>
                                <m:e>
                                  <m:r>
                                    <a:rPr lang="en-NZ" altLang="ja-JP" sz="1800" b="1" i="1" smtClean="0">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𝝈</m:t>
                                  </m:r>
                                </m:e>
                                <m:sub>
                                  <m:r>
                                    <a:rPr lang="en-NZ" altLang="ja-JP" sz="1800" b="1" i="1" smtClean="0">
                                      <a:solidFill>
                                        <a:schemeClr val="tx1"/>
                                      </a:solidFill>
                                      <a:latin typeface="Cambria Math" panose="02040503050406030204" pitchFamily="18" charset="0"/>
                                    </a:rPr>
                                    <m:t>𝟐</m:t>
                                  </m:r>
                                </m:sub>
                                <m:sup>
                                  <m:r>
                                    <a:rPr lang="en-NZ" altLang="ja-JP" sz="1800" b="1" i="1">
                                      <a:solidFill>
                                        <a:schemeClr val="tx1"/>
                                      </a:solidFill>
                                      <a:latin typeface="Cambria Math" panose="02040503050406030204" pitchFamily="18" charset="0"/>
                                    </a:rPr>
                                    <m:t>𝟐</m:t>
                                  </m:r>
                                </m:sup>
                              </m:sSubSup>
                            </m:e>
                          </m:d>
                        </m:e>
                        <m:sup>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𝟐</m:t>
                          </m:r>
                        </m:sup>
                      </m:sSup>
                      <m:r>
                        <a:rPr lang="en-NZ" altLang="ja-JP" sz="1800" b="1" i="1" smtClean="0">
                          <a:solidFill>
                            <a:schemeClr val="tx1"/>
                          </a:solidFill>
                          <a:latin typeface="Cambria Math" panose="02040503050406030204" pitchFamily="18" charset="0"/>
                        </a:rPr>
                        <m:t> </m:t>
                      </m:r>
                      <m:sSup>
                        <m:sSupPr>
                          <m:ctrlPr>
                            <a:rPr lang="en-NZ" altLang="ja-JP" sz="1800" b="1" i="1">
                              <a:solidFill>
                                <a:schemeClr val="tx1"/>
                              </a:solidFill>
                              <a:latin typeface="Cambria Math" panose="02040503050406030204" pitchFamily="18" charset="0"/>
                            </a:rPr>
                          </m:ctrlPr>
                        </m:sSupPr>
                        <m:e>
                          <m:r>
                            <a:rPr lang="en-NZ" altLang="ja-JP" sz="1800" b="1" i="1">
                              <a:solidFill>
                                <a:schemeClr val="tx1"/>
                              </a:solidFill>
                              <a:latin typeface="Cambria Math" panose="02040503050406030204" pitchFamily="18" charset="0"/>
                            </a:rPr>
                            <m:t>𝒆</m:t>
                          </m:r>
                        </m:e>
                        <m:sup>
                          <m:r>
                            <a:rPr lang="en-NZ" altLang="ja-JP" sz="1800" b="1" i="1">
                              <a:solidFill>
                                <a:schemeClr val="tx1"/>
                              </a:solidFill>
                              <a:latin typeface="Cambria Math" panose="02040503050406030204" pitchFamily="18" charset="0"/>
                            </a:rPr>
                            <m:t>−</m:t>
                          </m:r>
                          <m:f>
                            <m:fPr>
                              <m:ctrlPr>
                                <a:rPr lang="en-NZ" altLang="ja-JP" sz="1800" b="1" i="1">
                                  <a:solidFill>
                                    <a:schemeClr val="tx1"/>
                                  </a:solidFill>
                                  <a:latin typeface="Cambria Math" panose="02040503050406030204" pitchFamily="18" charset="0"/>
                                </a:rPr>
                              </m:ctrlPr>
                            </m:fPr>
                            <m:num>
                              <m:r>
                                <a:rPr lang="en-NZ" altLang="ja-JP" sz="1800" b="1" i="1">
                                  <a:solidFill>
                                    <a:schemeClr val="tx1"/>
                                  </a:solidFill>
                                  <a:latin typeface="Cambria Math" panose="02040503050406030204" pitchFamily="18" charset="0"/>
                                </a:rPr>
                                <m:t>𝟏</m:t>
                              </m:r>
                            </m:num>
                            <m:den>
                              <m:r>
                                <a:rPr lang="en-NZ" altLang="ja-JP" sz="1800" b="1" i="1">
                                  <a:solidFill>
                                    <a:schemeClr val="tx1"/>
                                  </a:solidFill>
                                  <a:latin typeface="Cambria Math" panose="02040503050406030204" pitchFamily="18" charset="0"/>
                                </a:rPr>
                                <m:t>𝟐</m:t>
                              </m:r>
                            </m:den>
                          </m:f>
                          <m:r>
                            <a:rPr lang="en-NZ" altLang="ja-JP" sz="1800" b="1" i="1" smtClean="0">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𝒚</m:t>
                          </m:r>
                          <m:r>
                            <a:rPr lang="en-NZ" altLang="ja-JP" sz="1800" b="1" i="1">
                              <a:solidFill>
                                <a:schemeClr val="tx1"/>
                              </a:solidFill>
                              <a:latin typeface="Cambria Math" panose="02040503050406030204" pitchFamily="18" charset="0"/>
                            </a:rPr>
                            <m:t>− </m:t>
                          </m:r>
                          <m:sSup>
                            <m:sSupPr>
                              <m:ctrlPr>
                                <a:rPr lang="en-NZ" altLang="ja-JP" sz="1800" b="1" i="1">
                                  <a:solidFill>
                                    <a:schemeClr val="tx1"/>
                                  </a:solidFill>
                                  <a:latin typeface="Cambria Math" panose="02040503050406030204" pitchFamily="18" charset="0"/>
                                </a:rPr>
                              </m:ctrlPr>
                            </m:sSupPr>
                            <m:e>
                              <m:r>
                                <a:rPr lang="en-NZ" altLang="ja-JP" sz="1800" b="1" i="1">
                                  <a:solidFill>
                                    <a:schemeClr val="tx1"/>
                                  </a:solidFill>
                                  <a:latin typeface="Cambria Math" panose="02040503050406030204" pitchFamily="18" charset="0"/>
                                </a:rPr>
                                <m:t>𝒙</m:t>
                              </m:r>
                              <m:r>
                                <a:rPr lang="en-NZ" altLang="ja-JP" sz="1800" b="1" i="1">
                                  <a:solidFill>
                                    <a:schemeClr val="tx1"/>
                                  </a:solidFill>
                                  <a:latin typeface="Cambria Math" panose="02040503050406030204" pitchFamily="18" charset="0"/>
                                </a:rPr>
                                <m:t>) </m:t>
                              </m:r>
                            </m:e>
                            <m:sup>
                              <m:r>
                                <a:rPr lang="en-NZ" altLang="ja-JP" sz="1800" b="1" i="1">
                                  <a:solidFill>
                                    <a:schemeClr val="tx1"/>
                                  </a:solidFill>
                                  <a:latin typeface="Cambria Math" panose="02040503050406030204" pitchFamily="18" charset="0"/>
                                </a:rPr>
                                <m:t>𝟐</m:t>
                              </m:r>
                            </m:sup>
                          </m:sSup>
                          <m:r>
                            <a:rPr lang="en-NZ" altLang="ja-JP" sz="1800" b="1" i="1" smtClean="0">
                              <a:solidFill>
                                <a:schemeClr val="tx1"/>
                              </a:solidFill>
                              <a:latin typeface="Cambria Math" panose="02040503050406030204" pitchFamily="18" charset="0"/>
                            </a:rPr>
                            <m:t>  / </m:t>
                          </m:r>
                          <m:sSubSup>
                            <m:sSubSupPr>
                              <m:ctrlPr>
                                <a:rPr lang="en-NZ" altLang="ja-JP" sz="1800" b="1" i="1">
                                  <a:solidFill>
                                    <a:schemeClr val="tx1"/>
                                  </a:solidFill>
                                  <a:latin typeface="Cambria Math" panose="02040503050406030204" pitchFamily="18" charset="0"/>
                                </a:rPr>
                              </m:ctrlPr>
                            </m:sSubSupPr>
                            <m:e>
                              <m:r>
                                <a:rPr lang="en-NZ" altLang="ja-JP" sz="1800" b="1" i="1">
                                  <a:solidFill>
                                    <a:schemeClr val="tx1"/>
                                  </a:solidFill>
                                  <a:latin typeface="Cambria Math" panose="02040503050406030204" pitchFamily="18" charset="0"/>
                                </a:rPr>
                                <m:t>𝝈</m:t>
                              </m:r>
                            </m:e>
                            <m:sub>
                              <m:r>
                                <a:rPr lang="en-NZ" altLang="ja-JP" sz="1800" b="1" i="1" smtClean="0">
                                  <a:solidFill>
                                    <a:schemeClr val="tx1"/>
                                  </a:solidFill>
                                  <a:latin typeface="Cambria Math" panose="02040503050406030204" pitchFamily="18" charset="0"/>
                                </a:rPr>
                                <m:t>𝟐</m:t>
                              </m:r>
                            </m:sub>
                            <m:sup>
                              <m:r>
                                <a:rPr lang="en-NZ" altLang="ja-JP" sz="1800" b="1" i="1">
                                  <a:solidFill>
                                    <a:schemeClr val="tx1"/>
                                  </a:solidFill>
                                  <a:latin typeface="Cambria Math" panose="02040503050406030204" pitchFamily="18" charset="0"/>
                                </a:rPr>
                                <m:t>𝟐</m:t>
                              </m:r>
                            </m:sup>
                          </m:sSubSup>
                        </m:sup>
                      </m:sSup>
                    </m:oMath>
                  </m:oMathPara>
                </a14:m>
                <a:endParaRPr lang="en-NZ" altLang="ja-JP" sz="1800" b="1" dirty="0">
                  <a:solidFill>
                    <a:schemeClr val="tx1"/>
                  </a:solidFill>
                </a:endParaRPr>
              </a:p>
            </p:txBody>
          </p:sp>
        </mc:Choice>
        <mc:Fallback>
          <p:sp>
            <p:nvSpPr>
              <p:cNvPr id="27" name="Text Placeholder 5">
                <a:extLst>
                  <a:ext uri="{FF2B5EF4-FFF2-40B4-BE49-F238E27FC236}">
                    <a16:creationId xmlns:a16="http://schemas.microsoft.com/office/drawing/2014/main" id="{1316DBFE-043A-5FB2-C80A-E2065C61BC7E}"/>
                  </a:ext>
                </a:extLst>
              </p:cNvPr>
              <p:cNvSpPr txBox="1">
                <a:spLocks noRot="1" noChangeAspect="1" noMove="1" noResize="1" noEditPoints="1" noAdjustHandles="1" noChangeArrowheads="1" noChangeShapeType="1" noTextEdit="1"/>
              </p:cNvSpPr>
              <p:nvPr/>
            </p:nvSpPr>
            <p:spPr>
              <a:xfrm>
                <a:off x="319463" y="3999610"/>
                <a:ext cx="11608680" cy="1361614"/>
              </a:xfrm>
              <a:prstGeom prst="rect">
                <a:avLst/>
              </a:prstGeom>
              <a:blipFill>
                <a:blip r:embed="rId5"/>
                <a:stretch>
                  <a:fillRect l="-420" t="-2242"/>
                </a:stretch>
              </a:blipFill>
            </p:spPr>
            <p:txBody>
              <a:bodyPr/>
              <a:lstStyle/>
              <a:p>
                <a:r>
                  <a:rPr lang="en-NZ">
                    <a:noFill/>
                  </a:rPr>
                  <a:t> </a:t>
                </a:r>
              </a:p>
            </p:txBody>
          </p:sp>
        </mc:Fallback>
      </mc:AlternateContent>
      <p:sp>
        <p:nvSpPr>
          <p:cNvPr id="28" name="Text Placeholder 5">
            <a:extLst>
              <a:ext uri="{FF2B5EF4-FFF2-40B4-BE49-F238E27FC236}">
                <a16:creationId xmlns:a16="http://schemas.microsoft.com/office/drawing/2014/main" id="{049D01EF-BC5F-DBE5-7588-82E2492D1EFF}"/>
              </a:ext>
            </a:extLst>
          </p:cNvPr>
          <p:cNvSpPr txBox="1">
            <a:spLocks/>
          </p:cNvSpPr>
          <p:nvPr/>
        </p:nvSpPr>
        <p:spPr>
          <a:xfrm>
            <a:off x="2345361" y="6488487"/>
            <a:ext cx="7501278" cy="28337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rPr>
              <a:t>Associated Code = 10 - Bivariate Normal Example (Convergence</a:t>
            </a:r>
            <a:r>
              <a:rPr kumimoji="1" lang="en-NZ" altLang="ja-JP" sz="1200" u="none" strike="noStrike" kern="1200" cap="none" spc="0" normalizeH="0" noProof="0" dirty="0">
                <a:ln>
                  <a:noFill/>
                </a:ln>
                <a:solidFill>
                  <a:srgbClr val="C00000"/>
                </a:solidFill>
                <a:effectLst/>
                <a:uLnTx/>
                <a:uFillTx/>
                <a:latin typeface="Calibri" panose="020F0502020204030204"/>
                <a:ea typeface="游ゴシック" panose="020B0400000000000000" pitchFamily="34" charset="-128"/>
              </a:rPr>
              <a:t> Tests</a:t>
            </a:r>
            <a:r>
              <a:rPr kumimoji="1" lang="en-NZ"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rPr>
              <a:t>)</a:t>
            </a:r>
            <a:endParaRPr kumimoji="1" lang="en-US"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mc:AlternateContent xmlns:mc="http://schemas.openxmlformats.org/markup-compatibility/2006">
        <mc:Choice xmlns:a14="http://schemas.microsoft.com/office/drawing/2010/main" Requires="a14">
          <p:sp>
            <p:nvSpPr>
              <p:cNvPr id="30" name="Text Placeholder 5">
                <a:extLst>
                  <a:ext uri="{FF2B5EF4-FFF2-40B4-BE49-F238E27FC236}">
                    <a16:creationId xmlns:a16="http://schemas.microsoft.com/office/drawing/2014/main" id="{369E7389-2930-00C7-6626-0692810CF2B4}"/>
                  </a:ext>
                </a:extLst>
              </p:cNvPr>
              <p:cNvSpPr txBox="1">
                <a:spLocks/>
              </p:cNvSpPr>
              <p:nvPr/>
            </p:nvSpPr>
            <p:spPr>
              <a:xfrm>
                <a:off x="319463" y="5580625"/>
                <a:ext cx="11608680" cy="6131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dirty="0">
                    <a:solidFill>
                      <a:schemeClr val="tx1"/>
                    </a:solidFill>
                  </a:rPr>
                  <a:t>Given the symmetry of </a:t>
                </a:r>
                <a14:m>
                  <m:oMath xmlns:m="http://schemas.openxmlformats.org/officeDocument/2006/math">
                    <m:sSub>
                      <m:sSubPr>
                        <m:ctrlPr>
                          <a:rPr lang="en-NZ" altLang="ja-JP" sz="1800" b="1" i="1" smtClean="0">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𝒒</m:t>
                        </m:r>
                      </m:e>
                      <m:sub>
                        <m:r>
                          <a:rPr lang="en-NZ" altLang="ja-JP" sz="1800" b="1" i="1" smtClean="0">
                            <a:solidFill>
                              <a:schemeClr val="tx1"/>
                            </a:solidFill>
                            <a:latin typeface="Cambria Math" panose="02040503050406030204" pitchFamily="18" charset="0"/>
                          </a:rPr>
                          <m:t>𝟏</m:t>
                        </m:r>
                      </m:sub>
                    </m:sSub>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𝒙</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𝒚</m:t>
                        </m:r>
                      </m:e>
                    </m:d>
                  </m:oMath>
                </a14:m>
                <a:r>
                  <a:rPr lang="en-NZ" altLang="ja-JP" sz="1800" dirty="0">
                    <a:solidFill>
                      <a:schemeClr val="tx1"/>
                    </a:solidFill>
                  </a:rPr>
                  <a:t> and </a:t>
                </a:r>
                <a14:m>
                  <m:oMath xmlns:m="http://schemas.openxmlformats.org/officeDocument/2006/math">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𝒒</m:t>
                        </m:r>
                      </m:e>
                      <m:sub>
                        <m:r>
                          <a:rPr lang="en-NZ" altLang="ja-JP" sz="1800" b="1" i="1" smtClean="0">
                            <a:solidFill>
                              <a:schemeClr val="tx1"/>
                            </a:solidFill>
                            <a:latin typeface="Cambria Math" panose="02040503050406030204" pitchFamily="18" charset="0"/>
                          </a:rPr>
                          <m:t>𝟐</m:t>
                        </m:r>
                      </m:sub>
                    </m:sSub>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𝒙</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𝒚</m:t>
                        </m:r>
                      </m:e>
                    </m:d>
                  </m:oMath>
                </a14:m>
                <a:r>
                  <a:rPr lang="en-NZ" altLang="ja-JP" sz="1800" dirty="0">
                    <a:solidFill>
                      <a:schemeClr val="tx1"/>
                    </a:solidFill>
                  </a:rPr>
                  <a:t>,  this implies that the MH acceptance probability simplifies to </a:t>
                </a:r>
              </a:p>
              <a:p>
                <a:pPr lvl="0" algn="ctr">
                  <a:lnSpc>
                    <a:spcPct val="100000"/>
                  </a:lnSpc>
                  <a:defRPr/>
                </a:pPr>
                <a14:m>
                  <m:oMath xmlns:m="http://schemas.openxmlformats.org/officeDocument/2006/math">
                    <m:r>
                      <a:rPr lang="en-NZ" altLang="ja-JP" sz="1800" b="1" i="1">
                        <a:solidFill>
                          <a:schemeClr val="tx1"/>
                        </a:solidFill>
                        <a:latin typeface="Cambria Math" panose="02040503050406030204" pitchFamily="18" charset="0"/>
                      </a:rPr>
                      <m:t>𝜶</m:t>
                    </m:r>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𝒙</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𝒚</m:t>
                        </m:r>
                      </m:e>
                    </m:d>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𝒎𝒊𝒏</m:t>
                    </m:r>
                    <m:r>
                      <a:rPr lang="en-NZ" altLang="ja-JP" sz="1800" b="1" i="1">
                        <a:solidFill>
                          <a:schemeClr val="tx1"/>
                        </a:solidFill>
                        <a:latin typeface="Cambria Math" panose="02040503050406030204" pitchFamily="18" charset="0"/>
                      </a:rPr>
                      <m:t> </m:t>
                    </m:r>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𝟏</m:t>
                        </m:r>
                        <m:r>
                          <a:rPr lang="en-NZ" altLang="ja-JP" sz="1800" b="1" i="1">
                            <a:solidFill>
                              <a:schemeClr val="tx1"/>
                            </a:solidFill>
                            <a:latin typeface="Cambria Math" panose="02040503050406030204" pitchFamily="18" charset="0"/>
                          </a:rPr>
                          <m:t> ,  </m:t>
                        </m:r>
                        <m:f>
                          <m:fPr>
                            <m:ctrlPr>
                              <a:rPr lang="en-NZ" altLang="ja-JP" sz="1800" b="1" i="1">
                                <a:solidFill>
                                  <a:schemeClr val="tx1"/>
                                </a:solidFill>
                                <a:latin typeface="Cambria Math" panose="02040503050406030204" pitchFamily="18" charset="0"/>
                              </a:rPr>
                            </m:ctrlPr>
                          </m:fPr>
                          <m:num>
                            <m:r>
                              <a:rPr lang="en-NZ" altLang="ja-JP" sz="1800" b="1" i="1">
                                <a:solidFill>
                                  <a:schemeClr val="tx1"/>
                                </a:solidFill>
                                <a:latin typeface="Cambria Math" panose="02040503050406030204" pitchFamily="18" charset="0"/>
                              </a:rPr>
                              <m:t>𝒇</m:t>
                            </m:r>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𝒚</m:t>
                                </m:r>
                              </m:e>
                            </m:d>
                          </m:num>
                          <m:den>
                            <m:r>
                              <a:rPr lang="en-NZ" altLang="ja-JP" sz="1800" b="1" i="1">
                                <a:solidFill>
                                  <a:schemeClr val="tx1"/>
                                </a:solidFill>
                                <a:latin typeface="Cambria Math" panose="02040503050406030204" pitchFamily="18" charset="0"/>
                              </a:rPr>
                              <m:t>𝒇</m:t>
                            </m:r>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𝒙</m:t>
                                </m:r>
                              </m:e>
                            </m:d>
                          </m:den>
                        </m:f>
                        <m:r>
                          <a:rPr lang="en-NZ" altLang="ja-JP" sz="1800" b="1" i="1">
                            <a:solidFill>
                              <a:schemeClr val="tx1"/>
                            </a:solidFill>
                            <a:latin typeface="Cambria Math" panose="02040503050406030204" pitchFamily="18" charset="0"/>
                          </a:rPr>
                          <m:t>   </m:t>
                        </m:r>
                      </m:e>
                    </m:d>
                  </m:oMath>
                </a14:m>
                <a:r>
                  <a:rPr lang="en-NZ" altLang="ja-JP" sz="1800" dirty="0">
                    <a:solidFill>
                      <a:schemeClr val="tx1"/>
                    </a:solidFill>
                  </a:rPr>
                  <a:t> </a:t>
                </a:r>
              </a:p>
            </p:txBody>
          </p:sp>
        </mc:Choice>
        <mc:Fallback>
          <p:sp>
            <p:nvSpPr>
              <p:cNvPr id="30" name="Text Placeholder 5">
                <a:extLst>
                  <a:ext uri="{FF2B5EF4-FFF2-40B4-BE49-F238E27FC236}">
                    <a16:creationId xmlns:a16="http://schemas.microsoft.com/office/drawing/2014/main" id="{369E7389-2930-00C7-6626-0692810CF2B4}"/>
                  </a:ext>
                </a:extLst>
              </p:cNvPr>
              <p:cNvSpPr txBox="1">
                <a:spLocks noRot="1" noChangeAspect="1" noMove="1" noResize="1" noEditPoints="1" noAdjustHandles="1" noChangeArrowheads="1" noChangeShapeType="1" noTextEdit="1"/>
              </p:cNvSpPr>
              <p:nvPr/>
            </p:nvSpPr>
            <p:spPr>
              <a:xfrm>
                <a:off x="319463" y="5580625"/>
                <a:ext cx="11608680" cy="613136"/>
              </a:xfrm>
              <a:prstGeom prst="rect">
                <a:avLst/>
              </a:prstGeom>
              <a:blipFill>
                <a:blip r:embed="rId6"/>
                <a:stretch>
                  <a:fillRect l="-420" t="-4950" b="-37624"/>
                </a:stretch>
              </a:blipFill>
            </p:spPr>
            <p:txBody>
              <a:bodyPr/>
              <a:lstStyle/>
              <a:p>
                <a:r>
                  <a:rPr lang="en-NZ">
                    <a:noFill/>
                  </a:rPr>
                  <a:t> </a:t>
                </a:r>
              </a:p>
            </p:txBody>
          </p:sp>
        </mc:Fallback>
      </mc:AlternateContent>
    </p:spTree>
    <p:extLst>
      <p:ext uri="{BB962C8B-B14F-4D97-AF65-F5344CB8AC3E}">
        <p14:creationId xmlns:p14="http://schemas.microsoft.com/office/powerpoint/2010/main" val="30269514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a:extLst>
              <a:ext uri="{FF2B5EF4-FFF2-40B4-BE49-F238E27FC236}">
                <a16:creationId xmlns:a16="http://schemas.microsoft.com/office/drawing/2014/main" id="{49B8B547-CC62-B60A-4A43-E5B229D90BB2}"/>
              </a:ext>
            </a:extLst>
          </p:cNvPr>
          <p:cNvPicPr>
            <a:picLocks noChangeAspect="1"/>
          </p:cNvPicPr>
          <p:nvPr/>
        </p:nvPicPr>
        <p:blipFill>
          <a:blip r:embed="rId2"/>
          <a:stretch>
            <a:fillRect/>
          </a:stretch>
        </p:blipFill>
        <p:spPr>
          <a:xfrm>
            <a:off x="346757" y="3486331"/>
            <a:ext cx="6108634" cy="2721508"/>
          </a:xfrm>
          <a:prstGeom prst="rect">
            <a:avLst/>
          </a:prstGeom>
        </p:spPr>
      </p:pic>
      <p:pic>
        <p:nvPicPr>
          <p:cNvPr id="36" name="Picture 35">
            <a:extLst>
              <a:ext uri="{FF2B5EF4-FFF2-40B4-BE49-F238E27FC236}">
                <a16:creationId xmlns:a16="http://schemas.microsoft.com/office/drawing/2014/main" id="{36BF7C6D-B579-BEEF-819F-41EEABD1352A}"/>
              </a:ext>
            </a:extLst>
          </p:cNvPr>
          <p:cNvPicPr>
            <a:picLocks noChangeAspect="1"/>
          </p:cNvPicPr>
          <p:nvPr/>
        </p:nvPicPr>
        <p:blipFill>
          <a:blip r:embed="rId3"/>
          <a:stretch>
            <a:fillRect/>
          </a:stretch>
        </p:blipFill>
        <p:spPr>
          <a:xfrm>
            <a:off x="346757" y="782021"/>
            <a:ext cx="5987450" cy="2646979"/>
          </a:xfrm>
          <a:prstGeom prst="rect">
            <a:avLst/>
          </a:prstGeom>
        </p:spPr>
      </p:pic>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13" name="Text Placeholder 5">
                <a:extLst>
                  <a:ext uri="{FF2B5EF4-FFF2-40B4-BE49-F238E27FC236}">
                    <a16:creationId xmlns:a16="http://schemas.microsoft.com/office/drawing/2014/main" id="{DC72266E-1C32-FD7E-C8C4-25D579208286}"/>
                  </a:ext>
                </a:extLst>
              </p:cNvPr>
              <p:cNvSpPr txBox="1">
                <a:spLocks/>
              </p:cNvSpPr>
              <p:nvPr/>
            </p:nvSpPr>
            <p:spPr>
              <a:xfrm>
                <a:off x="6638376" y="996288"/>
                <a:ext cx="5389851"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NZ" altLang="ja-JP" sz="180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rPr>
                  <a:t>Setting </a:t>
                </a:r>
                <a14:m>
                  <m:oMath xmlns:m="http://schemas.openxmlformats.org/officeDocument/2006/math">
                    <m:sSubSup>
                      <m:sSubSupPr>
                        <m:ctrlP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rPr>
                        </m:ctrlPr>
                      </m:sSubSupPr>
                      <m:e>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rPr>
                          <m:t>𝝈</m:t>
                        </m:r>
                      </m:e>
                      <m:sub>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rPr>
                          <m:t>𝟏</m:t>
                        </m:r>
                      </m:sub>
                      <m:sup>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rPr>
                          <m:t>𝟐</m:t>
                        </m:r>
                      </m:sup>
                    </m:sSubSup>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rPr>
                      <m:t>=</m:t>
                    </m:r>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rPr>
                      <m:t>𝟏</m:t>
                    </m:r>
                  </m:oMath>
                </a14:m>
                <a:r>
                  <a:rPr kumimoji="1" lang="en-NZ" altLang="ja-JP" sz="1800" b="1"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rPr>
                  <a:t> </a:t>
                </a:r>
                <a:r>
                  <a:rPr kumimoji="1" lang="en-NZ" altLang="ja-JP" sz="180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rPr>
                  <a:t>, </a:t>
                </a:r>
                <a14:m>
                  <m:oMath xmlns:m="http://schemas.openxmlformats.org/officeDocument/2006/math">
                    <m:sSubSup>
                      <m:sSubSupPr>
                        <m:ctrlPr>
                          <a:rPr lang="en-NZ" altLang="ja-JP" sz="1800" b="1" i="1" smtClean="0">
                            <a:solidFill>
                              <a:schemeClr val="tx1"/>
                            </a:solidFill>
                            <a:latin typeface="Cambria Math" panose="02040503050406030204" pitchFamily="18" charset="0"/>
                          </a:rPr>
                        </m:ctrlPr>
                      </m:sSubSupPr>
                      <m:e>
                        <m:r>
                          <a:rPr lang="en-NZ" altLang="ja-JP" sz="1800" b="1" i="1">
                            <a:solidFill>
                              <a:schemeClr val="tx1"/>
                            </a:solidFill>
                            <a:latin typeface="Cambria Math" panose="02040503050406030204" pitchFamily="18" charset="0"/>
                          </a:rPr>
                          <m:t>𝝈</m:t>
                        </m:r>
                      </m:e>
                      <m:sub>
                        <m:r>
                          <a:rPr lang="en-NZ" altLang="ja-JP" sz="1800" b="1" i="1" smtClean="0">
                            <a:solidFill>
                              <a:schemeClr val="tx1"/>
                            </a:solidFill>
                            <a:latin typeface="Cambria Math" panose="02040503050406030204" pitchFamily="18" charset="0"/>
                          </a:rPr>
                          <m:t>𝟐</m:t>
                        </m:r>
                      </m:sub>
                      <m:sup>
                        <m:r>
                          <a:rPr lang="en-NZ" altLang="ja-JP" sz="1800" b="1" i="1" smtClean="0">
                            <a:solidFill>
                              <a:schemeClr val="tx1"/>
                            </a:solidFill>
                            <a:latin typeface="Cambria Math" panose="02040503050406030204" pitchFamily="18" charset="0"/>
                          </a:rPr>
                          <m:t>𝟐</m:t>
                        </m:r>
                      </m:sup>
                    </m:sSubSup>
                    <m:r>
                      <a:rPr lang="en-NZ" altLang="ja-JP" sz="1800" b="1" i="1">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𝟐</m:t>
                    </m:r>
                  </m:oMath>
                </a14:m>
                <a:r>
                  <a:rPr kumimoji="1" lang="en-NZ" altLang="ja-JP" sz="1800" b="1"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rPr>
                  <a:t>  </a:t>
                </a:r>
                <a:r>
                  <a:rPr kumimoji="1" lang="en-NZ" altLang="ja-JP" sz="180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rPr>
                  <a:t>and  </a:t>
                </a:r>
                <a:r>
                  <a:rPr kumimoji="1" lang="en-NZ" altLang="ja-JP" sz="18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rPr>
                  <a:t>n = 1,000 + 9,000 </a:t>
                </a:r>
              </a:p>
            </p:txBody>
          </p:sp>
        </mc:Choice>
        <mc:Fallback xmlns="">
          <p:sp>
            <p:nvSpPr>
              <p:cNvPr id="13" name="Text Placeholder 5">
                <a:extLst>
                  <a:ext uri="{FF2B5EF4-FFF2-40B4-BE49-F238E27FC236}">
                    <a16:creationId xmlns:a16="http://schemas.microsoft.com/office/drawing/2014/main" id="{DC72266E-1C32-FD7E-C8C4-25D579208286}"/>
                  </a:ext>
                </a:extLst>
              </p:cNvPr>
              <p:cNvSpPr txBox="1">
                <a:spLocks noRot="1" noChangeAspect="1" noMove="1" noResize="1" noEditPoints="1" noAdjustHandles="1" noChangeArrowheads="1" noChangeShapeType="1" noTextEdit="1"/>
              </p:cNvSpPr>
              <p:nvPr/>
            </p:nvSpPr>
            <p:spPr>
              <a:xfrm>
                <a:off x="6638376" y="996288"/>
                <a:ext cx="5389851" cy="365126"/>
              </a:xfrm>
              <a:prstGeom prst="rect">
                <a:avLst/>
              </a:prstGeom>
              <a:blipFill>
                <a:blip r:embed="rId5"/>
                <a:stretch>
                  <a:fillRect l="-1018" t="-3333" b="-31667"/>
                </a:stretch>
              </a:blipFill>
            </p:spPr>
            <p:txBody>
              <a:bodyPr/>
              <a:lstStyle/>
              <a:p>
                <a:r>
                  <a:rPr lang="en-NZ">
                    <a:noFill/>
                  </a:rPr>
                  <a:t> </a:t>
                </a:r>
              </a:p>
            </p:txBody>
          </p:sp>
        </mc:Fallback>
      </mc:AlternateContent>
      <p:sp>
        <p:nvSpPr>
          <p:cNvPr id="14" name="Title 6">
            <a:extLst>
              <a:ext uri="{FF2B5EF4-FFF2-40B4-BE49-F238E27FC236}">
                <a16:creationId xmlns:a16="http://schemas.microsoft.com/office/drawing/2014/main" id="{18EFAA1F-58F5-B8DC-5203-016AF3661A4C}"/>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10.2 – Summary Statistics</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5" name="Footer Placeholder 2">
            <a:extLst>
              <a:ext uri="{FF2B5EF4-FFF2-40B4-BE49-F238E27FC236}">
                <a16:creationId xmlns:a16="http://schemas.microsoft.com/office/drawing/2014/main" id="{CE1BC482-63C5-C7CB-8FB1-F710CF896763}"/>
              </a:ext>
            </a:extLst>
          </p:cNvPr>
          <p:cNvSpPr txBox="1">
            <a:spLocks/>
          </p:cNvSpPr>
          <p:nvPr/>
        </p:nvSpPr>
        <p:spPr>
          <a:xfrm>
            <a:off x="8993875" y="86139"/>
            <a:ext cx="309549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10.2 – Summary Statistics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18" name="Text Placeholder 5">
            <a:extLst>
              <a:ext uri="{FF2B5EF4-FFF2-40B4-BE49-F238E27FC236}">
                <a16:creationId xmlns:a16="http://schemas.microsoft.com/office/drawing/2014/main" id="{4260D6DA-D171-7375-ADE0-AA4069CB44A8}"/>
              </a:ext>
            </a:extLst>
          </p:cNvPr>
          <p:cNvSpPr txBox="1">
            <a:spLocks/>
          </p:cNvSpPr>
          <p:nvPr/>
        </p:nvSpPr>
        <p:spPr>
          <a:xfrm rot="16200000">
            <a:off x="2925677" y="4524803"/>
            <a:ext cx="990723" cy="442984"/>
          </a:xfrm>
          <a:prstGeom prst="rect">
            <a:avLst/>
          </a:prstGeom>
          <a:solidFill>
            <a:schemeClr val="bg1"/>
          </a:solid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800" dirty="0">
                <a:solidFill>
                  <a:schemeClr val="tx1"/>
                </a:solidFill>
              </a:rPr>
              <a:t>X</a:t>
            </a:r>
            <a:r>
              <a:rPr lang="en-NZ" altLang="ja-JP" sz="1800" baseline="-25000" dirty="0">
                <a:solidFill>
                  <a:schemeClr val="tx1"/>
                </a:solidFill>
              </a:rPr>
              <a:t>2</a:t>
            </a:r>
            <a:endParaRPr lang="en-NZ" altLang="ja-JP" sz="1800" dirty="0">
              <a:solidFill>
                <a:schemeClr val="tx1"/>
              </a:solidFill>
            </a:endParaRPr>
          </a:p>
        </p:txBody>
      </p:sp>
      <p:sp>
        <p:nvSpPr>
          <p:cNvPr id="19" name="Text Placeholder 5">
            <a:extLst>
              <a:ext uri="{FF2B5EF4-FFF2-40B4-BE49-F238E27FC236}">
                <a16:creationId xmlns:a16="http://schemas.microsoft.com/office/drawing/2014/main" id="{62F17435-F0FD-FF37-61D6-BB46E19D649C}"/>
              </a:ext>
            </a:extLst>
          </p:cNvPr>
          <p:cNvSpPr txBox="1">
            <a:spLocks/>
          </p:cNvSpPr>
          <p:nvPr/>
        </p:nvSpPr>
        <p:spPr>
          <a:xfrm rot="16200000">
            <a:off x="-175898" y="4543917"/>
            <a:ext cx="990723" cy="442984"/>
          </a:xfrm>
          <a:prstGeom prst="rect">
            <a:avLst/>
          </a:prstGeom>
          <a:no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800" dirty="0">
                <a:solidFill>
                  <a:schemeClr val="tx1"/>
                </a:solidFill>
              </a:rPr>
              <a:t>X</a:t>
            </a:r>
            <a:r>
              <a:rPr lang="en-NZ" altLang="ja-JP" sz="1800" baseline="-25000" dirty="0">
                <a:solidFill>
                  <a:schemeClr val="tx1"/>
                </a:solidFill>
              </a:rPr>
              <a:t>1</a:t>
            </a:r>
            <a:endParaRPr lang="en-NZ" altLang="ja-JP" sz="1800" dirty="0">
              <a:solidFill>
                <a:schemeClr val="tx1"/>
              </a:solidFill>
            </a:endParaRPr>
          </a:p>
        </p:txBody>
      </p:sp>
      <p:sp>
        <p:nvSpPr>
          <p:cNvPr id="20" name="Text Placeholder 5">
            <a:extLst>
              <a:ext uri="{FF2B5EF4-FFF2-40B4-BE49-F238E27FC236}">
                <a16:creationId xmlns:a16="http://schemas.microsoft.com/office/drawing/2014/main" id="{E28FD50E-4AF5-94AA-A452-60A52F53010A}"/>
              </a:ext>
            </a:extLst>
          </p:cNvPr>
          <p:cNvSpPr txBox="1">
            <a:spLocks/>
          </p:cNvSpPr>
          <p:nvPr/>
        </p:nvSpPr>
        <p:spPr>
          <a:xfrm rot="16200000">
            <a:off x="-273868" y="1677964"/>
            <a:ext cx="990723" cy="442984"/>
          </a:xfrm>
          <a:prstGeom prst="rect">
            <a:avLst/>
          </a:prstGeom>
          <a:no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800" dirty="0">
                <a:solidFill>
                  <a:schemeClr val="tx1"/>
                </a:solidFill>
              </a:rPr>
              <a:t>X</a:t>
            </a:r>
            <a:r>
              <a:rPr lang="en-NZ" altLang="ja-JP" sz="1800" baseline="-25000" dirty="0">
                <a:solidFill>
                  <a:schemeClr val="tx1"/>
                </a:solidFill>
              </a:rPr>
              <a:t>1</a:t>
            </a:r>
            <a:endParaRPr lang="en-NZ" altLang="ja-JP" sz="1800" dirty="0">
              <a:solidFill>
                <a:schemeClr val="tx1"/>
              </a:solidFill>
            </a:endParaRPr>
          </a:p>
        </p:txBody>
      </p:sp>
      <p:sp>
        <p:nvSpPr>
          <p:cNvPr id="21" name="Text Placeholder 5">
            <a:extLst>
              <a:ext uri="{FF2B5EF4-FFF2-40B4-BE49-F238E27FC236}">
                <a16:creationId xmlns:a16="http://schemas.microsoft.com/office/drawing/2014/main" id="{D030D11C-5E0C-EAD5-6A4B-F323019B8AD9}"/>
              </a:ext>
            </a:extLst>
          </p:cNvPr>
          <p:cNvSpPr txBox="1">
            <a:spLocks/>
          </p:cNvSpPr>
          <p:nvPr/>
        </p:nvSpPr>
        <p:spPr>
          <a:xfrm rot="16200000">
            <a:off x="2942220" y="1677963"/>
            <a:ext cx="990723" cy="442984"/>
          </a:xfrm>
          <a:prstGeom prst="rect">
            <a:avLst/>
          </a:prstGeom>
          <a:solidFill>
            <a:schemeClr val="bg1"/>
          </a:solid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800" dirty="0">
                <a:solidFill>
                  <a:schemeClr val="tx1"/>
                </a:solidFill>
              </a:rPr>
              <a:t>X</a:t>
            </a:r>
            <a:r>
              <a:rPr lang="en-NZ" altLang="ja-JP" sz="1800" baseline="-25000" dirty="0">
                <a:solidFill>
                  <a:schemeClr val="tx1"/>
                </a:solidFill>
              </a:rPr>
              <a:t>2</a:t>
            </a:r>
            <a:endParaRPr lang="en-NZ" altLang="ja-JP" sz="1800" dirty="0">
              <a:solidFill>
                <a:schemeClr val="tx1"/>
              </a:solidFill>
            </a:endParaRPr>
          </a:p>
        </p:txBody>
      </p:sp>
      <p:sp>
        <p:nvSpPr>
          <p:cNvPr id="9" name="Right Brace 8">
            <a:extLst>
              <a:ext uri="{FF2B5EF4-FFF2-40B4-BE49-F238E27FC236}">
                <a16:creationId xmlns:a16="http://schemas.microsoft.com/office/drawing/2014/main" id="{2A6A9870-00F8-CFB0-A6C1-482498A97FB1}"/>
              </a:ext>
            </a:extLst>
          </p:cNvPr>
          <p:cNvSpPr/>
          <p:nvPr/>
        </p:nvSpPr>
        <p:spPr>
          <a:xfrm rot="16200000">
            <a:off x="9980697" y="579380"/>
            <a:ext cx="261433" cy="53620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p:sp>
        <p:nvSpPr>
          <p:cNvPr id="23" name="Right Brace 22">
            <a:extLst>
              <a:ext uri="{FF2B5EF4-FFF2-40B4-BE49-F238E27FC236}">
                <a16:creationId xmlns:a16="http://schemas.microsoft.com/office/drawing/2014/main" id="{25BA7AEA-565B-BBF7-3838-A69DE9367D77}"/>
              </a:ext>
            </a:extLst>
          </p:cNvPr>
          <p:cNvSpPr/>
          <p:nvPr/>
        </p:nvSpPr>
        <p:spPr>
          <a:xfrm rot="16200000">
            <a:off x="10787348" y="579380"/>
            <a:ext cx="261433" cy="53620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p:sp>
        <p:nvSpPr>
          <p:cNvPr id="24" name="Text Placeholder 5">
            <a:extLst>
              <a:ext uri="{FF2B5EF4-FFF2-40B4-BE49-F238E27FC236}">
                <a16:creationId xmlns:a16="http://schemas.microsoft.com/office/drawing/2014/main" id="{68C287E0-CAA4-BEC0-6324-550131D9AD8B}"/>
              </a:ext>
            </a:extLst>
          </p:cNvPr>
          <p:cNvSpPr txBox="1">
            <a:spLocks/>
          </p:cNvSpPr>
          <p:nvPr/>
        </p:nvSpPr>
        <p:spPr>
          <a:xfrm>
            <a:off x="9650171" y="416895"/>
            <a:ext cx="922484"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400" dirty="0">
                <a:solidFill>
                  <a:schemeClr val="bg2">
                    <a:lumMod val="50000"/>
                  </a:schemeClr>
                </a:solidFill>
                <a:latin typeface="Calibri" panose="020F0502020204030204"/>
                <a:ea typeface="游ゴシック" panose="020B0400000000000000" pitchFamily="34" charset="-128"/>
              </a:rPr>
              <a:t>Burn-in</a:t>
            </a:r>
            <a:endParaRPr kumimoji="1" lang="en-NZ" altLang="ja-JP" sz="1400"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endParaRPr>
          </a:p>
        </p:txBody>
      </p:sp>
      <p:sp>
        <p:nvSpPr>
          <p:cNvPr id="25" name="Text Placeholder 5">
            <a:extLst>
              <a:ext uri="{FF2B5EF4-FFF2-40B4-BE49-F238E27FC236}">
                <a16:creationId xmlns:a16="http://schemas.microsoft.com/office/drawing/2014/main" id="{3CEFBF2F-D11D-CE26-F54B-F267D5FD657C}"/>
              </a:ext>
            </a:extLst>
          </p:cNvPr>
          <p:cNvSpPr txBox="1">
            <a:spLocks/>
          </p:cNvSpPr>
          <p:nvPr/>
        </p:nvSpPr>
        <p:spPr>
          <a:xfrm>
            <a:off x="9990161" y="416895"/>
            <a:ext cx="1937911"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400" dirty="0">
                <a:solidFill>
                  <a:schemeClr val="bg2">
                    <a:lumMod val="50000"/>
                  </a:schemeClr>
                </a:solidFill>
                <a:latin typeface="Calibri" panose="020F0502020204030204"/>
                <a:ea typeface="游ゴシック" panose="020B0400000000000000" pitchFamily="34" charset="-128"/>
              </a:rPr>
              <a:t>Post Burn-in</a:t>
            </a:r>
            <a:endParaRPr kumimoji="1" lang="en-NZ" altLang="ja-JP" sz="1400"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endParaRPr>
          </a:p>
        </p:txBody>
      </p:sp>
      <p:sp>
        <p:nvSpPr>
          <p:cNvPr id="27" name="Text Placeholder 5">
            <a:extLst>
              <a:ext uri="{FF2B5EF4-FFF2-40B4-BE49-F238E27FC236}">
                <a16:creationId xmlns:a16="http://schemas.microsoft.com/office/drawing/2014/main" id="{52BBC29F-92C2-A4A9-3D64-45EC47485738}"/>
              </a:ext>
            </a:extLst>
          </p:cNvPr>
          <p:cNvSpPr txBox="1">
            <a:spLocks/>
          </p:cNvSpPr>
          <p:nvPr/>
        </p:nvSpPr>
        <p:spPr>
          <a:xfrm>
            <a:off x="6638376" y="1450313"/>
            <a:ext cx="4558352"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600" dirty="0">
                <a:solidFill>
                  <a:schemeClr val="tx1"/>
                </a:solidFill>
              </a:rPr>
              <a:t>Acceptance rate = 53%</a:t>
            </a:r>
          </a:p>
        </p:txBody>
      </p:sp>
      <mc:AlternateContent xmlns:mc="http://schemas.openxmlformats.org/markup-compatibility/2006" xmlns:a14="http://schemas.microsoft.com/office/drawing/2010/main">
        <mc:Choice Requires="a14">
          <p:sp>
            <p:nvSpPr>
              <p:cNvPr id="29" name="Text Placeholder 5">
                <a:extLst>
                  <a:ext uri="{FF2B5EF4-FFF2-40B4-BE49-F238E27FC236}">
                    <a16:creationId xmlns:a16="http://schemas.microsoft.com/office/drawing/2014/main" id="{F3B84313-B2DB-46CB-46BE-79E035FA9C64}"/>
                  </a:ext>
                </a:extLst>
              </p:cNvPr>
              <p:cNvSpPr txBox="1">
                <a:spLocks/>
              </p:cNvSpPr>
              <p:nvPr/>
            </p:nvSpPr>
            <p:spPr>
              <a:xfrm>
                <a:off x="6638376" y="2097403"/>
                <a:ext cx="5289696" cy="69723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600" dirty="0">
                    <a:solidFill>
                      <a:schemeClr val="tx1"/>
                    </a:solidFill>
                  </a:rPr>
                  <a:t>Graphs show time series plots / auto-correlation plots for post-burn-in values of the chain for </a:t>
                </a:r>
                <a14:m>
                  <m:oMath xmlns:m="http://schemas.openxmlformats.org/officeDocument/2006/math">
                    <m:sSubSup>
                      <m:sSubSupPr>
                        <m:ctrlPr>
                          <a:rPr lang="en-NZ" altLang="ja-JP" sz="1600" b="1" i="1">
                            <a:solidFill>
                              <a:schemeClr val="tx1"/>
                            </a:solidFill>
                            <a:latin typeface="Cambria Math" panose="02040503050406030204" pitchFamily="18" charset="0"/>
                          </a:rPr>
                        </m:ctrlPr>
                      </m:sSubSupPr>
                      <m:e>
                        <m:r>
                          <a:rPr lang="en-NZ" altLang="ja-JP" sz="1600" b="1" i="1">
                            <a:solidFill>
                              <a:schemeClr val="tx1"/>
                            </a:solidFill>
                            <a:latin typeface="Cambria Math" panose="02040503050406030204" pitchFamily="18" charset="0"/>
                          </a:rPr>
                          <m:t>𝑿</m:t>
                        </m:r>
                      </m:e>
                      <m:sub>
                        <m:r>
                          <a:rPr lang="en-NZ" altLang="ja-JP" sz="1600" b="1" i="1">
                            <a:solidFill>
                              <a:schemeClr val="tx1"/>
                            </a:solidFill>
                            <a:latin typeface="Cambria Math" panose="02040503050406030204" pitchFamily="18" charset="0"/>
                          </a:rPr>
                          <m:t>𝟏</m:t>
                        </m:r>
                      </m:sub>
                      <m:sup>
                        <m:d>
                          <m:dPr>
                            <m:ctrlPr>
                              <a:rPr lang="en-NZ" altLang="ja-JP" sz="1600" b="1" i="1">
                                <a:solidFill>
                                  <a:schemeClr val="tx1"/>
                                </a:solidFill>
                                <a:latin typeface="Cambria Math" panose="02040503050406030204" pitchFamily="18" charset="0"/>
                              </a:rPr>
                            </m:ctrlPr>
                          </m:dPr>
                          <m:e>
                            <m:r>
                              <a:rPr lang="en-NZ" altLang="ja-JP" sz="1600" b="1" i="1">
                                <a:solidFill>
                                  <a:schemeClr val="tx1"/>
                                </a:solidFill>
                                <a:latin typeface="Cambria Math" panose="02040503050406030204" pitchFamily="18" charset="0"/>
                              </a:rPr>
                              <m:t>𝒕</m:t>
                            </m:r>
                          </m:e>
                        </m:d>
                      </m:sup>
                    </m:sSubSup>
                  </m:oMath>
                </a14:m>
                <a:r>
                  <a:rPr lang="en-NZ" altLang="ja-JP" sz="1600" dirty="0">
                    <a:solidFill>
                      <a:schemeClr val="tx1"/>
                    </a:solidFill>
                  </a:rPr>
                  <a:t> and </a:t>
                </a:r>
                <a14:m>
                  <m:oMath xmlns:m="http://schemas.openxmlformats.org/officeDocument/2006/math">
                    <m:sSubSup>
                      <m:sSubSupPr>
                        <m:ctrlPr>
                          <a:rPr lang="en-NZ" altLang="ja-JP" sz="1600" b="1" i="1">
                            <a:solidFill>
                              <a:schemeClr val="tx1"/>
                            </a:solidFill>
                            <a:latin typeface="Cambria Math" panose="02040503050406030204" pitchFamily="18" charset="0"/>
                          </a:rPr>
                        </m:ctrlPr>
                      </m:sSubSupPr>
                      <m:e>
                        <m:r>
                          <a:rPr lang="en-NZ" altLang="ja-JP" sz="1600" b="1" i="1">
                            <a:solidFill>
                              <a:schemeClr val="tx1"/>
                            </a:solidFill>
                            <a:latin typeface="Cambria Math" panose="02040503050406030204" pitchFamily="18" charset="0"/>
                          </a:rPr>
                          <m:t>𝑿</m:t>
                        </m:r>
                      </m:e>
                      <m:sub>
                        <m:r>
                          <a:rPr lang="en-NZ" altLang="ja-JP" sz="1600" b="1" i="1" smtClean="0">
                            <a:solidFill>
                              <a:schemeClr val="tx1"/>
                            </a:solidFill>
                            <a:latin typeface="Cambria Math" panose="02040503050406030204" pitchFamily="18" charset="0"/>
                          </a:rPr>
                          <m:t>𝟐</m:t>
                        </m:r>
                      </m:sub>
                      <m:sup>
                        <m:d>
                          <m:dPr>
                            <m:ctrlPr>
                              <a:rPr lang="en-NZ" altLang="ja-JP" sz="1600" b="1" i="1">
                                <a:solidFill>
                                  <a:schemeClr val="tx1"/>
                                </a:solidFill>
                                <a:latin typeface="Cambria Math" panose="02040503050406030204" pitchFamily="18" charset="0"/>
                              </a:rPr>
                            </m:ctrlPr>
                          </m:dPr>
                          <m:e>
                            <m:r>
                              <a:rPr lang="en-NZ" altLang="ja-JP" sz="1600" b="1" i="1">
                                <a:solidFill>
                                  <a:schemeClr val="tx1"/>
                                </a:solidFill>
                                <a:latin typeface="Cambria Math" panose="02040503050406030204" pitchFamily="18" charset="0"/>
                              </a:rPr>
                              <m:t>𝒕</m:t>
                            </m:r>
                          </m:e>
                        </m:d>
                      </m:sup>
                    </m:sSubSup>
                  </m:oMath>
                </a14:m>
                <a:r>
                  <a:rPr lang="en-NZ" altLang="ja-JP" sz="1600" dirty="0">
                    <a:solidFill>
                      <a:schemeClr val="tx1"/>
                    </a:solidFill>
                  </a:rPr>
                  <a:t> separately. </a:t>
                </a:r>
              </a:p>
            </p:txBody>
          </p:sp>
        </mc:Choice>
        <mc:Fallback xmlns="">
          <p:sp>
            <p:nvSpPr>
              <p:cNvPr id="29" name="Text Placeholder 5">
                <a:extLst>
                  <a:ext uri="{FF2B5EF4-FFF2-40B4-BE49-F238E27FC236}">
                    <a16:creationId xmlns:a16="http://schemas.microsoft.com/office/drawing/2014/main" id="{F3B84313-B2DB-46CB-46BE-79E035FA9C64}"/>
                  </a:ext>
                </a:extLst>
              </p:cNvPr>
              <p:cNvSpPr txBox="1">
                <a:spLocks noRot="1" noChangeAspect="1" noMove="1" noResize="1" noEditPoints="1" noAdjustHandles="1" noChangeArrowheads="1" noChangeShapeType="1" noTextEdit="1"/>
              </p:cNvSpPr>
              <p:nvPr/>
            </p:nvSpPr>
            <p:spPr>
              <a:xfrm>
                <a:off x="6638376" y="2097403"/>
                <a:ext cx="5289696" cy="697232"/>
              </a:xfrm>
              <a:prstGeom prst="rect">
                <a:avLst/>
              </a:prstGeom>
              <a:blipFill>
                <a:blip r:embed="rId6"/>
                <a:stretch>
                  <a:fillRect l="-691" t="-2632" b="-2632"/>
                </a:stretch>
              </a:blipFill>
            </p:spPr>
            <p:txBody>
              <a:bodyPr/>
              <a:lstStyle/>
              <a:p>
                <a:r>
                  <a:rPr lang="en-NZ">
                    <a:noFill/>
                  </a:rPr>
                  <a:t> </a:t>
                </a:r>
              </a:p>
            </p:txBody>
          </p:sp>
        </mc:Fallback>
      </mc:AlternateContent>
      <p:sp>
        <p:nvSpPr>
          <p:cNvPr id="30" name="Text Placeholder 5">
            <a:extLst>
              <a:ext uri="{FF2B5EF4-FFF2-40B4-BE49-F238E27FC236}">
                <a16:creationId xmlns:a16="http://schemas.microsoft.com/office/drawing/2014/main" id="{97F49BAC-D646-7BD1-3BD2-3F57AEC9AEC2}"/>
              </a:ext>
            </a:extLst>
          </p:cNvPr>
          <p:cNvSpPr txBox="1">
            <a:spLocks/>
          </p:cNvSpPr>
          <p:nvPr/>
        </p:nvSpPr>
        <p:spPr>
          <a:xfrm>
            <a:off x="6637142" y="2791867"/>
            <a:ext cx="5289696"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600" dirty="0">
                <a:solidFill>
                  <a:schemeClr val="tx1"/>
                </a:solidFill>
              </a:rPr>
              <a:t>Time series plots show quick convergence and speedy traversing of the state space (good mixing).</a:t>
            </a:r>
          </a:p>
        </p:txBody>
      </p:sp>
      <p:sp>
        <p:nvSpPr>
          <p:cNvPr id="31" name="Text Placeholder 5">
            <a:extLst>
              <a:ext uri="{FF2B5EF4-FFF2-40B4-BE49-F238E27FC236}">
                <a16:creationId xmlns:a16="http://schemas.microsoft.com/office/drawing/2014/main" id="{9D6DA303-AD34-AF41-6B9B-68CF74BC1706}"/>
              </a:ext>
            </a:extLst>
          </p:cNvPr>
          <p:cNvSpPr txBox="1">
            <a:spLocks/>
          </p:cNvSpPr>
          <p:nvPr/>
        </p:nvSpPr>
        <p:spPr>
          <a:xfrm>
            <a:off x="6638377" y="3486331"/>
            <a:ext cx="5389850" cy="47461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600" dirty="0">
                <a:solidFill>
                  <a:schemeClr val="tx1"/>
                </a:solidFill>
              </a:rPr>
              <a:t>Auto-correlation plots show low correlation for high lag values</a:t>
            </a:r>
          </a:p>
        </p:txBody>
      </p:sp>
      <mc:AlternateContent xmlns:mc="http://schemas.openxmlformats.org/markup-compatibility/2006" xmlns:a14="http://schemas.microsoft.com/office/drawing/2010/main">
        <mc:Choice Requires="a14">
          <p:sp>
            <p:nvSpPr>
              <p:cNvPr id="32" name="Text Placeholder 5">
                <a:extLst>
                  <a:ext uri="{FF2B5EF4-FFF2-40B4-BE49-F238E27FC236}">
                    <a16:creationId xmlns:a16="http://schemas.microsoft.com/office/drawing/2014/main" id="{5BC7F576-E938-D9E8-345B-BCBB0F5E2EB7}"/>
                  </a:ext>
                </a:extLst>
              </p:cNvPr>
              <p:cNvSpPr txBox="1">
                <a:spLocks/>
              </p:cNvSpPr>
              <p:nvPr/>
            </p:nvSpPr>
            <p:spPr>
              <a:xfrm>
                <a:off x="6637142" y="4242507"/>
                <a:ext cx="5289696"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600" dirty="0">
                    <a:solidFill>
                      <a:schemeClr val="tx1"/>
                    </a:solidFill>
                  </a:rPr>
                  <a:t>Mean vector of sample of observations produced</a:t>
                </a:r>
              </a:p>
              <a:p>
                <a:pPr lvl="0">
                  <a:lnSpc>
                    <a:spcPct val="100000"/>
                  </a:lnSpc>
                  <a:defRPr/>
                </a:pPr>
                <a14:m>
                  <m:oMathPara xmlns:m="http://schemas.openxmlformats.org/officeDocument/2006/math">
                    <m:oMathParaPr>
                      <m:jc m:val="centerGroup"/>
                    </m:oMathParaPr>
                    <m:oMath xmlns:m="http://schemas.openxmlformats.org/officeDocument/2006/math">
                      <m:acc>
                        <m:accPr>
                          <m:chr m:val="̂"/>
                          <m:ctrlPr>
                            <a:rPr lang="en-NZ" altLang="ja-JP" sz="1600" b="1" i="1" smtClean="0">
                              <a:solidFill>
                                <a:schemeClr val="tx1"/>
                              </a:solidFill>
                              <a:latin typeface="Cambria Math" panose="02040503050406030204" pitchFamily="18" charset="0"/>
                            </a:rPr>
                          </m:ctrlPr>
                        </m:accPr>
                        <m:e>
                          <m:r>
                            <a:rPr lang="en-NZ" altLang="ja-JP" sz="1600" b="1" i="1" smtClean="0">
                              <a:solidFill>
                                <a:schemeClr val="tx1"/>
                              </a:solidFill>
                              <a:latin typeface="Cambria Math" panose="02040503050406030204" pitchFamily="18" charset="0"/>
                            </a:rPr>
                            <m:t>𝝁</m:t>
                          </m:r>
                        </m:e>
                      </m:acc>
                      <m:r>
                        <a:rPr lang="en-NZ" altLang="ja-JP" sz="1600" b="1" i="1" smtClean="0">
                          <a:solidFill>
                            <a:schemeClr val="tx1"/>
                          </a:solidFill>
                          <a:latin typeface="Cambria Math" panose="02040503050406030204" pitchFamily="18" charset="0"/>
                        </a:rPr>
                        <m:t>= </m:t>
                      </m:r>
                      <m:d>
                        <m:dPr>
                          <m:ctrlPr>
                            <a:rPr lang="en-NZ" altLang="ja-JP" sz="1600" b="1" i="1" smtClean="0">
                              <a:solidFill>
                                <a:schemeClr val="tx1"/>
                              </a:solidFill>
                              <a:latin typeface="Cambria Math" panose="02040503050406030204" pitchFamily="18" charset="0"/>
                            </a:rPr>
                          </m:ctrlPr>
                        </m:dPr>
                        <m:e>
                          <m:m>
                            <m:mPr>
                              <m:mcs>
                                <m:mc>
                                  <m:mcPr>
                                    <m:count m:val="2"/>
                                    <m:mcJc m:val="center"/>
                                  </m:mcPr>
                                </m:mc>
                              </m:mcs>
                              <m:ctrlPr>
                                <a:rPr lang="en-NZ" altLang="ja-JP" sz="1600" b="1" i="1" smtClean="0">
                                  <a:solidFill>
                                    <a:schemeClr val="tx1"/>
                                  </a:solidFill>
                                  <a:latin typeface="Cambria Math" panose="02040503050406030204" pitchFamily="18" charset="0"/>
                                </a:rPr>
                              </m:ctrlPr>
                            </m:mPr>
                            <m:mr>
                              <m:e>
                                <m:r>
                                  <m:rPr>
                                    <m:brk m:alnAt="7"/>
                                  </m:rPr>
                                  <a:rPr lang="en-NZ" altLang="ja-JP" sz="1600" b="1" i="1" smtClean="0">
                                    <a:solidFill>
                                      <a:schemeClr val="tx1"/>
                                    </a:solidFill>
                                    <a:latin typeface="Cambria Math" panose="02040503050406030204" pitchFamily="18" charset="0"/>
                                  </a:rPr>
                                  <m:t>𝟐</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𝟗𝟕</m:t>
                                </m:r>
                                <m:r>
                                  <a:rPr lang="en-NZ" altLang="ja-JP" sz="1600" b="1" i="1" smtClean="0">
                                    <a:solidFill>
                                      <a:schemeClr val="tx1"/>
                                    </a:solidFill>
                                    <a:latin typeface="Cambria Math" panose="02040503050406030204" pitchFamily="18" charset="0"/>
                                  </a:rPr>
                                  <m:t>,</m:t>
                                </m:r>
                              </m:e>
                              <m:e>
                                <m:r>
                                  <a:rPr lang="en-NZ" altLang="ja-JP" sz="1600" b="1" i="1" smtClean="0">
                                    <a:solidFill>
                                      <a:schemeClr val="tx1"/>
                                    </a:solidFill>
                                    <a:latin typeface="Cambria Math" panose="02040503050406030204" pitchFamily="18" charset="0"/>
                                  </a:rPr>
                                  <m:t>𝟏</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𝟎𝟐</m:t>
                                </m:r>
                              </m:e>
                            </m:mr>
                          </m:m>
                        </m:e>
                      </m:d>
                    </m:oMath>
                  </m:oMathPara>
                </a14:m>
                <a:endParaRPr lang="en-NZ" altLang="ja-JP" sz="1600" b="1" dirty="0">
                  <a:solidFill>
                    <a:schemeClr val="tx1"/>
                  </a:solidFill>
                </a:endParaRPr>
              </a:p>
            </p:txBody>
          </p:sp>
        </mc:Choice>
        <mc:Fallback xmlns="">
          <p:sp>
            <p:nvSpPr>
              <p:cNvPr id="32" name="Text Placeholder 5">
                <a:extLst>
                  <a:ext uri="{FF2B5EF4-FFF2-40B4-BE49-F238E27FC236}">
                    <a16:creationId xmlns:a16="http://schemas.microsoft.com/office/drawing/2014/main" id="{5BC7F576-E938-D9E8-345B-BCBB0F5E2EB7}"/>
                  </a:ext>
                </a:extLst>
              </p:cNvPr>
              <p:cNvSpPr txBox="1">
                <a:spLocks noRot="1" noChangeAspect="1" noMove="1" noResize="1" noEditPoints="1" noAdjustHandles="1" noChangeArrowheads="1" noChangeShapeType="1" noTextEdit="1"/>
              </p:cNvSpPr>
              <p:nvPr/>
            </p:nvSpPr>
            <p:spPr>
              <a:xfrm>
                <a:off x="6637142" y="4242507"/>
                <a:ext cx="5289696" cy="675343"/>
              </a:xfrm>
              <a:prstGeom prst="rect">
                <a:avLst/>
              </a:prstGeom>
              <a:blipFill>
                <a:blip r:embed="rId7"/>
                <a:stretch>
                  <a:fillRect l="-691" t="-2703"/>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3" name="Text Placeholder 5">
                <a:extLst>
                  <a:ext uri="{FF2B5EF4-FFF2-40B4-BE49-F238E27FC236}">
                    <a16:creationId xmlns:a16="http://schemas.microsoft.com/office/drawing/2014/main" id="{D9CC0DB8-115C-C313-1EDC-9641E10F95A6}"/>
                  </a:ext>
                </a:extLst>
              </p:cNvPr>
              <p:cNvSpPr txBox="1">
                <a:spLocks/>
              </p:cNvSpPr>
              <p:nvPr/>
            </p:nvSpPr>
            <p:spPr>
              <a:xfrm>
                <a:off x="6637142" y="4914533"/>
                <a:ext cx="5289696" cy="81528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600" dirty="0">
                    <a:solidFill>
                      <a:schemeClr val="tx1"/>
                    </a:solidFill>
                  </a:rPr>
                  <a:t>Covariance matrix of sample of observations produced</a:t>
                </a:r>
              </a:p>
              <a:p>
                <a:pPr lvl="0">
                  <a:lnSpc>
                    <a:spcPct val="100000"/>
                  </a:lnSpc>
                  <a:defRPr/>
                </a:pPr>
                <a14:m>
                  <m:oMathPara xmlns:m="http://schemas.openxmlformats.org/officeDocument/2006/math">
                    <m:oMathParaPr>
                      <m:jc m:val="centerGroup"/>
                    </m:oMathParaPr>
                    <m:oMath xmlns:m="http://schemas.openxmlformats.org/officeDocument/2006/math">
                      <m:r>
                        <a:rPr lang="en-NZ" altLang="ja-JP" sz="1600" b="1" i="1" smtClean="0">
                          <a:solidFill>
                            <a:schemeClr val="tx1"/>
                          </a:solidFill>
                          <a:latin typeface="Cambria Math" panose="02040503050406030204" pitchFamily="18" charset="0"/>
                        </a:rPr>
                        <m:t> </m:t>
                      </m:r>
                      <m:acc>
                        <m:accPr>
                          <m:chr m:val="̂"/>
                          <m:ctrlPr>
                            <a:rPr lang="en-NZ" altLang="ja-JP" sz="1600" b="1" i="1" smtClean="0">
                              <a:solidFill>
                                <a:schemeClr val="tx1"/>
                              </a:solidFill>
                              <a:latin typeface="Cambria Math" panose="02040503050406030204" pitchFamily="18" charset="0"/>
                            </a:rPr>
                          </m:ctrlPr>
                        </m:accPr>
                        <m:e>
                          <m:r>
                            <a:rPr lang="en-NZ" altLang="ja-JP" sz="1600" b="1" i="0" smtClean="0">
                              <a:solidFill>
                                <a:schemeClr val="tx1"/>
                              </a:solidFill>
                              <a:latin typeface="Cambria Math" panose="02040503050406030204" pitchFamily="18" charset="0"/>
                            </a:rPr>
                            <m:t>𝚺</m:t>
                          </m:r>
                        </m:e>
                      </m:acc>
                      <m:r>
                        <a:rPr lang="en-NZ" altLang="ja-JP" sz="1600" b="1" i="1">
                          <a:solidFill>
                            <a:schemeClr val="tx1"/>
                          </a:solidFill>
                          <a:latin typeface="Cambria Math" panose="02040503050406030204" pitchFamily="18" charset="0"/>
                        </a:rPr>
                        <m:t>= </m:t>
                      </m:r>
                      <m:d>
                        <m:dPr>
                          <m:begChr m:val="["/>
                          <m:endChr m:val="]"/>
                          <m:ctrlPr>
                            <a:rPr lang="en-NZ" altLang="ja-JP" sz="1600" b="1" i="1">
                              <a:solidFill>
                                <a:schemeClr val="tx1"/>
                              </a:solidFill>
                              <a:latin typeface="Cambria Math" panose="02040503050406030204" pitchFamily="18" charset="0"/>
                            </a:rPr>
                          </m:ctrlPr>
                        </m:dPr>
                        <m:e>
                          <m:m>
                            <m:mPr>
                              <m:mcs>
                                <m:mc>
                                  <m:mcPr>
                                    <m:count m:val="2"/>
                                    <m:mcJc m:val="center"/>
                                  </m:mcPr>
                                </m:mc>
                              </m:mcs>
                              <m:ctrlPr>
                                <a:rPr lang="en-NZ" altLang="ja-JP" sz="1600" b="1" i="1">
                                  <a:solidFill>
                                    <a:schemeClr val="tx1"/>
                                  </a:solidFill>
                                  <a:latin typeface="Cambria Math" panose="02040503050406030204" pitchFamily="18" charset="0"/>
                                </a:rPr>
                              </m:ctrlPr>
                            </m:mPr>
                            <m:mr>
                              <m:e>
                                <m:r>
                                  <m:rPr>
                                    <m:brk m:alnAt="7"/>
                                  </m:rP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𝟎</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𝟗𝟕</m:t>
                                </m:r>
                              </m:e>
                              <m:e>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𝟎</m:t>
                                </m:r>
                                <m:r>
                                  <a:rPr lang="en-NZ" altLang="ja-JP" sz="1600" b="1" i="1">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𝟒𝟓</m:t>
                                </m:r>
                              </m:e>
                            </m:mr>
                            <m:mr>
                              <m:e>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𝟎</m:t>
                                </m:r>
                                <m:r>
                                  <a:rPr lang="en-NZ" altLang="ja-JP" sz="1600" b="1" i="1">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𝟒𝟓</m:t>
                                </m:r>
                              </m:e>
                              <m:e>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𝟏</m:t>
                                </m:r>
                                <m:r>
                                  <a:rPr lang="en-NZ" altLang="ja-JP" sz="1600" b="1" i="1">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𝟗𝟎</m:t>
                                </m:r>
                              </m:e>
                            </m:mr>
                          </m:m>
                        </m:e>
                      </m:d>
                    </m:oMath>
                  </m:oMathPara>
                </a14:m>
                <a:endParaRPr lang="en-NZ" altLang="ja-JP" sz="1600" dirty="0">
                  <a:solidFill>
                    <a:schemeClr val="tx1"/>
                  </a:solidFill>
                </a:endParaRPr>
              </a:p>
            </p:txBody>
          </p:sp>
        </mc:Choice>
        <mc:Fallback xmlns="">
          <p:sp>
            <p:nvSpPr>
              <p:cNvPr id="33" name="Text Placeholder 5">
                <a:extLst>
                  <a:ext uri="{FF2B5EF4-FFF2-40B4-BE49-F238E27FC236}">
                    <a16:creationId xmlns:a16="http://schemas.microsoft.com/office/drawing/2014/main" id="{D9CC0DB8-115C-C313-1EDC-9641E10F95A6}"/>
                  </a:ext>
                </a:extLst>
              </p:cNvPr>
              <p:cNvSpPr txBox="1">
                <a:spLocks noRot="1" noChangeAspect="1" noMove="1" noResize="1" noEditPoints="1" noAdjustHandles="1" noChangeArrowheads="1" noChangeShapeType="1" noTextEdit="1"/>
              </p:cNvSpPr>
              <p:nvPr/>
            </p:nvSpPr>
            <p:spPr>
              <a:xfrm>
                <a:off x="6637142" y="4914533"/>
                <a:ext cx="5289696" cy="815285"/>
              </a:xfrm>
              <a:prstGeom prst="rect">
                <a:avLst/>
              </a:prstGeom>
              <a:blipFill>
                <a:blip r:embed="rId8"/>
                <a:stretch>
                  <a:fillRect l="-691" t="-2239"/>
                </a:stretch>
              </a:blipFill>
            </p:spPr>
            <p:txBody>
              <a:bodyPr/>
              <a:lstStyle/>
              <a:p>
                <a:r>
                  <a:rPr lang="en-NZ">
                    <a:noFill/>
                  </a:rPr>
                  <a:t> </a:t>
                </a:r>
              </a:p>
            </p:txBody>
          </p:sp>
        </mc:Fallback>
      </mc:AlternateContent>
      <p:sp>
        <p:nvSpPr>
          <p:cNvPr id="34" name="Text Placeholder 5">
            <a:extLst>
              <a:ext uri="{FF2B5EF4-FFF2-40B4-BE49-F238E27FC236}">
                <a16:creationId xmlns:a16="http://schemas.microsoft.com/office/drawing/2014/main" id="{F82A88B8-5101-FCEF-76D7-BFDAA5D8268C}"/>
              </a:ext>
            </a:extLst>
          </p:cNvPr>
          <p:cNvSpPr txBox="1">
            <a:spLocks/>
          </p:cNvSpPr>
          <p:nvPr/>
        </p:nvSpPr>
        <p:spPr>
          <a:xfrm>
            <a:off x="6637142" y="5668448"/>
            <a:ext cx="5289696" cy="61313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600" dirty="0">
                <a:solidFill>
                  <a:schemeClr val="tx1"/>
                </a:solidFill>
              </a:rPr>
              <a:t>Sample produced is a decent representation of target distribution.</a:t>
            </a:r>
          </a:p>
        </p:txBody>
      </p:sp>
      <p:sp>
        <p:nvSpPr>
          <p:cNvPr id="26" name="Text Placeholder 5">
            <a:extLst>
              <a:ext uri="{FF2B5EF4-FFF2-40B4-BE49-F238E27FC236}">
                <a16:creationId xmlns:a16="http://schemas.microsoft.com/office/drawing/2014/main" id="{AC107AD1-F01B-C000-813E-1292C954F562}"/>
              </a:ext>
            </a:extLst>
          </p:cNvPr>
          <p:cNvSpPr txBox="1">
            <a:spLocks/>
          </p:cNvSpPr>
          <p:nvPr/>
        </p:nvSpPr>
        <p:spPr>
          <a:xfrm>
            <a:off x="2345361" y="6488487"/>
            <a:ext cx="7501278" cy="28337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rPr>
              <a:t>Associated Code </a:t>
            </a:r>
            <a:r>
              <a:rPr kumimoji="1" lang="en-NZ" altLang="ja-JP" sz="1200" u="none" strike="noStrike" kern="1200" cap="none" spc="0" normalizeH="0" baseline="0" noProof="0">
                <a:ln>
                  <a:noFill/>
                </a:ln>
                <a:solidFill>
                  <a:srgbClr val="C00000"/>
                </a:solidFill>
                <a:effectLst/>
                <a:uLnTx/>
                <a:uFillTx/>
                <a:latin typeface="Calibri" panose="020F0502020204030204"/>
                <a:ea typeface="游ゴシック" panose="020B0400000000000000" pitchFamily="34" charset="-128"/>
              </a:rPr>
              <a:t>= 10 </a:t>
            </a:r>
            <a:r>
              <a:rPr kumimoji="1" lang="en-NZ"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rPr>
              <a:t>- Bivariate Normal Example (Convergence</a:t>
            </a:r>
            <a:r>
              <a:rPr kumimoji="1" lang="en-NZ" altLang="ja-JP" sz="1200" u="none" strike="noStrike" kern="1200" cap="none" spc="0" normalizeH="0" noProof="0" dirty="0">
                <a:ln>
                  <a:noFill/>
                </a:ln>
                <a:solidFill>
                  <a:srgbClr val="C00000"/>
                </a:solidFill>
                <a:effectLst/>
                <a:uLnTx/>
                <a:uFillTx/>
                <a:latin typeface="Calibri" panose="020F0502020204030204"/>
                <a:ea typeface="游ゴシック" panose="020B0400000000000000" pitchFamily="34" charset="-128"/>
              </a:rPr>
              <a:t> Tests</a:t>
            </a:r>
            <a:r>
              <a:rPr kumimoji="1" lang="en-NZ"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rPr>
              <a:t>)</a:t>
            </a:r>
            <a:endParaRPr kumimoji="1" lang="en-US"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p:spTree>
    <p:extLst>
      <p:ext uri="{BB962C8B-B14F-4D97-AF65-F5344CB8AC3E}">
        <p14:creationId xmlns:p14="http://schemas.microsoft.com/office/powerpoint/2010/main" val="8542663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4" name="Title 6">
            <a:extLst>
              <a:ext uri="{FF2B5EF4-FFF2-40B4-BE49-F238E27FC236}">
                <a16:creationId xmlns:a16="http://schemas.microsoft.com/office/drawing/2014/main" id="{18EFAA1F-58F5-B8DC-5203-016AF3661A4C}"/>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10.2 – Summary Statistics</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5" name="Footer Placeholder 2">
            <a:extLst>
              <a:ext uri="{FF2B5EF4-FFF2-40B4-BE49-F238E27FC236}">
                <a16:creationId xmlns:a16="http://schemas.microsoft.com/office/drawing/2014/main" id="{CE1BC482-63C5-C7CB-8FB1-F710CF896763}"/>
              </a:ext>
            </a:extLst>
          </p:cNvPr>
          <p:cNvSpPr txBox="1">
            <a:spLocks/>
          </p:cNvSpPr>
          <p:nvPr/>
        </p:nvSpPr>
        <p:spPr>
          <a:xfrm>
            <a:off x="8993875" y="86139"/>
            <a:ext cx="309549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10.2 – Summary Statistics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28" name="Text Placeholder 5">
            <a:extLst>
              <a:ext uri="{FF2B5EF4-FFF2-40B4-BE49-F238E27FC236}">
                <a16:creationId xmlns:a16="http://schemas.microsoft.com/office/drawing/2014/main" id="{729DF4EC-9CD7-0E3D-91FD-3640386B864B}"/>
              </a:ext>
            </a:extLst>
          </p:cNvPr>
          <p:cNvSpPr txBox="1">
            <a:spLocks/>
          </p:cNvSpPr>
          <p:nvPr/>
        </p:nvSpPr>
        <p:spPr>
          <a:xfrm>
            <a:off x="560726" y="917216"/>
            <a:ext cx="4101459" cy="1695826"/>
          </a:xfrm>
          <a:prstGeom prst="rect">
            <a:avLst/>
          </a:prstGeom>
          <a:solidFill>
            <a:schemeClr val="accent5">
              <a:lumMod val="20000"/>
              <a:lumOff val="80000"/>
            </a:schemeClr>
          </a:solid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US" altLang="ja-JP" sz="1400" dirty="0">
                <a:solidFill>
                  <a:srgbClr val="00B050"/>
                </a:solidFill>
              </a:rPr>
              <a:t># </a:t>
            </a:r>
            <a:r>
              <a:rPr lang="en-NZ" altLang="ja-JP" sz="1400" dirty="0">
                <a:solidFill>
                  <a:srgbClr val="00B050"/>
                </a:solidFill>
              </a:rPr>
              <a:t>2.1i - Convert the chain into an MCMC object, using the coda package function </a:t>
            </a:r>
          </a:p>
          <a:p>
            <a:pPr lvl="0">
              <a:lnSpc>
                <a:spcPct val="100000"/>
              </a:lnSpc>
              <a:defRPr/>
            </a:pPr>
            <a:r>
              <a:rPr lang="en-NZ" altLang="ja-JP" sz="1400" dirty="0">
                <a:solidFill>
                  <a:srgbClr val="0070C0"/>
                </a:solidFill>
              </a:rPr>
              <a:t>library</a:t>
            </a:r>
            <a:r>
              <a:rPr lang="en-NZ" altLang="ja-JP" sz="1400" dirty="0">
                <a:solidFill>
                  <a:prstClr val="black"/>
                </a:solidFill>
              </a:rPr>
              <a:t>(coda)</a:t>
            </a:r>
          </a:p>
          <a:p>
            <a:pPr lvl="0">
              <a:lnSpc>
                <a:spcPct val="100000"/>
              </a:lnSpc>
              <a:defRPr/>
            </a:pPr>
            <a:r>
              <a:rPr lang="en-NZ" altLang="ja-JP" sz="1400" dirty="0">
                <a:solidFill>
                  <a:prstClr val="black"/>
                </a:solidFill>
              </a:rPr>
              <a:t>post_burn0 &lt;- </a:t>
            </a:r>
            <a:r>
              <a:rPr lang="en-NZ" altLang="ja-JP" sz="1400" dirty="0" err="1">
                <a:solidFill>
                  <a:prstClr val="black"/>
                </a:solidFill>
              </a:rPr>
              <a:t>mcmc</a:t>
            </a:r>
            <a:r>
              <a:rPr lang="en-NZ" altLang="ja-JP" sz="1400" dirty="0">
                <a:solidFill>
                  <a:prstClr val="black"/>
                </a:solidFill>
              </a:rPr>
              <a:t>(</a:t>
            </a:r>
            <a:r>
              <a:rPr lang="en-NZ" altLang="ja-JP" sz="1400" dirty="0" err="1">
                <a:solidFill>
                  <a:prstClr val="black"/>
                </a:solidFill>
              </a:rPr>
              <a:t>post_burn</a:t>
            </a:r>
            <a:r>
              <a:rPr lang="en-NZ" altLang="ja-JP" sz="1400" dirty="0">
                <a:solidFill>
                  <a:prstClr val="black"/>
                </a:solidFill>
              </a:rPr>
              <a:t>)</a:t>
            </a:r>
          </a:p>
          <a:p>
            <a:pPr lvl="0">
              <a:lnSpc>
                <a:spcPct val="100000"/>
              </a:lnSpc>
              <a:defRPr/>
            </a:pPr>
            <a:endParaRPr kumimoji="1" lang="en-NZ" altLang="ja-JP" sz="14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lvl="0">
              <a:lnSpc>
                <a:spcPct val="100000"/>
              </a:lnSpc>
              <a:defRPr/>
            </a:pPr>
            <a:r>
              <a:rPr lang="en-US" altLang="ja-JP" sz="1400" dirty="0">
                <a:solidFill>
                  <a:srgbClr val="00B050"/>
                </a:solidFill>
              </a:rPr>
              <a:t># </a:t>
            </a:r>
            <a:r>
              <a:rPr lang="en-NZ" altLang="ja-JP" sz="1400" dirty="0">
                <a:solidFill>
                  <a:srgbClr val="00B050"/>
                </a:solidFill>
              </a:rPr>
              <a:t>2.1j - Produce summary statistics</a:t>
            </a:r>
          </a:p>
          <a:p>
            <a:pPr lvl="0">
              <a:lnSpc>
                <a:spcPct val="100000"/>
              </a:lnSpc>
              <a:defRPr/>
            </a:pPr>
            <a:r>
              <a:rPr lang="en-NZ" altLang="ja-JP" sz="1400" dirty="0">
                <a:solidFill>
                  <a:prstClr val="black"/>
                </a:solidFill>
              </a:rPr>
              <a:t>summary(post_burn0)</a:t>
            </a:r>
            <a:endParaRPr kumimoji="1" lang="en-US" altLang="ja-JP" sz="14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p:sp>
        <p:nvSpPr>
          <p:cNvPr id="35" name="Text Placeholder 5">
            <a:extLst>
              <a:ext uri="{FF2B5EF4-FFF2-40B4-BE49-F238E27FC236}">
                <a16:creationId xmlns:a16="http://schemas.microsoft.com/office/drawing/2014/main" id="{61D0A1CA-0CEB-EC51-FE43-63B84F7CAB90}"/>
              </a:ext>
            </a:extLst>
          </p:cNvPr>
          <p:cNvSpPr txBox="1">
            <a:spLocks/>
          </p:cNvSpPr>
          <p:nvPr/>
        </p:nvSpPr>
        <p:spPr>
          <a:xfrm>
            <a:off x="460336" y="917216"/>
            <a:ext cx="100390" cy="1695826"/>
          </a:xfrm>
          <a:prstGeom prst="rect">
            <a:avLst/>
          </a:prstGeom>
          <a:solidFill>
            <a:srgbClr val="002060"/>
          </a:solid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endParaRPr kumimoji="1" lang="en-US" altLang="ja-JP" sz="14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p:sp>
        <p:nvSpPr>
          <p:cNvPr id="36" name="Text Placeholder 5">
            <a:extLst>
              <a:ext uri="{FF2B5EF4-FFF2-40B4-BE49-F238E27FC236}">
                <a16:creationId xmlns:a16="http://schemas.microsoft.com/office/drawing/2014/main" id="{39DD1E82-EA64-138D-0910-EDFF78FCBA83}"/>
              </a:ext>
            </a:extLst>
          </p:cNvPr>
          <p:cNvSpPr txBox="1">
            <a:spLocks/>
          </p:cNvSpPr>
          <p:nvPr/>
        </p:nvSpPr>
        <p:spPr>
          <a:xfrm>
            <a:off x="460336" y="2726167"/>
            <a:ext cx="4201849" cy="3456489"/>
          </a:xfrm>
          <a:prstGeom prst="rect">
            <a:avLst/>
          </a:prstGeom>
          <a:solidFill>
            <a:schemeClr val="bg1">
              <a:lumMod val="95000"/>
            </a:schemeClr>
          </a:solid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300" i="1" dirty="0">
                <a:solidFill>
                  <a:schemeClr val="tx1"/>
                </a:solidFill>
              </a:rPr>
              <a:t>Iterations = 1:9000</a:t>
            </a:r>
          </a:p>
          <a:p>
            <a:pPr lvl="0">
              <a:lnSpc>
                <a:spcPct val="100000"/>
              </a:lnSpc>
              <a:defRPr/>
            </a:pPr>
            <a:r>
              <a:rPr lang="en-NZ" altLang="ja-JP" sz="1300" i="1" dirty="0">
                <a:solidFill>
                  <a:schemeClr val="tx1"/>
                </a:solidFill>
              </a:rPr>
              <a:t>Thinning interval = 1 </a:t>
            </a:r>
          </a:p>
          <a:p>
            <a:pPr lvl="0">
              <a:lnSpc>
                <a:spcPct val="100000"/>
              </a:lnSpc>
              <a:defRPr/>
            </a:pPr>
            <a:r>
              <a:rPr lang="en-NZ" altLang="ja-JP" sz="1300" i="1" dirty="0">
                <a:solidFill>
                  <a:schemeClr val="tx1"/>
                </a:solidFill>
              </a:rPr>
              <a:t>Number of chains = 1 </a:t>
            </a:r>
          </a:p>
          <a:p>
            <a:pPr lvl="0">
              <a:lnSpc>
                <a:spcPct val="100000"/>
              </a:lnSpc>
              <a:defRPr/>
            </a:pPr>
            <a:r>
              <a:rPr lang="en-NZ" altLang="ja-JP" sz="1300" i="1" dirty="0">
                <a:solidFill>
                  <a:schemeClr val="tx1"/>
                </a:solidFill>
              </a:rPr>
              <a:t>Sample size per chain = 9000 </a:t>
            </a:r>
          </a:p>
          <a:p>
            <a:pPr lvl="0">
              <a:lnSpc>
                <a:spcPct val="100000"/>
              </a:lnSpc>
              <a:defRPr/>
            </a:pPr>
            <a:endParaRPr lang="en-NZ" altLang="ja-JP" sz="1300" i="1" dirty="0">
              <a:solidFill>
                <a:schemeClr val="tx1"/>
              </a:solidFill>
            </a:endParaRPr>
          </a:p>
          <a:p>
            <a:pPr lvl="0">
              <a:lnSpc>
                <a:spcPct val="100000"/>
              </a:lnSpc>
              <a:defRPr/>
            </a:pPr>
            <a:r>
              <a:rPr lang="en-NZ" altLang="ja-JP" sz="1300" b="1" i="1" dirty="0">
                <a:solidFill>
                  <a:schemeClr val="tx1"/>
                </a:solidFill>
              </a:rPr>
              <a:t>1. Empirical mean and standard deviation for each variable plus standard error of the mean:</a:t>
            </a:r>
          </a:p>
          <a:p>
            <a:pPr lvl="0">
              <a:lnSpc>
                <a:spcPct val="100000"/>
              </a:lnSpc>
              <a:defRPr/>
            </a:pPr>
            <a:endParaRPr lang="en-NZ" altLang="ja-JP" sz="200" i="1" dirty="0">
              <a:solidFill>
                <a:schemeClr val="tx1"/>
              </a:solidFill>
            </a:endParaRPr>
          </a:p>
          <a:p>
            <a:pPr lvl="0">
              <a:lnSpc>
                <a:spcPct val="100000"/>
              </a:lnSpc>
              <a:defRPr/>
            </a:pPr>
            <a:endParaRPr lang="en-NZ" altLang="ja-JP" sz="200" i="1" dirty="0">
              <a:solidFill>
                <a:schemeClr val="tx1"/>
              </a:solidFill>
            </a:endParaRPr>
          </a:p>
          <a:p>
            <a:pPr lvl="0">
              <a:lnSpc>
                <a:spcPct val="100000"/>
              </a:lnSpc>
              <a:defRPr/>
            </a:pPr>
            <a:r>
              <a:rPr lang="en-NZ" altLang="ja-JP" sz="1300" i="1" dirty="0">
                <a:solidFill>
                  <a:schemeClr val="tx1"/>
                </a:solidFill>
              </a:rPr>
              <a:t>        Mean    SD            Naive SE       Time-series SE</a:t>
            </a:r>
          </a:p>
          <a:p>
            <a:pPr lvl="0">
              <a:lnSpc>
                <a:spcPct val="100000"/>
              </a:lnSpc>
              <a:defRPr/>
            </a:pPr>
            <a:r>
              <a:rPr lang="en-NZ" altLang="ja-JP" sz="1300" i="1" dirty="0">
                <a:solidFill>
                  <a:schemeClr val="tx1"/>
                </a:solidFill>
              </a:rPr>
              <a:t>[1,]  2.97      0.9833     0.01036        0.03257</a:t>
            </a:r>
          </a:p>
          <a:p>
            <a:pPr lvl="0">
              <a:lnSpc>
                <a:spcPct val="100000"/>
              </a:lnSpc>
              <a:defRPr/>
            </a:pPr>
            <a:r>
              <a:rPr lang="en-NZ" altLang="ja-JP" sz="1300" i="1" dirty="0">
                <a:solidFill>
                  <a:schemeClr val="tx1"/>
                </a:solidFill>
              </a:rPr>
              <a:t>[2,]  1.02      1.3793     0.01454        0.04637</a:t>
            </a:r>
          </a:p>
          <a:p>
            <a:pPr lvl="0">
              <a:lnSpc>
                <a:spcPct val="100000"/>
              </a:lnSpc>
              <a:defRPr/>
            </a:pPr>
            <a:endParaRPr lang="en-NZ" altLang="ja-JP" sz="1300" i="1" dirty="0">
              <a:solidFill>
                <a:schemeClr val="tx1"/>
              </a:solidFill>
            </a:endParaRPr>
          </a:p>
          <a:p>
            <a:pPr lvl="0">
              <a:lnSpc>
                <a:spcPct val="100000"/>
              </a:lnSpc>
              <a:defRPr/>
            </a:pPr>
            <a:r>
              <a:rPr lang="en-NZ" altLang="ja-JP" sz="1300" b="1" i="1" dirty="0">
                <a:solidFill>
                  <a:schemeClr val="tx1"/>
                </a:solidFill>
              </a:rPr>
              <a:t>2. Quantiles for each variable:</a:t>
            </a:r>
          </a:p>
          <a:p>
            <a:pPr lvl="0">
              <a:lnSpc>
                <a:spcPct val="100000"/>
              </a:lnSpc>
              <a:defRPr/>
            </a:pPr>
            <a:endParaRPr lang="en-NZ" altLang="ja-JP" sz="200" i="1" dirty="0">
              <a:solidFill>
                <a:schemeClr val="tx1"/>
              </a:solidFill>
            </a:endParaRPr>
          </a:p>
          <a:p>
            <a:pPr lvl="0">
              <a:lnSpc>
                <a:spcPct val="100000"/>
              </a:lnSpc>
              <a:defRPr/>
            </a:pPr>
            <a:endParaRPr lang="en-NZ" altLang="ja-JP" sz="200" i="1" dirty="0">
              <a:solidFill>
                <a:schemeClr val="tx1"/>
              </a:solidFill>
            </a:endParaRPr>
          </a:p>
          <a:p>
            <a:pPr lvl="0">
              <a:lnSpc>
                <a:spcPct val="100000"/>
              </a:lnSpc>
              <a:defRPr/>
            </a:pPr>
            <a:r>
              <a:rPr lang="en-NZ" altLang="ja-JP" sz="1300" i="1" dirty="0">
                <a:solidFill>
                  <a:schemeClr val="tx1"/>
                </a:solidFill>
              </a:rPr>
              <a:t>           2.5%     25%       50%     75%      97.5%</a:t>
            </a:r>
          </a:p>
          <a:p>
            <a:pPr lvl="0">
              <a:lnSpc>
                <a:spcPct val="100000"/>
              </a:lnSpc>
              <a:defRPr/>
            </a:pPr>
            <a:r>
              <a:rPr lang="en-NZ" altLang="ja-JP" sz="1300" i="1" dirty="0">
                <a:solidFill>
                  <a:schemeClr val="tx1"/>
                </a:solidFill>
              </a:rPr>
              <a:t>var1   1.103   2.2877   2.967   3.627   4.964</a:t>
            </a:r>
          </a:p>
          <a:p>
            <a:pPr lvl="0">
              <a:lnSpc>
                <a:spcPct val="100000"/>
              </a:lnSpc>
              <a:defRPr/>
            </a:pPr>
            <a:r>
              <a:rPr lang="en-NZ" altLang="ja-JP" sz="1300" i="1" dirty="0">
                <a:solidFill>
                  <a:schemeClr val="tx1"/>
                </a:solidFill>
              </a:rPr>
              <a:t>var2  -1.648   0.0915  1.006   1.980   3.689</a:t>
            </a:r>
          </a:p>
        </p:txBody>
      </p:sp>
      <p:sp>
        <p:nvSpPr>
          <p:cNvPr id="38" name="Text Placeholder 5">
            <a:extLst>
              <a:ext uri="{FF2B5EF4-FFF2-40B4-BE49-F238E27FC236}">
                <a16:creationId xmlns:a16="http://schemas.microsoft.com/office/drawing/2014/main" id="{4A0C7041-80E2-0602-E073-27804A3189F5}"/>
              </a:ext>
            </a:extLst>
          </p:cNvPr>
          <p:cNvSpPr txBox="1">
            <a:spLocks/>
          </p:cNvSpPr>
          <p:nvPr/>
        </p:nvSpPr>
        <p:spPr>
          <a:xfrm>
            <a:off x="4897082" y="1063686"/>
            <a:ext cx="6734192" cy="87429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800" dirty="0">
                <a:solidFill>
                  <a:schemeClr val="tx1"/>
                </a:solidFill>
              </a:rPr>
              <a:t>Coda package summary statistics gives means, standard deviation and quantiles for each dimension of the sample of observations produced.</a:t>
            </a:r>
          </a:p>
        </p:txBody>
      </p:sp>
      <mc:AlternateContent xmlns:mc="http://schemas.openxmlformats.org/markup-compatibility/2006" xmlns:a14="http://schemas.microsoft.com/office/drawing/2010/main">
        <mc:Choice Requires="a14">
          <p:sp>
            <p:nvSpPr>
              <p:cNvPr id="39" name="Text Placeholder 5">
                <a:extLst>
                  <a:ext uri="{FF2B5EF4-FFF2-40B4-BE49-F238E27FC236}">
                    <a16:creationId xmlns:a16="http://schemas.microsoft.com/office/drawing/2014/main" id="{E0B36834-6B18-4F98-2EF8-6578A64FC7FE}"/>
                  </a:ext>
                </a:extLst>
              </p:cNvPr>
              <p:cNvSpPr txBox="1">
                <a:spLocks/>
              </p:cNvSpPr>
              <p:nvPr/>
            </p:nvSpPr>
            <p:spPr>
              <a:xfrm>
                <a:off x="4897082" y="2813163"/>
                <a:ext cx="6734192" cy="158694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800" b="1" dirty="0">
                    <a:solidFill>
                      <a:schemeClr val="tx1"/>
                    </a:solidFill>
                  </a:rPr>
                  <a:t>Naïve Standard Error </a:t>
                </a:r>
                <a:r>
                  <a:rPr lang="en-NZ" altLang="ja-JP" sz="1800" dirty="0">
                    <a:solidFill>
                      <a:schemeClr val="tx1"/>
                    </a:solidFill>
                  </a:rPr>
                  <a:t>is the standard error of the mean, i.e. the simulated standard error of the mean of the variable. It is calculated by:</a:t>
                </a:r>
                <a:endParaRPr lang="en-NZ" altLang="ja-JP" sz="1800" b="1" i="1" dirty="0">
                  <a:solidFill>
                    <a:schemeClr val="tx1"/>
                  </a:solidFill>
                  <a:latin typeface="Cambria Math" panose="02040503050406030204" pitchFamily="18" charset="0"/>
                </a:endParaRPr>
              </a:p>
              <a:p>
                <a:pPr lvl="0" algn="ctr">
                  <a:lnSpc>
                    <a:spcPct val="100000"/>
                  </a:lnSpc>
                  <a:defRPr/>
                </a:pPr>
                <a14:m>
                  <m:oMath xmlns:m="http://schemas.openxmlformats.org/officeDocument/2006/math">
                    <m:r>
                      <a:rPr lang="en-NZ" altLang="ja-JP" sz="1800" b="1" i="1" smtClean="0">
                        <a:solidFill>
                          <a:schemeClr val="tx1"/>
                        </a:solidFill>
                        <a:latin typeface="Cambria Math" panose="02040503050406030204" pitchFamily="18" charset="0"/>
                      </a:rPr>
                      <m:t>𝑵𝒂𝒊𝒗𝒆</m:t>
                    </m:r>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𝑺𝑬</m:t>
                    </m:r>
                    <m:r>
                      <a:rPr lang="en-NZ" altLang="ja-JP" sz="1800" b="1" i="1" smtClean="0">
                        <a:solidFill>
                          <a:schemeClr val="tx1"/>
                        </a:solidFill>
                        <a:latin typeface="Cambria Math" panose="02040503050406030204" pitchFamily="18" charset="0"/>
                      </a:rPr>
                      <m:t>= </m:t>
                    </m:r>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𝑺𝑫</m:t>
                        </m:r>
                      </m:num>
                      <m:den>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𝒏</m:t>
                        </m:r>
                      </m:den>
                    </m:f>
                  </m:oMath>
                </a14:m>
                <a:r>
                  <a:rPr lang="en-NZ" altLang="ja-JP" sz="1800" b="1" dirty="0">
                    <a:solidFill>
                      <a:schemeClr val="tx1"/>
                    </a:solidFill>
                  </a:rPr>
                  <a:t>     </a:t>
                </a:r>
                <a:r>
                  <a:rPr lang="en-NZ" altLang="ja-JP" sz="1800" dirty="0">
                    <a:solidFill>
                      <a:schemeClr val="tx1"/>
                    </a:solidFill>
                  </a:rPr>
                  <a:t>e.g.    </a:t>
                </a:r>
                <a14:m>
                  <m:oMath xmlns:m="http://schemas.openxmlformats.org/officeDocument/2006/math">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𝟎</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𝟗𝟖𝟑𝟑</m:t>
                        </m:r>
                      </m:num>
                      <m:den>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𝟗</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𝟎𝟎𝟎</m:t>
                        </m:r>
                      </m:den>
                    </m:f>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𝟎</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𝟎𝟏𝟎𝟑𝟔</m:t>
                    </m:r>
                  </m:oMath>
                </a14:m>
                <a:endParaRPr lang="en-NZ" altLang="ja-JP" sz="1800" b="1" dirty="0">
                  <a:solidFill>
                    <a:schemeClr val="tx1"/>
                  </a:solidFill>
                </a:endParaRPr>
              </a:p>
            </p:txBody>
          </p:sp>
        </mc:Choice>
        <mc:Fallback xmlns="">
          <p:sp>
            <p:nvSpPr>
              <p:cNvPr id="39" name="Text Placeholder 5">
                <a:extLst>
                  <a:ext uri="{FF2B5EF4-FFF2-40B4-BE49-F238E27FC236}">
                    <a16:creationId xmlns:a16="http://schemas.microsoft.com/office/drawing/2014/main" id="{E0B36834-6B18-4F98-2EF8-6578A64FC7FE}"/>
                  </a:ext>
                </a:extLst>
              </p:cNvPr>
              <p:cNvSpPr txBox="1">
                <a:spLocks noRot="1" noChangeAspect="1" noMove="1" noResize="1" noEditPoints="1" noAdjustHandles="1" noChangeArrowheads="1" noChangeShapeType="1" noTextEdit="1"/>
              </p:cNvSpPr>
              <p:nvPr/>
            </p:nvSpPr>
            <p:spPr>
              <a:xfrm>
                <a:off x="4897082" y="2813163"/>
                <a:ext cx="6734192" cy="1586945"/>
              </a:xfrm>
              <a:prstGeom prst="rect">
                <a:avLst/>
              </a:prstGeom>
              <a:blipFill>
                <a:blip r:embed="rId3"/>
                <a:stretch>
                  <a:fillRect l="-543" t="-1916"/>
                </a:stretch>
              </a:blipFill>
            </p:spPr>
            <p:txBody>
              <a:bodyPr/>
              <a:lstStyle/>
              <a:p>
                <a:r>
                  <a:rPr lang="en-NZ">
                    <a:noFill/>
                  </a:rPr>
                  <a:t> </a:t>
                </a:r>
              </a:p>
            </p:txBody>
          </p:sp>
        </mc:Fallback>
      </mc:AlternateContent>
      <p:sp>
        <p:nvSpPr>
          <p:cNvPr id="40" name="Text Placeholder 5">
            <a:extLst>
              <a:ext uri="{FF2B5EF4-FFF2-40B4-BE49-F238E27FC236}">
                <a16:creationId xmlns:a16="http://schemas.microsoft.com/office/drawing/2014/main" id="{D66E6396-F3CE-1A87-BDE9-A641950A8076}"/>
              </a:ext>
            </a:extLst>
          </p:cNvPr>
          <p:cNvSpPr txBox="1">
            <a:spLocks/>
          </p:cNvSpPr>
          <p:nvPr/>
        </p:nvSpPr>
        <p:spPr>
          <a:xfrm>
            <a:off x="4897082" y="5048765"/>
            <a:ext cx="6734192" cy="92221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800" b="1" dirty="0">
                <a:solidFill>
                  <a:schemeClr val="tx1"/>
                </a:solidFill>
              </a:rPr>
              <a:t>Time Series Standard Error</a:t>
            </a:r>
            <a:r>
              <a:rPr lang="en-NZ" altLang="ja-JP" sz="1800" dirty="0">
                <a:solidFill>
                  <a:schemeClr val="tx1"/>
                </a:solidFill>
              </a:rPr>
              <a:t> adjusts the Naïve SE for auto-correlation, i.e. accounts for the fact that sequential elements of the chain are dependent.</a:t>
            </a:r>
            <a:endParaRPr lang="en-NZ" altLang="ja-JP" sz="1800" b="1" dirty="0">
              <a:solidFill>
                <a:schemeClr val="tx1"/>
              </a:solidFill>
            </a:endParaRPr>
          </a:p>
        </p:txBody>
      </p:sp>
      <p:sp>
        <p:nvSpPr>
          <p:cNvPr id="13" name="Text Placeholder 5">
            <a:extLst>
              <a:ext uri="{FF2B5EF4-FFF2-40B4-BE49-F238E27FC236}">
                <a16:creationId xmlns:a16="http://schemas.microsoft.com/office/drawing/2014/main" id="{F756371F-8C2D-D4CF-130C-365E2CB89719}"/>
              </a:ext>
            </a:extLst>
          </p:cNvPr>
          <p:cNvSpPr txBox="1">
            <a:spLocks/>
          </p:cNvSpPr>
          <p:nvPr/>
        </p:nvSpPr>
        <p:spPr>
          <a:xfrm>
            <a:off x="2345361" y="6488487"/>
            <a:ext cx="7501278" cy="28337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rPr>
              <a:t>Associated Code </a:t>
            </a:r>
            <a:r>
              <a:rPr kumimoji="1" lang="en-NZ" altLang="ja-JP" sz="1200" u="none" strike="noStrike" kern="1200" cap="none" spc="0" normalizeH="0" baseline="0" noProof="0">
                <a:ln>
                  <a:noFill/>
                </a:ln>
                <a:solidFill>
                  <a:srgbClr val="C00000"/>
                </a:solidFill>
                <a:effectLst/>
                <a:uLnTx/>
                <a:uFillTx/>
                <a:latin typeface="Calibri" panose="020F0502020204030204"/>
                <a:ea typeface="游ゴシック" panose="020B0400000000000000" pitchFamily="34" charset="-128"/>
              </a:rPr>
              <a:t>= 10 </a:t>
            </a:r>
            <a:r>
              <a:rPr kumimoji="1" lang="en-NZ"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rPr>
              <a:t>- Bivariate Normal Example (Convergence</a:t>
            </a:r>
            <a:r>
              <a:rPr kumimoji="1" lang="en-NZ" altLang="ja-JP" sz="1200" u="none" strike="noStrike" kern="1200" cap="none" spc="0" normalizeH="0" noProof="0" dirty="0">
                <a:ln>
                  <a:noFill/>
                </a:ln>
                <a:solidFill>
                  <a:srgbClr val="C00000"/>
                </a:solidFill>
                <a:effectLst/>
                <a:uLnTx/>
                <a:uFillTx/>
                <a:latin typeface="Calibri" panose="020F0502020204030204"/>
                <a:ea typeface="游ゴシック" panose="020B0400000000000000" pitchFamily="34" charset="-128"/>
              </a:rPr>
              <a:t> Tests</a:t>
            </a:r>
            <a:r>
              <a:rPr kumimoji="1" lang="en-NZ"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rPr>
              <a:t>)</a:t>
            </a:r>
            <a:endParaRPr kumimoji="1" lang="en-US"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p:spTree>
    <p:extLst>
      <p:ext uri="{BB962C8B-B14F-4D97-AF65-F5344CB8AC3E}">
        <p14:creationId xmlns:p14="http://schemas.microsoft.com/office/powerpoint/2010/main" val="2227492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7F14062D-E1C1-4F63-B0FD-D013BDA5782B}"/>
              </a:ext>
            </a:extLst>
          </p:cNvPr>
          <p:cNvSpPr txBox="1"/>
          <p:nvPr/>
        </p:nvSpPr>
        <p:spPr>
          <a:xfrm>
            <a:off x="43707" y="2844225"/>
            <a:ext cx="12104586" cy="7848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NZ" sz="4500" b="1" dirty="0">
                <a:solidFill>
                  <a:srgbClr val="FFC000"/>
                </a:solidFill>
                <a:latin typeface="Calibri" panose="020F0502020204030204"/>
              </a:rPr>
              <a:t>10.3 – </a:t>
            </a:r>
            <a:r>
              <a:rPr lang="en-NZ" sz="4500" b="1" dirty="0" err="1">
                <a:solidFill>
                  <a:srgbClr val="FFC000"/>
                </a:solidFill>
                <a:latin typeface="Calibri" panose="020F0502020204030204"/>
              </a:rPr>
              <a:t>Geweke</a:t>
            </a:r>
            <a:r>
              <a:rPr lang="en-NZ" sz="4500" b="1" dirty="0">
                <a:solidFill>
                  <a:srgbClr val="FFC000"/>
                </a:solidFill>
                <a:latin typeface="Calibri" panose="020F0502020204030204"/>
              </a:rPr>
              <a:t> Time Series Diagnostics</a:t>
            </a:r>
            <a:endPar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45538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4" name="Title 6">
            <a:extLst>
              <a:ext uri="{FF2B5EF4-FFF2-40B4-BE49-F238E27FC236}">
                <a16:creationId xmlns:a16="http://schemas.microsoft.com/office/drawing/2014/main" id="{18EFAA1F-58F5-B8DC-5203-016AF3661A4C}"/>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10.3 – </a:t>
            </a:r>
            <a:r>
              <a:rPr lang="en-US" altLang="ja-JP" b="1" u="sng" dirty="0" err="1">
                <a:solidFill>
                  <a:prstClr val="black"/>
                </a:solidFill>
                <a:latin typeface="Calibri" panose="020F0502020204030204"/>
                <a:ea typeface="游ゴシック Light" panose="020B0300000000000000" pitchFamily="34" charset="-128"/>
              </a:rPr>
              <a:t>Geweke</a:t>
            </a:r>
            <a:r>
              <a:rPr lang="en-US" altLang="ja-JP" b="1" u="sng" dirty="0">
                <a:solidFill>
                  <a:prstClr val="black"/>
                </a:solidFill>
                <a:latin typeface="Calibri" panose="020F0502020204030204"/>
                <a:ea typeface="游ゴシック Light" panose="020B0300000000000000" pitchFamily="34" charset="-128"/>
              </a:rPr>
              <a:t> Diagnostic</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5" name="Footer Placeholder 2">
            <a:extLst>
              <a:ext uri="{FF2B5EF4-FFF2-40B4-BE49-F238E27FC236}">
                <a16:creationId xmlns:a16="http://schemas.microsoft.com/office/drawing/2014/main" id="{CE1BC482-63C5-C7CB-8FB1-F710CF896763}"/>
              </a:ext>
            </a:extLst>
          </p:cNvPr>
          <p:cNvSpPr txBox="1">
            <a:spLocks/>
          </p:cNvSpPr>
          <p:nvPr/>
        </p:nvSpPr>
        <p:spPr>
          <a:xfrm>
            <a:off x="8993875" y="86139"/>
            <a:ext cx="309549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10.3 – </a:t>
            </a:r>
            <a:r>
              <a:rPr kumimoji="1" lang="en-US" altLang="ja-JP" sz="1600" dirty="0" err="1">
                <a:solidFill>
                  <a:srgbClr val="DEDDDD"/>
                </a:solidFill>
                <a:latin typeface="Gidole"/>
                <a:ea typeface="游ゴシック" panose="020B0400000000000000" pitchFamily="34" charset="-128"/>
              </a:rPr>
              <a:t>Geweke</a:t>
            </a:r>
            <a:r>
              <a:rPr kumimoji="1" lang="en-US" altLang="ja-JP" sz="1600" dirty="0">
                <a:solidFill>
                  <a:srgbClr val="DEDDDD"/>
                </a:solidFill>
                <a:latin typeface="Gidole"/>
                <a:ea typeface="游ゴシック" panose="020B0400000000000000" pitchFamily="34" charset="-128"/>
              </a:rPr>
              <a:t> Diagnostic</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38" name="Text Placeholder 5">
            <a:extLst>
              <a:ext uri="{FF2B5EF4-FFF2-40B4-BE49-F238E27FC236}">
                <a16:creationId xmlns:a16="http://schemas.microsoft.com/office/drawing/2014/main" id="{4A0C7041-80E2-0602-E073-27804A3189F5}"/>
              </a:ext>
            </a:extLst>
          </p:cNvPr>
          <p:cNvSpPr txBox="1">
            <a:spLocks/>
          </p:cNvSpPr>
          <p:nvPr/>
        </p:nvSpPr>
        <p:spPr>
          <a:xfrm>
            <a:off x="319463" y="981732"/>
            <a:ext cx="11311812"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700" dirty="0">
                <a:solidFill>
                  <a:schemeClr val="tx1"/>
                </a:solidFill>
              </a:rPr>
              <a:t>The </a:t>
            </a:r>
            <a:r>
              <a:rPr lang="en-NZ" altLang="ja-JP" sz="1700" b="1" dirty="0" err="1">
                <a:solidFill>
                  <a:schemeClr val="tx1"/>
                </a:solidFill>
              </a:rPr>
              <a:t>Geweke</a:t>
            </a:r>
            <a:r>
              <a:rPr lang="en-NZ" altLang="ja-JP" sz="1700" b="1" dirty="0">
                <a:solidFill>
                  <a:schemeClr val="tx1"/>
                </a:solidFill>
              </a:rPr>
              <a:t> Time Series Diagnostic </a:t>
            </a:r>
            <a:r>
              <a:rPr lang="en-NZ" altLang="ja-JP" sz="1700" dirty="0">
                <a:solidFill>
                  <a:schemeClr val="tx1"/>
                </a:solidFill>
              </a:rPr>
              <a:t>can be explained informally as follows…</a:t>
            </a:r>
          </a:p>
        </p:txBody>
      </p:sp>
      <p:sp>
        <p:nvSpPr>
          <p:cNvPr id="16" name="Text Placeholder 5">
            <a:extLst>
              <a:ext uri="{FF2B5EF4-FFF2-40B4-BE49-F238E27FC236}">
                <a16:creationId xmlns:a16="http://schemas.microsoft.com/office/drawing/2014/main" id="{FA62F270-55A6-1A01-DC33-F8E6F378C346}"/>
              </a:ext>
            </a:extLst>
          </p:cNvPr>
          <p:cNvSpPr txBox="1">
            <a:spLocks/>
          </p:cNvSpPr>
          <p:nvPr/>
        </p:nvSpPr>
        <p:spPr>
          <a:xfrm>
            <a:off x="893838" y="1599444"/>
            <a:ext cx="10392862"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700" b="1" dirty="0">
                <a:solidFill>
                  <a:schemeClr val="tx1"/>
                </a:solidFill>
              </a:rPr>
              <a:t>Take two non-overlapping windows of the chain</a:t>
            </a:r>
          </a:p>
        </p:txBody>
      </p:sp>
      <mc:AlternateContent xmlns:mc="http://schemas.openxmlformats.org/markup-compatibility/2006">
        <mc:Choice xmlns:a14="http://schemas.microsoft.com/office/drawing/2010/main" Requires="a14">
          <p:sp>
            <p:nvSpPr>
              <p:cNvPr id="17" name="Text Placeholder 5">
                <a:extLst>
                  <a:ext uri="{FF2B5EF4-FFF2-40B4-BE49-F238E27FC236}">
                    <a16:creationId xmlns:a16="http://schemas.microsoft.com/office/drawing/2014/main" id="{42DB7786-EBD8-3103-111D-EF99BBBE4DA0}"/>
                  </a:ext>
                </a:extLst>
              </p:cNvPr>
              <p:cNvSpPr txBox="1">
                <a:spLocks/>
              </p:cNvSpPr>
              <p:nvPr/>
            </p:nvSpPr>
            <p:spPr>
              <a:xfrm>
                <a:off x="1202018" y="2029303"/>
                <a:ext cx="10248454" cy="115584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600" dirty="0">
                    <a:solidFill>
                      <a:schemeClr val="tx1"/>
                    </a:solidFill>
                  </a:rPr>
                  <a:t>The default is to take the first 10% of the chain (after burn-in) and the last 50% of the chain (after burn-in)</a:t>
                </a:r>
              </a:p>
              <a:p>
                <a:pPr lvl="0">
                  <a:lnSpc>
                    <a:spcPct val="100000"/>
                  </a:lnSpc>
                  <a:defRPr/>
                </a:pPr>
                <a:r>
                  <a:rPr lang="en-NZ" altLang="ja-JP" sz="1600" dirty="0">
                    <a:solidFill>
                      <a:schemeClr val="tx1"/>
                    </a:solidFill>
                  </a:rPr>
                  <a:t>i.e. if you have 10,000 post-burn-in values, then the following windows are formed</a:t>
                </a:r>
              </a:p>
              <a:p>
                <a:pPr lvl="0">
                  <a:lnSpc>
                    <a:spcPct val="100000"/>
                  </a:lnSpc>
                  <a:defRPr/>
                </a:pPr>
                <a:endParaRPr lang="en-NZ" altLang="ja-JP" sz="200" dirty="0">
                  <a:solidFill>
                    <a:schemeClr val="tx1"/>
                  </a:solidFill>
                </a:endParaRPr>
              </a:p>
              <a:p>
                <a:pPr lvl="0">
                  <a:lnSpc>
                    <a:spcPct val="100000"/>
                  </a:lnSpc>
                  <a:defRPr/>
                </a:pPr>
                <a:endParaRPr lang="en-NZ" altLang="ja-JP" sz="200" dirty="0">
                  <a:solidFill>
                    <a:schemeClr val="tx1"/>
                  </a:solidFill>
                </a:endParaRPr>
              </a:p>
              <a:p>
                <a:pPr lvl="0" algn="ctr">
                  <a:lnSpc>
                    <a:spcPct val="100000"/>
                  </a:lnSpc>
                  <a:defRPr/>
                </a:pPr>
                <a14:m>
                  <m:oMath xmlns:m="http://schemas.openxmlformats.org/officeDocument/2006/math">
                    <m:sSub>
                      <m:sSubPr>
                        <m:ctrlPr>
                          <a:rPr lang="en-NZ" altLang="ja-JP" sz="1600" b="1" i="1" smtClean="0">
                            <a:solidFill>
                              <a:schemeClr val="tx1"/>
                            </a:solidFill>
                            <a:latin typeface="Cambria Math" panose="02040503050406030204" pitchFamily="18" charset="0"/>
                          </a:rPr>
                        </m:ctrlPr>
                      </m:sSubPr>
                      <m:e>
                        <m:bar>
                          <m:barPr>
                            <m:ctrlPr>
                              <a:rPr lang="en-NZ" altLang="ja-JP" sz="1600" b="1" i="1" smtClean="0">
                                <a:solidFill>
                                  <a:schemeClr val="tx1"/>
                                </a:solidFill>
                                <a:latin typeface="Cambria Math" panose="02040503050406030204" pitchFamily="18" charset="0"/>
                              </a:rPr>
                            </m:ctrlPr>
                          </m:barPr>
                          <m:e>
                            <m:r>
                              <a:rPr lang="en-NZ" altLang="ja-JP" sz="1600" b="1" i="1" smtClean="0">
                                <a:solidFill>
                                  <a:schemeClr val="tx1"/>
                                </a:solidFill>
                                <a:latin typeface="Cambria Math" panose="02040503050406030204" pitchFamily="18" charset="0"/>
                              </a:rPr>
                              <m:t>𝒙</m:t>
                            </m:r>
                          </m:e>
                        </m:bar>
                      </m:e>
                      <m:sub>
                        <m:r>
                          <a:rPr lang="en-NZ" altLang="ja-JP" sz="1600" b="1" i="1" smtClean="0">
                            <a:solidFill>
                              <a:schemeClr val="tx1"/>
                            </a:solidFill>
                            <a:latin typeface="Cambria Math" panose="02040503050406030204" pitchFamily="18" charset="0"/>
                          </a:rPr>
                          <m:t>𝟏</m:t>
                        </m:r>
                      </m:sub>
                    </m:sSub>
                    <m:r>
                      <a:rPr lang="en-NZ" altLang="ja-JP" sz="1600" b="1" i="1" smtClean="0">
                        <a:solidFill>
                          <a:schemeClr val="tx1"/>
                        </a:solidFill>
                        <a:latin typeface="Cambria Math" panose="02040503050406030204" pitchFamily="18" charset="0"/>
                      </a:rPr>
                      <m:t>= </m:t>
                    </m:r>
                    <m:sSubSup>
                      <m:sSubSupPr>
                        <m:ctrlPr>
                          <a:rPr lang="en-NZ" altLang="ja-JP" sz="1600" b="1" i="1" smtClean="0">
                            <a:solidFill>
                              <a:schemeClr val="tx1"/>
                            </a:solidFill>
                            <a:latin typeface="Cambria Math" panose="02040503050406030204" pitchFamily="18" charset="0"/>
                          </a:rPr>
                        </m:ctrlPr>
                      </m:sSubSupPr>
                      <m:e>
                        <m:d>
                          <m:dPr>
                            <m:begChr m:val="{"/>
                            <m:endChr m:val="}"/>
                            <m:ctrlPr>
                              <a:rPr lang="en-NZ" altLang="ja-JP" sz="1600" b="1" i="1" smtClean="0">
                                <a:solidFill>
                                  <a:schemeClr val="tx1"/>
                                </a:solidFill>
                                <a:latin typeface="Cambria Math" panose="02040503050406030204" pitchFamily="18" charset="0"/>
                              </a:rPr>
                            </m:ctrlPr>
                          </m:dPr>
                          <m:e>
                            <m:sSup>
                              <m:sSupPr>
                                <m:ctrlPr>
                                  <a:rPr lang="en-NZ" altLang="ja-JP" sz="1600" b="1" i="1" smtClean="0">
                                    <a:solidFill>
                                      <a:schemeClr val="tx1"/>
                                    </a:solidFill>
                                    <a:latin typeface="Cambria Math" panose="02040503050406030204" pitchFamily="18" charset="0"/>
                                  </a:rPr>
                                </m:ctrlPr>
                              </m:sSupPr>
                              <m:e>
                                <m:r>
                                  <a:rPr lang="en-NZ" altLang="ja-JP" sz="1600" b="1" i="1" smtClean="0">
                                    <a:solidFill>
                                      <a:schemeClr val="tx1"/>
                                    </a:solidFill>
                                    <a:latin typeface="Cambria Math" panose="02040503050406030204" pitchFamily="18" charset="0"/>
                                  </a:rPr>
                                  <m:t>𝑿</m:t>
                                </m:r>
                              </m:e>
                              <m:sup>
                                <m:d>
                                  <m:dPr>
                                    <m:ctrlPr>
                                      <a:rPr lang="en-NZ" altLang="ja-JP" sz="1600" b="1" i="1" smtClean="0">
                                        <a:solidFill>
                                          <a:schemeClr val="tx1"/>
                                        </a:solidFill>
                                        <a:latin typeface="Cambria Math" panose="02040503050406030204" pitchFamily="18" charset="0"/>
                                      </a:rPr>
                                    </m:ctrlPr>
                                  </m:dPr>
                                  <m:e>
                                    <m:r>
                                      <a:rPr lang="en-NZ" altLang="ja-JP" sz="1600" b="1" i="1" smtClean="0">
                                        <a:solidFill>
                                          <a:schemeClr val="tx1"/>
                                        </a:solidFill>
                                        <a:latin typeface="Cambria Math" panose="02040503050406030204" pitchFamily="18" charset="0"/>
                                      </a:rPr>
                                      <m:t>𝒕</m:t>
                                    </m:r>
                                  </m:e>
                                </m:d>
                              </m:sup>
                            </m:sSup>
                          </m:e>
                        </m:d>
                      </m:e>
                      <m:sub>
                        <m:r>
                          <a:rPr lang="en-NZ" altLang="ja-JP" sz="1600" b="1" i="1" smtClean="0">
                            <a:solidFill>
                              <a:schemeClr val="tx1"/>
                            </a:solidFill>
                            <a:latin typeface="Cambria Math" panose="02040503050406030204" pitchFamily="18" charset="0"/>
                          </a:rPr>
                          <m:t>𝒕</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𝑩𝒖𝒓𝒏𝒊𝒏</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𝟏</m:t>
                        </m:r>
                      </m:sub>
                      <m:sup>
                        <m:r>
                          <a:rPr lang="en-NZ" altLang="ja-JP" sz="1600" b="1" i="1">
                            <a:solidFill>
                              <a:schemeClr val="tx1"/>
                            </a:solidFill>
                            <a:latin typeface="Cambria Math" panose="02040503050406030204" pitchFamily="18" charset="0"/>
                          </a:rPr>
                          <m:t>𝑩𝒖𝒓𝒏𝒊𝒏</m:t>
                        </m:r>
                        <m:r>
                          <a:rPr lang="en-NZ" altLang="ja-JP" sz="1600" b="1" i="1" smtClean="0">
                            <a:solidFill>
                              <a:schemeClr val="tx1"/>
                            </a:solidFill>
                            <a:latin typeface="Cambria Math" panose="02040503050406030204" pitchFamily="18" charset="0"/>
                          </a:rPr>
                          <m:t> + </m:t>
                        </m:r>
                        <m:r>
                          <a:rPr lang="en-NZ" altLang="ja-JP" sz="1600" b="1" i="1">
                            <a:solidFill>
                              <a:schemeClr val="tx1"/>
                            </a:solidFill>
                            <a:latin typeface="Cambria Math" panose="02040503050406030204" pitchFamily="18" charset="0"/>
                          </a:rPr>
                          <m:t>𝟏</m:t>
                        </m:r>
                        <m:r>
                          <a:rPr lang="en-NZ" altLang="ja-JP" sz="1600" b="1" i="1" smtClean="0">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𝟎𝟎𝟎</m:t>
                        </m:r>
                      </m:sup>
                    </m:sSubSup>
                  </m:oMath>
                </a14:m>
                <a:r>
                  <a:rPr lang="en-NZ" altLang="ja-JP" sz="1600" b="1" dirty="0">
                    <a:solidFill>
                      <a:schemeClr val="tx1"/>
                    </a:solidFill>
                  </a:rPr>
                  <a:t>         </a:t>
                </a:r>
                <a:r>
                  <a:rPr lang="en-NZ" altLang="ja-JP" sz="1600" dirty="0">
                    <a:solidFill>
                      <a:schemeClr val="tx1"/>
                    </a:solidFill>
                  </a:rPr>
                  <a:t>and       </a:t>
                </a:r>
                <a:r>
                  <a:rPr lang="en-NZ" altLang="ja-JP" sz="1600" b="1" dirty="0">
                    <a:solidFill>
                      <a:schemeClr val="tx1"/>
                    </a:solidFill>
                  </a:rPr>
                  <a:t>   </a:t>
                </a:r>
                <a14:m>
                  <m:oMath xmlns:m="http://schemas.openxmlformats.org/officeDocument/2006/math">
                    <m:sSub>
                      <m:sSubPr>
                        <m:ctrlPr>
                          <a:rPr lang="en-NZ" altLang="ja-JP" sz="1600" b="1" i="1">
                            <a:solidFill>
                              <a:schemeClr val="tx1"/>
                            </a:solidFill>
                            <a:latin typeface="Cambria Math" panose="02040503050406030204" pitchFamily="18" charset="0"/>
                          </a:rPr>
                        </m:ctrlPr>
                      </m:sSubPr>
                      <m:e>
                        <m:bar>
                          <m:barPr>
                            <m:ctrlPr>
                              <a:rPr lang="en-NZ" altLang="ja-JP" sz="1600" b="1" i="1">
                                <a:solidFill>
                                  <a:schemeClr val="tx1"/>
                                </a:solidFill>
                                <a:latin typeface="Cambria Math" panose="02040503050406030204" pitchFamily="18" charset="0"/>
                              </a:rPr>
                            </m:ctrlPr>
                          </m:barPr>
                          <m:e>
                            <m:r>
                              <a:rPr lang="en-NZ" altLang="ja-JP" sz="1600" b="1" i="1">
                                <a:solidFill>
                                  <a:schemeClr val="tx1"/>
                                </a:solidFill>
                                <a:latin typeface="Cambria Math" panose="02040503050406030204" pitchFamily="18" charset="0"/>
                              </a:rPr>
                              <m:t>𝒙</m:t>
                            </m:r>
                          </m:e>
                        </m:bar>
                      </m:e>
                      <m:sub>
                        <m:r>
                          <a:rPr lang="en-NZ" altLang="ja-JP" sz="1600" b="1" i="1" smtClean="0">
                            <a:solidFill>
                              <a:schemeClr val="tx1"/>
                            </a:solidFill>
                            <a:latin typeface="Cambria Math" panose="02040503050406030204" pitchFamily="18" charset="0"/>
                          </a:rPr>
                          <m:t>𝟐</m:t>
                        </m:r>
                      </m:sub>
                    </m:sSub>
                    <m:r>
                      <a:rPr lang="en-NZ" altLang="ja-JP" sz="1600" b="1" i="1">
                        <a:solidFill>
                          <a:schemeClr val="tx1"/>
                        </a:solidFill>
                        <a:latin typeface="Cambria Math" panose="02040503050406030204" pitchFamily="18" charset="0"/>
                      </a:rPr>
                      <m:t>= </m:t>
                    </m:r>
                    <m:sSubSup>
                      <m:sSubSupPr>
                        <m:ctrlPr>
                          <a:rPr lang="en-NZ" altLang="ja-JP" sz="1600" b="1" i="1">
                            <a:solidFill>
                              <a:schemeClr val="tx1"/>
                            </a:solidFill>
                            <a:latin typeface="Cambria Math" panose="02040503050406030204" pitchFamily="18" charset="0"/>
                          </a:rPr>
                        </m:ctrlPr>
                      </m:sSubSupPr>
                      <m:e>
                        <m:d>
                          <m:dPr>
                            <m:begChr m:val="{"/>
                            <m:endChr m:val="}"/>
                            <m:ctrlPr>
                              <a:rPr lang="en-NZ" altLang="ja-JP" sz="1600" b="1" i="1">
                                <a:solidFill>
                                  <a:schemeClr val="tx1"/>
                                </a:solidFill>
                                <a:latin typeface="Cambria Math" panose="02040503050406030204" pitchFamily="18" charset="0"/>
                              </a:rPr>
                            </m:ctrlPr>
                          </m:dPr>
                          <m:e>
                            <m:sSup>
                              <m:sSupPr>
                                <m:ctrlPr>
                                  <a:rPr lang="en-NZ" altLang="ja-JP" sz="1600" b="1" i="1">
                                    <a:solidFill>
                                      <a:schemeClr val="tx1"/>
                                    </a:solidFill>
                                    <a:latin typeface="Cambria Math" panose="02040503050406030204" pitchFamily="18" charset="0"/>
                                  </a:rPr>
                                </m:ctrlPr>
                              </m:sSupPr>
                              <m:e>
                                <m:r>
                                  <a:rPr lang="en-NZ" altLang="ja-JP" sz="1600" b="1" i="1">
                                    <a:solidFill>
                                      <a:schemeClr val="tx1"/>
                                    </a:solidFill>
                                    <a:latin typeface="Cambria Math" panose="02040503050406030204" pitchFamily="18" charset="0"/>
                                  </a:rPr>
                                  <m:t>𝑿</m:t>
                                </m:r>
                              </m:e>
                              <m:sup>
                                <m:d>
                                  <m:dPr>
                                    <m:ctrlPr>
                                      <a:rPr lang="en-NZ" altLang="ja-JP" sz="1600" b="1" i="1">
                                        <a:solidFill>
                                          <a:schemeClr val="tx1"/>
                                        </a:solidFill>
                                        <a:latin typeface="Cambria Math" panose="02040503050406030204" pitchFamily="18" charset="0"/>
                                      </a:rPr>
                                    </m:ctrlPr>
                                  </m:dPr>
                                  <m:e>
                                    <m:r>
                                      <a:rPr lang="en-NZ" altLang="ja-JP" sz="1600" b="1" i="1">
                                        <a:solidFill>
                                          <a:schemeClr val="tx1"/>
                                        </a:solidFill>
                                        <a:latin typeface="Cambria Math" panose="02040503050406030204" pitchFamily="18" charset="0"/>
                                      </a:rPr>
                                      <m:t>𝒕</m:t>
                                    </m:r>
                                  </m:e>
                                </m:d>
                              </m:sup>
                            </m:sSup>
                          </m:e>
                        </m:d>
                      </m:e>
                      <m:sub>
                        <m:r>
                          <a:rPr lang="en-NZ" altLang="ja-JP" sz="1600" b="1" i="1">
                            <a:solidFill>
                              <a:schemeClr val="tx1"/>
                            </a:solidFill>
                            <a:latin typeface="Cambria Math" panose="02040503050406030204" pitchFamily="18" charset="0"/>
                          </a:rPr>
                          <m:t>𝒕</m:t>
                        </m:r>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𝑩𝒖𝒓𝒏𝒊𝒏</m:t>
                        </m:r>
                        <m:r>
                          <a:rPr lang="en-NZ" altLang="ja-JP" sz="1600" b="1" i="1">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𝟓</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𝟎𝟎𝟏</m:t>
                        </m:r>
                      </m:sub>
                      <m:sup>
                        <m:r>
                          <a:rPr lang="en-NZ" altLang="ja-JP" sz="1600" b="1" i="1">
                            <a:solidFill>
                              <a:schemeClr val="tx1"/>
                            </a:solidFill>
                            <a:latin typeface="Cambria Math" panose="02040503050406030204" pitchFamily="18" charset="0"/>
                          </a:rPr>
                          <m:t>𝑩𝒖𝒓𝒏𝒊𝒏</m:t>
                        </m:r>
                        <m:r>
                          <a:rPr lang="en-NZ" altLang="ja-JP" sz="1600" b="1" i="1">
                            <a:solidFill>
                              <a:schemeClr val="tx1"/>
                            </a:solidFill>
                            <a:latin typeface="Cambria Math" panose="02040503050406030204" pitchFamily="18" charset="0"/>
                          </a:rPr>
                          <m:t> + </m:t>
                        </m:r>
                        <m:r>
                          <a:rPr lang="en-NZ" altLang="ja-JP" sz="1600" b="1" i="1">
                            <a:solidFill>
                              <a:schemeClr val="tx1"/>
                            </a:solidFill>
                            <a:latin typeface="Cambria Math" panose="02040503050406030204" pitchFamily="18" charset="0"/>
                          </a:rPr>
                          <m:t>𝟏𝟎</m:t>
                        </m:r>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𝟎𝟎𝟎</m:t>
                        </m:r>
                      </m:sup>
                    </m:sSubSup>
                  </m:oMath>
                </a14:m>
                <a:endParaRPr lang="en-NZ" altLang="ja-JP" sz="1600" b="1" dirty="0">
                  <a:solidFill>
                    <a:schemeClr val="tx1"/>
                  </a:solidFill>
                </a:endParaRPr>
              </a:p>
            </p:txBody>
          </p:sp>
        </mc:Choice>
        <mc:Fallback>
          <p:sp>
            <p:nvSpPr>
              <p:cNvPr id="17" name="Text Placeholder 5">
                <a:extLst>
                  <a:ext uri="{FF2B5EF4-FFF2-40B4-BE49-F238E27FC236}">
                    <a16:creationId xmlns:a16="http://schemas.microsoft.com/office/drawing/2014/main" id="{42DB7786-EBD8-3103-111D-EF99BBBE4DA0}"/>
                  </a:ext>
                </a:extLst>
              </p:cNvPr>
              <p:cNvSpPr txBox="1">
                <a:spLocks noRot="1" noChangeAspect="1" noMove="1" noResize="1" noEditPoints="1" noAdjustHandles="1" noChangeArrowheads="1" noChangeShapeType="1" noTextEdit="1"/>
              </p:cNvSpPr>
              <p:nvPr/>
            </p:nvSpPr>
            <p:spPr>
              <a:xfrm>
                <a:off x="1202018" y="2029303"/>
                <a:ext cx="10248454" cy="1155848"/>
              </a:xfrm>
              <a:prstGeom prst="rect">
                <a:avLst/>
              </a:prstGeom>
              <a:blipFill>
                <a:blip r:embed="rId3"/>
                <a:stretch>
                  <a:fillRect l="-297" t="-1587"/>
                </a:stretch>
              </a:blipFill>
            </p:spPr>
            <p:txBody>
              <a:bodyPr/>
              <a:lstStyle/>
              <a:p>
                <a:r>
                  <a:rPr lang="en-NZ">
                    <a:noFill/>
                  </a:rPr>
                  <a:t> </a:t>
                </a:r>
              </a:p>
            </p:txBody>
          </p:sp>
        </mc:Fallback>
      </mc:AlternateContent>
      <p:sp>
        <p:nvSpPr>
          <p:cNvPr id="18" name="Text Placeholder 5">
            <a:extLst>
              <a:ext uri="{FF2B5EF4-FFF2-40B4-BE49-F238E27FC236}">
                <a16:creationId xmlns:a16="http://schemas.microsoft.com/office/drawing/2014/main" id="{68081336-18A8-468B-AE3C-551A2CBC70DF}"/>
              </a:ext>
            </a:extLst>
          </p:cNvPr>
          <p:cNvSpPr txBox="1">
            <a:spLocks/>
          </p:cNvSpPr>
          <p:nvPr/>
        </p:nvSpPr>
        <p:spPr>
          <a:xfrm>
            <a:off x="1202018" y="3681482"/>
            <a:ext cx="10248454" cy="61313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600" dirty="0">
                <a:solidFill>
                  <a:schemeClr val="tx1"/>
                </a:solidFill>
              </a:rPr>
              <a:t>The </a:t>
            </a:r>
            <a:r>
              <a:rPr lang="en-NZ" altLang="ja-JP" sz="1600" dirty="0" err="1">
                <a:solidFill>
                  <a:schemeClr val="tx1"/>
                </a:solidFill>
              </a:rPr>
              <a:t>Geweke</a:t>
            </a:r>
            <a:r>
              <a:rPr lang="en-NZ" altLang="ja-JP" sz="1600" dirty="0">
                <a:solidFill>
                  <a:schemeClr val="tx1"/>
                </a:solidFill>
              </a:rPr>
              <a:t> Diagnostic then performs a difference of two means test to determine whether </a:t>
            </a:r>
          </a:p>
          <a:p>
            <a:pPr lvl="0">
              <a:lnSpc>
                <a:spcPct val="100000"/>
              </a:lnSpc>
              <a:defRPr/>
            </a:pPr>
            <a:r>
              <a:rPr lang="en-NZ" altLang="ja-JP" sz="1600" dirty="0">
                <a:solidFill>
                  <a:schemeClr val="tx1"/>
                </a:solidFill>
              </a:rPr>
              <a:t>the values in each window arise from the same distribution.</a:t>
            </a:r>
          </a:p>
        </p:txBody>
      </p:sp>
      <p:sp>
        <p:nvSpPr>
          <p:cNvPr id="19" name="Text Placeholder 5">
            <a:extLst>
              <a:ext uri="{FF2B5EF4-FFF2-40B4-BE49-F238E27FC236}">
                <a16:creationId xmlns:a16="http://schemas.microsoft.com/office/drawing/2014/main" id="{D4505A85-963C-68A3-B16B-34A1EF29F910}"/>
              </a:ext>
            </a:extLst>
          </p:cNvPr>
          <p:cNvSpPr txBox="1">
            <a:spLocks/>
          </p:cNvSpPr>
          <p:nvPr/>
        </p:nvSpPr>
        <p:spPr>
          <a:xfrm>
            <a:off x="893838" y="3297101"/>
            <a:ext cx="10392862"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700" b="1" dirty="0">
                <a:solidFill>
                  <a:schemeClr val="tx1"/>
                </a:solidFill>
              </a:rPr>
              <a:t>Conduct a difference of two means test on the values in each window</a:t>
            </a:r>
          </a:p>
        </p:txBody>
      </p:sp>
      <p:sp>
        <p:nvSpPr>
          <p:cNvPr id="21" name="Text Placeholder 5">
            <a:extLst>
              <a:ext uri="{FF2B5EF4-FFF2-40B4-BE49-F238E27FC236}">
                <a16:creationId xmlns:a16="http://schemas.microsoft.com/office/drawing/2014/main" id="{36BC9FD4-1013-A9A3-6FC0-DF0B852026F3}"/>
              </a:ext>
            </a:extLst>
          </p:cNvPr>
          <p:cNvSpPr txBox="1">
            <a:spLocks/>
          </p:cNvSpPr>
          <p:nvPr/>
        </p:nvSpPr>
        <p:spPr>
          <a:xfrm>
            <a:off x="319463" y="4656322"/>
            <a:ext cx="11649272" cy="78465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700" dirty="0">
                <a:solidFill>
                  <a:schemeClr val="tx1"/>
                </a:solidFill>
              </a:rPr>
              <a:t>If the </a:t>
            </a:r>
            <a:r>
              <a:rPr lang="en-NZ" altLang="ja-JP" sz="1700" b="1" dirty="0" err="1">
                <a:solidFill>
                  <a:schemeClr val="tx1"/>
                </a:solidFill>
              </a:rPr>
              <a:t>Geweke</a:t>
            </a:r>
            <a:r>
              <a:rPr lang="en-NZ" altLang="ja-JP" sz="1700" b="1" dirty="0">
                <a:solidFill>
                  <a:schemeClr val="tx1"/>
                </a:solidFill>
              </a:rPr>
              <a:t> Diagnostic </a:t>
            </a:r>
            <a:r>
              <a:rPr lang="en-NZ" altLang="ja-JP" sz="1700" dirty="0">
                <a:solidFill>
                  <a:schemeClr val="tx1"/>
                </a:solidFill>
              </a:rPr>
              <a:t>provides evidence against the null hypothesis that the values in the two windows have equal means, </a:t>
            </a:r>
            <a:br>
              <a:rPr lang="en-NZ" altLang="ja-JP" sz="1700" dirty="0">
                <a:solidFill>
                  <a:schemeClr val="tx1"/>
                </a:solidFill>
              </a:rPr>
            </a:br>
            <a:r>
              <a:rPr lang="en-NZ" altLang="ja-JP" sz="1700" dirty="0">
                <a:solidFill>
                  <a:schemeClr val="tx1"/>
                </a:solidFill>
              </a:rPr>
              <a:t>this suggests that the first chain (or possibly both) have not yet converged to the target distribution.</a:t>
            </a:r>
          </a:p>
        </p:txBody>
      </p:sp>
      <p:sp>
        <p:nvSpPr>
          <p:cNvPr id="22" name="Text Placeholder 5">
            <a:extLst>
              <a:ext uri="{FF2B5EF4-FFF2-40B4-BE49-F238E27FC236}">
                <a16:creationId xmlns:a16="http://schemas.microsoft.com/office/drawing/2014/main" id="{A74D1E79-1C4B-3847-1483-791627763993}"/>
              </a:ext>
            </a:extLst>
          </p:cNvPr>
          <p:cNvSpPr txBox="1">
            <a:spLocks/>
          </p:cNvSpPr>
          <p:nvPr/>
        </p:nvSpPr>
        <p:spPr>
          <a:xfrm>
            <a:off x="319462" y="5460212"/>
            <a:ext cx="11311811" cy="78465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700" dirty="0">
                <a:solidFill>
                  <a:schemeClr val="tx1"/>
                </a:solidFill>
              </a:rPr>
              <a:t>In such instances, the first thing to try is taking a larger burn-in then repeating the test.</a:t>
            </a:r>
            <a:br>
              <a:rPr lang="en-NZ" altLang="ja-JP" sz="1700" dirty="0">
                <a:solidFill>
                  <a:schemeClr val="tx1"/>
                </a:solidFill>
              </a:rPr>
            </a:br>
            <a:r>
              <a:rPr lang="en-NZ" altLang="ja-JP" sz="1700" dirty="0">
                <a:solidFill>
                  <a:schemeClr val="tx1"/>
                </a:solidFill>
              </a:rPr>
              <a:t>If the chain still fails the </a:t>
            </a:r>
            <a:r>
              <a:rPr lang="en-NZ" altLang="ja-JP" sz="1700" dirty="0" err="1">
                <a:solidFill>
                  <a:schemeClr val="tx1"/>
                </a:solidFill>
              </a:rPr>
              <a:t>Geweke</a:t>
            </a:r>
            <a:r>
              <a:rPr lang="en-NZ" altLang="ja-JP" sz="1700" dirty="0">
                <a:solidFill>
                  <a:schemeClr val="tx1"/>
                </a:solidFill>
              </a:rPr>
              <a:t> test with a larger burn-in period, there may be something wrong with your algorithm.</a:t>
            </a:r>
          </a:p>
        </p:txBody>
      </p:sp>
    </p:spTree>
    <p:extLst>
      <p:ext uri="{BB962C8B-B14F-4D97-AF65-F5344CB8AC3E}">
        <p14:creationId xmlns:p14="http://schemas.microsoft.com/office/powerpoint/2010/main" val="3279014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P spid="21" grpId="0"/>
      <p:bldP spid="2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4" name="Title 6">
            <a:extLst>
              <a:ext uri="{FF2B5EF4-FFF2-40B4-BE49-F238E27FC236}">
                <a16:creationId xmlns:a16="http://schemas.microsoft.com/office/drawing/2014/main" id="{18EFAA1F-58F5-B8DC-5203-016AF3661A4C}"/>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10.3 – </a:t>
            </a:r>
            <a:r>
              <a:rPr lang="en-US" altLang="ja-JP" b="1" u="sng" dirty="0" err="1">
                <a:solidFill>
                  <a:prstClr val="black"/>
                </a:solidFill>
                <a:latin typeface="Calibri" panose="020F0502020204030204"/>
                <a:ea typeface="游ゴシック Light" panose="020B0300000000000000" pitchFamily="34" charset="-128"/>
              </a:rPr>
              <a:t>Geweke</a:t>
            </a:r>
            <a:r>
              <a:rPr lang="en-US" altLang="ja-JP" b="1" u="sng" dirty="0">
                <a:solidFill>
                  <a:prstClr val="black"/>
                </a:solidFill>
                <a:latin typeface="Calibri" panose="020F0502020204030204"/>
                <a:ea typeface="游ゴシック Light" panose="020B0300000000000000" pitchFamily="34" charset="-128"/>
              </a:rPr>
              <a:t> Diagnostic</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5" name="Footer Placeholder 2">
            <a:extLst>
              <a:ext uri="{FF2B5EF4-FFF2-40B4-BE49-F238E27FC236}">
                <a16:creationId xmlns:a16="http://schemas.microsoft.com/office/drawing/2014/main" id="{CE1BC482-63C5-C7CB-8FB1-F710CF896763}"/>
              </a:ext>
            </a:extLst>
          </p:cNvPr>
          <p:cNvSpPr txBox="1">
            <a:spLocks/>
          </p:cNvSpPr>
          <p:nvPr/>
        </p:nvSpPr>
        <p:spPr>
          <a:xfrm>
            <a:off x="8993875" y="86139"/>
            <a:ext cx="309549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10.3 – </a:t>
            </a:r>
            <a:r>
              <a:rPr kumimoji="1" lang="en-US" altLang="ja-JP" sz="1600" dirty="0" err="1">
                <a:solidFill>
                  <a:srgbClr val="DEDDDD"/>
                </a:solidFill>
                <a:latin typeface="Gidole"/>
                <a:ea typeface="游ゴシック" panose="020B0400000000000000" pitchFamily="34" charset="-128"/>
              </a:rPr>
              <a:t>Geweke</a:t>
            </a:r>
            <a:r>
              <a:rPr kumimoji="1" lang="en-US" altLang="ja-JP" sz="1600" dirty="0">
                <a:solidFill>
                  <a:srgbClr val="DEDDDD"/>
                </a:solidFill>
                <a:latin typeface="Gidole"/>
                <a:ea typeface="游ゴシック" panose="020B0400000000000000" pitchFamily="34" charset="-128"/>
              </a:rPr>
              <a:t> Diagnostic</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38" name="Text Placeholder 5">
            <a:extLst>
              <a:ext uri="{FF2B5EF4-FFF2-40B4-BE49-F238E27FC236}">
                <a16:creationId xmlns:a16="http://schemas.microsoft.com/office/drawing/2014/main" id="{4A0C7041-80E2-0602-E073-27804A3189F5}"/>
              </a:ext>
            </a:extLst>
          </p:cNvPr>
          <p:cNvSpPr txBox="1">
            <a:spLocks/>
          </p:cNvSpPr>
          <p:nvPr/>
        </p:nvSpPr>
        <p:spPr>
          <a:xfrm>
            <a:off x="321812" y="928762"/>
            <a:ext cx="11311811"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dirty="0">
                <a:solidFill>
                  <a:schemeClr val="tx1"/>
                </a:solidFill>
              </a:rPr>
              <a:t>More formally the </a:t>
            </a:r>
            <a:r>
              <a:rPr lang="en-NZ" altLang="ja-JP" sz="1800" b="1" dirty="0" err="1">
                <a:solidFill>
                  <a:schemeClr val="tx1"/>
                </a:solidFill>
              </a:rPr>
              <a:t>Geweke</a:t>
            </a:r>
            <a:r>
              <a:rPr lang="en-NZ" altLang="ja-JP" sz="1800" b="1" dirty="0">
                <a:solidFill>
                  <a:schemeClr val="tx1"/>
                </a:solidFill>
              </a:rPr>
              <a:t> Time Series Diagnostic </a:t>
            </a:r>
            <a:r>
              <a:rPr lang="en-NZ" altLang="ja-JP" sz="1800" dirty="0">
                <a:solidFill>
                  <a:schemeClr val="tx1"/>
                </a:solidFill>
              </a:rPr>
              <a:t>proceeds according to the following steps:</a:t>
            </a:r>
          </a:p>
        </p:txBody>
      </p:sp>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499491E6-EBB3-23CE-4323-BD1BC92AB406}"/>
                  </a:ext>
                </a:extLst>
              </p:cNvPr>
              <p:cNvSpPr txBox="1">
                <a:spLocks/>
              </p:cNvSpPr>
              <p:nvPr/>
            </p:nvSpPr>
            <p:spPr>
              <a:xfrm>
                <a:off x="716417" y="1456013"/>
                <a:ext cx="10914858"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lvl="0" indent="-342900">
                  <a:lnSpc>
                    <a:spcPct val="100000"/>
                  </a:lnSpc>
                  <a:buFont typeface="+mj-lt"/>
                  <a:buAutoNum type="arabicPeriod"/>
                  <a:defRPr/>
                </a:pPr>
                <a:r>
                  <a:rPr lang="en-NZ" altLang="ja-JP" sz="1600" dirty="0">
                    <a:solidFill>
                      <a:schemeClr val="tx1"/>
                    </a:solidFill>
                  </a:rPr>
                  <a:t>Take two non-overlapping windows of the post burn in chain. Call the values in these windows </a:t>
                </a:r>
                <a14:m>
                  <m:oMath xmlns:m="http://schemas.openxmlformats.org/officeDocument/2006/math">
                    <m:sSub>
                      <m:sSubPr>
                        <m:ctrlPr>
                          <a:rPr lang="en-NZ" altLang="ja-JP" sz="1600" b="1" i="1" smtClean="0">
                            <a:solidFill>
                              <a:schemeClr val="tx1"/>
                            </a:solidFill>
                            <a:latin typeface="Cambria Math" panose="02040503050406030204" pitchFamily="18" charset="0"/>
                          </a:rPr>
                        </m:ctrlPr>
                      </m:sSubPr>
                      <m:e>
                        <m:bar>
                          <m:barPr>
                            <m:ctrlPr>
                              <a:rPr lang="en-NZ" altLang="ja-JP" sz="1600" b="1" i="1" smtClean="0">
                                <a:solidFill>
                                  <a:schemeClr val="tx1"/>
                                </a:solidFill>
                                <a:latin typeface="Cambria Math" panose="02040503050406030204" pitchFamily="18" charset="0"/>
                              </a:rPr>
                            </m:ctrlPr>
                          </m:barPr>
                          <m:e>
                            <m:r>
                              <a:rPr lang="en-NZ" altLang="ja-JP" sz="1600" b="1" i="1" smtClean="0">
                                <a:solidFill>
                                  <a:schemeClr val="tx1"/>
                                </a:solidFill>
                                <a:latin typeface="Cambria Math" panose="02040503050406030204" pitchFamily="18" charset="0"/>
                              </a:rPr>
                              <m:t>𝒙</m:t>
                            </m:r>
                          </m:e>
                        </m:bar>
                      </m:e>
                      <m:sub>
                        <m:r>
                          <a:rPr lang="en-NZ" altLang="ja-JP" sz="1600" b="1" i="1" smtClean="0">
                            <a:solidFill>
                              <a:schemeClr val="tx1"/>
                            </a:solidFill>
                            <a:latin typeface="Cambria Math" panose="02040503050406030204" pitchFamily="18" charset="0"/>
                          </a:rPr>
                          <m:t>𝟏</m:t>
                        </m:r>
                      </m:sub>
                    </m:sSub>
                  </m:oMath>
                </a14:m>
                <a:r>
                  <a:rPr lang="en-NZ" altLang="ja-JP" sz="1600" dirty="0">
                    <a:solidFill>
                      <a:schemeClr val="tx1"/>
                    </a:solidFill>
                  </a:rPr>
                  <a:t> and </a:t>
                </a:r>
                <a14:m>
                  <m:oMath xmlns:m="http://schemas.openxmlformats.org/officeDocument/2006/math">
                    <m:sSub>
                      <m:sSubPr>
                        <m:ctrlPr>
                          <a:rPr lang="en-NZ" altLang="ja-JP" sz="1600" b="1" i="1">
                            <a:solidFill>
                              <a:schemeClr val="tx1"/>
                            </a:solidFill>
                            <a:latin typeface="Cambria Math" panose="02040503050406030204" pitchFamily="18" charset="0"/>
                          </a:rPr>
                        </m:ctrlPr>
                      </m:sSubPr>
                      <m:e>
                        <m:bar>
                          <m:barPr>
                            <m:ctrlPr>
                              <a:rPr lang="en-NZ" altLang="ja-JP" sz="1600" b="1" i="1">
                                <a:solidFill>
                                  <a:schemeClr val="tx1"/>
                                </a:solidFill>
                                <a:latin typeface="Cambria Math" panose="02040503050406030204" pitchFamily="18" charset="0"/>
                              </a:rPr>
                            </m:ctrlPr>
                          </m:barPr>
                          <m:e>
                            <m:r>
                              <a:rPr lang="en-NZ" altLang="ja-JP" sz="1600" b="1" i="1">
                                <a:solidFill>
                                  <a:schemeClr val="tx1"/>
                                </a:solidFill>
                                <a:latin typeface="Cambria Math" panose="02040503050406030204" pitchFamily="18" charset="0"/>
                              </a:rPr>
                              <m:t>𝒙</m:t>
                            </m:r>
                          </m:e>
                        </m:bar>
                      </m:e>
                      <m:sub>
                        <m:r>
                          <a:rPr lang="en-NZ" altLang="ja-JP" sz="1600" b="1" i="1" smtClean="0">
                            <a:solidFill>
                              <a:schemeClr val="tx1"/>
                            </a:solidFill>
                            <a:latin typeface="Cambria Math" panose="02040503050406030204" pitchFamily="18" charset="0"/>
                          </a:rPr>
                          <m:t>𝟐</m:t>
                        </m:r>
                      </m:sub>
                    </m:sSub>
                  </m:oMath>
                </a14:m>
                <a:r>
                  <a:rPr lang="en-NZ" altLang="ja-JP" sz="1600" dirty="0">
                    <a:solidFill>
                      <a:schemeClr val="tx1"/>
                    </a:solidFill>
                  </a:rPr>
                  <a:t>.</a:t>
                </a:r>
                <a:br>
                  <a:rPr lang="en-NZ" altLang="ja-JP" sz="1600" dirty="0">
                    <a:solidFill>
                      <a:schemeClr val="tx1"/>
                    </a:solidFill>
                  </a:rPr>
                </a:br>
                <a14:m>
                  <m:oMath xmlns:m="http://schemas.openxmlformats.org/officeDocument/2006/math">
                    <m:sSub>
                      <m:sSubPr>
                        <m:ctrlPr>
                          <a:rPr lang="en-NZ" altLang="ja-JP" sz="1600" b="1" i="1">
                            <a:solidFill>
                              <a:schemeClr val="tx1"/>
                            </a:solidFill>
                            <a:latin typeface="Cambria Math" panose="02040503050406030204" pitchFamily="18" charset="0"/>
                          </a:rPr>
                        </m:ctrlPr>
                      </m:sSubPr>
                      <m:e>
                        <m:bar>
                          <m:barPr>
                            <m:ctrlPr>
                              <a:rPr lang="en-NZ" altLang="ja-JP" sz="1600" b="1" i="1">
                                <a:solidFill>
                                  <a:schemeClr val="tx1"/>
                                </a:solidFill>
                                <a:latin typeface="Cambria Math" panose="02040503050406030204" pitchFamily="18" charset="0"/>
                              </a:rPr>
                            </m:ctrlPr>
                          </m:barPr>
                          <m:e>
                            <m:r>
                              <a:rPr lang="en-NZ" altLang="ja-JP" sz="1600" b="1" i="1">
                                <a:solidFill>
                                  <a:schemeClr val="tx1"/>
                                </a:solidFill>
                                <a:latin typeface="Cambria Math" panose="02040503050406030204" pitchFamily="18" charset="0"/>
                              </a:rPr>
                              <m:t>𝒙</m:t>
                            </m:r>
                          </m:e>
                        </m:bar>
                      </m:e>
                      <m:sub>
                        <m:r>
                          <a:rPr lang="en-NZ" altLang="ja-JP" sz="1600" b="1" i="1">
                            <a:solidFill>
                              <a:schemeClr val="tx1"/>
                            </a:solidFill>
                            <a:latin typeface="Cambria Math" panose="02040503050406030204" pitchFamily="18" charset="0"/>
                          </a:rPr>
                          <m:t>𝟏</m:t>
                        </m:r>
                      </m:sub>
                    </m:sSub>
                  </m:oMath>
                </a14:m>
                <a:r>
                  <a:rPr lang="en-NZ" altLang="ja-JP" sz="1600" dirty="0">
                    <a:solidFill>
                      <a:schemeClr val="tx1"/>
                    </a:solidFill>
                  </a:rPr>
                  <a:t> consists of </a:t>
                </a:r>
                <a14:m>
                  <m:oMath xmlns:m="http://schemas.openxmlformats.org/officeDocument/2006/math">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𝒏</m:t>
                        </m:r>
                      </m:e>
                      <m:sub>
                        <m:r>
                          <a:rPr lang="en-NZ" altLang="ja-JP" sz="1600" b="1" i="1">
                            <a:solidFill>
                              <a:schemeClr val="tx1"/>
                            </a:solidFill>
                            <a:latin typeface="Cambria Math" panose="02040503050406030204" pitchFamily="18" charset="0"/>
                          </a:rPr>
                          <m:t>𝟏</m:t>
                        </m:r>
                      </m:sub>
                    </m:sSub>
                  </m:oMath>
                </a14:m>
                <a:r>
                  <a:rPr lang="en-NZ" altLang="ja-JP" sz="1600" b="1" dirty="0">
                    <a:solidFill>
                      <a:schemeClr val="tx1"/>
                    </a:solidFill>
                  </a:rPr>
                  <a:t> </a:t>
                </a:r>
                <a:r>
                  <a:rPr lang="en-NZ" altLang="ja-JP" sz="1600" dirty="0">
                    <a:solidFill>
                      <a:schemeClr val="tx1"/>
                    </a:solidFill>
                  </a:rPr>
                  <a:t>values from early in the chain and </a:t>
                </a:r>
                <a14:m>
                  <m:oMath xmlns:m="http://schemas.openxmlformats.org/officeDocument/2006/math">
                    <m:sSub>
                      <m:sSubPr>
                        <m:ctrlPr>
                          <a:rPr lang="en-NZ" altLang="ja-JP" sz="1600" b="1" i="1">
                            <a:solidFill>
                              <a:schemeClr val="tx1"/>
                            </a:solidFill>
                            <a:latin typeface="Cambria Math" panose="02040503050406030204" pitchFamily="18" charset="0"/>
                          </a:rPr>
                        </m:ctrlPr>
                      </m:sSubPr>
                      <m:e>
                        <m:bar>
                          <m:barPr>
                            <m:ctrlPr>
                              <a:rPr lang="en-NZ" altLang="ja-JP" sz="1600" b="1" i="1">
                                <a:solidFill>
                                  <a:schemeClr val="tx1"/>
                                </a:solidFill>
                                <a:latin typeface="Cambria Math" panose="02040503050406030204" pitchFamily="18" charset="0"/>
                              </a:rPr>
                            </m:ctrlPr>
                          </m:barPr>
                          <m:e>
                            <m:r>
                              <a:rPr lang="en-NZ" altLang="ja-JP" sz="1600" b="1" i="1">
                                <a:solidFill>
                                  <a:schemeClr val="tx1"/>
                                </a:solidFill>
                                <a:latin typeface="Cambria Math" panose="02040503050406030204" pitchFamily="18" charset="0"/>
                              </a:rPr>
                              <m:t>𝒙</m:t>
                            </m:r>
                          </m:e>
                        </m:bar>
                      </m:e>
                      <m:sub>
                        <m:r>
                          <a:rPr lang="en-NZ" altLang="ja-JP" sz="1600" b="1" i="1">
                            <a:solidFill>
                              <a:schemeClr val="tx1"/>
                            </a:solidFill>
                            <a:latin typeface="Cambria Math" panose="02040503050406030204" pitchFamily="18" charset="0"/>
                          </a:rPr>
                          <m:t>𝟐</m:t>
                        </m:r>
                      </m:sub>
                    </m:sSub>
                  </m:oMath>
                </a14:m>
                <a:r>
                  <a:rPr lang="en-NZ" altLang="ja-JP" sz="1600" dirty="0">
                    <a:solidFill>
                      <a:schemeClr val="tx1"/>
                    </a:solidFill>
                  </a:rPr>
                  <a:t> consists of </a:t>
                </a:r>
                <a14:m>
                  <m:oMath xmlns:m="http://schemas.openxmlformats.org/officeDocument/2006/math">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𝒏</m:t>
                        </m:r>
                      </m:e>
                      <m:sub>
                        <m:r>
                          <a:rPr lang="en-NZ" altLang="ja-JP" sz="1600" b="1" i="1">
                            <a:solidFill>
                              <a:schemeClr val="tx1"/>
                            </a:solidFill>
                            <a:latin typeface="Cambria Math" panose="02040503050406030204" pitchFamily="18" charset="0"/>
                          </a:rPr>
                          <m:t>𝟐</m:t>
                        </m:r>
                      </m:sub>
                    </m:sSub>
                  </m:oMath>
                </a14:m>
                <a:r>
                  <a:rPr lang="en-NZ" altLang="ja-JP" sz="1600" b="1" dirty="0">
                    <a:solidFill>
                      <a:schemeClr val="tx1"/>
                    </a:solidFill>
                  </a:rPr>
                  <a:t> </a:t>
                </a:r>
                <a:r>
                  <a:rPr lang="en-NZ" altLang="ja-JP" sz="1600" dirty="0">
                    <a:solidFill>
                      <a:schemeClr val="tx1"/>
                    </a:solidFill>
                  </a:rPr>
                  <a:t>values from the end of the chain.</a:t>
                </a:r>
              </a:p>
            </p:txBody>
          </p:sp>
        </mc:Choice>
        <mc:Fallback xmlns="">
          <p:sp>
            <p:nvSpPr>
              <p:cNvPr id="20" name="Text Placeholder 5">
                <a:extLst>
                  <a:ext uri="{FF2B5EF4-FFF2-40B4-BE49-F238E27FC236}">
                    <a16:creationId xmlns:a16="http://schemas.microsoft.com/office/drawing/2014/main" id="{499491E6-EBB3-23CE-4323-BD1BC92AB406}"/>
                  </a:ext>
                </a:extLst>
              </p:cNvPr>
              <p:cNvSpPr txBox="1">
                <a:spLocks noRot="1" noChangeAspect="1" noMove="1" noResize="1" noEditPoints="1" noAdjustHandles="1" noChangeArrowheads="1" noChangeShapeType="1" noTextEdit="1"/>
              </p:cNvSpPr>
              <p:nvPr/>
            </p:nvSpPr>
            <p:spPr>
              <a:xfrm>
                <a:off x="716417" y="1456013"/>
                <a:ext cx="10914858" cy="675343"/>
              </a:xfrm>
              <a:prstGeom prst="rect">
                <a:avLst/>
              </a:prstGeom>
              <a:blipFill>
                <a:blip r:embed="rId3"/>
                <a:stretch>
                  <a:fillRect l="-335" t="-1802"/>
                </a:stretch>
              </a:blipFill>
            </p:spPr>
            <p:txBody>
              <a:bodyPr/>
              <a:lstStyle/>
              <a:p>
                <a:r>
                  <a:rPr lang="en-NZ">
                    <a:noFill/>
                  </a:rPr>
                  <a:t> </a:t>
                </a:r>
              </a:p>
            </p:txBody>
          </p:sp>
        </mc:Fallback>
      </mc:AlternateContent>
      <p:sp>
        <p:nvSpPr>
          <p:cNvPr id="24" name="Text Placeholder 5">
            <a:extLst>
              <a:ext uri="{FF2B5EF4-FFF2-40B4-BE49-F238E27FC236}">
                <a16:creationId xmlns:a16="http://schemas.microsoft.com/office/drawing/2014/main" id="{D816EC59-0304-7202-6EC7-F648A04C2649}"/>
              </a:ext>
            </a:extLst>
          </p:cNvPr>
          <p:cNvSpPr txBox="1">
            <a:spLocks/>
          </p:cNvSpPr>
          <p:nvPr/>
        </p:nvSpPr>
        <p:spPr>
          <a:xfrm>
            <a:off x="716417" y="2240079"/>
            <a:ext cx="10914858" cy="85796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lvl="0" indent="-342900">
              <a:lnSpc>
                <a:spcPct val="100000"/>
              </a:lnSpc>
              <a:buFont typeface="+mj-lt"/>
              <a:buAutoNum type="arabicPeriod" startAt="2"/>
              <a:defRPr/>
            </a:pPr>
            <a:r>
              <a:rPr lang="en-NZ" altLang="ja-JP" sz="1600" dirty="0">
                <a:solidFill>
                  <a:schemeClr val="tx1"/>
                </a:solidFill>
              </a:rPr>
              <a:t>The </a:t>
            </a:r>
            <a:r>
              <a:rPr lang="en-NZ" altLang="ja-JP" sz="1600" dirty="0" err="1">
                <a:solidFill>
                  <a:schemeClr val="tx1"/>
                </a:solidFill>
              </a:rPr>
              <a:t>Geweke</a:t>
            </a:r>
            <a:r>
              <a:rPr lang="en-NZ" altLang="ja-JP" sz="1600" dirty="0">
                <a:solidFill>
                  <a:schemeClr val="tx1"/>
                </a:solidFill>
              </a:rPr>
              <a:t> Diagnostic tests between the following null and alternative hypotheses:</a:t>
            </a:r>
            <a:br>
              <a:rPr lang="en-NZ" altLang="ja-JP" sz="1600" dirty="0">
                <a:solidFill>
                  <a:schemeClr val="tx1"/>
                </a:solidFill>
              </a:rPr>
            </a:br>
            <a:r>
              <a:rPr lang="en-NZ" altLang="ja-JP" sz="1600" dirty="0">
                <a:solidFill>
                  <a:schemeClr val="tx1"/>
                </a:solidFill>
              </a:rPr>
              <a:t>	</a:t>
            </a:r>
            <a:r>
              <a:rPr lang="en-NZ" altLang="ja-JP" sz="1600" b="1" i="1" dirty="0">
                <a:solidFill>
                  <a:schemeClr val="tx1"/>
                </a:solidFill>
              </a:rPr>
              <a:t>H</a:t>
            </a:r>
            <a:r>
              <a:rPr lang="en-NZ" altLang="ja-JP" sz="1600" b="1" i="1" baseline="-25000" dirty="0">
                <a:solidFill>
                  <a:schemeClr val="tx1"/>
                </a:solidFill>
              </a:rPr>
              <a:t>0 </a:t>
            </a:r>
            <a:r>
              <a:rPr lang="en-NZ" altLang="ja-JP" sz="1600" b="1" i="1" dirty="0">
                <a:solidFill>
                  <a:schemeClr val="tx1"/>
                </a:solidFill>
              </a:rPr>
              <a:t>: The chain values in the two windows arise from the same distribution</a:t>
            </a:r>
            <a:br>
              <a:rPr lang="en-NZ" altLang="ja-JP" sz="1600" b="1" i="1" dirty="0">
                <a:solidFill>
                  <a:schemeClr val="tx1"/>
                </a:solidFill>
              </a:rPr>
            </a:br>
            <a:r>
              <a:rPr lang="en-NZ" altLang="ja-JP" sz="1600" b="1" i="1" dirty="0">
                <a:solidFill>
                  <a:schemeClr val="tx1"/>
                </a:solidFill>
              </a:rPr>
              <a:t>	H</a:t>
            </a:r>
            <a:r>
              <a:rPr lang="en-NZ" altLang="ja-JP" sz="1600" b="1" i="1" baseline="-25000" dirty="0">
                <a:solidFill>
                  <a:schemeClr val="tx1"/>
                </a:solidFill>
              </a:rPr>
              <a:t>1 </a:t>
            </a:r>
            <a:r>
              <a:rPr lang="en-NZ" altLang="ja-JP" sz="1600" b="1" i="1" dirty="0">
                <a:solidFill>
                  <a:schemeClr val="tx1"/>
                </a:solidFill>
              </a:rPr>
              <a:t>: The chain values in the two windows do not arise from the same distribution</a:t>
            </a:r>
            <a:endParaRPr lang="en-NZ" altLang="ja-JP" sz="1600" dirty="0">
              <a:solidFill>
                <a:schemeClr val="tx1"/>
              </a:solidFill>
            </a:endParaRPr>
          </a:p>
        </p:txBody>
      </p:sp>
      <p:sp>
        <p:nvSpPr>
          <p:cNvPr id="25" name="Text Placeholder 5">
            <a:extLst>
              <a:ext uri="{FF2B5EF4-FFF2-40B4-BE49-F238E27FC236}">
                <a16:creationId xmlns:a16="http://schemas.microsoft.com/office/drawing/2014/main" id="{37D36FC0-A29D-7EFF-A431-CF4E7854C75F}"/>
              </a:ext>
            </a:extLst>
          </p:cNvPr>
          <p:cNvSpPr txBox="1">
            <a:spLocks/>
          </p:cNvSpPr>
          <p:nvPr/>
        </p:nvSpPr>
        <p:spPr>
          <a:xfrm>
            <a:off x="716417" y="3231311"/>
            <a:ext cx="10914858" cy="36677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lvl="0" indent="-342900">
              <a:lnSpc>
                <a:spcPct val="100000"/>
              </a:lnSpc>
              <a:buFont typeface="+mj-lt"/>
              <a:buAutoNum type="arabicPeriod" startAt="3"/>
              <a:defRPr/>
            </a:pPr>
            <a:r>
              <a:rPr lang="en-NZ" altLang="ja-JP" sz="1600" dirty="0">
                <a:solidFill>
                  <a:schemeClr val="tx1"/>
                </a:solidFill>
              </a:rPr>
              <a:t>The test statistic </a:t>
            </a:r>
            <a:r>
              <a:rPr lang="en-NZ" altLang="ja-JP" sz="1600" b="1" i="1" dirty="0">
                <a:solidFill>
                  <a:schemeClr val="tx1"/>
                </a:solidFill>
              </a:rPr>
              <a:t>G</a:t>
            </a:r>
            <a:r>
              <a:rPr lang="en-NZ" altLang="ja-JP" sz="1600" dirty="0">
                <a:solidFill>
                  <a:schemeClr val="tx1"/>
                </a:solidFill>
              </a:rPr>
              <a:t> provides a measure of evidence against the null hypothesis</a:t>
            </a:r>
          </a:p>
        </p:txBody>
      </p:sp>
      <mc:AlternateContent xmlns:mc="http://schemas.openxmlformats.org/markup-compatibility/2006" xmlns:a14="http://schemas.microsoft.com/office/drawing/2010/main">
        <mc:Choice Requires="a14">
          <p:sp>
            <p:nvSpPr>
              <p:cNvPr id="26" name="Text Placeholder 5">
                <a:extLst>
                  <a:ext uri="{FF2B5EF4-FFF2-40B4-BE49-F238E27FC236}">
                    <a16:creationId xmlns:a16="http://schemas.microsoft.com/office/drawing/2014/main" id="{610BC7A9-736E-8D6A-8A45-CC32B47F60DA}"/>
                  </a:ext>
                </a:extLst>
              </p:cNvPr>
              <p:cNvSpPr txBox="1">
                <a:spLocks/>
              </p:cNvSpPr>
              <p:nvPr/>
            </p:nvSpPr>
            <p:spPr>
              <a:xfrm>
                <a:off x="1241945" y="3669148"/>
                <a:ext cx="9471547" cy="106040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left"/>
                    </m:oMathParaPr>
                    <m:oMath xmlns:m="http://schemas.openxmlformats.org/officeDocument/2006/math">
                      <m:r>
                        <a:rPr lang="en-NZ" altLang="ja-JP" sz="1600" b="1" i="1" smtClean="0">
                          <a:solidFill>
                            <a:schemeClr val="tx1"/>
                          </a:solidFill>
                          <a:latin typeface="Cambria Math" panose="02040503050406030204" pitchFamily="18" charset="0"/>
                        </a:rPr>
                        <m:t>𝑮</m:t>
                      </m:r>
                      <m:r>
                        <a:rPr lang="en-NZ" altLang="ja-JP" sz="1600" b="1" i="1" smtClean="0">
                          <a:solidFill>
                            <a:schemeClr val="tx1"/>
                          </a:solidFill>
                          <a:latin typeface="Cambria Math" panose="02040503050406030204" pitchFamily="18" charset="0"/>
                        </a:rPr>
                        <m:t>     =      </m:t>
                      </m:r>
                      <m:f>
                        <m:fPr>
                          <m:ctrlPr>
                            <a:rPr lang="en-NZ" altLang="ja-JP" sz="1600" b="1" i="1" smtClean="0">
                              <a:solidFill>
                                <a:schemeClr val="tx1"/>
                              </a:solidFill>
                              <a:latin typeface="Cambria Math" panose="02040503050406030204" pitchFamily="18" charset="0"/>
                            </a:rPr>
                          </m:ctrlPr>
                        </m:fPr>
                        <m:num>
                          <m:acc>
                            <m:accPr>
                              <m:chr m:val="̅"/>
                              <m:ctrlPr>
                                <a:rPr lang="en-NZ" altLang="ja-JP" sz="1600" b="1" i="1" smtClean="0">
                                  <a:solidFill>
                                    <a:schemeClr val="tx1"/>
                                  </a:solidFill>
                                  <a:latin typeface="Cambria Math" panose="02040503050406030204" pitchFamily="18" charset="0"/>
                                </a:rPr>
                              </m:ctrlPr>
                            </m:accPr>
                            <m:e>
                              <m:r>
                                <a:rPr lang="en-NZ" altLang="ja-JP" sz="1600" b="1" i="1" smtClean="0">
                                  <a:solidFill>
                                    <a:schemeClr val="tx1"/>
                                  </a:solidFill>
                                  <a:latin typeface="Cambria Math" panose="02040503050406030204" pitchFamily="18" charset="0"/>
                                </a:rPr>
                                <m:t>𝒈</m:t>
                              </m:r>
                            </m:e>
                          </m:acc>
                          <m:d>
                            <m:dPr>
                              <m:ctrlPr>
                                <a:rPr lang="en-NZ" altLang="ja-JP" sz="1600" b="1" i="1" smtClean="0">
                                  <a:solidFill>
                                    <a:schemeClr val="tx1"/>
                                  </a:solidFill>
                                  <a:latin typeface="Cambria Math" panose="02040503050406030204" pitchFamily="18" charset="0"/>
                                </a:rPr>
                              </m:ctrlPr>
                            </m:dPr>
                            <m:e>
                              <m:sSub>
                                <m:sSubPr>
                                  <m:ctrlPr>
                                    <a:rPr lang="en-NZ" altLang="ja-JP" sz="1600" b="1" i="1">
                                      <a:solidFill>
                                        <a:schemeClr val="tx1"/>
                                      </a:solidFill>
                                      <a:latin typeface="Cambria Math" panose="02040503050406030204" pitchFamily="18" charset="0"/>
                                    </a:rPr>
                                  </m:ctrlPr>
                                </m:sSubPr>
                                <m:e>
                                  <m:bar>
                                    <m:barPr>
                                      <m:ctrlPr>
                                        <a:rPr lang="en-NZ" altLang="ja-JP" sz="1600" b="1" i="1">
                                          <a:solidFill>
                                            <a:schemeClr val="tx1"/>
                                          </a:solidFill>
                                          <a:latin typeface="Cambria Math" panose="02040503050406030204" pitchFamily="18" charset="0"/>
                                        </a:rPr>
                                      </m:ctrlPr>
                                    </m:barPr>
                                    <m:e>
                                      <m:r>
                                        <a:rPr lang="en-NZ" altLang="ja-JP" sz="1600" b="1" i="1">
                                          <a:solidFill>
                                            <a:schemeClr val="tx1"/>
                                          </a:solidFill>
                                          <a:latin typeface="Cambria Math" panose="02040503050406030204" pitchFamily="18" charset="0"/>
                                        </a:rPr>
                                        <m:t>𝒙</m:t>
                                      </m:r>
                                    </m:e>
                                  </m:bar>
                                </m:e>
                                <m:sub>
                                  <m:r>
                                    <a:rPr lang="en-NZ" altLang="ja-JP" sz="1600" b="1" i="1">
                                      <a:solidFill>
                                        <a:schemeClr val="tx1"/>
                                      </a:solidFill>
                                      <a:latin typeface="Cambria Math" panose="02040503050406030204" pitchFamily="18" charset="0"/>
                                    </a:rPr>
                                    <m:t>𝟏</m:t>
                                  </m:r>
                                </m:sub>
                              </m:sSub>
                            </m:e>
                          </m:d>
                          <m:r>
                            <a:rPr lang="en-NZ" altLang="ja-JP" sz="1600" b="1" i="1" smtClean="0">
                              <a:solidFill>
                                <a:schemeClr val="tx1"/>
                              </a:solidFill>
                              <a:latin typeface="Cambria Math" panose="02040503050406030204" pitchFamily="18" charset="0"/>
                            </a:rPr>
                            <m:t>−</m:t>
                          </m:r>
                          <m:acc>
                            <m:accPr>
                              <m:chr m:val="̅"/>
                              <m:ctrlPr>
                                <a:rPr lang="en-NZ" altLang="ja-JP" sz="1600" b="1" i="1">
                                  <a:solidFill>
                                    <a:schemeClr val="tx1"/>
                                  </a:solidFill>
                                  <a:latin typeface="Cambria Math" panose="02040503050406030204" pitchFamily="18" charset="0"/>
                                </a:rPr>
                              </m:ctrlPr>
                            </m:accPr>
                            <m:e>
                              <m:r>
                                <a:rPr lang="en-NZ" altLang="ja-JP" sz="1600" b="1" i="1">
                                  <a:solidFill>
                                    <a:schemeClr val="tx1"/>
                                  </a:solidFill>
                                  <a:latin typeface="Cambria Math" panose="02040503050406030204" pitchFamily="18" charset="0"/>
                                </a:rPr>
                                <m:t>𝒈</m:t>
                              </m:r>
                            </m:e>
                          </m:acc>
                          <m:d>
                            <m:dPr>
                              <m:ctrlPr>
                                <a:rPr lang="en-NZ" altLang="ja-JP" sz="1600" b="1" i="1">
                                  <a:solidFill>
                                    <a:schemeClr val="tx1"/>
                                  </a:solidFill>
                                  <a:latin typeface="Cambria Math" panose="02040503050406030204" pitchFamily="18" charset="0"/>
                                </a:rPr>
                              </m:ctrlPr>
                            </m:dPr>
                            <m:e>
                              <m:sSub>
                                <m:sSubPr>
                                  <m:ctrlPr>
                                    <a:rPr lang="en-NZ" altLang="ja-JP" sz="1600" b="1" i="1">
                                      <a:solidFill>
                                        <a:schemeClr val="tx1"/>
                                      </a:solidFill>
                                      <a:latin typeface="Cambria Math" panose="02040503050406030204" pitchFamily="18" charset="0"/>
                                    </a:rPr>
                                  </m:ctrlPr>
                                </m:sSubPr>
                                <m:e>
                                  <m:bar>
                                    <m:barPr>
                                      <m:ctrlPr>
                                        <a:rPr lang="en-NZ" altLang="ja-JP" sz="1600" b="1" i="1">
                                          <a:solidFill>
                                            <a:schemeClr val="tx1"/>
                                          </a:solidFill>
                                          <a:latin typeface="Cambria Math" panose="02040503050406030204" pitchFamily="18" charset="0"/>
                                        </a:rPr>
                                      </m:ctrlPr>
                                    </m:barPr>
                                    <m:e>
                                      <m:r>
                                        <a:rPr lang="en-NZ" altLang="ja-JP" sz="1600" b="1" i="1">
                                          <a:solidFill>
                                            <a:schemeClr val="tx1"/>
                                          </a:solidFill>
                                          <a:latin typeface="Cambria Math" panose="02040503050406030204" pitchFamily="18" charset="0"/>
                                        </a:rPr>
                                        <m:t>𝒙</m:t>
                                      </m:r>
                                    </m:e>
                                  </m:bar>
                                </m:e>
                                <m:sub>
                                  <m:r>
                                    <a:rPr lang="en-NZ" altLang="ja-JP" sz="1600" b="1" i="1" smtClean="0">
                                      <a:solidFill>
                                        <a:schemeClr val="tx1"/>
                                      </a:solidFill>
                                      <a:latin typeface="Cambria Math" panose="02040503050406030204" pitchFamily="18" charset="0"/>
                                    </a:rPr>
                                    <m:t>𝟐</m:t>
                                  </m:r>
                                </m:sub>
                              </m:sSub>
                            </m:e>
                          </m:d>
                        </m:num>
                        <m:den>
                          <m:rad>
                            <m:radPr>
                              <m:degHide m:val="on"/>
                              <m:ctrlPr>
                                <a:rPr lang="en-NZ" altLang="ja-JP" sz="1600" b="1" i="1" smtClean="0">
                                  <a:solidFill>
                                    <a:schemeClr val="tx1"/>
                                  </a:solidFill>
                                  <a:latin typeface="Cambria Math" panose="02040503050406030204" pitchFamily="18" charset="0"/>
                                </a:rPr>
                              </m:ctrlPr>
                            </m:radPr>
                            <m:deg/>
                            <m:e>
                              <m:r>
                                <a:rPr lang="en-NZ" altLang="ja-JP" sz="1600" b="1" i="1" smtClean="0">
                                  <a:solidFill>
                                    <a:schemeClr val="tx1"/>
                                  </a:solidFill>
                                  <a:latin typeface="Cambria Math" panose="02040503050406030204" pitchFamily="18" charset="0"/>
                                </a:rPr>
                                <m:t>  </m:t>
                              </m:r>
                              <m:f>
                                <m:fPr>
                                  <m:ctrlPr>
                                    <a:rPr lang="en-NZ" altLang="ja-JP" sz="1600" b="1" i="1" smtClean="0">
                                      <a:solidFill>
                                        <a:schemeClr val="tx1"/>
                                      </a:solidFill>
                                      <a:latin typeface="Cambria Math" panose="02040503050406030204" pitchFamily="18" charset="0"/>
                                    </a:rPr>
                                  </m:ctrlPr>
                                </m:fPr>
                                <m:num>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𝒔</m:t>
                                      </m:r>
                                    </m:e>
                                    <m:sub>
                                      <m:r>
                                        <a:rPr lang="en-NZ" altLang="ja-JP" sz="1600" b="1" i="1" smtClean="0">
                                          <a:solidFill>
                                            <a:schemeClr val="tx1"/>
                                          </a:solidFill>
                                          <a:latin typeface="Cambria Math" panose="02040503050406030204" pitchFamily="18" charset="0"/>
                                        </a:rPr>
                                        <m:t>𝟏</m:t>
                                      </m:r>
                                    </m:sub>
                                  </m:sSub>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𝟎</m:t>
                                  </m:r>
                                  <m:r>
                                    <a:rPr lang="en-NZ" altLang="ja-JP" sz="1600" b="1" i="1" smtClean="0">
                                      <a:solidFill>
                                        <a:schemeClr val="tx1"/>
                                      </a:solidFill>
                                      <a:latin typeface="Cambria Math" panose="02040503050406030204" pitchFamily="18" charset="0"/>
                                    </a:rPr>
                                    <m:t>)</m:t>
                                  </m:r>
                                </m:num>
                                <m:den>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𝒏</m:t>
                                      </m:r>
                                    </m:e>
                                    <m:sub>
                                      <m:r>
                                        <a:rPr lang="en-NZ" altLang="ja-JP" sz="1600" b="1" i="1" smtClean="0">
                                          <a:solidFill>
                                            <a:schemeClr val="tx1"/>
                                          </a:solidFill>
                                          <a:latin typeface="Cambria Math" panose="02040503050406030204" pitchFamily="18" charset="0"/>
                                        </a:rPr>
                                        <m:t>𝟏</m:t>
                                      </m:r>
                                    </m:sub>
                                  </m:sSub>
                                </m:den>
                              </m:f>
                              <m:r>
                                <a:rPr lang="en-NZ" altLang="ja-JP" sz="1600" b="1" i="1" smtClean="0">
                                  <a:solidFill>
                                    <a:schemeClr val="tx1"/>
                                  </a:solidFill>
                                  <a:latin typeface="Cambria Math" panose="02040503050406030204" pitchFamily="18" charset="0"/>
                                </a:rPr>
                                <m:t>  +  </m:t>
                              </m:r>
                              <m:f>
                                <m:fPr>
                                  <m:ctrlPr>
                                    <a:rPr lang="en-NZ" altLang="ja-JP" sz="1600" b="1" i="1">
                                      <a:solidFill>
                                        <a:schemeClr val="tx1"/>
                                      </a:solidFill>
                                      <a:latin typeface="Cambria Math" panose="02040503050406030204" pitchFamily="18" charset="0"/>
                                    </a:rPr>
                                  </m:ctrlPr>
                                </m:fPr>
                                <m:num>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𝒔</m:t>
                                      </m:r>
                                    </m:e>
                                    <m:sub>
                                      <m:r>
                                        <a:rPr lang="en-NZ" altLang="ja-JP" sz="1600" b="1" i="1" smtClean="0">
                                          <a:solidFill>
                                            <a:schemeClr val="tx1"/>
                                          </a:solidFill>
                                          <a:latin typeface="Cambria Math" panose="02040503050406030204" pitchFamily="18" charset="0"/>
                                        </a:rPr>
                                        <m:t>𝟐</m:t>
                                      </m:r>
                                    </m:sub>
                                  </m:sSub>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𝟎</m:t>
                                  </m:r>
                                  <m:r>
                                    <a:rPr lang="en-NZ" altLang="ja-JP" sz="1600" b="1" i="1">
                                      <a:solidFill>
                                        <a:schemeClr val="tx1"/>
                                      </a:solidFill>
                                      <a:latin typeface="Cambria Math" panose="02040503050406030204" pitchFamily="18" charset="0"/>
                                    </a:rPr>
                                    <m:t>)</m:t>
                                  </m:r>
                                </m:num>
                                <m:den>
                                  <m:sSub>
                                    <m:sSubPr>
                                      <m:ctrlPr>
                                        <a:rPr lang="en-NZ" altLang="ja-JP" sz="1600" b="1" i="1" smtClean="0">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𝒏</m:t>
                                      </m:r>
                                    </m:e>
                                    <m:sub>
                                      <m:r>
                                        <a:rPr lang="en-NZ" altLang="ja-JP" sz="1600" b="1" i="1" smtClean="0">
                                          <a:solidFill>
                                            <a:schemeClr val="tx1"/>
                                          </a:solidFill>
                                          <a:latin typeface="Cambria Math" panose="02040503050406030204" pitchFamily="18" charset="0"/>
                                        </a:rPr>
                                        <m:t>𝟐</m:t>
                                      </m:r>
                                    </m:sub>
                                  </m:sSub>
                                </m:den>
                              </m:f>
                            </m:e>
                          </m:rad>
                        </m:den>
                      </m:f>
                      <m:r>
                        <a:rPr lang="en-NZ" altLang="ja-JP" sz="1600" b="1" i="1" smtClean="0">
                          <a:solidFill>
                            <a:schemeClr val="tx1"/>
                          </a:solidFill>
                          <a:latin typeface="Cambria Math" panose="02040503050406030204" pitchFamily="18" charset="0"/>
                        </a:rPr>
                        <m:t>     =      </m:t>
                      </m:r>
                      <m:f>
                        <m:fPr>
                          <m:ctrlPr>
                            <a:rPr lang="en-NZ" altLang="ja-JP" sz="1600" b="1" i="1">
                              <a:solidFill>
                                <a:schemeClr val="tx1"/>
                              </a:solidFill>
                              <a:latin typeface="Cambria Math" panose="02040503050406030204" pitchFamily="18" charset="0"/>
                            </a:rPr>
                          </m:ctrlPr>
                        </m:fPr>
                        <m:num>
                          <m:nary>
                            <m:naryPr>
                              <m:chr m:val="∑"/>
                              <m:ctrlPr>
                                <a:rPr lang="en-NZ" altLang="ja-JP" sz="1600" b="1" i="1" smtClean="0">
                                  <a:solidFill>
                                    <a:schemeClr val="tx1"/>
                                  </a:solidFill>
                                  <a:latin typeface="Cambria Math" panose="02040503050406030204" pitchFamily="18" charset="0"/>
                                </a:rPr>
                              </m:ctrlPr>
                            </m:naryPr>
                            <m:sub>
                              <m:r>
                                <m:rPr>
                                  <m:brk m:alnAt="23"/>
                                </m:rPr>
                                <a:rPr lang="en-NZ" altLang="ja-JP" sz="1600" b="1" i="1" smtClean="0">
                                  <a:solidFill>
                                    <a:schemeClr val="tx1"/>
                                  </a:solidFill>
                                  <a:latin typeface="Cambria Math" panose="02040503050406030204" pitchFamily="18" charset="0"/>
                                </a:rPr>
                                <m:t>𝒋</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𝟏</m:t>
                              </m:r>
                            </m:sub>
                            <m:sup>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𝒏</m:t>
                                  </m:r>
                                </m:e>
                                <m:sub>
                                  <m:r>
                                    <a:rPr lang="en-NZ" altLang="ja-JP" sz="1600" b="1" i="1" smtClean="0">
                                      <a:solidFill>
                                        <a:schemeClr val="tx1"/>
                                      </a:solidFill>
                                      <a:latin typeface="Cambria Math" panose="02040503050406030204" pitchFamily="18" charset="0"/>
                                    </a:rPr>
                                    <m:t>𝟏</m:t>
                                  </m:r>
                                </m:sub>
                              </m:sSub>
                            </m:sup>
                            <m:e>
                              <m:r>
                                <a:rPr lang="en-NZ" altLang="ja-JP" sz="1600" b="1" i="1" smtClean="0">
                                  <a:solidFill>
                                    <a:schemeClr val="tx1"/>
                                  </a:solidFill>
                                  <a:latin typeface="Cambria Math" panose="02040503050406030204" pitchFamily="18" charset="0"/>
                                </a:rPr>
                                <m:t>𝒈</m:t>
                              </m:r>
                              <m:r>
                                <a:rPr lang="en-NZ" altLang="ja-JP" sz="1600" b="1" i="1" smtClean="0">
                                  <a:solidFill>
                                    <a:schemeClr val="tx1"/>
                                  </a:solidFill>
                                  <a:latin typeface="Cambria Math" panose="02040503050406030204" pitchFamily="18" charset="0"/>
                                </a:rPr>
                                <m:t>(</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𝒙</m:t>
                                  </m:r>
                                </m:e>
                                <m:sub>
                                  <m:r>
                                    <a:rPr lang="en-NZ" altLang="ja-JP" sz="1600" b="1" i="1" smtClean="0">
                                      <a:solidFill>
                                        <a:schemeClr val="tx1"/>
                                      </a:solidFill>
                                      <a:latin typeface="Cambria Math" panose="02040503050406030204" pitchFamily="18" charset="0"/>
                                    </a:rPr>
                                    <m:t>𝟏</m:t>
                                  </m:r>
                                  <m:r>
                                    <a:rPr lang="en-NZ" altLang="ja-JP" sz="1600" b="1" i="1" smtClean="0">
                                      <a:solidFill>
                                        <a:schemeClr val="tx1"/>
                                      </a:solidFill>
                                      <a:latin typeface="Cambria Math" panose="02040503050406030204" pitchFamily="18" charset="0"/>
                                    </a:rPr>
                                    <m:t>𝒋</m:t>
                                  </m:r>
                                </m:sub>
                              </m:sSub>
                              <m:r>
                                <a:rPr lang="en-NZ" altLang="ja-JP" sz="1600" b="1" i="1" smtClean="0">
                                  <a:solidFill>
                                    <a:schemeClr val="tx1"/>
                                  </a:solidFill>
                                  <a:latin typeface="Cambria Math" panose="02040503050406030204" pitchFamily="18" charset="0"/>
                                </a:rPr>
                                <m:t>)/</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𝒏</m:t>
                                  </m:r>
                                </m:e>
                                <m:sub>
                                  <m:r>
                                    <a:rPr lang="en-NZ" altLang="ja-JP" sz="1600" b="1" i="1" smtClean="0">
                                      <a:solidFill>
                                        <a:schemeClr val="tx1"/>
                                      </a:solidFill>
                                      <a:latin typeface="Cambria Math" panose="02040503050406030204" pitchFamily="18" charset="0"/>
                                    </a:rPr>
                                    <m:t>𝟏</m:t>
                                  </m:r>
                                </m:sub>
                              </m:sSub>
                            </m:e>
                          </m:nary>
                          <m:r>
                            <a:rPr lang="en-NZ" altLang="ja-JP" sz="1600" b="1" i="1" smtClean="0">
                              <a:solidFill>
                                <a:schemeClr val="tx1"/>
                              </a:solidFill>
                              <a:latin typeface="Cambria Math" panose="02040503050406030204" pitchFamily="18" charset="0"/>
                            </a:rPr>
                            <m:t>   −</m:t>
                          </m:r>
                          <m:nary>
                            <m:naryPr>
                              <m:chr m:val="∑"/>
                              <m:ctrlPr>
                                <a:rPr lang="en-NZ" altLang="ja-JP" sz="1600" b="1" i="1" smtClean="0">
                                  <a:solidFill>
                                    <a:schemeClr val="tx1"/>
                                  </a:solidFill>
                                  <a:latin typeface="Cambria Math" panose="02040503050406030204" pitchFamily="18" charset="0"/>
                                </a:rPr>
                              </m:ctrlPr>
                            </m:naryPr>
                            <m:sub>
                              <m:r>
                                <m:rPr>
                                  <m:brk m:alnAt="23"/>
                                </m:rPr>
                                <a:rPr lang="en-NZ" altLang="ja-JP" sz="1600" b="1" i="1">
                                  <a:solidFill>
                                    <a:schemeClr val="tx1"/>
                                  </a:solidFill>
                                  <a:latin typeface="Cambria Math" panose="02040503050406030204" pitchFamily="18" charset="0"/>
                                </a:rPr>
                                <m:t>𝒋</m:t>
                              </m:r>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𝟏</m:t>
                              </m:r>
                            </m:sub>
                            <m:sup>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𝒏</m:t>
                                  </m:r>
                                </m:e>
                                <m:sub>
                                  <m:r>
                                    <a:rPr lang="en-NZ" altLang="ja-JP" sz="1600" b="1" i="1" smtClean="0">
                                      <a:solidFill>
                                        <a:schemeClr val="tx1"/>
                                      </a:solidFill>
                                      <a:latin typeface="Cambria Math" panose="02040503050406030204" pitchFamily="18" charset="0"/>
                                    </a:rPr>
                                    <m:t>𝟐</m:t>
                                  </m:r>
                                </m:sub>
                              </m:sSub>
                            </m:sup>
                            <m:e>
                              <m:r>
                                <a:rPr lang="en-NZ" altLang="ja-JP" sz="1600" b="1" i="1">
                                  <a:solidFill>
                                    <a:schemeClr val="tx1"/>
                                  </a:solidFill>
                                  <a:latin typeface="Cambria Math" panose="02040503050406030204" pitchFamily="18" charset="0"/>
                                </a:rPr>
                                <m:t>𝒈</m:t>
                              </m:r>
                              <m:r>
                                <a:rPr lang="en-NZ" altLang="ja-JP" sz="1600" b="1" i="1">
                                  <a:solidFill>
                                    <a:schemeClr val="tx1"/>
                                  </a:solidFill>
                                  <a:latin typeface="Cambria Math" panose="02040503050406030204" pitchFamily="18" charset="0"/>
                                </a:rPr>
                                <m:t>(</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𝒙</m:t>
                                  </m:r>
                                </m:e>
                                <m:sub>
                                  <m:r>
                                    <a:rPr lang="en-NZ" altLang="ja-JP" sz="1600" b="1" i="1" smtClean="0">
                                      <a:solidFill>
                                        <a:schemeClr val="tx1"/>
                                      </a:solidFill>
                                      <a:latin typeface="Cambria Math" panose="02040503050406030204" pitchFamily="18" charset="0"/>
                                    </a:rPr>
                                    <m:t>𝟐</m:t>
                                  </m:r>
                                  <m:r>
                                    <a:rPr lang="en-NZ" altLang="ja-JP" sz="1600" b="1" i="1">
                                      <a:solidFill>
                                        <a:schemeClr val="tx1"/>
                                      </a:solidFill>
                                      <a:latin typeface="Cambria Math" panose="02040503050406030204" pitchFamily="18" charset="0"/>
                                    </a:rPr>
                                    <m:t>𝒋</m:t>
                                  </m:r>
                                </m:sub>
                              </m:sSub>
                              <m:r>
                                <a:rPr lang="en-NZ" altLang="ja-JP" sz="1600" b="1" i="1">
                                  <a:solidFill>
                                    <a:schemeClr val="tx1"/>
                                  </a:solidFill>
                                  <a:latin typeface="Cambria Math" panose="02040503050406030204" pitchFamily="18" charset="0"/>
                                </a:rPr>
                                <m:t>)/</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𝒏</m:t>
                                  </m:r>
                                </m:e>
                                <m:sub>
                                  <m:r>
                                    <a:rPr lang="en-NZ" altLang="ja-JP" sz="1600" b="1" i="1" smtClean="0">
                                      <a:solidFill>
                                        <a:schemeClr val="tx1"/>
                                      </a:solidFill>
                                      <a:latin typeface="Cambria Math" panose="02040503050406030204" pitchFamily="18" charset="0"/>
                                    </a:rPr>
                                    <m:t>𝟐</m:t>
                                  </m:r>
                                </m:sub>
                              </m:sSub>
                            </m:e>
                          </m:nary>
                        </m:num>
                        <m:den>
                          <m:rad>
                            <m:radPr>
                              <m:degHide m:val="on"/>
                              <m:ctrlPr>
                                <a:rPr lang="en-NZ" altLang="ja-JP" sz="1600" b="1" i="1">
                                  <a:solidFill>
                                    <a:schemeClr val="tx1"/>
                                  </a:solidFill>
                                  <a:latin typeface="Cambria Math" panose="02040503050406030204" pitchFamily="18" charset="0"/>
                                </a:rPr>
                              </m:ctrlPr>
                            </m:radPr>
                            <m:deg/>
                            <m:e>
                              <m:r>
                                <a:rPr lang="en-NZ" altLang="ja-JP" sz="1600" b="1" i="1">
                                  <a:solidFill>
                                    <a:schemeClr val="tx1"/>
                                  </a:solidFill>
                                  <a:latin typeface="Cambria Math" panose="02040503050406030204" pitchFamily="18" charset="0"/>
                                </a:rPr>
                                <m:t>  </m:t>
                              </m:r>
                              <m:f>
                                <m:fPr>
                                  <m:ctrlPr>
                                    <a:rPr lang="en-NZ" altLang="ja-JP" sz="1600" b="1" i="1">
                                      <a:solidFill>
                                        <a:schemeClr val="tx1"/>
                                      </a:solidFill>
                                      <a:latin typeface="Cambria Math" panose="02040503050406030204" pitchFamily="18" charset="0"/>
                                    </a:rPr>
                                  </m:ctrlPr>
                                </m:fPr>
                                <m:num>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𝒔</m:t>
                                      </m:r>
                                    </m:e>
                                    <m:sub>
                                      <m:r>
                                        <a:rPr lang="en-NZ" altLang="ja-JP" sz="1600" b="1" i="1">
                                          <a:solidFill>
                                            <a:schemeClr val="tx1"/>
                                          </a:solidFill>
                                          <a:latin typeface="Cambria Math" panose="02040503050406030204" pitchFamily="18" charset="0"/>
                                        </a:rPr>
                                        <m:t>𝟏</m:t>
                                      </m:r>
                                    </m:sub>
                                  </m:sSub>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𝟎</m:t>
                                  </m:r>
                                  <m:r>
                                    <a:rPr lang="en-NZ" altLang="ja-JP" sz="1600" b="1" i="1">
                                      <a:solidFill>
                                        <a:schemeClr val="tx1"/>
                                      </a:solidFill>
                                      <a:latin typeface="Cambria Math" panose="02040503050406030204" pitchFamily="18" charset="0"/>
                                    </a:rPr>
                                    <m:t>)</m:t>
                                  </m:r>
                                </m:num>
                                <m:den>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𝒏</m:t>
                                      </m:r>
                                    </m:e>
                                    <m:sub>
                                      <m:r>
                                        <a:rPr lang="en-NZ" altLang="ja-JP" sz="1600" b="1" i="1">
                                          <a:solidFill>
                                            <a:schemeClr val="tx1"/>
                                          </a:solidFill>
                                          <a:latin typeface="Cambria Math" panose="02040503050406030204" pitchFamily="18" charset="0"/>
                                        </a:rPr>
                                        <m:t>𝟏</m:t>
                                      </m:r>
                                    </m:sub>
                                  </m:sSub>
                                </m:den>
                              </m:f>
                              <m:r>
                                <a:rPr lang="en-NZ" altLang="ja-JP" sz="1600" b="1" i="1">
                                  <a:solidFill>
                                    <a:schemeClr val="tx1"/>
                                  </a:solidFill>
                                  <a:latin typeface="Cambria Math" panose="02040503050406030204" pitchFamily="18" charset="0"/>
                                </a:rPr>
                                <m:t>  +  </m:t>
                              </m:r>
                              <m:f>
                                <m:fPr>
                                  <m:ctrlPr>
                                    <a:rPr lang="en-NZ" altLang="ja-JP" sz="1600" b="1" i="1">
                                      <a:solidFill>
                                        <a:schemeClr val="tx1"/>
                                      </a:solidFill>
                                      <a:latin typeface="Cambria Math" panose="02040503050406030204" pitchFamily="18" charset="0"/>
                                    </a:rPr>
                                  </m:ctrlPr>
                                </m:fPr>
                                <m:num>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𝒔</m:t>
                                      </m:r>
                                    </m:e>
                                    <m:sub>
                                      <m:r>
                                        <a:rPr lang="en-NZ" altLang="ja-JP" sz="1600" b="1" i="1">
                                          <a:solidFill>
                                            <a:schemeClr val="tx1"/>
                                          </a:solidFill>
                                          <a:latin typeface="Cambria Math" panose="02040503050406030204" pitchFamily="18" charset="0"/>
                                        </a:rPr>
                                        <m:t>𝟐</m:t>
                                      </m:r>
                                    </m:sub>
                                  </m:sSub>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𝟎</m:t>
                                  </m:r>
                                  <m:r>
                                    <a:rPr lang="en-NZ" altLang="ja-JP" sz="1600" b="1" i="1">
                                      <a:solidFill>
                                        <a:schemeClr val="tx1"/>
                                      </a:solidFill>
                                      <a:latin typeface="Cambria Math" panose="02040503050406030204" pitchFamily="18" charset="0"/>
                                    </a:rPr>
                                    <m:t>)</m:t>
                                  </m:r>
                                </m:num>
                                <m:den>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𝒏</m:t>
                                      </m:r>
                                    </m:e>
                                    <m:sub>
                                      <m:r>
                                        <a:rPr lang="en-NZ" altLang="ja-JP" sz="1600" b="1" i="1">
                                          <a:solidFill>
                                            <a:schemeClr val="tx1"/>
                                          </a:solidFill>
                                          <a:latin typeface="Cambria Math" panose="02040503050406030204" pitchFamily="18" charset="0"/>
                                        </a:rPr>
                                        <m:t>𝟐</m:t>
                                      </m:r>
                                    </m:sub>
                                  </m:sSub>
                                </m:den>
                              </m:f>
                            </m:e>
                          </m:rad>
                        </m:den>
                      </m:f>
                      <m:r>
                        <a:rPr lang="en-NZ" altLang="ja-JP" sz="1600" b="1" i="1" smtClean="0">
                          <a:solidFill>
                            <a:schemeClr val="tx1"/>
                          </a:solidFill>
                          <a:latin typeface="Cambria Math" panose="02040503050406030204" pitchFamily="18" charset="0"/>
                        </a:rPr>
                        <m:t>        ~    </m:t>
                      </m:r>
                      <m:r>
                        <a:rPr lang="en-NZ" altLang="ja-JP" sz="1600" b="1" i="1" smtClean="0">
                          <a:solidFill>
                            <a:schemeClr val="tx1"/>
                          </a:solidFill>
                          <a:latin typeface="Cambria Math" panose="02040503050406030204" pitchFamily="18" charset="0"/>
                        </a:rPr>
                        <m:t>𝑵</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𝟎</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𝟏</m:t>
                      </m:r>
                      <m:r>
                        <a:rPr lang="en-NZ" altLang="ja-JP" sz="1600" b="1" i="1" smtClean="0">
                          <a:solidFill>
                            <a:schemeClr val="tx1"/>
                          </a:solidFill>
                          <a:latin typeface="Cambria Math" panose="02040503050406030204" pitchFamily="18" charset="0"/>
                        </a:rPr>
                        <m:t>)</m:t>
                      </m:r>
                    </m:oMath>
                  </m:oMathPara>
                </a14:m>
                <a:endParaRPr lang="en-NZ" altLang="ja-JP" sz="1600" b="1" dirty="0">
                  <a:solidFill>
                    <a:schemeClr val="tx1"/>
                  </a:solidFill>
                </a:endParaRPr>
              </a:p>
            </p:txBody>
          </p:sp>
        </mc:Choice>
        <mc:Fallback xmlns="">
          <p:sp>
            <p:nvSpPr>
              <p:cNvPr id="26" name="Text Placeholder 5">
                <a:extLst>
                  <a:ext uri="{FF2B5EF4-FFF2-40B4-BE49-F238E27FC236}">
                    <a16:creationId xmlns:a16="http://schemas.microsoft.com/office/drawing/2014/main" id="{610BC7A9-736E-8D6A-8A45-CC32B47F60DA}"/>
                  </a:ext>
                </a:extLst>
              </p:cNvPr>
              <p:cNvSpPr txBox="1">
                <a:spLocks noRot="1" noChangeAspect="1" noMove="1" noResize="1" noEditPoints="1" noAdjustHandles="1" noChangeArrowheads="1" noChangeShapeType="1" noTextEdit="1"/>
              </p:cNvSpPr>
              <p:nvPr/>
            </p:nvSpPr>
            <p:spPr>
              <a:xfrm>
                <a:off x="1241945" y="3669148"/>
                <a:ext cx="9471547" cy="1060403"/>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7" name="Text Placeholder 5">
                <a:extLst>
                  <a:ext uri="{FF2B5EF4-FFF2-40B4-BE49-F238E27FC236}">
                    <a16:creationId xmlns:a16="http://schemas.microsoft.com/office/drawing/2014/main" id="{C129D62C-82AC-B569-8E11-036527796CBE}"/>
                  </a:ext>
                </a:extLst>
              </p:cNvPr>
              <p:cNvSpPr txBox="1">
                <a:spLocks/>
              </p:cNvSpPr>
              <p:nvPr/>
            </p:nvSpPr>
            <p:spPr>
              <a:xfrm>
                <a:off x="1807633" y="4715927"/>
                <a:ext cx="8953947" cy="89705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 xmlns:m="http://schemas.openxmlformats.org/officeDocument/2006/math">
                    <m:sSub>
                      <m:sSubPr>
                        <m:ctrlPr>
                          <a:rPr lang="en-NZ" altLang="ja-JP" sz="1400" b="1" i="1" smtClean="0">
                            <a:solidFill>
                              <a:schemeClr val="tx1"/>
                            </a:solidFill>
                            <a:latin typeface="Cambria Math" panose="02040503050406030204" pitchFamily="18" charset="0"/>
                          </a:rPr>
                        </m:ctrlPr>
                      </m:sSubPr>
                      <m:e>
                        <m:r>
                          <a:rPr lang="en-NZ" altLang="ja-JP" sz="1400" b="1" i="1" smtClean="0">
                            <a:solidFill>
                              <a:schemeClr val="tx1"/>
                            </a:solidFill>
                            <a:latin typeface="Cambria Math" panose="02040503050406030204" pitchFamily="18" charset="0"/>
                          </a:rPr>
                          <m:t>𝒔</m:t>
                        </m:r>
                      </m:e>
                      <m:sub>
                        <m:r>
                          <a:rPr lang="en-NZ" altLang="ja-JP" sz="1400" b="1" i="1" smtClean="0">
                            <a:solidFill>
                              <a:schemeClr val="tx1"/>
                            </a:solidFill>
                            <a:latin typeface="Cambria Math" panose="02040503050406030204" pitchFamily="18" charset="0"/>
                          </a:rPr>
                          <m:t>𝒋</m:t>
                        </m:r>
                      </m:sub>
                    </m:sSub>
                    <m:r>
                      <a:rPr lang="en-NZ" altLang="ja-JP" sz="1400" b="1" i="1" smtClean="0">
                        <a:solidFill>
                          <a:schemeClr val="tx1"/>
                        </a:solidFill>
                        <a:latin typeface="Cambria Math" panose="02040503050406030204" pitchFamily="18" charset="0"/>
                      </a:rPr>
                      <m:t>(</m:t>
                    </m:r>
                    <m:r>
                      <a:rPr lang="en-NZ" altLang="ja-JP" sz="1400" b="1" i="1" smtClean="0">
                        <a:solidFill>
                          <a:schemeClr val="tx1"/>
                        </a:solidFill>
                        <a:latin typeface="Cambria Math" panose="02040503050406030204" pitchFamily="18" charset="0"/>
                      </a:rPr>
                      <m:t>𝟎</m:t>
                    </m:r>
                    <m:r>
                      <a:rPr lang="en-NZ" altLang="ja-JP" sz="1400" b="1" i="1" smtClean="0">
                        <a:solidFill>
                          <a:schemeClr val="tx1"/>
                        </a:solidFill>
                        <a:latin typeface="Cambria Math" panose="02040503050406030204" pitchFamily="18" charset="0"/>
                      </a:rPr>
                      <m:t>)</m:t>
                    </m:r>
                  </m:oMath>
                </a14:m>
                <a:r>
                  <a:rPr lang="en-NZ" altLang="ja-JP" sz="1400" b="1" dirty="0">
                    <a:solidFill>
                      <a:schemeClr val="tx1"/>
                    </a:solidFill>
                  </a:rPr>
                  <a:t> </a:t>
                </a:r>
                <a:r>
                  <a:rPr lang="en-NZ" altLang="ja-JP" sz="1400" dirty="0">
                    <a:solidFill>
                      <a:schemeClr val="tx1"/>
                    </a:solidFill>
                  </a:rPr>
                  <a:t>is the symmetric spectral density function for the time series within the </a:t>
                </a:r>
                <a:r>
                  <a:rPr lang="en-NZ" altLang="ja-JP" sz="1400" b="1" i="1" dirty="0" err="1">
                    <a:solidFill>
                      <a:schemeClr val="tx1"/>
                    </a:solidFill>
                  </a:rPr>
                  <a:t>j</a:t>
                </a:r>
                <a:r>
                  <a:rPr lang="en-NZ" altLang="ja-JP" sz="1400" b="1" i="1" baseline="30000" dirty="0" err="1">
                    <a:solidFill>
                      <a:schemeClr val="tx1"/>
                    </a:solidFill>
                  </a:rPr>
                  <a:t>th</a:t>
                </a:r>
                <a:r>
                  <a:rPr lang="en-NZ" altLang="ja-JP" sz="1400" b="1" i="1" dirty="0">
                    <a:solidFill>
                      <a:schemeClr val="tx1"/>
                    </a:solidFill>
                  </a:rPr>
                  <a:t> </a:t>
                </a:r>
                <a:r>
                  <a:rPr lang="en-NZ" altLang="ja-JP" sz="1400" dirty="0">
                    <a:solidFill>
                      <a:schemeClr val="tx1"/>
                    </a:solidFill>
                  </a:rPr>
                  <a:t>window, </a:t>
                </a:r>
                <a:br>
                  <a:rPr lang="en-NZ" altLang="ja-JP" sz="1400" dirty="0">
                    <a:solidFill>
                      <a:schemeClr val="tx1"/>
                    </a:solidFill>
                  </a:rPr>
                </a:br>
                <a:r>
                  <a:rPr lang="en-NZ" altLang="ja-JP" sz="1400" dirty="0">
                    <a:solidFill>
                      <a:schemeClr val="tx1"/>
                    </a:solidFill>
                  </a:rPr>
                  <a:t>i.e. the standard error of values in the window taking autocorrelation into account.</a:t>
                </a:r>
              </a:p>
              <a:p>
                <a:pPr lvl="0">
                  <a:lnSpc>
                    <a:spcPct val="100000"/>
                  </a:lnSpc>
                  <a:defRPr/>
                </a:pPr>
                <a:endParaRPr lang="en-NZ" altLang="ja-JP" sz="200" dirty="0">
                  <a:solidFill>
                    <a:schemeClr val="tx1"/>
                  </a:solidFill>
                </a:endParaRPr>
              </a:p>
              <a:p>
                <a:pPr lvl="0">
                  <a:lnSpc>
                    <a:spcPct val="100000"/>
                  </a:lnSpc>
                  <a:defRPr/>
                </a:pPr>
                <a:r>
                  <a:rPr lang="en-NZ" altLang="ja-JP" sz="1400" dirty="0">
                    <a:solidFill>
                      <a:schemeClr val="tx1"/>
                    </a:solidFill>
                  </a:rPr>
                  <a:t>Typically, </a:t>
                </a:r>
                <a14:m>
                  <m:oMath xmlns:m="http://schemas.openxmlformats.org/officeDocument/2006/math">
                    <m:r>
                      <a:rPr lang="en-NZ" altLang="ja-JP" sz="1400" b="1" i="1" smtClean="0">
                        <a:solidFill>
                          <a:schemeClr val="tx1"/>
                        </a:solidFill>
                        <a:latin typeface="Cambria Math" panose="02040503050406030204" pitchFamily="18" charset="0"/>
                      </a:rPr>
                      <m:t>𝒈</m:t>
                    </m:r>
                    <m:d>
                      <m:dPr>
                        <m:ctrlPr>
                          <a:rPr lang="en-NZ" altLang="ja-JP" sz="1400" b="1" i="1" smtClean="0">
                            <a:solidFill>
                              <a:schemeClr val="tx1"/>
                            </a:solidFill>
                            <a:latin typeface="Cambria Math" panose="02040503050406030204" pitchFamily="18" charset="0"/>
                          </a:rPr>
                        </m:ctrlPr>
                      </m:dPr>
                      <m:e>
                        <m:sSub>
                          <m:sSubPr>
                            <m:ctrlPr>
                              <a:rPr lang="en-NZ" altLang="ja-JP" sz="1400" b="1" i="1" smtClean="0">
                                <a:solidFill>
                                  <a:schemeClr val="tx1"/>
                                </a:solidFill>
                                <a:latin typeface="Cambria Math" panose="02040503050406030204" pitchFamily="18" charset="0"/>
                              </a:rPr>
                            </m:ctrlPr>
                          </m:sSubPr>
                          <m:e>
                            <m:r>
                              <a:rPr lang="en-NZ" altLang="ja-JP" sz="1400" b="1" i="1" smtClean="0">
                                <a:solidFill>
                                  <a:schemeClr val="tx1"/>
                                </a:solidFill>
                                <a:latin typeface="Cambria Math" panose="02040503050406030204" pitchFamily="18" charset="0"/>
                              </a:rPr>
                              <m:t>𝒙</m:t>
                            </m:r>
                          </m:e>
                          <m:sub>
                            <m:r>
                              <a:rPr lang="en-NZ" altLang="ja-JP" sz="1400" b="1" i="1" smtClean="0">
                                <a:solidFill>
                                  <a:schemeClr val="tx1"/>
                                </a:solidFill>
                                <a:latin typeface="Cambria Math" panose="02040503050406030204" pitchFamily="18" charset="0"/>
                              </a:rPr>
                              <m:t>𝒊𝒋</m:t>
                            </m:r>
                          </m:sub>
                        </m:sSub>
                      </m:e>
                    </m:d>
                    <m:r>
                      <a:rPr lang="en-NZ" altLang="ja-JP" sz="1400" b="1" i="1" smtClean="0">
                        <a:solidFill>
                          <a:schemeClr val="tx1"/>
                        </a:solidFill>
                        <a:latin typeface="Cambria Math" panose="02040503050406030204" pitchFamily="18" charset="0"/>
                      </a:rPr>
                      <m:t>=</m:t>
                    </m:r>
                    <m:sSub>
                      <m:sSubPr>
                        <m:ctrlPr>
                          <a:rPr lang="en-NZ" altLang="ja-JP" sz="1400" b="1" i="1">
                            <a:solidFill>
                              <a:schemeClr val="tx1"/>
                            </a:solidFill>
                            <a:latin typeface="Cambria Math" panose="02040503050406030204" pitchFamily="18" charset="0"/>
                          </a:rPr>
                        </m:ctrlPr>
                      </m:sSubPr>
                      <m:e>
                        <m:r>
                          <a:rPr lang="en-NZ" altLang="ja-JP" sz="1400" b="1" i="1">
                            <a:solidFill>
                              <a:schemeClr val="tx1"/>
                            </a:solidFill>
                            <a:latin typeface="Cambria Math" panose="02040503050406030204" pitchFamily="18" charset="0"/>
                          </a:rPr>
                          <m:t>𝒙</m:t>
                        </m:r>
                      </m:e>
                      <m:sub>
                        <m:r>
                          <a:rPr lang="en-NZ" altLang="ja-JP" sz="1400" b="1" i="1">
                            <a:solidFill>
                              <a:schemeClr val="tx1"/>
                            </a:solidFill>
                            <a:latin typeface="Cambria Math" panose="02040503050406030204" pitchFamily="18" charset="0"/>
                          </a:rPr>
                          <m:t>𝒊𝒋</m:t>
                        </m:r>
                      </m:sub>
                    </m:sSub>
                  </m:oMath>
                </a14:m>
                <a:r>
                  <a:rPr lang="en-NZ" altLang="ja-JP" sz="1400" dirty="0">
                    <a:solidFill>
                      <a:schemeClr val="tx1"/>
                    </a:solidFill>
                  </a:rPr>
                  <a:t>   so that   </a:t>
                </a:r>
                <a14:m>
                  <m:oMath xmlns:m="http://schemas.openxmlformats.org/officeDocument/2006/math">
                    <m:acc>
                      <m:accPr>
                        <m:chr m:val="̅"/>
                        <m:ctrlPr>
                          <a:rPr lang="en-NZ" altLang="ja-JP" sz="1400" b="1" i="1" smtClean="0">
                            <a:solidFill>
                              <a:schemeClr val="tx1"/>
                            </a:solidFill>
                            <a:latin typeface="Cambria Math" panose="02040503050406030204" pitchFamily="18" charset="0"/>
                          </a:rPr>
                        </m:ctrlPr>
                      </m:accPr>
                      <m:e>
                        <m:r>
                          <a:rPr lang="en-NZ" altLang="ja-JP" sz="1400" b="1" i="1" smtClean="0">
                            <a:solidFill>
                              <a:schemeClr val="tx1"/>
                            </a:solidFill>
                            <a:latin typeface="Cambria Math" panose="02040503050406030204" pitchFamily="18" charset="0"/>
                          </a:rPr>
                          <m:t>𝒈</m:t>
                        </m:r>
                      </m:e>
                    </m:acc>
                    <m:r>
                      <a:rPr lang="en-NZ" altLang="ja-JP" sz="1400" b="1" i="1" smtClean="0">
                        <a:solidFill>
                          <a:schemeClr val="tx1"/>
                        </a:solidFill>
                        <a:latin typeface="Cambria Math" panose="02040503050406030204" pitchFamily="18" charset="0"/>
                      </a:rPr>
                      <m:t> </m:t>
                    </m:r>
                  </m:oMath>
                </a14:m>
                <a:r>
                  <a:rPr lang="en-NZ" altLang="ja-JP" sz="1400" dirty="0">
                    <a:solidFill>
                      <a:schemeClr val="tx1"/>
                    </a:solidFill>
                  </a:rPr>
                  <a:t>  is just the mean of the values in each window.</a:t>
                </a:r>
              </a:p>
            </p:txBody>
          </p:sp>
        </mc:Choice>
        <mc:Fallback xmlns="">
          <p:sp>
            <p:nvSpPr>
              <p:cNvPr id="27" name="Text Placeholder 5">
                <a:extLst>
                  <a:ext uri="{FF2B5EF4-FFF2-40B4-BE49-F238E27FC236}">
                    <a16:creationId xmlns:a16="http://schemas.microsoft.com/office/drawing/2014/main" id="{C129D62C-82AC-B569-8E11-036527796CBE}"/>
                  </a:ext>
                </a:extLst>
              </p:cNvPr>
              <p:cNvSpPr txBox="1">
                <a:spLocks noRot="1" noChangeAspect="1" noMove="1" noResize="1" noEditPoints="1" noAdjustHandles="1" noChangeArrowheads="1" noChangeShapeType="1" noTextEdit="1"/>
              </p:cNvSpPr>
              <p:nvPr/>
            </p:nvSpPr>
            <p:spPr>
              <a:xfrm>
                <a:off x="1807633" y="4715927"/>
                <a:ext cx="8953947" cy="897057"/>
              </a:xfrm>
              <a:prstGeom prst="rect">
                <a:avLst/>
              </a:prstGeom>
              <a:blipFill>
                <a:blip r:embed="rId5"/>
                <a:stretch>
                  <a:fillRect l="-204" t="-680"/>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8" name="Text Placeholder 5">
                <a:extLst>
                  <a:ext uri="{FF2B5EF4-FFF2-40B4-BE49-F238E27FC236}">
                    <a16:creationId xmlns:a16="http://schemas.microsoft.com/office/drawing/2014/main" id="{52D0D1F8-292B-DCAB-A07A-ACF9B85F969C}"/>
                  </a:ext>
                </a:extLst>
              </p:cNvPr>
              <p:cNvSpPr txBox="1">
                <a:spLocks/>
              </p:cNvSpPr>
              <p:nvPr/>
            </p:nvSpPr>
            <p:spPr>
              <a:xfrm>
                <a:off x="716417" y="5735820"/>
                <a:ext cx="10914858" cy="36677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lvl="0" indent="-342900">
                  <a:lnSpc>
                    <a:spcPct val="100000"/>
                  </a:lnSpc>
                  <a:buFont typeface="+mj-lt"/>
                  <a:buAutoNum type="arabicPeriod" startAt="4"/>
                  <a:defRPr/>
                </a:pPr>
                <a:r>
                  <a:rPr lang="en-NZ" altLang="ja-JP" sz="1600" dirty="0">
                    <a:solidFill>
                      <a:schemeClr val="tx1"/>
                    </a:solidFill>
                  </a:rPr>
                  <a:t>Since </a:t>
                </a:r>
                <a:r>
                  <a:rPr lang="en-NZ" altLang="ja-JP" sz="1600" b="1" i="1" dirty="0">
                    <a:solidFill>
                      <a:schemeClr val="tx1"/>
                    </a:solidFill>
                  </a:rPr>
                  <a:t>G</a:t>
                </a:r>
                <a:r>
                  <a:rPr lang="en-NZ" altLang="ja-JP" sz="1600" dirty="0">
                    <a:solidFill>
                      <a:schemeClr val="tx1"/>
                    </a:solidFill>
                  </a:rPr>
                  <a:t> follows a standard normal distribution, values of </a:t>
                </a:r>
                <a14:m>
                  <m:oMath xmlns:m="http://schemas.openxmlformats.org/officeDocument/2006/math">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𝑮</m:t>
                    </m:r>
                    <m:r>
                      <a:rPr lang="en-NZ" altLang="ja-JP" sz="1600" b="1" i="1" smtClean="0">
                        <a:solidFill>
                          <a:schemeClr val="tx1"/>
                        </a:solidFill>
                        <a:latin typeface="Cambria Math" panose="02040503050406030204" pitchFamily="18" charset="0"/>
                      </a:rPr>
                      <m:t> |</m:t>
                    </m:r>
                  </m:oMath>
                </a14:m>
                <a:r>
                  <a:rPr lang="en-NZ" altLang="ja-JP" sz="1600" dirty="0">
                    <a:solidFill>
                      <a:schemeClr val="tx1"/>
                    </a:solidFill>
                  </a:rPr>
                  <a:t> greater than 2 are usually taken as an </a:t>
                </a:r>
                <a:br>
                  <a:rPr lang="en-NZ" altLang="ja-JP" sz="1600" dirty="0">
                    <a:solidFill>
                      <a:schemeClr val="tx1"/>
                    </a:solidFill>
                  </a:rPr>
                </a:br>
                <a:r>
                  <a:rPr lang="en-NZ" altLang="ja-JP" sz="1600" dirty="0">
                    <a:solidFill>
                      <a:schemeClr val="tx1"/>
                    </a:solidFill>
                  </a:rPr>
                  <a:t>indication of non-convergence</a:t>
                </a:r>
              </a:p>
            </p:txBody>
          </p:sp>
        </mc:Choice>
        <mc:Fallback xmlns="">
          <p:sp>
            <p:nvSpPr>
              <p:cNvPr id="28" name="Text Placeholder 5">
                <a:extLst>
                  <a:ext uri="{FF2B5EF4-FFF2-40B4-BE49-F238E27FC236}">
                    <a16:creationId xmlns:a16="http://schemas.microsoft.com/office/drawing/2014/main" id="{52D0D1F8-292B-DCAB-A07A-ACF9B85F969C}"/>
                  </a:ext>
                </a:extLst>
              </p:cNvPr>
              <p:cNvSpPr txBox="1">
                <a:spLocks noRot="1" noChangeAspect="1" noMove="1" noResize="1" noEditPoints="1" noAdjustHandles="1" noChangeArrowheads="1" noChangeShapeType="1" noTextEdit="1"/>
              </p:cNvSpPr>
              <p:nvPr/>
            </p:nvSpPr>
            <p:spPr>
              <a:xfrm>
                <a:off x="716417" y="5735820"/>
                <a:ext cx="10914858" cy="366775"/>
              </a:xfrm>
              <a:prstGeom prst="rect">
                <a:avLst/>
              </a:prstGeom>
              <a:blipFill>
                <a:blip r:embed="rId6"/>
                <a:stretch>
                  <a:fillRect l="-335" t="-5000" b="-80000"/>
                </a:stretch>
              </a:blipFill>
            </p:spPr>
            <p:txBody>
              <a:bodyPr/>
              <a:lstStyle/>
              <a:p>
                <a:r>
                  <a:rPr lang="en-NZ">
                    <a:noFill/>
                  </a:rPr>
                  <a:t> </a:t>
                </a:r>
              </a:p>
            </p:txBody>
          </p:sp>
        </mc:Fallback>
      </mc:AlternateContent>
    </p:spTree>
    <p:extLst>
      <p:ext uri="{BB962C8B-B14F-4D97-AF65-F5344CB8AC3E}">
        <p14:creationId xmlns:p14="http://schemas.microsoft.com/office/powerpoint/2010/main" val="3739657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4" grpId="0"/>
      <p:bldP spid="25" grpId="0"/>
      <p:bldP spid="26" grpId="0"/>
      <p:bldP spid="27" grpId="0"/>
      <p:bldP spid="2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6173E13-D4C7-305B-DFCA-830DF55D75A1}"/>
              </a:ext>
            </a:extLst>
          </p:cNvPr>
          <p:cNvPicPr>
            <a:picLocks noChangeAspect="1"/>
          </p:cNvPicPr>
          <p:nvPr/>
        </p:nvPicPr>
        <p:blipFill>
          <a:blip r:embed="rId2"/>
          <a:stretch>
            <a:fillRect/>
          </a:stretch>
        </p:blipFill>
        <p:spPr>
          <a:xfrm>
            <a:off x="5052637" y="565477"/>
            <a:ext cx="6819900" cy="3179065"/>
          </a:xfrm>
          <a:prstGeom prst="rect">
            <a:avLst/>
          </a:prstGeom>
        </p:spPr>
      </p:pic>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4" name="Title 6">
            <a:extLst>
              <a:ext uri="{FF2B5EF4-FFF2-40B4-BE49-F238E27FC236}">
                <a16:creationId xmlns:a16="http://schemas.microsoft.com/office/drawing/2014/main" id="{18EFAA1F-58F5-B8DC-5203-016AF3661A4C}"/>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10.3 – </a:t>
            </a:r>
            <a:r>
              <a:rPr lang="en-US" altLang="ja-JP" b="1" u="sng" dirty="0" err="1">
                <a:solidFill>
                  <a:prstClr val="black"/>
                </a:solidFill>
                <a:latin typeface="Calibri" panose="020F0502020204030204"/>
                <a:ea typeface="游ゴシック Light" panose="020B0300000000000000" pitchFamily="34" charset="-128"/>
              </a:rPr>
              <a:t>Geweke</a:t>
            </a:r>
            <a:r>
              <a:rPr lang="en-US" altLang="ja-JP" b="1" u="sng" dirty="0">
                <a:solidFill>
                  <a:prstClr val="black"/>
                </a:solidFill>
                <a:latin typeface="Calibri" panose="020F0502020204030204"/>
                <a:ea typeface="游ゴシック Light" panose="020B0300000000000000" pitchFamily="34" charset="-128"/>
              </a:rPr>
              <a:t> Diagnostic</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5" name="Footer Placeholder 2">
            <a:extLst>
              <a:ext uri="{FF2B5EF4-FFF2-40B4-BE49-F238E27FC236}">
                <a16:creationId xmlns:a16="http://schemas.microsoft.com/office/drawing/2014/main" id="{CE1BC482-63C5-C7CB-8FB1-F710CF896763}"/>
              </a:ext>
            </a:extLst>
          </p:cNvPr>
          <p:cNvSpPr txBox="1">
            <a:spLocks/>
          </p:cNvSpPr>
          <p:nvPr/>
        </p:nvSpPr>
        <p:spPr>
          <a:xfrm>
            <a:off x="8993875" y="86139"/>
            <a:ext cx="309549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10.3 – </a:t>
            </a:r>
            <a:r>
              <a:rPr kumimoji="1" lang="en-US" altLang="ja-JP" sz="1600" dirty="0" err="1">
                <a:solidFill>
                  <a:srgbClr val="DEDDDD"/>
                </a:solidFill>
                <a:latin typeface="Gidole"/>
                <a:ea typeface="游ゴシック" panose="020B0400000000000000" pitchFamily="34" charset="-128"/>
              </a:rPr>
              <a:t>Geweke</a:t>
            </a:r>
            <a:r>
              <a:rPr kumimoji="1" lang="en-US" altLang="ja-JP" sz="1600" dirty="0">
                <a:solidFill>
                  <a:srgbClr val="DEDDDD"/>
                </a:solidFill>
                <a:latin typeface="Gidole"/>
                <a:ea typeface="游ゴシック" panose="020B0400000000000000" pitchFamily="34" charset="-128"/>
              </a:rPr>
              <a:t> Diagnostic</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38" name="Text Placeholder 5">
            <a:extLst>
              <a:ext uri="{FF2B5EF4-FFF2-40B4-BE49-F238E27FC236}">
                <a16:creationId xmlns:a16="http://schemas.microsoft.com/office/drawing/2014/main" id="{4A0C7041-80E2-0602-E073-27804A3189F5}"/>
              </a:ext>
            </a:extLst>
          </p:cNvPr>
          <p:cNvSpPr txBox="1">
            <a:spLocks/>
          </p:cNvSpPr>
          <p:nvPr/>
        </p:nvSpPr>
        <p:spPr>
          <a:xfrm>
            <a:off x="319463" y="3839223"/>
            <a:ext cx="11335725" cy="6753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800" dirty="0">
                <a:solidFill>
                  <a:schemeClr val="tx1"/>
                </a:solidFill>
              </a:rPr>
              <a:t>Z-scores in the example of the Bivariate Normal are both less than 2 in absolute value. </a:t>
            </a:r>
            <a:br>
              <a:rPr lang="en-NZ" altLang="ja-JP" sz="1800" dirty="0">
                <a:solidFill>
                  <a:schemeClr val="tx1"/>
                </a:solidFill>
              </a:rPr>
            </a:br>
            <a:r>
              <a:rPr lang="en-NZ" altLang="ja-JP" sz="1800" dirty="0">
                <a:solidFill>
                  <a:schemeClr val="tx1"/>
                </a:solidFill>
              </a:rPr>
              <a:t>=&gt; No evidence against the null hypothesis that the values in the two windows are from the same distribution.</a:t>
            </a:r>
          </a:p>
          <a:p>
            <a:pPr lvl="0">
              <a:lnSpc>
                <a:spcPct val="100000"/>
              </a:lnSpc>
              <a:defRPr/>
            </a:pPr>
            <a:endParaRPr lang="en-NZ" altLang="ja-JP" sz="1800" dirty="0">
              <a:solidFill>
                <a:schemeClr val="tx1"/>
              </a:solidFill>
            </a:endParaRPr>
          </a:p>
        </p:txBody>
      </p:sp>
      <p:sp>
        <p:nvSpPr>
          <p:cNvPr id="13" name="Text Placeholder 5">
            <a:extLst>
              <a:ext uri="{FF2B5EF4-FFF2-40B4-BE49-F238E27FC236}">
                <a16:creationId xmlns:a16="http://schemas.microsoft.com/office/drawing/2014/main" id="{A901FE03-2C21-CFEB-A622-F9F69592BD45}"/>
              </a:ext>
            </a:extLst>
          </p:cNvPr>
          <p:cNvSpPr txBox="1">
            <a:spLocks/>
          </p:cNvSpPr>
          <p:nvPr/>
        </p:nvSpPr>
        <p:spPr>
          <a:xfrm>
            <a:off x="560726" y="917216"/>
            <a:ext cx="4101459" cy="1348312"/>
          </a:xfrm>
          <a:prstGeom prst="rect">
            <a:avLst/>
          </a:prstGeom>
          <a:solidFill>
            <a:schemeClr val="accent5">
              <a:lumMod val="20000"/>
              <a:lumOff val="80000"/>
            </a:schemeClr>
          </a:solid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US" altLang="ja-JP" sz="1400" dirty="0">
                <a:solidFill>
                  <a:srgbClr val="00B050"/>
                </a:solidFill>
              </a:rPr>
              <a:t># </a:t>
            </a:r>
            <a:r>
              <a:rPr lang="en-NZ" altLang="ja-JP" sz="1400" dirty="0">
                <a:solidFill>
                  <a:srgbClr val="00B050"/>
                </a:solidFill>
              </a:rPr>
              <a:t>4.1a - Performing the </a:t>
            </a:r>
            <a:r>
              <a:rPr lang="en-NZ" altLang="ja-JP" sz="1400" dirty="0" err="1">
                <a:solidFill>
                  <a:srgbClr val="00B050"/>
                </a:solidFill>
              </a:rPr>
              <a:t>Geweke</a:t>
            </a:r>
            <a:r>
              <a:rPr lang="en-NZ" altLang="ja-JP" sz="1400" dirty="0">
                <a:solidFill>
                  <a:srgbClr val="00B050"/>
                </a:solidFill>
              </a:rPr>
              <a:t> test</a:t>
            </a:r>
          </a:p>
          <a:p>
            <a:pPr lvl="0">
              <a:lnSpc>
                <a:spcPct val="100000"/>
              </a:lnSpc>
              <a:defRPr/>
            </a:pPr>
            <a:r>
              <a:rPr lang="en-NZ" altLang="ja-JP" sz="1400" dirty="0" err="1">
                <a:solidFill>
                  <a:prstClr val="black"/>
                </a:solidFill>
              </a:rPr>
              <a:t>geweke.diag</a:t>
            </a:r>
            <a:r>
              <a:rPr lang="en-NZ" altLang="ja-JP" sz="1400" dirty="0">
                <a:solidFill>
                  <a:prstClr val="black"/>
                </a:solidFill>
              </a:rPr>
              <a:t>(post_burn0)</a:t>
            </a:r>
          </a:p>
          <a:p>
            <a:pPr lvl="0">
              <a:lnSpc>
                <a:spcPct val="100000"/>
              </a:lnSpc>
              <a:defRPr/>
            </a:pPr>
            <a:endParaRPr kumimoji="1" lang="en-NZ" altLang="ja-JP" sz="14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lvl="0">
              <a:lnSpc>
                <a:spcPct val="100000"/>
              </a:lnSpc>
              <a:defRPr/>
            </a:pPr>
            <a:r>
              <a:rPr lang="en-US" altLang="ja-JP" sz="1400" dirty="0">
                <a:solidFill>
                  <a:srgbClr val="00B050"/>
                </a:solidFill>
              </a:rPr>
              <a:t># 4.1b - Creating </a:t>
            </a:r>
            <a:r>
              <a:rPr lang="en-US" altLang="ja-JP" sz="1400" dirty="0" err="1">
                <a:solidFill>
                  <a:srgbClr val="00B050"/>
                </a:solidFill>
              </a:rPr>
              <a:t>Geweke</a:t>
            </a:r>
            <a:r>
              <a:rPr lang="en-US" altLang="ja-JP" sz="1400" dirty="0">
                <a:solidFill>
                  <a:srgbClr val="00B050"/>
                </a:solidFill>
              </a:rPr>
              <a:t> plots</a:t>
            </a:r>
          </a:p>
          <a:p>
            <a:pPr lvl="0">
              <a:lnSpc>
                <a:spcPct val="100000"/>
              </a:lnSpc>
              <a:defRPr/>
            </a:pPr>
            <a:r>
              <a:rPr lang="en-NZ" altLang="ja-JP" sz="1400" dirty="0" err="1">
                <a:solidFill>
                  <a:prstClr val="black"/>
                </a:solidFill>
              </a:rPr>
              <a:t>geweke.plot</a:t>
            </a:r>
            <a:r>
              <a:rPr lang="en-NZ" altLang="ja-JP" sz="1400" dirty="0">
                <a:solidFill>
                  <a:prstClr val="black"/>
                </a:solidFill>
              </a:rPr>
              <a:t>(post_burn0)</a:t>
            </a:r>
            <a:endParaRPr kumimoji="1" lang="en-US" altLang="ja-JP" sz="14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p:sp>
        <p:nvSpPr>
          <p:cNvPr id="16" name="Text Placeholder 5">
            <a:extLst>
              <a:ext uri="{FF2B5EF4-FFF2-40B4-BE49-F238E27FC236}">
                <a16:creationId xmlns:a16="http://schemas.microsoft.com/office/drawing/2014/main" id="{8EE917C2-9171-79ED-FAC3-F26F5268C4FA}"/>
              </a:ext>
            </a:extLst>
          </p:cNvPr>
          <p:cNvSpPr txBox="1">
            <a:spLocks/>
          </p:cNvSpPr>
          <p:nvPr/>
        </p:nvSpPr>
        <p:spPr>
          <a:xfrm>
            <a:off x="460336" y="917216"/>
            <a:ext cx="98041" cy="1348312"/>
          </a:xfrm>
          <a:prstGeom prst="rect">
            <a:avLst/>
          </a:prstGeom>
          <a:solidFill>
            <a:srgbClr val="002060"/>
          </a:solid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endParaRPr kumimoji="1" lang="en-US" altLang="ja-JP" sz="14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p:sp>
        <p:nvSpPr>
          <p:cNvPr id="17" name="Text Placeholder 5">
            <a:extLst>
              <a:ext uri="{FF2B5EF4-FFF2-40B4-BE49-F238E27FC236}">
                <a16:creationId xmlns:a16="http://schemas.microsoft.com/office/drawing/2014/main" id="{CB471A91-4647-1B45-F69C-03805DEE4098}"/>
              </a:ext>
            </a:extLst>
          </p:cNvPr>
          <p:cNvSpPr txBox="1">
            <a:spLocks/>
          </p:cNvSpPr>
          <p:nvPr/>
        </p:nvSpPr>
        <p:spPr>
          <a:xfrm>
            <a:off x="460336" y="2448291"/>
            <a:ext cx="4201849" cy="1122502"/>
          </a:xfrm>
          <a:prstGeom prst="rect">
            <a:avLst/>
          </a:prstGeom>
          <a:solidFill>
            <a:schemeClr val="bg1">
              <a:lumMod val="95000"/>
            </a:schemeClr>
          </a:solid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300" i="1" dirty="0">
                <a:solidFill>
                  <a:schemeClr val="tx1"/>
                </a:solidFill>
              </a:rPr>
              <a:t>Fraction in 1st window = 0.1</a:t>
            </a:r>
          </a:p>
          <a:p>
            <a:pPr lvl="0">
              <a:lnSpc>
                <a:spcPct val="100000"/>
              </a:lnSpc>
              <a:defRPr/>
            </a:pPr>
            <a:r>
              <a:rPr lang="en-NZ" altLang="ja-JP" sz="1300" i="1" dirty="0">
                <a:solidFill>
                  <a:schemeClr val="tx1"/>
                </a:solidFill>
              </a:rPr>
              <a:t>Fraction in 2nd window = 0.5 </a:t>
            </a:r>
          </a:p>
          <a:p>
            <a:pPr lvl="0">
              <a:lnSpc>
                <a:spcPct val="100000"/>
              </a:lnSpc>
              <a:defRPr/>
            </a:pPr>
            <a:endParaRPr lang="en-NZ" altLang="ja-JP" sz="1300" i="1" dirty="0">
              <a:solidFill>
                <a:schemeClr val="tx1"/>
              </a:solidFill>
            </a:endParaRPr>
          </a:p>
          <a:p>
            <a:pPr lvl="0">
              <a:lnSpc>
                <a:spcPct val="100000"/>
              </a:lnSpc>
              <a:defRPr/>
            </a:pPr>
            <a:r>
              <a:rPr lang="en-NZ" altLang="ja-JP" sz="1300" i="1" dirty="0">
                <a:solidFill>
                  <a:schemeClr val="tx1"/>
                </a:solidFill>
              </a:rPr>
              <a:t>var1         var2 </a:t>
            </a:r>
          </a:p>
          <a:p>
            <a:pPr lvl="0">
              <a:lnSpc>
                <a:spcPct val="100000"/>
              </a:lnSpc>
              <a:defRPr/>
            </a:pPr>
            <a:r>
              <a:rPr lang="en-NZ" altLang="ja-JP" sz="1300" i="1" dirty="0">
                <a:solidFill>
                  <a:schemeClr val="tx1"/>
                </a:solidFill>
              </a:rPr>
              <a:t>0.08761   0.89868</a:t>
            </a:r>
          </a:p>
        </p:txBody>
      </p:sp>
      <p:sp>
        <p:nvSpPr>
          <p:cNvPr id="18" name="Text Placeholder 5">
            <a:extLst>
              <a:ext uri="{FF2B5EF4-FFF2-40B4-BE49-F238E27FC236}">
                <a16:creationId xmlns:a16="http://schemas.microsoft.com/office/drawing/2014/main" id="{1CD058F5-DF55-6E0D-D18A-7C58536274F6}"/>
              </a:ext>
            </a:extLst>
          </p:cNvPr>
          <p:cNvSpPr txBox="1">
            <a:spLocks/>
          </p:cNvSpPr>
          <p:nvPr/>
        </p:nvSpPr>
        <p:spPr>
          <a:xfrm>
            <a:off x="2345361" y="6488487"/>
            <a:ext cx="7501278" cy="28337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rPr>
              <a:t>Associated Code = 10 - Bivariate Normal Example (Convergence</a:t>
            </a:r>
            <a:r>
              <a:rPr kumimoji="1" lang="en-NZ" altLang="ja-JP" sz="1200" u="none" strike="noStrike" kern="1200" cap="none" spc="0" normalizeH="0" noProof="0" dirty="0">
                <a:ln>
                  <a:noFill/>
                </a:ln>
                <a:solidFill>
                  <a:srgbClr val="C00000"/>
                </a:solidFill>
                <a:effectLst/>
                <a:uLnTx/>
                <a:uFillTx/>
                <a:latin typeface="Calibri" panose="020F0502020204030204"/>
                <a:ea typeface="游ゴシック" panose="020B0400000000000000" pitchFamily="34" charset="-128"/>
              </a:rPr>
              <a:t> Tests</a:t>
            </a:r>
            <a:r>
              <a:rPr kumimoji="1" lang="en-NZ"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rPr>
              <a:t>)</a:t>
            </a:r>
            <a:endParaRPr kumimoji="1" lang="en-US"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p:sp>
        <p:nvSpPr>
          <p:cNvPr id="2" name="Text Placeholder 5">
            <a:extLst>
              <a:ext uri="{FF2B5EF4-FFF2-40B4-BE49-F238E27FC236}">
                <a16:creationId xmlns:a16="http://schemas.microsoft.com/office/drawing/2014/main" id="{9FD7229A-AC58-AEF7-2773-F4C34F23C5C5}"/>
              </a:ext>
            </a:extLst>
          </p:cNvPr>
          <p:cNvSpPr txBox="1">
            <a:spLocks/>
          </p:cNvSpPr>
          <p:nvPr/>
        </p:nvSpPr>
        <p:spPr>
          <a:xfrm>
            <a:off x="319462" y="4609248"/>
            <a:ext cx="11335725" cy="157340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indent="-285750">
              <a:lnSpc>
                <a:spcPct val="100000"/>
              </a:lnSpc>
              <a:buFont typeface="Arial" panose="020B0604020202020204" pitchFamily="34" charset="0"/>
              <a:buChar char="•"/>
              <a:defRPr/>
            </a:pPr>
            <a:r>
              <a:rPr lang="en-NZ" altLang="ja-JP" sz="1800" dirty="0" err="1">
                <a:solidFill>
                  <a:schemeClr val="tx1"/>
                </a:solidFill>
              </a:rPr>
              <a:t>Geweke</a:t>
            </a:r>
            <a:r>
              <a:rPr lang="en-NZ" altLang="ja-JP" sz="1800" dirty="0">
                <a:solidFill>
                  <a:schemeClr val="tx1"/>
                </a:solidFill>
              </a:rPr>
              <a:t> plot function calculates the value of the </a:t>
            </a:r>
            <a:r>
              <a:rPr lang="en-NZ" altLang="ja-JP" sz="1800" dirty="0" err="1">
                <a:solidFill>
                  <a:schemeClr val="tx1"/>
                </a:solidFill>
              </a:rPr>
              <a:t>Geweke</a:t>
            </a:r>
            <a:r>
              <a:rPr lang="en-NZ" altLang="ja-JP" sz="1800" dirty="0">
                <a:solidFill>
                  <a:schemeClr val="tx1"/>
                </a:solidFill>
              </a:rPr>
              <a:t> Diagnostic with successively more and more points removed from the beginning of the chain. However, it never removes more than half of the chain (otherwise the chain cannot satisfy the asymptotic conditions required for the diagnostic).</a:t>
            </a:r>
            <a:br>
              <a:rPr lang="en-NZ" altLang="ja-JP" sz="1800" dirty="0">
                <a:solidFill>
                  <a:schemeClr val="tx1"/>
                </a:solidFill>
              </a:rPr>
            </a:br>
            <a:endParaRPr lang="en-NZ" altLang="ja-JP" sz="1800" dirty="0">
              <a:solidFill>
                <a:schemeClr val="tx1"/>
              </a:solidFill>
            </a:endParaRPr>
          </a:p>
          <a:p>
            <a:pPr marL="285750" lvl="0" indent="-285750">
              <a:lnSpc>
                <a:spcPct val="100000"/>
              </a:lnSpc>
              <a:buFont typeface="Arial" panose="020B0604020202020204" pitchFamily="34" charset="0"/>
              <a:buChar char="•"/>
              <a:defRPr/>
            </a:pPr>
            <a:r>
              <a:rPr lang="en-NZ" altLang="ja-JP" sz="1800" dirty="0">
                <a:solidFill>
                  <a:schemeClr val="tx1"/>
                </a:solidFill>
              </a:rPr>
              <a:t> The vast majority of points have z-scores within the interval [-2,2], showing no evidence against convergence.</a:t>
            </a:r>
          </a:p>
        </p:txBody>
      </p:sp>
    </p:spTree>
    <p:extLst>
      <p:ext uri="{BB962C8B-B14F-4D97-AF65-F5344CB8AC3E}">
        <p14:creationId xmlns:p14="http://schemas.microsoft.com/office/powerpoint/2010/main" val="3809449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4" name="Title 6">
            <a:extLst>
              <a:ext uri="{FF2B5EF4-FFF2-40B4-BE49-F238E27FC236}">
                <a16:creationId xmlns:a16="http://schemas.microsoft.com/office/drawing/2014/main" id="{18EFAA1F-58F5-B8DC-5203-016AF3661A4C}"/>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10.3 – </a:t>
            </a:r>
            <a:r>
              <a:rPr lang="en-US" altLang="ja-JP" b="1" u="sng" dirty="0" err="1">
                <a:solidFill>
                  <a:prstClr val="black"/>
                </a:solidFill>
                <a:latin typeface="Calibri" panose="020F0502020204030204"/>
                <a:ea typeface="游ゴシック Light" panose="020B0300000000000000" pitchFamily="34" charset="-128"/>
              </a:rPr>
              <a:t>Geweke</a:t>
            </a:r>
            <a:r>
              <a:rPr lang="en-US" altLang="ja-JP" b="1" u="sng" dirty="0">
                <a:solidFill>
                  <a:prstClr val="black"/>
                </a:solidFill>
                <a:latin typeface="Calibri" panose="020F0502020204030204"/>
                <a:ea typeface="游ゴシック Light" panose="020B0300000000000000" pitchFamily="34" charset="-128"/>
              </a:rPr>
              <a:t> Diagnostic</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5" name="Footer Placeholder 2">
            <a:extLst>
              <a:ext uri="{FF2B5EF4-FFF2-40B4-BE49-F238E27FC236}">
                <a16:creationId xmlns:a16="http://schemas.microsoft.com/office/drawing/2014/main" id="{CE1BC482-63C5-C7CB-8FB1-F710CF896763}"/>
              </a:ext>
            </a:extLst>
          </p:cNvPr>
          <p:cNvSpPr txBox="1">
            <a:spLocks/>
          </p:cNvSpPr>
          <p:nvPr/>
        </p:nvSpPr>
        <p:spPr>
          <a:xfrm>
            <a:off x="8993875" y="86139"/>
            <a:ext cx="309549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10.3 – </a:t>
            </a:r>
            <a:r>
              <a:rPr kumimoji="1" lang="en-US" altLang="ja-JP" sz="1600" dirty="0" err="1">
                <a:solidFill>
                  <a:srgbClr val="DEDDDD"/>
                </a:solidFill>
                <a:latin typeface="Gidole"/>
                <a:ea typeface="游ゴシック" panose="020B0400000000000000" pitchFamily="34" charset="-128"/>
              </a:rPr>
              <a:t>Geweke</a:t>
            </a:r>
            <a:r>
              <a:rPr kumimoji="1" lang="en-US" altLang="ja-JP" sz="1600" dirty="0">
                <a:solidFill>
                  <a:srgbClr val="DEDDDD"/>
                </a:solidFill>
                <a:latin typeface="Gidole"/>
                <a:ea typeface="游ゴシック" panose="020B0400000000000000" pitchFamily="34" charset="-128"/>
              </a:rPr>
              <a:t> Diagnostic</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2" name="Rectangle 1">
            <a:extLst>
              <a:ext uri="{FF2B5EF4-FFF2-40B4-BE49-F238E27FC236}">
                <a16:creationId xmlns:a16="http://schemas.microsoft.com/office/drawing/2014/main" id="{CD11BDFA-E041-9E79-9F6F-9CDBF4406A58}"/>
              </a:ext>
            </a:extLst>
          </p:cNvPr>
          <p:cNvSpPr/>
          <p:nvPr/>
        </p:nvSpPr>
        <p:spPr>
          <a:xfrm>
            <a:off x="1767041" y="1393042"/>
            <a:ext cx="3304440" cy="2507834"/>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cxnSp>
        <p:nvCxnSpPr>
          <p:cNvPr id="8" name="Straight Connector 7">
            <a:extLst>
              <a:ext uri="{FF2B5EF4-FFF2-40B4-BE49-F238E27FC236}">
                <a16:creationId xmlns:a16="http://schemas.microsoft.com/office/drawing/2014/main" id="{5348D325-AF09-53E0-D2A0-8806042E1DDB}"/>
              </a:ext>
            </a:extLst>
          </p:cNvPr>
          <p:cNvCxnSpPr/>
          <p:nvPr/>
        </p:nvCxnSpPr>
        <p:spPr>
          <a:xfrm flipH="1">
            <a:off x="1624166" y="1393042"/>
            <a:ext cx="14287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8279F2F-8F38-05C7-8C2E-276C77D62577}"/>
              </a:ext>
            </a:extLst>
          </p:cNvPr>
          <p:cNvCxnSpPr/>
          <p:nvPr/>
        </p:nvCxnSpPr>
        <p:spPr>
          <a:xfrm flipH="1">
            <a:off x="1624166" y="3900876"/>
            <a:ext cx="14287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22656F5-D468-927B-8522-59DDCAA0774E}"/>
              </a:ext>
            </a:extLst>
          </p:cNvPr>
          <p:cNvCxnSpPr/>
          <p:nvPr/>
        </p:nvCxnSpPr>
        <p:spPr>
          <a:xfrm flipH="1">
            <a:off x="1624166" y="2658816"/>
            <a:ext cx="14287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633D73B-3E57-A3F2-D309-20ED5209524C}"/>
              </a:ext>
            </a:extLst>
          </p:cNvPr>
          <p:cNvCxnSpPr/>
          <p:nvPr/>
        </p:nvCxnSpPr>
        <p:spPr>
          <a:xfrm flipH="1">
            <a:off x="1624166" y="2041596"/>
            <a:ext cx="14287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B946D6B-465B-F758-CC46-AACBBAE087C2}"/>
              </a:ext>
            </a:extLst>
          </p:cNvPr>
          <p:cNvCxnSpPr/>
          <p:nvPr/>
        </p:nvCxnSpPr>
        <p:spPr>
          <a:xfrm flipH="1">
            <a:off x="1631097" y="3231119"/>
            <a:ext cx="14287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24" name="Text Placeholder 5">
            <a:extLst>
              <a:ext uri="{FF2B5EF4-FFF2-40B4-BE49-F238E27FC236}">
                <a16:creationId xmlns:a16="http://schemas.microsoft.com/office/drawing/2014/main" id="{CBEA4F21-00B8-EAFB-164F-B142099DC72D}"/>
              </a:ext>
            </a:extLst>
          </p:cNvPr>
          <p:cNvSpPr txBox="1">
            <a:spLocks/>
          </p:cNvSpPr>
          <p:nvPr/>
        </p:nvSpPr>
        <p:spPr>
          <a:xfrm>
            <a:off x="1424696" y="2520750"/>
            <a:ext cx="270907" cy="25241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200" dirty="0">
                <a:solidFill>
                  <a:schemeClr val="bg2">
                    <a:lumMod val="50000"/>
                  </a:schemeClr>
                </a:solidFill>
              </a:rPr>
              <a:t>0</a:t>
            </a:r>
          </a:p>
        </p:txBody>
      </p:sp>
      <p:sp>
        <p:nvSpPr>
          <p:cNvPr id="25" name="Text Placeholder 5">
            <a:extLst>
              <a:ext uri="{FF2B5EF4-FFF2-40B4-BE49-F238E27FC236}">
                <a16:creationId xmlns:a16="http://schemas.microsoft.com/office/drawing/2014/main" id="{56D901EC-5A40-FA53-56AF-41F3112E4405}"/>
              </a:ext>
            </a:extLst>
          </p:cNvPr>
          <p:cNvSpPr txBox="1">
            <a:spLocks/>
          </p:cNvSpPr>
          <p:nvPr/>
        </p:nvSpPr>
        <p:spPr>
          <a:xfrm>
            <a:off x="1424696" y="1902547"/>
            <a:ext cx="270907" cy="25241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200" dirty="0">
                <a:solidFill>
                  <a:schemeClr val="bg2">
                    <a:lumMod val="50000"/>
                  </a:schemeClr>
                </a:solidFill>
              </a:rPr>
              <a:t>2</a:t>
            </a:r>
          </a:p>
        </p:txBody>
      </p:sp>
      <p:sp>
        <p:nvSpPr>
          <p:cNvPr id="26" name="Text Placeholder 5">
            <a:extLst>
              <a:ext uri="{FF2B5EF4-FFF2-40B4-BE49-F238E27FC236}">
                <a16:creationId xmlns:a16="http://schemas.microsoft.com/office/drawing/2014/main" id="{0A39CEE4-26CD-0861-B0BE-1153C973AFE9}"/>
              </a:ext>
            </a:extLst>
          </p:cNvPr>
          <p:cNvSpPr txBox="1">
            <a:spLocks/>
          </p:cNvSpPr>
          <p:nvPr/>
        </p:nvSpPr>
        <p:spPr>
          <a:xfrm>
            <a:off x="1364313" y="3066836"/>
            <a:ext cx="331290" cy="25241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200" dirty="0">
                <a:solidFill>
                  <a:schemeClr val="bg2">
                    <a:lumMod val="50000"/>
                  </a:schemeClr>
                </a:solidFill>
              </a:rPr>
              <a:t>-2</a:t>
            </a:r>
          </a:p>
        </p:txBody>
      </p:sp>
      <p:sp>
        <p:nvSpPr>
          <p:cNvPr id="27" name="Text Placeholder 5">
            <a:extLst>
              <a:ext uri="{FF2B5EF4-FFF2-40B4-BE49-F238E27FC236}">
                <a16:creationId xmlns:a16="http://schemas.microsoft.com/office/drawing/2014/main" id="{5146462A-419D-3636-6531-723B24D09BD2}"/>
              </a:ext>
            </a:extLst>
          </p:cNvPr>
          <p:cNvSpPr txBox="1">
            <a:spLocks/>
          </p:cNvSpPr>
          <p:nvPr/>
        </p:nvSpPr>
        <p:spPr>
          <a:xfrm>
            <a:off x="1357382" y="3723860"/>
            <a:ext cx="331290" cy="25241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200" dirty="0">
                <a:solidFill>
                  <a:schemeClr val="bg2">
                    <a:lumMod val="50000"/>
                  </a:schemeClr>
                </a:solidFill>
              </a:rPr>
              <a:t>-4</a:t>
            </a:r>
          </a:p>
        </p:txBody>
      </p:sp>
      <p:sp>
        <p:nvSpPr>
          <p:cNvPr id="29" name="Text Placeholder 5">
            <a:extLst>
              <a:ext uri="{FF2B5EF4-FFF2-40B4-BE49-F238E27FC236}">
                <a16:creationId xmlns:a16="http://schemas.microsoft.com/office/drawing/2014/main" id="{E94767E7-35AA-6505-5BF7-65652740959C}"/>
              </a:ext>
            </a:extLst>
          </p:cNvPr>
          <p:cNvSpPr txBox="1">
            <a:spLocks/>
          </p:cNvSpPr>
          <p:nvPr/>
        </p:nvSpPr>
        <p:spPr>
          <a:xfrm>
            <a:off x="1424696" y="1253730"/>
            <a:ext cx="270907" cy="25241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200" dirty="0">
                <a:solidFill>
                  <a:schemeClr val="bg2">
                    <a:lumMod val="50000"/>
                  </a:schemeClr>
                </a:solidFill>
              </a:rPr>
              <a:t>4</a:t>
            </a:r>
          </a:p>
        </p:txBody>
      </p:sp>
      <p:cxnSp>
        <p:nvCxnSpPr>
          <p:cNvPr id="31" name="Straight Connector 30">
            <a:extLst>
              <a:ext uri="{FF2B5EF4-FFF2-40B4-BE49-F238E27FC236}">
                <a16:creationId xmlns:a16="http://schemas.microsoft.com/office/drawing/2014/main" id="{2B584917-5948-2585-EB5E-8F4884C5E1DD}"/>
              </a:ext>
            </a:extLst>
          </p:cNvPr>
          <p:cNvCxnSpPr>
            <a:cxnSpLocks/>
          </p:cNvCxnSpPr>
          <p:nvPr/>
        </p:nvCxnSpPr>
        <p:spPr>
          <a:xfrm flipH="1">
            <a:off x="1767041" y="2041596"/>
            <a:ext cx="3304440" cy="0"/>
          </a:xfrm>
          <a:prstGeom prst="line">
            <a:avLst/>
          </a:prstGeom>
          <a:ln>
            <a:solidFill>
              <a:schemeClr val="bg2">
                <a:lumMod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B79675B-4B65-2E86-CC89-6DF718E225E7}"/>
              </a:ext>
            </a:extLst>
          </p:cNvPr>
          <p:cNvCxnSpPr>
            <a:cxnSpLocks/>
          </p:cNvCxnSpPr>
          <p:nvPr/>
        </p:nvCxnSpPr>
        <p:spPr>
          <a:xfrm flipH="1">
            <a:off x="1773972" y="3231119"/>
            <a:ext cx="3304440" cy="0"/>
          </a:xfrm>
          <a:prstGeom prst="line">
            <a:avLst/>
          </a:prstGeom>
          <a:ln>
            <a:solidFill>
              <a:schemeClr val="bg2">
                <a:lumMod val="50000"/>
              </a:schemeClr>
            </a:solidFill>
            <a:prstDash val="lgDash"/>
          </a:ln>
        </p:spPr>
        <p:style>
          <a:lnRef idx="1">
            <a:schemeClr val="accent1"/>
          </a:lnRef>
          <a:fillRef idx="0">
            <a:schemeClr val="accent1"/>
          </a:fillRef>
          <a:effectRef idx="0">
            <a:schemeClr val="accent1"/>
          </a:effectRef>
          <a:fontRef idx="minor">
            <a:schemeClr val="tx1"/>
          </a:fontRef>
        </p:style>
      </p:cxnSp>
      <p:sp>
        <p:nvSpPr>
          <p:cNvPr id="10" name="Star: 4 Points 9">
            <a:extLst>
              <a:ext uri="{FF2B5EF4-FFF2-40B4-BE49-F238E27FC236}">
                <a16:creationId xmlns:a16="http://schemas.microsoft.com/office/drawing/2014/main" id="{B2A6EEE5-E364-21AE-CBE2-3023E6C05C2A}"/>
              </a:ext>
            </a:extLst>
          </p:cNvPr>
          <p:cNvSpPr/>
          <p:nvPr/>
        </p:nvSpPr>
        <p:spPr>
          <a:xfrm>
            <a:off x="3010921" y="2332950"/>
            <a:ext cx="68580" cy="57678"/>
          </a:xfrm>
          <a:prstGeom prst="star4">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ln>
                <a:solidFill>
                  <a:schemeClr val="bg2">
                    <a:lumMod val="50000"/>
                  </a:schemeClr>
                </a:solidFill>
              </a:ln>
              <a:solidFill>
                <a:schemeClr val="bg2">
                  <a:lumMod val="50000"/>
                </a:schemeClr>
              </a:solidFill>
            </a:endParaRPr>
          </a:p>
        </p:txBody>
      </p:sp>
      <p:sp>
        <p:nvSpPr>
          <p:cNvPr id="35" name="Rectangle 34">
            <a:extLst>
              <a:ext uri="{FF2B5EF4-FFF2-40B4-BE49-F238E27FC236}">
                <a16:creationId xmlns:a16="http://schemas.microsoft.com/office/drawing/2014/main" id="{0A9D988C-19A0-2537-EFF9-0F76B87AE296}"/>
              </a:ext>
            </a:extLst>
          </p:cNvPr>
          <p:cNvSpPr/>
          <p:nvPr/>
        </p:nvSpPr>
        <p:spPr>
          <a:xfrm>
            <a:off x="7341655" y="1393042"/>
            <a:ext cx="3304440" cy="2507834"/>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cxnSp>
        <p:nvCxnSpPr>
          <p:cNvPr id="36" name="Straight Connector 35">
            <a:extLst>
              <a:ext uri="{FF2B5EF4-FFF2-40B4-BE49-F238E27FC236}">
                <a16:creationId xmlns:a16="http://schemas.microsoft.com/office/drawing/2014/main" id="{F8CF5B84-ABB7-CEBF-4944-8A26795601EB}"/>
              </a:ext>
            </a:extLst>
          </p:cNvPr>
          <p:cNvCxnSpPr/>
          <p:nvPr/>
        </p:nvCxnSpPr>
        <p:spPr>
          <a:xfrm flipH="1">
            <a:off x="7198780" y="1393042"/>
            <a:ext cx="14287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F01E208-1F0E-35C0-A77B-31A032C25121}"/>
              </a:ext>
            </a:extLst>
          </p:cNvPr>
          <p:cNvCxnSpPr/>
          <p:nvPr/>
        </p:nvCxnSpPr>
        <p:spPr>
          <a:xfrm flipH="1">
            <a:off x="7198780" y="3900876"/>
            <a:ext cx="14287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F2B6C08-32C4-EFD1-ECA8-F081AA593A0B}"/>
              </a:ext>
            </a:extLst>
          </p:cNvPr>
          <p:cNvCxnSpPr/>
          <p:nvPr/>
        </p:nvCxnSpPr>
        <p:spPr>
          <a:xfrm flipH="1">
            <a:off x="7198780" y="2658816"/>
            <a:ext cx="14287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6405B7A-957B-147C-2E4B-554E5988BAF2}"/>
              </a:ext>
            </a:extLst>
          </p:cNvPr>
          <p:cNvCxnSpPr/>
          <p:nvPr/>
        </p:nvCxnSpPr>
        <p:spPr>
          <a:xfrm flipH="1">
            <a:off x="7198780" y="2041596"/>
            <a:ext cx="14287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ACC20739-C59D-8484-E1DD-5808F6CC90A0}"/>
              </a:ext>
            </a:extLst>
          </p:cNvPr>
          <p:cNvCxnSpPr/>
          <p:nvPr/>
        </p:nvCxnSpPr>
        <p:spPr>
          <a:xfrm flipH="1">
            <a:off x="7205711" y="3231119"/>
            <a:ext cx="14287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42" name="Text Placeholder 5">
            <a:extLst>
              <a:ext uri="{FF2B5EF4-FFF2-40B4-BE49-F238E27FC236}">
                <a16:creationId xmlns:a16="http://schemas.microsoft.com/office/drawing/2014/main" id="{718EC4F9-9F65-357B-4B67-999671EE7D56}"/>
              </a:ext>
            </a:extLst>
          </p:cNvPr>
          <p:cNvSpPr txBox="1">
            <a:spLocks/>
          </p:cNvSpPr>
          <p:nvPr/>
        </p:nvSpPr>
        <p:spPr>
          <a:xfrm>
            <a:off x="6999310" y="2520750"/>
            <a:ext cx="270907" cy="25241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200" dirty="0">
                <a:solidFill>
                  <a:schemeClr val="bg2">
                    <a:lumMod val="50000"/>
                  </a:schemeClr>
                </a:solidFill>
              </a:rPr>
              <a:t>0</a:t>
            </a:r>
          </a:p>
        </p:txBody>
      </p:sp>
      <p:sp>
        <p:nvSpPr>
          <p:cNvPr id="43" name="Text Placeholder 5">
            <a:extLst>
              <a:ext uri="{FF2B5EF4-FFF2-40B4-BE49-F238E27FC236}">
                <a16:creationId xmlns:a16="http://schemas.microsoft.com/office/drawing/2014/main" id="{ABA91202-15E6-DD2F-5DDA-41D8EC70863C}"/>
              </a:ext>
            </a:extLst>
          </p:cNvPr>
          <p:cNvSpPr txBox="1">
            <a:spLocks/>
          </p:cNvSpPr>
          <p:nvPr/>
        </p:nvSpPr>
        <p:spPr>
          <a:xfrm>
            <a:off x="6999310" y="1902547"/>
            <a:ext cx="270907" cy="25241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200" dirty="0">
                <a:solidFill>
                  <a:schemeClr val="bg2">
                    <a:lumMod val="50000"/>
                  </a:schemeClr>
                </a:solidFill>
              </a:rPr>
              <a:t>2</a:t>
            </a:r>
          </a:p>
        </p:txBody>
      </p:sp>
      <p:sp>
        <p:nvSpPr>
          <p:cNvPr id="44" name="Text Placeholder 5">
            <a:extLst>
              <a:ext uri="{FF2B5EF4-FFF2-40B4-BE49-F238E27FC236}">
                <a16:creationId xmlns:a16="http://schemas.microsoft.com/office/drawing/2014/main" id="{DE287EAA-8E9B-45BA-DD27-C5B89D02493B}"/>
              </a:ext>
            </a:extLst>
          </p:cNvPr>
          <p:cNvSpPr txBox="1">
            <a:spLocks/>
          </p:cNvSpPr>
          <p:nvPr/>
        </p:nvSpPr>
        <p:spPr>
          <a:xfrm>
            <a:off x="6938927" y="3066836"/>
            <a:ext cx="331290" cy="25241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200" dirty="0">
                <a:solidFill>
                  <a:schemeClr val="bg2">
                    <a:lumMod val="50000"/>
                  </a:schemeClr>
                </a:solidFill>
              </a:rPr>
              <a:t>-2</a:t>
            </a:r>
          </a:p>
        </p:txBody>
      </p:sp>
      <p:sp>
        <p:nvSpPr>
          <p:cNvPr id="45" name="Text Placeholder 5">
            <a:extLst>
              <a:ext uri="{FF2B5EF4-FFF2-40B4-BE49-F238E27FC236}">
                <a16:creationId xmlns:a16="http://schemas.microsoft.com/office/drawing/2014/main" id="{B61A0FEB-4331-024A-FBAA-C8A984102AA8}"/>
              </a:ext>
            </a:extLst>
          </p:cNvPr>
          <p:cNvSpPr txBox="1">
            <a:spLocks/>
          </p:cNvSpPr>
          <p:nvPr/>
        </p:nvSpPr>
        <p:spPr>
          <a:xfrm>
            <a:off x="6931996" y="3723860"/>
            <a:ext cx="331290" cy="25241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200" dirty="0">
                <a:solidFill>
                  <a:schemeClr val="bg2">
                    <a:lumMod val="50000"/>
                  </a:schemeClr>
                </a:solidFill>
              </a:rPr>
              <a:t>-4</a:t>
            </a:r>
          </a:p>
        </p:txBody>
      </p:sp>
      <p:sp>
        <p:nvSpPr>
          <p:cNvPr id="46" name="Text Placeholder 5">
            <a:extLst>
              <a:ext uri="{FF2B5EF4-FFF2-40B4-BE49-F238E27FC236}">
                <a16:creationId xmlns:a16="http://schemas.microsoft.com/office/drawing/2014/main" id="{BBF99D18-AC04-D4F7-A2BB-6C8A75CBBEEA}"/>
              </a:ext>
            </a:extLst>
          </p:cNvPr>
          <p:cNvSpPr txBox="1">
            <a:spLocks/>
          </p:cNvSpPr>
          <p:nvPr/>
        </p:nvSpPr>
        <p:spPr>
          <a:xfrm>
            <a:off x="6999310" y="1253730"/>
            <a:ext cx="270907" cy="25241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200" dirty="0">
                <a:solidFill>
                  <a:schemeClr val="bg2">
                    <a:lumMod val="50000"/>
                  </a:schemeClr>
                </a:solidFill>
              </a:rPr>
              <a:t>4</a:t>
            </a:r>
          </a:p>
        </p:txBody>
      </p:sp>
      <p:cxnSp>
        <p:nvCxnSpPr>
          <p:cNvPr id="47" name="Straight Connector 46">
            <a:extLst>
              <a:ext uri="{FF2B5EF4-FFF2-40B4-BE49-F238E27FC236}">
                <a16:creationId xmlns:a16="http://schemas.microsoft.com/office/drawing/2014/main" id="{EB5D5A40-432A-3C18-5143-8BE1F0D9E05B}"/>
              </a:ext>
            </a:extLst>
          </p:cNvPr>
          <p:cNvCxnSpPr>
            <a:cxnSpLocks/>
          </p:cNvCxnSpPr>
          <p:nvPr/>
        </p:nvCxnSpPr>
        <p:spPr>
          <a:xfrm flipH="1">
            <a:off x="7341655" y="2041596"/>
            <a:ext cx="3304440" cy="0"/>
          </a:xfrm>
          <a:prstGeom prst="line">
            <a:avLst/>
          </a:prstGeom>
          <a:ln>
            <a:solidFill>
              <a:schemeClr val="bg2">
                <a:lumMod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E9ED519C-4774-75A5-FACB-8C41B4939B7F}"/>
              </a:ext>
            </a:extLst>
          </p:cNvPr>
          <p:cNvCxnSpPr>
            <a:cxnSpLocks/>
          </p:cNvCxnSpPr>
          <p:nvPr/>
        </p:nvCxnSpPr>
        <p:spPr>
          <a:xfrm flipH="1">
            <a:off x="7348586" y="3231119"/>
            <a:ext cx="3304440" cy="0"/>
          </a:xfrm>
          <a:prstGeom prst="line">
            <a:avLst/>
          </a:prstGeom>
          <a:ln>
            <a:solidFill>
              <a:schemeClr val="bg2">
                <a:lumMod val="50000"/>
              </a:schemeClr>
            </a:solidFill>
            <a:prstDash val="lgDash"/>
          </a:ln>
        </p:spPr>
        <p:style>
          <a:lnRef idx="1">
            <a:schemeClr val="accent1"/>
          </a:lnRef>
          <a:fillRef idx="0">
            <a:schemeClr val="accent1"/>
          </a:fillRef>
          <a:effectRef idx="0">
            <a:schemeClr val="accent1"/>
          </a:effectRef>
          <a:fontRef idx="minor">
            <a:schemeClr val="tx1"/>
          </a:fontRef>
        </p:style>
      </p:cxnSp>
      <p:sp>
        <p:nvSpPr>
          <p:cNvPr id="49" name="Star: 4 Points 48">
            <a:extLst>
              <a:ext uri="{FF2B5EF4-FFF2-40B4-BE49-F238E27FC236}">
                <a16:creationId xmlns:a16="http://schemas.microsoft.com/office/drawing/2014/main" id="{67649977-5428-50E5-9F4B-D677AF6D1BB5}"/>
              </a:ext>
            </a:extLst>
          </p:cNvPr>
          <p:cNvSpPr/>
          <p:nvPr/>
        </p:nvSpPr>
        <p:spPr>
          <a:xfrm>
            <a:off x="8214060" y="1612567"/>
            <a:ext cx="68580" cy="57678"/>
          </a:xfrm>
          <a:prstGeom prst="star4">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51" name="Star: 4 Points 50">
            <a:extLst>
              <a:ext uri="{FF2B5EF4-FFF2-40B4-BE49-F238E27FC236}">
                <a16:creationId xmlns:a16="http://schemas.microsoft.com/office/drawing/2014/main" id="{CDC76EBC-3F7D-4D40-67AD-78364376BB36}"/>
              </a:ext>
            </a:extLst>
          </p:cNvPr>
          <p:cNvSpPr/>
          <p:nvPr/>
        </p:nvSpPr>
        <p:spPr>
          <a:xfrm>
            <a:off x="1939358" y="1670245"/>
            <a:ext cx="68580" cy="57678"/>
          </a:xfrm>
          <a:prstGeom prst="star4">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ln>
                <a:solidFill>
                  <a:schemeClr val="bg2">
                    <a:lumMod val="50000"/>
                  </a:schemeClr>
                </a:solidFill>
              </a:ln>
              <a:solidFill>
                <a:schemeClr val="bg2">
                  <a:lumMod val="50000"/>
                </a:schemeClr>
              </a:solidFill>
            </a:endParaRPr>
          </a:p>
        </p:txBody>
      </p:sp>
      <p:sp>
        <p:nvSpPr>
          <p:cNvPr id="52" name="Star: 4 Points 51">
            <a:extLst>
              <a:ext uri="{FF2B5EF4-FFF2-40B4-BE49-F238E27FC236}">
                <a16:creationId xmlns:a16="http://schemas.microsoft.com/office/drawing/2014/main" id="{B28FB552-5183-2F7E-62A7-11F0A3E9C20F}"/>
              </a:ext>
            </a:extLst>
          </p:cNvPr>
          <p:cNvSpPr/>
          <p:nvPr/>
        </p:nvSpPr>
        <p:spPr>
          <a:xfrm>
            <a:off x="2110809" y="2083108"/>
            <a:ext cx="68580" cy="57678"/>
          </a:xfrm>
          <a:prstGeom prst="star4">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ln>
                <a:solidFill>
                  <a:schemeClr val="bg2">
                    <a:lumMod val="50000"/>
                  </a:schemeClr>
                </a:solidFill>
              </a:ln>
              <a:solidFill>
                <a:schemeClr val="bg2">
                  <a:lumMod val="50000"/>
                </a:schemeClr>
              </a:solidFill>
            </a:endParaRPr>
          </a:p>
        </p:txBody>
      </p:sp>
      <p:sp>
        <p:nvSpPr>
          <p:cNvPr id="53" name="Star: 4 Points 52">
            <a:extLst>
              <a:ext uri="{FF2B5EF4-FFF2-40B4-BE49-F238E27FC236}">
                <a16:creationId xmlns:a16="http://schemas.microsoft.com/office/drawing/2014/main" id="{5D30F0B0-0EA0-56E8-CAC3-B4C7CD258BF7}"/>
              </a:ext>
            </a:extLst>
          </p:cNvPr>
          <p:cNvSpPr/>
          <p:nvPr/>
        </p:nvSpPr>
        <p:spPr>
          <a:xfrm>
            <a:off x="2179389" y="3479481"/>
            <a:ext cx="68580" cy="57678"/>
          </a:xfrm>
          <a:prstGeom prst="star4">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ln>
                <a:solidFill>
                  <a:schemeClr val="bg2">
                    <a:lumMod val="50000"/>
                  </a:schemeClr>
                </a:solidFill>
              </a:ln>
              <a:solidFill>
                <a:schemeClr val="bg2">
                  <a:lumMod val="50000"/>
                </a:schemeClr>
              </a:solidFill>
            </a:endParaRPr>
          </a:p>
        </p:txBody>
      </p:sp>
      <p:sp>
        <p:nvSpPr>
          <p:cNvPr id="54" name="Star: 4 Points 53">
            <a:extLst>
              <a:ext uri="{FF2B5EF4-FFF2-40B4-BE49-F238E27FC236}">
                <a16:creationId xmlns:a16="http://schemas.microsoft.com/office/drawing/2014/main" id="{54515ED2-35D4-F3DC-6094-FDA9E65E397C}"/>
              </a:ext>
            </a:extLst>
          </p:cNvPr>
          <p:cNvSpPr/>
          <p:nvPr/>
        </p:nvSpPr>
        <p:spPr>
          <a:xfrm>
            <a:off x="2396558" y="1793235"/>
            <a:ext cx="68580" cy="57678"/>
          </a:xfrm>
          <a:prstGeom prst="star4">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ln>
                <a:solidFill>
                  <a:schemeClr val="bg2">
                    <a:lumMod val="50000"/>
                  </a:schemeClr>
                </a:solidFill>
              </a:ln>
              <a:solidFill>
                <a:schemeClr val="bg2">
                  <a:lumMod val="50000"/>
                </a:schemeClr>
              </a:solidFill>
            </a:endParaRPr>
          </a:p>
        </p:txBody>
      </p:sp>
      <p:sp>
        <p:nvSpPr>
          <p:cNvPr id="55" name="Star: 4 Points 54">
            <a:extLst>
              <a:ext uri="{FF2B5EF4-FFF2-40B4-BE49-F238E27FC236}">
                <a16:creationId xmlns:a16="http://schemas.microsoft.com/office/drawing/2014/main" id="{CF74F8B4-8C79-85C8-AD7F-4C3E2660A905}"/>
              </a:ext>
            </a:extLst>
          </p:cNvPr>
          <p:cNvSpPr/>
          <p:nvPr/>
        </p:nvSpPr>
        <p:spPr>
          <a:xfrm>
            <a:off x="2465138" y="3290415"/>
            <a:ext cx="68580" cy="57678"/>
          </a:xfrm>
          <a:prstGeom prst="star4">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ln>
                <a:solidFill>
                  <a:schemeClr val="bg2">
                    <a:lumMod val="50000"/>
                  </a:schemeClr>
                </a:solidFill>
              </a:ln>
              <a:solidFill>
                <a:schemeClr val="bg2">
                  <a:lumMod val="50000"/>
                </a:schemeClr>
              </a:solidFill>
            </a:endParaRPr>
          </a:p>
        </p:txBody>
      </p:sp>
      <p:sp>
        <p:nvSpPr>
          <p:cNvPr id="56" name="Star: 4 Points 55">
            <a:extLst>
              <a:ext uri="{FF2B5EF4-FFF2-40B4-BE49-F238E27FC236}">
                <a16:creationId xmlns:a16="http://schemas.microsoft.com/office/drawing/2014/main" id="{A267B607-A8BD-6FB2-88B8-847C1948EDF5}"/>
              </a:ext>
            </a:extLst>
          </p:cNvPr>
          <p:cNvSpPr/>
          <p:nvPr/>
        </p:nvSpPr>
        <p:spPr>
          <a:xfrm>
            <a:off x="2663259" y="1969467"/>
            <a:ext cx="68580" cy="57678"/>
          </a:xfrm>
          <a:prstGeom prst="star4">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ln>
                <a:solidFill>
                  <a:schemeClr val="bg2">
                    <a:lumMod val="50000"/>
                  </a:schemeClr>
                </a:solidFill>
              </a:ln>
              <a:solidFill>
                <a:schemeClr val="bg2">
                  <a:lumMod val="50000"/>
                </a:schemeClr>
              </a:solidFill>
            </a:endParaRPr>
          </a:p>
        </p:txBody>
      </p:sp>
      <p:sp>
        <p:nvSpPr>
          <p:cNvPr id="57" name="Star: 4 Points 56">
            <a:extLst>
              <a:ext uri="{FF2B5EF4-FFF2-40B4-BE49-F238E27FC236}">
                <a16:creationId xmlns:a16="http://schemas.microsoft.com/office/drawing/2014/main" id="{2C3B07EF-799E-9CE8-F86E-A072479F8414}"/>
              </a:ext>
            </a:extLst>
          </p:cNvPr>
          <p:cNvSpPr/>
          <p:nvPr/>
        </p:nvSpPr>
        <p:spPr>
          <a:xfrm>
            <a:off x="2844233" y="2144948"/>
            <a:ext cx="68580" cy="57678"/>
          </a:xfrm>
          <a:prstGeom prst="star4">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ln>
                <a:solidFill>
                  <a:schemeClr val="bg2">
                    <a:lumMod val="50000"/>
                  </a:schemeClr>
                </a:solidFill>
              </a:ln>
              <a:solidFill>
                <a:schemeClr val="bg2">
                  <a:lumMod val="50000"/>
                </a:schemeClr>
              </a:solidFill>
            </a:endParaRPr>
          </a:p>
        </p:txBody>
      </p:sp>
      <p:sp>
        <p:nvSpPr>
          <p:cNvPr id="58" name="Star: 4 Points 57">
            <a:extLst>
              <a:ext uri="{FF2B5EF4-FFF2-40B4-BE49-F238E27FC236}">
                <a16:creationId xmlns:a16="http://schemas.microsoft.com/office/drawing/2014/main" id="{4D6E8AB1-E8E8-E357-CFF1-0DCCE5C5702A}"/>
              </a:ext>
            </a:extLst>
          </p:cNvPr>
          <p:cNvSpPr/>
          <p:nvPr/>
        </p:nvSpPr>
        <p:spPr>
          <a:xfrm>
            <a:off x="3153796" y="3087513"/>
            <a:ext cx="68580" cy="57678"/>
          </a:xfrm>
          <a:prstGeom prst="star4">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ln>
                <a:solidFill>
                  <a:schemeClr val="bg2">
                    <a:lumMod val="50000"/>
                  </a:schemeClr>
                </a:solidFill>
              </a:ln>
              <a:solidFill>
                <a:schemeClr val="bg2">
                  <a:lumMod val="50000"/>
                </a:schemeClr>
              </a:solidFill>
            </a:endParaRPr>
          </a:p>
        </p:txBody>
      </p:sp>
      <p:sp>
        <p:nvSpPr>
          <p:cNvPr id="59" name="Star: 4 Points 58">
            <a:extLst>
              <a:ext uri="{FF2B5EF4-FFF2-40B4-BE49-F238E27FC236}">
                <a16:creationId xmlns:a16="http://schemas.microsoft.com/office/drawing/2014/main" id="{F1EAD238-F04E-20C5-5981-9B95D9D1076A}"/>
              </a:ext>
            </a:extLst>
          </p:cNvPr>
          <p:cNvSpPr/>
          <p:nvPr/>
        </p:nvSpPr>
        <p:spPr>
          <a:xfrm>
            <a:off x="3406947" y="2263689"/>
            <a:ext cx="68580" cy="57678"/>
          </a:xfrm>
          <a:prstGeom prst="star4">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ln>
                <a:solidFill>
                  <a:schemeClr val="bg2">
                    <a:lumMod val="50000"/>
                  </a:schemeClr>
                </a:solidFill>
              </a:ln>
              <a:solidFill>
                <a:schemeClr val="bg2">
                  <a:lumMod val="50000"/>
                </a:schemeClr>
              </a:solidFill>
            </a:endParaRPr>
          </a:p>
        </p:txBody>
      </p:sp>
      <p:sp>
        <p:nvSpPr>
          <p:cNvPr id="60" name="Star: 4 Points 59">
            <a:extLst>
              <a:ext uri="{FF2B5EF4-FFF2-40B4-BE49-F238E27FC236}">
                <a16:creationId xmlns:a16="http://schemas.microsoft.com/office/drawing/2014/main" id="{E8D76922-AC13-959B-B317-E8B377AB77E3}"/>
              </a:ext>
            </a:extLst>
          </p:cNvPr>
          <p:cNvSpPr/>
          <p:nvPr/>
        </p:nvSpPr>
        <p:spPr>
          <a:xfrm>
            <a:off x="3615880" y="2535716"/>
            <a:ext cx="68580" cy="57678"/>
          </a:xfrm>
          <a:prstGeom prst="star4">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ln>
                <a:solidFill>
                  <a:schemeClr val="bg2">
                    <a:lumMod val="50000"/>
                  </a:schemeClr>
                </a:solidFill>
              </a:ln>
              <a:solidFill>
                <a:schemeClr val="bg2">
                  <a:lumMod val="50000"/>
                </a:schemeClr>
              </a:solidFill>
            </a:endParaRPr>
          </a:p>
        </p:txBody>
      </p:sp>
      <p:sp>
        <p:nvSpPr>
          <p:cNvPr id="61" name="Star: 4 Points 60">
            <a:extLst>
              <a:ext uri="{FF2B5EF4-FFF2-40B4-BE49-F238E27FC236}">
                <a16:creationId xmlns:a16="http://schemas.microsoft.com/office/drawing/2014/main" id="{4C03F9DE-48D9-5354-BA51-803D4BB3FA36}"/>
              </a:ext>
            </a:extLst>
          </p:cNvPr>
          <p:cNvSpPr/>
          <p:nvPr/>
        </p:nvSpPr>
        <p:spPr>
          <a:xfrm>
            <a:off x="3758633" y="2824410"/>
            <a:ext cx="68580" cy="57678"/>
          </a:xfrm>
          <a:prstGeom prst="star4">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ln>
                <a:solidFill>
                  <a:schemeClr val="bg2">
                    <a:lumMod val="50000"/>
                  </a:schemeClr>
                </a:solidFill>
              </a:ln>
              <a:solidFill>
                <a:schemeClr val="bg2">
                  <a:lumMod val="50000"/>
                </a:schemeClr>
              </a:solidFill>
            </a:endParaRPr>
          </a:p>
        </p:txBody>
      </p:sp>
      <p:sp>
        <p:nvSpPr>
          <p:cNvPr id="62" name="Star: 4 Points 61">
            <a:extLst>
              <a:ext uri="{FF2B5EF4-FFF2-40B4-BE49-F238E27FC236}">
                <a16:creationId xmlns:a16="http://schemas.microsoft.com/office/drawing/2014/main" id="{8F406E5D-6593-1D0F-B110-DA8C137A5D2F}"/>
              </a:ext>
            </a:extLst>
          </p:cNvPr>
          <p:cNvSpPr/>
          <p:nvPr/>
        </p:nvSpPr>
        <p:spPr>
          <a:xfrm>
            <a:off x="3972621" y="2321367"/>
            <a:ext cx="68580" cy="57678"/>
          </a:xfrm>
          <a:prstGeom prst="star4">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ln>
                <a:solidFill>
                  <a:schemeClr val="bg2">
                    <a:lumMod val="50000"/>
                  </a:schemeClr>
                </a:solidFill>
              </a:ln>
              <a:solidFill>
                <a:schemeClr val="bg2">
                  <a:lumMod val="50000"/>
                </a:schemeClr>
              </a:solidFill>
            </a:endParaRPr>
          </a:p>
        </p:txBody>
      </p:sp>
      <p:sp>
        <p:nvSpPr>
          <p:cNvPr id="63" name="Star: 4 Points 62">
            <a:extLst>
              <a:ext uri="{FF2B5EF4-FFF2-40B4-BE49-F238E27FC236}">
                <a16:creationId xmlns:a16="http://schemas.microsoft.com/office/drawing/2014/main" id="{FC3D4B47-8B02-1853-8AA7-4A2C3EAE35B4}"/>
              </a:ext>
            </a:extLst>
          </p:cNvPr>
          <p:cNvSpPr/>
          <p:nvPr/>
        </p:nvSpPr>
        <p:spPr>
          <a:xfrm>
            <a:off x="4153921" y="2727829"/>
            <a:ext cx="68580" cy="57678"/>
          </a:xfrm>
          <a:prstGeom prst="star4">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ln>
                <a:solidFill>
                  <a:schemeClr val="bg2">
                    <a:lumMod val="50000"/>
                  </a:schemeClr>
                </a:solidFill>
              </a:ln>
              <a:solidFill>
                <a:schemeClr val="bg2">
                  <a:lumMod val="50000"/>
                </a:schemeClr>
              </a:solidFill>
            </a:endParaRPr>
          </a:p>
        </p:txBody>
      </p:sp>
      <p:sp>
        <p:nvSpPr>
          <p:cNvPr id="64" name="Star: 4 Points 63">
            <a:extLst>
              <a:ext uri="{FF2B5EF4-FFF2-40B4-BE49-F238E27FC236}">
                <a16:creationId xmlns:a16="http://schemas.microsoft.com/office/drawing/2014/main" id="{9FA04318-C4BF-6F65-7BAE-17C906050C1B}"/>
              </a:ext>
            </a:extLst>
          </p:cNvPr>
          <p:cNvSpPr/>
          <p:nvPr/>
        </p:nvSpPr>
        <p:spPr>
          <a:xfrm>
            <a:off x="4396125" y="3119824"/>
            <a:ext cx="68580" cy="57678"/>
          </a:xfrm>
          <a:prstGeom prst="star4">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ln>
                <a:solidFill>
                  <a:schemeClr val="bg2">
                    <a:lumMod val="50000"/>
                  </a:schemeClr>
                </a:solidFill>
              </a:ln>
              <a:solidFill>
                <a:schemeClr val="bg2">
                  <a:lumMod val="50000"/>
                </a:schemeClr>
              </a:solidFill>
            </a:endParaRPr>
          </a:p>
        </p:txBody>
      </p:sp>
      <p:sp>
        <p:nvSpPr>
          <p:cNvPr id="65" name="Star: 4 Points 64">
            <a:extLst>
              <a:ext uri="{FF2B5EF4-FFF2-40B4-BE49-F238E27FC236}">
                <a16:creationId xmlns:a16="http://schemas.microsoft.com/office/drawing/2014/main" id="{D2D47037-F517-1DD6-7473-4F316EAEFCF4}"/>
              </a:ext>
            </a:extLst>
          </p:cNvPr>
          <p:cNvSpPr/>
          <p:nvPr/>
        </p:nvSpPr>
        <p:spPr>
          <a:xfrm>
            <a:off x="4534921" y="2445281"/>
            <a:ext cx="68580" cy="57678"/>
          </a:xfrm>
          <a:prstGeom prst="star4">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ln>
                <a:solidFill>
                  <a:schemeClr val="bg2">
                    <a:lumMod val="50000"/>
                  </a:schemeClr>
                </a:solidFill>
              </a:ln>
              <a:solidFill>
                <a:schemeClr val="bg2">
                  <a:lumMod val="50000"/>
                </a:schemeClr>
              </a:solidFill>
            </a:endParaRPr>
          </a:p>
        </p:txBody>
      </p:sp>
      <p:sp>
        <p:nvSpPr>
          <p:cNvPr id="66" name="Star: 4 Points 65">
            <a:extLst>
              <a:ext uri="{FF2B5EF4-FFF2-40B4-BE49-F238E27FC236}">
                <a16:creationId xmlns:a16="http://schemas.microsoft.com/office/drawing/2014/main" id="{BBCCA5A6-0879-87B7-34FD-DA624AB6BD88}"/>
              </a:ext>
            </a:extLst>
          </p:cNvPr>
          <p:cNvSpPr/>
          <p:nvPr/>
        </p:nvSpPr>
        <p:spPr>
          <a:xfrm>
            <a:off x="4734946" y="2182297"/>
            <a:ext cx="68580" cy="57678"/>
          </a:xfrm>
          <a:prstGeom prst="star4">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ln>
                <a:solidFill>
                  <a:schemeClr val="bg2">
                    <a:lumMod val="50000"/>
                  </a:schemeClr>
                </a:solidFill>
              </a:ln>
              <a:solidFill>
                <a:schemeClr val="bg2">
                  <a:lumMod val="50000"/>
                </a:schemeClr>
              </a:solidFill>
            </a:endParaRPr>
          </a:p>
        </p:txBody>
      </p:sp>
      <p:sp>
        <p:nvSpPr>
          <p:cNvPr id="67" name="Star: 4 Points 66">
            <a:extLst>
              <a:ext uri="{FF2B5EF4-FFF2-40B4-BE49-F238E27FC236}">
                <a16:creationId xmlns:a16="http://schemas.microsoft.com/office/drawing/2014/main" id="{E303C845-A6AC-B6F5-E1FE-CD7B8A02AAFC}"/>
              </a:ext>
            </a:extLst>
          </p:cNvPr>
          <p:cNvSpPr/>
          <p:nvPr/>
        </p:nvSpPr>
        <p:spPr>
          <a:xfrm>
            <a:off x="4839721" y="2578680"/>
            <a:ext cx="68580" cy="57678"/>
          </a:xfrm>
          <a:prstGeom prst="star4">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ln>
                <a:solidFill>
                  <a:schemeClr val="bg2">
                    <a:lumMod val="50000"/>
                  </a:schemeClr>
                </a:solidFill>
              </a:ln>
              <a:solidFill>
                <a:schemeClr val="bg2">
                  <a:lumMod val="50000"/>
                </a:schemeClr>
              </a:solidFill>
            </a:endParaRPr>
          </a:p>
        </p:txBody>
      </p:sp>
      <p:sp>
        <p:nvSpPr>
          <p:cNvPr id="68" name="Star: 4 Points 67">
            <a:extLst>
              <a:ext uri="{FF2B5EF4-FFF2-40B4-BE49-F238E27FC236}">
                <a16:creationId xmlns:a16="http://schemas.microsoft.com/office/drawing/2014/main" id="{0E6F5C67-CFBF-4027-7EF2-43537CCEBF17}"/>
              </a:ext>
            </a:extLst>
          </p:cNvPr>
          <p:cNvSpPr/>
          <p:nvPr/>
        </p:nvSpPr>
        <p:spPr>
          <a:xfrm>
            <a:off x="4969288" y="2904900"/>
            <a:ext cx="68580" cy="57678"/>
          </a:xfrm>
          <a:prstGeom prst="star4">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ln>
                <a:solidFill>
                  <a:schemeClr val="bg2">
                    <a:lumMod val="50000"/>
                  </a:schemeClr>
                </a:solidFill>
              </a:ln>
              <a:solidFill>
                <a:schemeClr val="bg2">
                  <a:lumMod val="50000"/>
                </a:schemeClr>
              </a:solidFill>
            </a:endParaRPr>
          </a:p>
        </p:txBody>
      </p:sp>
      <p:sp>
        <p:nvSpPr>
          <p:cNvPr id="69" name="Star: 4 Points 68">
            <a:extLst>
              <a:ext uri="{FF2B5EF4-FFF2-40B4-BE49-F238E27FC236}">
                <a16:creationId xmlns:a16="http://schemas.microsoft.com/office/drawing/2014/main" id="{A8825BF4-FAA1-BFF1-2D40-F10721532F8D}"/>
              </a:ext>
            </a:extLst>
          </p:cNvPr>
          <p:cNvSpPr/>
          <p:nvPr/>
        </p:nvSpPr>
        <p:spPr>
          <a:xfrm>
            <a:off x="7413960" y="1764396"/>
            <a:ext cx="68580" cy="57678"/>
          </a:xfrm>
          <a:prstGeom prst="star4">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70" name="Star: 4 Points 69">
            <a:extLst>
              <a:ext uri="{FF2B5EF4-FFF2-40B4-BE49-F238E27FC236}">
                <a16:creationId xmlns:a16="http://schemas.microsoft.com/office/drawing/2014/main" id="{ACD4A182-9809-4980-DF10-7B30F029B5CF}"/>
              </a:ext>
            </a:extLst>
          </p:cNvPr>
          <p:cNvSpPr/>
          <p:nvPr/>
        </p:nvSpPr>
        <p:spPr>
          <a:xfrm>
            <a:off x="7594935" y="1450588"/>
            <a:ext cx="68580" cy="57678"/>
          </a:xfrm>
          <a:prstGeom prst="star4">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71" name="Star: 4 Points 70">
            <a:extLst>
              <a:ext uri="{FF2B5EF4-FFF2-40B4-BE49-F238E27FC236}">
                <a16:creationId xmlns:a16="http://schemas.microsoft.com/office/drawing/2014/main" id="{838D4B08-D21D-F4EA-C98B-F65F4F3B86B1}"/>
              </a:ext>
            </a:extLst>
          </p:cNvPr>
          <p:cNvSpPr/>
          <p:nvPr/>
        </p:nvSpPr>
        <p:spPr>
          <a:xfrm>
            <a:off x="7780672" y="1873708"/>
            <a:ext cx="68580" cy="57678"/>
          </a:xfrm>
          <a:prstGeom prst="star4">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72" name="Star: 4 Points 71">
            <a:extLst>
              <a:ext uri="{FF2B5EF4-FFF2-40B4-BE49-F238E27FC236}">
                <a16:creationId xmlns:a16="http://schemas.microsoft.com/office/drawing/2014/main" id="{A61583E0-287A-C368-D653-8A8418F36567}"/>
              </a:ext>
            </a:extLst>
          </p:cNvPr>
          <p:cNvSpPr/>
          <p:nvPr/>
        </p:nvSpPr>
        <p:spPr>
          <a:xfrm>
            <a:off x="8037848" y="2085226"/>
            <a:ext cx="68580" cy="57678"/>
          </a:xfrm>
          <a:prstGeom prst="star4">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73" name="Star: 4 Points 72">
            <a:extLst>
              <a:ext uri="{FF2B5EF4-FFF2-40B4-BE49-F238E27FC236}">
                <a16:creationId xmlns:a16="http://schemas.microsoft.com/office/drawing/2014/main" id="{9F727B84-761D-1DEB-4D34-38B5BFE411BA}"/>
              </a:ext>
            </a:extLst>
          </p:cNvPr>
          <p:cNvSpPr/>
          <p:nvPr/>
        </p:nvSpPr>
        <p:spPr>
          <a:xfrm>
            <a:off x="8487892" y="2710577"/>
            <a:ext cx="68580" cy="57678"/>
          </a:xfrm>
          <a:prstGeom prst="star4">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74" name="Star: 4 Points 73">
            <a:extLst>
              <a:ext uri="{FF2B5EF4-FFF2-40B4-BE49-F238E27FC236}">
                <a16:creationId xmlns:a16="http://schemas.microsoft.com/office/drawing/2014/main" id="{58F8E695-96B7-BE2A-C624-492C11FEB49C}"/>
              </a:ext>
            </a:extLst>
          </p:cNvPr>
          <p:cNvSpPr/>
          <p:nvPr/>
        </p:nvSpPr>
        <p:spPr>
          <a:xfrm>
            <a:off x="8728410" y="1699084"/>
            <a:ext cx="68580" cy="57678"/>
          </a:xfrm>
          <a:prstGeom prst="star4">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75" name="Star: 4 Points 74">
            <a:extLst>
              <a:ext uri="{FF2B5EF4-FFF2-40B4-BE49-F238E27FC236}">
                <a16:creationId xmlns:a16="http://schemas.microsoft.com/office/drawing/2014/main" id="{406B8FA5-BED2-5E04-8DFC-754563AD19C3}"/>
              </a:ext>
            </a:extLst>
          </p:cNvPr>
          <p:cNvSpPr/>
          <p:nvPr/>
        </p:nvSpPr>
        <p:spPr>
          <a:xfrm>
            <a:off x="9037972" y="2165045"/>
            <a:ext cx="68580" cy="57678"/>
          </a:xfrm>
          <a:prstGeom prst="star4">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76" name="Star: 4 Points 75">
            <a:extLst>
              <a:ext uri="{FF2B5EF4-FFF2-40B4-BE49-F238E27FC236}">
                <a16:creationId xmlns:a16="http://schemas.microsoft.com/office/drawing/2014/main" id="{927A22EC-EB59-789B-ED8B-45D0A2A042B2}"/>
              </a:ext>
            </a:extLst>
          </p:cNvPr>
          <p:cNvSpPr/>
          <p:nvPr/>
        </p:nvSpPr>
        <p:spPr>
          <a:xfrm>
            <a:off x="9280860" y="1619506"/>
            <a:ext cx="68580" cy="57678"/>
          </a:xfrm>
          <a:prstGeom prst="star4">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77" name="Star: 4 Points 76">
            <a:extLst>
              <a:ext uri="{FF2B5EF4-FFF2-40B4-BE49-F238E27FC236}">
                <a16:creationId xmlns:a16="http://schemas.microsoft.com/office/drawing/2014/main" id="{6437A134-436C-3158-7E84-67DD942B9421}"/>
              </a:ext>
            </a:extLst>
          </p:cNvPr>
          <p:cNvSpPr/>
          <p:nvPr/>
        </p:nvSpPr>
        <p:spPr>
          <a:xfrm>
            <a:off x="9609472" y="1800632"/>
            <a:ext cx="68580" cy="57678"/>
          </a:xfrm>
          <a:prstGeom prst="star4">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78" name="Star: 4 Points 77">
            <a:extLst>
              <a:ext uri="{FF2B5EF4-FFF2-40B4-BE49-F238E27FC236}">
                <a16:creationId xmlns:a16="http://schemas.microsoft.com/office/drawing/2014/main" id="{70B54C10-E4EE-FF03-C443-BD2936CD29D7}"/>
              </a:ext>
            </a:extLst>
          </p:cNvPr>
          <p:cNvSpPr/>
          <p:nvPr/>
        </p:nvSpPr>
        <p:spPr>
          <a:xfrm>
            <a:off x="9799973" y="1506148"/>
            <a:ext cx="68580" cy="57678"/>
          </a:xfrm>
          <a:prstGeom prst="star4">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79" name="Star: 4 Points 78">
            <a:extLst>
              <a:ext uri="{FF2B5EF4-FFF2-40B4-BE49-F238E27FC236}">
                <a16:creationId xmlns:a16="http://schemas.microsoft.com/office/drawing/2014/main" id="{9FFA3BBE-B7FC-26D6-2189-D66883676614}"/>
              </a:ext>
            </a:extLst>
          </p:cNvPr>
          <p:cNvSpPr/>
          <p:nvPr/>
        </p:nvSpPr>
        <p:spPr>
          <a:xfrm>
            <a:off x="10087543" y="1448470"/>
            <a:ext cx="68580" cy="57678"/>
          </a:xfrm>
          <a:prstGeom prst="star4">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80" name="Star: 4 Points 79">
            <a:extLst>
              <a:ext uri="{FF2B5EF4-FFF2-40B4-BE49-F238E27FC236}">
                <a16:creationId xmlns:a16="http://schemas.microsoft.com/office/drawing/2014/main" id="{639FAA75-B489-DA82-DFF2-3177B87CC088}"/>
              </a:ext>
            </a:extLst>
          </p:cNvPr>
          <p:cNvSpPr/>
          <p:nvPr/>
        </p:nvSpPr>
        <p:spPr>
          <a:xfrm>
            <a:off x="10458452" y="1889309"/>
            <a:ext cx="68580" cy="57678"/>
          </a:xfrm>
          <a:prstGeom prst="star4">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81" name="Text Placeholder 5">
            <a:extLst>
              <a:ext uri="{FF2B5EF4-FFF2-40B4-BE49-F238E27FC236}">
                <a16:creationId xmlns:a16="http://schemas.microsoft.com/office/drawing/2014/main" id="{BF772033-8440-0BC4-9ECD-FB9D9528B418}"/>
              </a:ext>
            </a:extLst>
          </p:cNvPr>
          <p:cNvSpPr txBox="1">
            <a:spLocks/>
          </p:cNvSpPr>
          <p:nvPr/>
        </p:nvSpPr>
        <p:spPr>
          <a:xfrm>
            <a:off x="2881805" y="1000339"/>
            <a:ext cx="911118"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800" b="1" dirty="0">
                <a:solidFill>
                  <a:schemeClr val="tx1"/>
                </a:solidFill>
              </a:rPr>
              <a:t>Var1</a:t>
            </a:r>
          </a:p>
        </p:txBody>
      </p:sp>
      <p:sp>
        <p:nvSpPr>
          <p:cNvPr id="82" name="Text Placeholder 5">
            <a:extLst>
              <a:ext uri="{FF2B5EF4-FFF2-40B4-BE49-F238E27FC236}">
                <a16:creationId xmlns:a16="http://schemas.microsoft.com/office/drawing/2014/main" id="{DAD4C1D3-82FA-0DBA-D073-5EB5110E3F5B}"/>
              </a:ext>
            </a:extLst>
          </p:cNvPr>
          <p:cNvSpPr txBox="1">
            <a:spLocks/>
          </p:cNvSpPr>
          <p:nvPr/>
        </p:nvSpPr>
        <p:spPr>
          <a:xfrm>
            <a:off x="8582413" y="978957"/>
            <a:ext cx="911118"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800" b="1" dirty="0">
                <a:solidFill>
                  <a:schemeClr val="tx1"/>
                </a:solidFill>
              </a:rPr>
              <a:t>Var2</a:t>
            </a:r>
          </a:p>
        </p:txBody>
      </p:sp>
      <p:sp>
        <p:nvSpPr>
          <p:cNvPr id="83" name="Text Placeholder 5">
            <a:extLst>
              <a:ext uri="{FF2B5EF4-FFF2-40B4-BE49-F238E27FC236}">
                <a16:creationId xmlns:a16="http://schemas.microsoft.com/office/drawing/2014/main" id="{3333C8BC-5413-FC0E-4B4C-0DAA5E27E1CA}"/>
              </a:ext>
            </a:extLst>
          </p:cNvPr>
          <p:cNvSpPr txBox="1">
            <a:spLocks/>
          </p:cNvSpPr>
          <p:nvPr/>
        </p:nvSpPr>
        <p:spPr>
          <a:xfrm>
            <a:off x="1626786" y="4312976"/>
            <a:ext cx="3600977" cy="84701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600" dirty="0">
                <a:solidFill>
                  <a:schemeClr val="tx1"/>
                </a:solidFill>
              </a:rPr>
              <a:t>A </a:t>
            </a:r>
            <a:r>
              <a:rPr lang="en-NZ" altLang="ja-JP" sz="1600" dirty="0" err="1">
                <a:solidFill>
                  <a:schemeClr val="tx1"/>
                </a:solidFill>
              </a:rPr>
              <a:t>Geweke</a:t>
            </a:r>
            <a:r>
              <a:rPr lang="en-NZ" altLang="ja-JP" sz="1600" dirty="0">
                <a:solidFill>
                  <a:schemeClr val="tx1"/>
                </a:solidFill>
              </a:rPr>
              <a:t> plot like this suggests that this first variable needs a longer burn-in to converge to the target distribution.</a:t>
            </a:r>
          </a:p>
        </p:txBody>
      </p:sp>
      <p:sp>
        <p:nvSpPr>
          <p:cNvPr id="84" name="Text Placeholder 5">
            <a:extLst>
              <a:ext uri="{FF2B5EF4-FFF2-40B4-BE49-F238E27FC236}">
                <a16:creationId xmlns:a16="http://schemas.microsoft.com/office/drawing/2014/main" id="{2D0FF0E2-438B-EA1D-1AD4-AC4D0CC116B9}"/>
              </a:ext>
            </a:extLst>
          </p:cNvPr>
          <p:cNvSpPr txBox="1">
            <a:spLocks/>
          </p:cNvSpPr>
          <p:nvPr/>
        </p:nvSpPr>
        <p:spPr>
          <a:xfrm>
            <a:off x="7231182" y="4317859"/>
            <a:ext cx="3600977" cy="84701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600" dirty="0">
                <a:solidFill>
                  <a:schemeClr val="tx1"/>
                </a:solidFill>
              </a:rPr>
              <a:t>A </a:t>
            </a:r>
            <a:r>
              <a:rPr lang="en-NZ" altLang="ja-JP" sz="1600" dirty="0" err="1">
                <a:solidFill>
                  <a:schemeClr val="tx1"/>
                </a:solidFill>
              </a:rPr>
              <a:t>Geweke</a:t>
            </a:r>
            <a:r>
              <a:rPr lang="en-NZ" altLang="ja-JP" sz="1600" dirty="0">
                <a:solidFill>
                  <a:schemeClr val="tx1"/>
                </a:solidFill>
              </a:rPr>
              <a:t> plot like this suggests that this second variable is not converging to the target distribution</a:t>
            </a:r>
          </a:p>
        </p:txBody>
      </p:sp>
      <p:sp>
        <p:nvSpPr>
          <p:cNvPr id="85" name="Text Placeholder 5">
            <a:extLst>
              <a:ext uri="{FF2B5EF4-FFF2-40B4-BE49-F238E27FC236}">
                <a16:creationId xmlns:a16="http://schemas.microsoft.com/office/drawing/2014/main" id="{1FF0D9A9-5D8D-0CB4-7024-B536D656333F}"/>
              </a:ext>
            </a:extLst>
          </p:cNvPr>
          <p:cNvSpPr txBox="1">
            <a:spLocks/>
          </p:cNvSpPr>
          <p:nvPr/>
        </p:nvSpPr>
        <p:spPr>
          <a:xfrm>
            <a:off x="1680871" y="5544536"/>
            <a:ext cx="8944899" cy="47223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600" dirty="0">
                <a:solidFill>
                  <a:schemeClr val="tx1"/>
                </a:solidFill>
              </a:rPr>
              <a:t>For a multi-dimensional chain it is possible for one variable to converge and another not to converge.</a:t>
            </a:r>
          </a:p>
        </p:txBody>
      </p:sp>
      <p:sp>
        <p:nvSpPr>
          <p:cNvPr id="86" name="Text Placeholder 5">
            <a:extLst>
              <a:ext uri="{FF2B5EF4-FFF2-40B4-BE49-F238E27FC236}">
                <a16:creationId xmlns:a16="http://schemas.microsoft.com/office/drawing/2014/main" id="{C39447F2-D044-22C1-3324-78A68737F99A}"/>
              </a:ext>
            </a:extLst>
          </p:cNvPr>
          <p:cNvSpPr txBox="1">
            <a:spLocks/>
          </p:cNvSpPr>
          <p:nvPr/>
        </p:nvSpPr>
        <p:spPr>
          <a:xfrm rot="16200000">
            <a:off x="752962" y="2473383"/>
            <a:ext cx="911118"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800" dirty="0">
                <a:solidFill>
                  <a:schemeClr val="bg2">
                    <a:lumMod val="50000"/>
                  </a:schemeClr>
                </a:solidFill>
              </a:rPr>
              <a:t>Z-Score</a:t>
            </a:r>
          </a:p>
        </p:txBody>
      </p:sp>
      <p:sp>
        <p:nvSpPr>
          <p:cNvPr id="87" name="Text Placeholder 5">
            <a:extLst>
              <a:ext uri="{FF2B5EF4-FFF2-40B4-BE49-F238E27FC236}">
                <a16:creationId xmlns:a16="http://schemas.microsoft.com/office/drawing/2014/main" id="{0261F7B1-357E-DE65-C2B9-5DE0E7B37D82}"/>
              </a:ext>
            </a:extLst>
          </p:cNvPr>
          <p:cNvSpPr txBox="1">
            <a:spLocks/>
          </p:cNvSpPr>
          <p:nvPr/>
        </p:nvSpPr>
        <p:spPr>
          <a:xfrm rot="16200000">
            <a:off x="6363612" y="2481703"/>
            <a:ext cx="911118"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800" dirty="0">
                <a:solidFill>
                  <a:schemeClr val="bg2">
                    <a:lumMod val="50000"/>
                  </a:schemeClr>
                </a:solidFill>
              </a:rPr>
              <a:t>Z-Score</a:t>
            </a:r>
          </a:p>
        </p:txBody>
      </p:sp>
      <p:sp>
        <p:nvSpPr>
          <p:cNvPr id="88" name="Text Placeholder 5">
            <a:extLst>
              <a:ext uri="{FF2B5EF4-FFF2-40B4-BE49-F238E27FC236}">
                <a16:creationId xmlns:a16="http://schemas.microsoft.com/office/drawing/2014/main" id="{DA768BBA-019C-FB37-66AA-07995332AC39}"/>
              </a:ext>
            </a:extLst>
          </p:cNvPr>
          <p:cNvSpPr txBox="1">
            <a:spLocks/>
          </p:cNvSpPr>
          <p:nvPr/>
        </p:nvSpPr>
        <p:spPr>
          <a:xfrm>
            <a:off x="1748671" y="3946736"/>
            <a:ext cx="3329741"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400" dirty="0">
                <a:solidFill>
                  <a:schemeClr val="bg2">
                    <a:lumMod val="50000"/>
                  </a:schemeClr>
                </a:solidFill>
              </a:rPr>
              <a:t>1</a:t>
            </a:r>
            <a:r>
              <a:rPr lang="en-NZ" altLang="ja-JP" sz="1400" baseline="30000" dirty="0">
                <a:solidFill>
                  <a:schemeClr val="bg2">
                    <a:lumMod val="50000"/>
                  </a:schemeClr>
                </a:solidFill>
              </a:rPr>
              <a:t>st</a:t>
            </a:r>
            <a:r>
              <a:rPr lang="en-NZ" altLang="ja-JP" sz="1400" dirty="0">
                <a:solidFill>
                  <a:schemeClr val="bg2">
                    <a:lumMod val="50000"/>
                  </a:schemeClr>
                </a:solidFill>
              </a:rPr>
              <a:t> Iteration in segment</a:t>
            </a:r>
          </a:p>
        </p:txBody>
      </p:sp>
      <p:sp>
        <p:nvSpPr>
          <p:cNvPr id="89" name="Text Placeholder 5">
            <a:extLst>
              <a:ext uri="{FF2B5EF4-FFF2-40B4-BE49-F238E27FC236}">
                <a16:creationId xmlns:a16="http://schemas.microsoft.com/office/drawing/2014/main" id="{071149CC-3227-4490-F61E-4B8D977D7614}"/>
              </a:ext>
            </a:extLst>
          </p:cNvPr>
          <p:cNvSpPr txBox="1">
            <a:spLocks/>
          </p:cNvSpPr>
          <p:nvPr/>
        </p:nvSpPr>
        <p:spPr>
          <a:xfrm>
            <a:off x="7341655" y="3910411"/>
            <a:ext cx="3329741"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400" dirty="0">
                <a:solidFill>
                  <a:schemeClr val="bg2">
                    <a:lumMod val="50000"/>
                  </a:schemeClr>
                </a:solidFill>
              </a:rPr>
              <a:t>1</a:t>
            </a:r>
            <a:r>
              <a:rPr lang="en-NZ" altLang="ja-JP" sz="1400" baseline="30000" dirty="0">
                <a:solidFill>
                  <a:schemeClr val="bg2">
                    <a:lumMod val="50000"/>
                  </a:schemeClr>
                </a:solidFill>
              </a:rPr>
              <a:t>st</a:t>
            </a:r>
            <a:r>
              <a:rPr lang="en-NZ" altLang="ja-JP" sz="1400" dirty="0">
                <a:solidFill>
                  <a:schemeClr val="bg2">
                    <a:lumMod val="50000"/>
                  </a:schemeClr>
                </a:solidFill>
              </a:rPr>
              <a:t> Iteration in segment</a:t>
            </a:r>
          </a:p>
        </p:txBody>
      </p:sp>
    </p:spTree>
    <p:extLst>
      <p:ext uri="{BB962C8B-B14F-4D97-AF65-F5344CB8AC3E}">
        <p14:creationId xmlns:p14="http://schemas.microsoft.com/office/powerpoint/2010/main" val="25196133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7F14062D-E1C1-4F63-B0FD-D013BDA5782B}"/>
              </a:ext>
            </a:extLst>
          </p:cNvPr>
          <p:cNvSpPr txBox="1"/>
          <p:nvPr/>
        </p:nvSpPr>
        <p:spPr>
          <a:xfrm>
            <a:off x="43707" y="2844225"/>
            <a:ext cx="12104586" cy="147732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NZ" sz="4500" b="1" dirty="0">
                <a:solidFill>
                  <a:srgbClr val="FFC000"/>
                </a:solidFill>
                <a:latin typeface="Calibri" panose="020F0502020204030204"/>
              </a:rPr>
              <a:t>10.4 – Gelman &amp; Rubin Multiple </a:t>
            </a:r>
            <a:br>
              <a:rPr lang="en-NZ" sz="4500" b="1" dirty="0">
                <a:solidFill>
                  <a:srgbClr val="FFC000"/>
                </a:solidFill>
                <a:latin typeface="Calibri" panose="020F0502020204030204"/>
              </a:rPr>
            </a:br>
            <a:r>
              <a:rPr lang="en-NZ" sz="4500" b="1" dirty="0">
                <a:solidFill>
                  <a:srgbClr val="FFC000"/>
                </a:solidFill>
                <a:latin typeface="Calibri" panose="020F0502020204030204"/>
              </a:rPr>
              <a:t>Sequence Diagnostic</a:t>
            </a:r>
            <a:endPar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44225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4" name="Title 6">
            <a:extLst>
              <a:ext uri="{FF2B5EF4-FFF2-40B4-BE49-F238E27FC236}">
                <a16:creationId xmlns:a16="http://schemas.microsoft.com/office/drawing/2014/main" id="{18EFAA1F-58F5-B8DC-5203-016AF3661A4C}"/>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10.4a – Gelman &amp; Rubin Diagnostic</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5" name="Footer Placeholder 2">
            <a:extLst>
              <a:ext uri="{FF2B5EF4-FFF2-40B4-BE49-F238E27FC236}">
                <a16:creationId xmlns:a16="http://schemas.microsoft.com/office/drawing/2014/main" id="{CE1BC482-63C5-C7CB-8FB1-F710CF896763}"/>
              </a:ext>
            </a:extLst>
          </p:cNvPr>
          <p:cNvSpPr txBox="1">
            <a:spLocks/>
          </p:cNvSpPr>
          <p:nvPr/>
        </p:nvSpPr>
        <p:spPr>
          <a:xfrm>
            <a:off x="8993875" y="86139"/>
            <a:ext cx="309549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10.4 – Gelman &amp; Rubin Diagnostic</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38" name="Text Placeholder 5">
            <a:extLst>
              <a:ext uri="{FF2B5EF4-FFF2-40B4-BE49-F238E27FC236}">
                <a16:creationId xmlns:a16="http://schemas.microsoft.com/office/drawing/2014/main" id="{4A0C7041-80E2-0602-E073-27804A3189F5}"/>
              </a:ext>
            </a:extLst>
          </p:cNvPr>
          <p:cNvSpPr txBox="1">
            <a:spLocks/>
          </p:cNvSpPr>
          <p:nvPr/>
        </p:nvSpPr>
        <p:spPr>
          <a:xfrm>
            <a:off x="321812" y="928762"/>
            <a:ext cx="11311811"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dirty="0">
                <a:solidFill>
                  <a:schemeClr val="tx1"/>
                </a:solidFill>
              </a:rPr>
              <a:t>The </a:t>
            </a:r>
            <a:r>
              <a:rPr lang="en-NZ" altLang="ja-JP" sz="1800" b="1" dirty="0">
                <a:solidFill>
                  <a:schemeClr val="tx1"/>
                </a:solidFill>
              </a:rPr>
              <a:t>Gelman &amp; Rubin Multiple Sequence Diagnostic</a:t>
            </a:r>
            <a:r>
              <a:rPr lang="en-NZ" altLang="ja-JP" sz="1800" dirty="0">
                <a:solidFill>
                  <a:schemeClr val="tx1"/>
                </a:solidFill>
              </a:rPr>
              <a:t> uses the fact that the Markov chain produced within the Metropolis-Hastings algorithm should (eventually) reach the target distribution irrespective of its starting state.</a:t>
            </a:r>
          </a:p>
        </p:txBody>
      </p:sp>
      <p:sp>
        <p:nvSpPr>
          <p:cNvPr id="13" name="Text Placeholder 5">
            <a:extLst>
              <a:ext uri="{FF2B5EF4-FFF2-40B4-BE49-F238E27FC236}">
                <a16:creationId xmlns:a16="http://schemas.microsoft.com/office/drawing/2014/main" id="{8107E81B-93B5-D296-2E7F-AD7DC5444E39}"/>
              </a:ext>
            </a:extLst>
          </p:cNvPr>
          <p:cNvSpPr txBox="1">
            <a:spLocks/>
          </p:cNvSpPr>
          <p:nvPr/>
        </p:nvSpPr>
        <p:spPr>
          <a:xfrm>
            <a:off x="319463" y="1758629"/>
            <a:ext cx="11311811" cy="98457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dirty="0">
                <a:solidFill>
                  <a:schemeClr val="tx1"/>
                </a:solidFill>
              </a:rPr>
              <a:t>The idea is that if (identically constructed) chains with different starting values have different variances in their tails, then at least one of those chains has not converged to the target distribution. As such, a larger burn-in or steps to speed convergence may be required.</a:t>
            </a:r>
          </a:p>
        </p:txBody>
      </p:sp>
      <p:sp>
        <p:nvSpPr>
          <p:cNvPr id="16" name="Text Placeholder 5">
            <a:extLst>
              <a:ext uri="{FF2B5EF4-FFF2-40B4-BE49-F238E27FC236}">
                <a16:creationId xmlns:a16="http://schemas.microsoft.com/office/drawing/2014/main" id="{A0EBA9B4-1C9F-A66D-B9EB-A832126197B6}"/>
              </a:ext>
            </a:extLst>
          </p:cNvPr>
          <p:cNvSpPr txBox="1">
            <a:spLocks/>
          </p:cNvSpPr>
          <p:nvPr/>
        </p:nvSpPr>
        <p:spPr>
          <a:xfrm>
            <a:off x="319462" y="2824675"/>
            <a:ext cx="11311811" cy="4265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dirty="0">
                <a:solidFill>
                  <a:schemeClr val="tx1"/>
                </a:solidFill>
              </a:rPr>
              <a:t>The Gelman &amp; Rubin Diagnostic proceeds according to the following steps:</a:t>
            </a:r>
          </a:p>
        </p:txBody>
      </p:sp>
      <mc:AlternateContent xmlns:mc="http://schemas.openxmlformats.org/markup-compatibility/2006" xmlns:a14="http://schemas.microsoft.com/office/drawing/2010/main">
        <mc:Choice Requires="a14">
          <p:sp>
            <p:nvSpPr>
              <p:cNvPr id="17" name="Text Placeholder 5">
                <a:extLst>
                  <a:ext uri="{FF2B5EF4-FFF2-40B4-BE49-F238E27FC236}">
                    <a16:creationId xmlns:a16="http://schemas.microsoft.com/office/drawing/2014/main" id="{33FA712A-86C4-BCC2-F309-19DAE50F8BA1}"/>
                  </a:ext>
                </a:extLst>
              </p:cNvPr>
              <p:cNvSpPr txBox="1">
                <a:spLocks/>
              </p:cNvSpPr>
              <p:nvPr/>
            </p:nvSpPr>
            <p:spPr>
              <a:xfrm>
                <a:off x="754743" y="3263957"/>
                <a:ext cx="10876530" cy="97959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lvl="0" indent="-342900">
                  <a:lnSpc>
                    <a:spcPct val="100000"/>
                  </a:lnSpc>
                  <a:buFont typeface="+mj-lt"/>
                  <a:buAutoNum type="arabicPeriod"/>
                  <a:defRPr/>
                </a:pPr>
                <a:r>
                  <a:rPr lang="en-NZ" altLang="ja-JP" sz="1800" dirty="0">
                    <a:solidFill>
                      <a:schemeClr val="tx1"/>
                    </a:solidFill>
                  </a:rPr>
                  <a:t>Construct </a:t>
                </a:r>
                <a14:m>
                  <m:oMath xmlns:m="http://schemas.openxmlformats.org/officeDocument/2006/math">
                    <m:r>
                      <a:rPr lang="en-NZ" altLang="ja-JP" sz="1800" b="1" i="1" smtClean="0">
                        <a:solidFill>
                          <a:schemeClr val="tx1"/>
                        </a:solidFill>
                        <a:latin typeface="Cambria Math" panose="02040503050406030204" pitchFamily="18" charset="0"/>
                      </a:rPr>
                      <m:t>𝒎</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𝟐</m:t>
                    </m:r>
                  </m:oMath>
                </a14:m>
                <a:r>
                  <a:rPr lang="en-NZ" altLang="ja-JP" sz="1800" b="1" dirty="0">
                    <a:solidFill>
                      <a:schemeClr val="tx1"/>
                    </a:solidFill>
                  </a:rPr>
                  <a:t> </a:t>
                </a:r>
                <a:r>
                  <a:rPr lang="en-NZ" altLang="ja-JP" sz="1800" dirty="0">
                    <a:solidFill>
                      <a:schemeClr val="tx1"/>
                    </a:solidFill>
                  </a:rPr>
                  <a:t>chains of length </a:t>
                </a:r>
                <a14:m>
                  <m:oMath xmlns:m="http://schemas.openxmlformats.org/officeDocument/2006/math">
                    <m:r>
                      <a:rPr lang="en-NZ" altLang="ja-JP" sz="1800" b="1" i="1" smtClean="0">
                        <a:solidFill>
                          <a:schemeClr val="tx1"/>
                        </a:solidFill>
                        <a:latin typeface="Cambria Math" panose="02040503050406030204" pitchFamily="18" charset="0"/>
                      </a:rPr>
                      <m:t>𝟐</m:t>
                    </m:r>
                    <m:r>
                      <a:rPr lang="en-NZ" altLang="ja-JP" sz="1800" b="1" i="1" smtClean="0">
                        <a:solidFill>
                          <a:schemeClr val="tx1"/>
                        </a:solidFill>
                        <a:latin typeface="Cambria Math" panose="02040503050406030204" pitchFamily="18" charset="0"/>
                      </a:rPr>
                      <m:t>𝒏</m:t>
                    </m:r>
                  </m:oMath>
                </a14:m>
                <a:r>
                  <a:rPr lang="en-NZ" altLang="ja-JP" sz="1800" b="1" dirty="0">
                    <a:solidFill>
                      <a:schemeClr val="tx1"/>
                    </a:solidFill>
                  </a:rPr>
                  <a:t> </a:t>
                </a:r>
                <a:r>
                  <a:rPr lang="en-NZ" altLang="ja-JP" sz="1800" dirty="0">
                    <a:solidFill>
                      <a:schemeClr val="tx1"/>
                    </a:solidFill>
                  </a:rPr>
                  <a:t>with </a:t>
                </a:r>
                <a:r>
                  <a:rPr lang="en-NZ" altLang="ja-JP" sz="1800" b="1" dirty="0">
                    <a:solidFill>
                      <a:schemeClr val="tx1"/>
                    </a:solidFill>
                  </a:rPr>
                  <a:t>over-dispersed</a:t>
                </a:r>
                <a:r>
                  <a:rPr lang="en-NZ" altLang="ja-JP" sz="1800" dirty="0">
                    <a:solidFill>
                      <a:schemeClr val="tx1"/>
                    </a:solidFill>
                  </a:rPr>
                  <a:t> starting values</a:t>
                </a:r>
                <a:br>
                  <a:rPr lang="en-NZ" altLang="ja-JP" sz="1800" dirty="0">
                    <a:solidFill>
                      <a:schemeClr val="tx1"/>
                    </a:solidFill>
                  </a:rPr>
                </a:br>
                <a:r>
                  <a:rPr lang="en-NZ" altLang="ja-JP" sz="1600" i="1" dirty="0">
                    <a:solidFill>
                      <a:schemeClr val="tx1"/>
                    </a:solidFill>
                  </a:rPr>
                  <a:t>i.e. choose starting values for the chains that are widely spread out across the target distribution</a:t>
                </a:r>
                <a:br>
                  <a:rPr lang="en-NZ" altLang="ja-JP" sz="1600" i="1" dirty="0">
                    <a:solidFill>
                      <a:schemeClr val="tx1"/>
                    </a:solidFill>
                  </a:rPr>
                </a:br>
                <a:r>
                  <a:rPr lang="en-NZ" altLang="ja-JP" sz="1600" i="1" dirty="0">
                    <a:solidFill>
                      <a:schemeClr val="tx1"/>
                    </a:solidFill>
                  </a:rPr>
                  <a:t>so that each chain initially explores different parts of the state space.</a:t>
                </a:r>
                <a:endParaRPr lang="en-NZ" altLang="ja-JP" sz="1800" i="1" dirty="0">
                  <a:solidFill>
                    <a:schemeClr val="tx1"/>
                  </a:solidFill>
                </a:endParaRPr>
              </a:p>
            </p:txBody>
          </p:sp>
        </mc:Choice>
        <mc:Fallback xmlns="">
          <p:sp>
            <p:nvSpPr>
              <p:cNvPr id="17" name="Text Placeholder 5">
                <a:extLst>
                  <a:ext uri="{FF2B5EF4-FFF2-40B4-BE49-F238E27FC236}">
                    <a16:creationId xmlns:a16="http://schemas.microsoft.com/office/drawing/2014/main" id="{33FA712A-86C4-BCC2-F309-19DAE50F8BA1}"/>
                  </a:ext>
                </a:extLst>
              </p:cNvPr>
              <p:cNvSpPr txBox="1">
                <a:spLocks noRot="1" noChangeAspect="1" noMove="1" noResize="1" noEditPoints="1" noAdjustHandles="1" noChangeArrowheads="1" noChangeShapeType="1" noTextEdit="1"/>
              </p:cNvSpPr>
              <p:nvPr/>
            </p:nvSpPr>
            <p:spPr>
              <a:xfrm>
                <a:off x="754743" y="3263957"/>
                <a:ext cx="10876530" cy="979590"/>
              </a:xfrm>
              <a:prstGeom prst="rect">
                <a:avLst/>
              </a:prstGeom>
              <a:blipFill>
                <a:blip r:embed="rId3"/>
                <a:stretch>
                  <a:fillRect l="-504" t="-3106"/>
                </a:stretch>
              </a:blipFill>
            </p:spPr>
            <p:txBody>
              <a:bodyPr/>
              <a:lstStyle/>
              <a:p>
                <a:r>
                  <a:rPr lang="en-NZ">
                    <a:noFill/>
                  </a:rPr>
                  <a:t> </a:t>
                </a:r>
              </a:p>
            </p:txBody>
          </p:sp>
        </mc:Fallback>
      </mc:AlternateContent>
      <p:sp>
        <p:nvSpPr>
          <p:cNvPr id="18" name="Text Placeholder 5">
            <a:extLst>
              <a:ext uri="{FF2B5EF4-FFF2-40B4-BE49-F238E27FC236}">
                <a16:creationId xmlns:a16="http://schemas.microsoft.com/office/drawing/2014/main" id="{C8E28497-52D2-FC3D-5E1C-0D78E702CCEB}"/>
              </a:ext>
            </a:extLst>
          </p:cNvPr>
          <p:cNvSpPr txBox="1">
            <a:spLocks/>
          </p:cNvSpPr>
          <p:nvPr/>
        </p:nvSpPr>
        <p:spPr>
          <a:xfrm>
            <a:off x="754743" y="4318387"/>
            <a:ext cx="10876530" cy="44539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lvl="0" indent="-342900">
              <a:lnSpc>
                <a:spcPct val="100000"/>
              </a:lnSpc>
              <a:buFont typeface="+mj-lt"/>
              <a:buAutoNum type="arabicPeriod" startAt="2"/>
              <a:defRPr/>
            </a:pPr>
            <a:r>
              <a:rPr lang="en-NZ" altLang="ja-JP" sz="1800" dirty="0">
                <a:solidFill>
                  <a:schemeClr val="tx1"/>
                </a:solidFill>
              </a:rPr>
              <a:t>Disregard the first </a:t>
            </a:r>
            <a:r>
              <a:rPr lang="en-NZ" altLang="ja-JP" sz="1800" b="1" i="1" dirty="0">
                <a:solidFill>
                  <a:schemeClr val="tx1"/>
                </a:solidFill>
              </a:rPr>
              <a:t>n</a:t>
            </a:r>
            <a:r>
              <a:rPr lang="en-NZ" altLang="ja-JP" sz="1800" dirty="0">
                <a:solidFill>
                  <a:schemeClr val="tx1"/>
                </a:solidFill>
              </a:rPr>
              <a:t> elements of each chain (i.e. keep the last 50% of values in each chain)</a:t>
            </a:r>
          </a:p>
        </p:txBody>
      </p:sp>
      <p:sp>
        <p:nvSpPr>
          <p:cNvPr id="19" name="Text Placeholder 5">
            <a:extLst>
              <a:ext uri="{FF2B5EF4-FFF2-40B4-BE49-F238E27FC236}">
                <a16:creationId xmlns:a16="http://schemas.microsoft.com/office/drawing/2014/main" id="{ED741D4C-9F24-2626-2F74-B3BDA01A2B26}"/>
              </a:ext>
            </a:extLst>
          </p:cNvPr>
          <p:cNvSpPr txBox="1">
            <a:spLocks/>
          </p:cNvSpPr>
          <p:nvPr/>
        </p:nvSpPr>
        <p:spPr>
          <a:xfrm>
            <a:off x="754743" y="4883893"/>
            <a:ext cx="11161486" cy="70439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lvl="0" indent="-342900">
              <a:lnSpc>
                <a:spcPct val="100000"/>
              </a:lnSpc>
              <a:buFont typeface="+mj-lt"/>
              <a:buAutoNum type="arabicPeriod" startAt="3"/>
              <a:defRPr/>
            </a:pPr>
            <a:r>
              <a:rPr lang="en-NZ" altLang="ja-JP" sz="1800" dirty="0">
                <a:solidFill>
                  <a:schemeClr val="tx1"/>
                </a:solidFill>
              </a:rPr>
              <a:t>Using the remaining </a:t>
            </a:r>
            <a:r>
              <a:rPr lang="en-NZ" altLang="ja-JP" sz="1800" b="1" i="1" dirty="0">
                <a:solidFill>
                  <a:schemeClr val="tx1"/>
                </a:solidFill>
              </a:rPr>
              <a:t>n</a:t>
            </a:r>
            <a:r>
              <a:rPr lang="en-NZ" altLang="ja-JP" sz="1800" dirty="0">
                <a:solidFill>
                  <a:schemeClr val="tx1"/>
                </a:solidFill>
              </a:rPr>
              <a:t> values from each chain calculate the </a:t>
            </a:r>
            <a:r>
              <a:rPr lang="en-NZ" altLang="ja-JP" sz="1800" b="1" i="1" dirty="0">
                <a:solidFill>
                  <a:schemeClr val="tx1"/>
                </a:solidFill>
              </a:rPr>
              <a:t>Potential Scale Reduction Factor (PSRF).</a:t>
            </a:r>
            <a:br>
              <a:rPr lang="en-NZ" altLang="ja-JP" sz="1800" dirty="0">
                <a:solidFill>
                  <a:schemeClr val="tx1"/>
                </a:solidFill>
              </a:rPr>
            </a:br>
            <a:r>
              <a:rPr lang="en-NZ" altLang="ja-JP" sz="1800" dirty="0">
                <a:solidFill>
                  <a:schemeClr val="tx1"/>
                </a:solidFill>
              </a:rPr>
              <a:t>As a rule of thumb, if </a:t>
            </a:r>
            <a:r>
              <a:rPr lang="en-NZ" altLang="ja-JP" sz="1800" b="1" i="1" dirty="0">
                <a:solidFill>
                  <a:schemeClr val="tx1"/>
                </a:solidFill>
              </a:rPr>
              <a:t>PSRF &gt; 1.2</a:t>
            </a:r>
            <a:r>
              <a:rPr lang="en-NZ" altLang="ja-JP" sz="1800" i="1" dirty="0">
                <a:solidFill>
                  <a:schemeClr val="tx1"/>
                </a:solidFill>
              </a:rPr>
              <a:t> </a:t>
            </a:r>
            <a:r>
              <a:rPr lang="en-NZ" altLang="ja-JP" sz="1800" dirty="0">
                <a:solidFill>
                  <a:schemeClr val="tx1"/>
                </a:solidFill>
              </a:rPr>
              <a:t>we take this as an indication that (at least one of) the chains has not converged.</a:t>
            </a:r>
          </a:p>
        </p:txBody>
      </p:sp>
      <mc:AlternateContent xmlns:mc="http://schemas.openxmlformats.org/markup-compatibility/2006">
        <mc:Choice xmlns:a14="http://schemas.microsoft.com/office/drawing/2010/main" Requires="a14">
          <p:sp>
            <p:nvSpPr>
              <p:cNvPr id="2" name="Text Placeholder 5">
                <a:extLst>
                  <a:ext uri="{FF2B5EF4-FFF2-40B4-BE49-F238E27FC236}">
                    <a16:creationId xmlns:a16="http://schemas.microsoft.com/office/drawing/2014/main" id="{517BF400-3699-5E8A-0346-0633F6828CEA}"/>
                  </a:ext>
                </a:extLst>
              </p:cNvPr>
              <p:cNvSpPr txBox="1">
                <a:spLocks/>
              </p:cNvSpPr>
              <p:nvPr/>
            </p:nvSpPr>
            <p:spPr>
              <a:xfrm>
                <a:off x="317111" y="5655351"/>
                <a:ext cx="11711116" cy="63931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600" dirty="0">
                    <a:solidFill>
                      <a:srgbClr val="C00000"/>
                    </a:solidFill>
                  </a:rPr>
                  <a:t>Basically, we create </a:t>
                </a:r>
                <a14:m>
                  <m:oMath xmlns:m="http://schemas.openxmlformats.org/officeDocument/2006/math">
                    <m:r>
                      <a:rPr lang="en-NZ" altLang="ja-JP" sz="1600" b="1" i="1" smtClean="0">
                        <a:solidFill>
                          <a:srgbClr val="C00000"/>
                        </a:solidFill>
                        <a:latin typeface="Cambria Math" panose="02040503050406030204" pitchFamily="18" charset="0"/>
                      </a:rPr>
                      <m:t>𝒎</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𝟐</m:t>
                    </m:r>
                    <m:r>
                      <a:rPr lang="en-NZ" altLang="ja-JP" sz="1600" b="1" i="1" smtClean="0">
                        <a:solidFill>
                          <a:srgbClr val="C00000"/>
                        </a:solidFill>
                        <a:latin typeface="Cambria Math" panose="02040503050406030204" pitchFamily="18" charset="0"/>
                      </a:rPr>
                      <m:t> </m:t>
                    </m:r>
                  </m:oMath>
                </a14:m>
                <a:r>
                  <a:rPr lang="en-NZ" altLang="ja-JP" sz="1600" dirty="0">
                    <a:solidFill>
                      <a:srgbClr val="C00000"/>
                    </a:solidFill>
                  </a:rPr>
                  <a:t>chains with over-dispersed starting values. </a:t>
                </a:r>
              </a:p>
              <a:p>
                <a:pPr lvl="0">
                  <a:lnSpc>
                    <a:spcPct val="100000"/>
                  </a:lnSpc>
                  <a:defRPr/>
                </a:pPr>
                <a:r>
                  <a:rPr lang="en-NZ" altLang="ja-JP" sz="1600" dirty="0">
                    <a:solidFill>
                      <a:srgbClr val="C00000"/>
                    </a:solidFill>
                  </a:rPr>
                  <a:t>We then calculate the </a:t>
                </a:r>
                <a:r>
                  <a:rPr lang="en-NZ" altLang="ja-JP" sz="1600" b="1" i="1" dirty="0">
                    <a:solidFill>
                      <a:srgbClr val="C00000"/>
                    </a:solidFill>
                  </a:rPr>
                  <a:t>PSRF </a:t>
                </a:r>
                <a:r>
                  <a:rPr lang="en-NZ" altLang="ja-JP" sz="1600" dirty="0">
                    <a:solidFill>
                      <a:srgbClr val="C00000"/>
                    </a:solidFill>
                  </a:rPr>
                  <a:t>(easily done in R). If this is greater than </a:t>
                </a:r>
                <a:r>
                  <a:rPr lang="en-NZ" altLang="ja-JP" sz="1600" b="1" i="1" dirty="0">
                    <a:solidFill>
                      <a:srgbClr val="C00000"/>
                    </a:solidFill>
                  </a:rPr>
                  <a:t>1.2</a:t>
                </a:r>
                <a:r>
                  <a:rPr lang="en-NZ" altLang="ja-JP" sz="1600" dirty="0">
                    <a:solidFill>
                      <a:srgbClr val="C00000"/>
                    </a:solidFill>
                  </a:rPr>
                  <a:t> in value, we take this as evidence of non-convergence.</a:t>
                </a:r>
              </a:p>
            </p:txBody>
          </p:sp>
        </mc:Choice>
        <mc:Fallback>
          <p:sp>
            <p:nvSpPr>
              <p:cNvPr id="2" name="Text Placeholder 5">
                <a:extLst>
                  <a:ext uri="{FF2B5EF4-FFF2-40B4-BE49-F238E27FC236}">
                    <a16:creationId xmlns:a16="http://schemas.microsoft.com/office/drawing/2014/main" id="{517BF400-3699-5E8A-0346-0633F6828CEA}"/>
                  </a:ext>
                </a:extLst>
              </p:cNvPr>
              <p:cNvSpPr txBox="1">
                <a:spLocks noRot="1" noChangeAspect="1" noMove="1" noResize="1" noEditPoints="1" noAdjustHandles="1" noChangeArrowheads="1" noChangeShapeType="1" noTextEdit="1"/>
              </p:cNvSpPr>
              <p:nvPr/>
            </p:nvSpPr>
            <p:spPr>
              <a:xfrm>
                <a:off x="317111" y="5655351"/>
                <a:ext cx="11711116" cy="639316"/>
              </a:xfrm>
              <a:prstGeom prst="rect">
                <a:avLst/>
              </a:prstGeom>
              <a:blipFill>
                <a:blip r:embed="rId4"/>
                <a:stretch>
                  <a:fillRect l="-260" t="-2857" b="-2857"/>
                </a:stretch>
              </a:blipFill>
            </p:spPr>
            <p:txBody>
              <a:bodyPr/>
              <a:lstStyle/>
              <a:p>
                <a:r>
                  <a:rPr lang="en-NZ">
                    <a:noFill/>
                  </a:rPr>
                  <a:t> </a:t>
                </a:r>
              </a:p>
            </p:txBody>
          </p:sp>
        </mc:Fallback>
      </mc:AlternateContent>
    </p:spTree>
    <p:extLst>
      <p:ext uri="{BB962C8B-B14F-4D97-AF65-F5344CB8AC3E}">
        <p14:creationId xmlns:p14="http://schemas.microsoft.com/office/powerpoint/2010/main" val="2936273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7" grpId="0"/>
      <p:bldP spid="18" grpId="0"/>
      <p:bldP spid="19" grpId="0"/>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4" name="Title 6">
            <a:extLst>
              <a:ext uri="{FF2B5EF4-FFF2-40B4-BE49-F238E27FC236}">
                <a16:creationId xmlns:a16="http://schemas.microsoft.com/office/drawing/2014/main" id="{18EFAA1F-58F5-B8DC-5203-016AF3661A4C}"/>
              </a:ext>
            </a:extLst>
          </p:cNvPr>
          <p:cNvSpPr txBox="1">
            <a:spLocks/>
          </p:cNvSpPr>
          <p:nvPr/>
        </p:nvSpPr>
        <p:spPr>
          <a:xfrm>
            <a:off x="319463" y="196889"/>
            <a:ext cx="8168429" cy="607201"/>
          </a:xfrm>
          <a:prstGeom prst="rect">
            <a:avLst/>
          </a:prstGeom>
        </p:spPr>
        <p:txBody>
          <a:bodyPr anchor="t">
            <a:normAutofit fontScale="925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10.4b – How Does the G&amp;R Diagnostic Work</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5" name="Footer Placeholder 2">
            <a:extLst>
              <a:ext uri="{FF2B5EF4-FFF2-40B4-BE49-F238E27FC236}">
                <a16:creationId xmlns:a16="http://schemas.microsoft.com/office/drawing/2014/main" id="{CE1BC482-63C5-C7CB-8FB1-F710CF896763}"/>
              </a:ext>
            </a:extLst>
          </p:cNvPr>
          <p:cNvSpPr txBox="1">
            <a:spLocks/>
          </p:cNvSpPr>
          <p:nvPr/>
        </p:nvSpPr>
        <p:spPr>
          <a:xfrm>
            <a:off x="8993875" y="86139"/>
            <a:ext cx="309549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10.4 – Gelman &amp; Rubin Diagnostic</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38" name="Text Placeholder 5">
            <a:extLst>
              <a:ext uri="{FF2B5EF4-FFF2-40B4-BE49-F238E27FC236}">
                <a16:creationId xmlns:a16="http://schemas.microsoft.com/office/drawing/2014/main" id="{4A0C7041-80E2-0602-E073-27804A3189F5}"/>
              </a:ext>
            </a:extLst>
          </p:cNvPr>
          <p:cNvSpPr txBox="1">
            <a:spLocks/>
          </p:cNvSpPr>
          <p:nvPr/>
        </p:nvSpPr>
        <p:spPr>
          <a:xfrm>
            <a:off x="321812" y="928762"/>
            <a:ext cx="2581045" cy="3920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b="1" dirty="0">
                <a:solidFill>
                  <a:srgbClr val="0070C0"/>
                </a:solidFill>
              </a:rPr>
              <a:t>Within Chain Variance:</a:t>
            </a:r>
            <a:endParaRPr lang="en-NZ" altLang="ja-JP" sz="1800" dirty="0">
              <a:solidFill>
                <a:srgbClr val="0070C0"/>
              </a:solidFill>
            </a:endParaRPr>
          </a:p>
        </p:txBody>
      </p:sp>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C56709D7-98EB-C8D8-6F2B-10C9D353EF68}"/>
                  </a:ext>
                </a:extLst>
              </p:cNvPr>
              <p:cNvSpPr txBox="1">
                <a:spLocks/>
              </p:cNvSpPr>
              <p:nvPr/>
            </p:nvSpPr>
            <p:spPr>
              <a:xfrm>
                <a:off x="319463" y="1320800"/>
                <a:ext cx="11550725"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r>
                        <a:rPr lang="en-NZ" altLang="ja-JP" sz="1800" b="1" i="1" smtClean="0">
                          <a:solidFill>
                            <a:schemeClr val="tx1"/>
                          </a:solidFill>
                          <a:latin typeface="Cambria Math" panose="02040503050406030204" pitchFamily="18" charset="0"/>
                        </a:rPr>
                        <m:t>𝑾</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𝒏</m:t>
                      </m:r>
                      <m:r>
                        <a:rPr lang="en-NZ" altLang="ja-JP" sz="1800" b="1" i="1" smtClean="0">
                          <a:solidFill>
                            <a:schemeClr val="tx1"/>
                          </a:solidFill>
                          <a:latin typeface="Cambria Math" panose="02040503050406030204" pitchFamily="18" charset="0"/>
                        </a:rPr>
                        <m:t>)= </m:t>
                      </m:r>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𝟏</m:t>
                          </m:r>
                        </m:num>
                        <m:den>
                          <m:r>
                            <a:rPr lang="en-NZ" altLang="ja-JP" sz="1800" b="1" i="1" smtClean="0">
                              <a:solidFill>
                                <a:schemeClr val="tx1"/>
                              </a:solidFill>
                              <a:latin typeface="Cambria Math" panose="02040503050406030204" pitchFamily="18" charset="0"/>
                            </a:rPr>
                            <m:t>𝒎</m:t>
                          </m:r>
                        </m:den>
                      </m:f>
                      <m:r>
                        <a:rPr lang="en-NZ" altLang="ja-JP" sz="1800" b="1" i="1" smtClean="0">
                          <a:solidFill>
                            <a:schemeClr val="tx1"/>
                          </a:solidFill>
                          <a:latin typeface="Cambria Math" panose="02040503050406030204" pitchFamily="18" charset="0"/>
                        </a:rPr>
                        <m:t> </m:t>
                      </m:r>
                      <m:nary>
                        <m:naryPr>
                          <m:chr m:val="∑"/>
                          <m:ctrlPr>
                            <a:rPr lang="en-NZ" altLang="ja-JP" sz="1800" b="1" i="1" smtClean="0">
                              <a:solidFill>
                                <a:schemeClr val="tx1"/>
                              </a:solidFill>
                              <a:latin typeface="Cambria Math" panose="02040503050406030204" pitchFamily="18" charset="0"/>
                            </a:rPr>
                          </m:ctrlPr>
                        </m:naryPr>
                        <m:sub>
                          <m:r>
                            <m:rPr>
                              <m:brk m:alnAt="23"/>
                            </m:rPr>
                            <a:rPr lang="en-NZ" altLang="ja-JP" sz="1800" b="1" i="1" smtClean="0">
                              <a:solidFill>
                                <a:schemeClr val="tx1"/>
                              </a:solidFill>
                              <a:latin typeface="Cambria Math" panose="02040503050406030204" pitchFamily="18" charset="0"/>
                            </a:rPr>
                            <m:t>𝒋</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sub>
                        <m:sup>
                          <m:r>
                            <a:rPr lang="en-NZ" altLang="ja-JP" sz="1800" b="1" i="1" smtClean="0">
                              <a:solidFill>
                                <a:schemeClr val="tx1"/>
                              </a:solidFill>
                              <a:latin typeface="Cambria Math" panose="02040503050406030204" pitchFamily="18" charset="0"/>
                            </a:rPr>
                            <m:t>𝒎</m:t>
                          </m:r>
                        </m:sup>
                        <m:e>
                          <m:sSubSup>
                            <m:sSubSupPr>
                              <m:ctrlPr>
                                <a:rPr lang="en-NZ" altLang="ja-JP" sz="1800" b="1" i="1" smtClean="0">
                                  <a:solidFill>
                                    <a:schemeClr val="tx1"/>
                                  </a:solidFill>
                                  <a:latin typeface="Cambria Math" panose="02040503050406030204" pitchFamily="18" charset="0"/>
                                </a:rPr>
                              </m:ctrlPr>
                            </m:sSubSupPr>
                            <m:e>
                              <m:r>
                                <a:rPr lang="en-NZ" altLang="ja-JP" sz="1800" b="1" i="1" smtClean="0">
                                  <a:solidFill>
                                    <a:schemeClr val="tx1"/>
                                  </a:solidFill>
                                  <a:latin typeface="Cambria Math" panose="02040503050406030204" pitchFamily="18" charset="0"/>
                                </a:rPr>
                                <m:t>𝑺</m:t>
                              </m:r>
                            </m:e>
                            <m:sub>
                              <m:r>
                                <a:rPr lang="en-NZ" altLang="ja-JP" sz="1800" b="1" i="1" smtClean="0">
                                  <a:solidFill>
                                    <a:schemeClr val="tx1"/>
                                  </a:solidFill>
                                  <a:latin typeface="Cambria Math" panose="02040503050406030204" pitchFamily="18" charset="0"/>
                                </a:rPr>
                                <m:t>𝒋</m:t>
                              </m:r>
                            </m:sub>
                            <m:sup>
                              <m:r>
                                <a:rPr lang="en-NZ" altLang="ja-JP" sz="1800" b="1" i="1" smtClean="0">
                                  <a:solidFill>
                                    <a:schemeClr val="tx1"/>
                                  </a:solidFill>
                                  <a:latin typeface="Cambria Math" panose="02040503050406030204" pitchFamily="18" charset="0"/>
                                </a:rPr>
                                <m:t>𝟐</m:t>
                              </m:r>
                            </m:sup>
                          </m:sSubSup>
                        </m:e>
                      </m:nary>
                      <m:r>
                        <a:rPr lang="en-NZ" altLang="ja-JP" sz="1800" b="1" i="0"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                                 </m:t>
                      </m:r>
                      <m:sSubSup>
                        <m:sSubSupPr>
                          <m:ctrlPr>
                            <a:rPr lang="en-NZ" altLang="ja-JP" sz="1800" b="1" i="1" smtClean="0">
                              <a:solidFill>
                                <a:schemeClr val="tx1"/>
                              </a:solidFill>
                              <a:latin typeface="Cambria Math" panose="02040503050406030204" pitchFamily="18" charset="0"/>
                            </a:rPr>
                          </m:ctrlPr>
                        </m:sSubSupPr>
                        <m:e>
                          <m:r>
                            <a:rPr lang="en-NZ" altLang="ja-JP" sz="1800" b="1" i="1" smtClean="0">
                              <a:solidFill>
                                <a:schemeClr val="tx1"/>
                              </a:solidFill>
                              <a:latin typeface="Cambria Math" panose="02040503050406030204" pitchFamily="18" charset="0"/>
                            </a:rPr>
                            <m:t>𝑺</m:t>
                          </m:r>
                        </m:e>
                        <m:sub>
                          <m:r>
                            <a:rPr lang="en-NZ" altLang="ja-JP" sz="1800" b="1" i="1" smtClean="0">
                              <a:solidFill>
                                <a:schemeClr val="tx1"/>
                              </a:solidFill>
                              <a:latin typeface="Cambria Math" panose="02040503050406030204" pitchFamily="18" charset="0"/>
                            </a:rPr>
                            <m:t>𝒋</m:t>
                          </m:r>
                        </m:sub>
                        <m:sup>
                          <m:r>
                            <a:rPr lang="en-NZ" altLang="ja-JP" sz="1800" b="1" i="1" smtClean="0">
                              <a:solidFill>
                                <a:schemeClr val="tx1"/>
                              </a:solidFill>
                              <a:latin typeface="Cambria Math" panose="02040503050406030204" pitchFamily="18" charset="0"/>
                            </a:rPr>
                            <m:t>𝟐</m:t>
                          </m:r>
                        </m:sup>
                      </m:sSubSup>
                      <m:r>
                        <a:rPr lang="en-NZ" altLang="ja-JP" sz="1800" b="1" i="1" smtClean="0">
                          <a:solidFill>
                            <a:schemeClr val="tx1"/>
                          </a:solidFill>
                          <a:latin typeface="Cambria Math" panose="02040503050406030204" pitchFamily="18" charset="0"/>
                        </a:rPr>
                        <m:t>= </m:t>
                      </m:r>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𝟏</m:t>
                          </m:r>
                        </m:num>
                        <m:den>
                          <m:r>
                            <a:rPr lang="en-NZ" altLang="ja-JP" sz="1800" b="1" i="1" smtClean="0">
                              <a:solidFill>
                                <a:schemeClr val="tx1"/>
                              </a:solidFill>
                              <a:latin typeface="Cambria Math" panose="02040503050406030204" pitchFamily="18" charset="0"/>
                            </a:rPr>
                            <m:t>𝒏</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den>
                      </m:f>
                      <m:r>
                        <a:rPr lang="en-NZ" altLang="ja-JP" sz="1800" b="1" i="1" smtClean="0">
                          <a:solidFill>
                            <a:schemeClr val="tx1"/>
                          </a:solidFill>
                          <a:latin typeface="Cambria Math" panose="02040503050406030204" pitchFamily="18" charset="0"/>
                        </a:rPr>
                        <m:t> </m:t>
                      </m:r>
                      <m:nary>
                        <m:naryPr>
                          <m:chr m:val="∑"/>
                          <m:ctrlPr>
                            <a:rPr lang="en-NZ" altLang="ja-JP" sz="1800" b="1" i="1" smtClean="0">
                              <a:solidFill>
                                <a:schemeClr val="tx1"/>
                              </a:solidFill>
                              <a:latin typeface="Cambria Math" panose="02040503050406030204" pitchFamily="18" charset="0"/>
                            </a:rPr>
                          </m:ctrlPr>
                        </m:naryPr>
                        <m:sub>
                          <m:r>
                            <m:rPr>
                              <m:brk m:alnAt="23"/>
                            </m:rPr>
                            <a:rPr lang="en-NZ" altLang="ja-JP" sz="1800" b="1" i="1" smtClean="0">
                              <a:solidFill>
                                <a:schemeClr val="tx1"/>
                              </a:solidFill>
                              <a:latin typeface="Cambria Math" panose="02040503050406030204" pitchFamily="18" charset="0"/>
                            </a:rPr>
                            <m:t>𝒊</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sub>
                        <m:sup>
                          <m:r>
                            <a:rPr lang="en-NZ" altLang="ja-JP" sz="1800" b="1" i="1" smtClean="0">
                              <a:solidFill>
                                <a:schemeClr val="tx1"/>
                              </a:solidFill>
                              <a:latin typeface="Cambria Math" panose="02040503050406030204" pitchFamily="18" charset="0"/>
                            </a:rPr>
                            <m:t>𝒏</m:t>
                          </m:r>
                        </m:sup>
                        <m:e>
                          <m:sSup>
                            <m:sSupPr>
                              <m:ctrlPr>
                                <a:rPr lang="en-NZ" altLang="ja-JP" sz="1800" b="1" i="1" smtClean="0">
                                  <a:solidFill>
                                    <a:schemeClr val="tx1"/>
                                  </a:solidFill>
                                  <a:latin typeface="Cambria Math" panose="02040503050406030204" pitchFamily="18" charset="0"/>
                                </a:rPr>
                              </m:ctrlPr>
                            </m:sSupPr>
                            <m:e>
                              <m:d>
                                <m:dPr>
                                  <m:ctrlPr>
                                    <a:rPr lang="en-NZ" altLang="ja-JP" sz="1800" b="1" i="1" smtClean="0">
                                      <a:solidFill>
                                        <a:schemeClr val="tx1"/>
                                      </a:solidFill>
                                      <a:latin typeface="Cambria Math" panose="02040503050406030204" pitchFamily="18" charset="0"/>
                                    </a:rPr>
                                  </m:ctrlPr>
                                </m:dPr>
                                <m:e>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𝒙</m:t>
                                      </m:r>
                                    </m:e>
                                    <m:sub>
                                      <m:r>
                                        <a:rPr lang="en-NZ" altLang="ja-JP" sz="1800" b="1" i="1" smtClean="0">
                                          <a:solidFill>
                                            <a:schemeClr val="tx1"/>
                                          </a:solidFill>
                                          <a:latin typeface="Cambria Math" panose="02040503050406030204" pitchFamily="18" charset="0"/>
                                        </a:rPr>
                                        <m:t>𝒊𝒋</m:t>
                                      </m:r>
                                    </m:sub>
                                  </m:sSub>
                                  <m:r>
                                    <a:rPr lang="en-NZ" altLang="ja-JP" sz="1800" b="1" i="1" smtClean="0">
                                      <a:solidFill>
                                        <a:schemeClr val="tx1"/>
                                      </a:solidFill>
                                      <a:latin typeface="Cambria Math" panose="02040503050406030204" pitchFamily="18" charset="0"/>
                                    </a:rPr>
                                    <m:t> − </m:t>
                                  </m:r>
                                  <m:sSub>
                                    <m:sSubPr>
                                      <m:ctrlPr>
                                        <a:rPr lang="en-NZ" altLang="ja-JP" sz="1800" b="1" i="1" smtClean="0">
                                          <a:solidFill>
                                            <a:schemeClr val="tx1"/>
                                          </a:solidFill>
                                          <a:latin typeface="Cambria Math" panose="02040503050406030204" pitchFamily="18" charset="0"/>
                                        </a:rPr>
                                      </m:ctrlPr>
                                    </m:sSubPr>
                                    <m:e>
                                      <m:bar>
                                        <m:barPr>
                                          <m:pos m:val="top"/>
                                          <m:ctrlPr>
                                            <a:rPr lang="en-NZ" altLang="ja-JP" sz="1800" b="1" i="1" smtClean="0">
                                              <a:solidFill>
                                                <a:schemeClr val="tx1"/>
                                              </a:solidFill>
                                              <a:latin typeface="Cambria Math" panose="02040503050406030204" pitchFamily="18" charset="0"/>
                                            </a:rPr>
                                          </m:ctrlPr>
                                        </m:barPr>
                                        <m:e>
                                          <m:r>
                                            <a:rPr lang="en-NZ" altLang="ja-JP" sz="1800" b="1" i="1" smtClean="0">
                                              <a:solidFill>
                                                <a:schemeClr val="tx1"/>
                                              </a:solidFill>
                                              <a:latin typeface="Cambria Math" panose="02040503050406030204" pitchFamily="18" charset="0"/>
                                            </a:rPr>
                                            <m:t>𝒙</m:t>
                                          </m:r>
                                        </m:e>
                                      </m:bar>
                                    </m:e>
                                    <m:sub>
                                      <m:r>
                                        <a:rPr lang="en-NZ" altLang="ja-JP" sz="1800" b="1" i="1" smtClean="0">
                                          <a:solidFill>
                                            <a:schemeClr val="tx1"/>
                                          </a:solidFill>
                                          <a:latin typeface="Cambria Math" panose="02040503050406030204" pitchFamily="18" charset="0"/>
                                        </a:rPr>
                                        <m:t>𝒋</m:t>
                                      </m:r>
                                    </m:sub>
                                  </m:sSub>
                                </m:e>
                              </m:d>
                            </m:e>
                            <m:sup>
                              <m:r>
                                <a:rPr lang="en-NZ" altLang="ja-JP" sz="1800" b="1" i="1" smtClean="0">
                                  <a:solidFill>
                                    <a:schemeClr val="tx1"/>
                                  </a:solidFill>
                                  <a:latin typeface="Cambria Math" panose="02040503050406030204" pitchFamily="18" charset="0"/>
                                </a:rPr>
                                <m:t>𝟐</m:t>
                              </m:r>
                            </m:sup>
                          </m:sSup>
                        </m:e>
                      </m:nary>
                    </m:oMath>
                  </m:oMathPara>
                </a14:m>
                <a:endParaRPr lang="en-NZ" altLang="ja-JP" sz="1800" b="1" dirty="0">
                  <a:solidFill>
                    <a:schemeClr val="tx1"/>
                  </a:solidFill>
                </a:endParaRPr>
              </a:p>
            </p:txBody>
          </p:sp>
        </mc:Choice>
        <mc:Fallback xmlns="">
          <p:sp>
            <p:nvSpPr>
              <p:cNvPr id="20" name="Text Placeholder 5">
                <a:extLst>
                  <a:ext uri="{FF2B5EF4-FFF2-40B4-BE49-F238E27FC236}">
                    <a16:creationId xmlns:a16="http://schemas.microsoft.com/office/drawing/2014/main" id="{C56709D7-98EB-C8D8-6F2B-10C9D353EF68}"/>
                  </a:ext>
                </a:extLst>
              </p:cNvPr>
              <p:cNvSpPr txBox="1">
                <a:spLocks noRot="1" noChangeAspect="1" noMove="1" noResize="1" noEditPoints="1" noAdjustHandles="1" noChangeArrowheads="1" noChangeShapeType="1" noTextEdit="1"/>
              </p:cNvSpPr>
              <p:nvPr/>
            </p:nvSpPr>
            <p:spPr>
              <a:xfrm>
                <a:off x="319463" y="1320800"/>
                <a:ext cx="11550725" cy="675343"/>
              </a:xfrm>
              <a:prstGeom prst="rect">
                <a:avLst/>
              </a:prstGeom>
              <a:blipFill>
                <a:blip r:embed="rId3"/>
                <a:stretch>
                  <a:fillRect b="-24545"/>
                </a:stretch>
              </a:blipFill>
            </p:spPr>
            <p:txBody>
              <a:bodyPr/>
              <a:lstStyle/>
              <a:p>
                <a:r>
                  <a:rPr lang="en-NZ">
                    <a:noFill/>
                  </a:rPr>
                  <a:t> </a:t>
                </a:r>
              </a:p>
            </p:txBody>
          </p:sp>
        </mc:Fallback>
      </mc:AlternateContent>
      <p:sp>
        <p:nvSpPr>
          <p:cNvPr id="22" name="Text Placeholder 5">
            <a:extLst>
              <a:ext uri="{FF2B5EF4-FFF2-40B4-BE49-F238E27FC236}">
                <a16:creationId xmlns:a16="http://schemas.microsoft.com/office/drawing/2014/main" id="{671AB6EA-F559-4D99-20F3-41571AD5D04A}"/>
              </a:ext>
            </a:extLst>
          </p:cNvPr>
          <p:cNvSpPr txBox="1">
            <a:spLocks/>
          </p:cNvSpPr>
          <p:nvPr/>
        </p:nvSpPr>
        <p:spPr>
          <a:xfrm>
            <a:off x="2112797" y="1555599"/>
            <a:ext cx="725567" cy="4265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2000" dirty="0">
                <a:solidFill>
                  <a:schemeClr val="tx1"/>
                </a:solidFill>
              </a:rPr>
              <a:t>Let</a:t>
            </a:r>
          </a:p>
        </p:txBody>
      </p:sp>
      <p:sp>
        <p:nvSpPr>
          <p:cNvPr id="23" name="Text Placeholder 5">
            <a:extLst>
              <a:ext uri="{FF2B5EF4-FFF2-40B4-BE49-F238E27FC236}">
                <a16:creationId xmlns:a16="http://schemas.microsoft.com/office/drawing/2014/main" id="{82882776-9D27-C757-959C-8AD80A2D6D36}"/>
              </a:ext>
            </a:extLst>
          </p:cNvPr>
          <p:cNvSpPr txBox="1">
            <a:spLocks/>
          </p:cNvSpPr>
          <p:nvPr/>
        </p:nvSpPr>
        <p:spPr>
          <a:xfrm>
            <a:off x="5036458" y="1569617"/>
            <a:ext cx="928914" cy="4265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2000" dirty="0">
                <a:solidFill>
                  <a:schemeClr val="tx1"/>
                </a:solidFill>
              </a:rPr>
              <a:t>where</a:t>
            </a:r>
          </a:p>
        </p:txBody>
      </p:sp>
      <mc:AlternateContent xmlns:mc="http://schemas.openxmlformats.org/markup-compatibility/2006">
        <mc:Choice xmlns:a14="http://schemas.microsoft.com/office/drawing/2010/main" Requires="a14">
          <p:sp>
            <p:nvSpPr>
              <p:cNvPr id="24" name="Text Placeholder 5">
                <a:extLst>
                  <a:ext uri="{FF2B5EF4-FFF2-40B4-BE49-F238E27FC236}">
                    <a16:creationId xmlns:a16="http://schemas.microsoft.com/office/drawing/2014/main" id="{5EA61B79-1801-26C9-82C8-764AC414D50E}"/>
                  </a:ext>
                </a:extLst>
              </p:cNvPr>
              <p:cNvSpPr txBox="1">
                <a:spLocks/>
              </p:cNvSpPr>
              <p:nvPr/>
            </p:nvSpPr>
            <p:spPr>
              <a:xfrm>
                <a:off x="329460" y="2174483"/>
                <a:ext cx="11311811"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600" dirty="0">
                    <a:solidFill>
                      <a:schemeClr val="tx1"/>
                    </a:solidFill>
                  </a:rPr>
                  <a:t>Since </a:t>
                </a:r>
                <a14:m>
                  <m:oMath xmlns:m="http://schemas.openxmlformats.org/officeDocument/2006/math">
                    <m:sSubSup>
                      <m:sSubSupPr>
                        <m:ctrlPr>
                          <a:rPr lang="en-NZ" altLang="ja-JP" sz="1600" b="1" i="1" smtClean="0">
                            <a:solidFill>
                              <a:schemeClr val="tx1"/>
                            </a:solidFill>
                            <a:latin typeface="Cambria Math" panose="02040503050406030204" pitchFamily="18" charset="0"/>
                          </a:rPr>
                        </m:ctrlPr>
                      </m:sSubSupPr>
                      <m:e>
                        <m:r>
                          <a:rPr lang="en-NZ" altLang="ja-JP" sz="1600" b="1" i="1" smtClean="0">
                            <a:solidFill>
                              <a:schemeClr val="tx1"/>
                            </a:solidFill>
                            <a:latin typeface="Cambria Math" panose="02040503050406030204" pitchFamily="18" charset="0"/>
                          </a:rPr>
                          <m:t>𝑺</m:t>
                        </m:r>
                      </m:e>
                      <m:sub>
                        <m:r>
                          <a:rPr lang="en-NZ" altLang="ja-JP" sz="1600" b="1" i="1" smtClean="0">
                            <a:solidFill>
                              <a:schemeClr val="tx1"/>
                            </a:solidFill>
                            <a:latin typeface="Cambria Math" panose="02040503050406030204" pitchFamily="18" charset="0"/>
                          </a:rPr>
                          <m:t>𝒋</m:t>
                        </m:r>
                      </m:sub>
                      <m:sup>
                        <m:r>
                          <a:rPr lang="en-NZ" altLang="ja-JP" sz="1600" b="1" i="1" smtClean="0">
                            <a:solidFill>
                              <a:schemeClr val="tx1"/>
                            </a:solidFill>
                            <a:latin typeface="Cambria Math" panose="02040503050406030204" pitchFamily="18" charset="0"/>
                          </a:rPr>
                          <m:t>𝟐</m:t>
                        </m:r>
                      </m:sup>
                    </m:sSubSup>
                  </m:oMath>
                </a14:m>
                <a:r>
                  <a:rPr lang="en-NZ" altLang="ja-JP" sz="1600" b="1" dirty="0">
                    <a:solidFill>
                      <a:schemeClr val="tx1"/>
                    </a:solidFill>
                  </a:rPr>
                  <a:t> </a:t>
                </a:r>
                <a:r>
                  <a:rPr lang="en-NZ" altLang="ja-JP" sz="1600" dirty="0">
                    <a:solidFill>
                      <a:schemeClr val="tx1"/>
                    </a:solidFill>
                  </a:rPr>
                  <a:t>is just the (sample) variance of the tail of chain </a:t>
                </a:r>
                <a:r>
                  <a:rPr lang="en-NZ" altLang="ja-JP" sz="1600" b="1" i="1" dirty="0">
                    <a:solidFill>
                      <a:schemeClr val="tx1"/>
                    </a:solidFill>
                  </a:rPr>
                  <a:t>j</a:t>
                </a:r>
                <a:br>
                  <a:rPr lang="en-NZ" altLang="ja-JP" sz="1600" b="1" i="1" dirty="0">
                    <a:solidFill>
                      <a:schemeClr val="tx1"/>
                    </a:solidFill>
                  </a:rPr>
                </a:br>
                <a:r>
                  <a:rPr lang="en-NZ" altLang="ja-JP" sz="1600" dirty="0">
                    <a:solidFill>
                      <a:schemeClr val="tx1"/>
                    </a:solidFill>
                  </a:rPr>
                  <a:t>=&gt;  </a:t>
                </a:r>
                <a:r>
                  <a:rPr lang="en-NZ" altLang="ja-JP" sz="1600" b="1" i="1" dirty="0">
                    <a:solidFill>
                      <a:schemeClr val="tx1"/>
                    </a:solidFill>
                  </a:rPr>
                  <a:t>W</a:t>
                </a:r>
                <a:r>
                  <a:rPr lang="en-NZ" altLang="ja-JP" sz="1600" dirty="0">
                    <a:solidFill>
                      <a:schemeClr val="tx1"/>
                    </a:solidFill>
                  </a:rPr>
                  <a:t> is the average variance of the </a:t>
                </a:r>
                <a:r>
                  <a:rPr lang="en-NZ" altLang="ja-JP" sz="1600" b="1" i="1" dirty="0">
                    <a:solidFill>
                      <a:schemeClr val="tx1"/>
                    </a:solidFill>
                  </a:rPr>
                  <a:t>m</a:t>
                </a:r>
                <a:r>
                  <a:rPr lang="en-NZ" altLang="ja-JP" sz="1600" dirty="0">
                    <a:solidFill>
                      <a:schemeClr val="tx1"/>
                    </a:solidFill>
                  </a:rPr>
                  <a:t> truncated chains.</a:t>
                </a:r>
              </a:p>
            </p:txBody>
          </p:sp>
        </mc:Choice>
        <mc:Fallback>
          <p:sp>
            <p:nvSpPr>
              <p:cNvPr id="24" name="Text Placeholder 5">
                <a:extLst>
                  <a:ext uri="{FF2B5EF4-FFF2-40B4-BE49-F238E27FC236}">
                    <a16:creationId xmlns:a16="http://schemas.microsoft.com/office/drawing/2014/main" id="{5EA61B79-1801-26C9-82C8-764AC414D50E}"/>
                  </a:ext>
                </a:extLst>
              </p:cNvPr>
              <p:cNvSpPr txBox="1">
                <a:spLocks noRot="1" noChangeAspect="1" noMove="1" noResize="1" noEditPoints="1" noAdjustHandles="1" noChangeArrowheads="1" noChangeShapeType="1" noTextEdit="1"/>
              </p:cNvSpPr>
              <p:nvPr/>
            </p:nvSpPr>
            <p:spPr>
              <a:xfrm>
                <a:off x="329460" y="2174483"/>
                <a:ext cx="11311811" cy="675343"/>
              </a:xfrm>
              <a:prstGeom prst="rect">
                <a:avLst/>
              </a:prstGeom>
              <a:blipFill>
                <a:blip r:embed="rId4"/>
                <a:stretch>
                  <a:fillRect l="-216" b="-5455"/>
                </a:stretch>
              </a:blipFill>
            </p:spPr>
            <p:txBody>
              <a:bodyPr/>
              <a:lstStyle/>
              <a:p>
                <a:r>
                  <a:rPr lang="en-NZ">
                    <a:noFill/>
                  </a:rPr>
                  <a:t> </a:t>
                </a:r>
              </a:p>
            </p:txBody>
          </p:sp>
        </mc:Fallback>
      </mc:AlternateContent>
      <p:sp>
        <p:nvSpPr>
          <p:cNvPr id="25" name="Text Placeholder 5">
            <a:extLst>
              <a:ext uri="{FF2B5EF4-FFF2-40B4-BE49-F238E27FC236}">
                <a16:creationId xmlns:a16="http://schemas.microsoft.com/office/drawing/2014/main" id="{6DEE0106-EA5C-67FC-4640-0B2C033E459F}"/>
              </a:ext>
            </a:extLst>
          </p:cNvPr>
          <p:cNvSpPr txBox="1">
            <a:spLocks/>
          </p:cNvSpPr>
          <p:nvPr/>
        </p:nvSpPr>
        <p:spPr>
          <a:xfrm>
            <a:off x="319463" y="2910645"/>
            <a:ext cx="11311811" cy="3920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600" dirty="0">
                <a:solidFill>
                  <a:schemeClr val="tx1"/>
                </a:solidFill>
              </a:rPr>
              <a:t>Hence,  </a:t>
            </a:r>
            <a:r>
              <a:rPr lang="en-NZ" altLang="ja-JP" sz="1600" b="1" i="1" dirty="0">
                <a:solidFill>
                  <a:schemeClr val="tx1"/>
                </a:solidFill>
              </a:rPr>
              <a:t>W</a:t>
            </a:r>
            <a:r>
              <a:rPr lang="en-NZ" altLang="ja-JP" sz="1600" dirty="0">
                <a:solidFill>
                  <a:schemeClr val="tx1"/>
                </a:solidFill>
              </a:rPr>
              <a:t> is an estimate of the variance of the target distribution.</a:t>
            </a:r>
          </a:p>
        </p:txBody>
      </p:sp>
      <p:sp>
        <p:nvSpPr>
          <p:cNvPr id="26" name="Text Placeholder 5">
            <a:extLst>
              <a:ext uri="{FF2B5EF4-FFF2-40B4-BE49-F238E27FC236}">
                <a16:creationId xmlns:a16="http://schemas.microsoft.com/office/drawing/2014/main" id="{BD4CA244-5207-A317-AB8B-D1774BF29554}"/>
              </a:ext>
            </a:extLst>
          </p:cNvPr>
          <p:cNvSpPr txBox="1">
            <a:spLocks/>
          </p:cNvSpPr>
          <p:nvPr/>
        </p:nvSpPr>
        <p:spPr>
          <a:xfrm>
            <a:off x="309466" y="3396865"/>
            <a:ext cx="11311811" cy="67534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600" dirty="0">
                <a:solidFill>
                  <a:schemeClr val="tx1"/>
                </a:solidFill>
              </a:rPr>
              <a:t>If any of the </a:t>
            </a:r>
            <a:r>
              <a:rPr lang="en-NZ" altLang="ja-JP" sz="1600" b="1" i="1" dirty="0">
                <a:solidFill>
                  <a:schemeClr val="tx1"/>
                </a:solidFill>
              </a:rPr>
              <a:t>m</a:t>
            </a:r>
            <a:r>
              <a:rPr lang="en-NZ" altLang="ja-JP" sz="1600" dirty="0">
                <a:solidFill>
                  <a:schemeClr val="tx1"/>
                </a:solidFill>
              </a:rPr>
              <a:t> chains have not fully converged </a:t>
            </a:r>
            <a:r>
              <a:rPr lang="en-NZ" altLang="ja-JP" sz="1600" b="1" i="1" dirty="0">
                <a:solidFill>
                  <a:schemeClr val="tx1"/>
                </a:solidFill>
              </a:rPr>
              <a:t>W</a:t>
            </a:r>
            <a:r>
              <a:rPr lang="en-NZ" altLang="ja-JP" sz="1600" dirty="0">
                <a:solidFill>
                  <a:schemeClr val="tx1"/>
                </a:solidFill>
              </a:rPr>
              <a:t> will </a:t>
            </a:r>
            <a:r>
              <a:rPr lang="en-NZ" altLang="ja-JP" sz="1600" b="1" dirty="0">
                <a:solidFill>
                  <a:schemeClr val="tx1"/>
                </a:solidFill>
              </a:rPr>
              <a:t>underestimate</a:t>
            </a:r>
            <a:r>
              <a:rPr lang="en-NZ" altLang="ja-JP" sz="1600" dirty="0">
                <a:solidFill>
                  <a:schemeClr val="tx1"/>
                </a:solidFill>
              </a:rPr>
              <a:t> the variance of the target distribution</a:t>
            </a:r>
            <a:br>
              <a:rPr lang="en-NZ" altLang="ja-JP" sz="1600" dirty="0">
                <a:solidFill>
                  <a:schemeClr val="tx1"/>
                </a:solidFill>
              </a:rPr>
            </a:br>
            <a:r>
              <a:rPr lang="en-NZ" altLang="ja-JP" sz="1600" dirty="0">
                <a:solidFill>
                  <a:schemeClr val="tx1"/>
                </a:solidFill>
              </a:rPr>
              <a:t>since (at least one of) the chains will not have sufficiently explored the entire state space of the target distribution.</a:t>
            </a:r>
          </a:p>
        </p:txBody>
      </p:sp>
      <p:sp>
        <p:nvSpPr>
          <p:cNvPr id="13" name="Text Placeholder 5">
            <a:extLst>
              <a:ext uri="{FF2B5EF4-FFF2-40B4-BE49-F238E27FC236}">
                <a16:creationId xmlns:a16="http://schemas.microsoft.com/office/drawing/2014/main" id="{35C56876-5F29-767F-D96B-D4FF82950747}"/>
              </a:ext>
            </a:extLst>
          </p:cNvPr>
          <p:cNvSpPr txBox="1">
            <a:spLocks/>
          </p:cNvSpPr>
          <p:nvPr/>
        </p:nvSpPr>
        <p:spPr>
          <a:xfrm>
            <a:off x="510005" y="4275850"/>
            <a:ext cx="2718932" cy="3920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b="1" dirty="0">
                <a:solidFill>
                  <a:srgbClr val="0070C0"/>
                </a:solidFill>
              </a:rPr>
              <a:t>Between Chain Variance:</a:t>
            </a:r>
            <a:endParaRPr lang="en-NZ" altLang="ja-JP" sz="1800" dirty="0">
              <a:solidFill>
                <a:srgbClr val="0070C0"/>
              </a:solidFill>
            </a:endParaRPr>
          </a:p>
        </p:txBody>
      </p:sp>
      <mc:AlternateContent xmlns:mc="http://schemas.openxmlformats.org/markup-compatibility/2006">
        <mc:Choice xmlns:a14="http://schemas.microsoft.com/office/drawing/2010/main" Requires="a14">
          <p:sp>
            <p:nvSpPr>
              <p:cNvPr id="16" name="Text Placeholder 5">
                <a:extLst>
                  <a:ext uri="{FF2B5EF4-FFF2-40B4-BE49-F238E27FC236}">
                    <a16:creationId xmlns:a16="http://schemas.microsoft.com/office/drawing/2014/main" id="{05C647F6-BB56-2667-3464-5B9DEEE6D714}"/>
                  </a:ext>
                </a:extLst>
              </p:cNvPr>
              <p:cNvSpPr txBox="1">
                <a:spLocks/>
              </p:cNvSpPr>
              <p:nvPr/>
            </p:nvSpPr>
            <p:spPr>
              <a:xfrm>
                <a:off x="1997185" y="4560813"/>
                <a:ext cx="3759051"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r>
                        <a:rPr lang="en-NZ" altLang="ja-JP" sz="1800" b="1" i="1" smtClean="0">
                          <a:solidFill>
                            <a:schemeClr val="tx1"/>
                          </a:solidFill>
                          <a:latin typeface="Cambria Math" panose="02040503050406030204" pitchFamily="18" charset="0"/>
                        </a:rPr>
                        <m:t>𝑩</m:t>
                      </m:r>
                      <m:d>
                        <m:dPr>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𝒏</m:t>
                          </m:r>
                        </m:e>
                      </m:d>
                      <m:r>
                        <a:rPr lang="en-NZ" altLang="ja-JP" sz="1800" b="1" i="1" smtClean="0">
                          <a:solidFill>
                            <a:schemeClr val="tx1"/>
                          </a:solidFill>
                          <a:latin typeface="Cambria Math" panose="02040503050406030204" pitchFamily="18" charset="0"/>
                        </a:rPr>
                        <m:t>= </m:t>
                      </m:r>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𝒏</m:t>
                          </m:r>
                        </m:num>
                        <m:den>
                          <m:r>
                            <a:rPr lang="en-NZ" altLang="ja-JP" sz="1800" b="1" i="1" smtClean="0">
                              <a:solidFill>
                                <a:schemeClr val="tx1"/>
                              </a:solidFill>
                              <a:latin typeface="Cambria Math" panose="02040503050406030204" pitchFamily="18" charset="0"/>
                            </a:rPr>
                            <m:t>𝒎</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den>
                      </m:f>
                      <m:r>
                        <a:rPr lang="en-NZ" altLang="ja-JP" sz="1800" b="1" i="1" smtClean="0">
                          <a:solidFill>
                            <a:schemeClr val="tx1"/>
                          </a:solidFill>
                          <a:latin typeface="Cambria Math" panose="02040503050406030204" pitchFamily="18" charset="0"/>
                        </a:rPr>
                        <m:t> </m:t>
                      </m:r>
                      <m:nary>
                        <m:naryPr>
                          <m:chr m:val="∑"/>
                          <m:ctrlPr>
                            <a:rPr lang="en-NZ" altLang="ja-JP" sz="1800" b="1" i="1" smtClean="0">
                              <a:solidFill>
                                <a:schemeClr val="tx1"/>
                              </a:solidFill>
                              <a:latin typeface="Cambria Math" panose="02040503050406030204" pitchFamily="18" charset="0"/>
                            </a:rPr>
                          </m:ctrlPr>
                        </m:naryPr>
                        <m:sub>
                          <m:r>
                            <m:rPr>
                              <m:brk m:alnAt="23"/>
                            </m:rPr>
                            <a:rPr lang="en-NZ" altLang="ja-JP" sz="1800" b="1" i="1" smtClean="0">
                              <a:solidFill>
                                <a:schemeClr val="tx1"/>
                              </a:solidFill>
                              <a:latin typeface="Cambria Math" panose="02040503050406030204" pitchFamily="18" charset="0"/>
                            </a:rPr>
                            <m:t>𝒋</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sub>
                        <m:sup>
                          <m:r>
                            <a:rPr lang="en-NZ" altLang="ja-JP" sz="1800" b="1" i="1" smtClean="0">
                              <a:solidFill>
                                <a:schemeClr val="tx1"/>
                              </a:solidFill>
                              <a:latin typeface="Cambria Math" panose="02040503050406030204" pitchFamily="18" charset="0"/>
                            </a:rPr>
                            <m:t>𝒎</m:t>
                          </m:r>
                        </m:sup>
                        <m:e>
                          <m:sSup>
                            <m:sSupPr>
                              <m:ctrlPr>
                                <a:rPr lang="en-NZ" altLang="ja-JP" sz="1800" b="1" i="1" smtClean="0">
                                  <a:solidFill>
                                    <a:schemeClr val="tx1"/>
                                  </a:solidFill>
                                  <a:latin typeface="Cambria Math" panose="02040503050406030204" pitchFamily="18" charset="0"/>
                                </a:rPr>
                              </m:ctrlPr>
                            </m:sSupPr>
                            <m:e>
                              <m:d>
                                <m:dPr>
                                  <m:ctrlPr>
                                    <a:rPr lang="en-NZ" altLang="ja-JP" sz="1800" b="1" i="1" smtClean="0">
                                      <a:solidFill>
                                        <a:schemeClr val="tx1"/>
                                      </a:solidFill>
                                      <a:latin typeface="Cambria Math" panose="02040503050406030204" pitchFamily="18" charset="0"/>
                                    </a:rPr>
                                  </m:ctrlPr>
                                </m:dPr>
                                <m:e>
                                  <m:sSub>
                                    <m:sSubPr>
                                      <m:ctrlPr>
                                        <a:rPr lang="en-NZ" altLang="ja-JP" sz="1800" b="1" i="1" smtClean="0">
                                          <a:solidFill>
                                            <a:schemeClr val="tx1"/>
                                          </a:solidFill>
                                          <a:latin typeface="Cambria Math" panose="02040503050406030204" pitchFamily="18" charset="0"/>
                                        </a:rPr>
                                      </m:ctrlPr>
                                    </m:sSubPr>
                                    <m:e>
                                      <m:bar>
                                        <m:barPr>
                                          <m:pos m:val="top"/>
                                          <m:ctrlPr>
                                            <a:rPr lang="en-NZ" altLang="ja-JP" sz="1800" b="1" i="1" smtClean="0">
                                              <a:solidFill>
                                                <a:schemeClr val="tx1"/>
                                              </a:solidFill>
                                              <a:latin typeface="Cambria Math" panose="02040503050406030204" pitchFamily="18" charset="0"/>
                                            </a:rPr>
                                          </m:ctrlPr>
                                        </m:barPr>
                                        <m:e>
                                          <m:r>
                                            <a:rPr lang="en-NZ" altLang="ja-JP" sz="1800" b="1" i="1" smtClean="0">
                                              <a:solidFill>
                                                <a:schemeClr val="tx1"/>
                                              </a:solidFill>
                                              <a:latin typeface="Cambria Math" panose="02040503050406030204" pitchFamily="18" charset="0"/>
                                            </a:rPr>
                                            <m:t>𝒙</m:t>
                                          </m:r>
                                        </m:e>
                                      </m:bar>
                                    </m:e>
                                    <m:sub>
                                      <m:r>
                                        <a:rPr lang="en-NZ" altLang="ja-JP" sz="1800" b="1" i="1" smtClean="0">
                                          <a:solidFill>
                                            <a:schemeClr val="tx1"/>
                                          </a:solidFill>
                                          <a:latin typeface="Cambria Math" panose="02040503050406030204" pitchFamily="18" charset="0"/>
                                        </a:rPr>
                                        <m:t>𝒋</m:t>
                                      </m:r>
                                    </m:sub>
                                  </m:sSub>
                                  <m:r>
                                    <a:rPr lang="en-NZ" altLang="ja-JP" sz="1800" b="1" i="1" smtClean="0">
                                      <a:solidFill>
                                        <a:schemeClr val="tx1"/>
                                      </a:solidFill>
                                      <a:latin typeface="Cambria Math" panose="02040503050406030204" pitchFamily="18" charset="0"/>
                                    </a:rPr>
                                    <m:t> − </m:t>
                                  </m:r>
                                  <m:bar>
                                    <m:barPr>
                                      <m:pos m:val="top"/>
                                      <m:ctrlPr>
                                        <a:rPr lang="en-NZ" altLang="ja-JP" sz="1800" b="1" i="1" smtClean="0">
                                          <a:solidFill>
                                            <a:schemeClr val="tx1"/>
                                          </a:solidFill>
                                          <a:latin typeface="Cambria Math" panose="02040503050406030204" pitchFamily="18" charset="0"/>
                                        </a:rPr>
                                      </m:ctrlPr>
                                    </m:barPr>
                                    <m:e>
                                      <m:bar>
                                        <m:barPr>
                                          <m:pos m:val="top"/>
                                          <m:ctrlPr>
                                            <a:rPr lang="en-NZ" altLang="ja-JP" sz="1800" b="1" i="1" smtClean="0">
                                              <a:solidFill>
                                                <a:schemeClr val="tx1"/>
                                              </a:solidFill>
                                              <a:latin typeface="Cambria Math" panose="02040503050406030204" pitchFamily="18" charset="0"/>
                                            </a:rPr>
                                          </m:ctrlPr>
                                        </m:barPr>
                                        <m:e>
                                          <m:r>
                                            <a:rPr lang="en-NZ" altLang="ja-JP" sz="1800" b="1" i="1" smtClean="0">
                                              <a:solidFill>
                                                <a:schemeClr val="tx1"/>
                                              </a:solidFill>
                                              <a:latin typeface="Cambria Math" panose="02040503050406030204" pitchFamily="18" charset="0"/>
                                            </a:rPr>
                                            <m:t>𝒙</m:t>
                                          </m:r>
                                        </m:e>
                                      </m:bar>
                                    </m:e>
                                  </m:bar>
                                </m:e>
                              </m:d>
                            </m:e>
                            <m:sup>
                              <m:r>
                                <a:rPr lang="en-NZ" altLang="ja-JP" sz="1800" b="1" i="1" smtClean="0">
                                  <a:solidFill>
                                    <a:schemeClr val="tx1"/>
                                  </a:solidFill>
                                  <a:latin typeface="Cambria Math" panose="02040503050406030204" pitchFamily="18" charset="0"/>
                                </a:rPr>
                                <m:t>𝟐</m:t>
                              </m:r>
                            </m:sup>
                          </m:sSup>
                        </m:e>
                      </m:nary>
                    </m:oMath>
                  </m:oMathPara>
                </a14:m>
                <a:endParaRPr lang="en-NZ" altLang="ja-JP" sz="1800" b="1" dirty="0">
                  <a:solidFill>
                    <a:schemeClr val="tx1"/>
                  </a:solidFill>
                </a:endParaRPr>
              </a:p>
            </p:txBody>
          </p:sp>
        </mc:Choice>
        <mc:Fallback>
          <p:sp>
            <p:nvSpPr>
              <p:cNvPr id="16" name="Text Placeholder 5">
                <a:extLst>
                  <a:ext uri="{FF2B5EF4-FFF2-40B4-BE49-F238E27FC236}">
                    <a16:creationId xmlns:a16="http://schemas.microsoft.com/office/drawing/2014/main" id="{05C647F6-BB56-2667-3464-5B9DEEE6D714}"/>
                  </a:ext>
                </a:extLst>
              </p:cNvPr>
              <p:cNvSpPr txBox="1">
                <a:spLocks noRot="1" noChangeAspect="1" noMove="1" noResize="1" noEditPoints="1" noAdjustHandles="1" noChangeArrowheads="1" noChangeShapeType="1" noTextEdit="1"/>
              </p:cNvSpPr>
              <p:nvPr/>
            </p:nvSpPr>
            <p:spPr>
              <a:xfrm>
                <a:off x="1997185" y="4560813"/>
                <a:ext cx="3759051" cy="675343"/>
              </a:xfrm>
              <a:prstGeom prst="rect">
                <a:avLst/>
              </a:prstGeom>
              <a:blipFill>
                <a:blip r:embed="rId5"/>
                <a:stretch>
                  <a:fillRect b="-23423"/>
                </a:stretch>
              </a:blipFill>
            </p:spPr>
            <p:txBody>
              <a:bodyPr/>
              <a:lstStyle/>
              <a:p>
                <a:r>
                  <a:rPr lang="en-NZ">
                    <a:noFill/>
                  </a:rPr>
                  <a:t> </a:t>
                </a:r>
              </a:p>
            </p:txBody>
          </p:sp>
        </mc:Fallback>
      </mc:AlternateContent>
      <p:sp>
        <p:nvSpPr>
          <p:cNvPr id="17" name="Text Placeholder 5">
            <a:extLst>
              <a:ext uri="{FF2B5EF4-FFF2-40B4-BE49-F238E27FC236}">
                <a16:creationId xmlns:a16="http://schemas.microsoft.com/office/drawing/2014/main" id="{DC348177-7EBD-B874-48C4-73661A26BC0F}"/>
              </a:ext>
            </a:extLst>
          </p:cNvPr>
          <p:cNvSpPr txBox="1">
            <a:spLocks/>
          </p:cNvSpPr>
          <p:nvPr/>
        </p:nvSpPr>
        <p:spPr>
          <a:xfrm>
            <a:off x="1456151" y="4787108"/>
            <a:ext cx="725567" cy="4265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2000" dirty="0">
                <a:solidFill>
                  <a:schemeClr val="tx1"/>
                </a:solidFill>
              </a:rPr>
              <a:t>Let</a:t>
            </a:r>
          </a:p>
        </p:txBody>
      </p:sp>
      <p:sp>
        <p:nvSpPr>
          <p:cNvPr id="18" name="Text Placeholder 5">
            <a:extLst>
              <a:ext uri="{FF2B5EF4-FFF2-40B4-BE49-F238E27FC236}">
                <a16:creationId xmlns:a16="http://schemas.microsoft.com/office/drawing/2014/main" id="{B71627E3-0E14-B30B-41B6-BD9C6BBED940}"/>
              </a:ext>
            </a:extLst>
          </p:cNvPr>
          <p:cNvSpPr txBox="1">
            <a:spLocks/>
          </p:cNvSpPr>
          <p:nvPr/>
        </p:nvSpPr>
        <p:spPr>
          <a:xfrm>
            <a:off x="5910220" y="4809631"/>
            <a:ext cx="928914" cy="4265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2000" dirty="0">
                <a:solidFill>
                  <a:schemeClr val="tx1"/>
                </a:solidFill>
              </a:rPr>
              <a:t>where</a:t>
            </a:r>
          </a:p>
        </p:txBody>
      </p:sp>
      <p:sp>
        <p:nvSpPr>
          <p:cNvPr id="19" name="Text Placeholder 5">
            <a:extLst>
              <a:ext uri="{FF2B5EF4-FFF2-40B4-BE49-F238E27FC236}">
                <a16:creationId xmlns:a16="http://schemas.microsoft.com/office/drawing/2014/main" id="{E21682BF-16B0-6E56-F397-D489EDBD9EDC}"/>
              </a:ext>
            </a:extLst>
          </p:cNvPr>
          <p:cNvSpPr txBox="1">
            <a:spLocks/>
          </p:cNvSpPr>
          <p:nvPr/>
        </p:nvSpPr>
        <p:spPr>
          <a:xfrm>
            <a:off x="319463" y="5556468"/>
            <a:ext cx="11360553" cy="53069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600" b="1" i="1" dirty="0">
                <a:solidFill>
                  <a:schemeClr val="tx1"/>
                </a:solidFill>
              </a:rPr>
              <a:t>B</a:t>
            </a:r>
            <a:r>
              <a:rPr lang="en-NZ" altLang="ja-JP" sz="1600" dirty="0">
                <a:solidFill>
                  <a:schemeClr val="tx1"/>
                </a:solidFill>
              </a:rPr>
              <a:t> is the variance of chain means multiplied by a factor of </a:t>
            </a:r>
            <a:r>
              <a:rPr lang="en-NZ" altLang="ja-JP" sz="1600" b="1" i="1" dirty="0">
                <a:solidFill>
                  <a:schemeClr val="tx1"/>
                </a:solidFill>
              </a:rPr>
              <a:t>n</a:t>
            </a:r>
            <a:r>
              <a:rPr lang="en-NZ" altLang="ja-JP" sz="1600" dirty="0">
                <a:solidFill>
                  <a:schemeClr val="tx1"/>
                </a:solidFill>
              </a:rPr>
              <a:t> (because each truncated chain has </a:t>
            </a:r>
            <a:r>
              <a:rPr lang="en-NZ" altLang="ja-JP" sz="1600" b="1" i="1" dirty="0">
                <a:solidFill>
                  <a:schemeClr val="tx1"/>
                </a:solidFill>
              </a:rPr>
              <a:t>n</a:t>
            </a:r>
            <a:r>
              <a:rPr lang="en-NZ" altLang="ja-JP" sz="1600" dirty="0">
                <a:solidFill>
                  <a:schemeClr val="tx1"/>
                </a:solidFill>
              </a:rPr>
              <a:t> values).</a:t>
            </a:r>
            <a:br>
              <a:rPr lang="en-NZ" altLang="ja-JP" sz="1600" dirty="0">
                <a:solidFill>
                  <a:schemeClr val="tx1"/>
                </a:solidFill>
              </a:rPr>
            </a:br>
            <a:r>
              <a:rPr lang="en-NZ" altLang="ja-JP" sz="1600" b="1" i="1" dirty="0">
                <a:solidFill>
                  <a:schemeClr val="tx1"/>
                </a:solidFill>
              </a:rPr>
              <a:t>B </a:t>
            </a:r>
            <a:r>
              <a:rPr lang="en-NZ" altLang="ja-JP" sz="1600" dirty="0">
                <a:solidFill>
                  <a:schemeClr val="tx1"/>
                </a:solidFill>
              </a:rPr>
              <a:t>is also an estimate of the variance of the target distribution.</a:t>
            </a:r>
          </a:p>
        </p:txBody>
      </p:sp>
      <mc:AlternateContent xmlns:mc="http://schemas.openxmlformats.org/markup-compatibility/2006">
        <mc:Choice xmlns:a14="http://schemas.microsoft.com/office/drawing/2010/main" Requires="a14">
          <p:sp>
            <p:nvSpPr>
              <p:cNvPr id="21" name="Text Placeholder 5">
                <a:extLst>
                  <a:ext uri="{FF2B5EF4-FFF2-40B4-BE49-F238E27FC236}">
                    <a16:creationId xmlns:a16="http://schemas.microsoft.com/office/drawing/2014/main" id="{539E74FE-2CDC-7822-2241-5D238B5E9AB0}"/>
                  </a:ext>
                </a:extLst>
              </p:cNvPr>
              <p:cNvSpPr txBox="1">
                <a:spLocks/>
              </p:cNvSpPr>
              <p:nvPr/>
            </p:nvSpPr>
            <p:spPr>
              <a:xfrm>
                <a:off x="6993118" y="4582652"/>
                <a:ext cx="3759051" cy="90049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bar>
                        <m:barPr>
                          <m:pos m:val="top"/>
                          <m:ctrlPr>
                            <a:rPr lang="en-NZ" altLang="ja-JP" sz="1800" b="1" i="1" smtClean="0">
                              <a:solidFill>
                                <a:schemeClr val="tx1"/>
                              </a:solidFill>
                              <a:latin typeface="Cambria Math" panose="02040503050406030204" pitchFamily="18" charset="0"/>
                            </a:rPr>
                          </m:ctrlPr>
                        </m:barPr>
                        <m:e>
                          <m:bar>
                            <m:barPr>
                              <m:pos m:val="top"/>
                              <m:ctrlPr>
                                <a:rPr lang="en-NZ" altLang="ja-JP" sz="1800" b="1" i="1">
                                  <a:solidFill>
                                    <a:schemeClr val="tx1"/>
                                  </a:solidFill>
                                  <a:latin typeface="Cambria Math" panose="02040503050406030204" pitchFamily="18" charset="0"/>
                                </a:rPr>
                              </m:ctrlPr>
                            </m:barPr>
                            <m:e>
                              <m:r>
                                <a:rPr lang="en-NZ" altLang="ja-JP" sz="1800" b="1" i="1">
                                  <a:solidFill>
                                    <a:schemeClr val="tx1"/>
                                  </a:solidFill>
                                  <a:latin typeface="Cambria Math" panose="02040503050406030204" pitchFamily="18" charset="0"/>
                                </a:rPr>
                                <m:t>𝒙</m:t>
                              </m:r>
                            </m:e>
                          </m:bar>
                        </m:e>
                      </m:bar>
                      <m:r>
                        <a:rPr lang="en-NZ" altLang="ja-JP" sz="1800" b="1" i="1" smtClean="0">
                          <a:solidFill>
                            <a:schemeClr val="tx1"/>
                          </a:solidFill>
                          <a:latin typeface="Cambria Math" panose="02040503050406030204" pitchFamily="18" charset="0"/>
                        </a:rPr>
                        <m:t> =  </m:t>
                      </m:r>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𝟏</m:t>
                          </m:r>
                        </m:num>
                        <m:den>
                          <m:r>
                            <a:rPr lang="en-NZ" altLang="ja-JP" sz="1800" b="1" i="1" smtClean="0">
                              <a:solidFill>
                                <a:schemeClr val="tx1"/>
                              </a:solidFill>
                              <a:latin typeface="Cambria Math" panose="02040503050406030204" pitchFamily="18" charset="0"/>
                            </a:rPr>
                            <m:t>𝒎</m:t>
                          </m:r>
                        </m:den>
                      </m:f>
                      <m:r>
                        <a:rPr lang="en-NZ" altLang="ja-JP" sz="1800" b="1" i="1" smtClean="0">
                          <a:solidFill>
                            <a:schemeClr val="tx1"/>
                          </a:solidFill>
                          <a:latin typeface="Cambria Math" panose="02040503050406030204" pitchFamily="18" charset="0"/>
                        </a:rPr>
                        <m:t> </m:t>
                      </m:r>
                      <m:nary>
                        <m:naryPr>
                          <m:chr m:val="∑"/>
                          <m:ctrlPr>
                            <a:rPr lang="en-NZ" altLang="ja-JP" sz="1800" b="1" i="1" smtClean="0">
                              <a:solidFill>
                                <a:schemeClr val="tx1"/>
                              </a:solidFill>
                              <a:latin typeface="Cambria Math" panose="02040503050406030204" pitchFamily="18" charset="0"/>
                            </a:rPr>
                          </m:ctrlPr>
                        </m:naryPr>
                        <m:sub>
                          <m:r>
                            <m:rPr>
                              <m:brk m:alnAt="23"/>
                            </m:rPr>
                            <a:rPr lang="en-NZ" altLang="ja-JP" sz="1800" b="1" i="1" smtClean="0">
                              <a:solidFill>
                                <a:schemeClr val="tx1"/>
                              </a:solidFill>
                              <a:latin typeface="Cambria Math" panose="02040503050406030204" pitchFamily="18" charset="0"/>
                            </a:rPr>
                            <m:t>𝒋</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sub>
                        <m:sup>
                          <m:r>
                            <a:rPr lang="en-NZ" altLang="ja-JP" sz="1800" b="1" i="1" smtClean="0">
                              <a:solidFill>
                                <a:schemeClr val="tx1"/>
                              </a:solidFill>
                              <a:latin typeface="Cambria Math" panose="02040503050406030204" pitchFamily="18" charset="0"/>
                            </a:rPr>
                            <m:t>𝒎</m:t>
                          </m:r>
                        </m:sup>
                        <m:e>
                          <m:sSub>
                            <m:sSubPr>
                              <m:ctrlPr>
                                <a:rPr lang="en-NZ" altLang="ja-JP" sz="1800" b="1" i="1">
                                  <a:solidFill>
                                    <a:schemeClr val="tx1"/>
                                  </a:solidFill>
                                  <a:latin typeface="Cambria Math" panose="02040503050406030204" pitchFamily="18" charset="0"/>
                                </a:rPr>
                              </m:ctrlPr>
                            </m:sSubPr>
                            <m:e>
                              <m:bar>
                                <m:barPr>
                                  <m:pos m:val="top"/>
                                  <m:ctrlPr>
                                    <a:rPr lang="en-NZ" altLang="ja-JP" sz="1800" b="1" i="1">
                                      <a:solidFill>
                                        <a:schemeClr val="tx1"/>
                                      </a:solidFill>
                                      <a:latin typeface="Cambria Math" panose="02040503050406030204" pitchFamily="18" charset="0"/>
                                    </a:rPr>
                                  </m:ctrlPr>
                                </m:barPr>
                                <m:e>
                                  <m:r>
                                    <a:rPr lang="en-NZ" altLang="ja-JP" sz="1800" b="1" i="1">
                                      <a:solidFill>
                                        <a:schemeClr val="tx1"/>
                                      </a:solidFill>
                                      <a:latin typeface="Cambria Math" panose="02040503050406030204" pitchFamily="18" charset="0"/>
                                    </a:rPr>
                                    <m:t>𝒙</m:t>
                                  </m:r>
                                </m:e>
                              </m:bar>
                            </m:e>
                            <m:sub>
                              <m:r>
                                <a:rPr lang="en-NZ" altLang="ja-JP" sz="1800" b="1" i="1">
                                  <a:solidFill>
                                    <a:schemeClr val="tx1"/>
                                  </a:solidFill>
                                  <a:latin typeface="Cambria Math" panose="02040503050406030204" pitchFamily="18" charset="0"/>
                                </a:rPr>
                                <m:t>𝒋</m:t>
                              </m:r>
                            </m:sub>
                          </m:sSub>
                        </m:e>
                      </m:nary>
                      <m:r>
                        <a:rPr lang="en-NZ" altLang="ja-JP" sz="1800" b="1" i="1" smtClean="0">
                          <a:solidFill>
                            <a:schemeClr val="tx1"/>
                          </a:solidFill>
                          <a:latin typeface="Cambria Math" panose="02040503050406030204" pitchFamily="18" charset="0"/>
                        </a:rPr>
                        <m:t>  = </m:t>
                      </m:r>
                      <m:f>
                        <m:fPr>
                          <m:ctrlPr>
                            <a:rPr lang="en-NZ" altLang="ja-JP" sz="1800" b="1" i="1">
                              <a:solidFill>
                                <a:schemeClr val="tx1"/>
                              </a:solidFill>
                              <a:latin typeface="Cambria Math" panose="02040503050406030204" pitchFamily="18" charset="0"/>
                            </a:rPr>
                          </m:ctrlPr>
                        </m:fPr>
                        <m:num>
                          <m:r>
                            <a:rPr lang="en-NZ" altLang="ja-JP" sz="1800" b="1" i="1">
                              <a:solidFill>
                                <a:schemeClr val="tx1"/>
                              </a:solidFill>
                              <a:latin typeface="Cambria Math" panose="02040503050406030204" pitchFamily="18" charset="0"/>
                            </a:rPr>
                            <m:t>𝟏</m:t>
                          </m:r>
                        </m:num>
                        <m:den>
                          <m:r>
                            <a:rPr lang="en-NZ" altLang="ja-JP" sz="1800" b="1" i="1">
                              <a:solidFill>
                                <a:schemeClr val="tx1"/>
                              </a:solidFill>
                              <a:latin typeface="Cambria Math" panose="02040503050406030204" pitchFamily="18" charset="0"/>
                            </a:rPr>
                            <m:t>𝒎</m:t>
                          </m:r>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𝒏</m:t>
                          </m:r>
                        </m:den>
                      </m:f>
                      <m:r>
                        <a:rPr lang="en-NZ" altLang="ja-JP" sz="1800" b="1" i="1">
                          <a:solidFill>
                            <a:schemeClr val="tx1"/>
                          </a:solidFill>
                          <a:latin typeface="Cambria Math" panose="02040503050406030204" pitchFamily="18" charset="0"/>
                        </a:rPr>
                        <m:t> </m:t>
                      </m:r>
                      <m:nary>
                        <m:naryPr>
                          <m:chr m:val="∑"/>
                          <m:ctrlPr>
                            <a:rPr lang="en-NZ" altLang="ja-JP" sz="1800" b="1" i="1">
                              <a:solidFill>
                                <a:schemeClr val="tx1"/>
                              </a:solidFill>
                              <a:latin typeface="Cambria Math" panose="02040503050406030204" pitchFamily="18" charset="0"/>
                            </a:rPr>
                          </m:ctrlPr>
                        </m:naryPr>
                        <m:sub>
                          <m:r>
                            <m:rPr>
                              <m:brk m:alnAt="23"/>
                            </m:rPr>
                            <a:rPr lang="en-NZ" altLang="ja-JP" sz="1800" b="1" i="1">
                              <a:solidFill>
                                <a:schemeClr val="tx1"/>
                              </a:solidFill>
                              <a:latin typeface="Cambria Math" panose="02040503050406030204" pitchFamily="18" charset="0"/>
                            </a:rPr>
                            <m:t>𝒋</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sub>
                        <m:sup>
                          <m:r>
                            <a:rPr lang="en-NZ" altLang="ja-JP" sz="1800" b="1" i="1">
                              <a:solidFill>
                                <a:schemeClr val="tx1"/>
                              </a:solidFill>
                              <a:latin typeface="Cambria Math" panose="02040503050406030204" pitchFamily="18" charset="0"/>
                            </a:rPr>
                            <m:t>𝒎</m:t>
                          </m:r>
                        </m:sup>
                        <m:e>
                          <m:nary>
                            <m:naryPr>
                              <m:chr m:val="∑"/>
                              <m:ctrlPr>
                                <a:rPr lang="en-NZ" altLang="ja-JP" sz="1800" b="1" i="1" smtClean="0">
                                  <a:solidFill>
                                    <a:schemeClr val="tx1"/>
                                  </a:solidFill>
                                  <a:latin typeface="Cambria Math" panose="02040503050406030204" pitchFamily="18" charset="0"/>
                                </a:rPr>
                              </m:ctrlPr>
                            </m:naryPr>
                            <m:sub>
                              <m:r>
                                <m:rPr>
                                  <m:brk m:alnAt="23"/>
                                </m:rPr>
                                <a:rPr lang="en-NZ" altLang="ja-JP" sz="1800" b="1" i="1" smtClean="0">
                                  <a:solidFill>
                                    <a:schemeClr val="tx1"/>
                                  </a:solidFill>
                                  <a:latin typeface="Cambria Math" panose="02040503050406030204" pitchFamily="18" charset="0"/>
                                </a:rPr>
                                <m:t>𝒊</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sub>
                            <m:sup>
                              <m:r>
                                <a:rPr lang="en-NZ" altLang="ja-JP" sz="1800" b="1" i="1" smtClean="0">
                                  <a:solidFill>
                                    <a:schemeClr val="tx1"/>
                                  </a:solidFill>
                                  <a:latin typeface="Cambria Math" panose="02040503050406030204" pitchFamily="18" charset="0"/>
                                </a:rPr>
                                <m:t>𝒏</m:t>
                              </m:r>
                            </m:sup>
                            <m:e>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𝒙</m:t>
                                  </m:r>
                                </m:e>
                                <m:sub>
                                  <m:r>
                                    <a:rPr lang="en-NZ" altLang="ja-JP" sz="1800" b="1" i="1" smtClean="0">
                                      <a:solidFill>
                                        <a:schemeClr val="tx1"/>
                                      </a:solidFill>
                                      <a:latin typeface="Cambria Math" panose="02040503050406030204" pitchFamily="18" charset="0"/>
                                    </a:rPr>
                                    <m:t>𝒊𝒋</m:t>
                                  </m:r>
                                </m:sub>
                              </m:sSub>
                            </m:e>
                          </m:nary>
                        </m:e>
                      </m:nary>
                    </m:oMath>
                  </m:oMathPara>
                </a14:m>
                <a:endParaRPr lang="en-NZ" altLang="ja-JP" sz="1800" b="1" dirty="0">
                  <a:solidFill>
                    <a:schemeClr val="tx1"/>
                  </a:solidFill>
                </a:endParaRPr>
              </a:p>
            </p:txBody>
          </p:sp>
        </mc:Choice>
        <mc:Fallback>
          <p:sp>
            <p:nvSpPr>
              <p:cNvPr id="21" name="Text Placeholder 5">
                <a:extLst>
                  <a:ext uri="{FF2B5EF4-FFF2-40B4-BE49-F238E27FC236}">
                    <a16:creationId xmlns:a16="http://schemas.microsoft.com/office/drawing/2014/main" id="{539E74FE-2CDC-7822-2241-5D238B5E9AB0}"/>
                  </a:ext>
                </a:extLst>
              </p:cNvPr>
              <p:cNvSpPr txBox="1">
                <a:spLocks noRot="1" noChangeAspect="1" noMove="1" noResize="1" noEditPoints="1" noAdjustHandles="1" noChangeArrowheads="1" noChangeShapeType="1" noTextEdit="1"/>
              </p:cNvSpPr>
              <p:nvPr/>
            </p:nvSpPr>
            <p:spPr>
              <a:xfrm>
                <a:off x="6993118" y="4582652"/>
                <a:ext cx="3759051" cy="900496"/>
              </a:xfrm>
              <a:prstGeom prst="rect">
                <a:avLst/>
              </a:prstGeom>
              <a:blipFill>
                <a:blip r:embed="rId6"/>
                <a:stretch>
                  <a:fillRect/>
                </a:stretch>
              </a:blipFill>
            </p:spPr>
            <p:txBody>
              <a:bodyPr/>
              <a:lstStyle/>
              <a:p>
                <a:r>
                  <a:rPr lang="en-NZ">
                    <a:noFill/>
                  </a:rPr>
                  <a:t> </a:t>
                </a:r>
              </a:p>
            </p:txBody>
          </p:sp>
        </mc:Fallback>
      </mc:AlternateContent>
    </p:spTree>
    <p:extLst>
      <p:ext uri="{BB962C8B-B14F-4D97-AF65-F5344CB8AC3E}">
        <p14:creationId xmlns:p14="http://schemas.microsoft.com/office/powerpoint/2010/main" val="2936219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13" grpId="0"/>
      <p:bldP spid="16" grpId="0"/>
      <p:bldP spid="17" grpId="0"/>
      <p:bldP spid="18" grpId="0"/>
      <p:bldP spid="19" grpId="0"/>
      <p:bldP spid="2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4" name="Title 6">
            <a:extLst>
              <a:ext uri="{FF2B5EF4-FFF2-40B4-BE49-F238E27FC236}">
                <a16:creationId xmlns:a16="http://schemas.microsoft.com/office/drawing/2014/main" id="{18EFAA1F-58F5-B8DC-5203-016AF3661A4C}"/>
              </a:ext>
            </a:extLst>
          </p:cNvPr>
          <p:cNvSpPr txBox="1">
            <a:spLocks/>
          </p:cNvSpPr>
          <p:nvPr/>
        </p:nvSpPr>
        <p:spPr>
          <a:xfrm>
            <a:off x="319463" y="196889"/>
            <a:ext cx="8168429" cy="607201"/>
          </a:xfrm>
          <a:prstGeom prst="rect">
            <a:avLst/>
          </a:prstGeom>
        </p:spPr>
        <p:txBody>
          <a:bodyPr anchor="t">
            <a:normAutofit fontScale="925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10.4b – How Does the G&amp;R Diagnostic Work</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5" name="Footer Placeholder 2">
            <a:extLst>
              <a:ext uri="{FF2B5EF4-FFF2-40B4-BE49-F238E27FC236}">
                <a16:creationId xmlns:a16="http://schemas.microsoft.com/office/drawing/2014/main" id="{CE1BC482-63C5-C7CB-8FB1-F710CF896763}"/>
              </a:ext>
            </a:extLst>
          </p:cNvPr>
          <p:cNvSpPr txBox="1">
            <a:spLocks/>
          </p:cNvSpPr>
          <p:nvPr/>
        </p:nvSpPr>
        <p:spPr>
          <a:xfrm>
            <a:off x="8993875" y="86139"/>
            <a:ext cx="309549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10.4 – Gelman &amp; Rubin Diagnostic</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38" name="Text Placeholder 5">
            <a:extLst>
              <a:ext uri="{FF2B5EF4-FFF2-40B4-BE49-F238E27FC236}">
                <a16:creationId xmlns:a16="http://schemas.microsoft.com/office/drawing/2014/main" id="{4A0C7041-80E2-0602-E073-27804A3189F5}"/>
              </a:ext>
            </a:extLst>
          </p:cNvPr>
          <p:cNvSpPr txBox="1">
            <a:spLocks/>
          </p:cNvSpPr>
          <p:nvPr/>
        </p:nvSpPr>
        <p:spPr>
          <a:xfrm>
            <a:off x="319462" y="882991"/>
            <a:ext cx="6949845" cy="3920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b="1" dirty="0">
                <a:solidFill>
                  <a:srgbClr val="0070C0"/>
                </a:solidFill>
              </a:rPr>
              <a:t>Weighted Average Estimate of the Variance of the Target Distribution:</a:t>
            </a:r>
            <a:endParaRPr lang="en-NZ" altLang="ja-JP" sz="1800" dirty="0">
              <a:solidFill>
                <a:srgbClr val="0070C0"/>
              </a:solidFill>
            </a:endParaRPr>
          </a:p>
        </p:txBody>
      </p:sp>
      <p:sp>
        <p:nvSpPr>
          <p:cNvPr id="27" name="Text Placeholder 5">
            <a:extLst>
              <a:ext uri="{FF2B5EF4-FFF2-40B4-BE49-F238E27FC236}">
                <a16:creationId xmlns:a16="http://schemas.microsoft.com/office/drawing/2014/main" id="{998DE729-4722-2D0F-F4D4-926FF424C8D7}"/>
              </a:ext>
            </a:extLst>
          </p:cNvPr>
          <p:cNvSpPr txBox="1">
            <a:spLocks/>
          </p:cNvSpPr>
          <p:nvPr/>
        </p:nvSpPr>
        <p:spPr>
          <a:xfrm>
            <a:off x="319462" y="1397650"/>
            <a:ext cx="11311811" cy="39203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600" dirty="0">
                <a:solidFill>
                  <a:schemeClr val="tx1"/>
                </a:solidFill>
              </a:rPr>
              <a:t>The variance of the target distribution can be estimated as a weighted average of </a:t>
            </a:r>
            <a:r>
              <a:rPr lang="en-NZ" altLang="ja-JP" sz="1600" b="1" i="1" dirty="0">
                <a:solidFill>
                  <a:schemeClr val="tx1"/>
                </a:solidFill>
              </a:rPr>
              <a:t>W(n</a:t>
            </a:r>
            <a:r>
              <a:rPr lang="en-NZ" altLang="ja-JP" sz="1600" dirty="0">
                <a:solidFill>
                  <a:schemeClr val="tx1"/>
                </a:solidFill>
              </a:rPr>
              <a:t>) and </a:t>
            </a:r>
            <a:r>
              <a:rPr lang="en-NZ" altLang="ja-JP" sz="1600" b="1" i="1" dirty="0">
                <a:solidFill>
                  <a:schemeClr val="tx1"/>
                </a:solidFill>
              </a:rPr>
              <a:t>B(n</a:t>
            </a:r>
            <a:r>
              <a:rPr lang="en-NZ" altLang="ja-JP" sz="1600" dirty="0">
                <a:solidFill>
                  <a:schemeClr val="tx1"/>
                </a:solidFill>
              </a:rPr>
              <a:t>) such that</a:t>
            </a:r>
          </a:p>
        </p:txBody>
      </p:sp>
      <mc:AlternateContent xmlns:mc="http://schemas.openxmlformats.org/markup-compatibility/2006" xmlns:a14="http://schemas.microsoft.com/office/drawing/2010/main">
        <mc:Choice Requires="a14">
          <p:sp>
            <p:nvSpPr>
              <p:cNvPr id="28" name="Text Placeholder 5">
                <a:extLst>
                  <a:ext uri="{FF2B5EF4-FFF2-40B4-BE49-F238E27FC236}">
                    <a16:creationId xmlns:a16="http://schemas.microsoft.com/office/drawing/2014/main" id="{558FA760-9C32-EC50-FBD4-80D4D5AB40BD}"/>
                  </a:ext>
                </a:extLst>
              </p:cNvPr>
              <p:cNvSpPr txBox="1">
                <a:spLocks/>
              </p:cNvSpPr>
              <p:nvPr/>
            </p:nvSpPr>
            <p:spPr>
              <a:xfrm>
                <a:off x="319462" y="1806083"/>
                <a:ext cx="11311811"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acc>
                        <m:accPr>
                          <m:chr m:val="̂"/>
                          <m:ctrlPr>
                            <a:rPr lang="en-NZ" altLang="ja-JP" sz="1800" b="1" i="1" smtClean="0">
                              <a:solidFill>
                                <a:schemeClr val="tx1"/>
                              </a:solidFill>
                              <a:latin typeface="Cambria Math" panose="02040503050406030204" pitchFamily="18" charset="0"/>
                            </a:rPr>
                          </m:ctrlPr>
                        </m:accPr>
                        <m:e>
                          <m:r>
                            <a:rPr lang="en-NZ" altLang="ja-JP" sz="1800" b="1" i="1" smtClean="0">
                              <a:solidFill>
                                <a:schemeClr val="tx1"/>
                              </a:solidFill>
                              <a:latin typeface="Cambria Math" panose="02040503050406030204" pitchFamily="18" charset="0"/>
                            </a:rPr>
                            <m:t>𝑽𝒂𝒓</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𝑿</m:t>
                          </m:r>
                          <m:r>
                            <a:rPr lang="en-NZ" altLang="ja-JP" sz="1800" b="1" i="1" smtClean="0">
                              <a:solidFill>
                                <a:schemeClr val="tx1"/>
                              </a:solidFill>
                              <a:latin typeface="Cambria Math" panose="02040503050406030204" pitchFamily="18" charset="0"/>
                            </a:rPr>
                            <m:t>)</m:t>
                          </m:r>
                        </m:e>
                      </m:acc>
                      <m:r>
                        <a:rPr lang="en-NZ" altLang="ja-JP" sz="1800" b="1" i="1" smtClean="0">
                          <a:solidFill>
                            <a:schemeClr val="tx1"/>
                          </a:solidFill>
                          <a:latin typeface="Cambria Math" panose="02040503050406030204" pitchFamily="18" charset="0"/>
                        </a:rPr>
                        <m:t> =  </m:t>
                      </m:r>
                      <m:d>
                        <m:dPr>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𝟏</m:t>
                          </m:r>
                          <m:r>
                            <a:rPr lang="en-NZ" altLang="ja-JP" sz="1800" b="1" i="1" smtClean="0">
                              <a:solidFill>
                                <a:schemeClr val="tx1"/>
                              </a:solidFill>
                              <a:latin typeface="Cambria Math" panose="02040503050406030204" pitchFamily="18" charset="0"/>
                            </a:rPr>
                            <m:t> − </m:t>
                          </m:r>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𝟏</m:t>
                              </m:r>
                            </m:num>
                            <m:den>
                              <m:r>
                                <a:rPr lang="en-NZ" altLang="ja-JP" sz="1800" b="1" i="1" smtClean="0">
                                  <a:solidFill>
                                    <a:schemeClr val="tx1"/>
                                  </a:solidFill>
                                  <a:latin typeface="Cambria Math" panose="02040503050406030204" pitchFamily="18" charset="0"/>
                                </a:rPr>
                                <m:t>𝒏</m:t>
                              </m:r>
                            </m:den>
                          </m:f>
                        </m:e>
                      </m:d>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𝑾</m:t>
                      </m:r>
                      <m:d>
                        <m:dPr>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𝒏</m:t>
                          </m:r>
                        </m:e>
                      </m:d>
                      <m:r>
                        <a:rPr lang="en-NZ" altLang="ja-JP" sz="1800" b="1" i="1" smtClean="0">
                          <a:solidFill>
                            <a:schemeClr val="tx1"/>
                          </a:solidFill>
                          <a:latin typeface="Cambria Math" panose="02040503050406030204" pitchFamily="18" charset="0"/>
                        </a:rPr>
                        <m:t> +   </m:t>
                      </m:r>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𝟏</m:t>
                          </m:r>
                        </m:num>
                        <m:den>
                          <m:r>
                            <a:rPr lang="en-NZ" altLang="ja-JP" sz="1800" b="1" i="1" smtClean="0">
                              <a:solidFill>
                                <a:schemeClr val="tx1"/>
                              </a:solidFill>
                              <a:latin typeface="Cambria Math" panose="02040503050406030204" pitchFamily="18" charset="0"/>
                            </a:rPr>
                            <m:t>𝒏</m:t>
                          </m:r>
                        </m:den>
                      </m:f>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𝑩</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𝒏</m:t>
                      </m:r>
                      <m:r>
                        <a:rPr lang="en-NZ" altLang="ja-JP" sz="1800" b="1" i="1" smtClean="0">
                          <a:solidFill>
                            <a:schemeClr val="tx1"/>
                          </a:solidFill>
                          <a:latin typeface="Cambria Math" panose="02040503050406030204" pitchFamily="18" charset="0"/>
                        </a:rPr>
                        <m:t>)</m:t>
                      </m:r>
                    </m:oMath>
                  </m:oMathPara>
                </a14:m>
                <a:endParaRPr lang="en-NZ" altLang="ja-JP" sz="1800" b="1" dirty="0">
                  <a:solidFill>
                    <a:schemeClr val="tx1"/>
                  </a:solidFill>
                </a:endParaRPr>
              </a:p>
            </p:txBody>
          </p:sp>
        </mc:Choice>
        <mc:Fallback xmlns="">
          <p:sp>
            <p:nvSpPr>
              <p:cNvPr id="28" name="Text Placeholder 5">
                <a:extLst>
                  <a:ext uri="{FF2B5EF4-FFF2-40B4-BE49-F238E27FC236}">
                    <a16:creationId xmlns:a16="http://schemas.microsoft.com/office/drawing/2014/main" id="{558FA760-9C32-EC50-FBD4-80D4D5AB40BD}"/>
                  </a:ext>
                </a:extLst>
              </p:cNvPr>
              <p:cNvSpPr txBox="1">
                <a:spLocks noRot="1" noChangeAspect="1" noMove="1" noResize="1" noEditPoints="1" noAdjustHandles="1" noChangeArrowheads="1" noChangeShapeType="1" noTextEdit="1"/>
              </p:cNvSpPr>
              <p:nvPr/>
            </p:nvSpPr>
            <p:spPr>
              <a:xfrm>
                <a:off x="319462" y="1806083"/>
                <a:ext cx="11311811" cy="675343"/>
              </a:xfrm>
              <a:prstGeom prst="rect">
                <a:avLst/>
              </a:prstGeom>
              <a:blipFill>
                <a:blip r:embed="rId3"/>
                <a:stretch>
                  <a:fillRect/>
                </a:stretch>
              </a:blipFill>
            </p:spPr>
            <p:txBody>
              <a:bodyPr/>
              <a:lstStyle/>
              <a:p>
                <a:r>
                  <a:rPr lang="en-NZ">
                    <a:noFill/>
                  </a:rPr>
                  <a:t> </a:t>
                </a:r>
              </a:p>
            </p:txBody>
          </p:sp>
        </mc:Fallback>
      </mc:AlternateContent>
      <p:sp>
        <p:nvSpPr>
          <p:cNvPr id="29" name="Text Placeholder 5">
            <a:extLst>
              <a:ext uri="{FF2B5EF4-FFF2-40B4-BE49-F238E27FC236}">
                <a16:creationId xmlns:a16="http://schemas.microsoft.com/office/drawing/2014/main" id="{DD33411C-BE5E-3681-7771-CA11D0DDBC32}"/>
              </a:ext>
            </a:extLst>
          </p:cNvPr>
          <p:cNvSpPr txBox="1">
            <a:spLocks/>
          </p:cNvSpPr>
          <p:nvPr/>
        </p:nvSpPr>
        <p:spPr>
          <a:xfrm>
            <a:off x="319462" y="2568689"/>
            <a:ext cx="11311811"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600" dirty="0">
                <a:solidFill>
                  <a:schemeClr val="tx1"/>
                </a:solidFill>
              </a:rPr>
              <a:t>Due to the (purposeful) over-dispersion of starting values, if the chains have not converged, then this will </a:t>
            </a:r>
            <a:r>
              <a:rPr lang="en-NZ" altLang="ja-JP" sz="1600" b="1" dirty="0">
                <a:solidFill>
                  <a:schemeClr val="tx1"/>
                </a:solidFill>
              </a:rPr>
              <a:t>overestimate</a:t>
            </a:r>
            <a:r>
              <a:rPr lang="en-NZ" altLang="ja-JP" sz="1600" dirty="0">
                <a:solidFill>
                  <a:schemeClr val="tx1"/>
                </a:solidFill>
              </a:rPr>
              <a:t> </a:t>
            </a:r>
            <a:br>
              <a:rPr lang="en-NZ" altLang="ja-JP" sz="1600" dirty="0">
                <a:solidFill>
                  <a:schemeClr val="tx1"/>
                </a:solidFill>
              </a:rPr>
            </a:br>
            <a:r>
              <a:rPr lang="en-NZ" altLang="ja-JP" sz="1600" dirty="0">
                <a:solidFill>
                  <a:schemeClr val="tx1"/>
                </a:solidFill>
              </a:rPr>
              <a:t>the variance of the target distribution.</a:t>
            </a:r>
          </a:p>
        </p:txBody>
      </p:sp>
      <p:sp>
        <p:nvSpPr>
          <p:cNvPr id="30" name="Text Placeholder 5">
            <a:extLst>
              <a:ext uri="{FF2B5EF4-FFF2-40B4-BE49-F238E27FC236}">
                <a16:creationId xmlns:a16="http://schemas.microsoft.com/office/drawing/2014/main" id="{ED46015B-9E23-1734-C6FA-3C9B24561F5C}"/>
              </a:ext>
            </a:extLst>
          </p:cNvPr>
          <p:cNvSpPr txBox="1">
            <a:spLocks/>
          </p:cNvSpPr>
          <p:nvPr/>
        </p:nvSpPr>
        <p:spPr>
          <a:xfrm>
            <a:off x="319461" y="3494097"/>
            <a:ext cx="6949845" cy="3920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b="1" dirty="0">
                <a:solidFill>
                  <a:srgbClr val="0070C0"/>
                </a:solidFill>
              </a:rPr>
              <a:t>Potential Scale Reduction Factor (PSRF):</a:t>
            </a:r>
            <a:endParaRPr lang="en-NZ" altLang="ja-JP" sz="1800" dirty="0">
              <a:solidFill>
                <a:srgbClr val="0070C0"/>
              </a:solidFill>
            </a:endParaRPr>
          </a:p>
        </p:txBody>
      </p:sp>
      <mc:AlternateContent xmlns:mc="http://schemas.openxmlformats.org/markup-compatibility/2006" xmlns:a14="http://schemas.microsoft.com/office/drawing/2010/main">
        <mc:Choice Requires="a14">
          <p:sp>
            <p:nvSpPr>
              <p:cNvPr id="31" name="Text Placeholder 5">
                <a:extLst>
                  <a:ext uri="{FF2B5EF4-FFF2-40B4-BE49-F238E27FC236}">
                    <a16:creationId xmlns:a16="http://schemas.microsoft.com/office/drawing/2014/main" id="{EE4CFDDB-2EA9-7406-DD0A-90BE489FF450}"/>
                  </a:ext>
                </a:extLst>
              </p:cNvPr>
              <p:cNvSpPr txBox="1">
                <a:spLocks/>
              </p:cNvSpPr>
              <p:nvPr/>
            </p:nvSpPr>
            <p:spPr>
              <a:xfrm>
                <a:off x="472319" y="4008757"/>
                <a:ext cx="3759051" cy="89614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r>
                        <a:rPr lang="en-NZ" altLang="ja-JP" sz="1800" b="1" i="1" smtClean="0">
                          <a:solidFill>
                            <a:schemeClr val="tx1"/>
                          </a:solidFill>
                          <a:latin typeface="Cambria Math" panose="02040503050406030204" pitchFamily="18" charset="0"/>
                        </a:rPr>
                        <m:t>𝑷𝑺𝑹𝑭</m:t>
                      </m:r>
                      <m:r>
                        <a:rPr lang="en-NZ" altLang="ja-JP" sz="1800" b="1" i="1" smtClean="0">
                          <a:solidFill>
                            <a:schemeClr val="tx1"/>
                          </a:solidFill>
                          <a:latin typeface="Cambria Math" panose="02040503050406030204" pitchFamily="18" charset="0"/>
                        </a:rPr>
                        <m:t> ≡  </m:t>
                      </m:r>
                      <m:acc>
                        <m:accPr>
                          <m:chr m:val="̂"/>
                          <m:ctrlPr>
                            <a:rPr lang="en-NZ" altLang="ja-JP" sz="1800" b="1" i="1" smtClean="0">
                              <a:solidFill>
                                <a:schemeClr val="tx1"/>
                              </a:solidFill>
                              <a:latin typeface="Cambria Math" panose="02040503050406030204" pitchFamily="18" charset="0"/>
                            </a:rPr>
                          </m:ctrlPr>
                        </m:accPr>
                        <m:e>
                          <m:r>
                            <a:rPr lang="en-NZ" altLang="ja-JP" sz="1800" b="1" i="1" smtClean="0">
                              <a:solidFill>
                                <a:schemeClr val="tx1"/>
                              </a:solidFill>
                              <a:latin typeface="Cambria Math" panose="02040503050406030204" pitchFamily="18" charset="0"/>
                            </a:rPr>
                            <m:t>𝑹</m:t>
                          </m:r>
                        </m:e>
                      </m:acc>
                      <m:r>
                        <a:rPr lang="en-NZ" altLang="ja-JP" sz="1800" b="1" i="1" smtClean="0">
                          <a:solidFill>
                            <a:schemeClr val="tx1"/>
                          </a:solidFill>
                          <a:latin typeface="Cambria Math" panose="02040503050406030204" pitchFamily="18" charset="0"/>
                        </a:rPr>
                        <m:t> =  </m:t>
                      </m:r>
                      <m:rad>
                        <m:radPr>
                          <m:degHide m:val="on"/>
                          <m:ctrlPr>
                            <a:rPr lang="en-NZ" altLang="ja-JP" sz="1800" b="1" i="1" smtClean="0">
                              <a:solidFill>
                                <a:schemeClr val="tx1"/>
                              </a:solidFill>
                              <a:latin typeface="Cambria Math" panose="02040503050406030204" pitchFamily="18" charset="0"/>
                            </a:rPr>
                          </m:ctrlPr>
                        </m:radPr>
                        <m:deg/>
                        <m:e>
                          <m:f>
                            <m:fPr>
                              <m:ctrlPr>
                                <a:rPr lang="en-NZ" altLang="ja-JP" sz="1800" b="1" i="1" smtClean="0">
                                  <a:solidFill>
                                    <a:schemeClr val="tx1"/>
                                  </a:solidFill>
                                  <a:latin typeface="Cambria Math" panose="02040503050406030204" pitchFamily="18" charset="0"/>
                                </a:rPr>
                              </m:ctrlPr>
                            </m:fPr>
                            <m:num>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𝑽𝒂𝒓</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𝑿</m:t>
                                  </m:r>
                                  <m:r>
                                    <a:rPr lang="en-NZ" altLang="ja-JP" sz="1800" b="1" i="1">
                                      <a:solidFill>
                                        <a:schemeClr val="tx1"/>
                                      </a:solidFill>
                                      <a:latin typeface="Cambria Math" panose="02040503050406030204" pitchFamily="18" charset="0"/>
                                    </a:rPr>
                                    <m:t>)</m:t>
                                  </m:r>
                                </m:e>
                              </m:acc>
                            </m:num>
                            <m:den>
                              <m:r>
                                <a:rPr lang="en-NZ" altLang="ja-JP" sz="1800" b="1" i="1" smtClean="0">
                                  <a:solidFill>
                                    <a:schemeClr val="tx1"/>
                                  </a:solidFill>
                                  <a:latin typeface="Cambria Math" panose="02040503050406030204" pitchFamily="18" charset="0"/>
                                </a:rPr>
                                <m:t>𝑾</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𝒏</m:t>
                              </m:r>
                              <m:r>
                                <a:rPr lang="en-NZ" altLang="ja-JP" sz="1800" b="1" i="1" smtClean="0">
                                  <a:solidFill>
                                    <a:schemeClr val="tx1"/>
                                  </a:solidFill>
                                  <a:latin typeface="Cambria Math" panose="02040503050406030204" pitchFamily="18" charset="0"/>
                                </a:rPr>
                                <m:t>)</m:t>
                              </m:r>
                            </m:den>
                          </m:f>
                        </m:e>
                      </m:rad>
                    </m:oMath>
                  </m:oMathPara>
                </a14:m>
                <a:endParaRPr lang="en-NZ" altLang="ja-JP" sz="1800" b="1" dirty="0">
                  <a:solidFill>
                    <a:schemeClr val="tx1"/>
                  </a:solidFill>
                </a:endParaRPr>
              </a:p>
            </p:txBody>
          </p:sp>
        </mc:Choice>
        <mc:Fallback xmlns="">
          <p:sp>
            <p:nvSpPr>
              <p:cNvPr id="31" name="Text Placeholder 5">
                <a:extLst>
                  <a:ext uri="{FF2B5EF4-FFF2-40B4-BE49-F238E27FC236}">
                    <a16:creationId xmlns:a16="http://schemas.microsoft.com/office/drawing/2014/main" id="{EE4CFDDB-2EA9-7406-DD0A-90BE489FF450}"/>
                  </a:ext>
                </a:extLst>
              </p:cNvPr>
              <p:cNvSpPr txBox="1">
                <a:spLocks noRot="1" noChangeAspect="1" noMove="1" noResize="1" noEditPoints="1" noAdjustHandles="1" noChangeArrowheads="1" noChangeShapeType="1" noTextEdit="1"/>
              </p:cNvSpPr>
              <p:nvPr/>
            </p:nvSpPr>
            <p:spPr>
              <a:xfrm>
                <a:off x="472319" y="4008757"/>
                <a:ext cx="3759051" cy="896141"/>
              </a:xfrm>
              <a:prstGeom prst="rect">
                <a:avLst/>
              </a:prstGeom>
              <a:blipFill>
                <a:blip r:embed="rId4"/>
                <a:stretch>
                  <a:fillRect/>
                </a:stretch>
              </a:blipFill>
            </p:spPr>
            <p:txBody>
              <a:bodyPr/>
              <a:lstStyle/>
              <a:p>
                <a:r>
                  <a:rPr lang="en-NZ">
                    <a:noFill/>
                  </a:rPr>
                  <a:t> </a:t>
                </a:r>
              </a:p>
            </p:txBody>
          </p:sp>
        </mc:Fallback>
      </mc:AlternateContent>
      <p:cxnSp>
        <p:nvCxnSpPr>
          <p:cNvPr id="34" name="Straight Arrow Connector 33">
            <a:extLst>
              <a:ext uri="{FF2B5EF4-FFF2-40B4-BE49-F238E27FC236}">
                <a16:creationId xmlns:a16="http://schemas.microsoft.com/office/drawing/2014/main" id="{D6474276-C5CF-A7AE-CF98-8C1A2D5FA3BA}"/>
              </a:ext>
            </a:extLst>
          </p:cNvPr>
          <p:cNvCxnSpPr>
            <a:cxnSpLocks/>
          </p:cNvCxnSpPr>
          <p:nvPr/>
        </p:nvCxnSpPr>
        <p:spPr>
          <a:xfrm>
            <a:off x="3794383" y="4354286"/>
            <a:ext cx="6092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1B6584FC-6965-9693-5D88-CF66C2623AD5}"/>
              </a:ext>
            </a:extLst>
          </p:cNvPr>
          <p:cNvCxnSpPr>
            <a:cxnSpLocks/>
          </p:cNvCxnSpPr>
          <p:nvPr/>
        </p:nvCxnSpPr>
        <p:spPr>
          <a:xfrm>
            <a:off x="3794383" y="4709886"/>
            <a:ext cx="6092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Text Placeholder 5">
            <a:extLst>
              <a:ext uri="{FF2B5EF4-FFF2-40B4-BE49-F238E27FC236}">
                <a16:creationId xmlns:a16="http://schemas.microsoft.com/office/drawing/2014/main" id="{2226F1CB-93EE-7F8B-66D8-C51EB0707D14}"/>
              </a:ext>
            </a:extLst>
          </p:cNvPr>
          <p:cNvSpPr txBox="1">
            <a:spLocks/>
          </p:cNvSpPr>
          <p:nvPr/>
        </p:nvSpPr>
        <p:spPr>
          <a:xfrm>
            <a:off x="4575930" y="4049867"/>
            <a:ext cx="3508527" cy="61527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400" b="1" dirty="0">
                <a:solidFill>
                  <a:schemeClr val="bg2">
                    <a:lumMod val="50000"/>
                  </a:schemeClr>
                </a:solidFill>
              </a:rPr>
              <a:t>Overestimates</a:t>
            </a:r>
            <a:r>
              <a:rPr lang="en-NZ" altLang="ja-JP" sz="1400" dirty="0">
                <a:solidFill>
                  <a:schemeClr val="bg2">
                    <a:lumMod val="50000"/>
                  </a:schemeClr>
                </a:solidFill>
              </a:rPr>
              <a:t> variance of target distribution if chains have not converged.</a:t>
            </a:r>
          </a:p>
        </p:txBody>
      </p:sp>
      <p:sp>
        <p:nvSpPr>
          <p:cNvPr id="37" name="Text Placeholder 5">
            <a:extLst>
              <a:ext uri="{FF2B5EF4-FFF2-40B4-BE49-F238E27FC236}">
                <a16:creationId xmlns:a16="http://schemas.microsoft.com/office/drawing/2014/main" id="{3CA6CD9B-E206-EC2E-340F-B7F7BC937906}"/>
              </a:ext>
            </a:extLst>
          </p:cNvPr>
          <p:cNvSpPr txBox="1">
            <a:spLocks/>
          </p:cNvSpPr>
          <p:nvPr/>
        </p:nvSpPr>
        <p:spPr>
          <a:xfrm>
            <a:off x="4575930" y="4591171"/>
            <a:ext cx="3624641" cy="61527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400" b="1" dirty="0">
                <a:solidFill>
                  <a:schemeClr val="bg2">
                    <a:lumMod val="50000"/>
                  </a:schemeClr>
                </a:solidFill>
              </a:rPr>
              <a:t>Underestimates</a:t>
            </a:r>
            <a:r>
              <a:rPr lang="en-NZ" altLang="ja-JP" sz="1400" dirty="0">
                <a:solidFill>
                  <a:schemeClr val="bg2">
                    <a:lumMod val="50000"/>
                  </a:schemeClr>
                </a:solidFill>
              </a:rPr>
              <a:t> variance of target distribution if chains have not converged.</a:t>
            </a:r>
          </a:p>
        </p:txBody>
      </p:sp>
      <mc:AlternateContent xmlns:mc="http://schemas.openxmlformats.org/markup-compatibility/2006" xmlns:a14="http://schemas.microsoft.com/office/drawing/2010/main">
        <mc:Choice Requires="a14">
          <p:sp>
            <p:nvSpPr>
              <p:cNvPr id="39" name="Text Placeholder 5">
                <a:extLst>
                  <a:ext uri="{FF2B5EF4-FFF2-40B4-BE49-F238E27FC236}">
                    <a16:creationId xmlns:a16="http://schemas.microsoft.com/office/drawing/2014/main" id="{DDE18025-4EA0-1FFF-9127-8BB30E9378AE}"/>
                  </a:ext>
                </a:extLst>
              </p:cNvPr>
              <p:cNvSpPr txBox="1">
                <a:spLocks/>
              </p:cNvSpPr>
              <p:nvPr/>
            </p:nvSpPr>
            <p:spPr>
              <a:xfrm>
                <a:off x="7936609" y="4153255"/>
                <a:ext cx="3759051" cy="50111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𝑷𝑺𝑹𝑭</m:t>
                      </m:r>
                      <m:r>
                        <a:rPr lang="en-NZ" altLang="ja-JP" sz="1800" b="1" i="1" smtClean="0">
                          <a:solidFill>
                            <a:schemeClr val="tx1"/>
                          </a:solidFill>
                          <a:latin typeface="Cambria Math" panose="02040503050406030204" pitchFamily="18" charset="0"/>
                        </a:rPr>
                        <m:t> ≡  </m:t>
                      </m:r>
                      <m:acc>
                        <m:accPr>
                          <m:chr m:val="̂"/>
                          <m:ctrlPr>
                            <a:rPr lang="en-NZ" altLang="ja-JP" sz="1800" b="1" i="1" smtClean="0">
                              <a:solidFill>
                                <a:schemeClr val="tx1"/>
                              </a:solidFill>
                              <a:latin typeface="Cambria Math" panose="02040503050406030204" pitchFamily="18" charset="0"/>
                            </a:rPr>
                          </m:ctrlPr>
                        </m:accPr>
                        <m:e>
                          <m:r>
                            <a:rPr lang="en-NZ" altLang="ja-JP" sz="1800" b="1" i="1" smtClean="0">
                              <a:solidFill>
                                <a:schemeClr val="tx1"/>
                              </a:solidFill>
                              <a:latin typeface="Cambria Math" panose="02040503050406030204" pitchFamily="18" charset="0"/>
                            </a:rPr>
                            <m:t>𝑹</m:t>
                          </m:r>
                        </m:e>
                      </m:acc>
                      <m:r>
                        <a:rPr lang="en-NZ" altLang="ja-JP" sz="1800" b="1" i="1" smtClean="0">
                          <a:solidFill>
                            <a:schemeClr val="tx1"/>
                          </a:solidFill>
                          <a:latin typeface="Cambria Math" panose="02040503050406030204" pitchFamily="18" charset="0"/>
                        </a:rPr>
                        <m:t> →  </m:t>
                      </m:r>
                      <m:sSup>
                        <m:sSupPr>
                          <m:ctrlPr>
                            <a:rPr lang="en-NZ" altLang="ja-JP" sz="1800" b="1" i="1" smtClean="0">
                              <a:solidFill>
                                <a:schemeClr val="tx1"/>
                              </a:solidFill>
                              <a:latin typeface="Cambria Math" panose="02040503050406030204" pitchFamily="18" charset="0"/>
                            </a:rPr>
                          </m:ctrlPr>
                        </m:sSupPr>
                        <m:e>
                          <m:r>
                            <a:rPr lang="en-NZ" altLang="ja-JP" sz="1800" b="1" i="1" smtClean="0">
                              <a:solidFill>
                                <a:schemeClr val="tx1"/>
                              </a:solidFill>
                              <a:latin typeface="Cambria Math" panose="02040503050406030204" pitchFamily="18" charset="0"/>
                            </a:rPr>
                            <m:t>𝟏</m:t>
                          </m:r>
                        </m:e>
                        <m:sup>
                          <m:r>
                            <a:rPr lang="en-NZ" altLang="ja-JP" sz="1800" b="1" i="1" smtClean="0">
                              <a:solidFill>
                                <a:schemeClr val="tx1"/>
                              </a:solidFill>
                              <a:latin typeface="Cambria Math" panose="02040503050406030204" pitchFamily="18" charset="0"/>
                            </a:rPr>
                            <m:t>+</m:t>
                          </m:r>
                        </m:sup>
                      </m:sSup>
                    </m:oMath>
                  </m:oMathPara>
                </a14:m>
                <a:endParaRPr lang="en-NZ" altLang="ja-JP" sz="1800" b="1" dirty="0">
                  <a:solidFill>
                    <a:schemeClr val="tx1"/>
                  </a:solidFill>
                </a:endParaRPr>
              </a:p>
            </p:txBody>
          </p:sp>
        </mc:Choice>
        <mc:Fallback xmlns="">
          <p:sp>
            <p:nvSpPr>
              <p:cNvPr id="39" name="Text Placeholder 5">
                <a:extLst>
                  <a:ext uri="{FF2B5EF4-FFF2-40B4-BE49-F238E27FC236}">
                    <a16:creationId xmlns:a16="http://schemas.microsoft.com/office/drawing/2014/main" id="{DDE18025-4EA0-1FFF-9127-8BB30E9378AE}"/>
                  </a:ext>
                </a:extLst>
              </p:cNvPr>
              <p:cNvSpPr txBox="1">
                <a:spLocks noRot="1" noChangeAspect="1" noMove="1" noResize="1" noEditPoints="1" noAdjustHandles="1" noChangeArrowheads="1" noChangeShapeType="1" noTextEdit="1"/>
              </p:cNvSpPr>
              <p:nvPr/>
            </p:nvSpPr>
            <p:spPr>
              <a:xfrm>
                <a:off x="7936609" y="4153255"/>
                <a:ext cx="3759051" cy="501114"/>
              </a:xfrm>
              <a:prstGeom prst="rect">
                <a:avLst/>
              </a:prstGeom>
              <a:blipFill>
                <a:blip r:embed="rId5"/>
                <a:stretch>
                  <a:fillRect t="-1205"/>
                </a:stretch>
              </a:blipFill>
            </p:spPr>
            <p:txBody>
              <a:bodyPr/>
              <a:lstStyle/>
              <a:p>
                <a:r>
                  <a:rPr lang="en-NZ">
                    <a:noFill/>
                  </a:rPr>
                  <a:t> </a:t>
                </a:r>
              </a:p>
            </p:txBody>
          </p:sp>
        </mc:Fallback>
      </mc:AlternateContent>
      <mc:AlternateContent xmlns:mc="http://schemas.openxmlformats.org/markup-compatibility/2006">
        <mc:Choice xmlns:a14="http://schemas.microsoft.com/office/drawing/2010/main" Requires="a14">
          <p:sp>
            <p:nvSpPr>
              <p:cNvPr id="40" name="Text Placeholder 5">
                <a:extLst>
                  <a:ext uri="{FF2B5EF4-FFF2-40B4-BE49-F238E27FC236}">
                    <a16:creationId xmlns:a16="http://schemas.microsoft.com/office/drawing/2014/main" id="{D61C6F27-B18A-1CA9-C211-900030959A89}"/>
                  </a:ext>
                </a:extLst>
              </p:cNvPr>
              <p:cNvSpPr txBox="1">
                <a:spLocks/>
              </p:cNvSpPr>
              <p:nvPr/>
            </p:nvSpPr>
            <p:spPr>
              <a:xfrm>
                <a:off x="8028432" y="4407570"/>
                <a:ext cx="3624641" cy="67702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400" dirty="0">
                    <a:solidFill>
                      <a:schemeClr val="bg2">
                        <a:lumMod val="50000"/>
                      </a:schemeClr>
                    </a:solidFill>
                  </a:rPr>
                  <a:t>As </a:t>
                </a:r>
                <a14:m>
                  <m:oMath xmlns:m="http://schemas.openxmlformats.org/officeDocument/2006/math">
                    <m:r>
                      <a:rPr lang="en-NZ" altLang="ja-JP" sz="1400" b="0" i="1" smtClean="0">
                        <a:solidFill>
                          <a:schemeClr val="bg2">
                            <a:lumMod val="50000"/>
                          </a:schemeClr>
                        </a:solidFill>
                        <a:latin typeface="Cambria Math" panose="02040503050406030204" pitchFamily="18" charset="0"/>
                      </a:rPr>
                      <m:t>𝑛</m:t>
                    </m:r>
                    <m:r>
                      <a:rPr lang="en-NZ" altLang="ja-JP" sz="1400" b="0" i="1" smtClean="0">
                        <a:solidFill>
                          <a:schemeClr val="bg2">
                            <a:lumMod val="50000"/>
                          </a:schemeClr>
                        </a:solidFill>
                        <a:latin typeface="Cambria Math" panose="02040503050406030204" pitchFamily="18" charset="0"/>
                      </a:rPr>
                      <m:t>→∞</m:t>
                    </m:r>
                  </m:oMath>
                </a14:m>
                <a:br>
                  <a:rPr lang="en-NZ" altLang="ja-JP" sz="1400" dirty="0">
                    <a:solidFill>
                      <a:schemeClr val="bg2">
                        <a:lumMod val="50000"/>
                      </a:schemeClr>
                    </a:solidFill>
                  </a:rPr>
                </a:br>
                <a:r>
                  <a:rPr lang="en-NZ" altLang="ja-JP" sz="1400" dirty="0">
                    <a:solidFill>
                      <a:schemeClr val="bg2">
                        <a:lumMod val="50000"/>
                      </a:schemeClr>
                    </a:solidFill>
                  </a:rPr>
                  <a:t>i.e. as the chains converge </a:t>
                </a:r>
                <a:br>
                  <a:rPr lang="en-NZ" altLang="ja-JP" sz="1400" dirty="0">
                    <a:solidFill>
                      <a:schemeClr val="bg2">
                        <a:lumMod val="50000"/>
                      </a:schemeClr>
                    </a:solidFill>
                  </a:rPr>
                </a:br>
                <a:r>
                  <a:rPr lang="en-NZ" altLang="ja-JP" sz="1400" dirty="0">
                    <a:solidFill>
                      <a:schemeClr val="bg2">
                        <a:lumMod val="50000"/>
                      </a:schemeClr>
                    </a:solidFill>
                  </a:rPr>
                  <a:t>to the target distribution.</a:t>
                </a:r>
              </a:p>
            </p:txBody>
          </p:sp>
        </mc:Choice>
        <mc:Fallback>
          <p:sp>
            <p:nvSpPr>
              <p:cNvPr id="40" name="Text Placeholder 5">
                <a:extLst>
                  <a:ext uri="{FF2B5EF4-FFF2-40B4-BE49-F238E27FC236}">
                    <a16:creationId xmlns:a16="http://schemas.microsoft.com/office/drawing/2014/main" id="{D61C6F27-B18A-1CA9-C211-900030959A89}"/>
                  </a:ext>
                </a:extLst>
              </p:cNvPr>
              <p:cNvSpPr txBox="1">
                <a:spLocks noRot="1" noChangeAspect="1" noMove="1" noResize="1" noEditPoints="1" noAdjustHandles="1" noChangeArrowheads="1" noChangeShapeType="1" noTextEdit="1"/>
              </p:cNvSpPr>
              <p:nvPr/>
            </p:nvSpPr>
            <p:spPr>
              <a:xfrm>
                <a:off x="8028432" y="4407570"/>
                <a:ext cx="3624641" cy="677021"/>
              </a:xfrm>
              <a:prstGeom prst="rect">
                <a:avLst/>
              </a:prstGeom>
              <a:blipFill>
                <a:blip r:embed="rId6"/>
                <a:stretch>
                  <a:fillRect t="-1802" b="-18018"/>
                </a:stretch>
              </a:blipFill>
            </p:spPr>
            <p:txBody>
              <a:bodyPr/>
              <a:lstStyle/>
              <a:p>
                <a:r>
                  <a:rPr lang="en-NZ">
                    <a:noFill/>
                  </a:rPr>
                  <a:t> </a:t>
                </a:r>
              </a:p>
            </p:txBody>
          </p:sp>
        </mc:Fallback>
      </mc:AlternateContent>
      <mc:AlternateContent xmlns:mc="http://schemas.openxmlformats.org/markup-compatibility/2006">
        <mc:Choice xmlns:a14="http://schemas.microsoft.com/office/drawing/2010/main" Requires="a14">
          <p:sp>
            <p:nvSpPr>
              <p:cNvPr id="41" name="Text Placeholder 5">
                <a:extLst>
                  <a:ext uri="{FF2B5EF4-FFF2-40B4-BE49-F238E27FC236}">
                    <a16:creationId xmlns:a16="http://schemas.microsoft.com/office/drawing/2014/main" id="{C4DC7B18-FF6F-2891-150E-9C5E292A9ED5}"/>
                  </a:ext>
                </a:extLst>
              </p:cNvPr>
              <p:cNvSpPr txBox="1">
                <a:spLocks/>
              </p:cNvSpPr>
              <p:nvPr/>
            </p:nvSpPr>
            <p:spPr>
              <a:xfrm>
                <a:off x="317111" y="5216695"/>
                <a:ext cx="11711116" cy="45387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600" dirty="0">
                    <a:solidFill>
                      <a:schemeClr val="tx1"/>
                    </a:solidFill>
                  </a:rPr>
                  <a:t>As a rule of thumb, if </a:t>
                </a:r>
                <a14:m>
                  <m:oMath xmlns:m="http://schemas.openxmlformats.org/officeDocument/2006/math">
                    <m:r>
                      <a:rPr lang="en-NZ" altLang="ja-JP" sz="1600" b="1" i="1" smtClean="0">
                        <a:solidFill>
                          <a:schemeClr val="tx1"/>
                        </a:solidFill>
                        <a:latin typeface="Cambria Math" panose="02040503050406030204" pitchFamily="18" charset="0"/>
                      </a:rPr>
                      <m:t>𝑷𝑺𝑹𝑭</m:t>
                    </m:r>
                    <m:r>
                      <a:rPr lang="en-NZ" altLang="ja-JP" sz="1600" b="1" i="1" smtClean="0">
                        <a:solidFill>
                          <a:schemeClr val="tx1"/>
                        </a:solidFill>
                        <a:latin typeface="Cambria Math" panose="02040503050406030204" pitchFamily="18" charset="0"/>
                      </a:rPr>
                      <m:t> ≡  </m:t>
                    </m:r>
                    <m:acc>
                      <m:accPr>
                        <m:chr m:val="̂"/>
                        <m:ctrlPr>
                          <a:rPr lang="en-NZ" altLang="ja-JP" sz="1600" b="1" i="1" smtClean="0">
                            <a:solidFill>
                              <a:schemeClr val="tx1"/>
                            </a:solidFill>
                            <a:latin typeface="Cambria Math" panose="02040503050406030204" pitchFamily="18" charset="0"/>
                          </a:rPr>
                        </m:ctrlPr>
                      </m:accPr>
                      <m:e>
                        <m:r>
                          <a:rPr lang="en-NZ" altLang="ja-JP" sz="1600" b="1" i="1" smtClean="0">
                            <a:solidFill>
                              <a:schemeClr val="tx1"/>
                            </a:solidFill>
                            <a:latin typeface="Cambria Math" panose="02040503050406030204" pitchFamily="18" charset="0"/>
                          </a:rPr>
                          <m:t>𝑹</m:t>
                        </m:r>
                      </m:e>
                    </m:acc>
                    <m:r>
                      <a:rPr lang="en-NZ" altLang="ja-JP" sz="1600" b="1" i="1" smtClean="0">
                        <a:solidFill>
                          <a:schemeClr val="tx1"/>
                        </a:solidFill>
                        <a:latin typeface="Cambria Math" panose="02040503050406030204" pitchFamily="18" charset="0"/>
                      </a:rPr>
                      <m:t> &gt;</m:t>
                    </m:r>
                    <m:r>
                      <a:rPr lang="en-NZ" altLang="ja-JP" sz="1600" b="1" i="1" smtClean="0">
                        <a:solidFill>
                          <a:schemeClr val="tx1"/>
                        </a:solidFill>
                        <a:latin typeface="Cambria Math" panose="02040503050406030204" pitchFamily="18" charset="0"/>
                      </a:rPr>
                      <m:t>𝟏</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𝟐</m:t>
                    </m:r>
                    <m:r>
                      <a:rPr lang="en-NZ" altLang="ja-JP" sz="1600" b="1" i="1" smtClean="0">
                        <a:solidFill>
                          <a:schemeClr val="tx1"/>
                        </a:solidFill>
                        <a:latin typeface="Cambria Math" panose="02040503050406030204" pitchFamily="18" charset="0"/>
                      </a:rPr>
                      <m:t> </m:t>
                    </m:r>
                  </m:oMath>
                </a14:m>
                <a:r>
                  <a:rPr lang="en-NZ" altLang="ja-JP" sz="1600" dirty="0">
                    <a:solidFill>
                      <a:schemeClr val="tx1"/>
                    </a:solidFill>
                  </a:rPr>
                  <a:t> we take this as an indication that (at least one of) the chains has not converged. </a:t>
                </a:r>
              </a:p>
            </p:txBody>
          </p:sp>
        </mc:Choice>
        <mc:Fallback>
          <p:sp>
            <p:nvSpPr>
              <p:cNvPr id="41" name="Text Placeholder 5">
                <a:extLst>
                  <a:ext uri="{FF2B5EF4-FFF2-40B4-BE49-F238E27FC236}">
                    <a16:creationId xmlns:a16="http://schemas.microsoft.com/office/drawing/2014/main" id="{C4DC7B18-FF6F-2891-150E-9C5E292A9ED5}"/>
                  </a:ext>
                </a:extLst>
              </p:cNvPr>
              <p:cNvSpPr txBox="1">
                <a:spLocks noRot="1" noChangeAspect="1" noMove="1" noResize="1" noEditPoints="1" noAdjustHandles="1" noChangeArrowheads="1" noChangeShapeType="1" noTextEdit="1"/>
              </p:cNvSpPr>
              <p:nvPr/>
            </p:nvSpPr>
            <p:spPr>
              <a:xfrm>
                <a:off x="317111" y="5216695"/>
                <a:ext cx="11711116" cy="453873"/>
              </a:xfrm>
              <a:prstGeom prst="rect">
                <a:avLst/>
              </a:prstGeom>
              <a:blipFill>
                <a:blip r:embed="rId7"/>
                <a:stretch>
                  <a:fillRect l="-260" t="-1351"/>
                </a:stretch>
              </a:blipFill>
            </p:spPr>
            <p:txBody>
              <a:bodyPr/>
              <a:lstStyle/>
              <a:p>
                <a:r>
                  <a:rPr lang="en-NZ">
                    <a:noFill/>
                  </a:rPr>
                  <a:t> </a:t>
                </a:r>
              </a:p>
            </p:txBody>
          </p:sp>
        </mc:Fallback>
      </mc:AlternateContent>
      <mc:AlternateContent xmlns:mc="http://schemas.openxmlformats.org/markup-compatibility/2006">
        <mc:Choice xmlns:a14="http://schemas.microsoft.com/office/drawing/2010/main" Requires="a14">
          <p:sp>
            <p:nvSpPr>
              <p:cNvPr id="42" name="Text Placeholder 5">
                <a:extLst>
                  <a:ext uri="{FF2B5EF4-FFF2-40B4-BE49-F238E27FC236}">
                    <a16:creationId xmlns:a16="http://schemas.microsoft.com/office/drawing/2014/main" id="{60C83A67-DAF9-6DAD-3213-37E6FAF445ED}"/>
                  </a:ext>
                </a:extLst>
              </p:cNvPr>
              <p:cNvSpPr txBox="1">
                <a:spLocks/>
              </p:cNvSpPr>
              <p:nvPr/>
            </p:nvSpPr>
            <p:spPr>
              <a:xfrm>
                <a:off x="317111" y="5655351"/>
                <a:ext cx="11711116" cy="63931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600" dirty="0">
                    <a:solidFill>
                      <a:schemeClr val="tx1"/>
                    </a:solidFill>
                  </a:rPr>
                  <a:t>If the chain is multi-dimensional, the </a:t>
                </a:r>
                <a:r>
                  <a:rPr lang="en-NZ" altLang="ja-JP" sz="1600" b="1" i="1" dirty="0">
                    <a:solidFill>
                      <a:schemeClr val="tx1"/>
                    </a:solidFill>
                  </a:rPr>
                  <a:t>PSRF</a:t>
                </a:r>
                <a:r>
                  <a:rPr lang="en-NZ" altLang="ja-JP" sz="1600" dirty="0">
                    <a:solidFill>
                      <a:schemeClr val="tx1"/>
                    </a:solidFill>
                  </a:rPr>
                  <a:t> must be calculated for each variable. </a:t>
                </a:r>
                <a:br>
                  <a:rPr lang="en-NZ" altLang="ja-JP" sz="1600" dirty="0">
                    <a:solidFill>
                      <a:schemeClr val="tx1"/>
                    </a:solidFill>
                  </a:rPr>
                </a:br>
                <a:r>
                  <a:rPr lang="en-NZ" altLang="ja-JP" sz="1600" dirty="0">
                    <a:solidFill>
                      <a:schemeClr val="tx1"/>
                    </a:solidFill>
                  </a:rPr>
                  <a:t>Chain length should be sufficiently long so that </a:t>
                </a:r>
                <a14:m>
                  <m:oMath xmlns:m="http://schemas.openxmlformats.org/officeDocument/2006/math">
                    <m:r>
                      <a:rPr lang="en-NZ" altLang="ja-JP" sz="1600" b="1" i="1">
                        <a:solidFill>
                          <a:schemeClr val="tx1"/>
                        </a:solidFill>
                        <a:latin typeface="Cambria Math" panose="02040503050406030204" pitchFamily="18" charset="0"/>
                      </a:rPr>
                      <m:t>𝑷𝑺𝑹𝑭</m:t>
                    </m:r>
                    <m:r>
                      <a:rPr lang="en-NZ" altLang="ja-JP" sz="1600" b="1" i="1">
                        <a:solidFill>
                          <a:schemeClr val="tx1"/>
                        </a:solidFill>
                        <a:latin typeface="Cambria Math" panose="02040503050406030204" pitchFamily="18" charset="0"/>
                      </a:rPr>
                      <m:t> ≡  </m:t>
                    </m:r>
                    <m:acc>
                      <m:accPr>
                        <m:chr m:val="̂"/>
                        <m:ctrlPr>
                          <a:rPr lang="en-NZ" altLang="ja-JP" sz="1600" b="1" i="1">
                            <a:solidFill>
                              <a:schemeClr val="tx1"/>
                            </a:solidFill>
                            <a:latin typeface="Cambria Math" panose="02040503050406030204" pitchFamily="18" charset="0"/>
                          </a:rPr>
                        </m:ctrlPr>
                      </m:accPr>
                      <m:e>
                        <m:r>
                          <a:rPr lang="en-NZ" altLang="ja-JP" sz="1600" b="1" i="1">
                            <a:solidFill>
                              <a:schemeClr val="tx1"/>
                            </a:solidFill>
                            <a:latin typeface="Cambria Math" panose="02040503050406030204" pitchFamily="18" charset="0"/>
                          </a:rPr>
                          <m:t>𝑹</m:t>
                        </m:r>
                      </m:e>
                    </m:acc>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𝟏</m:t>
                    </m:r>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𝟐</m:t>
                    </m:r>
                  </m:oMath>
                </a14:m>
                <a:r>
                  <a:rPr lang="en-NZ" altLang="ja-JP" sz="1600" dirty="0">
                    <a:solidFill>
                      <a:schemeClr val="tx1"/>
                    </a:solidFill>
                  </a:rPr>
                  <a:t> for all variables. </a:t>
                </a:r>
                <a:endParaRPr lang="en-NZ" altLang="ja-JP" sz="1600" dirty="0">
                  <a:solidFill>
                    <a:srgbClr val="C00000"/>
                  </a:solidFill>
                </a:endParaRPr>
              </a:p>
            </p:txBody>
          </p:sp>
        </mc:Choice>
        <mc:Fallback>
          <p:sp>
            <p:nvSpPr>
              <p:cNvPr id="42" name="Text Placeholder 5">
                <a:extLst>
                  <a:ext uri="{FF2B5EF4-FFF2-40B4-BE49-F238E27FC236}">
                    <a16:creationId xmlns:a16="http://schemas.microsoft.com/office/drawing/2014/main" id="{60C83A67-DAF9-6DAD-3213-37E6FAF445ED}"/>
                  </a:ext>
                </a:extLst>
              </p:cNvPr>
              <p:cNvSpPr txBox="1">
                <a:spLocks noRot="1" noChangeAspect="1" noMove="1" noResize="1" noEditPoints="1" noAdjustHandles="1" noChangeArrowheads="1" noChangeShapeType="1" noTextEdit="1"/>
              </p:cNvSpPr>
              <p:nvPr/>
            </p:nvSpPr>
            <p:spPr>
              <a:xfrm>
                <a:off x="317111" y="5655351"/>
                <a:ext cx="11711116" cy="639316"/>
              </a:xfrm>
              <a:prstGeom prst="rect">
                <a:avLst/>
              </a:prstGeom>
              <a:blipFill>
                <a:blip r:embed="rId8"/>
                <a:stretch>
                  <a:fillRect l="-260" t="-2857" b="-4762"/>
                </a:stretch>
              </a:blipFill>
            </p:spPr>
            <p:txBody>
              <a:bodyPr/>
              <a:lstStyle/>
              <a:p>
                <a:r>
                  <a:rPr lang="en-NZ">
                    <a:noFill/>
                  </a:rPr>
                  <a:t> </a:t>
                </a:r>
              </a:p>
            </p:txBody>
          </p:sp>
        </mc:Fallback>
      </mc:AlternateContent>
    </p:spTree>
    <p:extLst>
      <p:ext uri="{BB962C8B-B14F-4D97-AF65-F5344CB8AC3E}">
        <p14:creationId xmlns:p14="http://schemas.microsoft.com/office/powerpoint/2010/main" val="2536724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P spid="36" grpId="0"/>
      <p:bldP spid="37" grpId="0"/>
      <p:bldP spid="39" grpId="0"/>
      <p:bldP spid="40" grpId="0"/>
      <p:bldP spid="41" grpId="0"/>
      <p:bldP spid="4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4" name="Title 6">
            <a:extLst>
              <a:ext uri="{FF2B5EF4-FFF2-40B4-BE49-F238E27FC236}">
                <a16:creationId xmlns:a16="http://schemas.microsoft.com/office/drawing/2014/main" id="{18EFAA1F-58F5-B8DC-5203-016AF3661A4C}"/>
              </a:ext>
            </a:extLst>
          </p:cNvPr>
          <p:cNvSpPr txBox="1">
            <a:spLocks/>
          </p:cNvSpPr>
          <p:nvPr/>
        </p:nvSpPr>
        <p:spPr>
          <a:xfrm>
            <a:off x="319463" y="196889"/>
            <a:ext cx="8168429" cy="607201"/>
          </a:xfrm>
          <a:prstGeom prst="rect">
            <a:avLst/>
          </a:prstGeom>
        </p:spPr>
        <p:txBody>
          <a:bodyPr anchor="t">
            <a:normAutofit fontScale="925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10.4b – How Does the G&amp;R Diagnostic Work</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5" name="Footer Placeholder 2">
            <a:extLst>
              <a:ext uri="{FF2B5EF4-FFF2-40B4-BE49-F238E27FC236}">
                <a16:creationId xmlns:a16="http://schemas.microsoft.com/office/drawing/2014/main" id="{CE1BC482-63C5-C7CB-8FB1-F710CF896763}"/>
              </a:ext>
            </a:extLst>
          </p:cNvPr>
          <p:cNvSpPr txBox="1">
            <a:spLocks/>
          </p:cNvSpPr>
          <p:nvPr/>
        </p:nvSpPr>
        <p:spPr>
          <a:xfrm>
            <a:off x="8993875" y="86139"/>
            <a:ext cx="309549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10.4 – Gelman &amp; Rubin Diagnostic</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38" name="Text Placeholder 5">
            <a:extLst>
              <a:ext uri="{FF2B5EF4-FFF2-40B4-BE49-F238E27FC236}">
                <a16:creationId xmlns:a16="http://schemas.microsoft.com/office/drawing/2014/main" id="{4A0C7041-80E2-0602-E073-27804A3189F5}"/>
              </a:ext>
            </a:extLst>
          </p:cNvPr>
          <p:cNvSpPr txBox="1">
            <a:spLocks/>
          </p:cNvSpPr>
          <p:nvPr/>
        </p:nvSpPr>
        <p:spPr>
          <a:xfrm>
            <a:off x="319462" y="882991"/>
            <a:ext cx="6949845" cy="3920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b="1" dirty="0">
                <a:solidFill>
                  <a:srgbClr val="0070C0"/>
                </a:solidFill>
              </a:rPr>
              <a:t>Weighted Average Estimate of the Variance of the Target Distribution:</a:t>
            </a:r>
            <a:endParaRPr lang="en-NZ" altLang="ja-JP" sz="1800" dirty="0">
              <a:solidFill>
                <a:srgbClr val="0070C0"/>
              </a:solidFill>
            </a:endParaRPr>
          </a:p>
        </p:txBody>
      </p:sp>
      <p:sp>
        <p:nvSpPr>
          <p:cNvPr id="27" name="Text Placeholder 5">
            <a:extLst>
              <a:ext uri="{FF2B5EF4-FFF2-40B4-BE49-F238E27FC236}">
                <a16:creationId xmlns:a16="http://schemas.microsoft.com/office/drawing/2014/main" id="{998DE729-4722-2D0F-F4D4-926FF424C8D7}"/>
              </a:ext>
            </a:extLst>
          </p:cNvPr>
          <p:cNvSpPr txBox="1">
            <a:spLocks/>
          </p:cNvSpPr>
          <p:nvPr/>
        </p:nvSpPr>
        <p:spPr>
          <a:xfrm>
            <a:off x="319462" y="1397650"/>
            <a:ext cx="11311811" cy="39203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600" dirty="0">
                <a:solidFill>
                  <a:schemeClr val="tx1"/>
                </a:solidFill>
              </a:rPr>
              <a:t>The variance of the target distribution can be estimated as a weighted average of </a:t>
            </a:r>
            <a:r>
              <a:rPr lang="en-NZ" altLang="ja-JP" sz="1600" b="1" i="1" dirty="0">
                <a:solidFill>
                  <a:schemeClr val="tx1"/>
                </a:solidFill>
              </a:rPr>
              <a:t>W(n</a:t>
            </a:r>
            <a:r>
              <a:rPr lang="en-NZ" altLang="ja-JP" sz="1600" dirty="0">
                <a:solidFill>
                  <a:schemeClr val="tx1"/>
                </a:solidFill>
              </a:rPr>
              <a:t>) and </a:t>
            </a:r>
            <a:r>
              <a:rPr lang="en-NZ" altLang="ja-JP" sz="1600" b="1" i="1" dirty="0">
                <a:solidFill>
                  <a:schemeClr val="tx1"/>
                </a:solidFill>
              </a:rPr>
              <a:t>B(n</a:t>
            </a:r>
            <a:r>
              <a:rPr lang="en-NZ" altLang="ja-JP" sz="1600" dirty="0">
                <a:solidFill>
                  <a:schemeClr val="tx1"/>
                </a:solidFill>
              </a:rPr>
              <a:t>) such that</a:t>
            </a:r>
          </a:p>
        </p:txBody>
      </p:sp>
      <mc:AlternateContent xmlns:mc="http://schemas.openxmlformats.org/markup-compatibility/2006">
        <mc:Choice xmlns:a14="http://schemas.microsoft.com/office/drawing/2010/main" Requires="a14">
          <p:sp>
            <p:nvSpPr>
              <p:cNvPr id="28" name="Text Placeholder 5">
                <a:extLst>
                  <a:ext uri="{FF2B5EF4-FFF2-40B4-BE49-F238E27FC236}">
                    <a16:creationId xmlns:a16="http://schemas.microsoft.com/office/drawing/2014/main" id="{558FA760-9C32-EC50-FBD4-80D4D5AB40BD}"/>
                  </a:ext>
                </a:extLst>
              </p:cNvPr>
              <p:cNvSpPr txBox="1">
                <a:spLocks/>
              </p:cNvSpPr>
              <p:nvPr/>
            </p:nvSpPr>
            <p:spPr>
              <a:xfrm>
                <a:off x="319462" y="1806083"/>
                <a:ext cx="11311811"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acc>
                        <m:accPr>
                          <m:chr m:val="̂"/>
                          <m:ctrlPr>
                            <a:rPr lang="en-NZ" altLang="ja-JP" sz="1800" b="1" i="1" smtClean="0">
                              <a:solidFill>
                                <a:schemeClr val="tx1"/>
                              </a:solidFill>
                              <a:latin typeface="Cambria Math" panose="02040503050406030204" pitchFamily="18" charset="0"/>
                            </a:rPr>
                          </m:ctrlPr>
                        </m:accPr>
                        <m:e>
                          <m:r>
                            <a:rPr lang="en-NZ" altLang="ja-JP" sz="1800" b="1" i="1" smtClean="0">
                              <a:solidFill>
                                <a:schemeClr val="tx1"/>
                              </a:solidFill>
                              <a:latin typeface="Cambria Math" panose="02040503050406030204" pitchFamily="18" charset="0"/>
                            </a:rPr>
                            <m:t>𝑽𝒂𝒓</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𝑿</m:t>
                          </m:r>
                          <m:r>
                            <a:rPr lang="en-NZ" altLang="ja-JP" sz="1800" b="1" i="1" smtClean="0">
                              <a:solidFill>
                                <a:schemeClr val="tx1"/>
                              </a:solidFill>
                              <a:latin typeface="Cambria Math" panose="02040503050406030204" pitchFamily="18" charset="0"/>
                            </a:rPr>
                            <m:t>)</m:t>
                          </m:r>
                        </m:e>
                      </m:acc>
                      <m:r>
                        <a:rPr lang="en-NZ" altLang="ja-JP" sz="1800" b="1" i="1" smtClean="0">
                          <a:solidFill>
                            <a:schemeClr val="tx1"/>
                          </a:solidFill>
                          <a:latin typeface="Cambria Math" panose="02040503050406030204" pitchFamily="18" charset="0"/>
                        </a:rPr>
                        <m:t> =  </m:t>
                      </m:r>
                      <m:d>
                        <m:dPr>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𝟏</m:t>
                          </m:r>
                          <m:r>
                            <a:rPr lang="en-NZ" altLang="ja-JP" sz="1800" b="1" i="1" smtClean="0">
                              <a:solidFill>
                                <a:schemeClr val="tx1"/>
                              </a:solidFill>
                              <a:latin typeface="Cambria Math" panose="02040503050406030204" pitchFamily="18" charset="0"/>
                            </a:rPr>
                            <m:t> − </m:t>
                          </m:r>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𝟏</m:t>
                              </m:r>
                            </m:num>
                            <m:den>
                              <m:r>
                                <a:rPr lang="en-NZ" altLang="ja-JP" sz="1800" b="1" i="1" smtClean="0">
                                  <a:solidFill>
                                    <a:schemeClr val="tx1"/>
                                  </a:solidFill>
                                  <a:latin typeface="Cambria Math" panose="02040503050406030204" pitchFamily="18" charset="0"/>
                                </a:rPr>
                                <m:t>𝒏</m:t>
                              </m:r>
                            </m:den>
                          </m:f>
                        </m:e>
                      </m:d>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𝑾</m:t>
                      </m:r>
                      <m:d>
                        <m:dPr>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𝒏</m:t>
                          </m:r>
                        </m:e>
                      </m:d>
                      <m:r>
                        <a:rPr lang="en-NZ" altLang="ja-JP" sz="1800" b="1" i="1" smtClean="0">
                          <a:solidFill>
                            <a:schemeClr val="tx1"/>
                          </a:solidFill>
                          <a:latin typeface="Cambria Math" panose="02040503050406030204" pitchFamily="18" charset="0"/>
                        </a:rPr>
                        <m:t> +   </m:t>
                      </m:r>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𝟏</m:t>
                          </m:r>
                        </m:num>
                        <m:den>
                          <m:r>
                            <a:rPr lang="en-NZ" altLang="ja-JP" sz="1800" b="1" i="1" smtClean="0">
                              <a:solidFill>
                                <a:schemeClr val="tx1"/>
                              </a:solidFill>
                              <a:latin typeface="Cambria Math" panose="02040503050406030204" pitchFamily="18" charset="0"/>
                            </a:rPr>
                            <m:t>𝒏</m:t>
                          </m:r>
                        </m:den>
                      </m:f>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𝑩</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𝒏</m:t>
                      </m:r>
                      <m:r>
                        <a:rPr lang="en-NZ" altLang="ja-JP" sz="1800" b="1" i="1" smtClean="0">
                          <a:solidFill>
                            <a:schemeClr val="tx1"/>
                          </a:solidFill>
                          <a:latin typeface="Cambria Math" panose="02040503050406030204" pitchFamily="18" charset="0"/>
                        </a:rPr>
                        <m:t>)</m:t>
                      </m:r>
                    </m:oMath>
                  </m:oMathPara>
                </a14:m>
                <a:endParaRPr lang="en-NZ" altLang="ja-JP" sz="1800" b="1" dirty="0">
                  <a:solidFill>
                    <a:schemeClr val="tx1"/>
                  </a:solidFill>
                </a:endParaRPr>
              </a:p>
            </p:txBody>
          </p:sp>
        </mc:Choice>
        <mc:Fallback>
          <p:sp>
            <p:nvSpPr>
              <p:cNvPr id="28" name="Text Placeholder 5">
                <a:extLst>
                  <a:ext uri="{FF2B5EF4-FFF2-40B4-BE49-F238E27FC236}">
                    <a16:creationId xmlns:a16="http://schemas.microsoft.com/office/drawing/2014/main" id="{558FA760-9C32-EC50-FBD4-80D4D5AB40BD}"/>
                  </a:ext>
                </a:extLst>
              </p:cNvPr>
              <p:cNvSpPr txBox="1">
                <a:spLocks noRot="1" noChangeAspect="1" noMove="1" noResize="1" noEditPoints="1" noAdjustHandles="1" noChangeArrowheads="1" noChangeShapeType="1" noTextEdit="1"/>
              </p:cNvSpPr>
              <p:nvPr/>
            </p:nvSpPr>
            <p:spPr>
              <a:xfrm>
                <a:off x="319462" y="1806083"/>
                <a:ext cx="11311811" cy="675343"/>
              </a:xfrm>
              <a:prstGeom prst="rect">
                <a:avLst/>
              </a:prstGeom>
              <a:blipFill>
                <a:blip r:embed="rId3"/>
                <a:stretch>
                  <a:fillRect/>
                </a:stretch>
              </a:blipFill>
            </p:spPr>
            <p:txBody>
              <a:bodyPr/>
              <a:lstStyle/>
              <a:p>
                <a:r>
                  <a:rPr lang="en-NZ">
                    <a:noFill/>
                  </a:rPr>
                  <a:t> </a:t>
                </a:r>
              </a:p>
            </p:txBody>
          </p:sp>
        </mc:Fallback>
      </mc:AlternateContent>
      <p:sp>
        <p:nvSpPr>
          <p:cNvPr id="29" name="Text Placeholder 5">
            <a:extLst>
              <a:ext uri="{FF2B5EF4-FFF2-40B4-BE49-F238E27FC236}">
                <a16:creationId xmlns:a16="http://schemas.microsoft.com/office/drawing/2014/main" id="{DD33411C-BE5E-3681-7771-CA11D0DDBC32}"/>
              </a:ext>
            </a:extLst>
          </p:cNvPr>
          <p:cNvSpPr txBox="1">
            <a:spLocks/>
          </p:cNvSpPr>
          <p:nvPr/>
        </p:nvSpPr>
        <p:spPr>
          <a:xfrm>
            <a:off x="319462" y="2568689"/>
            <a:ext cx="11311811"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600" dirty="0">
                <a:solidFill>
                  <a:schemeClr val="tx1"/>
                </a:solidFill>
              </a:rPr>
              <a:t>Due to the (purposeful) over-dispersion of starting values, if the chains have not converged, then this will </a:t>
            </a:r>
            <a:r>
              <a:rPr lang="en-NZ" altLang="ja-JP" sz="1600" b="1" dirty="0">
                <a:solidFill>
                  <a:schemeClr val="tx1"/>
                </a:solidFill>
              </a:rPr>
              <a:t>overestimate</a:t>
            </a:r>
            <a:r>
              <a:rPr lang="en-NZ" altLang="ja-JP" sz="1600" dirty="0">
                <a:solidFill>
                  <a:schemeClr val="tx1"/>
                </a:solidFill>
              </a:rPr>
              <a:t> </a:t>
            </a:r>
            <a:br>
              <a:rPr lang="en-NZ" altLang="ja-JP" sz="1600" dirty="0">
                <a:solidFill>
                  <a:schemeClr val="tx1"/>
                </a:solidFill>
              </a:rPr>
            </a:br>
            <a:r>
              <a:rPr lang="en-NZ" altLang="ja-JP" sz="1600" dirty="0">
                <a:solidFill>
                  <a:schemeClr val="tx1"/>
                </a:solidFill>
              </a:rPr>
              <a:t>the variance of the target distribution.</a:t>
            </a:r>
          </a:p>
        </p:txBody>
      </p:sp>
      <p:sp>
        <p:nvSpPr>
          <p:cNvPr id="30" name="Text Placeholder 5">
            <a:extLst>
              <a:ext uri="{FF2B5EF4-FFF2-40B4-BE49-F238E27FC236}">
                <a16:creationId xmlns:a16="http://schemas.microsoft.com/office/drawing/2014/main" id="{ED46015B-9E23-1734-C6FA-3C9B24561F5C}"/>
              </a:ext>
            </a:extLst>
          </p:cNvPr>
          <p:cNvSpPr txBox="1">
            <a:spLocks/>
          </p:cNvSpPr>
          <p:nvPr/>
        </p:nvSpPr>
        <p:spPr>
          <a:xfrm>
            <a:off x="319461" y="3494097"/>
            <a:ext cx="6949845" cy="3920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b="1" dirty="0">
                <a:solidFill>
                  <a:srgbClr val="0070C0"/>
                </a:solidFill>
              </a:rPr>
              <a:t>Potential Scale Reduction Factor (PSRF):</a:t>
            </a:r>
            <a:endParaRPr lang="en-NZ" altLang="ja-JP" sz="1800" dirty="0">
              <a:solidFill>
                <a:srgbClr val="0070C0"/>
              </a:solidFill>
            </a:endParaRPr>
          </a:p>
        </p:txBody>
      </p:sp>
      <mc:AlternateContent xmlns:mc="http://schemas.openxmlformats.org/markup-compatibility/2006">
        <mc:Choice xmlns:a14="http://schemas.microsoft.com/office/drawing/2010/main" Requires="a14">
          <p:sp>
            <p:nvSpPr>
              <p:cNvPr id="31" name="Text Placeholder 5">
                <a:extLst>
                  <a:ext uri="{FF2B5EF4-FFF2-40B4-BE49-F238E27FC236}">
                    <a16:creationId xmlns:a16="http://schemas.microsoft.com/office/drawing/2014/main" id="{EE4CFDDB-2EA9-7406-DD0A-90BE489FF450}"/>
                  </a:ext>
                </a:extLst>
              </p:cNvPr>
              <p:cNvSpPr txBox="1">
                <a:spLocks/>
              </p:cNvSpPr>
              <p:nvPr/>
            </p:nvSpPr>
            <p:spPr>
              <a:xfrm>
                <a:off x="472319" y="4008757"/>
                <a:ext cx="3759051" cy="89614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r>
                        <a:rPr lang="en-NZ" altLang="ja-JP" sz="1800" b="1" i="1" smtClean="0">
                          <a:solidFill>
                            <a:schemeClr val="tx1"/>
                          </a:solidFill>
                          <a:latin typeface="Cambria Math" panose="02040503050406030204" pitchFamily="18" charset="0"/>
                        </a:rPr>
                        <m:t>𝑷𝑺𝑹𝑭</m:t>
                      </m:r>
                      <m:r>
                        <a:rPr lang="en-NZ" altLang="ja-JP" sz="1800" b="1" i="1" smtClean="0">
                          <a:solidFill>
                            <a:schemeClr val="tx1"/>
                          </a:solidFill>
                          <a:latin typeface="Cambria Math" panose="02040503050406030204" pitchFamily="18" charset="0"/>
                        </a:rPr>
                        <m:t> ≡  </m:t>
                      </m:r>
                      <m:acc>
                        <m:accPr>
                          <m:chr m:val="̂"/>
                          <m:ctrlPr>
                            <a:rPr lang="en-NZ" altLang="ja-JP" sz="1800" b="1" i="1" smtClean="0">
                              <a:solidFill>
                                <a:schemeClr val="tx1"/>
                              </a:solidFill>
                              <a:latin typeface="Cambria Math" panose="02040503050406030204" pitchFamily="18" charset="0"/>
                            </a:rPr>
                          </m:ctrlPr>
                        </m:accPr>
                        <m:e>
                          <m:r>
                            <a:rPr lang="en-NZ" altLang="ja-JP" sz="1800" b="1" i="1" smtClean="0">
                              <a:solidFill>
                                <a:schemeClr val="tx1"/>
                              </a:solidFill>
                              <a:latin typeface="Cambria Math" panose="02040503050406030204" pitchFamily="18" charset="0"/>
                            </a:rPr>
                            <m:t>𝑹</m:t>
                          </m:r>
                        </m:e>
                      </m:acc>
                      <m:r>
                        <a:rPr lang="en-NZ" altLang="ja-JP" sz="1800" b="1" i="1" smtClean="0">
                          <a:solidFill>
                            <a:schemeClr val="tx1"/>
                          </a:solidFill>
                          <a:latin typeface="Cambria Math" panose="02040503050406030204" pitchFamily="18" charset="0"/>
                        </a:rPr>
                        <m:t> =  </m:t>
                      </m:r>
                      <m:rad>
                        <m:radPr>
                          <m:degHide m:val="on"/>
                          <m:ctrlPr>
                            <a:rPr lang="en-NZ" altLang="ja-JP" sz="1800" b="1" i="1" smtClean="0">
                              <a:solidFill>
                                <a:schemeClr val="tx1"/>
                              </a:solidFill>
                              <a:latin typeface="Cambria Math" panose="02040503050406030204" pitchFamily="18" charset="0"/>
                            </a:rPr>
                          </m:ctrlPr>
                        </m:radPr>
                        <m:deg/>
                        <m:e>
                          <m:f>
                            <m:fPr>
                              <m:ctrlPr>
                                <a:rPr lang="en-NZ" altLang="ja-JP" sz="1800" b="1" i="1" smtClean="0">
                                  <a:solidFill>
                                    <a:schemeClr val="tx1"/>
                                  </a:solidFill>
                                  <a:latin typeface="Cambria Math" panose="02040503050406030204" pitchFamily="18" charset="0"/>
                                </a:rPr>
                              </m:ctrlPr>
                            </m:fPr>
                            <m:num>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𝑽𝒂𝒓</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𝑿</m:t>
                                  </m:r>
                                  <m:r>
                                    <a:rPr lang="en-NZ" altLang="ja-JP" sz="1800" b="1" i="1">
                                      <a:solidFill>
                                        <a:schemeClr val="tx1"/>
                                      </a:solidFill>
                                      <a:latin typeface="Cambria Math" panose="02040503050406030204" pitchFamily="18" charset="0"/>
                                    </a:rPr>
                                    <m:t>)</m:t>
                                  </m:r>
                                </m:e>
                              </m:acc>
                            </m:num>
                            <m:den>
                              <m:r>
                                <a:rPr lang="en-NZ" altLang="ja-JP" sz="1800" b="1" i="1" smtClean="0">
                                  <a:solidFill>
                                    <a:schemeClr val="tx1"/>
                                  </a:solidFill>
                                  <a:latin typeface="Cambria Math" panose="02040503050406030204" pitchFamily="18" charset="0"/>
                                </a:rPr>
                                <m:t>𝑾</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𝒏</m:t>
                              </m:r>
                              <m:r>
                                <a:rPr lang="en-NZ" altLang="ja-JP" sz="1800" b="1" i="1" smtClean="0">
                                  <a:solidFill>
                                    <a:schemeClr val="tx1"/>
                                  </a:solidFill>
                                  <a:latin typeface="Cambria Math" panose="02040503050406030204" pitchFamily="18" charset="0"/>
                                </a:rPr>
                                <m:t>)</m:t>
                              </m:r>
                            </m:den>
                          </m:f>
                        </m:e>
                      </m:rad>
                    </m:oMath>
                  </m:oMathPara>
                </a14:m>
                <a:endParaRPr lang="en-NZ" altLang="ja-JP" sz="1800" b="1" dirty="0">
                  <a:solidFill>
                    <a:schemeClr val="tx1"/>
                  </a:solidFill>
                </a:endParaRPr>
              </a:p>
            </p:txBody>
          </p:sp>
        </mc:Choice>
        <mc:Fallback>
          <p:sp>
            <p:nvSpPr>
              <p:cNvPr id="31" name="Text Placeholder 5">
                <a:extLst>
                  <a:ext uri="{FF2B5EF4-FFF2-40B4-BE49-F238E27FC236}">
                    <a16:creationId xmlns:a16="http://schemas.microsoft.com/office/drawing/2014/main" id="{EE4CFDDB-2EA9-7406-DD0A-90BE489FF450}"/>
                  </a:ext>
                </a:extLst>
              </p:cNvPr>
              <p:cNvSpPr txBox="1">
                <a:spLocks noRot="1" noChangeAspect="1" noMove="1" noResize="1" noEditPoints="1" noAdjustHandles="1" noChangeArrowheads="1" noChangeShapeType="1" noTextEdit="1"/>
              </p:cNvSpPr>
              <p:nvPr/>
            </p:nvSpPr>
            <p:spPr>
              <a:xfrm>
                <a:off x="472319" y="4008757"/>
                <a:ext cx="3759051" cy="896141"/>
              </a:xfrm>
              <a:prstGeom prst="rect">
                <a:avLst/>
              </a:prstGeom>
              <a:blipFill>
                <a:blip r:embed="rId4"/>
                <a:stretch>
                  <a:fillRect/>
                </a:stretch>
              </a:blipFill>
            </p:spPr>
            <p:txBody>
              <a:bodyPr/>
              <a:lstStyle/>
              <a:p>
                <a:r>
                  <a:rPr lang="en-NZ">
                    <a:noFill/>
                  </a:rPr>
                  <a:t> </a:t>
                </a:r>
              </a:p>
            </p:txBody>
          </p:sp>
        </mc:Fallback>
      </mc:AlternateContent>
      <p:cxnSp>
        <p:nvCxnSpPr>
          <p:cNvPr id="34" name="Straight Arrow Connector 33">
            <a:extLst>
              <a:ext uri="{FF2B5EF4-FFF2-40B4-BE49-F238E27FC236}">
                <a16:creationId xmlns:a16="http://schemas.microsoft.com/office/drawing/2014/main" id="{D6474276-C5CF-A7AE-CF98-8C1A2D5FA3BA}"/>
              </a:ext>
            </a:extLst>
          </p:cNvPr>
          <p:cNvCxnSpPr>
            <a:cxnSpLocks/>
          </p:cNvCxnSpPr>
          <p:nvPr/>
        </p:nvCxnSpPr>
        <p:spPr>
          <a:xfrm>
            <a:off x="3794383" y="4354286"/>
            <a:ext cx="6092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1B6584FC-6965-9693-5D88-CF66C2623AD5}"/>
              </a:ext>
            </a:extLst>
          </p:cNvPr>
          <p:cNvCxnSpPr>
            <a:cxnSpLocks/>
          </p:cNvCxnSpPr>
          <p:nvPr/>
        </p:nvCxnSpPr>
        <p:spPr>
          <a:xfrm>
            <a:off x="3794383" y="4709886"/>
            <a:ext cx="6092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Text Placeholder 5">
            <a:extLst>
              <a:ext uri="{FF2B5EF4-FFF2-40B4-BE49-F238E27FC236}">
                <a16:creationId xmlns:a16="http://schemas.microsoft.com/office/drawing/2014/main" id="{2226F1CB-93EE-7F8B-66D8-C51EB0707D14}"/>
              </a:ext>
            </a:extLst>
          </p:cNvPr>
          <p:cNvSpPr txBox="1">
            <a:spLocks/>
          </p:cNvSpPr>
          <p:nvPr/>
        </p:nvSpPr>
        <p:spPr>
          <a:xfrm>
            <a:off x="4575930" y="4049867"/>
            <a:ext cx="3508527" cy="61527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400" b="1" dirty="0">
                <a:solidFill>
                  <a:schemeClr val="bg2">
                    <a:lumMod val="50000"/>
                  </a:schemeClr>
                </a:solidFill>
              </a:rPr>
              <a:t>Overestimates</a:t>
            </a:r>
            <a:r>
              <a:rPr lang="en-NZ" altLang="ja-JP" sz="1400" dirty="0">
                <a:solidFill>
                  <a:schemeClr val="bg2">
                    <a:lumMod val="50000"/>
                  </a:schemeClr>
                </a:solidFill>
              </a:rPr>
              <a:t> variance of target distribution if chains have not converged.</a:t>
            </a:r>
          </a:p>
        </p:txBody>
      </p:sp>
      <p:sp>
        <p:nvSpPr>
          <p:cNvPr id="37" name="Text Placeholder 5">
            <a:extLst>
              <a:ext uri="{FF2B5EF4-FFF2-40B4-BE49-F238E27FC236}">
                <a16:creationId xmlns:a16="http://schemas.microsoft.com/office/drawing/2014/main" id="{3CA6CD9B-E206-EC2E-340F-B7F7BC937906}"/>
              </a:ext>
            </a:extLst>
          </p:cNvPr>
          <p:cNvSpPr txBox="1">
            <a:spLocks/>
          </p:cNvSpPr>
          <p:nvPr/>
        </p:nvSpPr>
        <p:spPr>
          <a:xfrm>
            <a:off x="4575930" y="4591171"/>
            <a:ext cx="3624641" cy="61527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400" b="1" dirty="0">
                <a:solidFill>
                  <a:schemeClr val="bg2">
                    <a:lumMod val="50000"/>
                  </a:schemeClr>
                </a:solidFill>
              </a:rPr>
              <a:t>Underestimates</a:t>
            </a:r>
            <a:r>
              <a:rPr lang="en-NZ" altLang="ja-JP" sz="1400" dirty="0">
                <a:solidFill>
                  <a:schemeClr val="bg2">
                    <a:lumMod val="50000"/>
                  </a:schemeClr>
                </a:solidFill>
              </a:rPr>
              <a:t> variance of target distribution if chains have not converged.</a:t>
            </a:r>
          </a:p>
        </p:txBody>
      </p:sp>
      <mc:AlternateContent xmlns:mc="http://schemas.openxmlformats.org/markup-compatibility/2006">
        <mc:Choice xmlns:a14="http://schemas.microsoft.com/office/drawing/2010/main" Requires="a14">
          <p:sp>
            <p:nvSpPr>
              <p:cNvPr id="39" name="Text Placeholder 5">
                <a:extLst>
                  <a:ext uri="{FF2B5EF4-FFF2-40B4-BE49-F238E27FC236}">
                    <a16:creationId xmlns:a16="http://schemas.microsoft.com/office/drawing/2014/main" id="{DDE18025-4EA0-1FFF-9127-8BB30E9378AE}"/>
                  </a:ext>
                </a:extLst>
              </p:cNvPr>
              <p:cNvSpPr txBox="1">
                <a:spLocks/>
              </p:cNvSpPr>
              <p:nvPr/>
            </p:nvSpPr>
            <p:spPr>
              <a:xfrm>
                <a:off x="7936609" y="4153255"/>
                <a:ext cx="3759051" cy="50111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𝑷𝑺𝑹𝑭</m:t>
                      </m:r>
                      <m:r>
                        <a:rPr lang="en-NZ" altLang="ja-JP" sz="1800" b="1" i="1" smtClean="0">
                          <a:solidFill>
                            <a:schemeClr val="tx1"/>
                          </a:solidFill>
                          <a:latin typeface="Cambria Math" panose="02040503050406030204" pitchFamily="18" charset="0"/>
                        </a:rPr>
                        <m:t> ≡  </m:t>
                      </m:r>
                      <m:acc>
                        <m:accPr>
                          <m:chr m:val="̂"/>
                          <m:ctrlPr>
                            <a:rPr lang="en-NZ" altLang="ja-JP" sz="1800" b="1" i="1" smtClean="0">
                              <a:solidFill>
                                <a:schemeClr val="tx1"/>
                              </a:solidFill>
                              <a:latin typeface="Cambria Math" panose="02040503050406030204" pitchFamily="18" charset="0"/>
                            </a:rPr>
                          </m:ctrlPr>
                        </m:accPr>
                        <m:e>
                          <m:r>
                            <a:rPr lang="en-NZ" altLang="ja-JP" sz="1800" b="1" i="1" smtClean="0">
                              <a:solidFill>
                                <a:schemeClr val="tx1"/>
                              </a:solidFill>
                              <a:latin typeface="Cambria Math" panose="02040503050406030204" pitchFamily="18" charset="0"/>
                            </a:rPr>
                            <m:t>𝑹</m:t>
                          </m:r>
                        </m:e>
                      </m:acc>
                      <m:r>
                        <a:rPr lang="en-NZ" altLang="ja-JP" sz="1800" b="1" i="1" smtClean="0">
                          <a:solidFill>
                            <a:schemeClr val="tx1"/>
                          </a:solidFill>
                          <a:latin typeface="Cambria Math" panose="02040503050406030204" pitchFamily="18" charset="0"/>
                        </a:rPr>
                        <m:t> →  </m:t>
                      </m:r>
                      <m:sSup>
                        <m:sSupPr>
                          <m:ctrlPr>
                            <a:rPr lang="en-NZ" altLang="ja-JP" sz="1800" b="1" i="1" smtClean="0">
                              <a:solidFill>
                                <a:schemeClr val="tx1"/>
                              </a:solidFill>
                              <a:latin typeface="Cambria Math" panose="02040503050406030204" pitchFamily="18" charset="0"/>
                            </a:rPr>
                          </m:ctrlPr>
                        </m:sSupPr>
                        <m:e>
                          <m:r>
                            <a:rPr lang="en-NZ" altLang="ja-JP" sz="1800" b="1" i="1" smtClean="0">
                              <a:solidFill>
                                <a:schemeClr val="tx1"/>
                              </a:solidFill>
                              <a:latin typeface="Cambria Math" panose="02040503050406030204" pitchFamily="18" charset="0"/>
                            </a:rPr>
                            <m:t>𝟏</m:t>
                          </m:r>
                        </m:e>
                        <m:sup>
                          <m:r>
                            <a:rPr lang="en-NZ" altLang="ja-JP" sz="1800" b="1" i="1" smtClean="0">
                              <a:solidFill>
                                <a:schemeClr val="tx1"/>
                              </a:solidFill>
                              <a:latin typeface="Cambria Math" panose="02040503050406030204" pitchFamily="18" charset="0"/>
                            </a:rPr>
                            <m:t>+</m:t>
                          </m:r>
                        </m:sup>
                      </m:sSup>
                    </m:oMath>
                  </m:oMathPara>
                </a14:m>
                <a:endParaRPr lang="en-NZ" altLang="ja-JP" sz="1800" b="1" dirty="0">
                  <a:solidFill>
                    <a:schemeClr val="tx1"/>
                  </a:solidFill>
                </a:endParaRPr>
              </a:p>
            </p:txBody>
          </p:sp>
        </mc:Choice>
        <mc:Fallback>
          <p:sp>
            <p:nvSpPr>
              <p:cNvPr id="39" name="Text Placeholder 5">
                <a:extLst>
                  <a:ext uri="{FF2B5EF4-FFF2-40B4-BE49-F238E27FC236}">
                    <a16:creationId xmlns:a16="http://schemas.microsoft.com/office/drawing/2014/main" id="{DDE18025-4EA0-1FFF-9127-8BB30E9378AE}"/>
                  </a:ext>
                </a:extLst>
              </p:cNvPr>
              <p:cNvSpPr txBox="1">
                <a:spLocks noRot="1" noChangeAspect="1" noMove="1" noResize="1" noEditPoints="1" noAdjustHandles="1" noChangeArrowheads="1" noChangeShapeType="1" noTextEdit="1"/>
              </p:cNvSpPr>
              <p:nvPr/>
            </p:nvSpPr>
            <p:spPr>
              <a:xfrm>
                <a:off x="7936609" y="4153255"/>
                <a:ext cx="3759051" cy="501114"/>
              </a:xfrm>
              <a:prstGeom prst="rect">
                <a:avLst/>
              </a:prstGeom>
              <a:blipFill>
                <a:blip r:embed="rId5"/>
                <a:stretch>
                  <a:fillRect t="-1205"/>
                </a:stretch>
              </a:blipFill>
            </p:spPr>
            <p:txBody>
              <a:bodyPr/>
              <a:lstStyle/>
              <a:p>
                <a:r>
                  <a:rPr lang="en-NZ">
                    <a:noFill/>
                  </a:rPr>
                  <a:t> </a:t>
                </a:r>
              </a:p>
            </p:txBody>
          </p:sp>
        </mc:Fallback>
      </mc:AlternateContent>
      <mc:AlternateContent xmlns:mc="http://schemas.openxmlformats.org/markup-compatibility/2006">
        <mc:Choice xmlns:a14="http://schemas.microsoft.com/office/drawing/2010/main" Requires="a14">
          <p:sp>
            <p:nvSpPr>
              <p:cNvPr id="40" name="Text Placeholder 5">
                <a:extLst>
                  <a:ext uri="{FF2B5EF4-FFF2-40B4-BE49-F238E27FC236}">
                    <a16:creationId xmlns:a16="http://schemas.microsoft.com/office/drawing/2014/main" id="{D61C6F27-B18A-1CA9-C211-900030959A89}"/>
                  </a:ext>
                </a:extLst>
              </p:cNvPr>
              <p:cNvSpPr txBox="1">
                <a:spLocks/>
              </p:cNvSpPr>
              <p:nvPr/>
            </p:nvSpPr>
            <p:spPr>
              <a:xfrm>
                <a:off x="8028432" y="4407570"/>
                <a:ext cx="3624641" cy="67702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400" dirty="0">
                    <a:solidFill>
                      <a:schemeClr val="bg2">
                        <a:lumMod val="50000"/>
                      </a:schemeClr>
                    </a:solidFill>
                  </a:rPr>
                  <a:t>As </a:t>
                </a:r>
                <a14:m>
                  <m:oMath xmlns:m="http://schemas.openxmlformats.org/officeDocument/2006/math">
                    <m:r>
                      <a:rPr lang="en-NZ" altLang="ja-JP" sz="1400" b="0" i="1" smtClean="0">
                        <a:solidFill>
                          <a:schemeClr val="bg2">
                            <a:lumMod val="50000"/>
                          </a:schemeClr>
                        </a:solidFill>
                        <a:latin typeface="Cambria Math" panose="02040503050406030204" pitchFamily="18" charset="0"/>
                      </a:rPr>
                      <m:t>𝑛</m:t>
                    </m:r>
                    <m:r>
                      <a:rPr lang="en-NZ" altLang="ja-JP" sz="1400" b="0" i="1" smtClean="0">
                        <a:solidFill>
                          <a:schemeClr val="bg2">
                            <a:lumMod val="50000"/>
                          </a:schemeClr>
                        </a:solidFill>
                        <a:latin typeface="Cambria Math" panose="02040503050406030204" pitchFamily="18" charset="0"/>
                      </a:rPr>
                      <m:t>→∞</m:t>
                    </m:r>
                  </m:oMath>
                </a14:m>
                <a:br>
                  <a:rPr lang="en-NZ" altLang="ja-JP" sz="1400" dirty="0">
                    <a:solidFill>
                      <a:schemeClr val="bg2">
                        <a:lumMod val="50000"/>
                      </a:schemeClr>
                    </a:solidFill>
                  </a:rPr>
                </a:br>
                <a:r>
                  <a:rPr lang="en-NZ" altLang="ja-JP" sz="1400" dirty="0">
                    <a:solidFill>
                      <a:schemeClr val="bg2">
                        <a:lumMod val="50000"/>
                      </a:schemeClr>
                    </a:solidFill>
                  </a:rPr>
                  <a:t>i.e. as the chains converge </a:t>
                </a:r>
                <a:br>
                  <a:rPr lang="en-NZ" altLang="ja-JP" sz="1400" dirty="0">
                    <a:solidFill>
                      <a:schemeClr val="bg2">
                        <a:lumMod val="50000"/>
                      </a:schemeClr>
                    </a:solidFill>
                  </a:rPr>
                </a:br>
                <a:r>
                  <a:rPr lang="en-NZ" altLang="ja-JP" sz="1400" dirty="0">
                    <a:solidFill>
                      <a:schemeClr val="bg2">
                        <a:lumMod val="50000"/>
                      </a:schemeClr>
                    </a:solidFill>
                  </a:rPr>
                  <a:t>to the target distribution.</a:t>
                </a:r>
              </a:p>
            </p:txBody>
          </p:sp>
        </mc:Choice>
        <mc:Fallback>
          <p:sp>
            <p:nvSpPr>
              <p:cNvPr id="40" name="Text Placeholder 5">
                <a:extLst>
                  <a:ext uri="{FF2B5EF4-FFF2-40B4-BE49-F238E27FC236}">
                    <a16:creationId xmlns:a16="http://schemas.microsoft.com/office/drawing/2014/main" id="{D61C6F27-B18A-1CA9-C211-900030959A89}"/>
                  </a:ext>
                </a:extLst>
              </p:cNvPr>
              <p:cNvSpPr txBox="1">
                <a:spLocks noRot="1" noChangeAspect="1" noMove="1" noResize="1" noEditPoints="1" noAdjustHandles="1" noChangeArrowheads="1" noChangeShapeType="1" noTextEdit="1"/>
              </p:cNvSpPr>
              <p:nvPr/>
            </p:nvSpPr>
            <p:spPr>
              <a:xfrm>
                <a:off x="8028432" y="4407570"/>
                <a:ext cx="3624641" cy="677021"/>
              </a:xfrm>
              <a:prstGeom prst="rect">
                <a:avLst/>
              </a:prstGeom>
              <a:blipFill>
                <a:blip r:embed="rId6"/>
                <a:stretch>
                  <a:fillRect t="-1802" b="-18018"/>
                </a:stretch>
              </a:blipFill>
            </p:spPr>
            <p:txBody>
              <a:bodyPr/>
              <a:lstStyle/>
              <a:p>
                <a:r>
                  <a:rPr lang="en-NZ">
                    <a:noFill/>
                  </a:rPr>
                  <a:t> </a:t>
                </a:r>
              </a:p>
            </p:txBody>
          </p:sp>
        </mc:Fallback>
      </mc:AlternateContent>
      <mc:AlternateContent xmlns:mc="http://schemas.openxmlformats.org/markup-compatibility/2006">
        <mc:Choice xmlns:a14="http://schemas.microsoft.com/office/drawing/2010/main" Requires="a14">
          <p:sp>
            <p:nvSpPr>
              <p:cNvPr id="41" name="Text Placeholder 5">
                <a:extLst>
                  <a:ext uri="{FF2B5EF4-FFF2-40B4-BE49-F238E27FC236}">
                    <a16:creationId xmlns:a16="http://schemas.microsoft.com/office/drawing/2014/main" id="{C4DC7B18-FF6F-2891-150E-9C5E292A9ED5}"/>
                  </a:ext>
                </a:extLst>
              </p:cNvPr>
              <p:cNvSpPr txBox="1">
                <a:spLocks/>
              </p:cNvSpPr>
              <p:nvPr/>
            </p:nvSpPr>
            <p:spPr>
              <a:xfrm>
                <a:off x="317111" y="5216695"/>
                <a:ext cx="11711116" cy="45387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600" dirty="0">
                    <a:solidFill>
                      <a:schemeClr val="tx1"/>
                    </a:solidFill>
                  </a:rPr>
                  <a:t>As a rule of thumb, if </a:t>
                </a:r>
                <a14:m>
                  <m:oMath xmlns:m="http://schemas.openxmlformats.org/officeDocument/2006/math">
                    <m:r>
                      <a:rPr lang="en-NZ" altLang="ja-JP" sz="1600" b="1" i="1" smtClean="0">
                        <a:solidFill>
                          <a:schemeClr val="tx1"/>
                        </a:solidFill>
                        <a:latin typeface="Cambria Math" panose="02040503050406030204" pitchFamily="18" charset="0"/>
                      </a:rPr>
                      <m:t>𝑷𝑺𝑹𝑭</m:t>
                    </m:r>
                    <m:r>
                      <a:rPr lang="en-NZ" altLang="ja-JP" sz="1600" b="1" i="1" smtClean="0">
                        <a:solidFill>
                          <a:schemeClr val="tx1"/>
                        </a:solidFill>
                        <a:latin typeface="Cambria Math" panose="02040503050406030204" pitchFamily="18" charset="0"/>
                      </a:rPr>
                      <m:t> ≡  </m:t>
                    </m:r>
                    <m:acc>
                      <m:accPr>
                        <m:chr m:val="̂"/>
                        <m:ctrlPr>
                          <a:rPr lang="en-NZ" altLang="ja-JP" sz="1600" b="1" i="1" smtClean="0">
                            <a:solidFill>
                              <a:schemeClr val="tx1"/>
                            </a:solidFill>
                            <a:latin typeface="Cambria Math" panose="02040503050406030204" pitchFamily="18" charset="0"/>
                          </a:rPr>
                        </m:ctrlPr>
                      </m:accPr>
                      <m:e>
                        <m:r>
                          <a:rPr lang="en-NZ" altLang="ja-JP" sz="1600" b="1" i="1" smtClean="0">
                            <a:solidFill>
                              <a:schemeClr val="tx1"/>
                            </a:solidFill>
                            <a:latin typeface="Cambria Math" panose="02040503050406030204" pitchFamily="18" charset="0"/>
                          </a:rPr>
                          <m:t>𝑹</m:t>
                        </m:r>
                      </m:e>
                    </m:acc>
                    <m:r>
                      <a:rPr lang="en-NZ" altLang="ja-JP" sz="1600" b="1" i="1" smtClean="0">
                        <a:solidFill>
                          <a:schemeClr val="tx1"/>
                        </a:solidFill>
                        <a:latin typeface="Cambria Math" panose="02040503050406030204" pitchFamily="18" charset="0"/>
                      </a:rPr>
                      <m:t> &gt;</m:t>
                    </m:r>
                    <m:r>
                      <a:rPr lang="en-NZ" altLang="ja-JP" sz="1600" b="1" i="1" smtClean="0">
                        <a:solidFill>
                          <a:schemeClr val="tx1"/>
                        </a:solidFill>
                        <a:latin typeface="Cambria Math" panose="02040503050406030204" pitchFamily="18" charset="0"/>
                      </a:rPr>
                      <m:t>𝟏</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𝟐</m:t>
                    </m:r>
                    <m:r>
                      <a:rPr lang="en-NZ" altLang="ja-JP" sz="1600" b="1" i="1" smtClean="0">
                        <a:solidFill>
                          <a:schemeClr val="tx1"/>
                        </a:solidFill>
                        <a:latin typeface="Cambria Math" panose="02040503050406030204" pitchFamily="18" charset="0"/>
                      </a:rPr>
                      <m:t> </m:t>
                    </m:r>
                  </m:oMath>
                </a14:m>
                <a:r>
                  <a:rPr lang="en-NZ" altLang="ja-JP" sz="1600" dirty="0">
                    <a:solidFill>
                      <a:schemeClr val="tx1"/>
                    </a:solidFill>
                  </a:rPr>
                  <a:t> we take this as an indication that (at least one of) the chains has not converged. </a:t>
                </a:r>
              </a:p>
            </p:txBody>
          </p:sp>
        </mc:Choice>
        <mc:Fallback>
          <p:sp>
            <p:nvSpPr>
              <p:cNvPr id="41" name="Text Placeholder 5">
                <a:extLst>
                  <a:ext uri="{FF2B5EF4-FFF2-40B4-BE49-F238E27FC236}">
                    <a16:creationId xmlns:a16="http://schemas.microsoft.com/office/drawing/2014/main" id="{C4DC7B18-FF6F-2891-150E-9C5E292A9ED5}"/>
                  </a:ext>
                </a:extLst>
              </p:cNvPr>
              <p:cNvSpPr txBox="1">
                <a:spLocks noRot="1" noChangeAspect="1" noMove="1" noResize="1" noEditPoints="1" noAdjustHandles="1" noChangeArrowheads="1" noChangeShapeType="1" noTextEdit="1"/>
              </p:cNvSpPr>
              <p:nvPr/>
            </p:nvSpPr>
            <p:spPr>
              <a:xfrm>
                <a:off x="317111" y="5216695"/>
                <a:ext cx="11711116" cy="453873"/>
              </a:xfrm>
              <a:prstGeom prst="rect">
                <a:avLst/>
              </a:prstGeom>
              <a:blipFill>
                <a:blip r:embed="rId7"/>
                <a:stretch>
                  <a:fillRect l="-260" t="-1351"/>
                </a:stretch>
              </a:blipFill>
            </p:spPr>
            <p:txBody>
              <a:bodyPr/>
              <a:lstStyle/>
              <a:p>
                <a:r>
                  <a:rPr lang="en-NZ">
                    <a:noFill/>
                  </a:rPr>
                  <a:t> </a:t>
                </a:r>
              </a:p>
            </p:txBody>
          </p:sp>
        </mc:Fallback>
      </mc:AlternateContent>
      <mc:AlternateContent xmlns:mc="http://schemas.openxmlformats.org/markup-compatibility/2006">
        <mc:Choice xmlns:a14="http://schemas.microsoft.com/office/drawing/2010/main" Requires="a14">
          <p:sp>
            <p:nvSpPr>
              <p:cNvPr id="42" name="Text Placeholder 5">
                <a:extLst>
                  <a:ext uri="{FF2B5EF4-FFF2-40B4-BE49-F238E27FC236}">
                    <a16:creationId xmlns:a16="http://schemas.microsoft.com/office/drawing/2014/main" id="{60C83A67-DAF9-6DAD-3213-37E6FAF445ED}"/>
                  </a:ext>
                </a:extLst>
              </p:cNvPr>
              <p:cNvSpPr txBox="1">
                <a:spLocks/>
              </p:cNvSpPr>
              <p:nvPr/>
            </p:nvSpPr>
            <p:spPr>
              <a:xfrm>
                <a:off x="317111" y="5655351"/>
                <a:ext cx="11711116" cy="63931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600" dirty="0">
                    <a:solidFill>
                      <a:srgbClr val="C00000"/>
                    </a:solidFill>
                  </a:rPr>
                  <a:t>Basically, we create </a:t>
                </a:r>
                <a14:m>
                  <m:oMath xmlns:m="http://schemas.openxmlformats.org/officeDocument/2006/math">
                    <m:r>
                      <a:rPr lang="en-NZ" altLang="ja-JP" sz="1600" b="1" i="1">
                        <a:solidFill>
                          <a:srgbClr val="C00000"/>
                        </a:solidFill>
                        <a:latin typeface="Cambria Math" panose="02040503050406030204" pitchFamily="18" charset="0"/>
                      </a:rPr>
                      <m:t>𝒎</m:t>
                    </m:r>
                    <m:r>
                      <a:rPr lang="en-NZ" altLang="ja-JP" sz="1600" b="1" i="1">
                        <a:solidFill>
                          <a:srgbClr val="C00000"/>
                        </a:solidFill>
                        <a:latin typeface="Cambria Math" panose="02040503050406030204" pitchFamily="18" charset="0"/>
                      </a:rPr>
                      <m:t>≥</m:t>
                    </m:r>
                    <m:r>
                      <a:rPr lang="en-NZ" altLang="ja-JP" sz="1600" b="1" i="1">
                        <a:solidFill>
                          <a:srgbClr val="C00000"/>
                        </a:solidFill>
                        <a:latin typeface="Cambria Math" panose="02040503050406030204" pitchFamily="18" charset="0"/>
                      </a:rPr>
                      <m:t>𝟐</m:t>
                    </m:r>
                    <m:r>
                      <a:rPr lang="en-NZ" altLang="ja-JP" sz="1600" b="1" i="1">
                        <a:solidFill>
                          <a:srgbClr val="C00000"/>
                        </a:solidFill>
                        <a:latin typeface="Cambria Math" panose="02040503050406030204" pitchFamily="18" charset="0"/>
                      </a:rPr>
                      <m:t> </m:t>
                    </m:r>
                  </m:oMath>
                </a14:m>
                <a:r>
                  <a:rPr lang="en-NZ" altLang="ja-JP" sz="1600" dirty="0">
                    <a:solidFill>
                      <a:srgbClr val="C00000"/>
                    </a:solidFill>
                  </a:rPr>
                  <a:t>chains with over-dispersed starting values. </a:t>
                </a:r>
              </a:p>
              <a:p>
                <a:pPr lvl="0">
                  <a:lnSpc>
                    <a:spcPct val="100000"/>
                  </a:lnSpc>
                  <a:defRPr/>
                </a:pPr>
                <a:r>
                  <a:rPr lang="en-NZ" altLang="ja-JP" sz="1600" dirty="0">
                    <a:solidFill>
                      <a:srgbClr val="C00000"/>
                    </a:solidFill>
                  </a:rPr>
                  <a:t>We then calculate the </a:t>
                </a:r>
                <a:r>
                  <a:rPr lang="en-NZ" altLang="ja-JP" sz="1600" b="1" i="1" dirty="0">
                    <a:solidFill>
                      <a:srgbClr val="C00000"/>
                    </a:solidFill>
                  </a:rPr>
                  <a:t>PSRF </a:t>
                </a:r>
                <a:r>
                  <a:rPr lang="en-NZ" altLang="ja-JP" sz="1600" dirty="0">
                    <a:solidFill>
                      <a:srgbClr val="C00000"/>
                    </a:solidFill>
                  </a:rPr>
                  <a:t>(easily done in R). If this is greater than </a:t>
                </a:r>
                <a:r>
                  <a:rPr lang="en-NZ" altLang="ja-JP" sz="1600" b="1" i="1" dirty="0">
                    <a:solidFill>
                      <a:srgbClr val="C00000"/>
                    </a:solidFill>
                  </a:rPr>
                  <a:t>1.2</a:t>
                </a:r>
                <a:r>
                  <a:rPr lang="en-NZ" altLang="ja-JP" sz="1600" dirty="0">
                    <a:solidFill>
                      <a:srgbClr val="C00000"/>
                    </a:solidFill>
                  </a:rPr>
                  <a:t> in value, we take this as evidence of non-convergence</a:t>
                </a:r>
                <a:endParaRPr lang="en-NZ" altLang="ja-JP" sz="1600" dirty="0">
                  <a:solidFill>
                    <a:schemeClr val="tx1"/>
                  </a:solidFill>
                </a:endParaRPr>
              </a:p>
            </p:txBody>
          </p:sp>
        </mc:Choice>
        <mc:Fallback>
          <p:sp>
            <p:nvSpPr>
              <p:cNvPr id="42" name="Text Placeholder 5">
                <a:extLst>
                  <a:ext uri="{FF2B5EF4-FFF2-40B4-BE49-F238E27FC236}">
                    <a16:creationId xmlns:a16="http://schemas.microsoft.com/office/drawing/2014/main" id="{60C83A67-DAF9-6DAD-3213-37E6FAF445ED}"/>
                  </a:ext>
                </a:extLst>
              </p:cNvPr>
              <p:cNvSpPr txBox="1">
                <a:spLocks noRot="1" noChangeAspect="1" noMove="1" noResize="1" noEditPoints="1" noAdjustHandles="1" noChangeArrowheads="1" noChangeShapeType="1" noTextEdit="1"/>
              </p:cNvSpPr>
              <p:nvPr/>
            </p:nvSpPr>
            <p:spPr>
              <a:xfrm>
                <a:off x="317111" y="5655351"/>
                <a:ext cx="11711116" cy="639316"/>
              </a:xfrm>
              <a:prstGeom prst="rect">
                <a:avLst/>
              </a:prstGeom>
              <a:blipFill>
                <a:blip r:embed="rId8"/>
                <a:stretch>
                  <a:fillRect l="-260" t="-2857" b="-2857"/>
                </a:stretch>
              </a:blipFill>
            </p:spPr>
            <p:txBody>
              <a:bodyPr/>
              <a:lstStyle/>
              <a:p>
                <a:r>
                  <a:rPr lang="en-NZ">
                    <a:noFill/>
                  </a:rPr>
                  <a:t> </a:t>
                </a:r>
              </a:p>
            </p:txBody>
          </p:sp>
        </mc:Fallback>
      </mc:AlternateContent>
    </p:spTree>
    <p:extLst>
      <p:ext uri="{BB962C8B-B14F-4D97-AF65-F5344CB8AC3E}">
        <p14:creationId xmlns:p14="http://schemas.microsoft.com/office/powerpoint/2010/main" val="30520980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4" name="Title 6">
            <a:extLst>
              <a:ext uri="{FF2B5EF4-FFF2-40B4-BE49-F238E27FC236}">
                <a16:creationId xmlns:a16="http://schemas.microsoft.com/office/drawing/2014/main" id="{18EFAA1F-58F5-B8DC-5203-016AF3661A4C}"/>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10.4c – Bivariate Normal Example</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5" name="Footer Placeholder 2">
            <a:extLst>
              <a:ext uri="{FF2B5EF4-FFF2-40B4-BE49-F238E27FC236}">
                <a16:creationId xmlns:a16="http://schemas.microsoft.com/office/drawing/2014/main" id="{CE1BC482-63C5-C7CB-8FB1-F710CF896763}"/>
              </a:ext>
            </a:extLst>
          </p:cNvPr>
          <p:cNvSpPr txBox="1">
            <a:spLocks/>
          </p:cNvSpPr>
          <p:nvPr/>
        </p:nvSpPr>
        <p:spPr>
          <a:xfrm>
            <a:off x="8993875" y="86139"/>
            <a:ext cx="309549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10.4 – Gelman &amp; Rubin Diagnostic</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27" name="Text Placeholder 5">
            <a:extLst>
              <a:ext uri="{FF2B5EF4-FFF2-40B4-BE49-F238E27FC236}">
                <a16:creationId xmlns:a16="http://schemas.microsoft.com/office/drawing/2014/main" id="{998DE729-4722-2D0F-F4D4-926FF424C8D7}"/>
              </a:ext>
            </a:extLst>
          </p:cNvPr>
          <p:cNvSpPr txBox="1">
            <a:spLocks/>
          </p:cNvSpPr>
          <p:nvPr/>
        </p:nvSpPr>
        <p:spPr>
          <a:xfrm>
            <a:off x="5567855" y="2924921"/>
            <a:ext cx="6307190" cy="50407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800" dirty="0">
                <a:solidFill>
                  <a:schemeClr val="tx1"/>
                </a:solidFill>
              </a:rPr>
              <a:t>PSRF is estimated with uncertainty due to finite chain length.</a:t>
            </a:r>
          </a:p>
        </p:txBody>
      </p:sp>
      <p:sp>
        <p:nvSpPr>
          <p:cNvPr id="20" name="Text Placeholder 5">
            <a:extLst>
              <a:ext uri="{FF2B5EF4-FFF2-40B4-BE49-F238E27FC236}">
                <a16:creationId xmlns:a16="http://schemas.microsoft.com/office/drawing/2014/main" id="{38426CD5-ECB5-E773-BEB6-A247DE444FFE}"/>
              </a:ext>
            </a:extLst>
          </p:cNvPr>
          <p:cNvSpPr txBox="1">
            <a:spLocks/>
          </p:cNvSpPr>
          <p:nvPr/>
        </p:nvSpPr>
        <p:spPr>
          <a:xfrm>
            <a:off x="417345" y="917215"/>
            <a:ext cx="4894885" cy="5571272"/>
          </a:xfrm>
          <a:prstGeom prst="rect">
            <a:avLst/>
          </a:prstGeom>
          <a:solidFill>
            <a:schemeClr val="accent5">
              <a:lumMod val="20000"/>
              <a:lumOff val="80000"/>
            </a:schemeClr>
          </a:solid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400" dirty="0">
                <a:solidFill>
                  <a:srgbClr val="00B050"/>
                </a:solidFill>
              </a:rPr>
              <a:t># 5.1a - Producing several different chains and specifying them to be </a:t>
            </a:r>
            <a:r>
              <a:rPr lang="en-NZ" altLang="ja-JP" sz="1400" dirty="0" err="1">
                <a:solidFill>
                  <a:srgbClr val="00B050"/>
                </a:solidFill>
              </a:rPr>
              <a:t>mcmc</a:t>
            </a:r>
            <a:r>
              <a:rPr lang="en-NZ" altLang="ja-JP" sz="1400" dirty="0">
                <a:solidFill>
                  <a:srgbClr val="00B050"/>
                </a:solidFill>
              </a:rPr>
              <a:t> objects </a:t>
            </a:r>
          </a:p>
          <a:p>
            <a:pPr lvl="0">
              <a:lnSpc>
                <a:spcPct val="100000"/>
              </a:lnSpc>
              <a:defRPr/>
            </a:pPr>
            <a:br>
              <a:rPr lang="en-NZ" altLang="ja-JP" sz="1400" dirty="0">
                <a:solidFill>
                  <a:srgbClr val="00B050"/>
                </a:solidFill>
              </a:rPr>
            </a:br>
            <a:r>
              <a:rPr lang="en-NZ" altLang="ja-JP" sz="1400" dirty="0" err="1">
                <a:solidFill>
                  <a:prstClr val="black"/>
                </a:solidFill>
              </a:rPr>
              <a:t>set.seed</a:t>
            </a:r>
            <a:r>
              <a:rPr lang="en-NZ" altLang="ja-JP" sz="1400" dirty="0">
                <a:solidFill>
                  <a:prstClr val="black"/>
                </a:solidFill>
              </a:rPr>
              <a:t>(12345)</a:t>
            </a:r>
          </a:p>
          <a:p>
            <a:pPr lvl="0">
              <a:lnSpc>
                <a:spcPct val="100000"/>
              </a:lnSpc>
              <a:defRPr/>
            </a:pPr>
            <a:r>
              <a:rPr lang="en-NZ" altLang="ja-JP" sz="1400" dirty="0">
                <a:solidFill>
                  <a:prstClr val="black"/>
                </a:solidFill>
              </a:rPr>
              <a:t>MHresult1 &lt;- </a:t>
            </a:r>
            <a:r>
              <a:rPr lang="en-NZ" altLang="ja-JP" sz="1400" dirty="0" err="1">
                <a:solidFill>
                  <a:prstClr val="black"/>
                </a:solidFill>
              </a:rPr>
              <a:t>MHbvn</a:t>
            </a:r>
            <a:r>
              <a:rPr lang="en-NZ" altLang="ja-JP" sz="1400" dirty="0">
                <a:solidFill>
                  <a:prstClr val="black"/>
                </a:solidFill>
              </a:rPr>
              <a:t>(</a:t>
            </a:r>
            <a:r>
              <a:rPr lang="en-NZ" altLang="ja-JP" sz="1400" dirty="0" err="1">
                <a:solidFill>
                  <a:prstClr val="black"/>
                </a:solidFill>
              </a:rPr>
              <a:t>burnin</a:t>
            </a:r>
            <a:r>
              <a:rPr lang="en-NZ" altLang="ja-JP" sz="1400" dirty="0">
                <a:solidFill>
                  <a:prstClr val="black"/>
                </a:solidFill>
              </a:rPr>
              <a:t> + </a:t>
            </a:r>
            <a:r>
              <a:rPr lang="en-NZ" altLang="ja-JP" sz="1400" dirty="0" err="1">
                <a:solidFill>
                  <a:prstClr val="black"/>
                </a:solidFill>
              </a:rPr>
              <a:t>mcmc</a:t>
            </a:r>
            <a:r>
              <a:rPr lang="en-NZ" altLang="ja-JP" sz="1400" dirty="0">
                <a:solidFill>
                  <a:prstClr val="black"/>
                </a:solidFill>
              </a:rPr>
              <a:t>, a=</a:t>
            </a:r>
            <a:r>
              <a:rPr lang="en-NZ" altLang="ja-JP" sz="1400" dirty="0">
                <a:solidFill>
                  <a:srgbClr val="0070C0"/>
                </a:solidFill>
              </a:rPr>
              <a:t>0</a:t>
            </a:r>
            <a:r>
              <a:rPr lang="en-NZ" altLang="ja-JP" sz="1400" dirty="0">
                <a:solidFill>
                  <a:prstClr val="black"/>
                </a:solidFill>
              </a:rPr>
              <a:t> , b=</a:t>
            </a:r>
            <a:r>
              <a:rPr lang="en-NZ" altLang="ja-JP" sz="1400" dirty="0">
                <a:solidFill>
                  <a:srgbClr val="0070C0"/>
                </a:solidFill>
              </a:rPr>
              <a:t>0</a:t>
            </a:r>
            <a:r>
              <a:rPr lang="en-NZ" altLang="ja-JP" sz="1400" dirty="0">
                <a:solidFill>
                  <a:prstClr val="black"/>
                </a:solidFill>
              </a:rPr>
              <a:t>)</a:t>
            </a:r>
          </a:p>
          <a:p>
            <a:pPr lvl="0">
              <a:lnSpc>
                <a:spcPct val="100000"/>
              </a:lnSpc>
              <a:defRPr/>
            </a:pPr>
            <a:r>
              <a:rPr lang="en-NZ" altLang="ja-JP" sz="1400" dirty="0">
                <a:solidFill>
                  <a:prstClr val="black"/>
                </a:solidFill>
              </a:rPr>
              <a:t>chain1 &lt;- </a:t>
            </a:r>
            <a:r>
              <a:rPr lang="en-NZ" altLang="ja-JP" sz="1400" dirty="0" err="1">
                <a:solidFill>
                  <a:prstClr val="black"/>
                </a:solidFill>
              </a:rPr>
              <a:t>mcmc</a:t>
            </a:r>
            <a:r>
              <a:rPr lang="en-NZ" altLang="ja-JP" sz="1400" dirty="0">
                <a:solidFill>
                  <a:prstClr val="black"/>
                </a:solidFill>
              </a:rPr>
              <a:t>( MHresult1$xbvn )</a:t>
            </a:r>
          </a:p>
          <a:p>
            <a:pPr lvl="0">
              <a:lnSpc>
                <a:spcPct val="100000"/>
              </a:lnSpc>
              <a:defRPr/>
            </a:pPr>
            <a:endParaRPr lang="en-NZ" altLang="ja-JP" sz="1400" dirty="0">
              <a:solidFill>
                <a:prstClr val="black"/>
              </a:solidFill>
            </a:endParaRPr>
          </a:p>
          <a:p>
            <a:pPr lvl="0">
              <a:lnSpc>
                <a:spcPct val="100000"/>
              </a:lnSpc>
              <a:defRPr/>
            </a:pPr>
            <a:r>
              <a:rPr lang="en-NZ" altLang="ja-JP" sz="1400" dirty="0" err="1">
                <a:solidFill>
                  <a:prstClr val="black"/>
                </a:solidFill>
              </a:rPr>
              <a:t>set.seed</a:t>
            </a:r>
            <a:r>
              <a:rPr lang="en-NZ" altLang="ja-JP" sz="1400" dirty="0">
                <a:solidFill>
                  <a:prstClr val="black"/>
                </a:solidFill>
              </a:rPr>
              <a:t>(12345)</a:t>
            </a:r>
          </a:p>
          <a:p>
            <a:pPr lvl="0">
              <a:lnSpc>
                <a:spcPct val="100000"/>
              </a:lnSpc>
              <a:defRPr/>
            </a:pPr>
            <a:r>
              <a:rPr lang="en-NZ" altLang="ja-JP" sz="1400" dirty="0">
                <a:solidFill>
                  <a:prstClr val="black"/>
                </a:solidFill>
              </a:rPr>
              <a:t>MHresult2 &lt;- </a:t>
            </a:r>
            <a:r>
              <a:rPr lang="en-NZ" altLang="ja-JP" sz="1400" dirty="0" err="1">
                <a:solidFill>
                  <a:prstClr val="black"/>
                </a:solidFill>
              </a:rPr>
              <a:t>MHbvn</a:t>
            </a:r>
            <a:r>
              <a:rPr lang="en-NZ" altLang="ja-JP" sz="1400" dirty="0">
                <a:solidFill>
                  <a:prstClr val="black"/>
                </a:solidFill>
              </a:rPr>
              <a:t>(</a:t>
            </a:r>
            <a:r>
              <a:rPr lang="en-NZ" altLang="ja-JP" sz="1400" dirty="0" err="1">
                <a:solidFill>
                  <a:prstClr val="black"/>
                </a:solidFill>
              </a:rPr>
              <a:t>burnin</a:t>
            </a:r>
            <a:r>
              <a:rPr lang="en-NZ" altLang="ja-JP" sz="1400" dirty="0">
                <a:solidFill>
                  <a:prstClr val="black"/>
                </a:solidFill>
              </a:rPr>
              <a:t> + </a:t>
            </a:r>
            <a:r>
              <a:rPr lang="en-NZ" altLang="ja-JP" sz="1400" dirty="0" err="1">
                <a:solidFill>
                  <a:prstClr val="black"/>
                </a:solidFill>
              </a:rPr>
              <a:t>mcmc</a:t>
            </a:r>
            <a:r>
              <a:rPr lang="en-NZ" altLang="ja-JP" sz="1400" dirty="0">
                <a:solidFill>
                  <a:prstClr val="black"/>
                </a:solidFill>
              </a:rPr>
              <a:t>, a=</a:t>
            </a:r>
            <a:r>
              <a:rPr lang="en-NZ" altLang="ja-JP" sz="1400" dirty="0">
                <a:solidFill>
                  <a:srgbClr val="0070C0"/>
                </a:solidFill>
              </a:rPr>
              <a:t>-5 </a:t>
            </a:r>
            <a:r>
              <a:rPr lang="en-NZ" altLang="ja-JP" sz="1400" dirty="0">
                <a:solidFill>
                  <a:prstClr val="black"/>
                </a:solidFill>
              </a:rPr>
              <a:t>, b=</a:t>
            </a:r>
            <a:r>
              <a:rPr lang="en-NZ" altLang="ja-JP" sz="1400" dirty="0">
                <a:solidFill>
                  <a:srgbClr val="0070C0"/>
                </a:solidFill>
              </a:rPr>
              <a:t>-5</a:t>
            </a:r>
            <a:r>
              <a:rPr lang="en-NZ" altLang="ja-JP" sz="1400" dirty="0">
                <a:solidFill>
                  <a:prstClr val="black"/>
                </a:solidFill>
              </a:rPr>
              <a:t>)</a:t>
            </a:r>
          </a:p>
          <a:p>
            <a:pPr lvl="0">
              <a:lnSpc>
                <a:spcPct val="100000"/>
              </a:lnSpc>
              <a:defRPr/>
            </a:pPr>
            <a:r>
              <a:rPr lang="en-NZ" altLang="ja-JP" sz="1400" dirty="0">
                <a:solidFill>
                  <a:prstClr val="black"/>
                </a:solidFill>
              </a:rPr>
              <a:t>chain2 &lt;- </a:t>
            </a:r>
            <a:r>
              <a:rPr lang="en-NZ" altLang="ja-JP" sz="1400" dirty="0" err="1">
                <a:solidFill>
                  <a:prstClr val="black"/>
                </a:solidFill>
              </a:rPr>
              <a:t>mcmc</a:t>
            </a:r>
            <a:r>
              <a:rPr lang="en-NZ" altLang="ja-JP" sz="1400" dirty="0">
                <a:solidFill>
                  <a:prstClr val="black"/>
                </a:solidFill>
              </a:rPr>
              <a:t>( MHresult2$xbvn )</a:t>
            </a:r>
          </a:p>
          <a:p>
            <a:pPr lvl="0">
              <a:lnSpc>
                <a:spcPct val="100000"/>
              </a:lnSpc>
              <a:defRPr/>
            </a:pPr>
            <a:endParaRPr lang="en-NZ" altLang="ja-JP" sz="1400" dirty="0">
              <a:solidFill>
                <a:prstClr val="black"/>
              </a:solidFill>
            </a:endParaRPr>
          </a:p>
          <a:p>
            <a:pPr lvl="0">
              <a:lnSpc>
                <a:spcPct val="100000"/>
              </a:lnSpc>
              <a:defRPr/>
            </a:pPr>
            <a:r>
              <a:rPr lang="en-NZ" altLang="ja-JP" sz="1400" dirty="0" err="1">
                <a:solidFill>
                  <a:prstClr val="black"/>
                </a:solidFill>
              </a:rPr>
              <a:t>set.seed</a:t>
            </a:r>
            <a:r>
              <a:rPr lang="en-NZ" altLang="ja-JP" sz="1400" dirty="0">
                <a:solidFill>
                  <a:prstClr val="black"/>
                </a:solidFill>
              </a:rPr>
              <a:t>(12345)</a:t>
            </a:r>
          </a:p>
          <a:p>
            <a:pPr lvl="0">
              <a:lnSpc>
                <a:spcPct val="100000"/>
              </a:lnSpc>
              <a:defRPr/>
            </a:pPr>
            <a:r>
              <a:rPr lang="en-NZ" altLang="ja-JP" sz="1400" dirty="0">
                <a:solidFill>
                  <a:prstClr val="black"/>
                </a:solidFill>
              </a:rPr>
              <a:t>MHresult3 &lt;- </a:t>
            </a:r>
            <a:r>
              <a:rPr lang="en-NZ" altLang="ja-JP" sz="1400" dirty="0" err="1">
                <a:solidFill>
                  <a:prstClr val="black"/>
                </a:solidFill>
              </a:rPr>
              <a:t>MHbvn</a:t>
            </a:r>
            <a:r>
              <a:rPr lang="en-NZ" altLang="ja-JP" sz="1400" dirty="0">
                <a:solidFill>
                  <a:prstClr val="black"/>
                </a:solidFill>
              </a:rPr>
              <a:t>(</a:t>
            </a:r>
            <a:r>
              <a:rPr lang="en-NZ" altLang="ja-JP" sz="1400" dirty="0" err="1">
                <a:solidFill>
                  <a:prstClr val="black"/>
                </a:solidFill>
              </a:rPr>
              <a:t>burnin</a:t>
            </a:r>
            <a:r>
              <a:rPr lang="en-NZ" altLang="ja-JP" sz="1400" dirty="0">
                <a:solidFill>
                  <a:prstClr val="black"/>
                </a:solidFill>
              </a:rPr>
              <a:t> + </a:t>
            </a:r>
            <a:r>
              <a:rPr lang="en-NZ" altLang="ja-JP" sz="1400" dirty="0" err="1">
                <a:solidFill>
                  <a:prstClr val="black"/>
                </a:solidFill>
              </a:rPr>
              <a:t>mcmc</a:t>
            </a:r>
            <a:r>
              <a:rPr lang="en-NZ" altLang="ja-JP" sz="1400" dirty="0">
                <a:solidFill>
                  <a:prstClr val="black"/>
                </a:solidFill>
              </a:rPr>
              <a:t>, a=</a:t>
            </a:r>
            <a:r>
              <a:rPr lang="en-NZ" altLang="ja-JP" sz="1400" dirty="0">
                <a:solidFill>
                  <a:srgbClr val="0070C0"/>
                </a:solidFill>
              </a:rPr>
              <a:t>10</a:t>
            </a:r>
            <a:r>
              <a:rPr lang="en-NZ" altLang="ja-JP" sz="1400" dirty="0">
                <a:solidFill>
                  <a:prstClr val="black"/>
                </a:solidFill>
              </a:rPr>
              <a:t> , b=</a:t>
            </a:r>
            <a:r>
              <a:rPr lang="en-NZ" altLang="ja-JP" sz="1400" dirty="0">
                <a:solidFill>
                  <a:srgbClr val="0070C0"/>
                </a:solidFill>
              </a:rPr>
              <a:t>10</a:t>
            </a:r>
            <a:r>
              <a:rPr lang="en-NZ" altLang="ja-JP" sz="1400" dirty="0">
                <a:solidFill>
                  <a:prstClr val="black"/>
                </a:solidFill>
              </a:rPr>
              <a:t>)</a:t>
            </a:r>
          </a:p>
          <a:p>
            <a:pPr lvl="0">
              <a:lnSpc>
                <a:spcPct val="100000"/>
              </a:lnSpc>
              <a:defRPr/>
            </a:pPr>
            <a:r>
              <a:rPr lang="en-NZ" altLang="ja-JP" sz="1400" dirty="0">
                <a:solidFill>
                  <a:prstClr val="black"/>
                </a:solidFill>
              </a:rPr>
              <a:t>chain3 &lt;- </a:t>
            </a:r>
            <a:r>
              <a:rPr lang="en-NZ" altLang="ja-JP" sz="1400" dirty="0" err="1">
                <a:solidFill>
                  <a:prstClr val="black"/>
                </a:solidFill>
              </a:rPr>
              <a:t>mcmc</a:t>
            </a:r>
            <a:r>
              <a:rPr lang="en-NZ" altLang="ja-JP" sz="1400" dirty="0">
                <a:solidFill>
                  <a:prstClr val="black"/>
                </a:solidFill>
              </a:rPr>
              <a:t>( MHresult3$xbvn )</a:t>
            </a:r>
          </a:p>
          <a:p>
            <a:pPr lvl="0">
              <a:lnSpc>
                <a:spcPct val="100000"/>
              </a:lnSpc>
              <a:defRPr/>
            </a:pPr>
            <a:endParaRPr lang="en-NZ" altLang="ja-JP" sz="1400" dirty="0">
              <a:solidFill>
                <a:prstClr val="black"/>
              </a:solidFill>
            </a:endParaRPr>
          </a:p>
          <a:p>
            <a:pPr lvl="0">
              <a:lnSpc>
                <a:spcPct val="100000"/>
              </a:lnSpc>
              <a:defRPr/>
            </a:pPr>
            <a:r>
              <a:rPr lang="en-NZ" altLang="ja-JP" sz="1400" dirty="0" err="1">
                <a:solidFill>
                  <a:prstClr val="black"/>
                </a:solidFill>
              </a:rPr>
              <a:t>set.seed</a:t>
            </a:r>
            <a:r>
              <a:rPr lang="en-NZ" altLang="ja-JP" sz="1400" dirty="0">
                <a:solidFill>
                  <a:prstClr val="black"/>
                </a:solidFill>
              </a:rPr>
              <a:t>(12345)</a:t>
            </a:r>
          </a:p>
          <a:p>
            <a:pPr lvl="0">
              <a:lnSpc>
                <a:spcPct val="100000"/>
              </a:lnSpc>
              <a:defRPr/>
            </a:pPr>
            <a:r>
              <a:rPr lang="en-NZ" altLang="ja-JP" sz="1400" dirty="0">
                <a:solidFill>
                  <a:prstClr val="black"/>
                </a:solidFill>
              </a:rPr>
              <a:t>MHresult4 &lt;- </a:t>
            </a:r>
            <a:r>
              <a:rPr lang="en-NZ" altLang="ja-JP" sz="1400" dirty="0" err="1">
                <a:solidFill>
                  <a:prstClr val="black"/>
                </a:solidFill>
              </a:rPr>
              <a:t>MHbvn</a:t>
            </a:r>
            <a:r>
              <a:rPr lang="en-NZ" altLang="ja-JP" sz="1400" dirty="0">
                <a:solidFill>
                  <a:prstClr val="black"/>
                </a:solidFill>
              </a:rPr>
              <a:t>(</a:t>
            </a:r>
            <a:r>
              <a:rPr lang="en-NZ" altLang="ja-JP" sz="1400" dirty="0" err="1">
                <a:solidFill>
                  <a:prstClr val="black"/>
                </a:solidFill>
              </a:rPr>
              <a:t>burnin</a:t>
            </a:r>
            <a:r>
              <a:rPr lang="en-NZ" altLang="ja-JP" sz="1400" dirty="0">
                <a:solidFill>
                  <a:prstClr val="black"/>
                </a:solidFill>
              </a:rPr>
              <a:t> + </a:t>
            </a:r>
            <a:r>
              <a:rPr lang="en-NZ" altLang="ja-JP" sz="1400" dirty="0" err="1">
                <a:solidFill>
                  <a:prstClr val="black"/>
                </a:solidFill>
              </a:rPr>
              <a:t>mcmc</a:t>
            </a:r>
            <a:r>
              <a:rPr lang="en-NZ" altLang="ja-JP" sz="1400" dirty="0">
                <a:solidFill>
                  <a:prstClr val="black"/>
                </a:solidFill>
              </a:rPr>
              <a:t>, a=</a:t>
            </a:r>
            <a:r>
              <a:rPr lang="en-NZ" altLang="ja-JP" sz="1400" dirty="0">
                <a:solidFill>
                  <a:srgbClr val="0070C0"/>
                </a:solidFill>
              </a:rPr>
              <a:t>-20 </a:t>
            </a:r>
            <a:r>
              <a:rPr lang="en-NZ" altLang="ja-JP" sz="1400" dirty="0">
                <a:solidFill>
                  <a:prstClr val="black"/>
                </a:solidFill>
              </a:rPr>
              <a:t>, b=</a:t>
            </a:r>
            <a:r>
              <a:rPr lang="en-NZ" altLang="ja-JP" sz="1400" dirty="0">
                <a:solidFill>
                  <a:srgbClr val="0070C0"/>
                </a:solidFill>
              </a:rPr>
              <a:t>-20</a:t>
            </a:r>
            <a:r>
              <a:rPr lang="en-NZ" altLang="ja-JP" sz="1400" dirty="0">
                <a:solidFill>
                  <a:prstClr val="black"/>
                </a:solidFill>
              </a:rPr>
              <a:t>)</a:t>
            </a:r>
          </a:p>
          <a:p>
            <a:pPr lvl="0">
              <a:lnSpc>
                <a:spcPct val="100000"/>
              </a:lnSpc>
              <a:defRPr/>
            </a:pPr>
            <a:r>
              <a:rPr lang="en-NZ" altLang="ja-JP" sz="1400" dirty="0">
                <a:solidFill>
                  <a:prstClr val="black"/>
                </a:solidFill>
              </a:rPr>
              <a:t>chain4 &lt;- </a:t>
            </a:r>
            <a:r>
              <a:rPr lang="en-NZ" altLang="ja-JP" sz="1400" dirty="0" err="1">
                <a:solidFill>
                  <a:prstClr val="black"/>
                </a:solidFill>
              </a:rPr>
              <a:t>mcmc</a:t>
            </a:r>
            <a:r>
              <a:rPr lang="en-NZ" altLang="ja-JP" sz="1400" dirty="0">
                <a:solidFill>
                  <a:prstClr val="black"/>
                </a:solidFill>
              </a:rPr>
              <a:t>( MHresult4$xbvn )</a:t>
            </a:r>
          </a:p>
          <a:p>
            <a:pPr lvl="0">
              <a:lnSpc>
                <a:spcPct val="100000"/>
              </a:lnSpc>
              <a:defRPr/>
            </a:pPr>
            <a:endParaRPr kumimoji="1" lang="en-NZ" altLang="ja-JP" sz="14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lvl="0">
              <a:lnSpc>
                <a:spcPct val="100000"/>
              </a:lnSpc>
              <a:defRPr/>
            </a:pPr>
            <a:r>
              <a:rPr kumimoji="1" lang="en-US" altLang="ja-JP" sz="1400" u="none" strike="noStrike" kern="1200" cap="none" spc="0" normalizeH="0" baseline="0" noProof="0" dirty="0">
                <a:ln>
                  <a:noFill/>
                </a:ln>
                <a:solidFill>
                  <a:srgbClr val="00B050"/>
                </a:solidFill>
                <a:effectLst/>
                <a:uLnTx/>
                <a:uFillTx/>
                <a:latin typeface="Calibri" panose="020F0502020204030204"/>
                <a:ea typeface="游ゴシック" panose="020B0400000000000000" pitchFamily="34" charset="-128"/>
              </a:rPr>
              <a:t># 5.1b - Combining the chains into an </a:t>
            </a:r>
            <a:r>
              <a:rPr kumimoji="1" lang="en-US" altLang="ja-JP" sz="1400" u="none" strike="noStrike" kern="1200" cap="none" spc="0" normalizeH="0" baseline="0" noProof="0" dirty="0" err="1">
                <a:ln>
                  <a:noFill/>
                </a:ln>
                <a:solidFill>
                  <a:srgbClr val="00B050"/>
                </a:solidFill>
                <a:effectLst/>
                <a:uLnTx/>
                <a:uFillTx/>
                <a:latin typeface="Calibri" panose="020F0502020204030204"/>
                <a:ea typeface="游ゴシック" panose="020B0400000000000000" pitchFamily="34" charset="-128"/>
              </a:rPr>
              <a:t>mcmc.list</a:t>
            </a:r>
            <a:endParaRPr kumimoji="1" lang="en-US" altLang="ja-JP" sz="1400" u="none" strike="noStrike" kern="1200" cap="none" spc="0" normalizeH="0" baseline="0" noProof="0" dirty="0">
              <a:ln>
                <a:noFill/>
              </a:ln>
              <a:solidFill>
                <a:srgbClr val="00B050"/>
              </a:solidFill>
              <a:effectLst/>
              <a:uLnTx/>
              <a:uFillTx/>
              <a:latin typeface="Calibri" panose="020F0502020204030204"/>
              <a:ea typeface="游ゴシック" panose="020B0400000000000000" pitchFamily="34" charset="-128"/>
            </a:endParaRPr>
          </a:p>
          <a:p>
            <a:pPr lvl="0">
              <a:lnSpc>
                <a:spcPct val="100000"/>
              </a:lnSpc>
              <a:defRPr/>
            </a:pPr>
            <a:r>
              <a:rPr kumimoji="1" lang="en-US" altLang="ja-JP" sz="1400"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rPr>
              <a:t>gel_rub_list</a:t>
            </a:r>
            <a:r>
              <a:rPr kumimoji="1" lang="en-US" altLang="ja-JP" sz="14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&lt;- </a:t>
            </a:r>
            <a:r>
              <a:rPr kumimoji="1" lang="en-US" altLang="ja-JP" sz="1400"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rPr>
              <a:t>mcmc.list</a:t>
            </a:r>
            <a:r>
              <a:rPr kumimoji="1" lang="en-US" altLang="ja-JP" sz="14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list(chain1, chain2, chain3, chain4 ) )</a:t>
            </a:r>
          </a:p>
          <a:p>
            <a:pPr lvl="0">
              <a:lnSpc>
                <a:spcPct val="100000"/>
              </a:lnSpc>
              <a:defRPr/>
            </a:pPr>
            <a:endParaRPr kumimoji="1" lang="en-US" altLang="ja-JP" sz="14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lvl="0">
              <a:lnSpc>
                <a:spcPct val="100000"/>
              </a:lnSpc>
              <a:defRPr/>
            </a:pPr>
            <a:endParaRPr kumimoji="1" lang="en-US" altLang="ja-JP" sz="14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lvl="0">
              <a:lnSpc>
                <a:spcPct val="100000"/>
              </a:lnSpc>
              <a:defRPr/>
            </a:pPr>
            <a:r>
              <a:rPr kumimoji="1" lang="en-US" altLang="ja-JP" sz="1400" u="none" strike="noStrike" kern="1200" cap="none" spc="0" normalizeH="0" baseline="0" noProof="0" dirty="0">
                <a:ln>
                  <a:noFill/>
                </a:ln>
                <a:solidFill>
                  <a:srgbClr val="00B050"/>
                </a:solidFill>
                <a:effectLst/>
                <a:uLnTx/>
                <a:uFillTx/>
                <a:latin typeface="Calibri" panose="020F0502020204030204"/>
                <a:ea typeface="游ゴシック" panose="020B0400000000000000" pitchFamily="34" charset="-128"/>
              </a:rPr>
              <a:t># 5.1c - Conducting the Gelman &amp; Rubin diagnostic test</a:t>
            </a:r>
          </a:p>
          <a:p>
            <a:pPr lvl="0">
              <a:lnSpc>
                <a:spcPct val="100000"/>
              </a:lnSpc>
              <a:defRPr/>
            </a:pPr>
            <a:r>
              <a:rPr kumimoji="1" lang="en-US" altLang="ja-JP" sz="1400"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rPr>
              <a:t>gelman.diag</a:t>
            </a:r>
            <a:r>
              <a:rPr kumimoji="1" lang="en-US" altLang="ja-JP" sz="14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a:t>
            </a:r>
            <a:r>
              <a:rPr kumimoji="1" lang="en-US" altLang="ja-JP" sz="1400"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rPr>
              <a:t>gel_rub_list</a:t>
            </a:r>
            <a:r>
              <a:rPr kumimoji="1" lang="en-US" altLang="ja-JP" sz="14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a:t>
            </a:r>
          </a:p>
        </p:txBody>
      </p:sp>
      <p:sp>
        <p:nvSpPr>
          <p:cNvPr id="21" name="Text Placeholder 5">
            <a:extLst>
              <a:ext uri="{FF2B5EF4-FFF2-40B4-BE49-F238E27FC236}">
                <a16:creationId xmlns:a16="http://schemas.microsoft.com/office/drawing/2014/main" id="{CF80373D-D998-C42B-CDEF-2A9C57ACAB88}"/>
              </a:ext>
            </a:extLst>
          </p:cNvPr>
          <p:cNvSpPr txBox="1">
            <a:spLocks/>
          </p:cNvSpPr>
          <p:nvPr/>
        </p:nvSpPr>
        <p:spPr>
          <a:xfrm>
            <a:off x="316955" y="917216"/>
            <a:ext cx="100390" cy="5571272"/>
          </a:xfrm>
          <a:prstGeom prst="rect">
            <a:avLst/>
          </a:prstGeom>
          <a:solidFill>
            <a:srgbClr val="002060"/>
          </a:solid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endParaRPr kumimoji="1" lang="en-US" altLang="ja-JP" sz="14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p:sp>
        <p:nvSpPr>
          <p:cNvPr id="22" name="Text Placeholder 5">
            <a:extLst>
              <a:ext uri="{FF2B5EF4-FFF2-40B4-BE49-F238E27FC236}">
                <a16:creationId xmlns:a16="http://schemas.microsoft.com/office/drawing/2014/main" id="{155E5ABE-FB8C-918A-0C76-1D33B5C9F362}"/>
              </a:ext>
            </a:extLst>
          </p:cNvPr>
          <p:cNvSpPr txBox="1">
            <a:spLocks/>
          </p:cNvSpPr>
          <p:nvPr/>
        </p:nvSpPr>
        <p:spPr>
          <a:xfrm>
            <a:off x="5665487" y="917215"/>
            <a:ext cx="4201849" cy="1684741"/>
          </a:xfrm>
          <a:prstGeom prst="rect">
            <a:avLst/>
          </a:prstGeom>
          <a:solidFill>
            <a:schemeClr val="bg1">
              <a:lumMod val="95000"/>
            </a:schemeClr>
          </a:solid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300" i="1" dirty="0">
                <a:solidFill>
                  <a:schemeClr val="tx1"/>
                </a:solidFill>
              </a:rPr>
              <a:t>Potential scale reduction factors:</a:t>
            </a:r>
          </a:p>
          <a:p>
            <a:pPr lvl="0">
              <a:lnSpc>
                <a:spcPct val="100000"/>
              </a:lnSpc>
              <a:defRPr/>
            </a:pPr>
            <a:endParaRPr lang="en-NZ" altLang="ja-JP" sz="1300" i="1" dirty="0">
              <a:solidFill>
                <a:schemeClr val="tx1"/>
              </a:solidFill>
            </a:endParaRPr>
          </a:p>
          <a:p>
            <a:pPr lvl="0">
              <a:lnSpc>
                <a:spcPct val="100000"/>
              </a:lnSpc>
              <a:defRPr/>
            </a:pPr>
            <a:r>
              <a:rPr lang="en-NZ" altLang="ja-JP" sz="1300" i="1" dirty="0">
                <a:solidFill>
                  <a:schemeClr val="tx1"/>
                </a:solidFill>
              </a:rPr>
              <a:t>     Point est. Upper C.I.</a:t>
            </a:r>
          </a:p>
          <a:p>
            <a:pPr lvl="0">
              <a:lnSpc>
                <a:spcPct val="100000"/>
              </a:lnSpc>
              <a:defRPr/>
            </a:pPr>
            <a:r>
              <a:rPr lang="en-NZ" altLang="ja-JP" sz="1300" i="1" dirty="0">
                <a:solidFill>
                  <a:schemeClr val="tx1"/>
                </a:solidFill>
              </a:rPr>
              <a:t>[1,]          1          1</a:t>
            </a:r>
          </a:p>
          <a:p>
            <a:pPr lvl="0">
              <a:lnSpc>
                <a:spcPct val="100000"/>
              </a:lnSpc>
              <a:defRPr/>
            </a:pPr>
            <a:r>
              <a:rPr lang="en-NZ" altLang="ja-JP" sz="1300" i="1" dirty="0">
                <a:solidFill>
                  <a:schemeClr val="tx1"/>
                </a:solidFill>
              </a:rPr>
              <a:t>[2,]          1          1</a:t>
            </a:r>
          </a:p>
          <a:p>
            <a:pPr lvl="0">
              <a:lnSpc>
                <a:spcPct val="100000"/>
              </a:lnSpc>
              <a:defRPr/>
            </a:pPr>
            <a:endParaRPr lang="en-NZ" altLang="ja-JP" sz="1300" i="1" dirty="0">
              <a:solidFill>
                <a:schemeClr val="tx1"/>
              </a:solidFill>
            </a:endParaRPr>
          </a:p>
          <a:p>
            <a:pPr lvl="0">
              <a:lnSpc>
                <a:spcPct val="100000"/>
              </a:lnSpc>
              <a:defRPr/>
            </a:pPr>
            <a:r>
              <a:rPr lang="en-NZ" altLang="ja-JP" sz="1300" i="1" dirty="0">
                <a:solidFill>
                  <a:schemeClr val="tx1"/>
                </a:solidFill>
              </a:rPr>
              <a:t>Multivariate </a:t>
            </a:r>
            <a:r>
              <a:rPr lang="en-NZ" altLang="ja-JP" sz="1300" i="1" dirty="0" err="1">
                <a:solidFill>
                  <a:schemeClr val="tx1"/>
                </a:solidFill>
              </a:rPr>
              <a:t>psrf</a:t>
            </a:r>
            <a:endParaRPr lang="en-NZ" altLang="ja-JP" sz="1300" i="1" dirty="0">
              <a:solidFill>
                <a:schemeClr val="tx1"/>
              </a:solidFill>
            </a:endParaRPr>
          </a:p>
        </p:txBody>
      </p:sp>
      <p:sp>
        <p:nvSpPr>
          <p:cNvPr id="23" name="Text Placeholder 5">
            <a:extLst>
              <a:ext uri="{FF2B5EF4-FFF2-40B4-BE49-F238E27FC236}">
                <a16:creationId xmlns:a16="http://schemas.microsoft.com/office/drawing/2014/main" id="{635075A2-97E1-4478-B20E-93ED44C8F024}"/>
              </a:ext>
            </a:extLst>
          </p:cNvPr>
          <p:cNvSpPr txBox="1">
            <a:spLocks/>
          </p:cNvSpPr>
          <p:nvPr/>
        </p:nvSpPr>
        <p:spPr>
          <a:xfrm>
            <a:off x="2345361" y="6488487"/>
            <a:ext cx="7501278" cy="28337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rPr>
              <a:t>Associated Code = 10 - Bivariate Normal Example (Convergence</a:t>
            </a:r>
            <a:r>
              <a:rPr kumimoji="1" lang="en-NZ" altLang="ja-JP" sz="1200" u="none" strike="noStrike" kern="1200" cap="none" spc="0" normalizeH="0" noProof="0" dirty="0">
                <a:ln>
                  <a:noFill/>
                </a:ln>
                <a:solidFill>
                  <a:srgbClr val="C00000"/>
                </a:solidFill>
                <a:effectLst/>
                <a:uLnTx/>
                <a:uFillTx/>
                <a:latin typeface="Calibri" panose="020F0502020204030204"/>
                <a:ea typeface="游ゴシック" panose="020B0400000000000000" pitchFamily="34" charset="-128"/>
              </a:rPr>
              <a:t> Tests</a:t>
            </a:r>
            <a:r>
              <a:rPr kumimoji="1" lang="en-NZ"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rPr>
              <a:t>)</a:t>
            </a:r>
            <a:endParaRPr kumimoji="1" lang="en-US"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p:sp>
        <p:nvSpPr>
          <p:cNvPr id="24" name="Text Placeholder 5">
            <a:extLst>
              <a:ext uri="{FF2B5EF4-FFF2-40B4-BE49-F238E27FC236}">
                <a16:creationId xmlns:a16="http://schemas.microsoft.com/office/drawing/2014/main" id="{602B0C7C-E6FC-D409-DFD6-874EF0915FD0}"/>
              </a:ext>
            </a:extLst>
          </p:cNvPr>
          <p:cNvSpPr txBox="1">
            <a:spLocks/>
          </p:cNvSpPr>
          <p:nvPr/>
        </p:nvSpPr>
        <p:spPr>
          <a:xfrm>
            <a:off x="5567855" y="3425372"/>
            <a:ext cx="6307190" cy="101600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800" b="1" i="1" dirty="0" err="1">
                <a:solidFill>
                  <a:schemeClr val="tx1"/>
                </a:solidFill>
              </a:rPr>
              <a:t>Gelman.diag</a:t>
            </a:r>
            <a:r>
              <a:rPr lang="en-NZ" altLang="ja-JP" sz="1800" b="1" i="1" dirty="0">
                <a:solidFill>
                  <a:schemeClr val="tx1"/>
                </a:solidFill>
              </a:rPr>
              <a:t>()</a:t>
            </a:r>
            <a:r>
              <a:rPr lang="en-NZ" altLang="ja-JP" sz="1800" dirty="0">
                <a:solidFill>
                  <a:schemeClr val="tx1"/>
                </a:solidFill>
              </a:rPr>
              <a:t> function gives:</a:t>
            </a:r>
            <a:br>
              <a:rPr lang="en-NZ" altLang="ja-JP" sz="1800" dirty="0">
                <a:solidFill>
                  <a:schemeClr val="tx1"/>
                </a:solidFill>
              </a:rPr>
            </a:br>
            <a:r>
              <a:rPr lang="en-NZ" altLang="ja-JP" sz="1800" dirty="0">
                <a:solidFill>
                  <a:schemeClr val="tx1"/>
                </a:solidFill>
              </a:rPr>
              <a:t>- a (median) point estimate for the PSRF</a:t>
            </a:r>
            <a:br>
              <a:rPr lang="en-NZ" altLang="ja-JP" sz="1800" dirty="0">
                <a:solidFill>
                  <a:schemeClr val="tx1"/>
                </a:solidFill>
              </a:rPr>
            </a:br>
            <a:r>
              <a:rPr lang="en-NZ" altLang="ja-JP" sz="1800" dirty="0">
                <a:solidFill>
                  <a:schemeClr val="tx1"/>
                </a:solidFill>
              </a:rPr>
              <a:t>- a 97.5% quantile estimate (i.e. the upper limit of a 95% CI) </a:t>
            </a:r>
            <a:endParaRPr lang="en-NZ" altLang="ja-JP" sz="1800" b="1" i="1" dirty="0">
              <a:solidFill>
                <a:schemeClr val="tx1"/>
              </a:solidFill>
            </a:endParaRPr>
          </a:p>
        </p:txBody>
      </p:sp>
      <p:sp>
        <p:nvSpPr>
          <p:cNvPr id="25" name="Text Placeholder 5">
            <a:extLst>
              <a:ext uri="{FF2B5EF4-FFF2-40B4-BE49-F238E27FC236}">
                <a16:creationId xmlns:a16="http://schemas.microsoft.com/office/drawing/2014/main" id="{6DD00B32-4B2A-12FF-4809-62A25EBCD2D8}"/>
              </a:ext>
            </a:extLst>
          </p:cNvPr>
          <p:cNvSpPr txBox="1">
            <a:spLocks/>
          </p:cNvSpPr>
          <p:nvPr/>
        </p:nvSpPr>
        <p:spPr>
          <a:xfrm>
            <a:off x="5567855" y="4571534"/>
            <a:ext cx="6307190" cy="97829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800" dirty="0">
                <a:solidFill>
                  <a:schemeClr val="tx1"/>
                </a:solidFill>
              </a:rPr>
              <a:t>In this example both the point and upper estimate are equal to 1 for both variables. Hence, there is no evidence to suggest that the chains have not converged.</a:t>
            </a:r>
          </a:p>
        </p:txBody>
      </p:sp>
    </p:spTree>
    <p:extLst>
      <p:ext uri="{BB962C8B-B14F-4D97-AF65-F5344CB8AC3E}">
        <p14:creationId xmlns:p14="http://schemas.microsoft.com/office/powerpoint/2010/main" val="639700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4" grpId="0"/>
      <p:bldP spid="2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4" name="Title 6">
            <a:extLst>
              <a:ext uri="{FF2B5EF4-FFF2-40B4-BE49-F238E27FC236}">
                <a16:creationId xmlns:a16="http://schemas.microsoft.com/office/drawing/2014/main" id="{18EFAA1F-58F5-B8DC-5203-016AF3661A4C}"/>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10.4c – Bivariate Normal Example</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5" name="Footer Placeholder 2">
            <a:extLst>
              <a:ext uri="{FF2B5EF4-FFF2-40B4-BE49-F238E27FC236}">
                <a16:creationId xmlns:a16="http://schemas.microsoft.com/office/drawing/2014/main" id="{CE1BC482-63C5-C7CB-8FB1-F710CF896763}"/>
              </a:ext>
            </a:extLst>
          </p:cNvPr>
          <p:cNvSpPr txBox="1">
            <a:spLocks/>
          </p:cNvSpPr>
          <p:nvPr/>
        </p:nvSpPr>
        <p:spPr>
          <a:xfrm>
            <a:off x="8993875" y="86139"/>
            <a:ext cx="309549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10.4 – Gelman &amp; Rubin Diagnostic</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27" name="Text Placeholder 5">
            <a:extLst>
              <a:ext uri="{FF2B5EF4-FFF2-40B4-BE49-F238E27FC236}">
                <a16:creationId xmlns:a16="http://schemas.microsoft.com/office/drawing/2014/main" id="{998DE729-4722-2D0F-F4D4-926FF424C8D7}"/>
              </a:ext>
            </a:extLst>
          </p:cNvPr>
          <p:cNvSpPr txBox="1">
            <a:spLocks/>
          </p:cNvSpPr>
          <p:nvPr/>
        </p:nvSpPr>
        <p:spPr>
          <a:xfrm>
            <a:off x="3913403" y="1894407"/>
            <a:ext cx="7843167" cy="102296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800" dirty="0">
                <a:solidFill>
                  <a:schemeClr val="tx1"/>
                </a:solidFill>
              </a:rPr>
              <a:t>The </a:t>
            </a:r>
            <a:r>
              <a:rPr lang="en-NZ" altLang="ja-JP" sz="1800" b="1" i="1" dirty="0" err="1">
                <a:solidFill>
                  <a:schemeClr val="tx1"/>
                </a:solidFill>
              </a:rPr>
              <a:t>gelman.plot</a:t>
            </a:r>
            <a:r>
              <a:rPr lang="en-NZ" altLang="ja-JP" sz="1800" b="1" i="1" dirty="0">
                <a:solidFill>
                  <a:schemeClr val="tx1"/>
                </a:solidFill>
              </a:rPr>
              <a:t>()</a:t>
            </a:r>
            <a:r>
              <a:rPr lang="en-NZ" altLang="ja-JP" sz="1800" dirty="0">
                <a:solidFill>
                  <a:schemeClr val="tx1"/>
                </a:solidFill>
              </a:rPr>
              <a:t> function calculates the value of the PSRF with different numbers of points </a:t>
            </a:r>
            <a:r>
              <a:rPr lang="en-NZ" altLang="ja-JP" sz="1800" b="1" dirty="0">
                <a:solidFill>
                  <a:schemeClr val="tx1"/>
                </a:solidFill>
              </a:rPr>
              <a:t>included</a:t>
            </a:r>
            <a:r>
              <a:rPr lang="en-NZ" altLang="ja-JP" sz="1800" dirty="0">
                <a:solidFill>
                  <a:schemeClr val="tx1"/>
                </a:solidFill>
              </a:rPr>
              <a:t> at the beginning of the chain.</a:t>
            </a:r>
            <a:br>
              <a:rPr lang="en-NZ" altLang="ja-JP" sz="1800" dirty="0">
                <a:solidFill>
                  <a:schemeClr val="tx1"/>
                </a:solidFill>
              </a:rPr>
            </a:br>
            <a:r>
              <a:rPr lang="en-NZ" altLang="ja-JP" sz="1800" dirty="0">
                <a:solidFill>
                  <a:schemeClr val="tx1"/>
                </a:solidFill>
              </a:rPr>
              <a:t>Note that this is the opposite of the </a:t>
            </a:r>
            <a:r>
              <a:rPr lang="en-NZ" altLang="ja-JP" sz="1800" dirty="0" err="1">
                <a:solidFill>
                  <a:schemeClr val="tx1"/>
                </a:solidFill>
              </a:rPr>
              <a:t>Geweke</a:t>
            </a:r>
            <a:r>
              <a:rPr lang="en-NZ" altLang="ja-JP" sz="1800" dirty="0">
                <a:solidFill>
                  <a:schemeClr val="tx1"/>
                </a:solidFill>
              </a:rPr>
              <a:t> plot.</a:t>
            </a:r>
          </a:p>
        </p:txBody>
      </p:sp>
      <p:sp>
        <p:nvSpPr>
          <p:cNvPr id="20" name="Text Placeholder 5">
            <a:extLst>
              <a:ext uri="{FF2B5EF4-FFF2-40B4-BE49-F238E27FC236}">
                <a16:creationId xmlns:a16="http://schemas.microsoft.com/office/drawing/2014/main" id="{38426CD5-ECB5-E773-BEB6-A247DE444FFE}"/>
              </a:ext>
            </a:extLst>
          </p:cNvPr>
          <p:cNvSpPr txBox="1">
            <a:spLocks/>
          </p:cNvSpPr>
          <p:nvPr/>
        </p:nvSpPr>
        <p:spPr>
          <a:xfrm>
            <a:off x="4098990" y="939606"/>
            <a:ext cx="4894885" cy="607201"/>
          </a:xfrm>
          <a:prstGeom prst="rect">
            <a:avLst/>
          </a:prstGeom>
          <a:solidFill>
            <a:schemeClr val="accent5">
              <a:lumMod val="20000"/>
              <a:lumOff val="80000"/>
            </a:schemeClr>
          </a:solid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400" dirty="0">
                <a:solidFill>
                  <a:srgbClr val="00B050"/>
                </a:solidFill>
              </a:rPr>
              <a:t># 5.1d - Producing Gelman-Rubin plots</a:t>
            </a:r>
            <a:br>
              <a:rPr lang="en-NZ" altLang="ja-JP" sz="1400" dirty="0">
                <a:solidFill>
                  <a:srgbClr val="00B050"/>
                </a:solidFill>
              </a:rPr>
            </a:br>
            <a:r>
              <a:rPr lang="en-NZ" altLang="ja-JP" sz="1400" dirty="0" err="1">
                <a:solidFill>
                  <a:prstClr val="black"/>
                </a:solidFill>
              </a:rPr>
              <a:t>gelman.plot</a:t>
            </a:r>
            <a:r>
              <a:rPr lang="en-NZ" altLang="ja-JP" sz="1400" dirty="0">
                <a:solidFill>
                  <a:prstClr val="black"/>
                </a:solidFill>
              </a:rPr>
              <a:t>(</a:t>
            </a:r>
            <a:r>
              <a:rPr lang="en-NZ" altLang="ja-JP" sz="1400" dirty="0" err="1">
                <a:solidFill>
                  <a:prstClr val="black"/>
                </a:solidFill>
              </a:rPr>
              <a:t>gel_rub_list</a:t>
            </a:r>
            <a:r>
              <a:rPr lang="en-NZ" altLang="ja-JP" sz="1400" dirty="0">
                <a:solidFill>
                  <a:prstClr val="black"/>
                </a:solidFill>
              </a:rPr>
              <a:t>)</a:t>
            </a:r>
            <a:endParaRPr kumimoji="1" lang="en-US" altLang="ja-JP" sz="14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p:sp>
        <p:nvSpPr>
          <p:cNvPr id="21" name="Text Placeholder 5">
            <a:extLst>
              <a:ext uri="{FF2B5EF4-FFF2-40B4-BE49-F238E27FC236}">
                <a16:creationId xmlns:a16="http://schemas.microsoft.com/office/drawing/2014/main" id="{CF80373D-D998-C42B-CDEF-2A9C57ACAB88}"/>
              </a:ext>
            </a:extLst>
          </p:cNvPr>
          <p:cNvSpPr txBox="1">
            <a:spLocks/>
          </p:cNvSpPr>
          <p:nvPr/>
        </p:nvSpPr>
        <p:spPr>
          <a:xfrm>
            <a:off x="3998600" y="939606"/>
            <a:ext cx="100390" cy="607201"/>
          </a:xfrm>
          <a:prstGeom prst="rect">
            <a:avLst/>
          </a:prstGeom>
          <a:solidFill>
            <a:srgbClr val="002060"/>
          </a:solid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endParaRPr kumimoji="1" lang="en-US" altLang="ja-JP" sz="14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p:sp>
        <p:nvSpPr>
          <p:cNvPr id="23" name="Text Placeholder 5">
            <a:extLst>
              <a:ext uri="{FF2B5EF4-FFF2-40B4-BE49-F238E27FC236}">
                <a16:creationId xmlns:a16="http://schemas.microsoft.com/office/drawing/2014/main" id="{635075A2-97E1-4478-B20E-93ED44C8F024}"/>
              </a:ext>
            </a:extLst>
          </p:cNvPr>
          <p:cNvSpPr txBox="1">
            <a:spLocks/>
          </p:cNvSpPr>
          <p:nvPr/>
        </p:nvSpPr>
        <p:spPr>
          <a:xfrm>
            <a:off x="2345361" y="6488487"/>
            <a:ext cx="7501278" cy="28337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rPr>
              <a:t>Associated Code = 10 - Bivariate Normal Example (Convergence</a:t>
            </a:r>
            <a:r>
              <a:rPr kumimoji="1" lang="en-NZ" altLang="ja-JP" sz="1200" u="none" strike="noStrike" kern="1200" cap="none" spc="0" normalizeH="0" noProof="0" dirty="0">
                <a:ln>
                  <a:noFill/>
                </a:ln>
                <a:solidFill>
                  <a:srgbClr val="C00000"/>
                </a:solidFill>
                <a:effectLst/>
                <a:uLnTx/>
                <a:uFillTx/>
                <a:latin typeface="Calibri" panose="020F0502020204030204"/>
                <a:ea typeface="游ゴシック" panose="020B0400000000000000" pitchFamily="34" charset="-128"/>
              </a:rPr>
              <a:t> Tests</a:t>
            </a:r>
            <a:r>
              <a:rPr kumimoji="1" lang="en-NZ"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rPr>
              <a:t>)</a:t>
            </a:r>
            <a:endParaRPr kumimoji="1" lang="en-US"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p:pic>
        <p:nvPicPr>
          <p:cNvPr id="6" name="Picture 5">
            <a:extLst>
              <a:ext uri="{FF2B5EF4-FFF2-40B4-BE49-F238E27FC236}">
                <a16:creationId xmlns:a16="http://schemas.microsoft.com/office/drawing/2014/main" id="{58D14461-9984-8636-12A9-0C1E3619644D}"/>
              </a:ext>
            </a:extLst>
          </p:cNvPr>
          <p:cNvPicPr>
            <a:picLocks noChangeAspect="1"/>
          </p:cNvPicPr>
          <p:nvPr/>
        </p:nvPicPr>
        <p:blipFill>
          <a:blip r:embed="rId2"/>
          <a:stretch>
            <a:fillRect/>
          </a:stretch>
        </p:blipFill>
        <p:spPr>
          <a:xfrm>
            <a:off x="238535" y="804090"/>
            <a:ext cx="3396509" cy="2908388"/>
          </a:xfrm>
          <a:prstGeom prst="rect">
            <a:avLst/>
          </a:prstGeom>
        </p:spPr>
      </p:pic>
      <p:pic>
        <p:nvPicPr>
          <p:cNvPr id="8" name="Picture 7">
            <a:extLst>
              <a:ext uri="{FF2B5EF4-FFF2-40B4-BE49-F238E27FC236}">
                <a16:creationId xmlns:a16="http://schemas.microsoft.com/office/drawing/2014/main" id="{1526CB1B-4955-46F8-954B-0BA11716FE95}"/>
              </a:ext>
            </a:extLst>
          </p:cNvPr>
          <p:cNvPicPr>
            <a:picLocks noChangeAspect="1"/>
          </p:cNvPicPr>
          <p:nvPr/>
        </p:nvPicPr>
        <p:blipFill>
          <a:blip r:embed="rId3"/>
          <a:stretch>
            <a:fillRect/>
          </a:stretch>
        </p:blipFill>
        <p:spPr>
          <a:xfrm>
            <a:off x="163773" y="3712478"/>
            <a:ext cx="3471271" cy="2969401"/>
          </a:xfrm>
          <a:prstGeom prst="rect">
            <a:avLst/>
          </a:prstGeom>
        </p:spPr>
      </p:pic>
      <p:sp>
        <p:nvSpPr>
          <p:cNvPr id="18" name="Text Placeholder 5">
            <a:extLst>
              <a:ext uri="{FF2B5EF4-FFF2-40B4-BE49-F238E27FC236}">
                <a16:creationId xmlns:a16="http://schemas.microsoft.com/office/drawing/2014/main" id="{83A3F6E8-948F-B62F-67D8-A9D3C1A18CE9}"/>
              </a:ext>
            </a:extLst>
          </p:cNvPr>
          <p:cNvSpPr txBox="1">
            <a:spLocks/>
          </p:cNvSpPr>
          <p:nvPr/>
        </p:nvSpPr>
        <p:spPr>
          <a:xfrm>
            <a:off x="3913403" y="3046412"/>
            <a:ext cx="7843167"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800" dirty="0">
                <a:solidFill>
                  <a:schemeClr val="tx1"/>
                </a:solidFill>
              </a:rPr>
              <a:t>The adjacent plots from the bivariate normal example show no evidence against the assumption that the chains have converged. </a:t>
            </a:r>
          </a:p>
        </p:txBody>
      </p:sp>
      <p:sp>
        <p:nvSpPr>
          <p:cNvPr id="19" name="Text Placeholder 5">
            <a:extLst>
              <a:ext uri="{FF2B5EF4-FFF2-40B4-BE49-F238E27FC236}">
                <a16:creationId xmlns:a16="http://schemas.microsoft.com/office/drawing/2014/main" id="{74E393EE-3C55-6EFC-347E-6BFE24C0A072}"/>
              </a:ext>
            </a:extLst>
          </p:cNvPr>
          <p:cNvSpPr txBox="1">
            <a:spLocks/>
          </p:cNvSpPr>
          <p:nvPr/>
        </p:nvSpPr>
        <p:spPr>
          <a:xfrm rot="16200000">
            <a:off x="-256826" y="1213475"/>
            <a:ext cx="990723" cy="442984"/>
          </a:xfrm>
          <a:prstGeom prst="rect">
            <a:avLst/>
          </a:prstGeom>
          <a:no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800" dirty="0">
                <a:solidFill>
                  <a:schemeClr val="tx1"/>
                </a:solidFill>
              </a:rPr>
              <a:t>X</a:t>
            </a:r>
            <a:r>
              <a:rPr lang="en-NZ" altLang="ja-JP" sz="1800" baseline="-25000" dirty="0">
                <a:solidFill>
                  <a:schemeClr val="tx1"/>
                </a:solidFill>
              </a:rPr>
              <a:t>1</a:t>
            </a:r>
            <a:endParaRPr lang="en-NZ" altLang="ja-JP" sz="1800" dirty="0">
              <a:solidFill>
                <a:schemeClr val="tx1"/>
              </a:solidFill>
            </a:endParaRPr>
          </a:p>
        </p:txBody>
      </p:sp>
      <p:sp>
        <p:nvSpPr>
          <p:cNvPr id="26" name="Text Placeholder 5">
            <a:extLst>
              <a:ext uri="{FF2B5EF4-FFF2-40B4-BE49-F238E27FC236}">
                <a16:creationId xmlns:a16="http://schemas.microsoft.com/office/drawing/2014/main" id="{D05B6694-87D8-F918-C366-73CA08B83B9F}"/>
              </a:ext>
            </a:extLst>
          </p:cNvPr>
          <p:cNvSpPr txBox="1">
            <a:spLocks/>
          </p:cNvSpPr>
          <p:nvPr/>
        </p:nvSpPr>
        <p:spPr>
          <a:xfrm rot="16200000">
            <a:off x="-256826" y="4210818"/>
            <a:ext cx="990723" cy="442984"/>
          </a:xfrm>
          <a:prstGeom prst="rect">
            <a:avLst/>
          </a:prstGeom>
          <a:no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800" dirty="0">
                <a:solidFill>
                  <a:schemeClr val="tx1"/>
                </a:solidFill>
              </a:rPr>
              <a:t>X</a:t>
            </a:r>
            <a:r>
              <a:rPr lang="en-NZ" altLang="ja-JP" sz="1800" baseline="-25000" dirty="0">
                <a:solidFill>
                  <a:schemeClr val="tx1"/>
                </a:solidFill>
              </a:rPr>
              <a:t>2</a:t>
            </a:r>
            <a:endParaRPr lang="en-NZ" altLang="ja-JP" sz="1800" dirty="0">
              <a:solidFill>
                <a:schemeClr val="tx1"/>
              </a:solidFill>
            </a:endParaRPr>
          </a:p>
        </p:txBody>
      </p:sp>
      <mc:AlternateContent xmlns:mc="http://schemas.openxmlformats.org/markup-compatibility/2006" xmlns:a14="http://schemas.microsoft.com/office/drawing/2010/main">
        <mc:Choice Requires="a14">
          <p:sp>
            <p:nvSpPr>
              <p:cNvPr id="28" name="Text Placeholder 5">
                <a:extLst>
                  <a:ext uri="{FF2B5EF4-FFF2-40B4-BE49-F238E27FC236}">
                    <a16:creationId xmlns:a16="http://schemas.microsoft.com/office/drawing/2014/main" id="{632ADB6A-33D3-FF95-4191-116D0ED1002A}"/>
                  </a:ext>
                </a:extLst>
              </p:cNvPr>
              <p:cNvSpPr txBox="1">
                <a:spLocks/>
              </p:cNvSpPr>
              <p:nvPr/>
            </p:nvSpPr>
            <p:spPr>
              <a:xfrm>
                <a:off x="3934072" y="4022842"/>
                <a:ext cx="7843167"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800" dirty="0">
                    <a:solidFill>
                      <a:schemeClr val="tx1"/>
                    </a:solidFill>
                  </a:rPr>
                  <a:t>If early values are included, then </a:t>
                </a:r>
                <a14:m>
                  <m:oMath xmlns:m="http://schemas.openxmlformats.org/officeDocument/2006/math">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𝑽𝒂𝒓</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𝑿</m:t>
                        </m:r>
                        <m:r>
                          <a:rPr lang="en-NZ" altLang="ja-JP" sz="1800" b="1" i="1">
                            <a:solidFill>
                              <a:schemeClr val="tx1"/>
                            </a:solidFill>
                            <a:latin typeface="Cambria Math" panose="02040503050406030204" pitchFamily="18" charset="0"/>
                          </a:rPr>
                          <m:t>)</m:t>
                        </m:r>
                      </m:e>
                    </m:acc>
                    <m:r>
                      <a:rPr lang="en-NZ" altLang="ja-JP" sz="1800" b="1" i="1" smtClean="0">
                        <a:solidFill>
                          <a:schemeClr val="tx1"/>
                        </a:solidFill>
                        <a:latin typeface="Cambria Math" panose="02040503050406030204" pitchFamily="18" charset="0"/>
                      </a:rPr>
                      <m:t>&gt;</m:t>
                    </m:r>
                    <m:r>
                      <a:rPr lang="en-NZ" altLang="ja-JP" sz="1800" b="1" i="1" smtClean="0">
                        <a:solidFill>
                          <a:schemeClr val="tx1"/>
                        </a:solidFill>
                        <a:latin typeface="Cambria Math" panose="02040503050406030204" pitchFamily="18" charset="0"/>
                      </a:rPr>
                      <m:t>𝑾</m:t>
                    </m:r>
                    <m:r>
                      <a:rPr lang="en-NZ" altLang="ja-JP" sz="1800" b="1" i="1" smtClean="0">
                        <a:solidFill>
                          <a:schemeClr val="tx1"/>
                        </a:solidFill>
                        <a:latin typeface="Cambria Math" panose="02040503050406030204" pitchFamily="18" charset="0"/>
                      </a:rPr>
                      <m:t> ⇒</m:t>
                    </m:r>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𝑹</m:t>
                        </m:r>
                      </m:e>
                    </m:acc>
                    <m:r>
                      <a:rPr lang="en-NZ" altLang="ja-JP" sz="1800" b="1" i="0" smtClean="0">
                        <a:solidFill>
                          <a:schemeClr val="tx1"/>
                        </a:solidFill>
                        <a:latin typeface="Cambria Math" panose="02040503050406030204" pitchFamily="18" charset="0"/>
                      </a:rPr>
                      <m:t>&gt;</m:t>
                    </m:r>
                    <m:r>
                      <a:rPr lang="en-NZ" altLang="ja-JP" sz="1800" b="1" i="0" smtClean="0">
                        <a:solidFill>
                          <a:schemeClr val="tx1"/>
                        </a:solidFill>
                        <a:latin typeface="Cambria Math" panose="02040503050406030204" pitchFamily="18" charset="0"/>
                      </a:rPr>
                      <m:t>𝟏</m:t>
                    </m:r>
                  </m:oMath>
                </a14:m>
                <a:br>
                  <a:rPr lang="en-NZ" altLang="ja-JP" sz="1800" dirty="0">
                    <a:solidFill>
                      <a:schemeClr val="tx1"/>
                    </a:solidFill>
                  </a:rPr>
                </a:br>
                <a:r>
                  <a:rPr lang="en-NZ" altLang="ja-JP" sz="1800" dirty="0">
                    <a:solidFill>
                      <a:schemeClr val="tx1"/>
                    </a:solidFill>
                  </a:rPr>
                  <a:t>because the chains have not yet converged.</a:t>
                </a:r>
              </a:p>
            </p:txBody>
          </p:sp>
        </mc:Choice>
        <mc:Fallback xmlns="">
          <p:sp>
            <p:nvSpPr>
              <p:cNvPr id="28" name="Text Placeholder 5">
                <a:extLst>
                  <a:ext uri="{FF2B5EF4-FFF2-40B4-BE49-F238E27FC236}">
                    <a16:creationId xmlns:a16="http://schemas.microsoft.com/office/drawing/2014/main" id="{632ADB6A-33D3-FF95-4191-116D0ED1002A}"/>
                  </a:ext>
                </a:extLst>
              </p:cNvPr>
              <p:cNvSpPr txBox="1">
                <a:spLocks noRot="1" noChangeAspect="1" noMove="1" noResize="1" noEditPoints="1" noAdjustHandles="1" noChangeArrowheads="1" noChangeShapeType="1" noTextEdit="1"/>
              </p:cNvSpPr>
              <p:nvPr/>
            </p:nvSpPr>
            <p:spPr>
              <a:xfrm>
                <a:off x="3934072" y="4022842"/>
                <a:ext cx="7843167" cy="675343"/>
              </a:xfrm>
              <a:prstGeom prst="rect">
                <a:avLst/>
              </a:prstGeom>
              <a:blipFill>
                <a:blip r:embed="rId4"/>
                <a:stretch>
                  <a:fillRect l="-466" t="-2703" b="-11712"/>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9" name="Text Placeholder 5">
                <a:extLst>
                  <a:ext uri="{FF2B5EF4-FFF2-40B4-BE49-F238E27FC236}">
                    <a16:creationId xmlns:a16="http://schemas.microsoft.com/office/drawing/2014/main" id="{AA5256FB-1424-06E9-657B-21712FB10EB9}"/>
                  </a:ext>
                </a:extLst>
              </p:cNvPr>
              <p:cNvSpPr txBox="1">
                <a:spLocks/>
              </p:cNvSpPr>
              <p:nvPr/>
            </p:nvSpPr>
            <p:spPr>
              <a:xfrm>
                <a:off x="3934071" y="5018037"/>
                <a:ext cx="7843167"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800" dirty="0">
                    <a:solidFill>
                      <a:schemeClr val="tx1"/>
                    </a:solidFill>
                  </a:rPr>
                  <a:t>However, if early values are excluded, then </a:t>
                </a:r>
                <a14:m>
                  <m:oMath xmlns:m="http://schemas.openxmlformats.org/officeDocument/2006/math">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𝑽𝒂𝒓</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𝑿</m:t>
                        </m:r>
                        <m:r>
                          <a:rPr lang="en-NZ" altLang="ja-JP" sz="1800" b="1" i="1">
                            <a:solidFill>
                              <a:schemeClr val="tx1"/>
                            </a:solidFill>
                            <a:latin typeface="Cambria Math" panose="02040503050406030204" pitchFamily="18" charset="0"/>
                          </a:rPr>
                          <m:t>)</m:t>
                        </m:r>
                      </m:e>
                    </m:acc>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ea typeface="Cambria Math" panose="02040503050406030204" pitchFamily="18" charset="0"/>
                      </a:rPr>
                      <m:t>≈</m:t>
                    </m:r>
                    <m:r>
                      <a:rPr lang="en-NZ" altLang="ja-JP" sz="1800" b="1" i="1">
                        <a:solidFill>
                          <a:schemeClr val="tx1"/>
                        </a:solidFill>
                        <a:latin typeface="Cambria Math" panose="02040503050406030204" pitchFamily="18" charset="0"/>
                      </a:rPr>
                      <m:t>𝑾</m:t>
                    </m:r>
                    <m:r>
                      <a:rPr lang="en-NZ" altLang="ja-JP" sz="1800" b="1" i="1">
                        <a:solidFill>
                          <a:schemeClr val="tx1"/>
                        </a:solidFill>
                        <a:latin typeface="Cambria Math" panose="02040503050406030204" pitchFamily="18" charset="0"/>
                      </a:rPr>
                      <m:t> ⇒</m:t>
                    </m:r>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𝑹</m:t>
                        </m:r>
                      </m:e>
                    </m:acc>
                    <m:r>
                      <a:rPr lang="en-NZ" altLang="ja-JP" sz="1800" b="0" i="0" smtClean="0">
                        <a:solidFill>
                          <a:schemeClr val="tx1"/>
                        </a:solidFill>
                        <a:latin typeface="Cambria Math" panose="02040503050406030204" pitchFamily="18" charset="0"/>
                      </a:rPr>
                      <m:t> </m:t>
                    </m:r>
                    <m:r>
                      <a:rPr lang="en-NZ" altLang="ja-JP" sz="1800" b="0" i="1" smtClean="0">
                        <a:solidFill>
                          <a:schemeClr val="tx1"/>
                        </a:solidFill>
                        <a:latin typeface="Cambria Math" panose="02040503050406030204" pitchFamily="18" charset="0"/>
                        <a:ea typeface="Cambria Math" panose="02040503050406030204" pitchFamily="18" charset="0"/>
                      </a:rPr>
                      <m:t>≈1</m:t>
                    </m:r>
                  </m:oMath>
                </a14:m>
                <a:br>
                  <a:rPr lang="en-NZ" altLang="ja-JP" sz="1800" dirty="0">
                    <a:solidFill>
                      <a:schemeClr val="tx1"/>
                    </a:solidFill>
                  </a:rPr>
                </a:br>
                <a:r>
                  <a:rPr lang="en-NZ" altLang="ja-JP" sz="1800" dirty="0">
                    <a:solidFill>
                      <a:schemeClr val="tx1"/>
                    </a:solidFill>
                  </a:rPr>
                  <a:t>which </a:t>
                </a:r>
                <a:r>
                  <a:rPr lang="en-NZ" altLang="ja-JP" sz="1800" b="1" i="1" dirty="0">
                    <a:solidFill>
                      <a:schemeClr val="tx1"/>
                    </a:solidFill>
                  </a:rPr>
                  <a:t>suggests</a:t>
                </a:r>
                <a:r>
                  <a:rPr lang="en-NZ" altLang="ja-JP" sz="1800" dirty="0">
                    <a:solidFill>
                      <a:schemeClr val="tx1"/>
                    </a:solidFill>
                  </a:rPr>
                  <a:t> (but does not prove) that the chains have converged.</a:t>
                </a:r>
              </a:p>
            </p:txBody>
          </p:sp>
        </mc:Choice>
        <mc:Fallback xmlns="">
          <p:sp>
            <p:nvSpPr>
              <p:cNvPr id="29" name="Text Placeholder 5">
                <a:extLst>
                  <a:ext uri="{FF2B5EF4-FFF2-40B4-BE49-F238E27FC236}">
                    <a16:creationId xmlns:a16="http://schemas.microsoft.com/office/drawing/2014/main" id="{AA5256FB-1424-06E9-657B-21712FB10EB9}"/>
                  </a:ext>
                </a:extLst>
              </p:cNvPr>
              <p:cNvSpPr txBox="1">
                <a:spLocks noRot="1" noChangeAspect="1" noMove="1" noResize="1" noEditPoints="1" noAdjustHandles="1" noChangeArrowheads="1" noChangeShapeType="1" noTextEdit="1"/>
              </p:cNvSpPr>
              <p:nvPr/>
            </p:nvSpPr>
            <p:spPr>
              <a:xfrm>
                <a:off x="3934071" y="5018037"/>
                <a:ext cx="7843167" cy="675343"/>
              </a:xfrm>
              <a:prstGeom prst="rect">
                <a:avLst/>
              </a:prstGeom>
              <a:blipFill>
                <a:blip r:embed="rId5"/>
                <a:stretch>
                  <a:fillRect l="-466" t="-1802" b="-11712"/>
                </a:stretch>
              </a:blipFill>
            </p:spPr>
            <p:txBody>
              <a:bodyPr/>
              <a:lstStyle/>
              <a:p>
                <a:r>
                  <a:rPr lang="en-NZ">
                    <a:noFill/>
                  </a:rPr>
                  <a:t> </a:t>
                </a:r>
              </a:p>
            </p:txBody>
          </p:sp>
        </mc:Fallback>
      </mc:AlternateContent>
    </p:spTree>
    <p:extLst>
      <p:ext uri="{BB962C8B-B14F-4D97-AF65-F5344CB8AC3E}">
        <p14:creationId xmlns:p14="http://schemas.microsoft.com/office/powerpoint/2010/main" val="15917429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4F11C0-BEE1-F949-8187-277A52A0D160}"/>
              </a:ext>
            </a:extLst>
          </p:cNvPr>
          <p:cNvPicPr>
            <a:picLocks noChangeAspect="1"/>
          </p:cNvPicPr>
          <p:nvPr/>
        </p:nvPicPr>
        <p:blipFill>
          <a:blip r:embed="rId2"/>
          <a:stretch>
            <a:fillRect/>
          </a:stretch>
        </p:blipFill>
        <p:spPr>
          <a:xfrm>
            <a:off x="2016745" y="1298648"/>
            <a:ext cx="8524875" cy="3433084"/>
          </a:xfrm>
          <a:prstGeom prst="rect">
            <a:avLst/>
          </a:prstGeom>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4" name="Title 6">
            <a:extLst>
              <a:ext uri="{FF2B5EF4-FFF2-40B4-BE49-F238E27FC236}">
                <a16:creationId xmlns:a16="http://schemas.microsoft.com/office/drawing/2014/main" id="{18EFAA1F-58F5-B8DC-5203-016AF3661A4C}"/>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10.4c – Bivariate Normal Example</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5" name="Footer Placeholder 2">
            <a:extLst>
              <a:ext uri="{FF2B5EF4-FFF2-40B4-BE49-F238E27FC236}">
                <a16:creationId xmlns:a16="http://schemas.microsoft.com/office/drawing/2014/main" id="{CE1BC482-63C5-C7CB-8FB1-F710CF896763}"/>
              </a:ext>
            </a:extLst>
          </p:cNvPr>
          <p:cNvSpPr txBox="1">
            <a:spLocks/>
          </p:cNvSpPr>
          <p:nvPr/>
        </p:nvSpPr>
        <p:spPr>
          <a:xfrm>
            <a:off x="8993875" y="86139"/>
            <a:ext cx="3095490"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10.4 – Gelman &amp; Rubin Diagnostic</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19" name="Text Placeholder 5">
            <a:extLst>
              <a:ext uri="{FF2B5EF4-FFF2-40B4-BE49-F238E27FC236}">
                <a16:creationId xmlns:a16="http://schemas.microsoft.com/office/drawing/2014/main" id="{74E393EE-3C55-6EFC-347E-6BFE24C0A072}"/>
              </a:ext>
            </a:extLst>
          </p:cNvPr>
          <p:cNvSpPr txBox="1">
            <a:spLocks/>
          </p:cNvSpPr>
          <p:nvPr/>
        </p:nvSpPr>
        <p:spPr>
          <a:xfrm>
            <a:off x="3908315" y="1077155"/>
            <a:ext cx="990723" cy="442984"/>
          </a:xfrm>
          <a:prstGeom prst="rect">
            <a:avLst/>
          </a:prstGeom>
          <a:no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800" dirty="0">
                <a:solidFill>
                  <a:schemeClr val="tx1"/>
                </a:solidFill>
              </a:rPr>
              <a:t>X</a:t>
            </a:r>
            <a:r>
              <a:rPr lang="en-NZ" altLang="ja-JP" sz="1800" baseline="-25000" dirty="0">
                <a:solidFill>
                  <a:schemeClr val="tx1"/>
                </a:solidFill>
              </a:rPr>
              <a:t>1</a:t>
            </a:r>
            <a:endParaRPr lang="en-NZ" altLang="ja-JP" sz="1800" dirty="0">
              <a:solidFill>
                <a:schemeClr val="tx1"/>
              </a:solidFill>
            </a:endParaRPr>
          </a:p>
        </p:txBody>
      </p:sp>
      <p:sp>
        <p:nvSpPr>
          <p:cNvPr id="26" name="Text Placeholder 5">
            <a:extLst>
              <a:ext uri="{FF2B5EF4-FFF2-40B4-BE49-F238E27FC236}">
                <a16:creationId xmlns:a16="http://schemas.microsoft.com/office/drawing/2014/main" id="{D05B6694-87D8-F918-C366-73CA08B83B9F}"/>
              </a:ext>
            </a:extLst>
          </p:cNvPr>
          <p:cNvSpPr txBox="1">
            <a:spLocks/>
          </p:cNvSpPr>
          <p:nvPr/>
        </p:nvSpPr>
        <p:spPr>
          <a:xfrm>
            <a:off x="8122899" y="1077155"/>
            <a:ext cx="990723" cy="442984"/>
          </a:xfrm>
          <a:prstGeom prst="rect">
            <a:avLst/>
          </a:prstGeom>
          <a:no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800" dirty="0">
                <a:solidFill>
                  <a:schemeClr val="tx1"/>
                </a:solidFill>
              </a:rPr>
              <a:t>X</a:t>
            </a:r>
            <a:r>
              <a:rPr lang="en-NZ" altLang="ja-JP" sz="1800" baseline="-25000" dirty="0">
                <a:solidFill>
                  <a:schemeClr val="tx1"/>
                </a:solidFill>
              </a:rPr>
              <a:t>2</a:t>
            </a:r>
            <a:endParaRPr lang="en-NZ" altLang="ja-JP" sz="1800" dirty="0">
              <a:solidFill>
                <a:schemeClr val="tx1"/>
              </a:solidFill>
            </a:endParaRPr>
          </a:p>
        </p:txBody>
      </p:sp>
      <p:sp>
        <p:nvSpPr>
          <p:cNvPr id="22" name="Text Placeholder 5">
            <a:extLst>
              <a:ext uri="{FF2B5EF4-FFF2-40B4-BE49-F238E27FC236}">
                <a16:creationId xmlns:a16="http://schemas.microsoft.com/office/drawing/2014/main" id="{5778886A-1EEE-1CDA-704C-5D2F499F72F0}"/>
              </a:ext>
            </a:extLst>
          </p:cNvPr>
          <p:cNvSpPr txBox="1">
            <a:spLocks/>
          </p:cNvSpPr>
          <p:nvPr/>
        </p:nvSpPr>
        <p:spPr>
          <a:xfrm>
            <a:off x="419547" y="4853653"/>
            <a:ext cx="11608680" cy="14509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dirty="0">
                <a:solidFill>
                  <a:schemeClr val="tx1"/>
                </a:solidFill>
              </a:rPr>
              <a:t>A Gelman &amp; Rubin plot like the one above would indicate that the chain has not converged to the target distribution.</a:t>
            </a:r>
            <a:br>
              <a:rPr lang="en-NZ" altLang="ja-JP" sz="1800" dirty="0">
                <a:solidFill>
                  <a:schemeClr val="tx1"/>
                </a:solidFill>
              </a:rPr>
            </a:br>
            <a:r>
              <a:rPr lang="en-NZ" altLang="ja-JP" sz="1800" dirty="0">
                <a:solidFill>
                  <a:schemeClr val="tx1"/>
                </a:solidFill>
              </a:rPr>
              <a:t>Possible remedies include:</a:t>
            </a:r>
            <a:br>
              <a:rPr lang="en-NZ" altLang="ja-JP" sz="1800" dirty="0">
                <a:solidFill>
                  <a:schemeClr val="tx1"/>
                </a:solidFill>
              </a:rPr>
            </a:br>
            <a:r>
              <a:rPr lang="en-NZ" altLang="ja-JP" sz="1800" dirty="0">
                <a:solidFill>
                  <a:schemeClr val="tx1"/>
                </a:solidFill>
              </a:rPr>
              <a:t>	</a:t>
            </a:r>
            <a:r>
              <a:rPr lang="en-NZ" altLang="ja-JP" sz="1600" dirty="0">
                <a:solidFill>
                  <a:schemeClr val="tx1"/>
                </a:solidFill>
              </a:rPr>
              <a:t>- Increasing the burn-in.</a:t>
            </a:r>
            <a:br>
              <a:rPr lang="en-NZ" altLang="ja-JP" sz="1600" dirty="0">
                <a:solidFill>
                  <a:schemeClr val="tx1"/>
                </a:solidFill>
              </a:rPr>
            </a:br>
            <a:r>
              <a:rPr lang="en-NZ" altLang="ja-JP" sz="1600" dirty="0">
                <a:solidFill>
                  <a:schemeClr val="tx1"/>
                </a:solidFill>
              </a:rPr>
              <a:t>	- Modifying the proposal density (or its width) to speed convergence.</a:t>
            </a:r>
            <a:br>
              <a:rPr lang="en-NZ" altLang="ja-JP" sz="1600" dirty="0">
                <a:solidFill>
                  <a:schemeClr val="tx1"/>
                </a:solidFill>
              </a:rPr>
            </a:br>
            <a:r>
              <a:rPr lang="en-NZ" altLang="ja-JP" sz="1600" dirty="0">
                <a:solidFill>
                  <a:schemeClr val="tx1"/>
                </a:solidFill>
              </a:rPr>
              <a:t>	- Check whether something is wrong in your algorithm.</a:t>
            </a:r>
          </a:p>
        </p:txBody>
      </p:sp>
      <p:pic>
        <p:nvPicPr>
          <p:cNvPr id="24" name="Picture 2" descr="Te Herenga Waka—Victoria University of Wellington | Universities New  Zealand - Te Pōkai Tara">
            <a:extLst>
              <a:ext uri="{FF2B5EF4-FFF2-40B4-BE49-F238E27FC236}">
                <a16:creationId xmlns:a16="http://schemas.microsoft.com/office/drawing/2014/main" id="{69225D93-D231-8951-EE13-4903550C67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41893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7F14062D-E1C1-4F63-B0FD-D013BDA5782B}"/>
              </a:ext>
            </a:extLst>
          </p:cNvPr>
          <p:cNvSpPr txBox="1"/>
          <p:nvPr/>
        </p:nvSpPr>
        <p:spPr>
          <a:xfrm>
            <a:off x="43707" y="2844225"/>
            <a:ext cx="12104586" cy="7848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NZ" sz="4500" b="1" dirty="0">
                <a:solidFill>
                  <a:srgbClr val="FFC000"/>
                </a:solidFill>
                <a:latin typeface="Calibri" panose="020F0502020204030204"/>
              </a:rPr>
              <a:t>10.5 – Heidelberger &amp; Welch Diagnostic</a:t>
            </a:r>
            <a:endPar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05495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4" name="Title 6">
            <a:extLst>
              <a:ext uri="{FF2B5EF4-FFF2-40B4-BE49-F238E27FC236}">
                <a16:creationId xmlns:a16="http://schemas.microsoft.com/office/drawing/2014/main" id="{18EFAA1F-58F5-B8DC-5203-016AF3661A4C}"/>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10.5a – Heidelberger &amp; Welch Diagnostic</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5" name="Footer Placeholder 2">
            <a:extLst>
              <a:ext uri="{FF2B5EF4-FFF2-40B4-BE49-F238E27FC236}">
                <a16:creationId xmlns:a16="http://schemas.microsoft.com/office/drawing/2014/main" id="{CE1BC482-63C5-C7CB-8FB1-F710CF896763}"/>
              </a:ext>
            </a:extLst>
          </p:cNvPr>
          <p:cNvSpPr txBox="1">
            <a:spLocks/>
          </p:cNvSpPr>
          <p:nvPr/>
        </p:nvSpPr>
        <p:spPr>
          <a:xfrm>
            <a:off x="8122899" y="86139"/>
            <a:ext cx="3966466"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10.5 – Heidelberger &amp; Welch Diagnostic</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22" name="Text Placeholder 5">
            <a:extLst>
              <a:ext uri="{FF2B5EF4-FFF2-40B4-BE49-F238E27FC236}">
                <a16:creationId xmlns:a16="http://schemas.microsoft.com/office/drawing/2014/main" id="{5778886A-1EEE-1CDA-704C-5D2F499F72F0}"/>
              </a:ext>
            </a:extLst>
          </p:cNvPr>
          <p:cNvSpPr txBox="1">
            <a:spLocks/>
          </p:cNvSpPr>
          <p:nvPr/>
        </p:nvSpPr>
        <p:spPr>
          <a:xfrm>
            <a:off x="291660" y="914838"/>
            <a:ext cx="11608680" cy="203313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dirty="0">
                <a:solidFill>
                  <a:schemeClr val="tx1"/>
                </a:solidFill>
              </a:rPr>
              <a:t>The </a:t>
            </a:r>
            <a:r>
              <a:rPr lang="en-NZ" altLang="ja-JP" sz="1800" b="1" dirty="0" err="1">
                <a:solidFill>
                  <a:schemeClr val="tx1"/>
                </a:solidFill>
              </a:rPr>
              <a:t>Herdelberger</a:t>
            </a:r>
            <a:r>
              <a:rPr lang="en-NZ" altLang="ja-JP" sz="1800" b="1" dirty="0">
                <a:solidFill>
                  <a:schemeClr val="tx1"/>
                </a:solidFill>
              </a:rPr>
              <a:t> &amp; Welch</a:t>
            </a:r>
            <a:r>
              <a:rPr lang="en-NZ" altLang="ja-JP" sz="1800" dirty="0">
                <a:solidFill>
                  <a:schemeClr val="tx1"/>
                </a:solidFill>
              </a:rPr>
              <a:t> </a:t>
            </a:r>
            <a:r>
              <a:rPr lang="en-NZ" altLang="ja-JP" sz="1800" b="1" dirty="0">
                <a:solidFill>
                  <a:schemeClr val="tx1"/>
                </a:solidFill>
              </a:rPr>
              <a:t>Diagnostic </a:t>
            </a:r>
            <a:r>
              <a:rPr lang="en-NZ" altLang="ja-JP" sz="1800" dirty="0">
                <a:solidFill>
                  <a:schemeClr val="tx1"/>
                </a:solidFill>
              </a:rPr>
              <a:t>has two parts:</a:t>
            </a:r>
          </a:p>
          <a:p>
            <a:pPr lvl="0">
              <a:lnSpc>
                <a:spcPct val="100000"/>
              </a:lnSpc>
              <a:defRPr/>
            </a:pPr>
            <a:endParaRPr lang="en-NZ" altLang="ja-JP" sz="200" dirty="0">
              <a:solidFill>
                <a:schemeClr val="tx1"/>
              </a:solidFill>
            </a:endParaRPr>
          </a:p>
          <a:p>
            <a:pPr lvl="0">
              <a:lnSpc>
                <a:spcPct val="100000"/>
              </a:lnSpc>
              <a:defRPr/>
            </a:pPr>
            <a:endParaRPr lang="en-NZ" altLang="ja-JP" sz="200" dirty="0">
              <a:solidFill>
                <a:schemeClr val="tx1"/>
              </a:solidFill>
            </a:endParaRPr>
          </a:p>
          <a:p>
            <a:pPr lvl="0">
              <a:lnSpc>
                <a:spcPct val="100000"/>
              </a:lnSpc>
              <a:defRPr/>
            </a:pPr>
            <a:endParaRPr lang="en-NZ" altLang="ja-JP" sz="200" dirty="0">
              <a:solidFill>
                <a:schemeClr val="tx1"/>
              </a:solidFill>
            </a:endParaRPr>
          </a:p>
          <a:p>
            <a:pPr lvl="0">
              <a:lnSpc>
                <a:spcPct val="100000"/>
              </a:lnSpc>
              <a:defRPr/>
            </a:pPr>
            <a:endParaRPr lang="en-NZ" altLang="ja-JP" sz="200" dirty="0">
              <a:solidFill>
                <a:schemeClr val="tx1"/>
              </a:solidFill>
            </a:endParaRPr>
          </a:p>
          <a:p>
            <a:pPr lvl="0">
              <a:lnSpc>
                <a:spcPct val="100000"/>
              </a:lnSpc>
              <a:defRPr/>
            </a:pPr>
            <a:r>
              <a:rPr lang="en-NZ" altLang="ja-JP" sz="1800" dirty="0">
                <a:solidFill>
                  <a:schemeClr val="tx1"/>
                </a:solidFill>
              </a:rPr>
              <a:t>	</a:t>
            </a:r>
            <a:r>
              <a:rPr lang="en-NZ" altLang="ja-JP" sz="1800" b="1" dirty="0">
                <a:solidFill>
                  <a:schemeClr val="tx1"/>
                </a:solidFill>
              </a:rPr>
              <a:t>Part 1:</a:t>
            </a:r>
            <a:r>
              <a:rPr lang="en-NZ" altLang="ja-JP" sz="1800" dirty="0">
                <a:solidFill>
                  <a:schemeClr val="tx1"/>
                </a:solidFill>
              </a:rPr>
              <a:t>	</a:t>
            </a:r>
            <a:r>
              <a:rPr lang="en-NZ" altLang="ja-JP" sz="1800" b="1" dirty="0">
                <a:solidFill>
                  <a:schemeClr val="tx1"/>
                </a:solidFill>
              </a:rPr>
              <a:t>Stationarity Test</a:t>
            </a:r>
            <a:br>
              <a:rPr lang="en-NZ" altLang="ja-JP" sz="1800" dirty="0">
                <a:solidFill>
                  <a:schemeClr val="tx1"/>
                </a:solidFill>
              </a:rPr>
            </a:br>
            <a:r>
              <a:rPr lang="en-NZ" altLang="ja-JP" sz="1800" dirty="0">
                <a:solidFill>
                  <a:schemeClr val="tx1"/>
                </a:solidFill>
              </a:rPr>
              <a:t>		Calculates a (Cramer-von-Mises) test statistic to accept or reject the null hypothesis that the Markov 		chain is from a stationary (and hence limiting) distribution.</a:t>
            </a:r>
          </a:p>
          <a:p>
            <a:pPr lvl="0">
              <a:lnSpc>
                <a:spcPct val="100000"/>
              </a:lnSpc>
              <a:defRPr/>
            </a:pPr>
            <a:endParaRPr lang="en-NZ" altLang="ja-JP" sz="200" dirty="0">
              <a:solidFill>
                <a:schemeClr val="tx1"/>
              </a:solidFill>
            </a:endParaRPr>
          </a:p>
          <a:p>
            <a:pPr lvl="0">
              <a:lnSpc>
                <a:spcPct val="100000"/>
              </a:lnSpc>
              <a:defRPr/>
            </a:pPr>
            <a:endParaRPr lang="en-NZ" altLang="ja-JP" sz="200" dirty="0">
              <a:solidFill>
                <a:schemeClr val="tx1"/>
              </a:solidFill>
            </a:endParaRPr>
          </a:p>
          <a:p>
            <a:pPr lvl="0">
              <a:lnSpc>
                <a:spcPct val="100000"/>
              </a:lnSpc>
              <a:defRPr/>
            </a:pPr>
            <a:endParaRPr lang="en-NZ" altLang="ja-JP" sz="200" dirty="0">
              <a:solidFill>
                <a:schemeClr val="tx1"/>
              </a:solidFill>
            </a:endParaRPr>
          </a:p>
          <a:p>
            <a:pPr lvl="0">
              <a:lnSpc>
                <a:spcPct val="100000"/>
              </a:lnSpc>
              <a:defRPr/>
            </a:pPr>
            <a:endParaRPr lang="en-NZ" altLang="ja-JP" sz="200" dirty="0">
              <a:solidFill>
                <a:schemeClr val="tx1"/>
              </a:solidFill>
            </a:endParaRPr>
          </a:p>
          <a:p>
            <a:pPr>
              <a:lnSpc>
                <a:spcPct val="100000"/>
              </a:lnSpc>
              <a:defRPr/>
            </a:pPr>
            <a:r>
              <a:rPr lang="en-NZ" altLang="ja-JP" sz="1800" dirty="0">
                <a:solidFill>
                  <a:schemeClr val="tx1"/>
                </a:solidFill>
              </a:rPr>
              <a:t>	</a:t>
            </a:r>
            <a:r>
              <a:rPr lang="en-NZ" altLang="ja-JP" sz="1800" b="1" dirty="0">
                <a:solidFill>
                  <a:schemeClr val="tx1"/>
                </a:solidFill>
              </a:rPr>
              <a:t>Part 2:</a:t>
            </a:r>
            <a:r>
              <a:rPr lang="en-NZ" altLang="ja-JP" sz="1800" dirty="0">
                <a:solidFill>
                  <a:schemeClr val="tx1"/>
                </a:solidFill>
              </a:rPr>
              <a:t>	</a:t>
            </a:r>
            <a:r>
              <a:rPr lang="en-NZ" altLang="ja-JP" sz="1800" b="1" dirty="0">
                <a:solidFill>
                  <a:schemeClr val="tx1"/>
                </a:solidFill>
              </a:rPr>
              <a:t>Halfwidth Test</a:t>
            </a:r>
          </a:p>
          <a:p>
            <a:pPr>
              <a:lnSpc>
                <a:spcPct val="100000"/>
              </a:lnSpc>
              <a:defRPr/>
            </a:pPr>
            <a:r>
              <a:rPr lang="en-NZ" altLang="ja-JP" sz="1800" dirty="0">
                <a:solidFill>
                  <a:schemeClr val="tx1"/>
                </a:solidFill>
              </a:rPr>
              <a:t>		If the chain passes the stationarity test, a halfwidth test is performed.</a:t>
            </a:r>
          </a:p>
          <a:p>
            <a:pPr lvl="0">
              <a:lnSpc>
                <a:spcPct val="100000"/>
              </a:lnSpc>
              <a:defRPr/>
            </a:pPr>
            <a:r>
              <a:rPr lang="en-NZ" altLang="ja-JP" sz="1800" dirty="0">
                <a:solidFill>
                  <a:schemeClr val="tx1"/>
                </a:solidFill>
              </a:rPr>
              <a:t> </a:t>
            </a:r>
          </a:p>
        </p:txBody>
      </p:sp>
      <p:pic>
        <p:nvPicPr>
          <p:cNvPr id="24" name="Picture 2" descr="Te Herenga Waka—Victoria University of Wellington | Universities New  Zealand - Te Pōkai Tara">
            <a:extLst>
              <a:ext uri="{FF2B5EF4-FFF2-40B4-BE49-F238E27FC236}">
                <a16:creationId xmlns:a16="http://schemas.microsoft.com/office/drawing/2014/main" id="{69225D93-D231-8951-EE13-4903550C67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10" name="Text Placeholder 5">
            <a:extLst>
              <a:ext uri="{FF2B5EF4-FFF2-40B4-BE49-F238E27FC236}">
                <a16:creationId xmlns:a16="http://schemas.microsoft.com/office/drawing/2014/main" id="{92739842-619C-1786-7785-A214563BD5B0}"/>
              </a:ext>
            </a:extLst>
          </p:cNvPr>
          <p:cNvSpPr txBox="1">
            <a:spLocks/>
          </p:cNvSpPr>
          <p:nvPr/>
        </p:nvSpPr>
        <p:spPr>
          <a:xfrm>
            <a:off x="309857" y="3049353"/>
            <a:ext cx="2573862" cy="3920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b="1" dirty="0">
                <a:solidFill>
                  <a:srgbClr val="C00000"/>
                </a:solidFill>
              </a:rPr>
              <a:t>Part 1: Stationarity Test</a:t>
            </a:r>
          </a:p>
        </p:txBody>
      </p:sp>
      <mc:AlternateContent xmlns:mc="http://schemas.openxmlformats.org/markup-compatibility/2006" xmlns:a14="http://schemas.microsoft.com/office/drawing/2010/main">
        <mc:Choice Requires="a14">
          <p:sp>
            <p:nvSpPr>
              <p:cNvPr id="11" name="Text Placeholder 5">
                <a:extLst>
                  <a:ext uri="{FF2B5EF4-FFF2-40B4-BE49-F238E27FC236}">
                    <a16:creationId xmlns:a16="http://schemas.microsoft.com/office/drawing/2014/main" id="{B9C99ABF-8580-6176-D84C-0D4C8FC9D150}"/>
                  </a:ext>
                </a:extLst>
              </p:cNvPr>
              <p:cNvSpPr txBox="1">
                <a:spLocks/>
              </p:cNvSpPr>
              <p:nvPr/>
            </p:nvSpPr>
            <p:spPr>
              <a:xfrm>
                <a:off x="409940" y="3441391"/>
                <a:ext cx="11372119" cy="3920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600" dirty="0">
                    <a:solidFill>
                      <a:schemeClr val="tx1"/>
                    </a:solidFill>
                  </a:rPr>
                  <a:t>Generate a chain of </a:t>
                </a:r>
                <a:r>
                  <a:rPr lang="en-NZ" altLang="ja-JP" sz="1600" b="1" i="1" dirty="0">
                    <a:solidFill>
                      <a:schemeClr val="tx1"/>
                    </a:solidFill>
                  </a:rPr>
                  <a:t>n</a:t>
                </a:r>
                <a:r>
                  <a:rPr lang="en-NZ" altLang="ja-JP" sz="1600" dirty="0">
                    <a:solidFill>
                      <a:schemeClr val="tx1"/>
                    </a:solidFill>
                  </a:rPr>
                  <a:t> iterations and define an </a:t>
                </a:r>
                <a14:m>
                  <m:oMath xmlns:m="http://schemas.openxmlformats.org/officeDocument/2006/math">
                    <m:r>
                      <a:rPr lang="en-NZ" altLang="ja-JP" sz="1600" b="1" i="1" smtClean="0">
                        <a:solidFill>
                          <a:schemeClr val="tx1"/>
                        </a:solidFill>
                        <a:latin typeface="Cambria Math" panose="02040503050406030204" pitchFamily="18" charset="0"/>
                      </a:rPr>
                      <m:t>𝜶</m:t>
                    </m:r>
                  </m:oMath>
                </a14:m>
                <a:r>
                  <a:rPr lang="en-NZ" altLang="ja-JP" sz="1600" dirty="0">
                    <a:solidFill>
                      <a:schemeClr val="tx1"/>
                    </a:solidFill>
                  </a:rPr>
                  <a:t>-level.</a:t>
                </a:r>
              </a:p>
            </p:txBody>
          </p:sp>
        </mc:Choice>
        <mc:Fallback xmlns="">
          <p:sp>
            <p:nvSpPr>
              <p:cNvPr id="11" name="Text Placeholder 5">
                <a:extLst>
                  <a:ext uri="{FF2B5EF4-FFF2-40B4-BE49-F238E27FC236}">
                    <a16:creationId xmlns:a16="http://schemas.microsoft.com/office/drawing/2014/main" id="{B9C99ABF-8580-6176-D84C-0D4C8FC9D150}"/>
                  </a:ext>
                </a:extLst>
              </p:cNvPr>
              <p:cNvSpPr txBox="1">
                <a:spLocks noRot="1" noChangeAspect="1" noMove="1" noResize="1" noEditPoints="1" noAdjustHandles="1" noChangeArrowheads="1" noChangeShapeType="1" noTextEdit="1"/>
              </p:cNvSpPr>
              <p:nvPr/>
            </p:nvSpPr>
            <p:spPr>
              <a:xfrm>
                <a:off x="409940" y="3441391"/>
                <a:ext cx="11372119" cy="392038"/>
              </a:xfrm>
              <a:prstGeom prst="rect">
                <a:avLst/>
              </a:prstGeom>
              <a:blipFill>
                <a:blip r:embed="rId3"/>
                <a:stretch>
                  <a:fillRect l="-214" t="-4688" b="-6250"/>
                </a:stretch>
              </a:blipFill>
            </p:spPr>
            <p:txBody>
              <a:bodyPr/>
              <a:lstStyle/>
              <a:p>
                <a:r>
                  <a:rPr lang="en-NZ">
                    <a:noFill/>
                  </a:rPr>
                  <a:t> </a:t>
                </a:r>
              </a:p>
            </p:txBody>
          </p:sp>
        </mc:Fallback>
      </mc:AlternateContent>
      <p:sp>
        <p:nvSpPr>
          <p:cNvPr id="12" name="Text Placeholder 5">
            <a:extLst>
              <a:ext uri="{FF2B5EF4-FFF2-40B4-BE49-F238E27FC236}">
                <a16:creationId xmlns:a16="http://schemas.microsoft.com/office/drawing/2014/main" id="{907699AF-4CFA-236F-045A-CFB4AA8437FC}"/>
              </a:ext>
            </a:extLst>
          </p:cNvPr>
          <p:cNvSpPr txBox="1">
            <a:spLocks/>
          </p:cNvSpPr>
          <p:nvPr/>
        </p:nvSpPr>
        <p:spPr>
          <a:xfrm>
            <a:off x="409940" y="3833429"/>
            <a:ext cx="11372119" cy="67534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600" dirty="0">
                <a:solidFill>
                  <a:schemeClr val="tx1"/>
                </a:solidFill>
              </a:rPr>
              <a:t>Calculate the test statistic on the whole chain. </a:t>
            </a:r>
            <a:br>
              <a:rPr lang="en-NZ" altLang="ja-JP" sz="1600" dirty="0">
                <a:solidFill>
                  <a:schemeClr val="tx1"/>
                </a:solidFill>
              </a:rPr>
            </a:br>
            <a:r>
              <a:rPr lang="en-NZ" altLang="ja-JP" sz="1600" dirty="0">
                <a:solidFill>
                  <a:schemeClr val="tx1"/>
                </a:solidFill>
              </a:rPr>
              <a:t>Accept or reject the null hypothesis that the chain is from a stationary distribution.</a:t>
            </a:r>
          </a:p>
        </p:txBody>
      </p:sp>
      <p:sp>
        <p:nvSpPr>
          <p:cNvPr id="16" name="Text Placeholder 5">
            <a:extLst>
              <a:ext uri="{FF2B5EF4-FFF2-40B4-BE49-F238E27FC236}">
                <a16:creationId xmlns:a16="http://schemas.microsoft.com/office/drawing/2014/main" id="{456ADC89-0212-3C8B-AD76-5ADE2DD5B51F}"/>
              </a:ext>
            </a:extLst>
          </p:cNvPr>
          <p:cNvSpPr txBox="1">
            <a:spLocks/>
          </p:cNvSpPr>
          <p:nvPr/>
        </p:nvSpPr>
        <p:spPr>
          <a:xfrm>
            <a:off x="409940" y="4508771"/>
            <a:ext cx="11372119" cy="67534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600" dirty="0">
                <a:solidFill>
                  <a:schemeClr val="tx1"/>
                </a:solidFill>
              </a:rPr>
              <a:t>If null hypothesis is rejected, discard the first 10% of the chain.</a:t>
            </a:r>
            <a:br>
              <a:rPr lang="en-NZ" altLang="ja-JP" sz="1600" dirty="0">
                <a:solidFill>
                  <a:schemeClr val="tx1"/>
                </a:solidFill>
              </a:rPr>
            </a:br>
            <a:r>
              <a:rPr lang="en-NZ" altLang="ja-JP" sz="1600" dirty="0">
                <a:solidFill>
                  <a:schemeClr val="tx1"/>
                </a:solidFill>
              </a:rPr>
              <a:t>Recalculate the test statistic and accept or reject the null hypothesis.</a:t>
            </a:r>
          </a:p>
        </p:txBody>
      </p:sp>
      <p:sp>
        <p:nvSpPr>
          <p:cNvPr id="17" name="Text Placeholder 5">
            <a:extLst>
              <a:ext uri="{FF2B5EF4-FFF2-40B4-BE49-F238E27FC236}">
                <a16:creationId xmlns:a16="http://schemas.microsoft.com/office/drawing/2014/main" id="{05B9CB62-DEBE-FB57-33F3-72197DBC38B0}"/>
              </a:ext>
            </a:extLst>
          </p:cNvPr>
          <p:cNvSpPr txBox="1">
            <a:spLocks/>
          </p:cNvSpPr>
          <p:nvPr/>
        </p:nvSpPr>
        <p:spPr>
          <a:xfrm>
            <a:off x="409940" y="5478761"/>
            <a:ext cx="11372119" cy="67534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600" dirty="0">
                <a:solidFill>
                  <a:schemeClr val="tx1"/>
                </a:solidFill>
              </a:rPr>
              <a:t>Repeat until the null hypothesis is accepted or 50% of the chain is discarded.</a:t>
            </a:r>
            <a:br>
              <a:rPr lang="en-NZ" altLang="ja-JP" sz="1600" dirty="0">
                <a:solidFill>
                  <a:schemeClr val="tx1"/>
                </a:solidFill>
              </a:rPr>
            </a:br>
            <a:r>
              <a:rPr lang="en-NZ" altLang="ja-JP" sz="1600" dirty="0">
                <a:solidFill>
                  <a:schemeClr val="tx1"/>
                </a:solidFill>
              </a:rPr>
              <a:t>If the test still rejects the null hypothesis the chain fails the test implying that it has not converged. </a:t>
            </a:r>
            <a:br>
              <a:rPr lang="en-NZ" altLang="ja-JP" sz="1600" dirty="0">
                <a:solidFill>
                  <a:schemeClr val="tx1"/>
                </a:solidFill>
              </a:rPr>
            </a:br>
            <a:r>
              <a:rPr lang="en-NZ" altLang="ja-JP" sz="1600" dirty="0">
                <a:solidFill>
                  <a:schemeClr val="tx1"/>
                </a:solidFill>
              </a:rPr>
              <a:t>The chain must be run for longer.</a:t>
            </a:r>
          </a:p>
        </p:txBody>
      </p:sp>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7016BCB1-F0B1-ACA4-3E74-E0D5D95777DE}"/>
                  </a:ext>
                </a:extLst>
              </p:cNvPr>
              <p:cNvSpPr txBox="1">
                <a:spLocks/>
              </p:cNvSpPr>
              <p:nvPr/>
            </p:nvSpPr>
            <p:spPr>
              <a:xfrm>
                <a:off x="476947" y="5086723"/>
                <a:ext cx="853737" cy="3920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r>
                        <a:rPr lang="en-NZ" altLang="ja-JP" sz="2000" i="1" smtClean="0">
                          <a:solidFill>
                            <a:schemeClr val="tx1"/>
                          </a:solidFill>
                          <a:latin typeface="Cambria Math" panose="02040503050406030204" pitchFamily="18" charset="0"/>
                          <a:ea typeface="Cambria Math" panose="02040503050406030204" pitchFamily="18" charset="0"/>
                        </a:rPr>
                        <m:t>⋮</m:t>
                      </m:r>
                    </m:oMath>
                  </m:oMathPara>
                </a14:m>
                <a:endParaRPr lang="en-NZ" altLang="ja-JP" sz="2000" dirty="0">
                  <a:solidFill>
                    <a:schemeClr val="tx1"/>
                  </a:solidFill>
                </a:endParaRPr>
              </a:p>
            </p:txBody>
          </p:sp>
        </mc:Choice>
        <mc:Fallback xmlns="">
          <p:sp>
            <p:nvSpPr>
              <p:cNvPr id="18" name="Text Placeholder 5">
                <a:extLst>
                  <a:ext uri="{FF2B5EF4-FFF2-40B4-BE49-F238E27FC236}">
                    <a16:creationId xmlns:a16="http://schemas.microsoft.com/office/drawing/2014/main" id="{7016BCB1-F0B1-ACA4-3E74-E0D5D95777DE}"/>
                  </a:ext>
                </a:extLst>
              </p:cNvPr>
              <p:cNvSpPr txBox="1">
                <a:spLocks noRot="1" noChangeAspect="1" noMove="1" noResize="1" noEditPoints="1" noAdjustHandles="1" noChangeArrowheads="1" noChangeShapeType="1" noTextEdit="1"/>
              </p:cNvSpPr>
              <p:nvPr/>
            </p:nvSpPr>
            <p:spPr>
              <a:xfrm>
                <a:off x="476947" y="5086723"/>
                <a:ext cx="853737" cy="392038"/>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6AB3B335-B748-64DA-BC80-1CAD72C7B4CF}"/>
                  </a:ext>
                </a:extLst>
              </p:cNvPr>
              <p:cNvSpPr txBox="1">
                <a:spLocks/>
              </p:cNvSpPr>
              <p:nvPr/>
            </p:nvSpPr>
            <p:spPr>
              <a:xfrm>
                <a:off x="1330684" y="5086723"/>
                <a:ext cx="853737" cy="3920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r>
                        <a:rPr lang="en-NZ" altLang="ja-JP" sz="2000" i="1" smtClean="0">
                          <a:solidFill>
                            <a:schemeClr val="tx1"/>
                          </a:solidFill>
                          <a:latin typeface="Cambria Math" panose="02040503050406030204" pitchFamily="18" charset="0"/>
                          <a:ea typeface="Cambria Math" panose="02040503050406030204" pitchFamily="18" charset="0"/>
                        </a:rPr>
                        <m:t>⋮</m:t>
                      </m:r>
                    </m:oMath>
                  </m:oMathPara>
                </a14:m>
                <a:endParaRPr lang="en-NZ" altLang="ja-JP" sz="2000" dirty="0">
                  <a:solidFill>
                    <a:schemeClr val="tx1"/>
                  </a:solidFill>
                </a:endParaRPr>
              </a:p>
            </p:txBody>
          </p:sp>
        </mc:Choice>
        <mc:Fallback xmlns="">
          <p:sp>
            <p:nvSpPr>
              <p:cNvPr id="20" name="Text Placeholder 5">
                <a:extLst>
                  <a:ext uri="{FF2B5EF4-FFF2-40B4-BE49-F238E27FC236}">
                    <a16:creationId xmlns:a16="http://schemas.microsoft.com/office/drawing/2014/main" id="{6AB3B335-B748-64DA-BC80-1CAD72C7B4CF}"/>
                  </a:ext>
                </a:extLst>
              </p:cNvPr>
              <p:cNvSpPr txBox="1">
                <a:spLocks noRot="1" noChangeAspect="1" noMove="1" noResize="1" noEditPoints="1" noAdjustHandles="1" noChangeArrowheads="1" noChangeShapeType="1" noTextEdit="1"/>
              </p:cNvSpPr>
              <p:nvPr/>
            </p:nvSpPr>
            <p:spPr>
              <a:xfrm>
                <a:off x="1330684" y="5086723"/>
                <a:ext cx="853737" cy="392038"/>
              </a:xfrm>
              <a:prstGeom prst="rect">
                <a:avLst/>
              </a:prstGeom>
              <a:blipFill>
                <a:blip r:embed="rId5"/>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1" name="Text Placeholder 5">
                <a:extLst>
                  <a:ext uri="{FF2B5EF4-FFF2-40B4-BE49-F238E27FC236}">
                    <a16:creationId xmlns:a16="http://schemas.microsoft.com/office/drawing/2014/main" id="{F89577B8-5112-9C82-1461-24B6ABC7F67C}"/>
                  </a:ext>
                </a:extLst>
              </p:cNvPr>
              <p:cNvSpPr txBox="1">
                <a:spLocks/>
              </p:cNvSpPr>
              <p:nvPr/>
            </p:nvSpPr>
            <p:spPr>
              <a:xfrm>
                <a:off x="2259511" y="5086723"/>
                <a:ext cx="853737" cy="3920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r>
                        <a:rPr lang="en-NZ" altLang="ja-JP" sz="2000" i="1" smtClean="0">
                          <a:solidFill>
                            <a:schemeClr val="tx1"/>
                          </a:solidFill>
                          <a:latin typeface="Cambria Math" panose="02040503050406030204" pitchFamily="18" charset="0"/>
                          <a:ea typeface="Cambria Math" panose="02040503050406030204" pitchFamily="18" charset="0"/>
                        </a:rPr>
                        <m:t>⋮</m:t>
                      </m:r>
                    </m:oMath>
                  </m:oMathPara>
                </a14:m>
                <a:endParaRPr lang="en-NZ" altLang="ja-JP" sz="2000" dirty="0">
                  <a:solidFill>
                    <a:schemeClr val="tx1"/>
                  </a:solidFill>
                </a:endParaRPr>
              </a:p>
            </p:txBody>
          </p:sp>
        </mc:Choice>
        <mc:Fallback xmlns="">
          <p:sp>
            <p:nvSpPr>
              <p:cNvPr id="21" name="Text Placeholder 5">
                <a:extLst>
                  <a:ext uri="{FF2B5EF4-FFF2-40B4-BE49-F238E27FC236}">
                    <a16:creationId xmlns:a16="http://schemas.microsoft.com/office/drawing/2014/main" id="{F89577B8-5112-9C82-1461-24B6ABC7F67C}"/>
                  </a:ext>
                </a:extLst>
              </p:cNvPr>
              <p:cNvSpPr txBox="1">
                <a:spLocks noRot="1" noChangeAspect="1" noMove="1" noResize="1" noEditPoints="1" noAdjustHandles="1" noChangeArrowheads="1" noChangeShapeType="1" noTextEdit="1"/>
              </p:cNvSpPr>
              <p:nvPr/>
            </p:nvSpPr>
            <p:spPr>
              <a:xfrm>
                <a:off x="2259511" y="5086723"/>
                <a:ext cx="853737" cy="392038"/>
              </a:xfrm>
              <a:prstGeom prst="rect">
                <a:avLst/>
              </a:prstGeom>
              <a:blipFill>
                <a:blip r:embed="rId6"/>
                <a:stretch>
                  <a:fillRect/>
                </a:stretch>
              </a:blipFill>
            </p:spPr>
            <p:txBody>
              <a:bodyPr/>
              <a:lstStyle/>
              <a:p>
                <a:r>
                  <a:rPr lang="en-NZ">
                    <a:noFill/>
                  </a:rPr>
                  <a:t> </a:t>
                </a:r>
              </a:p>
            </p:txBody>
          </p:sp>
        </mc:Fallback>
      </mc:AlternateContent>
    </p:spTree>
    <p:extLst>
      <p:ext uri="{BB962C8B-B14F-4D97-AF65-F5344CB8AC3E}">
        <p14:creationId xmlns:p14="http://schemas.microsoft.com/office/powerpoint/2010/main" val="2583713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6" grpId="0"/>
      <p:bldP spid="17" grpId="0"/>
      <p:bldP spid="18" grpId="0"/>
      <p:bldP spid="20" grpId="0"/>
      <p:bldP spid="2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4" name="Title 6">
            <a:extLst>
              <a:ext uri="{FF2B5EF4-FFF2-40B4-BE49-F238E27FC236}">
                <a16:creationId xmlns:a16="http://schemas.microsoft.com/office/drawing/2014/main" id="{18EFAA1F-58F5-B8DC-5203-016AF3661A4C}"/>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10.5a – Heidelberger &amp; Welch Diagnostic</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5" name="Footer Placeholder 2">
            <a:extLst>
              <a:ext uri="{FF2B5EF4-FFF2-40B4-BE49-F238E27FC236}">
                <a16:creationId xmlns:a16="http://schemas.microsoft.com/office/drawing/2014/main" id="{CE1BC482-63C5-C7CB-8FB1-F710CF896763}"/>
              </a:ext>
            </a:extLst>
          </p:cNvPr>
          <p:cNvSpPr txBox="1">
            <a:spLocks/>
          </p:cNvSpPr>
          <p:nvPr/>
        </p:nvSpPr>
        <p:spPr>
          <a:xfrm>
            <a:off x="8122899" y="86139"/>
            <a:ext cx="3966466"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10.5 – Heidelberger &amp; Welch Diagnostic</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22" name="Text Placeholder 5">
            <a:extLst>
              <a:ext uri="{FF2B5EF4-FFF2-40B4-BE49-F238E27FC236}">
                <a16:creationId xmlns:a16="http://schemas.microsoft.com/office/drawing/2014/main" id="{5778886A-1EEE-1CDA-704C-5D2F499F72F0}"/>
              </a:ext>
            </a:extLst>
          </p:cNvPr>
          <p:cNvSpPr txBox="1">
            <a:spLocks/>
          </p:cNvSpPr>
          <p:nvPr/>
        </p:nvSpPr>
        <p:spPr>
          <a:xfrm>
            <a:off x="291660" y="914838"/>
            <a:ext cx="11608680" cy="203313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dirty="0">
                <a:solidFill>
                  <a:schemeClr val="tx1"/>
                </a:solidFill>
              </a:rPr>
              <a:t>The </a:t>
            </a:r>
            <a:r>
              <a:rPr lang="en-NZ" altLang="ja-JP" sz="1800" b="1" dirty="0" err="1">
                <a:solidFill>
                  <a:schemeClr val="tx1"/>
                </a:solidFill>
              </a:rPr>
              <a:t>Herdelberger</a:t>
            </a:r>
            <a:r>
              <a:rPr lang="en-NZ" altLang="ja-JP" sz="1800" b="1" dirty="0">
                <a:solidFill>
                  <a:schemeClr val="tx1"/>
                </a:solidFill>
              </a:rPr>
              <a:t> &amp; Welch</a:t>
            </a:r>
            <a:r>
              <a:rPr lang="en-NZ" altLang="ja-JP" sz="1800" dirty="0">
                <a:solidFill>
                  <a:schemeClr val="tx1"/>
                </a:solidFill>
              </a:rPr>
              <a:t> </a:t>
            </a:r>
            <a:r>
              <a:rPr lang="en-NZ" altLang="ja-JP" sz="1800" b="1" dirty="0">
                <a:solidFill>
                  <a:schemeClr val="tx1"/>
                </a:solidFill>
              </a:rPr>
              <a:t>Diagnostic </a:t>
            </a:r>
            <a:r>
              <a:rPr lang="en-NZ" altLang="ja-JP" sz="1800" dirty="0">
                <a:solidFill>
                  <a:schemeClr val="tx1"/>
                </a:solidFill>
              </a:rPr>
              <a:t>has two parts:</a:t>
            </a:r>
          </a:p>
          <a:p>
            <a:pPr lvl="0">
              <a:lnSpc>
                <a:spcPct val="100000"/>
              </a:lnSpc>
              <a:defRPr/>
            </a:pPr>
            <a:endParaRPr lang="en-NZ" altLang="ja-JP" sz="200" dirty="0">
              <a:solidFill>
                <a:schemeClr val="tx1"/>
              </a:solidFill>
            </a:endParaRPr>
          </a:p>
          <a:p>
            <a:pPr lvl="0">
              <a:lnSpc>
                <a:spcPct val="100000"/>
              </a:lnSpc>
              <a:defRPr/>
            </a:pPr>
            <a:endParaRPr lang="en-NZ" altLang="ja-JP" sz="200" dirty="0">
              <a:solidFill>
                <a:schemeClr val="tx1"/>
              </a:solidFill>
            </a:endParaRPr>
          </a:p>
          <a:p>
            <a:pPr lvl="0">
              <a:lnSpc>
                <a:spcPct val="100000"/>
              </a:lnSpc>
              <a:defRPr/>
            </a:pPr>
            <a:endParaRPr lang="en-NZ" altLang="ja-JP" sz="200" dirty="0">
              <a:solidFill>
                <a:schemeClr val="tx1"/>
              </a:solidFill>
            </a:endParaRPr>
          </a:p>
          <a:p>
            <a:pPr lvl="0">
              <a:lnSpc>
                <a:spcPct val="100000"/>
              </a:lnSpc>
              <a:defRPr/>
            </a:pPr>
            <a:endParaRPr lang="en-NZ" altLang="ja-JP" sz="200" dirty="0">
              <a:solidFill>
                <a:schemeClr val="tx1"/>
              </a:solidFill>
            </a:endParaRPr>
          </a:p>
          <a:p>
            <a:pPr lvl="0">
              <a:lnSpc>
                <a:spcPct val="100000"/>
              </a:lnSpc>
              <a:defRPr/>
            </a:pPr>
            <a:r>
              <a:rPr lang="en-NZ" altLang="ja-JP" sz="1800" dirty="0">
                <a:solidFill>
                  <a:schemeClr val="tx1"/>
                </a:solidFill>
              </a:rPr>
              <a:t>	</a:t>
            </a:r>
            <a:r>
              <a:rPr lang="en-NZ" altLang="ja-JP" sz="1800" b="1" dirty="0">
                <a:solidFill>
                  <a:schemeClr val="tx1"/>
                </a:solidFill>
              </a:rPr>
              <a:t>Part 1:</a:t>
            </a:r>
            <a:r>
              <a:rPr lang="en-NZ" altLang="ja-JP" sz="1800" dirty="0">
                <a:solidFill>
                  <a:schemeClr val="tx1"/>
                </a:solidFill>
              </a:rPr>
              <a:t>	</a:t>
            </a:r>
            <a:r>
              <a:rPr lang="en-NZ" altLang="ja-JP" sz="1800" b="1" dirty="0">
                <a:solidFill>
                  <a:schemeClr val="tx1"/>
                </a:solidFill>
              </a:rPr>
              <a:t>Stationarity Test</a:t>
            </a:r>
            <a:br>
              <a:rPr lang="en-NZ" altLang="ja-JP" sz="1800" dirty="0">
                <a:solidFill>
                  <a:schemeClr val="tx1"/>
                </a:solidFill>
              </a:rPr>
            </a:br>
            <a:r>
              <a:rPr lang="en-NZ" altLang="ja-JP" sz="1800" dirty="0">
                <a:solidFill>
                  <a:schemeClr val="tx1"/>
                </a:solidFill>
              </a:rPr>
              <a:t>		Calculates a (Cramer-von-Mises) test statistic to accept or reject the null hypothesis that the Markov 		chain is from a stationary (and hence limiting) distribution.</a:t>
            </a:r>
          </a:p>
          <a:p>
            <a:pPr lvl="0">
              <a:lnSpc>
                <a:spcPct val="100000"/>
              </a:lnSpc>
              <a:defRPr/>
            </a:pPr>
            <a:endParaRPr lang="en-NZ" altLang="ja-JP" sz="200" dirty="0">
              <a:solidFill>
                <a:schemeClr val="tx1"/>
              </a:solidFill>
            </a:endParaRPr>
          </a:p>
          <a:p>
            <a:pPr lvl="0">
              <a:lnSpc>
                <a:spcPct val="100000"/>
              </a:lnSpc>
              <a:defRPr/>
            </a:pPr>
            <a:endParaRPr lang="en-NZ" altLang="ja-JP" sz="200" dirty="0">
              <a:solidFill>
                <a:schemeClr val="tx1"/>
              </a:solidFill>
            </a:endParaRPr>
          </a:p>
          <a:p>
            <a:pPr lvl="0">
              <a:lnSpc>
                <a:spcPct val="100000"/>
              </a:lnSpc>
              <a:defRPr/>
            </a:pPr>
            <a:endParaRPr lang="en-NZ" altLang="ja-JP" sz="200" dirty="0">
              <a:solidFill>
                <a:schemeClr val="tx1"/>
              </a:solidFill>
            </a:endParaRPr>
          </a:p>
          <a:p>
            <a:pPr lvl="0">
              <a:lnSpc>
                <a:spcPct val="100000"/>
              </a:lnSpc>
              <a:defRPr/>
            </a:pPr>
            <a:endParaRPr lang="en-NZ" altLang="ja-JP" sz="200" dirty="0">
              <a:solidFill>
                <a:schemeClr val="tx1"/>
              </a:solidFill>
            </a:endParaRPr>
          </a:p>
          <a:p>
            <a:pPr>
              <a:lnSpc>
                <a:spcPct val="100000"/>
              </a:lnSpc>
              <a:defRPr/>
            </a:pPr>
            <a:r>
              <a:rPr lang="en-NZ" altLang="ja-JP" sz="1800" dirty="0">
                <a:solidFill>
                  <a:schemeClr val="tx1"/>
                </a:solidFill>
              </a:rPr>
              <a:t>	</a:t>
            </a:r>
            <a:r>
              <a:rPr lang="en-NZ" altLang="ja-JP" sz="1800" b="1" dirty="0">
                <a:solidFill>
                  <a:schemeClr val="tx1"/>
                </a:solidFill>
              </a:rPr>
              <a:t>Part 2:</a:t>
            </a:r>
            <a:r>
              <a:rPr lang="en-NZ" altLang="ja-JP" sz="1800" dirty="0">
                <a:solidFill>
                  <a:schemeClr val="tx1"/>
                </a:solidFill>
              </a:rPr>
              <a:t>	</a:t>
            </a:r>
            <a:r>
              <a:rPr lang="en-NZ" altLang="ja-JP" sz="1800" b="1" dirty="0">
                <a:solidFill>
                  <a:schemeClr val="tx1"/>
                </a:solidFill>
              </a:rPr>
              <a:t>Halfwidth Test</a:t>
            </a:r>
          </a:p>
          <a:p>
            <a:pPr>
              <a:lnSpc>
                <a:spcPct val="100000"/>
              </a:lnSpc>
              <a:defRPr/>
            </a:pPr>
            <a:r>
              <a:rPr lang="en-NZ" altLang="ja-JP" sz="1800" dirty="0">
                <a:solidFill>
                  <a:schemeClr val="tx1"/>
                </a:solidFill>
              </a:rPr>
              <a:t>		If the chain passes the stationarity test, a halfwidth test is performed.</a:t>
            </a:r>
          </a:p>
          <a:p>
            <a:pPr lvl="0">
              <a:lnSpc>
                <a:spcPct val="100000"/>
              </a:lnSpc>
              <a:defRPr/>
            </a:pPr>
            <a:r>
              <a:rPr lang="en-NZ" altLang="ja-JP" sz="1800" dirty="0">
                <a:solidFill>
                  <a:schemeClr val="tx1"/>
                </a:solidFill>
              </a:rPr>
              <a:t> </a:t>
            </a:r>
          </a:p>
        </p:txBody>
      </p:sp>
      <p:pic>
        <p:nvPicPr>
          <p:cNvPr id="24" name="Picture 2" descr="Te Herenga Waka—Victoria University of Wellington | Universities New  Zealand - Te Pōkai Tara">
            <a:extLst>
              <a:ext uri="{FF2B5EF4-FFF2-40B4-BE49-F238E27FC236}">
                <a16:creationId xmlns:a16="http://schemas.microsoft.com/office/drawing/2014/main" id="{69225D93-D231-8951-EE13-4903550C67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10" name="Text Placeholder 5">
            <a:extLst>
              <a:ext uri="{FF2B5EF4-FFF2-40B4-BE49-F238E27FC236}">
                <a16:creationId xmlns:a16="http://schemas.microsoft.com/office/drawing/2014/main" id="{92739842-619C-1786-7785-A214563BD5B0}"/>
              </a:ext>
            </a:extLst>
          </p:cNvPr>
          <p:cNvSpPr txBox="1">
            <a:spLocks/>
          </p:cNvSpPr>
          <p:nvPr/>
        </p:nvSpPr>
        <p:spPr>
          <a:xfrm>
            <a:off x="309857" y="3049353"/>
            <a:ext cx="2573862" cy="3920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b="1" dirty="0">
                <a:solidFill>
                  <a:srgbClr val="C00000"/>
                </a:solidFill>
              </a:rPr>
              <a:t>Part 2: Halfwidth Test</a:t>
            </a:r>
          </a:p>
        </p:txBody>
      </p:sp>
      <p:sp>
        <p:nvSpPr>
          <p:cNvPr id="11" name="Text Placeholder 5">
            <a:extLst>
              <a:ext uri="{FF2B5EF4-FFF2-40B4-BE49-F238E27FC236}">
                <a16:creationId xmlns:a16="http://schemas.microsoft.com/office/drawing/2014/main" id="{B9C99ABF-8580-6176-D84C-0D4C8FC9D150}"/>
              </a:ext>
            </a:extLst>
          </p:cNvPr>
          <p:cNvSpPr txBox="1">
            <a:spLocks/>
          </p:cNvSpPr>
          <p:nvPr/>
        </p:nvSpPr>
        <p:spPr>
          <a:xfrm>
            <a:off x="409940" y="3441391"/>
            <a:ext cx="11372119" cy="3920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600" dirty="0">
                <a:solidFill>
                  <a:schemeClr val="tx1"/>
                </a:solidFill>
              </a:rPr>
              <a:t>If the chain passes the stationarity test, then take the part of the chain </a:t>
            </a:r>
            <a:r>
              <a:rPr lang="en-NZ" altLang="ja-JP" sz="1600" b="1" dirty="0">
                <a:solidFill>
                  <a:schemeClr val="tx1"/>
                </a:solidFill>
              </a:rPr>
              <a:t>not</a:t>
            </a:r>
            <a:r>
              <a:rPr lang="en-NZ" altLang="ja-JP" sz="1600" dirty="0">
                <a:solidFill>
                  <a:schemeClr val="tx1"/>
                </a:solidFill>
              </a:rPr>
              <a:t> discarded and run the halfwidth test.</a:t>
            </a:r>
          </a:p>
        </p:txBody>
      </p:sp>
      <mc:AlternateContent xmlns:mc="http://schemas.openxmlformats.org/markup-compatibility/2006" xmlns:a14="http://schemas.microsoft.com/office/drawing/2010/main">
        <mc:Choice Requires="a14">
          <p:sp>
            <p:nvSpPr>
              <p:cNvPr id="19" name="Text Placeholder 5">
                <a:extLst>
                  <a:ext uri="{FF2B5EF4-FFF2-40B4-BE49-F238E27FC236}">
                    <a16:creationId xmlns:a16="http://schemas.microsoft.com/office/drawing/2014/main" id="{FD8FAC41-3C0F-9E09-16D9-F894D52EEB0C}"/>
                  </a:ext>
                </a:extLst>
              </p:cNvPr>
              <p:cNvSpPr txBox="1">
                <a:spLocks/>
              </p:cNvSpPr>
              <p:nvPr/>
            </p:nvSpPr>
            <p:spPr>
              <a:xfrm>
                <a:off x="409939" y="3842759"/>
                <a:ext cx="11372119" cy="55763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600" dirty="0">
                    <a:solidFill>
                      <a:schemeClr val="tx1"/>
                    </a:solidFill>
                  </a:rPr>
                  <a:t>The halfwidth test calculates half the width of the </a:t>
                </a:r>
                <a14:m>
                  <m:oMath xmlns:m="http://schemas.openxmlformats.org/officeDocument/2006/math">
                    <m:d>
                      <m:dPr>
                        <m:ctrlPr>
                          <a:rPr lang="en-NZ" altLang="ja-JP" sz="1600" b="1" i="1" smtClean="0">
                            <a:solidFill>
                              <a:schemeClr val="tx1"/>
                            </a:solidFill>
                            <a:latin typeface="Cambria Math" panose="02040503050406030204" pitchFamily="18" charset="0"/>
                          </a:rPr>
                        </m:ctrlPr>
                      </m:dPr>
                      <m:e>
                        <m:r>
                          <a:rPr lang="en-NZ" altLang="ja-JP" sz="1600" b="1" i="1" smtClean="0">
                            <a:solidFill>
                              <a:schemeClr val="tx1"/>
                            </a:solidFill>
                            <a:latin typeface="Cambria Math" panose="02040503050406030204" pitchFamily="18" charset="0"/>
                          </a:rPr>
                          <m:t>𝟏</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𝜶</m:t>
                        </m:r>
                      </m:e>
                    </m:d>
                    <m:r>
                      <a:rPr lang="en-NZ" altLang="ja-JP" sz="1600" b="1" i="1" smtClean="0">
                        <a:solidFill>
                          <a:schemeClr val="tx1"/>
                        </a:solidFill>
                        <a:latin typeface="Cambria Math" panose="02040503050406030204" pitchFamily="18" charset="0"/>
                      </a:rPr>
                      <m:t>%</m:t>
                    </m:r>
                  </m:oMath>
                </a14:m>
                <a:r>
                  <a:rPr lang="en-NZ" altLang="ja-JP" sz="1600" dirty="0">
                    <a:solidFill>
                      <a:schemeClr val="tx1"/>
                    </a:solidFill>
                  </a:rPr>
                  <a:t> credible interval (the Bayesian version of a confidence interval) </a:t>
                </a:r>
                <a:br>
                  <a:rPr lang="en-NZ" altLang="ja-JP" sz="1600" dirty="0">
                    <a:solidFill>
                      <a:schemeClr val="tx1"/>
                    </a:solidFill>
                  </a:rPr>
                </a:br>
                <a:r>
                  <a:rPr lang="en-NZ" altLang="ja-JP" sz="1600" dirty="0">
                    <a:solidFill>
                      <a:schemeClr val="tx1"/>
                    </a:solidFill>
                  </a:rPr>
                  <a:t>around the mean.</a:t>
                </a:r>
              </a:p>
            </p:txBody>
          </p:sp>
        </mc:Choice>
        <mc:Fallback xmlns="">
          <p:sp>
            <p:nvSpPr>
              <p:cNvPr id="19" name="Text Placeholder 5">
                <a:extLst>
                  <a:ext uri="{FF2B5EF4-FFF2-40B4-BE49-F238E27FC236}">
                    <a16:creationId xmlns:a16="http://schemas.microsoft.com/office/drawing/2014/main" id="{FD8FAC41-3C0F-9E09-16D9-F894D52EEB0C}"/>
                  </a:ext>
                </a:extLst>
              </p:cNvPr>
              <p:cNvSpPr txBox="1">
                <a:spLocks noRot="1" noChangeAspect="1" noMove="1" noResize="1" noEditPoints="1" noAdjustHandles="1" noChangeArrowheads="1" noChangeShapeType="1" noTextEdit="1"/>
              </p:cNvSpPr>
              <p:nvPr/>
            </p:nvSpPr>
            <p:spPr>
              <a:xfrm>
                <a:off x="409939" y="3842759"/>
                <a:ext cx="11372119" cy="557637"/>
              </a:xfrm>
              <a:prstGeom prst="rect">
                <a:avLst/>
              </a:prstGeom>
              <a:blipFill>
                <a:blip r:embed="rId3"/>
                <a:stretch>
                  <a:fillRect l="-214" t="-3261" b="-17391"/>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3" name="Text Placeholder 5">
                <a:extLst>
                  <a:ext uri="{FF2B5EF4-FFF2-40B4-BE49-F238E27FC236}">
                    <a16:creationId xmlns:a16="http://schemas.microsoft.com/office/drawing/2014/main" id="{8282A290-6592-DB60-2589-B53114BC8B4A}"/>
                  </a:ext>
                </a:extLst>
              </p:cNvPr>
              <p:cNvSpPr txBox="1">
                <a:spLocks/>
              </p:cNvSpPr>
              <p:nvPr/>
            </p:nvSpPr>
            <p:spPr>
              <a:xfrm>
                <a:off x="409938" y="4451089"/>
                <a:ext cx="11372119" cy="3920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600" dirty="0">
                    <a:solidFill>
                      <a:schemeClr val="tx1"/>
                    </a:solidFill>
                  </a:rPr>
                  <a:t>If   </a:t>
                </a:r>
                <a14:m>
                  <m:oMath xmlns:m="http://schemas.openxmlformats.org/officeDocument/2006/math">
                    <m:f>
                      <m:fPr>
                        <m:ctrlPr>
                          <a:rPr lang="en-NZ" altLang="ja-JP" sz="1600" b="1" i="1" smtClean="0">
                            <a:solidFill>
                              <a:schemeClr val="tx1"/>
                            </a:solidFill>
                            <a:latin typeface="Cambria Math" panose="02040503050406030204" pitchFamily="18" charset="0"/>
                          </a:rPr>
                        </m:ctrlPr>
                      </m:fPr>
                      <m:num>
                        <m:r>
                          <a:rPr lang="en-NZ" altLang="ja-JP" sz="1600" b="1" i="1" smtClean="0">
                            <a:solidFill>
                              <a:schemeClr val="tx1"/>
                            </a:solidFill>
                            <a:latin typeface="Cambria Math" panose="02040503050406030204" pitchFamily="18" charset="0"/>
                          </a:rPr>
                          <m:t>𝒉𝒂𝒍𝒇𝒘𝒊𝒅𝒕𝒉</m:t>
                        </m:r>
                      </m:num>
                      <m:den>
                        <m:r>
                          <a:rPr lang="en-NZ" altLang="ja-JP" sz="1600" b="1" i="1" smtClean="0">
                            <a:solidFill>
                              <a:schemeClr val="tx1"/>
                            </a:solidFill>
                            <a:latin typeface="Cambria Math" panose="02040503050406030204" pitchFamily="18" charset="0"/>
                          </a:rPr>
                          <m:t>𝒎𝒆𝒂𝒏</m:t>
                        </m:r>
                      </m:den>
                    </m:f>
                    <m:r>
                      <a:rPr lang="en-NZ" altLang="ja-JP" sz="1600" b="1" i="1" smtClean="0">
                        <a:solidFill>
                          <a:schemeClr val="tx1"/>
                        </a:solidFill>
                        <a:latin typeface="Cambria Math" panose="02040503050406030204" pitchFamily="18" charset="0"/>
                      </a:rPr>
                      <m:t>&lt;</m:t>
                    </m:r>
                    <m:r>
                      <a:rPr lang="en-NZ" altLang="ja-JP" sz="1600" b="1" i="1" smtClean="0">
                        <a:solidFill>
                          <a:schemeClr val="tx1"/>
                        </a:solidFill>
                        <a:latin typeface="Cambria Math" panose="02040503050406030204" pitchFamily="18" charset="0"/>
                      </a:rPr>
                      <m:t>𝝐</m:t>
                    </m:r>
                  </m:oMath>
                </a14:m>
                <a:r>
                  <a:rPr lang="en-NZ" altLang="ja-JP" sz="1600" b="1" dirty="0">
                    <a:solidFill>
                      <a:schemeClr val="tx1"/>
                    </a:solidFill>
                  </a:rPr>
                  <a:t>  </a:t>
                </a:r>
                <a:r>
                  <a:rPr lang="en-NZ" altLang="ja-JP" sz="1600" dirty="0">
                    <a:solidFill>
                      <a:schemeClr val="tx1"/>
                    </a:solidFill>
                  </a:rPr>
                  <a:t>then the chain passes the test. Otherwise a longer chain is required.</a:t>
                </a:r>
              </a:p>
            </p:txBody>
          </p:sp>
        </mc:Choice>
        <mc:Fallback xmlns="">
          <p:sp>
            <p:nvSpPr>
              <p:cNvPr id="23" name="Text Placeholder 5">
                <a:extLst>
                  <a:ext uri="{FF2B5EF4-FFF2-40B4-BE49-F238E27FC236}">
                    <a16:creationId xmlns:a16="http://schemas.microsoft.com/office/drawing/2014/main" id="{8282A290-6592-DB60-2589-B53114BC8B4A}"/>
                  </a:ext>
                </a:extLst>
              </p:cNvPr>
              <p:cNvSpPr txBox="1">
                <a:spLocks noRot="1" noChangeAspect="1" noMove="1" noResize="1" noEditPoints="1" noAdjustHandles="1" noChangeArrowheads="1" noChangeShapeType="1" noTextEdit="1"/>
              </p:cNvSpPr>
              <p:nvPr/>
            </p:nvSpPr>
            <p:spPr>
              <a:xfrm>
                <a:off x="409938" y="4451089"/>
                <a:ext cx="11372119" cy="392038"/>
              </a:xfrm>
              <a:prstGeom prst="rect">
                <a:avLst/>
              </a:prstGeom>
              <a:blipFill>
                <a:blip r:embed="rId4"/>
                <a:stretch>
                  <a:fillRect l="-214" b="-21875"/>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5" name="Text Placeholder 5">
                <a:extLst>
                  <a:ext uri="{FF2B5EF4-FFF2-40B4-BE49-F238E27FC236}">
                    <a16:creationId xmlns:a16="http://schemas.microsoft.com/office/drawing/2014/main" id="{FB0CC14E-18E2-A9C6-6574-C6F3B7D1C09F}"/>
                  </a:ext>
                </a:extLst>
              </p:cNvPr>
              <p:cNvSpPr txBox="1">
                <a:spLocks/>
              </p:cNvSpPr>
              <p:nvPr/>
            </p:nvSpPr>
            <p:spPr>
              <a:xfrm>
                <a:off x="409938" y="4955938"/>
                <a:ext cx="11372119" cy="3920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600" dirty="0">
                    <a:solidFill>
                      <a:schemeClr val="tx1"/>
                    </a:solidFill>
                  </a:rPr>
                  <a:t>The default values in R are </a:t>
                </a:r>
                <a14:m>
                  <m:oMath xmlns:m="http://schemas.openxmlformats.org/officeDocument/2006/math">
                    <m:r>
                      <a:rPr lang="en-NZ" altLang="ja-JP" sz="1600" b="1" i="1" smtClean="0">
                        <a:solidFill>
                          <a:schemeClr val="tx1"/>
                        </a:solidFill>
                        <a:latin typeface="Cambria Math" panose="02040503050406030204" pitchFamily="18" charset="0"/>
                      </a:rPr>
                      <m:t>𝜶</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𝟎</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𝟎𝟓</m:t>
                    </m:r>
                  </m:oMath>
                </a14:m>
                <a:r>
                  <a:rPr lang="en-NZ" altLang="ja-JP" sz="1600" dirty="0">
                    <a:solidFill>
                      <a:schemeClr val="tx1"/>
                    </a:solidFill>
                  </a:rPr>
                  <a:t> and </a:t>
                </a:r>
                <a14:m>
                  <m:oMath xmlns:m="http://schemas.openxmlformats.org/officeDocument/2006/math">
                    <m:r>
                      <a:rPr lang="en-NZ" altLang="ja-JP" sz="1600" b="1" i="1" smtClean="0">
                        <a:solidFill>
                          <a:schemeClr val="tx1"/>
                        </a:solidFill>
                        <a:latin typeface="Cambria Math" panose="02040503050406030204" pitchFamily="18" charset="0"/>
                      </a:rPr>
                      <m:t>𝝐</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𝟎</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𝟏</m:t>
                    </m:r>
                  </m:oMath>
                </a14:m>
                <a:r>
                  <a:rPr lang="en-NZ" altLang="ja-JP" sz="1600" dirty="0">
                    <a:solidFill>
                      <a:schemeClr val="tx1"/>
                    </a:solidFill>
                  </a:rPr>
                  <a:t>.</a:t>
                </a:r>
              </a:p>
            </p:txBody>
          </p:sp>
        </mc:Choice>
        <mc:Fallback xmlns="">
          <p:sp>
            <p:nvSpPr>
              <p:cNvPr id="25" name="Text Placeholder 5">
                <a:extLst>
                  <a:ext uri="{FF2B5EF4-FFF2-40B4-BE49-F238E27FC236}">
                    <a16:creationId xmlns:a16="http://schemas.microsoft.com/office/drawing/2014/main" id="{FB0CC14E-18E2-A9C6-6574-C6F3B7D1C09F}"/>
                  </a:ext>
                </a:extLst>
              </p:cNvPr>
              <p:cNvSpPr txBox="1">
                <a:spLocks noRot="1" noChangeAspect="1" noMove="1" noResize="1" noEditPoints="1" noAdjustHandles="1" noChangeArrowheads="1" noChangeShapeType="1" noTextEdit="1"/>
              </p:cNvSpPr>
              <p:nvPr/>
            </p:nvSpPr>
            <p:spPr>
              <a:xfrm>
                <a:off x="409938" y="4955938"/>
                <a:ext cx="11372119" cy="392038"/>
              </a:xfrm>
              <a:prstGeom prst="rect">
                <a:avLst/>
              </a:prstGeom>
              <a:blipFill>
                <a:blip r:embed="rId5"/>
                <a:stretch>
                  <a:fillRect l="-214" t="-4688" b="-6250"/>
                </a:stretch>
              </a:blipFill>
            </p:spPr>
            <p:txBody>
              <a:bodyPr/>
              <a:lstStyle/>
              <a:p>
                <a:r>
                  <a:rPr lang="en-NZ">
                    <a:noFill/>
                  </a:rPr>
                  <a:t> </a:t>
                </a:r>
              </a:p>
            </p:txBody>
          </p:sp>
        </mc:Fallback>
      </mc:AlternateContent>
    </p:spTree>
    <p:extLst>
      <p:ext uri="{BB962C8B-B14F-4D97-AF65-F5344CB8AC3E}">
        <p14:creationId xmlns:p14="http://schemas.microsoft.com/office/powerpoint/2010/main" val="2316969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3" grpId="0"/>
      <p:bldP spid="2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4" name="Title 6">
            <a:extLst>
              <a:ext uri="{FF2B5EF4-FFF2-40B4-BE49-F238E27FC236}">
                <a16:creationId xmlns:a16="http://schemas.microsoft.com/office/drawing/2014/main" id="{18EFAA1F-58F5-B8DC-5203-016AF3661A4C}"/>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10.5a – Heidelberger &amp; Welch Diagnostic</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5" name="Footer Placeholder 2">
            <a:extLst>
              <a:ext uri="{FF2B5EF4-FFF2-40B4-BE49-F238E27FC236}">
                <a16:creationId xmlns:a16="http://schemas.microsoft.com/office/drawing/2014/main" id="{CE1BC482-63C5-C7CB-8FB1-F710CF896763}"/>
              </a:ext>
            </a:extLst>
          </p:cNvPr>
          <p:cNvSpPr txBox="1">
            <a:spLocks/>
          </p:cNvSpPr>
          <p:nvPr/>
        </p:nvSpPr>
        <p:spPr>
          <a:xfrm>
            <a:off x="8122899" y="86139"/>
            <a:ext cx="3966466"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10.5 – Heidelberger &amp; Welch Diagnostic</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22" name="Text Placeholder 5">
            <a:extLst>
              <a:ext uri="{FF2B5EF4-FFF2-40B4-BE49-F238E27FC236}">
                <a16:creationId xmlns:a16="http://schemas.microsoft.com/office/drawing/2014/main" id="{5778886A-1EEE-1CDA-704C-5D2F499F72F0}"/>
              </a:ext>
            </a:extLst>
          </p:cNvPr>
          <p:cNvSpPr txBox="1">
            <a:spLocks/>
          </p:cNvSpPr>
          <p:nvPr/>
        </p:nvSpPr>
        <p:spPr>
          <a:xfrm>
            <a:off x="291660" y="914838"/>
            <a:ext cx="11608680" cy="203313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dirty="0">
                <a:solidFill>
                  <a:schemeClr val="tx1"/>
                </a:solidFill>
              </a:rPr>
              <a:t>The </a:t>
            </a:r>
            <a:r>
              <a:rPr lang="en-NZ" altLang="ja-JP" sz="1800" b="1" dirty="0" err="1">
                <a:solidFill>
                  <a:schemeClr val="tx1"/>
                </a:solidFill>
              </a:rPr>
              <a:t>Herdelberger</a:t>
            </a:r>
            <a:r>
              <a:rPr lang="en-NZ" altLang="ja-JP" sz="1800" b="1" dirty="0">
                <a:solidFill>
                  <a:schemeClr val="tx1"/>
                </a:solidFill>
              </a:rPr>
              <a:t> &amp; Welch</a:t>
            </a:r>
            <a:r>
              <a:rPr lang="en-NZ" altLang="ja-JP" sz="1800" dirty="0">
                <a:solidFill>
                  <a:schemeClr val="tx1"/>
                </a:solidFill>
              </a:rPr>
              <a:t> </a:t>
            </a:r>
            <a:r>
              <a:rPr lang="en-NZ" altLang="ja-JP" sz="1800" b="1" dirty="0">
                <a:solidFill>
                  <a:schemeClr val="tx1"/>
                </a:solidFill>
              </a:rPr>
              <a:t>Diagnostic </a:t>
            </a:r>
            <a:r>
              <a:rPr lang="en-NZ" altLang="ja-JP" sz="1800" dirty="0">
                <a:solidFill>
                  <a:schemeClr val="tx1"/>
                </a:solidFill>
              </a:rPr>
              <a:t>has two parts:</a:t>
            </a:r>
          </a:p>
          <a:p>
            <a:pPr lvl="0">
              <a:lnSpc>
                <a:spcPct val="100000"/>
              </a:lnSpc>
              <a:defRPr/>
            </a:pPr>
            <a:endParaRPr lang="en-NZ" altLang="ja-JP" sz="200" dirty="0">
              <a:solidFill>
                <a:schemeClr val="tx1"/>
              </a:solidFill>
            </a:endParaRPr>
          </a:p>
          <a:p>
            <a:pPr lvl="0">
              <a:lnSpc>
                <a:spcPct val="100000"/>
              </a:lnSpc>
              <a:defRPr/>
            </a:pPr>
            <a:endParaRPr lang="en-NZ" altLang="ja-JP" sz="200" dirty="0">
              <a:solidFill>
                <a:schemeClr val="tx1"/>
              </a:solidFill>
            </a:endParaRPr>
          </a:p>
          <a:p>
            <a:pPr lvl="0">
              <a:lnSpc>
                <a:spcPct val="100000"/>
              </a:lnSpc>
              <a:defRPr/>
            </a:pPr>
            <a:endParaRPr lang="en-NZ" altLang="ja-JP" sz="200" dirty="0">
              <a:solidFill>
                <a:schemeClr val="tx1"/>
              </a:solidFill>
            </a:endParaRPr>
          </a:p>
          <a:p>
            <a:pPr lvl="0">
              <a:lnSpc>
                <a:spcPct val="100000"/>
              </a:lnSpc>
              <a:defRPr/>
            </a:pPr>
            <a:endParaRPr lang="en-NZ" altLang="ja-JP" sz="200" dirty="0">
              <a:solidFill>
                <a:schemeClr val="tx1"/>
              </a:solidFill>
            </a:endParaRPr>
          </a:p>
          <a:p>
            <a:pPr lvl="0">
              <a:lnSpc>
                <a:spcPct val="100000"/>
              </a:lnSpc>
              <a:defRPr/>
            </a:pPr>
            <a:r>
              <a:rPr lang="en-NZ" altLang="ja-JP" sz="1800" dirty="0">
                <a:solidFill>
                  <a:schemeClr val="tx1"/>
                </a:solidFill>
              </a:rPr>
              <a:t>	</a:t>
            </a:r>
            <a:r>
              <a:rPr lang="en-NZ" altLang="ja-JP" sz="1800" b="1" dirty="0">
                <a:solidFill>
                  <a:schemeClr val="tx1"/>
                </a:solidFill>
              </a:rPr>
              <a:t>Part 1:</a:t>
            </a:r>
            <a:r>
              <a:rPr lang="en-NZ" altLang="ja-JP" sz="1800" dirty="0">
                <a:solidFill>
                  <a:schemeClr val="tx1"/>
                </a:solidFill>
              </a:rPr>
              <a:t>	</a:t>
            </a:r>
            <a:r>
              <a:rPr lang="en-NZ" altLang="ja-JP" sz="1800" b="1" dirty="0">
                <a:solidFill>
                  <a:schemeClr val="tx1"/>
                </a:solidFill>
              </a:rPr>
              <a:t>Stationarity Test</a:t>
            </a:r>
            <a:br>
              <a:rPr lang="en-NZ" altLang="ja-JP" sz="1800" dirty="0">
                <a:solidFill>
                  <a:schemeClr val="tx1"/>
                </a:solidFill>
              </a:rPr>
            </a:br>
            <a:r>
              <a:rPr lang="en-NZ" altLang="ja-JP" sz="1800" dirty="0">
                <a:solidFill>
                  <a:schemeClr val="tx1"/>
                </a:solidFill>
              </a:rPr>
              <a:t>		Calculates a (Cramer-von-Mises) test statistic to accept or reject the null hypothesis that the Markov 		chain is from a stationary (and hence limiting) distribution.</a:t>
            </a:r>
          </a:p>
          <a:p>
            <a:pPr lvl="0">
              <a:lnSpc>
                <a:spcPct val="100000"/>
              </a:lnSpc>
              <a:defRPr/>
            </a:pPr>
            <a:endParaRPr lang="en-NZ" altLang="ja-JP" sz="200" dirty="0">
              <a:solidFill>
                <a:schemeClr val="tx1"/>
              </a:solidFill>
            </a:endParaRPr>
          </a:p>
          <a:p>
            <a:pPr lvl="0">
              <a:lnSpc>
                <a:spcPct val="100000"/>
              </a:lnSpc>
              <a:defRPr/>
            </a:pPr>
            <a:endParaRPr lang="en-NZ" altLang="ja-JP" sz="200" dirty="0">
              <a:solidFill>
                <a:schemeClr val="tx1"/>
              </a:solidFill>
            </a:endParaRPr>
          </a:p>
          <a:p>
            <a:pPr lvl="0">
              <a:lnSpc>
                <a:spcPct val="100000"/>
              </a:lnSpc>
              <a:defRPr/>
            </a:pPr>
            <a:endParaRPr lang="en-NZ" altLang="ja-JP" sz="200" dirty="0">
              <a:solidFill>
                <a:schemeClr val="tx1"/>
              </a:solidFill>
            </a:endParaRPr>
          </a:p>
          <a:p>
            <a:pPr lvl="0">
              <a:lnSpc>
                <a:spcPct val="100000"/>
              </a:lnSpc>
              <a:defRPr/>
            </a:pPr>
            <a:endParaRPr lang="en-NZ" altLang="ja-JP" sz="200" dirty="0">
              <a:solidFill>
                <a:schemeClr val="tx1"/>
              </a:solidFill>
            </a:endParaRPr>
          </a:p>
          <a:p>
            <a:pPr>
              <a:lnSpc>
                <a:spcPct val="100000"/>
              </a:lnSpc>
              <a:defRPr/>
            </a:pPr>
            <a:r>
              <a:rPr lang="en-NZ" altLang="ja-JP" sz="1800" dirty="0">
                <a:solidFill>
                  <a:schemeClr val="tx1"/>
                </a:solidFill>
              </a:rPr>
              <a:t>	</a:t>
            </a:r>
            <a:r>
              <a:rPr lang="en-NZ" altLang="ja-JP" sz="1800" b="1" dirty="0">
                <a:solidFill>
                  <a:schemeClr val="tx1"/>
                </a:solidFill>
              </a:rPr>
              <a:t>Part 2:</a:t>
            </a:r>
            <a:r>
              <a:rPr lang="en-NZ" altLang="ja-JP" sz="1800" dirty="0">
                <a:solidFill>
                  <a:schemeClr val="tx1"/>
                </a:solidFill>
              </a:rPr>
              <a:t>	</a:t>
            </a:r>
            <a:r>
              <a:rPr lang="en-NZ" altLang="ja-JP" sz="1800" b="1" dirty="0">
                <a:solidFill>
                  <a:schemeClr val="tx1"/>
                </a:solidFill>
              </a:rPr>
              <a:t>Halfwidth Test</a:t>
            </a:r>
          </a:p>
          <a:p>
            <a:pPr>
              <a:lnSpc>
                <a:spcPct val="100000"/>
              </a:lnSpc>
              <a:defRPr/>
            </a:pPr>
            <a:r>
              <a:rPr lang="en-NZ" altLang="ja-JP" sz="1800" dirty="0">
                <a:solidFill>
                  <a:schemeClr val="tx1"/>
                </a:solidFill>
              </a:rPr>
              <a:t>		If the chain passes the stationarity test, a halfwidth test is performed.</a:t>
            </a:r>
          </a:p>
          <a:p>
            <a:pPr lvl="0">
              <a:lnSpc>
                <a:spcPct val="100000"/>
              </a:lnSpc>
              <a:defRPr/>
            </a:pPr>
            <a:r>
              <a:rPr lang="en-NZ" altLang="ja-JP" sz="1800" dirty="0">
                <a:solidFill>
                  <a:schemeClr val="tx1"/>
                </a:solidFill>
              </a:rPr>
              <a:t> </a:t>
            </a:r>
          </a:p>
        </p:txBody>
      </p:sp>
      <p:pic>
        <p:nvPicPr>
          <p:cNvPr id="24" name="Picture 2" descr="Te Herenga Waka—Victoria University of Wellington | Universities New  Zealand - Te Pōkai Tara">
            <a:extLst>
              <a:ext uri="{FF2B5EF4-FFF2-40B4-BE49-F238E27FC236}">
                <a16:creationId xmlns:a16="http://schemas.microsoft.com/office/drawing/2014/main" id="{69225D93-D231-8951-EE13-4903550C67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10" name="Text Placeholder 5">
            <a:extLst>
              <a:ext uri="{FF2B5EF4-FFF2-40B4-BE49-F238E27FC236}">
                <a16:creationId xmlns:a16="http://schemas.microsoft.com/office/drawing/2014/main" id="{92739842-619C-1786-7785-A214563BD5B0}"/>
              </a:ext>
            </a:extLst>
          </p:cNvPr>
          <p:cNvSpPr txBox="1">
            <a:spLocks/>
          </p:cNvSpPr>
          <p:nvPr/>
        </p:nvSpPr>
        <p:spPr>
          <a:xfrm>
            <a:off x="309857" y="3049353"/>
            <a:ext cx="2573862" cy="3920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b="1" dirty="0">
                <a:solidFill>
                  <a:srgbClr val="C00000"/>
                </a:solidFill>
              </a:rPr>
              <a:t>WARNING:</a:t>
            </a:r>
          </a:p>
        </p:txBody>
      </p:sp>
      <p:sp>
        <p:nvSpPr>
          <p:cNvPr id="11" name="Text Placeholder 5">
            <a:extLst>
              <a:ext uri="{FF2B5EF4-FFF2-40B4-BE49-F238E27FC236}">
                <a16:creationId xmlns:a16="http://schemas.microsoft.com/office/drawing/2014/main" id="{B9C99ABF-8580-6176-D84C-0D4C8FC9D150}"/>
              </a:ext>
            </a:extLst>
          </p:cNvPr>
          <p:cNvSpPr txBox="1">
            <a:spLocks/>
          </p:cNvSpPr>
          <p:nvPr/>
        </p:nvSpPr>
        <p:spPr>
          <a:xfrm>
            <a:off x="409940" y="3441391"/>
            <a:ext cx="11372119" cy="3920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600" dirty="0">
                <a:solidFill>
                  <a:schemeClr val="tx1"/>
                </a:solidFill>
              </a:rPr>
              <a:t>If the chain fails the test, then we need to extend the chain and run the test again.</a:t>
            </a:r>
          </a:p>
        </p:txBody>
      </p:sp>
      <p:sp>
        <p:nvSpPr>
          <p:cNvPr id="12" name="Text Placeholder 5">
            <a:extLst>
              <a:ext uri="{FF2B5EF4-FFF2-40B4-BE49-F238E27FC236}">
                <a16:creationId xmlns:a16="http://schemas.microsoft.com/office/drawing/2014/main" id="{8232EADD-E189-71D6-0079-BB3B08B18FDD}"/>
              </a:ext>
            </a:extLst>
          </p:cNvPr>
          <p:cNvSpPr txBox="1">
            <a:spLocks/>
          </p:cNvSpPr>
          <p:nvPr/>
        </p:nvSpPr>
        <p:spPr>
          <a:xfrm>
            <a:off x="409939" y="3946152"/>
            <a:ext cx="11372119" cy="3920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600" dirty="0">
                <a:solidFill>
                  <a:schemeClr val="tx1"/>
                </a:solidFill>
              </a:rPr>
              <a:t>However, this incurs the problem of sequential testing (the chain could end up passing the test just by chance).</a:t>
            </a:r>
          </a:p>
        </p:txBody>
      </p:sp>
      <p:sp>
        <p:nvSpPr>
          <p:cNvPr id="13" name="Text Placeholder 5">
            <a:extLst>
              <a:ext uri="{FF2B5EF4-FFF2-40B4-BE49-F238E27FC236}">
                <a16:creationId xmlns:a16="http://schemas.microsoft.com/office/drawing/2014/main" id="{87057D3A-4E88-7437-6D85-0402DE2A779F}"/>
              </a:ext>
            </a:extLst>
          </p:cNvPr>
          <p:cNvSpPr txBox="1">
            <a:spLocks/>
          </p:cNvSpPr>
          <p:nvPr/>
        </p:nvSpPr>
        <p:spPr>
          <a:xfrm>
            <a:off x="409939" y="4462603"/>
            <a:ext cx="11372119"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600" dirty="0">
                <a:solidFill>
                  <a:schemeClr val="tx1"/>
                </a:solidFill>
              </a:rPr>
              <a:t>Heidelberger &amp; Welch suggest increasing the length of the chain by a factor of 1.5 each time so that there is a reasonably large proportion of new values in the chain.</a:t>
            </a:r>
          </a:p>
        </p:txBody>
      </p:sp>
    </p:spTree>
    <p:extLst>
      <p:ext uri="{BB962C8B-B14F-4D97-AF65-F5344CB8AC3E}">
        <p14:creationId xmlns:p14="http://schemas.microsoft.com/office/powerpoint/2010/main" val="30241101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5" name="Footer Placeholder 2">
            <a:extLst>
              <a:ext uri="{FF2B5EF4-FFF2-40B4-BE49-F238E27FC236}">
                <a16:creationId xmlns:a16="http://schemas.microsoft.com/office/drawing/2014/main" id="{CE1BC482-63C5-C7CB-8FB1-F710CF896763}"/>
              </a:ext>
            </a:extLst>
          </p:cNvPr>
          <p:cNvSpPr txBox="1">
            <a:spLocks/>
          </p:cNvSpPr>
          <p:nvPr/>
        </p:nvSpPr>
        <p:spPr>
          <a:xfrm>
            <a:off x="8122899" y="86139"/>
            <a:ext cx="3966466"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10.5 – Heidelberger &amp; Welch Diagnostic</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pic>
        <p:nvPicPr>
          <p:cNvPr id="24" name="Picture 2" descr="Te Herenga Waka—Victoria University of Wellington | Universities New  Zealand - Te Pōkai Tara">
            <a:extLst>
              <a:ext uri="{FF2B5EF4-FFF2-40B4-BE49-F238E27FC236}">
                <a16:creationId xmlns:a16="http://schemas.microsoft.com/office/drawing/2014/main" id="{69225D93-D231-8951-EE13-4903550C67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16" name="Title 6">
            <a:extLst>
              <a:ext uri="{FF2B5EF4-FFF2-40B4-BE49-F238E27FC236}">
                <a16:creationId xmlns:a16="http://schemas.microsoft.com/office/drawing/2014/main" id="{F1AA1876-36CD-AE09-1A55-0585D33D81AF}"/>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10.5c – Bivariate Normal Example</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7" name="Text Placeholder 5">
            <a:extLst>
              <a:ext uri="{FF2B5EF4-FFF2-40B4-BE49-F238E27FC236}">
                <a16:creationId xmlns:a16="http://schemas.microsoft.com/office/drawing/2014/main" id="{EFC69CBD-97A5-6987-17AE-AB9235F40C65}"/>
              </a:ext>
            </a:extLst>
          </p:cNvPr>
          <p:cNvSpPr txBox="1">
            <a:spLocks/>
          </p:cNvSpPr>
          <p:nvPr/>
        </p:nvSpPr>
        <p:spPr>
          <a:xfrm>
            <a:off x="5567855" y="2442949"/>
            <a:ext cx="6307190" cy="178752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dirty="0">
                <a:solidFill>
                  <a:schemeClr val="tx1"/>
                </a:solidFill>
              </a:rPr>
              <a:t>The chain we produced in the bivariate normal example passes both the stationarity test and the halfwidth test.</a:t>
            </a:r>
          </a:p>
          <a:p>
            <a:pPr lvl="0">
              <a:lnSpc>
                <a:spcPct val="100000"/>
              </a:lnSpc>
              <a:defRPr/>
            </a:pPr>
            <a:endParaRPr lang="en-NZ" altLang="ja-JP" sz="1800" dirty="0">
              <a:solidFill>
                <a:schemeClr val="tx1"/>
              </a:solidFill>
            </a:endParaRPr>
          </a:p>
          <a:p>
            <a:pPr lvl="0">
              <a:lnSpc>
                <a:spcPct val="100000"/>
              </a:lnSpc>
              <a:defRPr/>
            </a:pPr>
            <a:r>
              <a:rPr lang="en-NZ" altLang="ja-JP" sz="1800" dirty="0">
                <a:solidFill>
                  <a:schemeClr val="tx1"/>
                </a:solidFill>
              </a:rPr>
              <a:t>No evidence that the chain has not converged to the target distribution.</a:t>
            </a:r>
          </a:p>
        </p:txBody>
      </p:sp>
      <p:sp>
        <p:nvSpPr>
          <p:cNvPr id="18" name="Text Placeholder 5">
            <a:extLst>
              <a:ext uri="{FF2B5EF4-FFF2-40B4-BE49-F238E27FC236}">
                <a16:creationId xmlns:a16="http://schemas.microsoft.com/office/drawing/2014/main" id="{B575BD6E-66FE-E25E-01B8-42E3AABE7C21}"/>
              </a:ext>
            </a:extLst>
          </p:cNvPr>
          <p:cNvSpPr txBox="1">
            <a:spLocks/>
          </p:cNvSpPr>
          <p:nvPr/>
        </p:nvSpPr>
        <p:spPr>
          <a:xfrm>
            <a:off x="417345" y="917215"/>
            <a:ext cx="4894885" cy="1525734"/>
          </a:xfrm>
          <a:prstGeom prst="rect">
            <a:avLst/>
          </a:prstGeom>
          <a:solidFill>
            <a:schemeClr val="accent5">
              <a:lumMod val="20000"/>
              <a:lumOff val="80000"/>
            </a:schemeClr>
          </a:solid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400" dirty="0">
                <a:solidFill>
                  <a:srgbClr val="00B050"/>
                </a:solidFill>
              </a:rPr>
              <a:t># 6.1a - Converting the </a:t>
            </a:r>
            <a:r>
              <a:rPr lang="en-NZ" altLang="ja-JP" sz="1400" dirty="0" err="1">
                <a:solidFill>
                  <a:srgbClr val="00B050"/>
                </a:solidFill>
              </a:rPr>
              <a:t>MHresult$xbvn</a:t>
            </a:r>
            <a:r>
              <a:rPr lang="en-NZ" altLang="ja-JP" sz="1400" dirty="0">
                <a:solidFill>
                  <a:srgbClr val="00B050"/>
                </a:solidFill>
              </a:rPr>
              <a:t> chain to an </a:t>
            </a:r>
            <a:r>
              <a:rPr lang="en-NZ" altLang="ja-JP" sz="1400" dirty="0" err="1">
                <a:solidFill>
                  <a:srgbClr val="00B050"/>
                </a:solidFill>
              </a:rPr>
              <a:t>mcmc</a:t>
            </a:r>
            <a:r>
              <a:rPr lang="en-NZ" altLang="ja-JP" sz="1400" dirty="0">
                <a:solidFill>
                  <a:srgbClr val="00B050"/>
                </a:solidFill>
              </a:rPr>
              <a:t> object (Heidelberger &amp; # Welch test must be run on the whole chain)</a:t>
            </a:r>
            <a:br>
              <a:rPr lang="en-NZ" altLang="ja-JP" sz="1400" dirty="0">
                <a:solidFill>
                  <a:srgbClr val="00B050"/>
                </a:solidFill>
              </a:rPr>
            </a:br>
            <a:r>
              <a:rPr lang="en-NZ" altLang="ja-JP" sz="1400" dirty="0" err="1">
                <a:solidFill>
                  <a:prstClr val="black"/>
                </a:solidFill>
              </a:rPr>
              <a:t>heidelchain</a:t>
            </a:r>
            <a:r>
              <a:rPr lang="en-NZ" altLang="ja-JP" sz="1400" dirty="0">
                <a:solidFill>
                  <a:prstClr val="black"/>
                </a:solidFill>
              </a:rPr>
              <a:t> &lt;- </a:t>
            </a:r>
            <a:r>
              <a:rPr lang="en-NZ" altLang="ja-JP" sz="1400" dirty="0" err="1">
                <a:solidFill>
                  <a:prstClr val="black"/>
                </a:solidFill>
              </a:rPr>
              <a:t>mcmc</a:t>
            </a:r>
            <a:r>
              <a:rPr lang="en-NZ" altLang="ja-JP" sz="1400" dirty="0">
                <a:solidFill>
                  <a:prstClr val="black"/>
                </a:solidFill>
              </a:rPr>
              <a:t>(</a:t>
            </a:r>
            <a:r>
              <a:rPr lang="en-NZ" altLang="ja-JP" sz="1400" dirty="0" err="1">
                <a:solidFill>
                  <a:prstClr val="black"/>
                </a:solidFill>
              </a:rPr>
              <a:t>MHresult$xbvn</a:t>
            </a:r>
            <a:r>
              <a:rPr lang="en-NZ" altLang="ja-JP" sz="1400" dirty="0">
                <a:solidFill>
                  <a:prstClr val="black"/>
                </a:solidFill>
              </a:rPr>
              <a:t>)</a:t>
            </a:r>
          </a:p>
          <a:p>
            <a:pPr lvl="0">
              <a:lnSpc>
                <a:spcPct val="100000"/>
              </a:lnSpc>
              <a:defRPr/>
            </a:pPr>
            <a:endParaRPr kumimoji="1" lang="en-NZ" altLang="ja-JP" sz="14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lvl="0">
              <a:lnSpc>
                <a:spcPct val="100000"/>
              </a:lnSpc>
              <a:defRPr/>
            </a:pPr>
            <a:r>
              <a:rPr kumimoji="1" lang="en-NZ" altLang="ja-JP" sz="1400" u="none" strike="noStrike" kern="1200" cap="none" spc="0" normalizeH="0" baseline="0" noProof="0" dirty="0">
                <a:ln>
                  <a:noFill/>
                </a:ln>
                <a:solidFill>
                  <a:srgbClr val="00B050"/>
                </a:solidFill>
                <a:effectLst/>
                <a:uLnTx/>
                <a:uFillTx/>
                <a:latin typeface="Calibri" panose="020F0502020204030204"/>
                <a:ea typeface="游ゴシック" panose="020B0400000000000000" pitchFamily="34" charset="-128"/>
              </a:rPr>
              <a:t># 6.1b - Conducting the Heidelberger &amp; Welch diagnostic test </a:t>
            </a:r>
            <a:r>
              <a:rPr kumimoji="1" lang="fi-FI" altLang="ja-JP" sz="14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heidel.diag(heidelchain, eps = 0.1, pvalue = 0.05)</a:t>
            </a:r>
            <a:endParaRPr kumimoji="1" lang="en-US" altLang="ja-JP" sz="14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p:sp>
        <p:nvSpPr>
          <p:cNvPr id="19" name="Text Placeholder 5">
            <a:extLst>
              <a:ext uri="{FF2B5EF4-FFF2-40B4-BE49-F238E27FC236}">
                <a16:creationId xmlns:a16="http://schemas.microsoft.com/office/drawing/2014/main" id="{AC15747A-FC91-5899-4FA8-E5A9EE4CB82F}"/>
              </a:ext>
            </a:extLst>
          </p:cNvPr>
          <p:cNvSpPr txBox="1">
            <a:spLocks/>
          </p:cNvSpPr>
          <p:nvPr/>
        </p:nvSpPr>
        <p:spPr>
          <a:xfrm>
            <a:off x="316955" y="917216"/>
            <a:ext cx="100390" cy="1525734"/>
          </a:xfrm>
          <a:prstGeom prst="rect">
            <a:avLst/>
          </a:prstGeom>
          <a:solidFill>
            <a:srgbClr val="002060"/>
          </a:solid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endParaRPr kumimoji="1" lang="en-US" altLang="ja-JP" sz="14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p:sp>
        <p:nvSpPr>
          <p:cNvPr id="20" name="Text Placeholder 5">
            <a:extLst>
              <a:ext uri="{FF2B5EF4-FFF2-40B4-BE49-F238E27FC236}">
                <a16:creationId xmlns:a16="http://schemas.microsoft.com/office/drawing/2014/main" id="{F2339BE3-F044-3ADA-7D61-1F7F9997BF71}"/>
              </a:ext>
            </a:extLst>
          </p:cNvPr>
          <p:cNvSpPr txBox="1">
            <a:spLocks/>
          </p:cNvSpPr>
          <p:nvPr/>
        </p:nvSpPr>
        <p:spPr>
          <a:xfrm>
            <a:off x="316955" y="2659164"/>
            <a:ext cx="4995275" cy="2190464"/>
          </a:xfrm>
          <a:prstGeom prst="rect">
            <a:avLst/>
          </a:prstGeom>
          <a:solidFill>
            <a:schemeClr val="bg1">
              <a:lumMod val="95000"/>
            </a:schemeClr>
          </a:solid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300" i="1" dirty="0">
                <a:solidFill>
                  <a:schemeClr val="tx1"/>
                </a:solidFill>
              </a:rPr>
              <a:t> 	</a:t>
            </a:r>
            <a:r>
              <a:rPr lang="en-NZ" altLang="ja-JP" sz="1300" b="1" i="1" dirty="0">
                <a:solidFill>
                  <a:schemeClr val="tx1"/>
                </a:solidFill>
              </a:rPr>
              <a:t>Stationarity 	  start     	p-value</a:t>
            </a:r>
          </a:p>
          <a:p>
            <a:pPr lvl="0">
              <a:lnSpc>
                <a:spcPct val="100000"/>
              </a:lnSpc>
              <a:defRPr/>
            </a:pPr>
            <a:r>
              <a:rPr lang="en-NZ" altLang="ja-JP" sz="1300" b="1" i="1" dirty="0">
                <a:solidFill>
                  <a:schemeClr val="tx1"/>
                </a:solidFill>
              </a:rPr>
              <a:t>     	test         	  iteration        </a:t>
            </a:r>
          </a:p>
          <a:p>
            <a:pPr lvl="0">
              <a:lnSpc>
                <a:spcPct val="100000"/>
              </a:lnSpc>
              <a:defRPr/>
            </a:pPr>
            <a:r>
              <a:rPr lang="en-NZ" altLang="ja-JP" sz="1300" b="1" i="1" dirty="0">
                <a:solidFill>
                  <a:schemeClr val="tx1"/>
                </a:solidFill>
              </a:rPr>
              <a:t>var1</a:t>
            </a:r>
            <a:r>
              <a:rPr lang="en-NZ" altLang="ja-JP" sz="1300" i="1" dirty="0">
                <a:solidFill>
                  <a:schemeClr val="tx1"/>
                </a:solidFill>
              </a:rPr>
              <a:t> 	passed       	  1        	0.435  </a:t>
            </a:r>
          </a:p>
          <a:p>
            <a:pPr lvl="0">
              <a:lnSpc>
                <a:spcPct val="100000"/>
              </a:lnSpc>
              <a:defRPr/>
            </a:pPr>
            <a:r>
              <a:rPr lang="en-NZ" altLang="ja-JP" sz="1300" b="1" i="1" dirty="0">
                <a:solidFill>
                  <a:schemeClr val="tx1"/>
                </a:solidFill>
              </a:rPr>
              <a:t>var2</a:t>
            </a:r>
            <a:r>
              <a:rPr lang="en-NZ" altLang="ja-JP" sz="1300" i="1" dirty="0">
                <a:solidFill>
                  <a:schemeClr val="tx1"/>
                </a:solidFill>
              </a:rPr>
              <a:t> 	passed       	  1         	0.453  </a:t>
            </a:r>
          </a:p>
          <a:p>
            <a:pPr lvl="0">
              <a:lnSpc>
                <a:spcPct val="100000"/>
              </a:lnSpc>
              <a:defRPr/>
            </a:pPr>
            <a:r>
              <a:rPr lang="en-NZ" altLang="ja-JP" sz="1300" i="1" dirty="0">
                <a:solidFill>
                  <a:schemeClr val="tx1"/>
                </a:solidFill>
              </a:rPr>
              <a:t>                             </a:t>
            </a:r>
          </a:p>
          <a:p>
            <a:pPr lvl="0">
              <a:lnSpc>
                <a:spcPct val="100000"/>
              </a:lnSpc>
              <a:defRPr/>
            </a:pPr>
            <a:endParaRPr lang="en-NZ" altLang="ja-JP" sz="1300" i="1" dirty="0">
              <a:solidFill>
                <a:schemeClr val="tx1"/>
              </a:solidFill>
            </a:endParaRPr>
          </a:p>
          <a:p>
            <a:pPr lvl="0">
              <a:lnSpc>
                <a:spcPct val="100000"/>
              </a:lnSpc>
              <a:defRPr/>
            </a:pPr>
            <a:r>
              <a:rPr lang="en-NZ" altLang="ja-JP" sz="1300" i="1" dirty="0">
                <a:solidFill>
                  <a:schemeClr val="tx1"/>
                </a:solidFill>
              </a:rPr>
              <a:t>     	</a:t>
            </a:r>
            <a:r>
              <a:rPr lang="en-NZ" altLang="ja-JP" sz="1300" b="1" i="1" dirty="0">
                <a:solidFill>
                  <a:schemeClr val="tx1"/>
                </a:solidFill>
              </a:rPr>
              <a:t>Halfwidth 	  Mean	Halfwidth</a:t>
            </a:r>
          </a:p>
          <a:p>
            <a:pPr lvl="0">
              <a:lnSpc>
                <a:spcPct val="100000"/>
              </a:lnSpc>
              <a:defRPr/>
            </a:pPr>
            <a:r>
              <a:rPr lang="en-NZ" altLang="ja-JP" sz="1300" b="1" i="1" dirty="0">
                <a:solidFill>
                  <a:schemeClr val="tx1"/>
                </a:solidFill>
              </a:rPr>
              <a:t>     	test                    </a:t>
            </a:r>
          </a:p>
          <a:p>
            <a:pPr lvl="0">
              <a:lnSpc>
                <a:spcPct val="100000"/>
              </a:lnSpc>
              <a:defRPr/>
            </a:pPr>
            <a:r>
              <a:rPr lang="en-NZ" altLang="ja-JP" sz="1300" b="1" i="1" dirty="0">
                <a:solidFill>
                  <a:schemeClr val="tx1"/>
                </a:solidFill>
              </a:rPr>
              <a:t>Var1</a:t>
            </a:r>
            <a:r>
              <a:rPr lang="en-NZ" altLang="ja-JP" sz="1300" i="1" dirty="0">
                <a:solidFill>
                  <a:schemeClr val="tx1"/>
                </a:solidFill>
              </a:rPr>
              <a:t>	passed    	  2.99 	0.0624   </a:t>
            </a:r>
          </a:p>
          <a:p>
            <a:pPr lvl="0">
              <a:lnSpc>
                <a:spcPct val="100000"/>
              </a:lnSpc>
              <a:defRPr/>
            </a:pPr>
            <a:r>
              <a:rPr lang="en-NZ" altLang="ja-JP" sz="1300" b="1" i="1" dirty="0">
                <a:solidFill>
                  <a:schemeClr val="tx1"/>
                </a:solidFill>
              </a:rPr>
              <a:t>var2</a:t>
            </a:r>
            <a:r>
              <a:rPr lang="en-NZ" altLang="ja-JP" sz="1300" i="1" dirty="0">
                <a:solidFill>
                  <a:schemeClr val="tx1"/>
                </a:solidFill>
              </a:rPr>
              <a:t> 	passed    	  0.98	0.0862 </a:t>
            </a:r>
          </a:p>
        </p:txBody>
      </p:sp>
      <p:sp>
        <p:nvSpPr>
          <p:cNvPr id="21" name="Text Placeholder 5">
            <a:extLst>
              <a:ext uri="{FF2B5EF4-FFF2-40B4-BE49-F238E27FC236}">
                <a16:creationId xmlns:a16="http://schemas.microsoft.com/office/drawing/2014/main" id="{D0EA63A7-86C9-9BCB-B3BD-AD7D6599F254}"/>
              </a:ext>
            </a:extLst>
          </p:cNvPr>
          <p:cNvSpPr txBox="1">
            <a:spLocks/>
          </p:cNvSpPr>
          <p:nvPr/>
        </p:nvSpPr>
        <p:spPr>
          <a:xfrm>
            <a:off x="2345361" y="6488487"/>
            <a:ext cx="7501278" cy="28337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rPr>
              <a:t>Associated Code = 10 - Bivariate Normal Example (Convergence</a:t>
            </a:r>
            <a:r>
              <a:rPr kumimoji="1" lang="en-NZ" altLang="ja-JP" sz="1200" u="none" strike="noStrike" kern="1200" cap="none" spc="0" normalizeH="0" noProof="0" dirty="0">
                <a:ln>
                  <a:noFill/>
                </a:ln>
                <a:solidFill>
                  <a:srgbClr val="C00000"/>
                </a:solidFill>
                <a:effectLst/>
                <a:uLnTx/>
                <a:uFillTx/>
                <a:latin typeface="Calibri" panose="020F0502020204030204"/>
                <a:ea typeface="游ゴシック" panose="020B0400000000000000" pitchFamily="34" charset="-128"/>
              </a:rPr>
              <a:t> Tests</a:t>
            </a:r>
            <a:r>
              <a:rPr kumimoji="1" lang="en-NZ"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rPr>
              <a:t>)</a:t>
            </a:r>
            <a:endParaRPr kumimoji="1" lang="en-US"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p:spTree>
    <p:extLst>
      <p:ext uri="{BB962C8B-B14F-4D97-AF65-F5344CB8AC3E}">
        <p14:creationId xmlns:p14="http://schemas.microsoft.com/office/powerpoint/2010/main" val="7937982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5" name="Footer Placeholder 2">
            <a:extLst>
              <a:ext uri="{FF2B5EF4-FFF2-40B4-BE49-F238E27FC236}">
                <a16:creationId xmlns:a16="http://schemas.microsoft.com/office/drawing/2014/main" id="{CE1BC482-63C5-C7CB-8FB1-F710CF896763}"/>
              </a:ext>
            </a:extLst>
          </p:cNvPr>
          <p:cNvSpPr txBox="1">
            <a:spLocks/>
          </p:cNvSpPr>
          <p:nvPr/>
        </p:nvSpPr>
        <p:spPr>
          <a:xfrm>
            <a:off x="8122899" y="86139"/>
            <a:ext cx="3966466"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10.5 – Heidelberger &amp; Welch Diagnostic</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pic>
        <p:nvPicPr>
          <p:cNvPr id="24" name="Picture 2" descr="Te Herenga Waka—Victoria University of Wellington | Universities New  Zealand - Te Pōkai Tara">
            <a:extLst>
              <a:ext uri="{FF2B5EF4-FFF2-40B4-BE49-F238E27FC236}">
                <a16:creationId xmlns:a16="http://schemas.microsoft.com/office/drawing/2014/main" id="{69225D93-D231-8951-EE13-4903550C67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16" name="Title 6">
            <a:extLst>
              <a:ext uri="{FF2B5EF4-FFF2-40B4-BE49-F238E27FC236}">
                <a16:creationId xmlns:a16="http://schemas.microsoft.com/office/drawing/2014/main" id="{F1AA1876-36CD-AE09-1A55-0585D33D81AF}"/>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10.5d – Conclusion</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21" name="Text Placeholder 5">
            <a:extLst>
              <a:ext uri="{FF2B5EF4-FFF2-40B4-BE49-F238E27FC236}">
                <a16:creationId xmlns:a16="http://schemas.microsoft.com/office/drawing/2014/main" id="{D0EA63A7-86C9-9BCB-B3BD-AD7D6599F254}"/>
              </a:ext>
            </a:extLst>
          </p:cNvPr>
          <p:cNvSpPr txBox="1">
            <a:spLocks/>
          </p:cNvSpPr>
          <p:nvPr/>
        </p:nvSpPr>
        <p:spPr>
          <a:xfrm>
            <a:off x="2345361" y="6488487"/>
            <a:ext cx="7501278" cy="28337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rPr>
              <a:t>Associated Code = 10 - Bivariate Normal Example (Convergence</a:t>
            </a:r>
            <a:r>
              <a:rPr kumimoji="1" lang="en-NZ" altLang="ja-JP" sz="1200" u="none" strike="noStrike" kern="1200" cap="none" spc="0" normalizeH="0" noProof="0" dirty="0">
                <a:ln>
                  <a:noFill/>
                </a:ln>
                <a:solidFill>
                  <a:srgbClr val="C00000"/>
                </a:solidFill>
                <a:effectLst/>
                <a:uLnTx/>
                <a:uFillTx/>
                <a:latin typeface="Calibri" panose="020F0502020204030204"/>
                <a:ea typeface="游ゴシック" panose="020B0400000000000000" pitchFamily="34" charset="-128"/>
              </a:rPr>
              <a:t> Tests</a:t>
            </a:r>
            <a:r>
              <a:rPr kumimoji="1" lang="en-NZ"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rPr>
              <a:t>)</a:t>
            </a:r>
            <a:endParaRPr kumimoji="1" lang="en-US"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p:sp>
        <p:nvSpPr>
          <p:cNvPr id="23" name="Text Placeholder 5">
            <a:extLst>
              <a:ext uri="{FF2B5EF4-FFF2-40B4-BE49-F238E27FC236}">
                <a16:creationId xmlns:a16="http://schemas.microsoft.com/office/drawing/2014/main" id="{B08C71EC-DD93-F5B2-16C1-ED7E54FFB6BC}"/>
              </a:ext>
            </a:extLst>
          </p:cNvPr>
          <p:cNvSpPr txBox="1">
            <a:spLocks/>
          </p:cNvSpPr>
          <p:nvPr/>
        </p:nvSpPr>
        <p:spPr>
          <a:xfrm>
            <a:off x="316955" y="1000176"/>
            <a:ext cx="6307190" cy="43667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dirty="0">
                <a:solidFill>
                  <a:schemeClr val="tx1"/>
                </a:solidFill>
              </a:rPr>
              <a:t>Given that…</a:t>
            </a:r>
          </a:p>
        </p:txBody>
      </p:sp>
      <p:sp>
        <p:nvSpPr>
          <p:cNvPr id="25" name="Text Placeholder 5">
            <a:extLst>
              <a:ext uri="{FF2B5EF4-FFF2-40B4-BE49-F238E27FC236}">
                <a16:creationId xmlns:a16="http://schemas.microsoft.com/office/drawing/2014/main" id="{C6A6F2C8-C483-1F96-4DAE-892E1555F49C}"/>
              </a:ext>
            </a:extLst>
          </p:cNvPr>
          <p:cNvSpPr txBox="1">
            <a:spLocks/>
          </p:cNvSpPr>
          <p:nvPr/>
        </p:nvSpPr>
        <p:spPr>
          <a:xfrm>
            <a:off x="752430" y="1632933"/>
            <a:ext cx="6307190" cy="207455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600" dirty="0">
                <a:solidFill>
                  <a:schemeClr val="tx1"/>
                </a:solidFill>
              </a:rPr>
              <a:t>The time series plots suggests convergence.</a:t>
            </a:r>
          </a:p>
          <a:p>
            <a:pPr lvl="0">
              <a:lnSpc>
                <a:spcPct val="100000"/>
              </a:lnSpc>
              <a:defRPr/>
            </a:pPr>
            <a:endParaRPr lang="en-NZ" altLang="ja-JP" sz="200" dirty="0">
              <a:solidFill>
                <a:schemeClr val="tx1"/>
              </a:solidFill>
            </a:endParaRPr>
          </a:p>
          <a:p>
            <a:pPr marL="285750" lvl="0" indent="-285750">
              <a:lnSpc>
                <a:spcPct val="100000"/>
              </a:lnSpc>
              <a:buFont typeface="Arial" panose="020B0604020202020204" pitchFamily="34" charset="0"/>
              <a:buChar char="•"/>
              <a:defRPr/>
            </a:pPr>
            <a:r>
              <a:rPr lang="en-NZ" altLang="ja-JP" sz="1600" dirty="0">
                <a:solidFill>
                  <a:schemeClr val="tx1"/>
                </a:solidFill>
              </a:rPr>
              <a:t>The auto-correlation plots show low levels of correlation for high lags.</a:t>
            </a:r>
          </a:p>
          <a:p>
            <a:pPr lvl="0">
              <a:lnSpc>
                <a:spcPct val="100000"/>
              </a:lnSpc>
              <a:defRPr/>
            </a:pPr>
            <a:endParaRPr lang="en-NZ" altLang="ja-JP" sz="200" dirty="0">
              <a:solidFill>
                <a:schemeClr val="tx1"/>
              </a:solidFill>
            </a:endParaRPr>
          </a:p>
          <a:p>
            <a:pPr marL="285750" lvl="0" indent="-285750">
              <a:lnSpc>
                <a:spcPct val="100000"/>
              </a:lnSpc>
              <a:buFont typeface="Arial" panose="020B0604020202020204" pitchFamily="34" charset="0"/>
              <a:buChar char="•"/>
              <a:defRPr/>
            </a:pPr>
            <a:r>
              <a:rPr lang="en-NZ" altLang="ja-JP" sz="1600" dirty="0">
                <a:solidFill>
                  <a:schemeClr val="tx1"/>
                </a:solidFill>
              </a:rPr>
              <a:t>The sample of observation produced have a mean vector and covariance matrix close to the desired values.</a:t>
            </a:r>
          </a:p>
          <a:p>
            <a:pPr lvl="0">
              <a:lnSpc>
                <a:spcPct val="100000"/>
              </a:lnSpc>
              <a:defRPr/>
            </a:pPr>
            <a:endParaRPr lang="en-NZ" altLang="ja-JP" sz="200" dirty="0">
              <a:solidFill>
                <a:schemeClr val="tx1"/>
              </a:solidFill>
            </a:endParaRPr>
          </a:p>
          <a:p>
            <a:pPr marL="285750" lvl="0" indent="-285750">
              <a:lnSpc>
                <a:spcPct val="100000"/>
              </a:lnSpc>
              <a:buFont typeface="Arial" panose="020B0604020202020204" pitchFamily="34" charset="0"/>
              <a:buChar char="•"/>
              <a:defRPr/>
            </a:pPr>
            <a:r>
              <a:rPr lang="en-NZ" altLang="ja-JP" sz="1600" dirty="0">
                <a:solidFill>
                  <a:schemeClr val="tx1"/>
                </a:solidFill>
              </a:rPr>
              <a:t>The chain passes the </a:t>
            </a:r>
            <a:r>
              <a:rPr lang="en-NZ" altLang="ja-JP" sz="1600" dirty="0" err="1">
                <a:solidFill>
                  <a:schemeClr val="tx1"/>
                </a:solidFill>
              </a:rPr>
              <a:t>Geweke</a:t>
            </a:r>
            <a:r>
              <a:rPr lang="en-NZ" altLang="ja-JP" sz="1600" dirty="0">
                <a:solidFill>
                  <a:schemeClr val="tx1"/>
                </a:solidFill>
              </a:rPr>
              <a:t> test.</a:t>
            </a:r>
          </a:p>
          <a:p>
            <a:pPr lvl="0">
              <a:lnSpc>
                <a:spcPct val="100000"/>
              </a:lnSpc>
              <a:defRPr/>
            </a:pPr>
            <a:endParaRPr lang="en-NZ" altLang="ja-JP" sz="200" dirty="0">
              <a:solidFill>
                <a:schemeClr val="tx1"/>
              </a:solidFill>
            </a:endParaRPr>
          </a:p>
          <a:p>
            <a:pPr marL="285750" lvl="0" indent="-285750">
              <a:lnSpc>
                <a:spcPct val="100000"/>
              </a:lnSpc>
              <a:buFont typeface="Arial" panose="020B0604020202020204" pitchFamily="34" charset="0"/>
              <a:buChar char="•"/>
              <a:defRPr/>
            </a:pPr>
            <a:r>
              <a:rPr lang="en-NZ" altLang="ja-JP" sz="1600" dirty="0">
                <a:solidFill>
                  <a:schemeClr val="tx1"/>
                </a:solidFill>
              </a:rPr>
              <a:t>The chain passes the Gelman &amp; Rubin test.</a:t>
            </a:r>
          </a:p>
          <a:p>
            <a:pPr lvl="0">
              <a:lnSpc>
                <a:spcPct val="100000"/>
              </a:lnSpc>
              <a:defRPr/>
            </a:pPr>
            <a:endParaRPr lang="en-NZ" altLang="ja-JP" sz="200" dirty="0">
              <a:solidFill>
                <a:schemeClr val="tx1"/>
              </a:solidFill>
            </a:endParaRPr>
          </a:p>
          <a:p>
            <a:pPr marL="285750" lvl="0" indent="-285750">
              <a:lnSpc>
                <a:spcPct val="100000"/>
              </a:lnSpc>
              <a:buFont typeface="Arial" panose="020B0604020202020204" pitchFamily="34" charset="0"/>
              <a:buChar char="•"/>
              <a:defRPr/>
            </a:pPr>
            <a:r>
              <a:rPr lang="en-NZ" altLang="ja-JP" sz="1600" dirty="0">
                <a:solidFill>
                  <a:schemeClr val="tx1"/>
                </a:solidFill>
              </a:rPr>
              <a:t>The chain passes the Heidelberger &amp; Welch test.</a:t>
            </a:r>
          </a:p>
        </p:txBody>
      </p:sp>
      <p:sp>
        <p:nvSpPr>
          <p:cNvPr id="26" name="Text Placeholder 5">
            <a:extLst>
              <a:ext uri="{FF2B5EF4-FFF2-40B4-BE49-F238E27FC236}">
                <a16:creationId xmlns:a16="http://schemas.microsoft.com/office/drawing/2014/main" id="{617A4EDE-0A48-5B6D-AF72-9296267D404E}"/>
              </a:ext>
            </a:extLst>
          </p:cNvPr>
          <p:cNvSpPr txBox="1">
            <a:spLocks/>
          </p:cNvSpPr>
          <p:nvPr/>
        </p:nvSpPr>
        <p:spPr>
          <a:xfrm>
            <a:off x="316955" y="3841621"/>
            <a:ext cx="6460372" cy="43667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dirty="0">
                <a:solidFill>
                  <a:schemeClr val="tx1"/>
                </a:solidFill>
              </a:rPr>
              <a:t>… there is no evidence to suggest that the chain hasn’t converged.</a:t>
            </a:r>
          </a:p>
        </p:txBody>
      </p:sp>
      <p:sp>
        <p:nvSpPr>
          <p:cNvPr id="27" name="Text Placeholder 5">
            <a:extLst>
              <a:ext uri="{FF2B5EF4-FFF2-40B4-BE49-F238E27FC236}">
                <a16:creationId xmlns:a16="http://schemas.microsoft.com/office/drawing/2014/main" id="{B41F2276-B9BE-6239-601A-F561A7B45E6C}"/>
              </a:ext>
            </a:extLst>
          </p:cNvPr>
          <p:cNvSpPr txBox="1">
            <a:spLocks/>
          </p:cNvSpPr>
          <p:nvPr/>
        </p:nvSpPr>
        <p:spPr>
          <a:xfrm>
            <a:off x="260639" y="4611737"/>
            <a:ext cx="11392824" cy="82673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dirty="0">
                <a:solidFill>
                  <a:schemeClr val="tx1"/>
                </a:solidFill>
              </a:rPr>
              <a:t>Still we can’t be 100% certain that it has converged! Good topic for a PhD thesis?</a:t>
            </a:r>
          </a:p>
          <a:p>
            <a:pPr lvl="0">
              <a:lnSpc>
                <a:spcPct val="100000"/>
              </a:lnSpc>
              <a:defRPr/>
            </a:pPr>
            <a:r>
              <a:rPr lang="en-NZ" altLang="ja-JP" sz="1400" dirty="0">
                <a:solidFill>
                  <a:schemeClr val="tx1"/>
                </a:solidFill>
              </a:rPr>
              <a:t>At a guess, the rate of convergence to the stationary distribution will depend geometrically on the eigenvalues of the transition kernel viewed</a:t>
            </a:r>
            <a:br>
              <a:rPr lang="en-NZ" altLang="ja-JP" sz="1400" dirty="0">
                <a:solidFill>
                  <a:schemeClr val="tx1"/>
                </a:solidFill>
              </a:rPr>
            </a:br>
            <a:r>
              <a:rPr lang="en-NZ" altLang="ja-JP" sz="1400" dirty="0">
                <a:solidFill>
                  <a:schemeClr val="tx1"/>
                </a:solidFill>
              </a:rPr>
              <a:t>as an operator over the space of distributions. </a:t>
            </a:r>
          </a:p>
        </p:txBody>
      </p:sp>
    </p:spTree>
    <p:extLst>
      <p:ext uri="{BB962C8B-B14F-4D97-AF65-F5344CB8AC3E}">
        <p14:creationId xmlns:p14="http://schemas.microsoft.com/office/powerpoint/2010/main" val="1358981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5965</TotalTime>
  <Words>4057</Words>
  <Application>Microsoft Office PowerPoint</Application>
  <PresentationFormat>Widescreen</PresentationFormat>
  <Paragraphs>412</Paragraphs>
  <Slides>28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Arial</vt:lpstr>
      <vt:lpstr>Calibri</vt:lpstr>
      <vt:lpstr>Calibri Light</vt:lpstr>
      <vt:lpstr>Cambria Math</vt:lpstr>
      <vt:lpstr>Coo Hew</vt:lpstr>
      <vt:lpstr>Gidole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Adam Ward</dc:creator>
  <cp:lastModifiedBy>Adam Ward</cp:lastModifiedBy>
  <cp:revision>92</cp:revision>
  <dcterms:created xsi:type="dcterms:W3CDTF">2022-04-14T21:34:16Z</dcterms:created>
  <dcterms:modified xsi:type="dcterms:W3CDTF">2022-10-11T13:00:37Z</dcterms:modified>
</cp:coreProperties>
</file>