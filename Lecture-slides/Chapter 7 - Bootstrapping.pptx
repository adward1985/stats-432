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4" r:id="rId5"/>
    <p:sldId id="261" r:id="rId6"/>
    <p:sldId id="262" r:id="rId7"/>
    <p:sldId id="263" r:id="rId8"/>
    <p:sldId id="260" r:id="rId9"/>
    <p:sldId id="265" r:id="rId10"/>
    <p:sldId id="266" r:id="rId11"/>
    <p:sldId id="267" r:id="rId12"/>
    <p:sldId id="268" r:id="rId13"/>
    <p:sldId id="269" r:id="rId14"/>
    <p:sldId id="270" r:id="rId15"/>
    <p:sldId id="271" r:id="rId16"/>
    <p:sldId id="272" r:id="rId17"/>
    <p:sldId id="275" r:id="rId18"/>
    <p:sldId id="273" r:id="rId19"/>
    <p:sldId id="274" r:id="rId20"/>
    <p:sldId id="277" r:id="rId21"/>
    <p:sldId id="278" r:id="rId22"/>
    <p:sldId id="281" r:id="rId23"/>
    <p:sldId id="282" r:id="rId24"/>
    <p:sldId id="280" r:id="rId25"/>
    <p:sldId id="283" r:id="rId26"/>
    <p:sldId id="284" r:id="rId27"/>
    <p:sldId id="285" r:id="rId28"/>
    <p:sldId id="286" r:id="rId29"/>
    <p:sldId id="290" r:id="rId30"/>
    <p:sldId id="291" r:id="rId31"/>
    <p:sldId id="293" r:id="rId32"/>
    <p:sldId id="294" r:id="rId33"/>
    <p:sldId id="292" r:id="rId34"/>
    <p:sldId id="295" r:id="rId35"/>
    <p:sldId id="308" r:id="rId36"/>
    <p:sldId id="296" r:id="rId37"/>
    <p:sldId id="298" r:id="rId38"/>
    <p:sldId id="299" r:id="rId39"/>
    <p:sldId id="300" r:id="rId40"/>
    <p:sldId id="301" r:id="rId41"/>
    <p:sldId id="302" r:id="rId42"/>
    <p:sldId id="303" r:id="rId43"/>
    <p:sldId id="304" r:id="rId44"/>
    <p:sldId id="305" r:id="rId45"/>
    <p:sldId id="30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00CC"/>
    <a:srgbClr val="FF0105"/>
    <a:srgbClr val="6E4533"/>
    <a:srgbClr val="01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69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1A16-44FB-4423-894A-F66A1F39DC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15868836-2772-4BCF-B2F3-6D0007902A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5CBB549-3BF8-4B43-83D7-A7544EFC06F4}"/>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5" name="Footer Placeholder 4">
            <a:extLst>
              <a:ext uri="{FF2B5EF4-FFF2-40B4-BE49-F238E27FC236}">
                <a16:creationId xmlns:a16="http://schemas.microsoft.com/office/drawing/2014/main" id="{BAB9ACFA-3449-402B-AB48-83D0FE53C7A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E01E530-1937-4B19-AD36-0B260D529F53}"/>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4162230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C1495-9256-4788-A586-98934E6DF65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9FED8D8A-B70D-45C3-A46E-F4819ECDA3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9D2DE2A9-4A84-4F08-BE72-7CFC244592A1}"/>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5" name="Footer Placeholder 4">
            <a:extLst>
              <a:ext uri="{FF2B5EF4-FFF2-40B4-BE49-F238E27FC236}">
                <a16:creationId xmlns:a16="http://schemas.microsoft.com/office/drawing/2014/main" id="{EC8E06DA-9DC8-4793-BC47-9C689E60368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2251BCE-B2CA-4F24-8780-55BB6A071729}"/>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2009154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2A08-3B88-4201-A3D1-6BDC9B8F9E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DCB3EE32-094D-4B31-AB95-191417A3BB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DB8DA0-D663-4E24-934F-6135F730A9B1}"/>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5" name="Footer Placeholder 4">
            <a:extLst>
              <a:ext uri="{FF2B5EF4-FFF2-40B4-BE49-F238E27FC236}">
                <a16:creationId xmlns:a16="http://schemas.microsoft.com/office/drawing/2014/main" id="{BCB110B4-D817-40F8-9F21-BDE0D4509FD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88697CB-226F-42BF-BBF2-F2F2C24828CE}"/>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147937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99C63-7A77-498E-83BB-825A373EA537}"/>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D4EC12B1-6869-455D-B787-B9A417FBE9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EFCE1666-C8DA-4597-BDE5-B7019BC51D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FFCAA25C-BDB9-464D-BCCE-032B748CAEC1}"/>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6" name="Footer Placeholder 5">
            <a:extLst>
              <a:ext uri="{FF2B5EF4-FFF2-40B4-BE49-F238E27FC236}">
                <a16:creationId xmlns:a16="http://schemas.microsoft.com/office/drawing/2014/main" id="{2EB5FDBB-FFA2-493D-86F4-657D5C358C58}"/>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EEB004DC-5B76-4F8B-A55D-41FFFB1EDE0E}"/>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728621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E6D5-DB99-4AE1-9B94-500558DC84D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C11516ED-4595-49FA-97B6-10F46A7F65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81667B-4C84-47E0-BA33-4050C747E5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F3D72F7C-B609-447E-B775-8D87D1CEA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4D23A4-8485-45CF-80C2-800C912BB0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B2E570F9-574F-475C-A83C-715DA13E30CC}"/>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8" name="Footer Placeholder 7">
            <a:extLst>
              <a:ext uri="{FF2B5EF4-FFF2-40B4-BE49-F238E27FC236}">
                <a16:creationId xmlns:a16="http://schemas.microsoft.com/office/drawing/2014/main" id="{CC21E06B-E77C-4A2E-9328-56FEFC5C0D9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DC92289E-8469-4B44-8EA8-40453D61F2E8}"/>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3552006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70214-BC12-4637-91FD-ABEFFFDEA59D}"/>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EAB8C60F-7763-4B64-80D0-B86E318F6DCB}"/>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4" name="Footer Placeholder 3">
            <a:extLst>
              <a:ext uri="{FF2B5EF4-FFF2-40B4-BE49-F238E27FC236}">
                <a16:creationId xmlns:a16="http://schemas.microsoft.com/office/drawing/2014/main" id="{59F8352D-D8D8-4A00-9533-5A89F5B0C901}"/>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8B0222F7-FF85-4E64-A7A2-D8696FDE6CDB}"/>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3471778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0E5220-F724-45DF-BD91-FF4FED735B5F}"/>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3" name="Footer Placeholder 2">
            <a:extLst>
              <a:ext uri="{FF2B5EF4-FFF2-40B4-BE49-F238E27FC236}">
                <a16:creationId xmlns:a16="http://schemas.microsoft.com/office/drawing/2014/main" id="{DA48AD07-CE0C-40CE-B4DC-5E80775E0D9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4232DCAA-7F03-4230-87D0-DFCBB2265D96}"/>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2798496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7ED78-5F9D-4972-86C2-DBBDAC694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D28C8E96-603F-4802-89C9-F0E54E9BCC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4887DE77-E66F-4DBA-AA14-2838B7C89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DC6C43-9B09-4AE0-B204-C35DF9FF7C90}"/>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6" name="Footer Placeholder 5">
            <a:extLst>
              <a:ext uri="{FF2B5EF4-FFF2-40B4-BE49-F238E27FC236}">
                <a16:creationId xmlns:a16="http://schemas.microsoft.com/office/drawing/2014/main" id="{F9372004-E7F5-443D-9E10-9E00093D77A3}"/>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740DDD7-2203-4C2A-A616-1822962BF1D8}"/>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3013647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A44FA-760A-4BC3-88AE-28BAE062E3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CD416422-2B7E-4C80-A071-71D7F07B40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46843CD3-A7DF-422B-B38B-5584DB389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0FEF6D-2F08-4EAB-B7FF-ED24657ED2E8}"/>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6" name="Footer Placeholder 5">
            <a:extLst>
              <a:ext uri="{FF2B5EF4-FFF2-40B4-BE49-F238E27FC236}">
                <a16:creationId xmlns:a16="http://schemas.microsoft.com/office/drawing/2014/main" id="{17EBF7E0-0C0D-4B52-8EE6-83DCE5FB58A5}"/>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871A77BC-3EB6-444C-9450-AE99B93147D6}"/>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67913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BF57-0A31-4322-854C-0987679DE598}"/>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0BA9637E-E6B5-45C9-BDF4-333911E28F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DA289F8-4819-45D8-8632-AF0BCE10F957}"/>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5" name="Footer Placeholder 4">
            <a:extLst>
              <a:ext uri="{FF2B5EF4-FFF2-40B4-BE49-F238E27FC236}">
                <a16:creationId xmlns:a16="http://schemas.microsoft.com/office/drawing/2014/main" id="{A9AA0AD8-4F2D-434B-966F-A33C54326FC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7FC6F59-FB29-41E5-8425-4269F8A3F50A}"/>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40877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1AAA54-5E08-4105-AE7C-6EAB903A1C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D138EC6D-352B-481B-9D43-6D8549580F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9897FA9D-9083-415E-96E6-A372C0349E1E}"/>
              </a:ext>
            </a:extLst>
          </p:cNvPr>
          <p:cNvSpPr>
            <a:spLocks noGrp="1"/>
          </p:cNvSpPr>
          <p:nvPr>
            <p:ph type="dt" sz="half" idx="10"/>
          </p:nvPr>
        </p:nvSpPr>
        <p:spPr/>
        <p:txBody>
          <a:bodyPr/>
          <a:lstStyle/>
          <a:p>
            <a:fld id="{A47F9836-DD01-4C5E-BB86-EF1CDD695ABF}" type="datetimeFigureOut">
              <a:rPr lang="en-NZ" smtClean="0"/>
              <a:t>22/09/2022</a:t>
            </a:fld>
            <a:endParaRPr lang="en-NZ"/>
          </a:p>
        </p:txBody>
      </p:sp>
      <p:sp>
        <p:nvSpPr>
          <p:cNvPr id="5" name="Footer Placeholder 4">
            <a:extLst>
              <a:ext uri="{FF2B5EF4-FFF2-40B4-BE49-F238E27FC236}">
                <a16:creationId xmlns:a16="http://schemas.microsoft.com/office/drawing/2014/main" id="{B6F67DDB-7799-4FBB-ABF3-182D0B998DD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AF7B6D7-00FB-44AA-9102-B1DBB62BBE92}"/>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2495206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F09ADF-1E88-4AA7-82EE-F25AE7B7F7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3E75FA0E-2D97-4057-BE8C-FB41D5B5FF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DA21B18-20A8-4107-B303-932A20192D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7F9836-DD01-4C5E-BB86-EF1CDD695ABF}" type="datetimeFigureOut">
              <a:rPr lang="en-NZ" smtClean="0"/>
              <a:t>22/09/2022</a:t>
            </a:fld>
            <a:endParaRPr lang="en-NZ"/>
          </a:p>
        </p:txBody>
      </p:sp>
      <p:sp>
        <p:nvSpPr>
          <p:cNvPr id="5" name="Footer Placeholder 4">
            <a:extLst>
              <a:ext uri="{FF2B5EF4-FFF2-40B4-BE49-F238E27FC236}">
                <a16:creationId xmlns:a16="http://schemas.microsoft.com/office/drawing/2014/main" id="{46A0607E-00D2-4003-84DE-BD9E5A8394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315F2476-C4A4-4643-9058-4C8BD8F662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340C3D-D086-448E-A2CD-10F99288F595}" type="slidenum">
              <a:rPr lang="en-NZ" smtClean="0"/>
              <a:t>‹#›</a:t>
            </a:fld>
            <a:endParaRPr lang="en-NZ"/>
          </a:p>
        </p:txBody>
      </p:sp>
    </p:spTree>
    <p:extLst>
      <p:ext uri="{BB962C8B-B14F-4D97-AF65-F5344CB8AC3E}">
        <p14:creationId xmlns:p14="http://schemas.microsoft.com/office/powerpoint/2010/main" val="2941885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hyperlink" Target="https://broadbandmap.nz/home" TargetMode="External"/><Relationship Id="rId7"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0.png"/><Relationship Id="rId7"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1.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0.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8.png"/><Relationship Id="rId7" Type="http://schemas.openxmlformats.org/officeDocument/2006/relationships/image" Target="../media/image8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en.wikipedia.org/wiki/Coefficient_of_variation" TargetMode="External"/><Relationship Id="rId5" Type="http://schemas.openxmlformats.org/officeDocument/2006/relationships/image" Target="../media/image80.png"/><Relationship Id="rId4" Type="http://schemas.openxmlformats.org/officeDocument/2006/relationships/image" Target="../media/image79.png"/></Relationships>
</file>

<file path=ppt/slides/_rels/slide2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9.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4.png"/><Relationship Id="rId11" Type="http://schemas.openxmlformats.org/officeDocument/2006/relationships/image" Target="../media/image97.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30.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100.png"/></Relationships>
</file>

<file path=ppt/slides/_rels/slide32.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9.png"/><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101.png"/><Relationship Id="rId7" Type="http://schemas.openxmlformats.org/officeDocument/2006/relationships/image" Target="../media/image12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1.png"/><Relationship Id="rId5" Type="http://schemas.openxmlformats.org/officeDocument/2006/relationships/image" Target="../media/image102.png"/><Relationship Id="rId4" Type="http://schemas.openxmlformats.org/officeDocument/2006/relationships/image" Target="../media/image119.png"/></Relationships>
</file>

<file path=ppt/slides/_rels/slide3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4.png"/></Relationships>
</file>

<file path=ppt/slides/_rels/slide40.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12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41.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30.png"/><Relationship Id="rId7" Type="http://schemas.openxmlformats.org/officeDocument/2006/relationships/image" Target="../media/image13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2.png"/><Relationship Id="rId5" Type="http://schemas.openxmlformats.org/officeDocument/2006/relationships/hyperlink" Target="https://www.probabilitycourse.com/chapter4/4_2_6_solved4_2.php" TargetMode="External"/><Relationship Id="rId4" Type="http://schemas.openxmlformats.org/officeDocument/2006/relationships/image" Target="../media/image131.png"/><Relationship Id="rId9" Type="http://schemas.openxmlformats.org/officeDocument/2006/relationships/image" Target="../media/image135.png"/></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6.png"/><Relationship Id="rId7" Type="http://schemas.openxmlformats.org/officeDocument/2006/relationships/image" Target="../media/image14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9.png"/><Relationship Id="rId5" Type="http://schemas.openxmlformats.org/officeDocument/2006/relationships/image" Target="../media/image138.png"/><Relationship Id="rId10" Type="http://schemas.openxmlformats.org/officeDocument/2006/relationships/image" Target="../media/image143.png"/><Relationship Id="rId4" Type="http://schemas.openxmlformats.org/officeDocument/2006/relationships/image" Target="../media/image137.png"/><Relationship Id="rId9" Type="http://schemas.openxmlformats.org/officeDocument/2006/relationships/image" Target="../media/image142.png"/></Relationships>
</file>

<file path=ppt/slides/_rels/slide45.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1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9.png"/><Relationship Id="rId5" Type="http://schemas.openxmlformats.org/officeDocument/2006/relationships/image" Target="../media/image107.png"/><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3500" b="1" i="0" u="sng" strike="noStrike" kern="1200" cap="none" spc="0" normalizeH="0" baseline="0" noProof="0" dirty="0">
                <a:ln>
                  <a:noFill/>
                </a:ln>
                <a:solidFill>
                  <a:prstClr val="white"/>
                </a:solidFill>
                <a:effectLst/>
                <a:uLnTx/>
                <a:uFillTx/>
                <a:latin typeface="Calibri" panose="020F0502020204030204"/>
                <a:ea typeface="+mn-ea"/>
                <a:cs typeface="+mn-cs"/>
              </a:rPr>
              <a:t>STATS 432 </a:t>
            </a:r>
            <a:br>
              <a:rPr kumimoji="0" lang="en-NZ" sz="3500" b="1"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3500" b="0" i="0" u="none" strike="noStrike" kern="1200" cap="none" spc="0" normalizeH="0" baseline="0" noProof="0" dirty="0">
                <a:ln>
                  <a:noFill/>
                </a:ln>
                <a:solidFill>
                  <a:prstClr val="white"/>
                </a:solidFill>
                <a:effectLst/>
                <a:uLnTx/>
                <a:uFillTx/>
                <a:latin typeface="Calibri" panose="020F0502020204030204"/>
                <a:ea typeface="+mn-ea"/>
                <a:cs typeface="+mn-cs"/>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rPr>
              <a:t>Chapter 7 – Bootstrapping</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7</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.1 – </a:t>
            </a:r>
            <a:r>
              <a:rPr lang="en-NZ" sz="4500" b="1" dirty="0">
                <a:solidFill>
                  <a:srgbClr val="FFC000"/>
                </a:solidFill>
                <a:latin typeface="Calibri" panose="020F0502020204030204"/>
              </a:rPr>
              <a:t>Notation, Standard Error </a:t>
            </a:r>
            <a:br>
              <a:rPr lang="en-NZ" sz="4500" b="1" dirty="0">
                <a:solidFill>
                  <a:srgbClr val="FFC000"/>
                </a:solidFill>
                <a:latin typeface="Calibri" panose="020F0502020204030204"/>
              </a:rPr>
            </a:br>
            <a:r>
              <a:rPr lang="en-NZ" sz="4500" b="1" dirty="0">
                <a:solidFill>
                  <a:srgbClr val="FFC000"/>
                </a:solidFill>
                <a:latin typeface="Calibri" panose="020F0502020204030204"/>
              </a:rPr>
              <a:t>&amp; Motivating Examples</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326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.1a – Notation, SE &amp;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.1a – Review of Standard Error:</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968512"/>
                <a:ext cx="11608680" cy="22523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Suppose we have a random variable </a:t>
                </a:r>
                <a:r>
                  <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X</a:t>
                </a: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with an unknown parameter or property of interest </a:t>
                </a:r>
                <a14:m>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algn="just">
                  <a:lnSpc>
                    <a:spcPct val="100000"/>
                  </a:lnSpc>
                  <a:defRPr/>
                </a:pPr>
                <a:r>
                  <a:rPr lang="en-NZ" altLang="ja-JP" sz="2000" dirty="0">
                    <a:solidFill>
                      <a:prstClr val="black"/>
                    </a:solidFill>
                    <a:latin typeface="Calibri" panose="020F0502020204030204"/>
                    <a:ea typeface="游ゴシック" panose="020B0400000000000000" pitchFamily="34" charset="-128"/>
                  </a:rPr>
                  <a:t>In order to estimate </a:t>
                </a:r>
                <a14:m>
                  <m:oMath xmlns:m="http://schemas.openxmlformats.org/officeDocument/2006/math">
                    <m:r>
                      <a:rPr lang="en-NZ" altLang="ja-JP" sz="2000" b="1" i="1">
                        <a:solidFill>
                          <a:prstClr val="black"/>
                        </a:solidFill>
                        <a:latin typeface="Cambria Math" panose="02040503050406030204" pitchFamily="18" charset="0"/>
                      </a:rPr>
                      <m:t>𝜽</m:t>
                    </m:r>
                  </m:oMath>
                </a14:m>
                <a:r>
                  <a:rPr lang="en-NZ" altLang="ja-JP" sz="2000" dirty="0">
                    <a:solidFill>
                      <a:prstClr val="black"/>
                    </a:solidFill>
                    <a:latin typeface="Calibri" panose="020F0502020204030204"/>
                    <a:ea typeface="游ゴシック" panose="020B0400000000000000" pitchFamily="34" charset="-128"/>
                  </a:rPr>
                  <a:t>, we take a sample of </a:t>
                </a:r>
                <a:r>
                  <a:rPr lang="en-NZ" altLang="ja-JP" sz="2000" b="1" i="1" dirty="0">
                    <a:solidFill>
                      <a:prstClr val="black"/>
                    </a:solidFill>
                    <a:latin typeface="Calibri" panose="020F0502020204030204"/>
                    <a:ea typeface="游ゴシック" panose="020B0400000000000000" pitchFamily="34" charset="-128"/>
                  </a:rPr>
                  <a:t>n</a:t>
                </a:r>
                <a:r>
                  <a:rPr lang="en-NZ" altLang="ja-JP" sz="2000" dirty="0">
                    <a:solidFill>
                      <a:prstClr val="black"/>
                    </a:solidFill>
                    <a:latin typeface="Calibri" panose="020F0502020204030204"/>
                    <a:ea typeface="游ゴシック" panose="020B0400000000000000" pitchFamily="34" charset="-128"/>
                  </a:rPr>
                  <a:t> observations of </a:t>
                </a:r>
                <a:r>
                  <a:rPr lang="en-NZ" altLang="ja-JP" sz="2000" b="1" i="1" dirty="0">
                    <a:solidFill>
                      <a:prstClr val="black"/>
                    </a:solidFill>
                    <a:latin typeface="Calibri" panose="020F0502020204030204"/>
                    <a:ea typeface="游ゴシック" panose="020B0400000000000000" pitchFamily="34" charset="-128"/>
                  </a:rPr>
                  <a:t>X</a:t>
                </a:r>
                <a:r>
                  <a:rPr lang="en-NZ" altLang="ja-JP" sz="2000" dirty="0">
                    <a:solidFill>
                      <a:prstClr val="black"/>
                    </a:solidFill>
                    <a:latin typeface="Calibri" panose="020F0502020204030204"/>
                    <a:ea typeface="游ゴシック" panose="020B0400000000000000" pitchFamily="34" charset="-128"/>
                  </a:rPr>
                  <a:t> and index them </a:t>
                </a:r>
                <a14:m>
                  <m:oMath xmlns:m="http://schemas.openxmlformats.org/officeDocument/2006/math">
                    <m:bar>
                      <m:barPr>
                        <m:ctrlPr>
                          <a:rPr lang="en-NZ" altLang="ja-JP" sz="2000" b="1" i="1" smtClean="0">
                            <a:solidFill>
                              <a:prstClr val="black"/>
                            </a:solidFill>
                            <a:latin typeface="Cambria Math" panose="02040503050406030204" pitchFamily="18" charset="0"/>
                            <a:ea typeface="游ゴシック" panose="020B0400000000000000" pitchFamily="34" charset="-128"/>
                          </a:rPr>
                        </m:ctrlPr>
                      </m:barPr>
                      <m:e>
                        <m:r>
                          <a:rPr lang="en-NZ" altLang="ja-JP" sz="2000" b="1" i="1" smtClean="0">
                            <a:solidFill>
                              <a:prstClr val="black"/>
                            </a:solidFill>
                            <a:latin typeface="Cambria Math" panose="02040503050406030204" pitchFamily="18" charset="0"/>
                            <a:ea typeface="游ゴシック" panose="020B0400000000000000" pitchFamily="34" charset="-128"/>
                          </a:rPr>
                          <m:t>𝒙</m:t>
                        </m:r>
                      </m:e>
                    </m:bar>
                    <m:r>
                      <a:rPr lang="en-NZ" altLang="ja-JP" sz="2000" b="1" i="1" smtClean="0">
                        <a:solidFill>
                          <a:prstClr val="black"/>
                        </a:solidFill>
                        <a:latin typeface="Cambria Math" panose="02040503050406030204" pitchFamily="18" charset="0"/>
                        <a:ea typeface="游ゴシック" panose="020B0400000000000000" pitchFamily="34" charset="-128"/>
                      </a:rPr>
                      <m:t>=(</m:t>
                    </m:r>
                    <m:sSub>
                      <m:sSubPr>
                        <m:ctrlPr>
                          <a:rPr lang="en-NZ" altLang="ja-JP" sz="2000" b="1" i="1" smtClean="0">
                            <a:solidFill>
                              <a:prstClr val="black"/>
                            </a:solidFill>
                            <a:latin typeface="Cambria Math" panose="02040503050406030204" pitchFamily="18" charset="0"/>
                            <a:ea typeface="游ゴシック" panose="020B0400000000000000" pitchFamily="34" charset="-128"/>
                          </a:rPr>
                        </m:ctrlPr>
                      </m:sSubPr>
                      <m:e>
                        <m:r>
                          <a:rPr lang="en-NZ" altLang="ja-JP" sz="2000" b="1" i="1" smtClean="0">
                            <a:solidFill>
                              <a:prstClr val="black"/>
                            </a:solidFill>
                            <a:latin typeface="Cambria Math" panose="02040503050406030204" pitchFamily="18" charset="0"/>
                            <a:ea typeface="游ゴシック" panose="020B0400000000000000" pitchFamily="34" charset="-128"/>
                          </a:rPr>
                          <m:t>𝒙</m:t>
                        </m:r>
                      </m:e>
                      <m:sub>
                        <m:r>
                          <a:rPr lang="en-NZ" altLang="ja-JP" sz="2000" b="1" i="1" smtClean="0">
                            <a:solidFill>
                              <a:prstClr val="black"/>
                            </a:solidFill>
                            <a:latin typeface="Cambria Math" panose="02040503050406030204" pitchFamily="18" charset="0"/>
                            <a:ea typeface="游ゴシック" panose="020B0400000000000000" pitchFamily="34" charset="-128"/>
                          </a:rPr>
                          <m:t>𝟏</m:t>
                        </m:r>
                      </m:sub>
                    </m:sSub>
                    <m:r>
                      <a:rPr lang="en-NZ" altLang="ja-JP" sz="2000" b="1" i="1" smtClean="0">
                        <a:solidFill>
                          <a:prstClr val="black"/>
                        </a:solidFill>
                        <a:latin typeface="Cambria Math" panose="02040503050406030204" pitchFamily="18" charset="0"/>
                        <a:ea typeface="游ゴシック" panose="020B0400000000000000" pitchFamily="34" charset="-128"/>
                      </a:rPr>
                      <m:t>, </m:t>
                    </m:r>
                    <m:sSub>
                      <m:sSubPr>
                        <m:ctrlPr>
                          <a:rPr lang="en-NZ" altLang="ja-JP" sz="2000" b="1" i="1" smtClean="0">
                            <a:solidFill>
                              <a:prstClr val="black"/>
                            </a:solidFill>
                            <a:latin typeface="Cambria Math" panose="02040503050406030204" pitchFamily="18" charset="0"/>
                            <a:ea typeface="游ゴシック" panose="020B0400000000000000" pitchFamily="34" charset="-128"/>
                          </a:rPr>
                        </m:ctrlPr>
                      </m:sSubPr>
                      <m:e>
                        <m:r>
                          <a:rPr lang="en-NZ" altLang="ja-JP" sz="2000" b="1" i="1" smtClean="0">
                            <a:solidFill>
                              <a:prstClr val="black"/>
                            </a:solidFill>
                            <a:latin typeface="Cambria Math" panose="02040503050406030204" pitchFamily="18" charset="0"/>
                            <a:ea typeface="游ゴシック" panose="020B0400000000000000" pitchFamily="34" charset="-128"/>
                          </a:rPr>
                          <m:t>𝒙</m:t>
                        </m:r>
                      </m:e>
                      <m:sub>
                        <m:r>
                          <a:rPr lang="en-NZ" altLang="ja-JP" sz="2000" b="1" i="1" smtClean="0">
                            <a:solidFill>
                              <a:prstClr val="black"/>
                            </a:solidFill>
                            <a:latin typeface="Cambria Math" panose="02040503050406030204" pitchFamily="18" charset="0"/>
                            <a:ea typeface="游ゴシック" panose="020B0400000000000000" pitchFamily="34" charset="-128"/>
                          </a:rPr>
                          <m:t>𝟐</m:t>
                        </m:r>
                      </m:sub>
                    </m:sSub>
                    <m:r>
                      <a:rPr lang="en-NZ" altLang="ja-JP" sz="2000" b="1" i="1" smtClean="0">
                        <a:solidFill>
                          <a:prstClr val="black"/>
                        </a:solidFill>
                        <a:latin typeface="Cambria Math" panose="02040503050406030204" pitchFamily="18" charset="0"/>
                        <a:ea typeface="游ゴシック" panose="020B0400000000000000" pitchFamily="34" charset="-128"/>
                      </a:rPr>
                      <m:t>, …, </m:t>
                    </m:r>
                    <m:sSub>
                      <m:sSubPr>
                        <m:ctrlPr>
                          <a:rPr lang="en-NZ" altLang="ja-JP" sz="2000" b="1" i="1" smtClean="0">
                            <a:solidFill>
                              <a:prstClr val="black"/>
                            </a:solidFill>
                            <a:latin typeface="Cambria Math" panose="02040503050406030204" pitchFamily="18" charset="0"/>
                            <a:ea typeface="游ゴシック" panose="020B0400000000000000" pitchFamily="34" charset="-128"/>
                          </a:rPr>
                        </m:ctrlPr>
                      </m:sSubPr>
                      <m:e>
                        <m:r>
                          <a:rPr lang="en-NZ" altLang="ja-JP" sz="2000" b="1" i="1" smtClean="0">
                            <a:solidFill>
                              <a:prstClr val="black"/>
                            </a:solidFill>
                            <a:latin typeface="Cambria Math" panose="02040503050406030204" pitchFamily="18" charset="0"/>
                            <a:ea typeface="游ゴシック" panose="020B0400000000000000" pitchFamily="34" charset="-128"/>
                          </a:rPr>
                          <m:t>𝒙</m:t>
                        </m:r>
                      </m:e>
                      <m:sub>
                        <m:r>
                          <a:rPr lang="en-NZ" altLang="ja-JP" sz="2000" b="1" i="1" smtClean="0">
                            <a:solidFill>
                              <a:prstClr val="black"/>
                            </a:solidFill>
                            <a:latin typeface="Cambria Math" panose="02040503050406030204" pitchFamily="18" charset="0"/>
                            <a:ea typeface="游ゴシック" panose="020B0400000000000000" pitchFamily="34" charset="-128"/>
                          </a:rPr>
                          <m:t>𝒏</m:t>
                        </m:r>
                      </m:sub>
                    </m:sSub>
                    <m:r>
                      <a:rPr lang="en-NZ" altLang="ja-JP" sz="2000" b="1" i="1" smtClean="0">
                        <a:solidFill>
                          <a:prstClr val="black"/>
                        </a:solidFill>
                        <a:latin typeface="Cambria Math" panose="02040503050406030204" pitchFamily="18" charset="0"/>
                        <a:ea typeface="游ゴシック" panose="020B0400000000000000" pitchFamily="34" charset="-128"/>
                      </a:rPr>
                      <m:t>)</m:t>
                    </m:r>
                  </m:oMath>
                </a14:m>
                <a:endParaRPr lang="en-NZ" altLang="ja-JP" sz="2000" b="1" i="1" dirty="0">
                  <a:solidFill>
                    <a:prstClr val="black"/>
                  </a:solidFill>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2000" b="1" i="1" dirty="0">
                  <a:solidFill>
                    <a:prstClr val="black"/>
                  </a:solidFill>
                  <a:latin typeface="Calibri" panose="020F0502020204030204"/>
                  <a:ea typeface="游ゴシック" panose="020B0400000000000000" pitchFamily="34" charset="-128"/>
                </a:endParaRPr>
              </a:p>
              <a:p>
                <a:pPr algn="just">
                  <a:lnSpc>
                    <a:spcPct val="100000"/>
                  </a:lnSpc>
                  <a:defRPr/>
                </a:pPr>
                <a:r>
                  <a:rPr lang="en-NZ" altLang="ja-JP" sz="2000" dirty="0">
                    <a:solidFill>
                      <a:prstClr val="black"/>
                    </a:solidFill>
                    <a:latin typeface="Calibri" panose="020F0502020204030204"/>
                    <a:ea typeface="游ゴシック" panose="020B0400000000000000" pitchFamily="34" charset="-128"/>
                  </a:rPr>
                  <a:t>We then calculate a sample statistic </a:t>
                </a:r>
                <a14:m>
                  <m:oMath xmlns:m="http://schemas.openxmlformats.org/officeDocument/2006/math">
                    <m:acc>
                      <m:accPr>
                        <m:chr m:val="̂"/>
                        <m:ctrlPr>
                          <a:rPr lang="en-NZ" altLang="ja-JP" sz="2000" b="1" i="1" smtClean="0">
                            <a:solidFill>
                              <a:prstClr val="black"/>
                            </a:solidFill>
                            <a:latin typeface="Cambria Math" panose="02040503050406030204" pitchFamily="18" charset="0"/>
                            <a:ea typeface="游ゴシック" panose="020B0400000000000000" pitchFamily="34" charset="-128"/>
                          </a:rPr>
                        </m:ctrlPr>
                      </m:accPr>
                      <m:e>
                        <m:r>
                          <a:rPr lang="en-NZ" altLang="ja-JP" sz="2000" b="1" i="1" smtClean="0">
                            <a:solidFill>
                              <a:prstClr val="black"/>
                            </a:solidFill>
                            <a:latin typeface="Cambria Math" panose="02040503050406030204" pitchFamily="18" charset="0"/>
                            <a:ea typeface="游ゴシック" panose="020B0400000000000000" pitchFamily="34" charset="-128"/>
                          </a:rPr>
                          <m:t>𝜽</m:t>
                        </m:r>
                      </m:e>
                    </m:acc>
                    <m:r>
                      <a:rPr lang="en-NZ" altLang="ja-JP" sz="2000" b="1" i="1" smtClean="0">
                        <a:solidFill>
                          <a:prstClr val="black"/>
                        </a:solidFill>
                        <a:latin typeface="Cambria Math" panose="02040503050406030204" pitchFamily="18" charset="0"/>
                        <a:ea typeface="游ゴシック" panose="020B0400000000000000" pitchFamily="34" charset="-128"/>
                      </a:rPr>
                      <m:t>=</m:t>
                    </m:r>
                    <m:r>
                      <a:rPr lang="en-NZ" altLang="ja-JP" sz="2000" b="1" i="1" smtClean="0">
                        <a:solidFill>
                          <a:prstClr val="black"/>
                        </a:solidFill>
                        <a:latin typeface="Cambria Math" panose="02040503050406030204" pitchFamily="18" charset="0"/>
                        <a:ea typeface="游ゴシック" panose="020B0400000000000000" pitchFamily="34" charset="-128"/>
                      </a:rPr>
                      <m:t>𝒈</m:t>
                    </m:r>
                    <m:r>
                      <a:rPr lang="en-NZ" altLang="ja-JP" sz="2000" b="1" i="1" smtClean="0">
                        <a:solidFill>
                          <a:prstClr val="black"/>
                        </a:solidFill>
                        <a:latin typeface="Cambria Math" panose="02040503050406030204" pitchFamily="18" charset="0"/>
                        <a:ea typeface="游ゴシック" panose="020B0400000000000000" pitchFamily="34" charset="-128"/>
                      </a:rPr>
                      <m:t>(</m:t>
                    </m:r>
                    <m:bar>
                      <m:barPr>
                        <m:ctrlPr>
                          <a:rPr lang="en-NZ" altLang="ja-JP" sz="2000" b="1" i="1" smtClean="0">
                            <a:solidFill>
                              <a:prstClr val="black"/>
                            </a:solidFill>
                            <a:latin typeface="Cambria Math" panose="02040503050406030204" pitchFamily="18" charset="0"/>
                            <a:ea typeface="游ゴシック" panose="020B0400000000000000" pitchFamily="34" charset="-128"/>
                          </a:rPr>
                        </m:ctrlPr>
                      </m:barPr>
                      <m:e>
                        <m:r>
                          <a:rPr lang="en-NZ" altLang="ja-JP" sz="2000" b="1" i="1" smtClean="0">
                            <a:solidFill>
                              <a:prstClr val="black"/>
                            </a:solidFill>
                            <a:latin typeface="Cambria Math" panose="02040503050406030204" pitchFamily="18" charset="0"/>
                            <a:ea typeface="游ゴシック" panose="020B0400000000000000" pitchFamily="34" charset="-128"/>
                          </a:rPr>
                          <m:t>𝒙</m:t>
                        </m:r>
                      </m:e>
                    </m:bar>
                    <m:r>
                      <a:rPr lang="en-NZ" altLang="ja-JP" sz="2000" b="1" i="1" smtClean="0">
                        <a:solidFill>
                          <a:prstClr val="black"/>
                        </a:solidFill>
                        <a:latin typeface="Cambria Math" panose="02040503050406030204" pitchFamily="18" charset="0"/>
                        <a:ea typeface="游ゴシック" panose="020B0400000000000000" pitchFamily="34" charset="-128"/>
                      </a:rPr>
                      <m:t>)</m:t>
                    </m:r>
                  </m:oMath>
                </a14:m>
                <a:r>
                  <a:rPr lang="en-NZ" altLang="ja-JP" sz="2000" b="1" i="1" dirty="0">
                    <a:solidFill>
                      <a:prstClr val="black"/>
                    </a:solidFill>
                    <a:latin typeface="Calibri" panose="020F0502020204030204"/>
                    <a:ea typeface="游ゴシック" panose="020B0400000000000000" pitchFamily="34" charset="-128"/>
                  </a:rPr>
                  <a:t> </a:t>
                </a:r>
                <a:r>
                  <a:rPr lang="en-NZ" altLang="ja-JP" sz="2000" dirty="0">
                    <a:solidFill>
                      <a:prstClr val="black"/>
                    </a:solidFill>
                    <a:latin typeface="Calibri" panose="020F0502020204030204"/>
                    <a:ea typeface="游ゴシック" panose="020B0400000000000000" pitchFamily="34" charset="-128"/>
                  </a:rPr>
                  <a:t>that serves as an estimate of </a:t>
                </a:r>
                <a14:m>
                  <m:oMath xmlns:m="http://schemas.openxmlformats.org/officeDocument/2006/math">
                    <m:r>
                      <a:rPr lang="en-NZ" altLang="ja-JP" sz="2000" b="1" i="1">
                        <a:solidFill>
                          <a:prstClr val="black"/>
                        </a:solidFill>
                        <a:latin typeface="Cambria Math" panose="02040503050406030204" pitchFamily="18" charset="0"/>
                      </a:rPr>
                      <m:t>𝜽</m:t>
                    </m:r>
                  </m:oMath>
                </a14:m>
                <a:r>
                  <a:rPr lang="en-NZ" altLang="ja-JP" sz="2000" b="1" i="1" dirty="0">
                    <a:solidFill>
                      <a:prstClr val="black"/>
                    </a:solidFill>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7" name="Text Placeholder 5">
                <a:extLst>
                  <a:ext uri="{FF2B5EF4-FFF2-40B4-BE49-F238E27FC236}">
                    <a16:creationId xmlns:a16="http://schemas.microsoft.com/office/drawing/2014/main" id="{65B06D6C-CCB3-4D8F-9171-6B4779FED53B}"/>
                  </a:ext>
                </a:extLst>
              </p:cNvPr>
              <p:cNvSpPr txBox="1">
                <a:spLocks noRot="1" noChangeAspect="1" noMove="1" noResize="1" noEditPoints="1" noAdjustHandles="1" noChangeArrowheads="1" noChangeShapeType="1" noTextEdit="1"/>
              </p:cNvSpPr>
              <p:nvPr/>
            </p:nvSpPr>
            <p:spPr>
              <a:xfrm>
                <a:off x="319463" y="968512"/>
                <a:ext cx="11608680" cy="2252360"/>
              </a:xfrm>
              <a:prstGeom prst="rect">
                <a:avLst/>
              </a:prstGeom>
              <a:blipFill>
                <a:blip r:embed="rId3"/>
                <a:stretch>
                  <a:fillRect l="-525" t="-162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E1A74E9-940F-40A0-B894-E7F9636782B7}"/>
                  </a:ext>
                </a:extLst>
              </p:cNvPr>
              <p:cNvSpPr txBox="1">
                <a:spLocks/>
              </p:cNvSpPr>
              <p:nvPr/>
            </p:nvSpPr>
            <p:spPr>
              <a:xfrm>
                <a:off x="319463" y="3817696"/>
                <a:ext cx="11608680"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dirty="0">
                    <a:solidFill>
                      <a:prstClr val="black"/>
                    </a:solidFill>
                    <a:latin typeface="Calibri" panose="020F0502020204030204"/>
                    <a:ea typeface="游ゴシック" panose="020B0400000000000000" pitchFamily="34" charset="-128"/>
                  </a:rPr>
                  <a:t>But what if</a:t>
                </a: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we had taken a different sample? We would have obtained a different value for </a:t>
                </a:r>
                <a14:m>
                  <m:oMath xmlns:m="http://schemas.openxmlformats.org/officeDocument/2006/math">
                    <m:acc>
                      <m:accPr>
                        <m:chr m:val="̂"/>
                        <m:ctrlPr>
                          <a:rPr lang="en-NZ" altLang="ja-JP" sz="2000" b="1" i="1" smtClean="0">
                            <a:solidFill>
                              <a:prstClr val="black"/>
                            </a:solidFill>
                            <a:latin typeface="Cambria Math" panose="02040503050406030204" pitchFamily="18" charset="0"/>
                            <a:ea typeface="游ゴシック" panose="020B0400000000000000" pitchFamily="34" charset="-128"/>
                          </a:rPr>
                        </m:ctrlPr>
                      </m:accPr>
                      <m:e>
                        <m:r>
                          <a:rPr lang="en-NZ" altLang="ja-JP" sz="2000" b="1" i="1" smtClean="0">
                            <a:solidFill>
                              <a:prstClr val="black"/>
                            </a:solidFill>
                            <a:latin typeface="Cambria Math" panose="02040503050406030204" pitchFamily="18" charset="0"/>
                            <a:ea typeface="游ゴシック" panose="020B0400000000000000" pitchFamily="34" charset="-128"/>
                          </a:rPr>
                          <m:t>𝜽</m:t>
                        </m:r>
                      </m:e>
                    </m:acc>
                  </m:oMath>
                </a14:m>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lang="en-NZ" altLang="ja-JP" sz="2000" b="1" i="1" dirty="0">
                  <a:solidFill>
                    <a:prstClr val="black"/>
                  </a:solidFill>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1" name="Text Placeholder 5">
                <a:extLst>
                  <a:ext uri="{FF2B5EF4-FFF2-40B4-BE49-F238E27FC236}">
                    <a16:creationId xmlns:a16="http://schemas.microsoft.com/office/drawing/2014/main" id="{DE1A74E9-940F-40A0-B894-E7F9636782B7}"/>
                  </a:ext>
                </a:extLst>
              </p:cNvPr>
              <p:cNvSpPr txBox="1">
                <a:spLocks noRot="1" noChangeAspect="1" noMove="1" noResize="1" noEditPoints="1" noAdjustHandles="1" noChangeArrowheads="1" noChangeShapeType="1" noTextEdit="1"/>
              </p:cNvSpPr>
              <p:nvPr/>
            </p:nvSpPr>
            <p:spPr>
              <a:xfrm>
                <a:off x="319463" y="3817696"/>
                <a:ext cx="11608680" cy="507731"/>
              </a:xfrm>
              <a:prstGeom prst="rect">
                <a:avLst/>
              </a:prstGeom>
              <a:blipFill>
                <a:blip r:embed="rId4"/>
                <a:stretch>
                  <a:fillRect l="-525" t="-8333" b="-119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1064809D-62EA-45DF-BC37-9B56A408667F}"/>
                  </a:ext>
                </a:extLst>
              </p:cNvPr>
              <p:cNvSpPr txBox="1">
                <a:spLocks/>
              </p:cNvSpPr>
              <p:nvPr/>
            </p:nvSpPr>
            <p:spPr>
              <a:xfrm>
                <a:off x="319463" y="4746310"/>
                <a:ext cx="11608680"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dirty="0">
                    <a:solidFill>
                      <a:prstClr val="black"/>
                    </a:solidFill>
                    <a:ea typeface="游ゴシック" panose="020B0400000000000000" pitchFamily="34" charset="-128"/>
                  </a:rPr>
                  <a:t>=&gt; </a:t>
                </a:r>
                <a:r>
                  <a:rPr lang="en-NZ" altLang="ja-JP" sz="2000" b="1" dirty="0">
                    <a:solidFill>
                      <a:prstClr val="black"/>
                    </a:solidFill>
                    <a:ea typeface="游ゴシック" panose="020B0400000000000000" pitchFamily="34" charset="-128"/>
                  </a:rPr>
                  <a:t> </a:t>
                </a:r>
                <a14:m>
                  <m:oMath xmlns:m="http://schemas.openxmlformats.org/officeDocument/2006/math">
                    <m:acc>
                      <m:accPr>
                        <m:chr m:val="̂"/>
                        <m:ctrlPr>
                          <a:rPr lang="en-NZ" altLang="ja-JP" sz="2000" b="1" i="1" smtClean="0">
                            <a:solidFill>
                              <a:prstClr val="black"/>
                            </a:solidFill>
                            <a:latin typeface="Cambria Math" panose="02040503050406030204" pitchFamily="18" charset="0"/>
                            <a:ea typeface="游ゴシック" panose="020B0400000000000000" pitchFamily="34" charset="-128"/>
                          </a:rPr>
                        </m:ctrlPr>
                      </m:accPr>
                      <m:e>
                        <m:r>
                          <a:rPr lang="en-NZ" altLang="ja-JP" sz="2000" b="1" i="1" smtClean="0">
                            <a:solidFill>
                              <a:prstClr val="black"/>
                            </a:solidFill>
                            <a:latin typeface="Cambria Math" panose="02040503050406030204" pitchFamily="18" charset="0"/>
                            <a:ea typeface="游ゴシック" panose="020B0400000000000000" pitchFamily="34" charset="-128"/>
                          </a:rPr>
                          <m:t>𝜽</m:t>
                        </m:r>
                      </m:e>
                    </m:acc>
                  </m:oMath>
                </a14:m>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is a random variable in its own right.</a:t>
                </a:r>
                <a:endParaRPr lang="en-NZ" altLang="ja-JP" sz="2000" b="1" i="1" dirty="0">
                  <a:solidFill>
                    <a:prstClr val="black"/>
                  </a:solidFill>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2" name="Text Placeholder 5">
                <a:extLst>
                  <a:ext uri="{FF2B5EF4-FFF2-40B4-BE49-F238E27FC236}">
                    <a16:creationId xmlns:a16="http://schemas.microsoft.com/office/drawing/2014/main" id="{1064809D-62EA-45DF-BC37-9B56A408667F}"/>
                  </a:ext>
                </a:extLst>
              </p:cNvPr>
              <p:cNvSpPr txBox="1">
                <a:spLocks noRot="1" noChangeAspect="1" noMove="1" noResize="1" noEditPoints="1" noAdjustHandles="1" noChangeArrowheads="1" noChangeShapeType="1" noTextEdit="1"/>
              </p:cNvSpPr>
              <p:nvPr/>
            </p:nvSpPr>
            <p:spPr>
              <a:xfrm>
                <a:off x="319463" y="4746310"/>
                <a:ext cx="11608680" cy="507731"/>
              </a:xfrm>
              <a:prstGeom prst="rect">
                <a:avLst/>
              </a:prstGeom>
              <a:blipFill>
                <a:blip r:embed="rId5"/>
                <a:stretch>
                  <a:fillRect l="-525" t="-8434" b="-2410"/>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74FBAEB2-D06E-46C9-970D-22B2ADAEF271}"/>
              </a:ext>
            </a:extLst>
          </p:cNvPr>
          <p:cNvSpPr txBox="1">
            <a:spLocks/>
          </p:cNvSpPr>
          <p:nvPr/>
        </p:nvSpPr>
        <p:spPr>
          <a:xfrm>
            <a:off x="319463" y="5635622"/>
            <a:ext cx="11608680"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dirty="0">
                <a:solidFill>
                  <a:prstClr val="black"/>
                </a:solidFill>
                <a:ea typeface="游ゴシック" panose="020B0400000000000000" pitchFamily="34" charset="-128"/>
              </a:rPr>
              <a:t>We may ask the following questions….</a:t>
            </a:r>
            <a:endParaRPr lang="en-NZ" altLang="ja-JP" sz="2000" b="1" i="1" dirty="0">
              <a:solidFill>
                <a:prstClr val="black"/>
              </a:solidFill>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383591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a:ln>
                  <a:noFill/>
                </a:ln>
                <a:solidFill>
                  <a:srgbClr val="DEDDDD"/>
                </a:solidFill>
                <a:effectLst/>
                <a:uLnTx/>
                <a:uFillTx/>
                <a:latin typeface="Gidole"/>
                <a:ea typeface="游ゴシック" panose="020B0400000000000000" pitchFamily="34" charset="-128"/>
                <a:cs typeface="+mn-cs"/>
              </a:rPr>
              <a:t>.1a </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Notation, SE &amp;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.1a – Review of Standard Error:</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1275693"/>
                <a:ext cx="9233970" cy="55420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0" indent="-457200" algn="just">
                  <a:lnSpc>
                    <a:spcPct val="100000"/>
                  </a:lnSpc>
                  <a:buFont typeface="+mj-lt"/>
                  <a:buAutoNum type="arabicPeriod"/>
                  <a:defRPr/>
                </a:pP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How</a:t>
                </a:r>
                <a:r>
                  <a:rPr kumimoji="1" lang="en-US" altLang="ja-JP" sz="20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is </a:t>
                </a:r>
                <a14:m>
                  <m:oMath xmlns:m="http://schemas.openxmlformats.org/officeDocument/2006/math">
                    <m:acc>
                      <m:accPr>
                        <m:chr m:val="̂"/>
                        <m:ctrlPr>
                          <a:rPr lang="en-NZ" altLang="ja-JP" sz="2000" b="1" i="1">
                            <a:solidFill>
                              <a:prstClr val="black"/>
                            </a:solidFill>
                            <a:latin typeface="Cambria Math" panose="02040503050406030204" pitchFamily="18" charset="0"/>
                          </a:rPr>
                        </m:ctrlPr>
                      </m:accPr>
                      <m:e>
                        <m:r>
                          <a:rPr lang="en-NZ" altLang="ja-JP" sz="2000" b="1" i="1">
                            <a:solidFill>
                              <a:prstClr val="black"/>
                            </a:solidFill>
                            <a:latin typeface="Cambria Math" panose="02040503050406030204" pitchFamily="18" charset="0"/>
                          </a:rPr>
                          <m:t>𝜽</m:t>
                        </m:r>
                      </m:e>
                    </m:acc>
                  </m:oMath>
                </a14:m>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distributed?   </a:t>
                </a:r>
                <a:r>
                  <a:rPr kumimoji="1" lang="en-US" altLang="ja-JP" sz="2000" i="1"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t>(i.e. what is the sampling</a:t>
                </a:r>
                <a:r>
                  <a:rPr kumimoji="1" lang="en-US" altLang="ja-JP" sz="2000" i="1" u="none" strike="noStrike" kern="1200" cap="none" spc="0" normalizeH="0" noProof="0" dirty="0">
                    <a:ln>
                      <a:noFill/>
                    </a:ln>
                    <a:solidFill>
                      <a:schemeClr val="bg2">
                        <a:lumMod val="25000"/>
                      </a:schemeClr>
                    </a:solidFill>
                    <a:effectLst/>
                    <a:uLnTx/>
                    <a:uFillTx/>
                    <a:latin typeface="Calibri" panose="020F0502020204030204"/>
                    <a:ea typeface="游ゴシック" panose="020B0400000000000000" pitchFamily="34" charset="-128"/>
                  </a:rPr>
                  <a:t> distribution?)</a:t>
                </a:r>
              </a:p>
            </p:txBody>
          </p:sp>
        </mc:Choice>
        <mc:Fallback xmlns="">
          <p:sp>
            <p:nvSpPr>
              <p:cNvPr id="7" name="Text Placeholder 5">
                <a:extLst>
                  <a:ext uri="{FF2B5EF4-FFF2-40B4-BE49-F238E27FC236}">
                    <a16:creationId xmlns:a16="http://schemas.microsoft.com/office/drawing/2014/main" id="{65B06D6C-CCB3-4D8F-9171-6B4779FED53B}"/>
                  </a:ext>
                </a:extLst>
              </p:cNvPr>
              <p:cNvSpPr txBox="1">
                <a:spLocks noRot="1" noChangeAspect="1" noMove="1" noResize="1" noEditPoints="1" noAdjustHandles="1" noChangeArrowheads="1" noChangeShapeType="1" noTextEdit="1"/>
              </p:cNvSpPr>
              <p:nvPr/>
            </p:nvSpPr>
            <p:spPr>
              <a:xfrm>
                <a:off x="319463" y="1275693"/>
                <a:ext cx="9233970" cy="554205"/>
              </a:xfrm>
              <a:prstGeom prst="rect">
                <a:avLst/>
              </a:prstGeom>
              <a:blipFill>
                <a:blip r:embed="rId3"/>
                <a:stretch>
                  <a:fillRect l="-726" t="-769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EB8B1772-47AE-4A90-BE7C-9E03FACADB40}"/>
                  </a:ext>
                </a:extLst>
              </p:cNvPr>
              <p:cNvSpPr txBox="1">
                <a:spLocks/>
              </p:cNvSpPr>
              <p:nvPr/>
            </p:nvSpPr>
            <p:spPr>
              <a:xfrm>
                <a:off x="1558908" y="2409630"/>
                <a:ext cx="7434967" cy="12743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US" altLang="ja-JP" sz="1800" dirty="0">
                    <a:solidFill>
                      <a:schemeClr val="bg2">
                        <a:lumMod val="25000"/>
                      </a:schemeClr>
                    </a:solidFill>
                    <a:latin typeface="Calibri" panose="020F0502020204030204"/>
                    <a:ea typeface="游ゴシック" panose="020B0400000000000000" pitchFamily="34" charset="-128"/>
                  </a:rPr>
                  <a:t>In particular,  is </a:t>
                </a:r>
                <a14:m>
                  <m:oMath xmlns:m="http://schemas.openxmlformats.org/officeDocument/2006/math">
                    <m:r>
                      <a:rPr lang="en-NZ" altLang="ja-JP" sz="1800" b="1" i="1" smtClean="0">
                        <a:solidFill>
                          <a:schemeClr val="bg2">
                            <a:lumMod val="25000"/>
                          </a:schemeClr>
                        </a:solidFill>
                        <a:latin typeface="Cambria Math" panose="02040503050406030204" pitchFamily="18" charset="0"/>
                        <a:ea typeface="游ゴシック" panose="020B0400000000000000" pitchFamily="34" charset="-128"/>
                      </a:rPr>
                      <m:t>𝑬</m:t>
                    </m:r>
                    <m:d>
                      <m:dPr>
                        <m:begChr m:val="["/>
                        <m:endChr m:val="]"/>
                        <m:ctrlPr>
                          <a:rPr lang="en-NZ" altLang="ja-JP" sz="1800" b="1" i="1" smtClean="0">
                            <a:solidFill>
                              <a:schemeClr val="bg2">
                                <a:lumMod val="25000"/>
                              </a:schemeClr>
                            </a:solidFill>
                            <a:latin typeface="Cambria Math" panose="02040503050406030204" pitchFamily="18" charset="0"/>
                            <a:ea typeface="游ゴシック" panose="020B0400000000000000" pitchFamily="34" charset="-128"/>
                          </a:rPr>
                        </m:ctrlPr>
                      </m:dPr>
                      <m:e>
                        <m:acc>
                          <m:accPr>
                            <m:chr m:val="̂"/>
                            <m:ctrlPr>
                              <a:rPr lang="en-NZ" altLang="ja-JP" sz="1800" b="1" i="1" smtClean="0">
                                <a:solidFill>
                                  <a:schemeClr val="bg2">
                                    <a:lumMod val="25000"/>
                                  </a:schemeClr>
                                </a:solidFill>
                                <a:latin typeface="Cambria Math" panose="02040503050406030204" pitchFamily="18" charset="0"/>
                                <a:ea typeface="游ゴシック" panose="020B0400000000000000" pitchFamily="34" charset="-128"/>
                              </a:rPr>
                            </m:ctrlPr>
                          </m:accPr>
                          <m:e>
                            <m:r>
                              <a:rPr lang="en-NZ" altLang="ja-JP" sz="1800" b="1" i="1" smtClean="0">
                                <a:solidFill>
                                  <a:schemeClr val="bg2">
                                    <a:lumMod val="25000"/>
                                  </a:schemeClr>
                                </a:solidFill>
                                <a:latin typeface="Cambria Math" panose="02040503050406030204" pitchFamily="18" charset="0"/>
                                <a:ea typeface="游ゴシック" panose="020B0400000000000000" pitchFamily="34" charset="-128"/>
                              </a:rPr>
                              <m:t>𝜽</m:t>
                            </m:r>
                          </m:e>
                        </m:acc>
                      </m:e>
                    </m:d>
                    <m:r>
                      <a:rPr lang="en-NZ" altLang="ja-JP" sz="1800" b="1" i="1" smtClean="0">
                        <a:solidFill>
                          <a:schemeClr val="bg2">
                            <a:lumMod val="25000"/>
                          </a:schemeClr>
                        </a:solidFill>
                        <a:latin typeface="Cambria Math" panose="02040503050406030204" pitchFamily="18" charset="0"/>
                        <a:ea typeface="游ゴシック" panose="020B0400000000000000" pitchFamily="34" charset="-128"/>
                      </a:rPr>
                      <m:t>=</m:t>
                    </m:r>
                    <m:r>
                      <a:rPr lang="en-NZ" altLang="ja-JP" sz="1800" b="1" i="1" smtClean="0">
                        <a:solidFill>
                          <a:schemeClr val="bg2">
                            <a:lumMod val="25000"/>
                          </a:schemeClr>
                        </a:solidFill>
                        <a:latin typeface="Cambria Math" panose="02040503050406030204" pitchFamily="18" charset="0"/>
                        <a:ea typeface="游ゴシック" panose="020B0400000000000000" pitchFamily="34" charset="-128"/>
                      </a:rPr>
                      <m:t>𝜽</m:t>
                    </m:r>
                  </m:oMath>
                </a14:m>
                <a:r>
                  <a:rPr kumimoji="1" lang="en-US" altLang="ja-JP" sz="180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t> ?</a:t>
                </a:r>
              </a:p>
              <a:p>
                <a:pPr lvl="0">
                  <a:lnSpc>
                    <a:spcPct val="100000"/>
                  </a:lnSpc>
                  <a:defRPr/>
                </a:pPr>
                <a:endParaRPr lang="en-US" altLang="ja-JP" sz="200" dirty="0">
                  <a:solidFill>
                    <a:schemeClr val="bg2">
                      <a:lumMod val="25000"/>
                    </a:schemeClr>
                  </a:solidFill>
                  <a:latin typeface="Calibri" panose="020F0502020204030204"/>
                  <a:ea typeface="游ゴシック" panose="020B0400000000000000" pitchFamily="34" charset="-128"/>
                </a:endParaRPr>
              </a:p>
              <a:p>
                <a:pPr lvl="0">
                  <a:lnSpc>
                    <a:spcPct val="100000"/>
                  </a:lnSpc>
                  <a:defRPr/>
                </a:pPr>
                <a:endParaRPr kumimoji="1" lang="en-US" altLang="ja-JP" sz="20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endParaRPr>
              </a:p>
              <a:p>
                <a:pPr lvl="0">
                  <a:lnSpc>
                    <a:spcPct val="100000"/>
                  </a:lnSpc>
                  <a:defRPr/>
                </a:pPr>
                <a:r>
                  <a:rPr lang="en-US" altLang="ja-JP" sz="1800" dirty="0">
                    <a:solidFill>
                      <a:schemeClr val="bg2">
                        <a:lumMod val="25000"/>
                      </a:schemeClr>
                    </a:solidFill>
                    <a:latin typeface="Calibri" panose="020F0502020204030204"/>
                    <a:ea typeface="游ゴシック" panose="020B0400000000000000" pitchFamily="34" charset="-128"/>
                  </a:rPr>
                  <a:t>We say that </a:t>
                </a:r>
                <a14:m>
                  <m:oMath xmlns:m="http://schemas.openxmlformats.org/officeDocument/2006/math">
                    <m:acc>
                      <m:accPr>
                        <m:chr m:val="̂"/>
                        <m:ctrlPr>
                          <a:rPr lang="en-NZ" altLang="ja-JP" sz="1800" b="1" i="1" smtClean="0">
                            <a:solidFill>
                              <a:schemeClr val="bg2">
                                <a:lumMod val="25000"/>
                              </a:schemeClr>
                            </a:solidFill>
                            <a:latin typeface="Cambria Math" panose="02040503050406030204" pitchFamily="18" charset="0"/>
                            <a:ea typeface="游ゴシック" panose="020B0400000000000000" pitchFamily="34" charset="-128"/>
                          </a:rPr>
                        </m:ctrlPr>
                      </m:accPr>
                      <m:e>
                        <m:r>
                          <a:rPr lang="en-NZ" altLang="ja-JP" sz="1800" b="1" i="1" smtClean="0">
                            <a:solidFill>
                              <a:schemeClr val="bg2">
                                <a:lumMod val="25000"/>
                              </a:schemeClr>
                            </a:solidFill>
                            <a:latin typeface="Cambria Math" panose="02040503050406030204" pitchFamily="18" charset="0"/>
                            <a:ea typeface="游ゴシック" panose="020B0400000000000000" pitchFamily="34" charset="-128"/>
                          </a:rPr>
                          <m:t>𝜽</m:t>
                        </m:r>
                      </m:e>
                    </m:acc>
                  </m:oMath>
                </a14:m>
                <a:r>
                  <a:rPr kumimoji="1" lang="en-US" altLang="ja-JP" sz="180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t> is an </a:t>
                </a:r>
                <a:r>
                  <a:rPr kumimoji="1" lang="en-US" altLang="ja-JP" sz="1800" i="1"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t>unbiassed</a:t>
                </a:r>
                <a:r>
                  <a:rPr kumimoji="1" lang="en-US" altLang="ja-JP" sz="180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t> estimator</a:t>
                </a:r>
                <a:r>
                  <a:rPr kumimoji="1" lang="en-US" altLang="ja-JP" sz="1800" u="none" strike="noStrike" kern="1200" cap="none" spc="0" normalizeH="0" noProof="0" dirty="0">
                    <a:ln>
                      <a:noFill/>
                    </a:ln>
                    <a:solidFill>
                      <a:schemeClr val="bg2">
                        <a:lumMod val="25000"/>
                      </a:schemeClr>
                    </a:solidFill>
                    <a:effectLst/>
                    <a:uLnTx/>
                    <a:uFillTx/>
                    <a:latin typeface="Calibri" panose="020F0502020204030204"/>
                    <a:ea typeface="游ゴシック" panose="020B0400000000000000" pitchFamily="34" charset="-128"/>
                  </a:rPr>
                  <a:t> of </a:t>
                </a:r>
                <a14:m>
                  <m:oMath xmlns:m="http://schemas.openxmlformats.org/officeDocument/2006/math">
                    <m:r>
                      <a:rPr kumimoji="1" lang="en-NZ" altLang="ja-JP" sz="1800" b="1" i="1" u="none" strike="noStrike" kern="1200" cap="none" spc="0" normalizeH="0" noProof="0" smtClean="0">
                        <a:ln>
                          <a:noFill/>
                        </a:ln>
                        <a:solidFill>
                          <a:schemeClr val="bg2">
                            <a:lumMod val="25000"/>
                          </a:schemeClr>
                        </a:solidFill>
                        <a:effectLst/>
                        <a:uLnTx/>
                        <a:uFillTx/>
                        <a:latin typeface="Cambria Math" panose="02040503050406030204" pitchFamily="18" charset="0"/>
                        <a:ea typeface="游ゴシック" panose="020B0400000000000000" pitchFamily="34" charset="-128"/>
                      </a:rPr>
                      <m:t>𝜽</m:t>
                    </m:r>
                  </m:oMath>
                </a14:m>
                <a:r>
                  <a:rPr kumimoji="1" lang="en-US" altLang="ja-JP" sz="180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t> if</a:t>
                </a:r>
                <a:br>
                  <a:rPr kumimoji="1" lang="en-US" altLang="ja-JP" sz="180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br>
                <a14:m>
                  <m:oMathPara xmlns:m="http://schemas.openxmlformats.org/officeDocument/2006/math">
                    <m:oMathParaPr>
                      <m:jc m:val="centerGroup"/>
                    </m:oMathParaPr>
                    <m:oMath xmlns:m="http://schemas.openxmlformats.org/officeDocument/2006/math">
                      <m:r>
                        <a:rPr lang="en-NZ" altLang="ja-JP" sz="1800" b="1" i="1" smtClean="0">
                          <a:solidFill>
                            <a:schemeClr val="bg2">
                              <a:lumMod val="25000"/>
                            </a:schemeClr>
                          </a:solidFill>
                          <a:latin typeface="Cambria Math" panose="02040503050406030204" pitchFamily="18" charset="0"/>
                        </a:rPr>
                        <m:t>𝑩𝒊𝒂𝒔</m:t>
                      </m:r>
                      <m:d>
                        <m:dPr>
                          <m:begChr m:val="["/>
                          <m:endChr m:val="]"/>
                          <m:ctrlPr>
                            <a:rPr lang="en-NZ" altLang="ja-JP" sz="1800" b="1" i="1" smtClean="0">
                              <a:solidFill>
                                <a:schemeClr val="bg2">
                                  <a:lumMod val="25000"/>
                                </a:schemeClr>
                              </a:solidFill>
                              <a:latin typeface="Cambria Math" panose="02040503050406030204" pitchFamily="18" charset="0"/>
                            </a:rPr>
                          </m:ctrlPr>
                        </m:dPr>
                        <m:e>
                          <m:acc>
                            <m:accPr>
                              <m:chr m:val="̂"/>
                              <m:ctrlPr>
                                <a:rPr lang="en-NZ" altLang="ja-JP" sz="1800" b="1" i="1" smtClean="0">
                                  <a:solidFill>
                                    <a:schemeClr val="bg2">
                                      <a:lumMod val="25000"/>
                                    </a:schemeClr>
                                  </a:solidFill>
                                  <a:latin typeface="Cambria Math" panose="02040503050406030204" pitchFamily="18" charset="0"/>
                                </a:rPr>
                              </m:ctrlPr>
                            </m:accPr>
                            <m:e>
                              <m:r>
                                <a:rPr lang="en-NZ" altLang="ja-JP" sz="1800" b="1" i="1" smtClean="0">
                                  <a:solidFill>
                                    <a:schemeClr val="bg2">
                                      <a:lumMod val="25000"/>
                                    </a:schemeClr>
                                  </a:solidFill>
                                  <a:latin typeface="Cambria Math" panose="02040503050406030204" pitchFamily="18" charset="0"/>
                                </a:rPr>
                                <m:t>𝜽</m:t>
                              </m:r>
                            </m:e>
                          </m:acc>
                        </m:e>
                      </m:d>
                      <m:r>
                        <a:rPr lang="en-NZ" altLang="ja-JP" sz="1800" b="1" i="1" smtClean="0">
                          <a:solidFill>
                            <a:schemeClr val="bg2">
                              <a:lumMod val="25000"/>
                            </a:schemeClr>
                          </a:solidFill>
                          <a:latin typeface="Cambria Math" panose="02040503050406030204" pitchFamily="18" charset="0"/>
                        </a:rPr>
                        <m:t>  </m:t>
                      </m:r>
                      <m:r>
                        <m:rPr>
                          <m:lit/>
                        </m:rPr>
                        <a:rPr lang="en-NZ" altLang="ja-JP" sz="1800" b="1" i="1" smtClean="0">
                          <a:solidFill>
                            <a:schemeClr val="bg2">
                              <a:lumMod val="25000"/>
                            </a:schemeClr>
                          </a:solidFill>
                          <a:latin typeface="Cambria Math" panose="02040503050406030204" pitchFamily="18" charset="0"/>
                        </a:rPr>
                        <m:t> </m:t>
                      </m:r>
                      <m:r>
                        <a:rPr lang="en-NZ" altLang="ja-JP" sz="1800" b="1" i="1" smtClean="0">
                          <a:solidFill>
                            <a:schemeClr val="bg2">
                              <a:lumMod val="25000"/>
                            </a:schemeClr>
                          </a:solidFill>
                          <a:latin typeface="Cambria Math" panose="02040503050406030204" pitchFamily="18" charset="0"/>
                        </a:rPr>
                        <m:t>≡  </m:t>
                      </m:r>
                      <m:r>
                        <a:rPr lang="en-NZ" altLang="ja-JP" sz="1800" b="1" i="1">
                          <a:solidFill>
                            <a:schemeClr val="bg2">
                              <a:lumMod val="25000"/>
                            </a:schemeClr>
                          </a:solidFill>
                          <a:latin typeface="Cambria Math" panose="02040503050406030204" pitchFamily="18" charset="0"/>
                        </a:rPr>
                        <m:t>𝑬</m:t>
                      </m:r>
                      <m:d>
                        <m:dPr>
                          <m:begChr m:val="["/>
                          <m:endChr m:val="]"/>
                          <m:ctrlPr>
                            <a:rPr lang="en-NZ" altLang="ja-JP" sz="1800" b="1" i="1">
                              <a:solidFill>
                                <a:schemeClr val="bg2">
                                  <a:lumMod val="25000"/>
                                </a:schemeClr>
                              </a:solidFill>
                              <a:latin typeface="Cambria Math" panose="02040503050406030204" pitchFamily="18" charset="0"/>
                            </a:rPr>
                          </m:ctrlPr>
                        </m:dPr>
                        <m:e>
                          <m:acc>
                            <m:accPr>
                              <m:chr m:val="̂"/>
                              <m:ctrlPr>
                                <a:rPr lang="en-NZ" altLang="ja-JP" sz="1800" b="1" i="1">
                                  <a:solidFill>
                                    <a:schemeClr val="bg2">
                                      <a:lumMod val="25000"/>
                                    </a:schemeClr>
                                  </a:solidFill>
                                  <a:latin typeface="Cambria Math" panose="02040503050406030204" pitchFamily="18" charset="0"/>
                                </a:rPr>
                              </m:ctrlPr>
                            </m:accPr>
                            <m:e>
                              <m:r>
                                <a:rPr lang="en-NZ" altLang="ja-JP" sz="1800" b="1" i="1">
                                  <a:solidFill>
                                    <a:schemeClr val="bg2">
                                      <a:lumMod val="25000"/>
                                    </a:schemeClr>
                                  </a:solidFill>
                                  <a:latin typeface="Cambria Math" panose="02040503050406030204" pitchFamily="18" charset="0"/>
                                </a:rPr>
                                <m:t>𝜽</m:t>
                              </m:r>
                            </m:e>
                          </m:acc>
                        </m:e>
                      </m:d>
                      <m:r>
                        <a:rPr lang="en-NZ" altLang="ja-JP" sz="1800" b="1" i="1" smtClean="0">
                          <a:solidFill>
                            <a:schemeClr val="bg2">
                              <a:lumMod val="25000"/>
                            </a:schemeClr>
                          </a:solidFill>
                          <a:latin typeface="Cambria Math" panose="02040503050406030204" pitchFamily="18" charset="0"/>
                        </a:rPr>
                        <m:t> − </m:t>
                      </m:r>
                      <m:r>
                        <a:rPr lang="en-NZ" altLang="ja-JP" sz="1800" b="1" i="1">
                          <a:solidFill>
                            <a:schemeClr val="bg2">
                              <a:lumMod val="25000"/>
                            </a:schemeClr>
                          </a:solidFill>
                          <a:latin typeface="Cambria Math" panose="02040503050406030204" pitchFamily="18" charset="0"/>
                        </a:rPr>
                        <m:t>𝜽</m:t>
                      </m:r>
                      <m:r>
                        <a:rPr lang="en-NZ" altLang="ja-JP" sz="1800" b="1" i="1" smtClean="0">
                          <a:solidFill>
                            <a:schemeClr val="bg2">
                              <a:lumMod val="25000"/>
                            </a:schemeClr>
                          </a:solidFill>
                          <a:latin typeface="Cambria Math" panose="02040503050406030204" pitchFamily="18" charset="0"/>
                        </a:rPr>
                        <m:t>  =   </m:t>
                      </m:r>
                      <m:r>
                        <a:rPr lang="en-NZ" altLang="ja-JP" sz="1800" b="1" i="1" smtClean="0">
                          <a:solidFill>
                            <a:schemeClr val="bg2">
                              <a:lumMod val="25000"/>
                            </a:schemeClr>
                          </a:solidFill>
                          <a:latin typeface="Cambria Math" panose="02040503050406030204" pitchFamily="18" charset="0"/>
                        </a:rPr>
                        <m:t>𝟎</m:t>
                      </m:r>
                    </m:oMath>
                  </m:oMathPara>
                </a14:m>
                <a:endParaRPr kumimoji="1" lang="en-US" altLang="ja-JP" sz="180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endParaRPr>
              </a:p>
            </p:txBody>
          </p:sp>
        </mc:Choice>
        <mc:Fallback xmlns="">
          <p:sp>
            <p:nvSpPr>
              <p:cNvPr id="10" name="Text Placeholder 5">
                <a:extLst>
                  <a:ext uri="{FF2B5EF4-FFF2-40B4-BE49-F238E27FC236}">
                    <a16:creationId xmlns:a16="http://schemas.microsoft.com/office/drawing/2014/main" id="{EB8B1772-47AE-4A90-BE7C-9E03FACADB40}"/>
                  </a:ext>
                </a:extLst>
              </p:cNvPr>
              <p:cNvSpPr txBox="1">
                <a:spLocks noRot="1" noChangeAspect="1" noMove="1" noResize="1" noEditPoints="1" noAdjustHandles="1" noChangeArrowheads="1" noChangeShapeType="1" noTextEdit="1"/>
              </p:cNvSpPr>
              <p:nvPr/>
            </p:nvSpPr>
            <p:spPr>
              <a:xfrm>
                <a:off x="1558908" y="2409630"/>
                <a:ext cx="7434967" cy="1274327"/>
              </a:xfrm>
              <a:prstGeom prst="rect">
                <a:avLst/>
              </a:prstGeom>
              <a:blipFill>
                <a:blip r:embed="rId4"/>
                <a:stretch>
                  <a:fillRect l="-738" t="-47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047423AE-6859-49C7-823E-005E54D1DD3E}"/>
                  </a:ext>
                </a:extLst>
              </p:cNvPr>
              <p:cNvSpPr txBox="1">
                <a:spLocks/>
              </p:cNvSpPr>
              <p:nvPr/>
            </p:nvSpPr>
            <p:spPr>
              <a:xfrm>
                <a:off x="319463" y="2040915"/>
                <a:ext cx="923397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0" indent="-457200" algn="just">
                  <a:lnSpc>
                    <a:spcPct val="100000"/>
                  </a:lnSpc>
                  <a:buFont typeface="+mj-lt"/>
                  <a:buAutoNum type="arabicPeriod" startAt="2"/>
                  <a:defRPr/>
                </a:pPr>
                <a:r>
                  <a:rPr kumimoji="1" lang="en-US" altLang="ja-JP" sz="20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What is the expectation of </a:t>
                </a:r>
                <a14:m>
                  <m:oMath xmlns:m="http://schemas.openxmlformats.org/officeDocument/2006/math">
                    <m:acc>
                      <m:accPr>
                        <m:chr m:val="̂"/>
                        <m:ctrlPr>
                          <a:rPr lang="en-NZ" altLang="ja-JP" sz="2000" b="1" i="1">
                            <a:solidFill>
                              <a:prstClr val="black"/>
                            </a:solidFill>
                            <a:latin typeface="Cambria Math" panose="02040503050406030204" pitchFamily="18" charset="0"/>
                          </a:rPr>
                        </m:ctrlPr>
                      </m:accPr>
                      <m:e>
                        <m:r>
                          <a:rPr lang="en-NZ" altLang="ja-JP" sz="2000" b="1" i="1">
                            <a:solidFill>
                              <a:prstClr val="black"/>
                            </a:solidFill>
                            <a:latin typeface="Cambria Math" panose="02040503050406030204" pitchFamily="18" charset="0"/>
                          </a:rPr>
                          <m:t>𝜽</m:t>
                        </m:r>
                      </m:e>
                    </m:acc>
                  </m:oMath>
                </a14:m>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2" name="Text Placeholder 5">
                <a:extLst>
                  <a:ext uri="{FF2B5EF4-FFF2-40B4-BE49-F238E27FC236}">
                    <a16:creationId xmlns:a16="http://schemas.microsoft.com/office/drawing/2014/main" id="{047423AE-6859-49C7-823E-005E54D1DD3E}"/>
                  </a:ext>
                </a:extLst>
              </p:cNvPr>
              <p:cNvSpPr txBox="1">
                <a:spLocks noRot="1" noChangeAspect="1" noMove="1" noResize="1" noEditPoints="1" noAdjustHandles="1" noChangeArrowheads="1" noChangeShapeType="1" noTextEdit="1"/>
              </p:cNvSpPr>
              <p:nvPr/>
            </p:nvSpPr>
            <p:spPr>
              <a:xfrm>
                <a:off x="319463" y="2040915"/>
                <a:ext cx="9233970" cy="365125"/>
              </a:xfrm>
              <a:prstGeom prst="rect">
                <a:avLst/>
              </a:prstGeom>
              <a:blipFill>
                <a:blip r:embed="rId5"/>
                <a:stretch>
                  <a:fillRect l="-726" t="-11667" b="-41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9696F53A-59BE-4C5B-91EB-C21E77A6ABE8}"/>
                  </a:ext>
                </a:extLst>
              </p:cNvPr>
              <p:cNvSpPr txBox="1">
                <a:spLocks/>
              </p:cNvSpPr>
              <p:nvPr/>
            </p:nvSpPr>
            <p:spPr>
              <a:xfrm>
                <a:off x="319463" y="3768385"/>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0" indent="-457200" algn="just">
                  <a:lnSpc>
                    <a:spcPct val="100000"/>
                  </a:lnSpc>
                  <a:buFont typeface="+mj-lt"/>
                  <a:buAutoNum type="arabicPeriod" startAt="3"/>
                  <a:defRPr/>
                </a:pPr>
                <a:r>
                  <a:rPr kumimoji="1" lang="en-US" altLang="ja-JP" sz="20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What is the standard error </a:t>
                </a: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of </a:t>
                </a:r>
                <a14:m>
                  <m:oMath xmlns:m="http://schemas.openxmlformats.org/officeDocument/2006/math">
                    <m:acc>
                      <m:accPr>
                        <m:chr m:val="̂"/>
                        <m:ctrlPr>
                          <a:rPr lang="en-NZ" altLang="ja-JP" sz="2000" b="1" i="1">
                            <a:solidFill>
                              <a:prstClr val="black"/>
                            </a:solidFill>
                            <a:latin typeface="Cambria Math" panose="02040503050406030204" pitchFamily="18" charset="0"/>
                          </a:rPr>
                        </m:ctrlPr>
                      </m:accPr>
                      <m:e>
                        <m:r>
                          <a:rPr lang="en-NZ" altLang="ja-JP" sz="2000" b="1" i="1">
                            <a:solidFill>
                              <a:prstClr val="black"/>
                            </a:solidFill>
                            <a:latin typeface="Cambria Math" panose="02040503050406030204" pitchFamily="18" charset="0"/>
                          </a:rPr>
                          <m:t>𝜽</m:t>
                        </m:r>
                      </m:e>
                    </m:acc>
                  </m:oMath>
                </a14:m>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3" name="Text Placeholder 5">
                <a:extLst>
                  <a:ext uri="{FF2B5EF4-FFF2-40B4-BE49-F238E27FC236}">
                    <a16:creationId xmlns:a16="http://schemas.microsoft.com/office/drawing/2014/main" id="{9696F53A-59BE-4C5B-91EB-C21E77A6ABE8}"/>
                  </a:ext>
                </a:extLst>
              </p:cNvPr>
              <p:cNvSpPr txBox="1">
                <a:spLocks noRot="1" noChangeAspect="1" noMove="1" noResize="1" noEditPoints="1" noAdjustHandles="1" noChangeArrowheads="1" noChangeShapeType="1" noTextEdit="1"/>
              </p:cNvSpPr>
              <p:nvPr/>
            </p:nvSpPr>
            <p:spPr>
              <a:xfrm>
                <a:off x="319463" y="3768385"/>
                <a:ext cx="11608680" cy="365125"/>
              </a:xfrm>
              <a:prstGeom prst="rect">
                <a:avLst/>
              </a:prstGeom>
              <a:blipFill>
                <a:blip r:embed="rId6"/>
                <a:stretch>
                  <a:fillRect l="-577" t="-11667" b="-43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FFB25121-ADD1-4353-9F04-7061AB6858D4}"/>
                  </a:ext>
                </a:extLst>
              </p:cNvPr>
              <p:cNvSpPr txBox="1">
                <a:spLocks/>
              </p:cNvSpPr>
              <p:nvPr/>
            </p:nvSpPr>
            <p:spPr>
              <a:xfrm>
                <a:off x="1558908" y="4185867"/>
                <a:ext cx="7257546" cy="6481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bg2">
                        <a:lumMod val="25000"/>
                      </a:schemeClr>
                    </a:solidFill>
                    <a:latin typeface="Calibri" panose="020F0502020204030204"/>
                    <a:ea typeface="游ゴシック" panose="020B0400000000000000" pitchFamily="34" charset="-128"/>
                  </a:rPr>
                  <a:t>i.e. what is the standard deviation of the </a:t>
                </a:r>
                <a14:m>
                  <m:oMath xmlns:m="http://schemas.openxmlformats.org/officeDocument/2006/math">
                    <m:acc>
                      <m:accPr>
                        <m:chr m:val="̂"/>
                        <m:ctrlPr>
                          <a:rPr lang="en-NZ" altLang="ja-JP" sz="1800" b="1" i="1" smtClean="0">
                            <a:solidFill>
                              <a:schemeClr val="bg2">
                                <a:lumMod val="25000"/>
                              </a:schemeClr>
                            </a:solidFill>
                            <a:latin typeface="Cambria Math" panose="02040503050406030204" pitchFamily="18" charset="0"/>
                          </a:rPr>
                        </m:ctrlPr>
                      </m:accPr>
                      <m:e>
                        <m:r>
                          <a:rPr lang="en-NZ" altLang="ja-JP" sz="1800" b="1" i="1">
                            <a:solidFill>
                              <a:schemeClr val="bg2">
                                <a:lumMod val="25000"/>
                              </a:schemeClr>
                            </a:solidFill>
                            <a:latin typeface="Cambria Math" panose="02040503050406030204" pitchFamily="18" charset="0"/>
                          </a:rPr>
                          <m:t>𝜽</m:t>
                        </m:r>
                      </m:e>
                    </m:acc>
                  </m:oMath>
                </a14:m>
                <a:r>
                  <a:rPr lang="en-NZ" altLang="ja-JP" sz="1800" dirty="0">
                    <a:solidFill>
                      <a:schemeClr val="bg2">
                        <a:lumMod val="25000"/>
                      </a:schemeClr>
                    </a:solidFill>
                    <a:latin typeface="Calibri" panose="020F0502020204030204"/>
                    <a:ea typeface="游ゴシック" panose="020B0400000000000000" pitchFamily="34" charset="-128"/>
                  </a:rPr>
                  <a:t> values that would be obtained by taking repeated samples of size </a:t>
                </a:r>
                <a:r>
                  <a:rPr lang="en-NZ" altLang="ja-JP" sz="1800" b="1" i="1" dirty="0">
                    <a:solidFill>
                      <a:schemeClr val="bg2">
                        <a:lumMod val="25000"/>
                      </a:schemeClr>
                    </a:solidFill>
                    <a:latin typeface="Calibri" panose="020F0502020204030204"/>
                    <a:ea typeface="游ゴシック" panose="020B0400000000000000" pitchFamily="34" charset="-128"/>
                  </a:rPr>
                  <a:t>n</a:t>
                </a:r>
                <a:r>
                  <a:rPr lang="en-NZ" altLang="ja-JP" sz="1800" dirty="0">
                    <a:solidFill>
                      <a:schemeClr val="bg2">
                        <a:lumMod val="25000"/>
                      </a:schemeClr>
                    </a:solidFill>
                    <a:latin typeface="Calibri" panose="020F0502020204030204"/>
                    <a:ea typeface="游ゴシック" panose="020B0400000000000000" pitchFamily="34" charset="-128"/>
                  </a:rPr>
                  <a:t> from the population. </a:t>
                </a:r>
              </a:p>
            </p:txBody>
          </p:sp>
        </mc:Choice>
        <mc:Fallback xmlns="">
          <p:sp>
            <p:nvSpPr>
              <p:cNvPr id="14" name="Text Placeholder 5">
                <a:extLst>
                  <a:ext uri="{FF2B5EF4-FFF2-40B4-BE49-F238E27FC236}">
                    <a16:creationId xmlns:a16="http://schemas.microsoft.com/office/drawing/2014/main" id="{FFB25121-ADD1-4353-9F04-7061AB6858D4}"/>
                  </a:ext>
                </a:extLst>
              </p:cNvPr>
              <p:cNvSpPr txBox="1">
                <a:spLocks noRot="1" noChangeAspect="1" noMove="1" noResize="1" noEditPoints="1" noAdjustHandles="1" noChangeArrowheads="1" noChangeShapeType="1" noTextEdit="1"/>
              </p:cNvSpPr>
              <p:nvPr/>
            </p:nvSpPr>
            <p:spPr>
              <a:xfrm>
                <a:off x="1558908" y="4185867"/>
                <a:ext cx="7257546" cy="648144"/>
              </a:xfrm>
              <a:prstGeom prst="rect">
                <a:avLst/>
              </a:prstGeom>
              <a:blipFill>
                <a:blip r:embed="rId7"/>
                <a:stretch>
                  <a:fillRect l="-756" t="-3774" b="-160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FD91BD49-9C1D-47C1-AD91-3F001C49D44F}"/>
                  </a:ext>
                </a:extLst>
              </p:cNvPr>
              <p:cNvSpPr txBox="1">
                <a:spLocks/>
              </p:cNvSpPr>
              <p:nvPr/>
            </p:nvSpPr>
            <p:spPr>
              <a:xfrm>
                <a:off x="319463" y="5251494"/>
                <a:ext cx="9722788" cy="6481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0" indent="-457200">
                  <a:lnSpc>
                    <a:spcPct val="100000"/>
                  </a:lnSpc>
                  <a:buFont typeface="+mj-lt"/>
                  <a:buAutoNum type="arabicPeriod" startAt="4"/>
                  <a:defRPr/>
                </a:pPr>
                <a:r>
                  <a:rPr kumimoji="1" lang="en-NZ" altLang="ja-JP" sz="20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Can we use what we know about the sampling distribution and standard error of </a:t>
                </a:r>
                <a14:m>
                  <m:oMath xmlns:m="http://schemas.openxmlformats.org/officeDocument/2006/math">
                    <m:acc>
                      <m:accPr>
                        <m:chr m:val="̂"/>
                        <m:ctrlPr>
                          <a:rPr lang="en-NZ" altLang="ja-JP" sz="2000" b="1" i="1" smtClean="0">
                            <a:solidFill>
                              <a:schemeClr val="bg2">
                                <a:lumMod val="25000"/>
                              </a:schemeClr>
                            </a:solidFill>
                            <a:latin typeface="Cambria Math" panose="02040503050406030204" pitchFamily="18" charset="0"/>
                          </a:rPr>
                        </m:ctrlPr>
                      </m:accPr>
                      <m:e>
                        <m:r>
                          <a:rPr lang="en-NZ" altLang="ja-JP" sz="2000" b="1" i="1">
                            <a:solidFill>
                              <a:schemeClr val="bg2">
                                <a:lumMod val="25000"/>
                              </a:schemeClr>
                            </a:solidFill>
                            <a:latin typeface="Cambria Math" panose="02040503050406030204" pitchFamily="18" charset="0"/>
                          </a:rPr>
                          <m:t>𝜽</m:t>
                        </m:r>
                      </m:e>
                    </m:acc>
                  </m:oMath>
                </a14:m>
                <a:r>
                  <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to</a:t>
                </a:r>
                <a:r>
                  <a:rPr kumimoji="1" lang="en-US" altLang="ja-JP" sz="20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br>
                  <a:rPr kumimoji="1" lang="en-US" altLang="ja-JP" sz="20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br>
                <a:r>
                  <a:rPr kumimoji="1" lang="en-US" altLang="ja-JP" sz="20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create a confidence interval for </a:t>
                </a:r>
                <a14:m>
                  <m:oMath xmlns:m="http://schemas.openxmlformats.org/officeDocument/2006/math">
                    <m:r>
                      <a:rPr kumimoji="1" lang="en-NZ" altLang="ja-JP" sz="20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US"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20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a:t>
                </a:r>
              </a:p>
            </p:txBody>
          </p:sp>
        </mc:Choice>
        <mc:Fallback xmlns="">
          <p:sp>
            <p:nvSpPr>
              <p:cNvPr id="15" name="Text Placeholder 5">
                <a:extLst>
                  <a:ext uri="{FF2B5EF4-FFF2-40B4-BE49-F238E27FC236}">
                    <a16:creationId xmlns:a16="http://schemas.microsoft.com/office/drawing/2014/main" id="{FD91BD49-9C1D-47C1-AD91-3F001C49D44F}"/>
                  </a:ext>
                </a:extLst>
              </p:cNvPr>
              <p:cNvSpPr txBox="1">
                <a:spLocks noRot="1" noChangeAspect="1" noMove="1" noResize="1" noEditPoints="1" noAdjustHandles="1" noChangeArrowheads="1" noChangeShapeType="1" noTextEdit="1"/>
              </p:cNvSpPr>
              <p:nvPr/>
            </p:nvSpPr>
            <p:spPr>
              <a:xfrm>
                <a:off x="319463" y="5251494"/>
                <a:ext cx="9722788" cy="648144"/>
              </a:xfrm>
              <a:prstGeom prst="rect">
                <a:avLst/>
              </a:prstGeom>
              <a:blipFill>
                <a:blip r:embed="rId8"/>
                <a:stretch>
                  <a:fillRect l="-690" t="-6542" b="-26168"/>
                </a:stretch>
              </a:blipFill>
            </p:spPr>
            <p:txBody>
              <a:bodyPr/>
              <a:lstStyle/>
              <a:p>
                <a:r>
                  <a:rPr lang="en-NZ">
                    <a:noFill/>
                  </a:rPr>
                  <a:t> </a:t>
                </a:r>
              </a:p>
            </p:txBody>
          </p:sp>
        </mc:Fallback>
      </mc:AlternateContent>
      <p:sp>
        <p:nvSpPr>
          <p:cNvPr id="2" name="Right Brace 1">
            <a:extLst>
              <a:ext uri="{FF2B5EF4-FFF2-40B4-BE49-F238E27FC236}">
                <a16:creationId xmlns:a16="http://schemas.microsoft.com/office/drawing/2014/main" id="{B7F291D4-CCD1-4D23-986E-619519A3E25E}"/>
              </a:ext>
            </a:extLst>
          </p:cNvPr>
          <p:cNvSpPr/>
          <p:nvPr/>
        </p:nvSpPr>
        <p:spPr>
          <a:xfrm>
            <a:off x="10042251" y="958362"/>
            <a:ext cx="382137" cy="522429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41248ADF-17C5-4725-A081-0359B247456C}"/>
                  </a:ext>
                </a:extLst>
              </p:cNvPr>
              <p:cNvSpPr txBox="1">
                <a:spLocks/>
              </p:cNvSpPr>
              <p:nvPr/>
            </p:nvSpPr>
            <p:spPr>
              <a:xfrm>
                <a:off x="10424388" y="2817776"/>
                <a:ext cx="1503755" cy="15631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US" altLang="ja-JP" sz="18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How reliable is our sample statistic </a:t>
                </a:r>
                <a14:m>
                  <m:oMath xmlns:m="http://schemas.openxmlformats.org/officeDocument/2006/math">
                    <m:acc>
                      <m:accPr>
                        <m:chr m:val="̂"/>
                        <m:ctrlPr>
                          <a:rPr lang="en-NZ" altLang="ja-JP" sz="1800" b="1" i="1" smtClean="0">
                            <a:solidFill>
                              <a:srgbClr val="C00000"/>
                            </a:solidFill>
                            <a:latin typeface="Cambria Math" panose="02040503050406030204" pitchFamily="18" charset="0"/>
                          </a:rPr>
                        </m:ctrlPr>
                      </m:accPr>
                      <m:e>
                        <m:r>
                          <a:rPr lang="en-NZ" altLang="ja-JP" sz="1800" b="1" i="1">
                            <a:solidFill>
                              <a:srgbClr val="C00000"/>
                            </a:solidFill>
                            <a:latin typeface="Cambria Math" panose="02040503050406030204" pitchFamily="18" charset="0"/>
                          </a:rPr>
                          <m:t>𝜽</m:t>
                        </m:r>
                      </m:e>
                    </m:acc>
                  </m:oMath>
                </a14:m>
                <a:r>
                  <a:rPr kumimoji="1" lang="en-US" altLang="ja-JP" sz="1800" i="1"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a:t>
                </a:r>
                <a:r>
                  <a:rPr kumimoji="1" lang="en-US" altLang="ja-JP" sz="18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as an estimate of </a:t>
                </a:r>
                <a14:m>
                  <m:oMath xmlns:m="http://schemas.openxmlformats.org/officeDocument/2006/math">
                    <m:r>
                      <a:rPr lang="en-NZ" altLang="ja-JP" sz="1800" b="1" i="1">
                        <a:solidFill>
                          <a:srgbClr val="C00000"/>
                        </a:solidFill>
                        <a:latin typeface="Cambria Math" panose="02040503050406030204" pitchFamily="18" charset="0"/>
                      </a:rPr>
                      <m:t>𝜽</m:t>
                    </m:r>
                  </m:oMath>
                </a14:m>
                <a:r>
                  <a:rPr lang="en-US" altLang="ja-JP" sz="1800" b="1" i="1" dirty="0">
                    <a:solidFill>
                      <a:srgbClr val="C00000"/>
                    </a:solidFill>
                  </a:rPr>
                  <a:t> </a:t>
                </a:r>
                <a:r>
                  <a:rPr lang="en-US" altLang="ja-JP" sz="1800" dirty="0">
                    <a:solidFill>
                      <a:srgbClr val="C00000"/>
                    </a:solidFill>
                  </a:rPr>
                  <a:t>?</a:t>
                </a:r>
                <a:endParaRPr kumimoji="1" lang="en-US" altLang="ja-JP" sz="1800" i="1"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17" name="Text Placeholder 5">
                <a:extLst>
                  <a:ext uri="{FF2B5EF4-FFF2-40B4-BE49-F238E27FC236}">
                    <a16:creationId xmlns:a16="http://schemas.microsoft.com/office/drawing/2014/main" id="{41248ADF-17C5-4725-A081-0359B247456C}"/>
                  </a:ext>
                </a:extLst>
              </p:cNvPr>
              <p:cNvSpPr txBox="1">
                <a:spLocks noRot="1" noChangeAspect="1" noMove="1" noResize="1" noEditPoints="1" noAdjustHandles="1" noChangeArrowheads="1" noChangeShapeType="1" noTextEdit="1"/>
              </p:cNvSpPr>
              <p:nvPr/>
            </p:nvSpPr>
            <p:spPr>
              <a:xfrm>
                <a:off x="10424388" y="2817776"/>
                <a:ext cx="1503755" cy="1563156"/>
              </a:xfrm>
              <a:prstGeom prst="rect">
                <a:avLst/>
              </a:prstGeom>
              <a:blipFill>
                <a:blip r:embed="rId9"/>
                <a:stretch>
                  <a:fillRect l="-3239" t="-1946" r="-1215" b="-389"/>
                </a:stretch>
              </a:blipFill>
            </p:spPr>
            <p:txBody>
              <a:bodyPr/>
              <a:lstStyle/>
              <a:p>
                <a:r>
                  <a:rPr lang="en-NZ">
                    <a:noFill/>
                  </a:rPr>
                  <a:t> </a:t>
                </a:r>
              </a:p>
            </p:txBody>
          </p:sp>
        </mc:Fallback>
      </mc:AlternateContent>
    </p:spTree>
    <p:extLst>
      <p:ext uri="{BB962C8B-B14F-4D97-AF65-F5344CB8AC3E}">
        <p14:creationId xmlns:p14="http://schemas.microsoft.com/office/powerpoint/2010/main" val="156691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4" grpId="0"/>
      <p:bldP spid="15" grpId="0"/>
      <p:bldP spid="2" grpId="0" animBg="1"/>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.1b – Notation, SE &amp;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Examples: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291660" y="2684958"/>
            <a:ext cx="11608680" cy="14880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40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Let’s make all this a little more concrete with a couple of examples.</a:t>
            </a:r>
            <a:endParaRPr lang="en-NZ" altLang="ja-JP" sz="4000" b="1" i="1" dirty="0">
              <a:solidFill>
                <a:schemeClr val="tx1"/>
              </a:solidFill>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40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endParaRPr kumimoji="1" lang="en-US" altLang="ja-JP" sz="40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1175591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.1b – Notation, SE &amp;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3515558"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Examples: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0E2EE3A6-D664-46DE-A1AF-EB8D0A913878}"/>
                  </a:ext>
                </a:extLst>
              </p:cNvPr>
              <p:cNvSpPr txBox="1">
                <a:spLocks/>
              </p:cNvSpPr>
              <p:nvPr/>
            </p:nvSpPr>
            <p:spPr>
              <a:xfrm>
                <a:off x="319463" y="915230"/>
                <a:ext cx="11608680" cy="7103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The weights of bags of sugar coming off a production line are known to have a variance of </a:t>
                </a:r>
                <a14:m>
                  <m:oMath xmlns:m="http://schemas.openxmlformats.org/officeDocument/2006/math">
                    <m:sSup>
                      <m:sSup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rPr>
                        </m:ctrlPr>
                      </m:sSup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rPr>
                          <m:t>𝝈</m:t>
                        </m:r>
                      </m:e>
                      <m:sup>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rPr>
                          <m:t>𝟐</m:t>
                        </m:r>
                      </m:sup>
                    </m:sSup>
                  </m:oMath>
                </a14:m>
                <a:r>
                  <a:rPr lang="en-NZ" altLang="ja-JP" sz="1800" b="1" i="1" dirty="0">
                    <a:solidFill>
                      <a:srgbClr val="0070C0"/>
                    </a:solidFill>
                  </a:rPr>
                  <a:t> </a:t>
                </a:r>
                <a:r>
                  <a:rPr lang="en-NZ" altLang="ja-JP" sz="1800" b="1" dirty="0">
                    <a:solidFill>
                      <a:srgbClr val="0070C0"/>
                    </a:solidFill>
                  </a:rPr>
                  <a:t>= 225 </a:t>
                </a:r>
                <a:r>
                  <a:rPr lang="en-NZ" altLang="ja-JP" sz="1800" dirty="0">
                    <a:solidFill>
                      <a:srgbClr val="0070C0"/>
                    </a:solidFill>
                  </a:rPr>
                  <a:t>but have an unknown mean </a:t>
                </a:r>
                <a14:m>
                  <m:oMath xmlns:m="http://schemas.openxmlformats.org/officeDocument/2006/math">
                    <m:r>
                      <a:rPr lang="en-NZ" altLang="ja-JP" sz="1800" b="1" i="1" smtClean="0">
                        <a:solidFill>
                          <a:srgbClr val="0070C0"/>
                        </a:solidFill>
                        <a:latin typeface="Cambria Math" panose="02040503050406030204" pitchFamily="18" charset="0"/>
                      </a:rPr>
                      <m:t>𝜽</m:t>
                    </m:r>
                  </m:oMath>
                </a14:m>
                <a:r>
                  <a:rPr kumimoji="1" lang="en-US" altLang="ja-JP" sz="180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 A sample of </a:t>
                </a:r>
                <a:r>
                  <a:rPr kumimoji="1" lang="en-US"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n</a:t>
                </a:r>
                <a:r>
                  <a:rPr kumimoji="1" lang="en-US" altLang="ja-JP" sz="1800" b="1" i="1"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rPr>
                  <a:t> </a:t>
                </a:r>
                <a:r>
                  <a:rPr kumimoji="1" lang="en-US" altLang="ja-JP" sz="1800" b="1"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rPr>
                  <a:t>= 400 </a:t>
                </a:r>
                <a:r>
                  <a:rPr kumimoji="1" lang="en-US" altLang="ja-JP" sz="180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rPr>
                  <a:t>bags is taken and found to have a mean weight of </a:t>
                </a:r>
                <a:r>
                  <a:rPr kumimoji="1" lang="en-US" altLang="ja-JP" sz="1800" b="1"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rPr>
                  <a:t>982g</a:t>
                </a:r>
                <a:r>
                  <a:rPr kumimoji="1" lang="en-US" altLang="ja-JP" sz="180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rPr>
                  <a:t>. </a:t>
                </a:r>
                <a:endPar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xmlns="">
          <p:sp>
            <p:nvSpPr>
              <p:cNvPr id="8" name="Text Placeholder 5">
                <a:extLst>
                  <a:ext uri="{FF2B5EF4-FFF2-40B4-BE49-F238E27FC236}">
                    <a16:creationId xmlns:a16="http://schemas.microsoft.com/office/drawing/2014/main" id="{0E2EE3A6-D664-46DE-A1AF-EB8D0A913878}"/>
                  </a:ext>
                </a:extLst>
              </p:cNvPr>
              <p:cNvSpPr txBox="1">
                <a:spLocks noRot="1" noChangeAspect="1" noMove="1" noResize="1" noEditPoints="1" noAdjustHandles="1" noChangeArrowheads="1" noChangeShapeType="1" noTextEdit="1"/>
              </p:cNvSpPr>
              <p:nvPr/>
            </p:nvSpPr>
            <p:spPr>
              <a:xfrm>
                <a:off x="319463" y="915230"/>
                <a:ext cx="11608680" cy="710311"/>
              </a:xfrm>
              <a:prstGeom prst="rect">
                <a:avLst/>
              </a:prstGeom>
              <a:blipFill>
                <a:blip r:embed="rId3"/>
                <a:stretch>
                  <a:fillRect l="-420" t="-3419" r="-420" b="-4274"/>
                </a:stretch>
              </a:blipFill>
            </p:spPr>
            <p:txBody>
              <a:bodyPr/>
              <a:lstStyle/>
              <a:p>
                <a:r>
                  <a:rPr lang="en-NZ">
                    <a:noFill/>
                  </a:rPr>
                  <a:t> </a:t>
                </a:r>
              </a:p>
            </p:txBody>
          </p:sp>
        </mc:Fallback>
      </mc:AlternateContent>
      <p:sp>
        <p:nvSpPr>
          <p:cNvPr id="10" name="Text Placeholder 5">
            <a:extLst>
              <a:ext uri="{FF2B5EF4-FFF2-40B4-BE49-F238E27FC236}">
                <a16:creationId xmlns:a16="http://schemas.microsoft.com/office/drawing/2014/main" id="{0711D1B5-43CC-4AC6-8379-C54F508BD75E}"/>
              </a:ext>
            </a:extLst>
          </p:cNvPr>
          <p:cNvSpPr txBox="1">
            <a:spLocks/>
          </p:cNvSpPr>
          <p:nvPr/>
        </p:nvSpPr>
        <p:spPr>
          <a:xfrm>
            <a:off x="726344" y="1628905"/>
            <a:ext cx="3954838" cy="362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X</a:t>
            </a:r>
            <a:r>
              <a:rPr kumimoji="1" lang="en-US"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Weights of bags of sugar</a:t>
            </a:r>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F0DDBA2E-D10A-4FDA-8D4E-E2AC02BA75CA}"/>
                  </a:ext>
                </a:extLst>
              </p:cNvPr>
              <p:cNvSpPr txBox="1">
                <a:spLocks/>
              </p:cNvSpPr>
              <p:nvPr/>
            </p:nvSpPr>
            <p:spPr>
              <a:xfrm>
                <a:off x="726344" y="2066457"/>
                <a:ext cx="395483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US"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Mean weight</a:t>
                </a:r>
                <a:r>
                  <a:rPr kumimoji="1" lang="en-US" altLang="ja-JP" sz="16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of the bags</a:t>
                </a:r>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1" name="Text Placeholder 5">
                <a:extLst>
                  <a:ext uri="{FF2B5EF4-FFF2-40B4-BE49-F238E27FC236}">
                    <a16:creationId xmlns:a16="http://schemas.microsoft.com/office/drawing/2014/main" id="{F0DDBA2E-D10A-4FDA-8D4E-E2AC02BA75CA}"/>
                  </a:ext>
                </a:extLst>
              </p:cNvPr>
              <p:cNvSpPr txBox="1">
                <a:spLocks noRot="1" noChangeAspect="1" noMove="1" noResize="1" noEditPoints="1" noAdjustHandles="1" noChangeArrowheads="1" noChangeShapeType="1" noTextEdit="1"/>
              </p:cNvSpPr>
              <p:nvPr/>
            </p:nvSpPr>
            <p:spPr>
              <a:xfrm>
                <a:off x="726344" y="2066457"/>
                <a:ext cx="3954838" cy="507731"/>
              </a:xfrm>
              <a:prstGeom prst="rect">
                <a:avLst/>
              </a:prstGeom>
              <a:blipFill>
                <a:blip r:embed="rId4"/>
                <a:stretch>
                  <a:fillRect t="-361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F2D5497B-E988-46E7-979B-544E5B92F998}"/>
                  </a:ext>
                </a:extLst>
              </p:cNvPr>
              <p:cNvSpPr txBox="1">
                <a:spLocks/>
              </p:cNvSpPr>
              <p:nvPr/>
            </p:nvSpPr>
            <p:spPr>
              <a:xfrm>
                <a:off x="726344" y="2402837"/>
                <a:ext cx="8827089" cy="57973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US" altLang="ja-JP" sz="1600" u="none" strike="noStrike" kern="1200" cap="none" spc="0" normalizeH="0" baseline="0" noProof="0" dirty="0">
                    <a:ln>
                      <a:noFill/>
                    </a:ln>
                    <a:solidFill>
                      <a:prstClr val="black"/>
                    </a:solidFill>
                    <a:effectLst/>
                    <a:uLnTx/>
                    <a:uFillTx/>
                    <a:ea typeface="游ゴシック" panose="020B0400000000000000" pitchFamily="34" charset="-128"/>
                  </a:rPr>
                  <a:t>In this case our point estimate of </a:t>
                </a:r>
                <a14:m>
                  <m:oMath xmlns:m="http://schemas.openxmlformats.org/officeDocument/2006/math">
                    <m:r>
                      <a:rPr lang="en-NZ" altLang="ja-JP" sz="1600" b="1" i="1">
                        <a:solidFill>
                          <a:prstClr val="black"/>
                        </a:solidFill>
                        <a:latin typeface="Cambria Math" panose="02040503050406030204" pitchFamily="18" charset="0"/>
                      </a:rPr>
                      <m:t>𝜽</m:t>
                    </m:r>
                  </m:oMath>
                </a14:m>
                <a:r>
                  <a:rPr kumimoji="1" lang="en-US" altLang="ja-JP" sz="1600" u="none" strike="noStrike" kern="1200" cap="none" spc="0" normalizeH="0" baseline="0" noProof="0" dirty="0">
                    <a:ln>
                      <a:noFill/>
                    </a:ln>
                    <a:solidFill>
                      <a:prstClr val="black"/>
                    </a:solidFill>
                    <a:effectLst/>
                    <a:uLnTx/>
                    <a:uFillTx/>
                    <a:ea typeface="游ゴシック" panose="020B0400000000000000" pitchFamily="34" charset="-128"/>
                  </a:rPr>
                  <a:t> is  given by  </a:t>
                </a:r>
                <a14:m>
                  <m:oMath xmlns:m="http://schemas.openxmlformats.org/officeDocument/2006/math">
                    <m:acc>
                      <m:accPr>
                        <m:chr m:val="̂"/>
                        <m:ctrlPr>
                          <a:rPr kumimoji="1" lang="en-US"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acc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e>
                    </m:acc>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nary>
                          <m:naryPr>
                            <m: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r>
                              <m:rPr>
                                <m:brk m:alnAt="23"/>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𝒏</m:t>
                            </m:r>
                          </m:sup>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e>
                        </m:nary>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𝒏</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ctrlPr>
                          <a:rPr lang="en-NZ" altLang="ja-JP" sz="1600" b="1" i="1">
                            <a:solidFill>
                              <a:prstClr val="black"/>
                            </a:solidFill>
                            <a:latin typeface="Cambria Math" panose="02040503050406030204" pitchFamily="18" charset="0"/>
                          </a:rPr>
                        </m:ctrlPr>
                      </m:fPr>
                      <m:num>
                        <m:nary>
                          <m:naryPr>
                            <m:chr m:val="∑"/>
                            <m:ctrlPr>
                              <a:rPr lang="en-NZ" altLang="ja-JP" sz="1600" b="1" i="1">
                                <a:solidFill>
                                  <a:prstClr val="black"/>
                                </a:solidFill>
                                <a:latin typeface="Cambria Math" panose="02040503050406030204" pitchFamily="18" charset="0"/>
                              </a:rPr>
                            </m:ctrlPr>
                          </m:naryPr>
                          <m:sub>
                            <m:r>
                              <m:rPr>
                                <m:brk m:alnAt="23"/>
                              </m:rPr>
                              <a:rPr lang="en-NZ" altLang="ja-JP" sz="1600" b="1" i="1">
                                <a:solidFill>
                                  <a:prstClr val="black"/>
                                </a:solidFill>
                                <a:latin typeface="Cambria Math" panose="02040503050406030204" pitchFamily="18" charset="0"/>
                              </a:rPr>
                              <m:t>𝒊</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sub>
                          <m:sup>
                            <m:r>
                              <a:rPr lang="en-NZ" altLang="ja-JP" sz="1600" b="1" i="1" smtClean="0">
                                <a:solidFill>
                                  <a:prstClr val="black"/>
                                </a:solidFill>
                                <a:latin typeface="Cambria Math" panose="02040503050406030204" pitchFamily="18" charset="0"/>
                              </a:rPr>
                              <m:t>𝟒𝟎𝟎</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𝒊</m:t>
                                </m:r>
                              </m:sub>
                            </m:sSub>
                          </m:e>
                        </m:nary>
                      </m:num>
                      <m:den>
                        <m:r>
                          <a:rPr lang="en-NZ" altLang="ja-JP" sz="1600" b="1" i="1" smtClean="0">
                            <a:solidFill>
                              <a:prstClr val="black"/>
                            </a:solidFill>
                            <a:latin typeface="Cambria Math" panose="02040503050406030204" pitchFamily="18" charset="0"/>
                          </a:rPr>
                          <m:t>𝟒𝟎𝟎</m:t>
                        </m:r>
                      </m:den>
                    </m:f>
                    <m:r>
                      <a:rPr lang="en-NZ" altLang="ja-JP" sz="1600" b="1" i="1" smtClean="0">
                        <a:solidFill>
                          <a:prstClr val="black"/>
                        </a:solidFill>
                        <a:latin typeface="Cambria Math" panose="02040503050406030204" pitchFamily="18" charset="0"/>
                      </a:rPr>
                      <m:t>  =   </m:t>
                    </m:r>
                    <m:r>
                      <a:rPr lang="en-NZ" altLang="ja-JP" sz="1600" b="1" i="1" smtClean="0">
                        <a:solidFill>
                          <a:prstClr val="black"/>
                        </a:solidFill>
                        <a:latin typeface="Cambria Math" panose="02040503050406030204" pitchFamily="18" charset="0"/>
                      </a:rPr>
                      <m:t>𝟗𝟖𝟐</m:t>
                    </m:r>
                  </m:oMath>
                </a14:m>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2" name="Text Placeholder 5">
                <a:extLst>
                  <a:ext uri="{FF2B5EF4-FFF2-40B4-BE49-F238E27FC236}">
                    <a16:creationId xmlns:a16="http://schemas.microsoft.com/office/drawing/2014/main" id="{F2D5497B-E988-46E7-979B-544E5B92F998}"/>
                  </a:ext>
                </a:extLst>
              </p:cNvPr>
              <p:cNvSpPr txBox="1">
                <a:spLocks noRot="1" noChangeAspect="1" noMove="1" noResize="1" noEditPoints="1" noAdjustHandles="1" noChangeArrowheads="1" noChangeShapeType="1" noTextEdit="1"/>
              </p:cNvSpPr>
              <p:nvPr/>
            </p:nvSpPr>
            <p:spPr>
              <a:xfrm>
                <a:off x="726344" y="2402837"/>
                <a:ext cx="8827089" cy="579735"/>
              </a:xfrm>
              <a:prstGeom prst="rect">
                <a:avLst/>
              </a:prstGeom>
              <a:blipFill>
                <a:blip r:embed="rId5"/>
                <a:stretch>
                  <a:fillRect l="-345" t="-37895" b="-25263"/>
                </a:stretch>
              </a:blipFill>
            </p:spPr>
            <p:txBody>
              <a:bodyPr/>
              <a:lstStyle/>
              <a:p>
                <a:r>
                  <a:rPr lang="en-NZ">
                    <a:noFill/>
                  </a:rPr>
                  <a:t> </a:t>
                </a:r>
              </a:p>
            </p:txBody>
          </p:sp>
        </mc:Fallback>
      </mc:AlternateContent>
      <p:sp>
        <p:nvSpPr>
          <p:cNvPr id="13" name="Text Placeholder 5">
            <a:extLst>
              <a:ext uri="{FF2B5EF4-FFF2-40B4-BE49-F238E27FC236}">
                <a16:creationId xmlns:a16="http://schemas.microsoft.com/office/drawing/2014/main" id="{D9A85AE6-1422-44DC-879D-6A62DA0EB4DC}"/>
              </a:ext>
            </a:extLst>
          </p:cNvPr>
          <p:cNvSpPr txBox="1">
            <a:spLocks/>
          </p:cNvSpPr>
          <p:nvPr/>
        </p:nvSpPr>
        <p:spPr>
          <a:xfrm>
            <a:off x="726344" y="2986401"/>
            <a:ext cx="10587650" cy="3836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600" u="none" strike="noStrike" kern="1200" cap="none" spc="0" normalizeH="0" baseline="0" noProof="0" dirty="0">
                <a:ln>
                  <a:noFill/>
                </a:ln>
                <a:solidFill>
                  <a:prstClr val="black"/>
                </a:solidFill>
                <a:effectLst/>
                <a:uLnTx/>
                <a:uFillTx/>
                <a:ea typeface="游ゴシック" panose="020B0400000000000000" pitchFamily="34" charset="-128"/>
              </a:rPr>
              <a:t>We know from standard results on the expectation and variance of sums of </a:t>
            </a:r>
            <a:r>
              <a:rPr kumimoji="1" lang="en-NZ" altLang="ja-JP" sz="1600" u="none" strike="noStrike" kern="1200" cap="none" spc="0" normalizeH="0" baseline="0" noProof="0" dirty="0" err="1">
                <a:ln>
                  <a:noFill/>
                </a:ln>
                <a:solidFill>
                  <a:prstClr val="black"/>
                </a:solidFill>
                <a:effectLst/>
                <a:uLnTx/>
                <a:uFillTx/>
                <a:ea typeface="游ゴシック" panose="020B0400000000000000" pitchFamily="34" charset="-128"/>
              </a:rPr>
              <a:t>i.i.d</a:t>
            </a:r>
            <a:r>
              <a:rPr kumimoji="1" lang="en-NZ" altLang="ja-JP" sz="1600" u="none" strike="noStrike" kern="1200" cap="none" spc="0" normalizeH="0" baseline="0" noProof="0" dirty="0">
                <a:ln>
                  <a:noFill/>
                </a:ln>
                <a:solidFill>
                  <a:prstClr val="black"/>
                </a:solidFill>
                <a:effectLst/>
                <a:uLnTx/>
                <a:uFillTx/>
                <a:ea typeface="游ゴシック" panose="020B0400000000000000" pitchFamily="34" charset="-128"/>
              </a:rPr>
              <a:t> variables</a:t>
            </a:r>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CDC2772A-496A-4F4A-8F84-4BDF9E86C38D}"/>
                  </a:ext>
                </a:extLst>
              </p:cNvPr>
              <p:cNvSpPr txBox="1">
                <a:spLocks/>
              </p:cNvSpPr>
              <p:nvPr/>
            </p:nvSpPr>
            <p:spPr>
              <a:xfrm>
                <a:off x="1610436" y="3422182"/>
                <a:ext cx="9703558" cy="4588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r>
                      <a:rPr lang="en-NZ" altLang="ja-JP" sz="1600" b="1" i="1" smtClean="0">
                        <a:solidFill>
                          <a:schemeClr val="tx1"/>
                        </a:solidFill>
                        <a:latin typeface="Cambria Math" panose="02040503050406030204" pitchFamily="18" charset="0"/>
                      </a:rPr>
                      <m:t>𝑬</m:t>
                    </m:r>
                    <m:d>
                      <m:dPr>
                        <m:begChr m:val="["/>
                        <m:endChr m:val="]"/>
                        <m:ctrlPr>
                          <a:rPr lang="en-NZ" altLang="ja-JP" sz="1600" b="1" i="1" smtClean="0">
                            <a:solidFill>
                              <a:schemeClr val="tx1"/>
                            </a:solidFill>
                            <a:latin typeface="Cambria Math" panose="02040503050406030204" pitchFamily="18" charset="0"/>
                          </a:rPr>
                        </m:ctrlPr>
                      </m:dPr>
                      <m:e>
                        <m:acc>
                          <m:accPr>
                            <m:chr m:val="̂"/>
                            <m:ctrlPr>
                              <a:rPr lang="en-US" altLang="ja-JP" sz="1600" b="1" i="1">
                                <a:solidFill>
                                  <a:prstClr val="black"/>
                                </a:solidFill>
                                <a:latin typeface="Cambria Math" panose="02040503050406030204" pitchFamily="18" charset="0"/>
                              </a:rPr>
                            </m:ctrlPr>
                          </m:accPr>
                          <m:e>
                            <m:r>
                              <a:rPr lang="en-NZ" altLang="ja-JP" sz="1600" b="1" i="1">
                                <a:solidFill>
                                  <a:prstClr val="black"/>
                                </a:solidFill>
                                <a:latin typeface="Cambria Math" panose="02040503050406030204" pitchFamily="18" charset="0"/>
                              </a:rPr>
                              <m:t>𝜽</m:t>
                            </m:r>
                          </m:e>
                        </m:acc>
                      </m:e>
                    </m:d>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𝑬</m:t>
                    </m:r>
                    <m:d>
                      <m:dPr>
                        <m:begChr m:val="["/>
                        <m:endChr m:val="]"/>
                        <m:ctrlPr>
                          <a:rPr lang="en-NZ" altLang="ja-JP" sz="1600" b="1" i="1" smtClean="0">
                            <a:solidFill>
                              <a:schemeClr val="tx1"/>
                            </a:solidFill>
                            <a:latin typeface="Cambria Math" panose="02040503050406030204" pitchFamily="18" charset="0"/>
                          </a:rPr>
                        </m:ctrlPr>
                      </m:dPr>
                      <m:e>
                        <m:f>
                          <m:fPr>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𝟏</m:t>
                            </m:r>
                          </m:num>
                          <m:den>
                            <m:r>
                              <a:rPr lang="en-NZ" altLang="ja-JP" sz="1600" b="1" i="1" smtClean="0">
                                <a:solidFill>
                                  <a:schemeClr val="tx1"/>
                                </a:solidFill>
                                <a:latin typeface="Cambria Math" panose="02040503050406030204" pitchFamily="18" charset="0"/>
                              </a:rPr>
                              <m:t>𝒏</m:t>
                            </m:r>
                          </m:den>
                        </m:f>
                        <m:r>
                          <a:rPr lang="en-NZ" altLang="ja-JP" sz="1600" b="1" i="1" smtClean="0">
                            <a:solidFill>
                              <a:schemeClr val="tx1"/>
                            </a:solidFill>
                            <a:latin typeface="Cambria Math" panose="02040503050406030204" pitchFamily="18" charset="0"/>
                          </a:rPr>
                          <m:t> </m:t>
                        </m:r>
                        <m:nary>
                          <m:naryPr>
                            <m:chr m:val="∑"/>
                            <m:ctrlPr>
                              <a:rPr lang="en-NZ" altLang="ja-JP" sz="1600" b="1" i="1" smtClean="0">
                                <a:solidFill>
                                  <a:schemeClr val="tx1"/>
                                </a:solidFill>
                                <a:latin typeface="Cambria Math" panose="02040503050406030204" pitchFamily="18" charset="0"/>
                              </a:rPr>
                            </m:ctrlPr>
                          </m:naryPr>
                          <m:sub>
                            <m:r>
                              <m:rPr>
                                <m:brk m:alnAt="23"/>
                              </m:rP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sub>
                          <m:sup>
                            <m:r>
                              <a:rPr lang="en-NZ" altLang="ja-JP" sz="1600" b="1" i="1" smtClean="0">
                                <a:solidFill>
                                  <a:schemeClr val="tx1"/>
                                </a:solidFill>
                                <a:latin typeface="Cambria Math" panose="02040503050406030204" pitchFamily="18" charset="0"/>
                              </a:rPr>
                              <m:t>𝒏</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𝒊</m:t>
                                </m:r>
                              </m:sub>
                            </m:sSub>
                          </m:e>
                        </m:nary>
                      </m:e>
                    </m:d>
                    <m:r>
                      <a:rPr lang="en-NZ" altLang="ja-JP" sz="1600" b="1" i="1">
                        <a:solidFill>
                          <a:schemeClr val="tx1"/>
                        </a:solidFill>
                        <a:latin typeface="Cambria Math" panose="02040503050406030204" pitchFamily="18" charset="0"/>
                      </a:rPr>
                      <m:t>  =</m:t>
                    </m:r>
                    <m:f>
                      <m:fPr>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𝟏</m:t>
                        </m:r>
                      </m:num>
                      <m:den>
                        <m:r>
                          <a:rPr lang="en-NZ" altLang="ja-JP" sz="1600" b="1" i="1" smtClean="0">
                            <a:solidFill>
                              <a:schemeClr val="tx1"/>
                            </a:solidFill>
                            <a:latin typeface="Cambria Math" panose="02040503050406030204" pitchFamily="18" charset="0"/>
                          </a:rPr>
                          <m:t>𝒏</m:t>
                        </m:r>
                      </m:den>
                    </m:f>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𝒏</m:t>
                    </m:r>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𝑬</m:t>
                    </m:r>
                    <m:d>
                      <m:dPr>
                        <m:begChr m:val="["/>
                        <m:endChr m:val="]"/>
                        <m:ctrlPr>
                          <a:rPr lang="en-NZ" altLang="ja-JP" sz="1600" b="1" i="1">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𝑿</m:t>
                            </m:r>
                          </m:e>
                          <m:sub>
                            <m:r>
                              <a:rPr lang="en-NZ" altLang="ja-JP" sz="1600" b="1" i="1" smtClean="0">
                                <a:solidFill>
                                  <a:schemeClr val="tx1"/>
                                </a:solidFill>
                                <a:latin typeface="Cambria Math" panose="02040503050406030204" pitchFamily="18" charset="0"/>
                              </a:rPr>
                              <m:t>𝟏</m:t>
                            </m:r>
                          </m:sub>
                        </m:sSub>
                      </m:e>
                    </m:d>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𝜽</m:t>
                    </m:r>
                  </m:oMath>
                </a14:m>
                <a:r>
                  <a:rPr lang="en-US" altLang="ja-JP" sz="1600" b="1" dirty="0">
                    <a:solidFill>
                      <a:schemeClr val="tx1"/>
                    </a:solidFill>
                  </a:rPr>
                  <a:t>                   		</a:t>
                </a:r>
                <a:r>
                  <a:rPr lang="en-US" altLang="ja-JP" sz="1600" i="1" dirty="0">
                    <a:solidFill>
                      <a:schemeClr val="bg2">
                        <a:lumMod val="25000"/>
                      </a:schemeClr>
                    </a:solidFill>
                  </a:rPr>
                  <a:t>(Our sample statistic is unbiased)</a:t>
                </a:r>
                <a:endParaRPr lang="en-US" altLang="ja-JP" sz="1600" dirty="0">
                  <a:solidFill>
                    <a:schemeClr val="tx1"/>
                  </a:solidFill>
                </a:endParaRPr>
              </a:p>
            </p:txBody>
          </p:sp>
        </mc:Choice>
        <mc:Fallback xmlns="">
          <p:sp>
            <p:nvSpPr>
              <p:cNvPr id="14" name="Text Placeholder 5">
                <a:extLst>
                  <a:ext uri="{FF2B5EF4-FFF2-40B4-BE49-F238E27FC236}">
                    <a16:creationId xmlns:a16="http://schemas.microsoft.com/office/drawing/2014/main" id="{CDC2772A-496A-4F4A-8F84-4BDF9E86C38D}"/>
                  </a:ext>
                </a:extLst>
              </p:cNvPr>
              <p:cNvSpPr txBox="1">
                <a:spLocks noRot="1" noChangeAspect="1" noMove="1" noResize="1" noEditPoints="1" noAdjustHandles="1" noChangeArrowheads="1" noChangeShapeType="1" noTextEdit="1"/>
              </p:cNvSpPr>
              <p:nvPr/>
            </p:nvSpPr>
            <p:spPr>
              <a:xfrm>
                <a:off x="1610436" y="3422182"/>
                <a:ext cx="9703558" cy="458895"/>
              </a:xfrm>
              <a:prstGeom prst="rect">
                <a:avLst/>
              </a:prstGeom>
              <a:blipFill>
                <a:blip r:embed="rId6"/>
                <a:stretch>
                  <a:fillRect t="-65789" b="-11184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910A1E0B-8372-4A66-A955-CBFD10BE45D2}"/>
                  </a:ext>
                </a:extLst>
              </p:cNvPr>
              <p:cNvSpPr txBox="1">
                <a:spLocks/>
              </p:cNvSpPr>
              <p:nvPr/>
            </p:nvSpPr>
            <p:spPr>
              <a:xfrm>
                <a:off x="1610436" y="3887798"/>
                <a:ext cx="10478930" cy="4588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Var</a:t>
                </a:r>
                <a14:m>
                  <m:oMath xmlns:m="http://schemas.openxmlformats.org/officeDocument/2006/math">
                    <m:d>
                      <m:dPr>
                        <m:begChr m:val="["/>
                        <m:endChr m:val="]"/>
                        <m:ctrlPr>
                          <a:rPr lang="en-NZ" altLang="ja-JP" sz="1600" b="1" i="1" smtClean="0">
                            <a:solidFill>
                              <a:schemeClr val="tx1"/>
                            </a:solidFill>
                            <a:latin typeface="Cambria Math" panose="02040503050406030204" pitchFamily="18" charset="0"/>
                          </a:rPr>
                        </m:ctrlPr>
                      </m:dPr>
                      <m:e>
                        <m:acc>
                          <m:accPr>
                            <m:chr m:val="̂"/>
                            <m:ctrlPr>
                              <a:rPr lang="en-US" altLang="ja-JP" sz="1600" b="1" i="1">
                                <a:solidFill>
                                  <a:prstClr val="black"/>
                                </a:solidFill>
                                <a:latin typeface="Cambria Math" panose="02040503050406030204" pitchFamily="18" charset="0"/>
                              </a:rPr>
                            </m:ctrlPr>
                          </m:accPr>
                          <m:e>
                            <m:r>
                              <a:rPr lang="en-NZ" altLang="ja-JP" sz="1600" b="1" i="1">
                                <a:solidFill>
                                  <a:prstClr val="black"/>
                                </a:solidFill>
                                <a:latin typeface="Cambria Math" panose="02040503050406030204" pitchFamily="18" charset="0"/>
                              </a:rPr>
                              <m:t>𝜽</m:t>
                            </m:r>
                          </m:e>
                        </m:acc>
                      </m:e>
                    </m:d>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𝑽𝒂𝒓</m:t>
                    </m:r>
                    <m:d>
                      <m:dPr>
                        <m:begChr m:val="["/>
                        <m:endChr m:val="]"/>
                        <m:ctrlPr>
                          <a:rPr lang="en-NZ" altLang="ja-JP" sz="1600" b="1" i="1" smtClean="0">
                            <a:solidFill>
                              <a:schemeClr val="tx1"/>
                            </a:solidFill>
                            <a:latin typeface="Cambria Math" panose="02040503050406030204" pitchFamily="18" charset="0"/>
                          </a:rPr>
                        </m:ctrlPr>
                      </m:dPr>
                      <m:e>
                        <m:f>
                          <m:fPr>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𝟏</m:t>
                            </m:r>
                          </m:num>
                          <m:den>
                            <m:r>
                              <a:rPr lang="en-NZ" altLang="ja-JP" sz="1600" b="1" i="1" smtClean="0">
                                <a:solidFill>
                                  <a:schemeClr val="tx1"/>
                                </a:solidFill>
                                <a:latin typeface="Cambria Math" panose="02040503050406030204" pitchFamily="18" charset="0"/>
                              </a:rPr>
                              <m:t>𝒏</m:t>
                            </m:r>
                          </m:den>
                        </m:f>
                        <m:r>
                          <a:rPr lang="en-NZ" altLang="ja-JP" sz="1600" b="1" i="1" smtClean="0">
                            <a:solidFill>
                              <a:schemeClr val="tx1"/>
                            </a:solidFill>
                            <a:latin typeface="Cambria Math" panose="02040503050406030204" pitchFamily="18" charset="0"/>
                          </a:rPr>
                          <m:t> </m:t>
                        </m:r>
                        <m:nary>
                          <m:naryPr>
                            <m:chr m:val="∑"/>
                            <m:ctrlPr>
                              <a:rPr lang="en-NZ" altLang="ja-JP" sz="1600" b="1" i="1" smtClean="0">
                                <a:solidFill>
                                  <a:schemeClr val="tx1"/>
                                </a:solidFill>
                                <a:latin typeface="Cambria Math" panose="02040503050406030204" pitchFamily="18" charset="0"/>
                              </a:rPr>
                            </m:ctrlPr>
                          </m:naryPr>
                          <m:sub>
                            <m:r>
                              <m:rPr>
                                <m:brk m:alnAt="23"/>
                              </m:rP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sub>
                          <m:sup>
                            <m:r>
                              <a:rPr lang="en-NZ" altLang="ja-JP" sz="1600" b="1" i="1" smtClean="0">
                                <a:solidFill>
                                  <a:schemeClr val="tx1"/>
                                </a:solidFill>
                                <a:latin typeface="Cambria Math" panose="02040503050406030204" pitchFamily="18" charset="0"/>
                              </a:rPr>
                              <m:t>𝒏</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𝒊</m:t>
                                </m:r>
                              </m:sub>
                            </m:sSub>
                          </m:e>
                        </m:nary>
                      </m:e>
                    </m:d>
                    <m:r>
                      <a:rPr lang="en-NZ" altLang="ja-JP" sz="1600" b="1" i="1">
                        <a:solidFill>
                          <a:schemeClr val="tx1"/>
                        </a:solidFill>
                        <a:latin typeface="Cambria Math" panose="02040503050406030204" pitchFamily="18" charset="0"/>
                      </a:rPr>
                      <m:t>  =</m:t>
                    </m:r>
                    <m:f>
                      <m:fPr>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𝟏</m:t>
                        </m:r>
                      </m:num>
                      <m:den>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𝒏</m:t>
                            </m:r>
                          </m:e>
                          <m:sup>
                            <m:r>
                              <a:rPr lang="en-NZ" altLang="ja-JP" sz="1600" b="1" i="1" smtClean="0">
                                <a:solidFill>
                                  <a:schemeClr val="tx1"/>
                                </a:solidFill>
                                <a:latin typeface="Cambria Math" panose="02040503050406030204" pitchFamily="18" charset="0"/>
                              </a:rPr>
                              <m:t>𝟐</m:t>
                            </m:r>
                          </m:sup>
                        </m:sSup>
                      </m:den>
                    </m:f>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𝒏</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𝑽𝒂𝒓</m:t>
                    </m:r>
                    <m:d>
                      <m:dPr>
                        <m:begChr m:val="["/>
                        <m:endChr m:val="]"/>
                        <m:ctrlPr>
                          <a:rPr lang="en-NZ" altLang="ja-JP" sz="1600" b="1" i="1">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𝑿</m:t>
                            </m:r>
                          </m:e>
                          <m:sub>
                            <m:r>
                              <a:rPr lang="en-NZ" altLang="ja-JP" sz="1600" b="1" i="1" smtClean="0">
                                <a:solidFill>
                                  <a:schemeClr val="tx1"/>
                                </a:solidFill>
                                <a:latin typeface="Cambria Math" panose="02040503050406030204" pitchFamily="18" charset="0"/>
                              </a:rPr>
                              <m:t>𝟏</m:t>
                            </m:r>
                          </m:sub>
                        </m:sSub>
                      </m:e>
                    </m:d>
                    <m:r>
                      <a:rPr lang="en-NZ" altLang="ja-JP" sz="1600" b="1" i="1" smtClean="0">
                        <a:solidFill>
                          <a:schemeClr val="tx1"/>
                        </a:solidFill>
                        <a:latin typeface="Cambria Math" panose="02040503050406030204" pitchFamily="18" charset="0"/>
                        <a:ea typeface="Cambria Math" panose="02040503050406030204" pitchFamily="18" charset="0"/>
                      </a:rPr>
                      <m:t>= </m:t>
                    </m:r>
                    <m:f>
                      <m:fPr>
                        <m:ctrlPr>
                          <a:rPr lang="en-NZ" altLang="ja-JP" sz="1600" b="1" i="1" smtClean="0">
                            <a:solidFill>
                              <a:schemeClr val="tx1"/>
                            </a:solidFill>
                            <a:latin typeface="Cambria Math" panose="02040503050406030204" pitchFamily="18" charset="0"/>
                            <a:ea typeface="Cambria Math" panose="02040503050406030204" pitchFamily="18" charset="0"/>
                          </a:rPr>
                        </m:ctrlPr>
                      </m:fPr>
                      <m:num>
                        <m:sSup>
                          <m:sSupPr>
                            <m:ctrlPr>
                              <a:rPr lang="en-NZ" altLang="ja-JP" sz="1600" b="1" i="1" smtClean="0">
                                <a:solidFill>
                                  <a:schemeClr val="tx1"/>
                                </a:solidFill>
                                <a:latin typeface="Cambria Math" panose="02040503050406030204" pitchFamily="18" charset="0"/>
                                <a:ea typeface="Cambria Math" panose="02040503050406030204" pitchFamily="18" charset="0"/>
                              </a:rPr>
                            </m:ctrlPr>
                          </m:sSupPr>
                          <m:e>
                            <m:r>
                              <a:rPr lang="en-NZ" altLang="ja-JP" sz="1600" b="1" i="1" smtClean="0">
                                <a:solidFill>
                                  <a:schemeClr val="tx1"/>
                                </a:solidFill>
                                <a:latin typeface="Cambria Math" panose="02040503050406030204" pitchFamily="18" charset="0"/>
                                <a:ea typeface="Cambria Math" panose="02040503050406030204" pitchFamily="18" charset="0"/>
                              </a:rPr>
                              <m:t>𝝈</m:t>
                            </m:r>
                          </m:e>
                          <m:sup>
                            <m:r>
                              <a:rPr lang="en-NZ" altLang="ja-JP" sz="1600" b="1" i="1" smtClean="0">
                                <a:solidFill>
                                  <a:schemeClr val="tx1"/>
                                </a:solidFill>
                                <a:latin typeface="Cambria Math" panose="02040503050406030204" pitchFamily="18" charset="0"/>
                                <a:ea typeface="Cambria Math" panose="02040503050406030204" pitchFamily="18" charset="0"/>
                              </a:rPr>
                              <m:t>𝟐</m:t>
                            </m:r>
                          </m:sup>
                        </m:sSup>
                      </m:num>
                      <m:den>
                        <m:r>
                          <a:rPr lang="en-NZ" altLang="ja-JP" sz="1600" b="1" i="1" smtClean="0">
                            <a:solidFill>
                              <a:schemeClr val="tx1"/>
                            </a:solidFill>
                            <a:latin typeface="Cambria Math" panose="02040503050406030204" pitchFamily="18" charset="0"/>
                            <a:ea typeface="Cambria Math" panose="02040503050406030204" pitchFamily="18" charset="0"/>
                          </a:rPr>
                          <m:t>𝒏</m:t>
                        </m:r>
                      </m:den>
                    </m:f>
                    <m:r>
                      <a:rPr lang="en-NZ" altLang="ja-JP" sz="1600" b="1" i="1" smtClean="0">
                        <a:solidFill>
                          <a:schemeClr val="tx1"/>
                        </a:solidFill>
                        <a:latin typeface="Cambria Math" panose="02040503050406030204" pitchFamily="18" charset="0"/>
                        <a:ea typeface="Cambria Math" panose="02040503050406030204" pitchFamily="18" charset="0"/>
                      </a:rPr>
                      <m:t>  = </m:t>
                    </m:r>
                    <m:f>
                      <m:fPr>
                        <m:ctrlPr>
                          <a:rPr lang="en-NZ" altLang="ja-JP" sz="1600" b="1" i="1" smtClean="0">
                            <a:solidFill>
                              <a:schemeClr val="tx1"/>
                            </a:solidFill>
                            <a:latin typeface="Cambria Math" panose="02040503050406030204" pitchFamily="18" charset="0"/>
                            <a:ea typeface="Cambria Math" panose="02040503050406030204" pitchFamily="18" charset="0"/>
                          </a:rPr>
                        </m:ctrlPr>
                      </m:fPr>
                      <m:num>
                        <m:r>
                          <a:rPr lang="en-NZ" altLang="ja-JP" sz="1600" b="1" i="1" smtClean="0">
                            <a:solidFill>
                              <a:schemeClr val="tx1"/>
                            </a:solidFill>
                            <a:latin typeface="Cambria Math" panose="02040503050406030204" pitchFamily="18" charset="0"/>
                            <a:ea typeface="Cambria Math" panose="02040503050406030204" pitchFamily="18" charset="0"/>
                          </a:rPr>
                          <m:t>𝟐𝟐𝟓</m:t>
                        </m:r>
                      </m:num>
                      <m:den>
                        <m:r>
                          <a:rPr lang="en-NZ" altLang="ja-JP" sz="1600" b="1" i="1" smtClean="0">
                            <a:solidFill>
                              <a:schemeClr val="tx1"/>
                            </a:solidFill>
                            <a:latin typeface="Cambria Math" panose="02040503050406030204" pitchFamily="18" charset="0"/>
                            <a:ea typeface="Cambria Math" panose="02040503050406030204" pitchFamily="18" charset="0"/>
                          </a:rPr>
                          <m:t>𝟒𝟎𝟎</m:t>
                        </m:r>
                      </m:den>
                    </m:f>
                    <m:r>
                      <a:rPr lang="en-NZ" altLang="ja-JP" sz="1600" b="1" i="0" smtClean="0">
                        <a:solidFill>
                          <a:schemeClr val="tx1"/>
                        </a:solidFill>
                        <a:latin typeface="Cambria Math" panose="02040503050406030204" pitchFamily="18" charset="0"/>
                        <a:ea typeface="Cambria Math" panose="02040503050406030204" pitchFamily="18" charset="0"/>
                      </a:rPr>
                      <m:t>  = </m:t>
                    </m:r>
                    <m:f>
                      <m:fPr>
                        <m:ctrlPr>
                          <a:rPr lang="en-NZ" altLang="ja-JP" sz="1600" b="1" i="1" smtClean="0">
                            <a:solidFill>
                              <a:schemeClr val="tx1"/>
                            </a:solidFill>
                            <a:latin typeface="Cambria Math" panose="02040503050406030204" pitchFamily="18" charset="0"/>
                            <a:ea typeface="Cambria Math" panose="02040503050406030204" pitchFamily="18" charset="0"/>
                          </a:rPr>
                        </m:ctrlPr>
                      </m:fPr>
                      <m:num>
                        <m:r>
                          <a:rPr lang="en-NZ" altLang="ja-JP" sz="1600" b="1" i="0" smtClean="0">
                            <a:solidFill>
                              <a:schemeClr val="tx1"/>
                            </a:solidFill>
                            <a:latin typeface="Cambria Math" panose="02040503050406030204" pitchFamily="18" charset="0"/>
                            <a:ea typeface="Cambria Math" panose="02040503050406030204" pitchFamily="18" charset="0"/>
                          </a:rPr>
                          <m:t>𝟗</m:t>
                        </m:r>
                      </m:num>
                      <m:den>
                        <m:r>
                          <a:rPr lang="en-NZ" altLang="ja-JP" sz="1600" b="1" i="0" smtClean="0">
                            <a:solidFill>
                              <a:schemeClr val="tx1"/>
                            </a:solidFill>
                            <a:latin typeface="Cambria Math" panose="02040503050406030204" pitchFamily="18" charset="0"/>
                            <a:ea typeface="Cambria Math" panose="02040503050406030204" pitchFamily="18" charset="0"/>
                          </a:rPr>
                          <m:t>𝟏𝟔</m:t>
                        </m:r>
                      </m:den>
                    </m:f>
                  </m:oMath>
                </a14:m>
                <a:r>
                  <a:rPr lang="en-US" altLang="ja-JP" sz="1600" b="1" dirty="0">
                    <a:solidFill>
                      <a:schemeClr val="tx1"/>
                    </a:solidFill>
                  </a:rPr>
                  <a:t>      	</a:t>
                </a:r>
                <a:r>
                  <a:rPr lang="en-US" altLang="ja-JP" sz="1600" i="1" dirty="0">
                    <a:solidFill>
                      <a:schemeClr val="bg2">
                        <a:lumMod val="25000"/>
                      </a:schemeClr>
                    </a:solidFill>
                  </a:rPr>
                  <a:t>(We know the  </a:t>
                </a:r>
                <a14:m>
                  <m:oMath xmlns:m="http://schemas.openxmlformats.org/officeDocument/2006/math">
                    <m:r>
                      <a:rPr lang="en-NZ" altLang="ja-JP" sz="1600" b="0" i="1" smtClean="0">
                        <a:solidFill>
                          <a:schemeClr val="bg2">
                            <a:lumMod val="25000"/>
                          </a:schemeClr>
                        </a:solidFill>
                        <a:latin typeface="Cambria Math" panose="02040503050406030204" pitchFamily="18" charset="0"/>
                      </a:rPr>
                      <m:t>𝑠</m:t>
                    </m:r>
                    <m:r>
                      <a:rPr lang="en-NZ" altLang="ja-JP" sz="1600" b="0" i="1" smtClean="0">
                        <a:solidFill>
                          <a:schemeClr val="bg2">
                            <a:lumMod val="25000"/>
                          </a:schemeClr>
                        </a:solidFill>
                        <a:latin typeface="Cambria Math" panose="02040503050406030204" pitchFamily="18" charset="0"/>
                      </a:rPr>
                      <m:t>.</m:t>
                    </m:r>
                    <m:r>
                      <a:rPr lang="en-NZ" altLang="ja-JP" sz="1600" b="0" i="1" smtClean="0">
                        <a:solidFill>
                          <a:schemeClr val="bg2">
                            <a:lumMod val="25000"/>
                          </a:schemeClr>
                        </a:solidFill>
                        <a:latin typeface="Cambria Math" panose="02040503050406030204" pitchFamily="18" charset="0"/>
                      </a:rPr>
                      <m:t>𝑒</m:t>
                    </m:r>
                    <m:r>
                      <a:rPr lang="en-NZ" altLang="ja-JP" sz="1600" b="0" i="1" smtClean="0">
                        <a:solidFill>
                          <a:schemeClr val="bg2">
                            <a:lumMod val="25000"/>
                          </a:schemeClr>
                        </a:solidFill>
                        <a:latin typeface="Cambria Math" panose="02040503050406030204" pitchFamily="18" charset="0"/>
                      </a:rPr>
                      <m:t>.</m:t>
                    </m:r>
                    <m:d>
                      <m:dPr>
                        <m:begChr m:val="["/>
                        <m:endChr m:val="]"/>
                        <m:ctrlPr>
                          <a:rPr lang="en-NZ" altLang="ja-JP" sz="1600" b="0" i="1" smtClean="0">
                            <a:solidFill>
                              <a:schemeClr val="bg2">
                                <a:lumMod val="25000"/>
                              </a:schemeClr>
                            </a:solidFill>
                            <a:latin typeface="Cambria Math" panose="02040503050406030204" pitchFamily="18" charset="0"/>
                          </a:rPr>
                        </m:ctrlPr>
                      </m:dPr>
                      <m:e>
                        <m:acc>
                          <m:accPr>
                            <m:chr m:val="̂"/>
                            <m:ctrlPr>
                              <a:rPr lang="en-NZ" altLang="ja-JP" sz="1600" b="0" i="1" smtClean="0">
                                <a:solidFill>
                                  <a:schemeClr val="bg2">
                                    <a:lumMod val="25000"/>
                                  </a:schemeClr>
                                </a:solidFill>
                                <a:latin typeface="Cambria Math" panose="02040503050406030204" pitchFamily="18" charset="0"/>
                              </a:rPr>
                            </m:ctrlPr>
                          </m:accPr>
                          <m:e>
                            <m:r>
                              <a:rPr lang="en-NZ" altLang="ja-JP" sz="1600" b="0" i="1" smtClean="0">
                                <a:solidFill>
                                  <a:schemeClr val="bg2">
                                    <a:lumMod val="25000"/>
                                  </a:schemeClr>
                                </a:solidFill>
                                <a:latin typeface="Cambria Math" panose="02040503050406030204" pitchFamily="18" charset="0"/>
                              </a:rPr>
                              <m:t>𝜃</m:t>
                            </m:r>
                          </m:e>
                        </m:acc>
                      </m:e>
                    </m:d>
                    <m:r>
                      <a:rPr lang="en-NZ" altLang="ja-JP" sz="1600" b="0" i="1" smtClean="0">
                        <a:solidFill>
                          <a:schemeClr val="bg2">
                            <a:lumMod val="25000"/>
                          </a:schemeClr>
                        </a:solidFill>
                        <a:latin typeface="Cambria Math" panose="02040503050406030204" pitchFamily="18" charset="0"/>
                      </a:rPr>
                      <m:t>=</m:t>
                    </m:r>
                    <m:rad>
                      <m:radPr>
                        <m:degHide m:val="on"/>
                        <m:ctrlPr>
                          <a:rPr lang="en-US" altLang="ja-JP" sz="1600" i="1" smtClean="0">
                            <a:solidFill>
                              <a:schemeClr val="bg2">
                                <a:lumMod val="25000"/>
                              </a:schemeClr>
                            </a:solidFill>
                            <a:latin typeface="Cambria Math" panose="02040503050406030204" pitchFamily="18" charset="0"/>
                          </a:rPr>
                        </m:ctrlPr>
                      </m:radPr>
                      <m:deg/>
                      <m:e>
                        <m:f>
                          <m:fPr>
                            <m:type m:val="lin"/>
                            <m:ctrlPr>
                              <a:rPr lang="en-US" altLang="ja-JP" sz="1600" i="1" smtClean="0">
                                <a:solidFill>
                                  <a:schemeClr val="bg2">
                                    <a:lumMod val="25000"/>
                                  </a:schemeClr>
                                </a:solidFill>
                                <a:latin typeface="Cambria Math" panose="02040503050406030204" pitchFamily="18" charset="0"/>
                              </a:rPr>
                            </m:ctrlPr>
                          </m:fPr>
                          <m:num>
                            <m:r>
                              <a:rPr lang="en-NZ" altLang="ja-JP" sz="1600" b="0" i="1" smtClean="0">
                                <a:solidFill>
                                  <a:schemeClr val="bg2">
                                    <a:lumMod val="25000"/>
                                  </a:schemeClr>
                                </a:solidFill>
                                <a:latin typeface="Cambria Math" panose="02040503050406030204" pitchFamily="18" charset="0"/>
                              </a:rPr>
                              <m:t>9</m:t>
                            </m:r>
                          </m:num>
                          <m:den>
                            <m:r>
                              <a:rPr lang="en-NZ" altLang="ja-JP" sz="1600" b="0" i="1" smtClean="0">
                                <a:solidFill>
                                  <a:schemeClr val="bg2">
                                    <a:lumMod val="25000"/>
                                  </a:schemeClr>
                                </a:solidFill>
                                <a:latin typeface="Cambria Math" panose="02040503050406030204" pitchFamily="18" charset="0"/>
                              </a:rPr>
                              <m:t>16</m:t>
                            </m:r>
                          </m:den>
                        </m:f>
                      </m:e>
                    </m:rad>
                    <m:r>
                      <a:rPr lang="en-NZ" altLang="ja-JP" sz="1600" b="0" i="1" smtClean="0">
                        <a:solidFill>
                          <a:schemeClr val="bg2">
                            <a:lumMod val="25000"/>
                          </a:schemeClr>
                        </a:solidFill>
                        <a:latin typeface="Cambria Math" panose="02040503050406030204" pitchFamily="18" charset="0"/>
                      </a:rPr>
                      <m:t>=3/4</m:t>
                    </m:r>
                  </m:oMath>
                </a14:m>
                <a:r>
                  <a:rPr lang="en-US" altLang="ja-JP" sz="1600" i="1" dirty="0">
                    <a:solidFill>
                      <a:schemeClr val="bg2">
                        <a:lumMod val="25000"/>
                      </a:schemeClr>
                    </a:solidFill>
                  </a:rPr>
                  <a:t>)</a:t>
                </a:r>
                <a:endParaRPr lang="en-US" altLang="ja-JP" sz="1600" dirty="0">
                  <a:solidFill>
                    <a:schemeClr val="tx1"/>
                  </a:solidFill>
                </a:endParaRPr>
              </a:p>
            </p:txBody>
          </p:sp>
        </mc:Choice>
        <mc:Fallback xmlns="">
          <p:sp>
            <p:nvSpPr>
              <p:cNvPr id="15" name="Text Placeholder 5">
                <a:extLst>
                  <a:ext uri="{FF2B5EF4-FFF2-40B4-BE49-F238E27FC236}">
                    <a16:creationId xmlns:a16="http://schemas.microsoft.com/office/drawing/2014/main" id="{910A1E0B-8372-4A66-A955-CBFD10BE45D2}"/>
                  </a:ext>
                </a:extLst>
              </p:cNvPr>
              <p:cNvSpPr txBox="1">
                <a:spLocks noRot="1" noChangeAspect="1" noMove="1" noResize="1" noEditPoints="1" noAdjustHandles="1" noChangeArrowheads="1" noChangeShapeType="1" noTextEdit="1"/>
              </p:cNvSpPr>
              <p:nvPr/>
            </p:nvSpPr>
            <p:spPr>
              <a:xfrm>
                <a:off x="1610436" y="3887798"/>
                <a:ext cx="10478930" cy="458895"/>
              </a:xfrm>
              <a:prstGeom prst="rect">
                <a:avLst/>
              </a:prstGeom>
              <a:blipFill>
                <a:blip r:embed="rId7"/>
                <a:stretch>
                  <a:fillRect l="-291" t="-60000" b="-121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C040512F-0C4A-4110-B5C0-E373EB75CE52}"/>
                  </a:ext>
                </a:extLst>
              </p:cNvPr>
              <p:cNvSpPr txBox="1">
                <a:spLocks/>
              </p:cNvSpPr>
              <p:nvPr/>
            </p:nvSpPr>
            <p:spPr>
              <a:xfrm>
                <a:off x="726344" y="4477826"/>
                <a:ext cx="10587650" cy="3836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600" u="none" strike="noStrike" kern="1200" cap="none" spc="0" normalizeH="0" baseline="0" noProof="0" dirty="0">
                    <a:ln>
                      <a:noFill/>
                    </a:ln>
                    <a:solidFill>
                      <a:prstClr val="black"/>
                    </a:solidFill>
                    <a:effectLst/>
                    <a:uLnTx/>
                    <a:uFillTx/>
                    <a:ea typeface="游ゴシック" panose="020B0400000000000000" pitchFamily="34" charset="-128"/>
                  </a:rPr>
                  <a:t>We also know from the CLT that  </a:t>
                </a:r>
                <a14:m>
                  <m:oMath xmlns:m="http://schemas.openxmlformats.org/officeDocument/2006/math">
                    <m:acc>
                      <m:accPr>
                        <m:chr m:val="̂"/>
                        <m:ctrlPr>
                          <a:rPr lang="en-US" altLang="ja-JP" sz="1600" b="1" i="1">
                            <a:solidFill>
                              <a:prstClr val="black"/>
                            </a:solidFill>
                            <a:latin typeface="Cambria Math" panose="02040503050406030204" pitchFamily="18" charset="0"/>
                          </a:rPr>
                        </m:ctrlPr>
                      </m:accPr>
                      <m:e>
                        <m:r>
                          <a:rPr lang="en-NZ" altLang="ja-JP" sz="1600" b="1" i="1">
                            <a:solidFill>
                              <a:prstClr val="black"/>
                            </a:solidFill>
                            <a:latin typeface="Cambria Math" panose="02040503050406030204" pitchFamily="18" charset="0"/>
                          </a:rPr>
                          <m:t>𝜽</m:t>
                        </m:r>
                      </m:e>
                    </m:acc>
                    <m:r>
                      <a:rPr lang="en-NZ" altLang="ja-JP" sz="1600" b="1" i="1" smtClean="0">
                        <a:solidFill>
                          <a:prstClr val="black"/>
                        </a:solidFill>
                        <a:latin typeface="Cambria Math" panose="02040503050406030204" pitchFamily="18" charset="0"/>
                      </a:rPr>
                      <m:t> ~  </m:t>
                    </m:r>
                    <m:r>
                      <a:rPr lang="en-NZ" altLang="ja-JP" sz="1600" b="1" i="1" smtClean="0">
                        <a:solidFill>
                          <a:prstClr val="black"/>
                        </a:solidFill>
                        <a:latin typeface="Cambria Math" panose="02040503050406030204" pitchFamily="18" charset="0"/>
                      </a:rPr>
                      <m:t>𝑵</m:t>
                    </m:r>
                    <m:d>
                      <m:dPr>
                        <m:ctrlPr>
                          <a:rPr lang="en-NZ" altLang="ja-JP" sz="1600" b="1" i="1" smtClean="0">
                            <a:solidFill>
                              <a:prstClr val="black"/>
                            </a:solidFill>
                            <a:latin typeface="Cambria Math" panose="02040503050406030204" pitchFamily="18" charset="0"/>
                          </a:rPr>
                        </m:ctrlPr>
                      </m:dPr>
                      <m:e>
                        <m:r>
                          <a:rPr lang="en-NZ" altLang="ja-JP" sz="1600" b="1" i="1" smtClean="0">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𝜽</m:t>
                        </m:r>
                        <m:r>
                          <a:rPr lang="en-NZ" altLang="ja-JP" sz="1600" b="1" i="1" smtClean="0">
                            <a:solidFill>
                              <a:prstClr val="black"/>
                            </a:solidFill>
                            <a:latin typeface="Cambria Math" panose="02040503050406030204" pitchFamily="18" charset="0"/>
                          </a:rPr>
                          <m:t> , </m:t>
                        </m:r>
                        <m:f>
                          <m:fPr>
                            <m:type m:val="lin"/>
                            <m:ctrlPr>
                              <a:rPr lang="en-NZ" altLang="ja-JP" sz="1600" b="1" i="1" smtClean="0">
                                <a:solidFill>
                                  <a:prstClr val="black"/>
                                </a:solidFill>
                                <a:latin typeface="Cambria Math" panose="02040503050406030204" pitchFamily="18" charset="0"/>
                              </a:rPr>
                            </m:ctrlPr>
                          </m:fPr>
                          <m:num>
                            <m:sSup>
                              <m:sSupPr>
                                <m:ctrlPr>
                                  <a:rPr lang="en-NZ" altLang="ja-JP" sz="1600" b="1" i="1" smtClean="0">
                                    <a:solidFill>
                                      <a:prstClr val="black"/>
                                    </a:solidFill>
                                    <a:latin typeface="Cambria Math" panose="02040503050406030204" pitchFamily="18" charset="0"/>
                                  </a:rPr>
                                </m:ctrlPr>
                              </m:sSupPr>
                              <m:e>
                                <m:r>
                                  <a:rPr lang="en-NZ" altLang="ja-JP" sz="1600" b="1" i="1" smtClean="0">
                                    <a:solidFill>
                                      <a:prstClr val="black"/>
                                    </a:solidFill>
                                    <a:latin typeface="Cambria Math" panose="02040503050406030204" pitchFamily="18" charset="0"/>
                                  </a:rPr>
                                  <m:t>𝝈</m:t>
                                </m:r>
                              </m:e>
                              <m:sup>
                                <m:r>
                                  <a:rPr lang="en-NZ" altLang="ja-JP" sz="1600" b="1" i="1" smtClean="0">
                                    <a:solidFill>
                                      <a:prstClr val="black"/>
                                    </a:solidFill>
                                    <a:latin typeface="Cambria Math" panose="02040503050406030204" pitchFamily="18" charset="0"/>
                                  </a:rPr>
                                  <m:t>𝟐</m:t>
                                </m:r>
                              </m:sup>
                            </m:sSup>
                          </m:num>
                          <m:den>
                            <m:r>
                              <a:rPr lang="en-NZ" altLang="ja-JP" sz="1600" b="1" i="1" smtClean="0">
                                <a:solidFill>
                                  <a:prstClr val="black"/>
                                </a:solidFill>
                                <a:latin typeface="Cambria Math" panose="02040503050406030204" pitchFamily="18" charset="0"/>
                              </a:rPr>
                              <m:t>𝒏</m:t>
                            </m:r>
                          </m:den>
                        </m:f>
                        <m:r>
                          <a:rPr lang="en-NZ" altLang="ja-JP" sz="1600" b="1" i="1" smtClean="0">
                            <a:solidFill>
                              <a:prstClr val="black"/>
                            </a:solidFill>
                            <a:latin typeface="Cambria Math" panose="02040503050406030204" pitchFamily="18" charset="0"/>
                          </a:rPr>
                          <m:t> </m:t>
                        </m:r>
                      </m:e>
                    </m:d>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𝜽</m:t>
                        </m:r>
                        <m:r>
                          <a:rPr lang="en-NZ" altLang="ja-JP" sz="1600" b="1" i="1">
                            <a:solidFill>
                              <a:prstClr val="black"/>
                            </a:solidFill>
                            <a:latin typeface="Cambria Math" panose="02040503050406030204" pitchFamily="18" charset="0"/>
                          </a:rPr>
                          <m:t> , </m:t>
                        </m:r>
                        <m:f>
                          <m:fPr>
                            <m:type m:val="lin"/>
                            <m:ctrlPr>
                              <a:rPr lang="en-NZ" altLang="ja-JP" sz="1600" b="1" i="1" smtClean="0">
                                <a:solidFill>
                                  <a:prstClr val="black"/>
                                </a:solidFill>
                                <a:latin typeface="Cambria Math" panose="02040503050406030204" pitchFamily="18" charset="0"/>
                              </a:rPr>
                            </m:ctrlPr>
                          </m:fPr>
                          <m:num>
                            <m:r>
                              <a:rPr lang="en-NZ" altLang="ja-JP" sz="1600" b="1" i="1" smtClean="0">
                                <a:solidFill>
                                  <a:prstClr val="black"/>
                                </a:solidFill>
                                <a:latin typeface="Cambria Math" panose="02040503050406030204" pitchFamily="18" charset="0"/>
                              </a:rPr>
                              <m:t>𝟗</m:t>
                            </m:r>
                          </m:num>
                          <m:den>
                            <m:r>
                              <a:rPr lang="en-NZ" altLang="ja-JP" sz="1600" b="1" i="1" smtClean="0">
                                <a:solidFill>
                                  <a:prstClr val="black"/>
                                </a:solidFill>
                                <a:latin typeface="Cambria Math" panose="02040503050406030204" pitchFamily="18" charset="0"/>
                              </a:rPr>
                              <m:t>𝟏𝟔</m:t>
                            </m:r>
                          </m:den>
                        </m:f>
                      </m:e>
                    </m:d>
                  </m:oMath>
                </a14:m>
                <a:r>
                  <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lang="en-US" altLang="ja-JP" sz="1600" i="1" dirty="0">
                    <a:solidFill>
                      <a:schemeClr val="bg2">
                        <a:lumMod val="25000"/>
                      </a:schemeClr>
                    </a:solidFill>
                  </a:rPr>
                  <a:t>(We know the sampling distribution)</a:t>
                </a:r>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7" name="Text Placeholder 5">
                <a:extLst>
                  <a:ext uri="{FF2B5EF4-FFF2-40B4-BE49-F238E27FC236}">
                    <a16:creationId xmlns:a16="http://schemas.microsoft.com/office/drawing/2014/main" id="{C040512F-0C4A-4110-B5C0-E373EB75CE52}"/>
                  </a:ext>
                </a:extLst>
              </p:cNvPr>
              <p:cNvSpPr txBox="1">
                <a:spLocks noRot="1" noChangeAspect="1" noMove="1" noResize="1" noEditPoints="1" noAdjustHandles="1" noChangeArrowheads="1" noChangeShapeType="1" noTextEdit="1"/>
              </p:cNvSpPr>
              <p:nvPr/>
            </p:nvSpPr>
            <p:spPr>
              <a:xfrm>
                <a:off x="726344" y="4477826"/>
                <a:ext cx="10587650" cy="383613"/>
              </a:xfrm>
              <a:prstGeom prst="rect">
                <a:avLst/>
              </a:prstGeom>
              <a:blipFill>
                <a:blip r:embed="rId8"/>
                <a:stretch>
                  <a:fillRect l="-288" t="-85484" b="-143548"/>
                </a:stretch>
              </a:blipFill>
            </p:spPr>
            <p:txBody>
              <a:bodyPr/>
              <a:lstStyle/>
              <a:p>
                <a:r>
                  <a:rPr lang="en-NZ">
                    <a:noFill/>
                  </a:rPr>
                  <a:t> </a:t>
                </a:r>
              </a:p>
            </p:txBody>
          </p:sp>
        </mc:Fallback>
      </mc:AlternateContent>
      <p:sp>
        <p:nvSpPr>
          <p:cNvPr id="19" name="Text Placeholder 5">
            <a:extLst>
              <a:ext uri="{FF2B5EF4-FFF2-40B4-BE49-F238E27FC236}">
                <a16:creationId xmlns:a16="http://schemas.microsoft.com/office/drawing/2014/main" id="{E958AE73-5280-4CB4-A020-40A088DA6E40}"/>
              </a:ext>
            </a:extLst>
          </p:cNvPr>
          <p:cNvSpPr txBox="1">
            <a:spLocks/>
          </p:cNvSpPr>
          <p:nvPr/>
        </p:nvSpPr>
        <p:spPr>
          <a:xfrm>
            <a:off x="3835021" y="316060"/>
            <a:ext cx="3814548" cy="38665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rPr>
              <a:t>Sampling Distribution is Known</a:t>
            </a: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B9CBF0A-46AF-40D8-84AA-351498288757}"/>
                  </a:ext>
                </a:extLst>
              </p:cNvPr>
              <p:cNvSpPr txBox="1">
                <a:spLocks/>
              </p:cNvSpPr>
              <p:nvPr/>
            </p:nvSpPr>
            <p:spPr>
              <a:xfrm>
                <a:off x="726344" y="4957579"/>
                <a:ext cx="10587650" cy="3836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600" dirty="0">
                    <a:solidFill>
                      <a:prstClr val="black"/>
                    </a:solidFill>
                    <a:ea typeface="游ゴシック" panose="020B0400000000000000" pitchFamily="34" charset="-128"/>
                  </a:rPr>
                  <a:t>=&gt; w</a:t>
                </a:r>
                <a:r>
                  <a:rPr kumimoji="1" lang="en-NZ" altLang="ja-JP" sz="1600" u="none" strike="noStrike" kern="1200" cap="none" spc="0" normalizeH="0" baseline="0" noProof="0" dirty="0">
                    <a:ln>
                      <a:noFill/>
                    </a:ln>
                    <a:solidFill>
                      <a:prstClr val="black"/>
                    </a:solidFill>
                    <a:effectLst/>
                    <a:uLnTx/>
                    <a:uFillTx/>
                    <a:ea typeface="游ゴシック" panose="020B0400000000000000" pitchFamily="34" charset="-128"/>
                  </a:rPr>
                  <a:t>e can form the usual 95% confidence interval for </a:t>
                </a:r>
                <a14:m>
                  <m:oMath xmlns:m="http://schemas.openxmlformats.org/officeDocument/2006/math">
                    <m:r>
                      <a:rPr lang="en-NZ" altLang="ja-JP" sz="1600" b="1" i="1" smtClean="0">
                        <a:solidFill>
                          <a:prstClr val="black"/>
                        </a:solidFill>
                        <a:latin typeface="Cambria Math" panose="02040503050406030204" pitchFamily="18" charset="0"/>
                      </a:rPr>
                      <m:t>𝜽</m:t>
                    </m:r>
                  </m:oMath>
                </a14:m>
                <a:r>
                  <a:rPr kumimoji="1" lang="en-NZ" altLang="ja-JP" sz="1600" u="none" strike="noStrike" kern="1200" cap="none" spc="0" normalizeH="0" baseline="0" noProof="0" dirty="0">
                    <a:ln>
                      <a:noFill/>
                    </a:ln>
                    <a:solidFill>
                      <a:prstClr val="black"/>
                    </a:solidFill>
                    <a:effectLst/>
                    <a:uLnTx/>
                    <a:uFillTx/>
                    <a:ea typeface="游ゴシック" panose="020B0400000000000000" pitchFamily="34" charset="-128"/>
                  </a:rPr>
                  <a:t> </a:t>
                </a:r>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0" name="Text Placeholder 5">
                <a:extLst>
                  <a:ext uri="{FF2B5EF4-FFF2-40B4-BE49-F238E27FC236}">
                    <a16:creationId xmlns:a16="http://schemas.microsoft.com/office/drawing/2014/main" id="{5B9CBF0A-46AF-40D8-84AA-351498288757}"/>
                  </a:ext>
                </a:extLst>
              </p:cNvPr>
              <p:cNvSpPr txBox="1">
                <a:spLocks noRot="1" noChangeAspect="1" noMove="1" noResize="1" noEditPoints="1" noAdjustHandles="1" noChangeArrowheads="1" noChangeShapeType="1" noTextEdit="1"/>
              </p:cNvSpPr>
              <p:nvPr/>
            </p:nvSpPr>
            <p:spPr>
              <a:xfrm>
                <a:off x="726344" y="4957579"/>
                <a:ext cx="10587650" cy="383613"/>
              </a:xfrm>
              <a:prstGeom prst="rect">
                <a:avLst/>
              </a:prstGeom>
              <a:blipFill>
                <a:blip r:embed="rId9"/>
                <a:stretch>
                  <a:fillRect l="-288" t="-4762" b="-793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06A9A333-3BBF-49C9-8F2F-D1EA194CC9A6}"/>
                  </a:ext>
                </a:extLst>
              </p:cNvPr>
              <p:cNvSpPr txBox="1">
                <a:spLocks/>
              </p:cNvSpPr>
              <p:nvPr/>
            </p:nvSpPr>
            <p:spPr>
              <a:xfrm>
                <a:off x="903816" y="5332324"/>
                <a:ext cx="10587650" cy="4588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14:m>
                  <m:oMathPara xmlns:m="http://schemas.openxmlformats.org/officeDocument/2006/math">
                    <m:oMathParaPr>
                      <m:jc m:val="centerGroup"/>
                    </m:oMathParaPr>
                    <m:oMath xmlns:m="http://schemas.openxmlformats.org/officeDocument/2006/math">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acc>
                            <m:accPr>
                              <m:chr m:val="̂"/>
                              <m:ctrlPr>
                                <a:rPr lang="en-US" altLang="ja-JP" sz="1600" b="1" i="1">
                                  <a:solidFill>
                                    <a:prstClr val="black"/>
                                  </a:solidFill>
                                  <a:latin typeface="Cambria Math" panose="02040503050406030204" pitchFamily="18" charset="0"/>
                                </a:rPr>
                              </m:ctrlPr>
                            </m:accPr>
                            <m:e>
                              <m:r>
                                <a:rPr lang="en-NZ" altLang="ja-JP" sz="1600" b="1" i="1">
                                  <a:solidFill>
                                    <a:prstClr val="black"/>
                                  </a:solidFill>
                                  <a:latin typeface="Cambria Math" panose="02040503050406030204" pitchFamily="18" charset="0"/>
                                </a:rPr>
                                <m:t>𝜽</m:t>
                              </m:r>
                            </m:e>
                          </m:acc>
                          <m:r>
                            <a:rPr lang="en-NZ" altLang="ja-JP" sz="1600" b="1" i="1" smtClean="0">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𝟏</m:t>
                          </m:r>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𝟗𝟔</m:t>
                          </m:r>
                          <m:r>
                            <a:rPr lang="en-NZ" altLang="ja-JP" sz="1600" b="1" i="1" smtClean="0">
                              <a:solidFill>
                                <a:prstClr val="black"/>
                              </a:solidFill>
                              <a:latin typeface="Cambria Math" panose="02040503050406030204" pitchFamily="18" charset="0"/>
                            </a:rPr>
                            <m:t> </m:t>
                          </m:r>
                          <m:f>
                            <m:fPr>
                              <m:type m:val="lin"/>
                              <m:ctrlPr>
                                <a:rPr lang="en-NZ" altLang="ja-JP" sz="1600" b="1" i="1" smtClean="0">
                                  <a:solidFill>
                                    <a:prstClr val="black"/>
                                  </a:solidFill>
                                  <a:latin typeface="Cambria Math" panose="02040503050406030204" pitchFamily="18" charset="0"/>
                                </a:rPr>
                              </m:ctrlPr>
                            </m:fPr>
                            <m:num>
                              <m:r>
                                <a:rPr lang="en-NZ" altLang="ja-JP" sz="1600" b="1" i="1" smtClean="0">
                                  <a:solidFill>
                                    <a:prstClr val="black"/>
                                  </a:solidFill>
                                  <a:latin typeface="Cambria Math" panose="02040503050406030204" pitchFamily="18" charset="0"/>
                                </a:rPr>
                                <m:t>𝝈</m:t>
                              </m:r>
                            </m:num>
                            <m:den>
                              <m:rad>
                                <m:radPr>
                                  <m:degHide m:val="on"/>
                                  <m:ctrlPr>
                                    <a:rPr lang="en-NZ" altLang="ja-JP" sz="1600" b="1" i="1" smtClean="0">
                                      <a:solidFill>
                                        <a:prstClr val="black"/>
                                      </a:solidFill>
                                      <a:latin typeface="Cambria Math" panose="02040503050406030204" pitchFamily="18" charset="0"/>
                                    </a:rPr>
                                  </m:ctrlPr>
                                </m:radPr>
                                <m:deg/>
                                <m:e>
                                  <m:r>
                                    <a:rPr lang="en-NZ" altLang="ja-JP" sz="1600" b="1" i="1" smtClean="0">
                                      <a:solidFill>
                                        <a:prstClr val="black"/>
                                      </a:solidFill>
                                      <a:latin typeface="Cambria Math" panose="02040503050406030204" pitchFamily="18" charset="0"/>
                                    </a:rPr>
                                    <m:t>𝒏</m:t>
                                  </m:r>
                                </m:e>
                              </m:rad>
                            </m:den>
                          </m:f>
                          <m:r>
                            <a:rPr lang="en-NZ" altLang="ja-JP" sz="1600" b="1" i="1" smtClean="0">
                              <a:solidFill>
                                <a:prstClr val="black"/>
                              </a:solidFill>
                              <a:latin typeface="Cambria Math" panose="02040503050406030204" pitchFamily="18" charset="0"/>
                            </a:rPr>
                            <m:t>  ,</m:t>
                          </m:r>
                          <m:acc>
                            <m:accPr>
                              <m:chr m:val="̂"/>
                              <m:ctrlPr>
                                <a:rPr lang="en-US" altLang="ja-JP" sz="1600" b="1" i="1">
                                  <a:solidFill>
                                    <a:prstClr val="black"/>
                                  </a:solidFill>
                                  <a:latin typeface="Cambria Math" panose="02040503050406030204" pitchFamily="18" charset="0"/>
                                </a:rPr>
                              </m:ctrlPr>
                            </m:accPr>
                            <m:e>
                              <m:r>
                                <a:rPr lang="en-NZ" altLang="ja-JP" sz="1600" b="1" i="1">
                                  <a:solidFill>
                                    <a:prstClr val="black"/>
                                  </a:solidFill>
                                  <a:latin typeface="Cambria Math" panose="02040503050406030204" pitchFamily="18" charset="0"/>
                                </a:rPr>
                                <m:t>𝜽</m:t>
                              </m:r>
                            </m:e>
                          </m:acc>
                          <m:r>
                            <a:rPr lang="en-NZ" altLang="ja-JP" sz="1600" b="1" i="1">
                              <a:solidFill>
                                <a:prstClr val="black"/>
                              </a:solidFill>
                              <a:latin typeface="Cambria Math" panose="02040503050406030204" pitchFamily="18" charset="0"/>
                            </a:rPr>
                            <m:t> −</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𝟗𝟔</m:t>
                          </m:r>
                          <m:r>
                            <a:rPr lang="en-NZ" altLang="ja-JP" sz="1600" b="1" i="1">
                              <a:solidFill>
                                <a:prstClr val="black"/>
                              </a:solidFill>
                              <a:latin typeface="Cambria Math" panose="02040503050406030204" pitchFamily="18" charset="0"/>
                            </a:rPr>
                            <m:t> </m:t>
                          </m:r>
                          <m:f>
                            <m:fPr>
                              <m:type m:val="lin"/>
                              <m:ctrlPr>
                                <a:rPr lang="en-NZ" altLang="ja-JP" sz="1600" b="1" i="1">
                                  <a:solidFill>
                                    <a:prstClr val="black"/>
                                  </a:solidFill>
                                  <a:latin typeface="Cambria Math" panose="02040503050406030204" pitchFamily="18" charset="0"/>
                                </a:rPr>
                              </m:ctrlPr>
                            </m:fPr>
                            <m:num>
                              <m:r>
                                <a:rPr lang="en-NZ" altLang="ja-JP" sz="1600" b="1" i="1">
                                  <a:solidFill>
                                    <a:prstClr val="black"/>
                                  </a:solidFill>
                                  <a:latin typeface="Cambria Math" panose="02040503050406030204" pitchFamily="18" charset="0"/>
                                </a:rPr>
                                <m:t>𝝈</m:t>
                              </m:r>
                            </m:num>
                            <m:den>
                              <m:rad>
                                <m:radPr>
                                  <m:degHide m:val="on"/>
                                  <m:ctrlPr>
                                    <a:rPr lang="en-NZ" altLang="ja-JP" sz="1600" b="1" i="1">
                                      <a:solidFill>
                                        <a:prstClr val="black"/>
                                      </a:solidFill>
                                      <a:latin typeface="Cambria Math" panose="02040503050406030204" pitchFamily="18" charset="0"/>
                                    </a:rPr>
                                  </m:ctrlPr>
                                </m:radPr>
                                <m:deg/>
                                <m:e>
                                  <m:r>
                                    <a:rPr lang="en-NZ" altLang="ja-JP" sz="1600" b="1" i="1">
                                      <a:solidFill>
                                        <a:prstClr val="black"/>
                                      </a:solidFill>
                                      <a:latin typeface="Cambria Math" panose="02040503050406030204" pitchFamily="18" charset="0"/>
                                    </a:rPr>
                                    <m:t>𝒏</m:t>
                                  </m:r>
                                </m:e>
                              </m:rad>
                            </m:den>
                          </m:f>
                          <m:r>
                            <a:rPr lang="en-NZ" altLang="ja-JP" sz="1600" b="1" i="1" smtClean="0">
                              <a:solidFill>
                                <a:prstClr val="black"/>
                              </a:solidFill>
                              <a:latin typeface="Cambria Math" panose="02040503050406030204" pitchFamily="18" charset="0"/>
                            </a:rPr>
                            <m:t> </m:t>
                          </m:r>
                        </m:e>
                      </m:d>
                      <m:r>
                        <a:rPr lang="en-NZ" altLang="ja-JP" sz="1600" b="1" i="1" smtClean="0">
                          <a:solidFill>
                            <a:prstClr val="black"/>
                          </a:solidFill>
                          <a:latin typeface="Cambria Math" panose="02040503050406030204" pitchFamily="18" charset="0"/>
                        </a:rPr>
                        <m:t> =  [</m:t>
                      </m:r>
                      <m:r>
                        <a:rPr lang="en-NZ" altLang="ja-JP" sz="1600" b="1" i="1" smtClean="0">
                          <a:solidFill>
                            <a:prstClr val="black"/>
                          </a:solidFill>
                          <a:latin typeface="Cambria Math" panose="02040503050406030204" pitchFamily="18" charset="0"/>
                        </a:rPr>
                        <m:t>𝟗𝟖𝟎</m:t>
                      </m:r>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𝟓𝟑</m:t>
                      </m:r>
                      <m:r>
                        <a:rPr lang="en-NZ" altLang="ja-JP" sz="1600" b="1" i="1" smtClean="0">
                          <a:solidFill>
                            <a:prstClr val="black"/>
                          </a:solidFill>
                          <a:latin typeface="Cambria Math" panose="02040503050406030204" pitchFamily="18" charset="0"/>
                        </a:rPr>
                        <m:t>  , </m:t>
                      </m:r>
                      <m:r>
                        <a:rPr lang="en-NZ" altLang="ja-JP" sz="1600" b="1" i="1" smtClean="0">
                          <a:solidFill>
                            <a:prstClr val="black"/>
                          </a:solidFill>
                          <a:latin typeface="Cambria Math" panose="02040503050406030204" pitchFamily="18" charset="0"/>
                        </a:rPr>
                        <m:t>𝟗𝟖𝟑</m:t>
                      </m:r>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𝟒𝟕</m:t>
                      </m:r>
                      <m:r>
                        <a:rPr lang="en-NZ" altLang="ja-JP" sz="1600" b="1" i="1" smtClean="0">
                          <a:solidFill>
                            <a:prstClr val="black"/>
                          </a:solidFill>
                          <a:latin typeface="Cambria Math" panose="02040503050406030204" pitchFamily="18" charset="0"/>
                        </a:rPr>
                        <m:t> ]</m:t>
                      </m:r>
                    </m:oMath>
                  </m:oMathPara>
                </a14:m>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1" name="Text Placeholder 5">
                <a:extLst>
                  <a:ext uri="{FF2B5EF4-FFF2-40B4-BE49-F238E27FC236}">
                    <a16:creationId xmlns:a16="http://schemas.microsoft.com/office/drawing/2014/main" id="{06A9A333-3BBF-49C9-8F2F-D1EA194CC9A6}"/>
                  </a:ext>
                </a:extLst>
              </p:cNvPr>
              <p:cNvSpPr txBox="1">
                <a:spLocks noRot="1" noChangeAspect="1" noMove="1" noResize="1" noEditPoints="1" noAdjustHandles="1" noChangeArrowheads="1" noChangeShapeType="1" noTextEdit="1"/>
              </p:cNvSpPr>
              <p:nvPr/>
            </p:nvSpPr>
            <p:spPr>
              <a:xfrm>
                <a:off x="903816" y="5332324"/>
                <a:ext cx="10587650" cy="458895"/>
              </a:xfrm>
              <a:prstGeom prst="rect">
                <a:avLst/>
              </a:prstGeom>
              <a:blipFill>
                <a:blip r:embed="rId10"/>
                <a:stretch>
                  <a:fillRect t="-70667" b="-101333"/>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EB6C60D9-110D-409A-92FC-511A7F096B81}"/>
              </a:ext>
            </a:extLst>
          </p:cNvPr>
          <p:cNvSpPr txBox="1">
            <a:spLocks/>
          </p:cNvSpPr>
          <p:nvPr/>
        </p:nvSpPr>
        <p:spPr>
          <a:xfrm>
            <a:off x="726344" y="5832060"/>
            <a:ext cx="9075812" cy="6711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i="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t>Other instances where the sampling distribution is known can be found in Section 7.2 of the lecture notes.</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i="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rPr>
              <a:t>Such instances are very much the exception rather than the rule!</a:t>
            </a:r>
            <a:endParaRPr kumimoji="1" lang="en-US" altLang="ja-JP" sz="1200" i="1"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262973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7" grpId="0"/>
      <p:bldP spid="20" grpId="0"/>
      <p:bldP spid="21"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.1b – Notation, SE &amp;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3583797"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Examples: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0E2EE3A6-D664-46DE-A1AF-EB8D0A913878}"/>
              </a:ext>
            </a:extLst>
          </p:cNvPr>
          <p:cNvSpPr txBox="1">
            <a:spLocks/>
          </p:cNvSpPr>
          <p:nvPr/>
        </p:nvSpPr>
        <p:spPr>
          <a:xfrm>
            <a:off x="319463" y="915230"/>
            <a:ext cx="11608680" cy="9954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hlinkClick r:id="rId3">
                  <a:extLst>
                    <a:ext uri="{A12FA001-AC4F-418D-AE19-62706E023703}">
                      <ahyp:hlinkClr xmlns:ahyp="http://schemas.microsoft.com/office/drawing/2018/hyperlinkcolor" val="tx"/>
                    </a:ext>
                  </a:extLst>
                </a:hlinkClick>
              </a:rPr>
              <a:t>Internet NZ </a:t>
            </a: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have an API that allows you to feed in a sample of 500 addresses and which returns to you the wireless broadband speed at those properties. As part of a ‘proof of concept’ project to estimate median broadband speed across NZ, you are given a free API token that allows you to feed into the API as many samples of 500 addresses as you like.</a:t>
            </a:r>
            <a:endPar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
        <p:nvSpPr>
          <p:cNvPr id="19" name="Text Placeholder 5">
            <a:extLst>
              <a:ext uri="{FF2B5EF4-FFF2-40B4-BE49-F238E27FC236}">
                <a16:creationId xmlns:a16="http://schemas.microsoft.com/office/drawing/2014/main" id="{E958AE73-5280-4CB4-A020-40A088DA6E40}"/>
              </a:ext>
            </a:extLst>
          </p:cNvPr>
          <p:cNvSpPr txBox="1">
            <a:spLocks/>
          </p:cNvSpPr>
          <p:nvPr/>
        </p:nvSpPr>
        <p:spPr>
          <a:xfrm>
            <a:off x="3791541" y="177494"/>
            <a:ext cx="4361718" cy="5999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rPr>
              <a:t>Sampling Distribution is Unknown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400" b="1" i="1" dirty="0">
                <a:solidFill>
                  <a:schemeClr val="bg2">
                    <a:lumMod val="50000"/>
                  </a:schemeClr>
                </a:solidFill>
                <a:latin typeface="Calibri" panose="020F0502020204030204"/>
                <a:ea typeface="游ゴシック" panose="020B0400000000000000" pitchFamily="34" charset="-128"/>
              </a:rPr>
              <a:t>Possible to resample from the population</a:t>
            </a:r>
            <a:endParaRPr kumimoji="1" lang="en-US" altLang="ja-JP" sz="14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p:sp>
        <p:nvSpPr>
          <p:cNvPr id="23" name="Text Placeholder 5">
            <a:extLst>
              <a:ext uri="{FF2B5EF4-FFF2-40B4-BE49-F238E27FC236}">
                <a16:creationId xmlns:a16="http://schemas.microsoft.com/office/drawing/2014/main" id="{EB6C60D9-110D-409A-92FC-511A7F096B81}"/>
              </a:ext>
            </a:extLst>
          </p:cNvPr>
          <p:cNvSpPr txBox="1">
            <a:spLocks/>
          </p:cNvSpPr>
          <p:nvPr/>
        </p:nvSpPr>
        <p:spPr>
          <a:xfrm>
            <a:off x="726342" y="5845272"/>
            <a:ext cx="8188030" cy="5125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200" dirty="0">
                <a:solidFill>
                  <a:schemeClr val="bg2">
                    <a:lumMod val="50000"/>
                  </a:schemeClr>
                </a:solidFill>
                <a:latin typeface="Calibri" panose="020F0502020204030204"/>
                <a:ea typeface="游ゴシック" panose="020B0400000000000000" pitchFamily="34" charset="-128"/>
              </a:rPr>
              <a:t>Again, instances</a:t>
            </a:r>
            <a:r>
              <a:rPr kumimoji="1" lang="en-NZ" altLang="ja-JP" sz="120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rPr>
              <a:t> where it is possible to repeatedly sample from the population </a:t>
            </a:r>
            <a:r>
              <a:rPr kumimoji="1" lang="en-NZ" altLang="ja-JP" sz="12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rPr>
              <a:t>are very much the exception rather than the rule! What if we</a:t>
            </a:r>
            <a:r>
              <a:rPr kumimoji="1" lang="en-NZ" altLang="ja-JP" sz="120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rPr>
              <a:t> didn’t have the free API token?</a:t>
            </a:r>
            <a:endParaRPr kumimoji="1" lang="en-US" altLang="ja-JP" sz="120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p:sp>
        <p:nvSpPr>
          <p:cNvPr id="18" name="Text Placeholder 5">
            <a:extLst>
              <a:ext uri="{FF2B5EF4-FFF2-40B4-BE49-F238E27FC236}">
                <a16:creationId xmlns:a16="http://schemas.microsoft.com/office/drawing/2014/main" id="{0E039CF4-16D1-470A-A4B9-49FB905C112D}"/>
              </a:ext>
            </a:extLst>
          </p:cNvPr>
          <p:cNvSpPr txBox="1">
            <a:spLocks/>
          </p:cNvSpPr>
          <p:nvPr/>
        </p:nvSpPr>
        <p:spPr>
          <a:xfrm>
            <a:off x="925483" y="1865663"/>
            <a:ext cx="7762563"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X</a:t>
            </a:r>
            <a:r>
              <a:rPr kumimoji="1" lang="en-US"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Wireless Broadband</a:t>
            </a:r>
            <a:r>
              <a:rPr kumimoji="1" lang="en-US" altLang="ja-JP" sz="15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speed at properties across NZ.</a:t>
            </a:r>
            <a:endPar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1753683E-C223-4F2A-8BBA-8578AC73B1E5}"/>
                  </a:ext>
                </a:extLst>
              </p:cNvPr>
              <p:cNvSpPr txBox="1">
                <a:spLocks/>
              </p:cNvSpPr>
              <p:nvPr/>
            </p:nvSpPr>
            <p:spPr>
              <a:xfrm>
                <a:off x="925484" y="2251421"/>
                <a:ext cx="6534266"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14:m>
                  <m:oMath xmlns:m="http://schemas.openxmlformats.org/officeDocument/2006/math">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US"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Median</a:t>
                </a:r>
                <a:r>
                  <a:rPr lang="en-US" altLang="ja-JP" sz="1500" dirty="0">
                    <a:solidFill>
                      <a:prstClr val="black"/>
                    </a:solidFill>
                    <a:latin typeface="Calibri" panose="020F0502020204030204"/>
                    <a:ea typeface="游ゴシック" panose="020B0400000000000000" pitchFamily="34" charset="-128"/>
                  </a:rPr>
                  <a:t> Wireless </a:t>
                </a:r>
                <a:r>
                  <a:rPr lang="en-US" altLang="ja-JP" sz="1500" dirty="0">
                    <a:solidFill>
                      <a:prstClr val="black"/>
                    </a:solidFill>
                  </a:rPr>
                  <a:t>Broadband speed at properties across NZ.</a:t>
                </a:r>
                <a:endPar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2" name="Text Placeholder 5">
                <a:extLst>
                  <a:ext uri="{FF2B5EF4-FFF2-40B4-BE49-F238E27FC236}">
                    <a16:creationId xmlns:a16="http://schemas.microsoft.com/office/drawing/2014/main" id="{1753683E-C223-4F2A-8BBA-8578AC73B1E5}"/>
                  </a:ext>
                </a:extLst>
              </p:cNvPr>
              <p:cNvSpPr txBox="1">
                <a:spLocks noRot="1" noChangeAspect="1" noMove="1" noResize="1" noEditPoints="1" noAdjustHandles="1" noChangeArrowheads="1" noChangeShapeType="1" noTextEdit="1"/>
              </p:cNvSpPr>
              <p:nvPr/>
            </p:nvSpPr>
            <p:spPr>
              <a:xfrm>
                <a:off x="925484" y="2251421"/>
                <a:ext cx="6534266" cy="507731"/>
              </a:xfrm>
              <a:prstGeom prst="rect">
                <a:avLst/>
              </a:prstGeom>
              <a:blipFill>
                <a:blip r:embed="rId4"/>
                <a:stretch>
                  <a:fillRect t="-238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355EDE9F-7446-4EE3-9493-CB447B548810}"/>
                  </a:ext>
                </a:extLst>
              </p:cNvPr>
              <p:cNvSpPr txBox="1">
                <a:spLocks/>
              </p:cNvSpPr>
              <p:nvPr/>
            </p:nvSpPr>
            <p:spPr>
              <a:xfrm>
                <a:off x="925484" y="2597133"/>
                <a:ext cx="10492117" cy="6711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500" u="none" strike="noStrike" kern="1200" cap="none" spc="0" normalizeH="0" baseline="0" noProof="0" dirty="0">
                    <a:ln>
                      <a:noFill/>
                    </a:ln>
                    <a:solidFill>
                      <a:prstClr val="black"/>
                    </a:solidFill>
                    <a:effectLst/>
                    <a:uLnTx/>
                    <a:uFillTx/>
                    <a:ea typeface="游ゴシック" panose="020B0400000000000000" pitchFamily="34" charset="-128"/>
                  </a:rPr>
                  <a:t>In order to estimate </a:t>
                </a:r>
                <a14:m>
                  <m:oMath xmlns:m="http://schemas.openxmlformats.org/officeDocument/2006/math">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US"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we take an initial sample of 500 addresses, feed these into the API and calculating the median broadband</a:t>
                </a:r>
                <a:r>
                  <a:rPr kumimoji="1" lang="en-US" altLang="ja-JP" sz="15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speed at those properties</a:t>
                </a:r>
                <a:r>
                  <a:rPr lang="en-US" altLang="ja-JP" sz="1500" dirty="0">
                    <a:solidFill>
                      <a:prstClr val="black"/>
                    </a:solidFill>
                    <a:latin typeface="Calibri" panose="020F0502020204030204"/>
                    <a:ea typeface="游ゴシック" panose="020B0400000000000000" pitchFamily="34" charset="-128"/>
                  </a:rPr>
                  <a:t> and obtain an estimate of </a:t>
                </a:r>
                <a14:m>
                  <m:oMath xmlns:m="http://schemas.openxmlformats.org/officeDocument/2006/math">
                    <m:acc>
                      <m:accPr>
                        <m:chr m:val="̂"/>
                        <m:ctrlPr>
                          <a:rPr lang="en-NZ"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r>
                      <a:rPr lang="en-NZ" altLang="ja-JP" sz="1500" b="1" i="1" smtClean="0">
                        <a:solidFill>
                          <a:prstClr val="black"/>
                        </a:solidFill>
                        <a:latin typeface="Cambria Math" panose="02040503050406030204" pitchFamily="18" charset="0"/>
                      </a:rPr>
                      <m:t>=</m:t>
                    </m:r>
                    <m:r>
                      <a:rPr lang="en-NZ" altLang="ja-JP" sz="1500" b="1" i="1" smtClean="0">
                        <a:solidFill>
                          <a:prstClr val="black"/>
                        </a:solidFill>
                        <a:latin typeface="Cambria Math" panose="02040503050406030204" pitchFamily="18" charset="0"/>
                      </a:rPr>
                      <m:t>𝟓𝟕</m:t>
                    </m:r>
                    <m:r>
                      <a:rPr lang="en-NZ" altLang="ja-JP" sz="1500" b="1" i="1" smtClean="0">
                        <a:solidFill>
                          <a:prstClr val="black"/>
                        </a:solidFill>
                        <a:latin typeface="Cambria Math" panose="02040503050406030204" pitchFamily="18" charset="0"/>
                      </a:rPr>
                      <m:t> </m:t>
                    </m:r>
                    <m:r>
                      <a:rPr lang="en-NZ" altLang="ja-JP" sz="1500" b="1" i="1" smtClean="0">
                        <a:solidFill>
                          <a:prstClr val="black"/>
                        </a:solidFill>
                        <a:latin typeface="Cambria Math" panose="02040503050406030204" pitchFamily="18" charset="0"/>
                      </a:rPr>
                      <m:t>𝑴𝒃𝒑𝒔</m:t>
                    </m:r>
                  </m:oMath>
                </a14:m>
                <a:r>
                  <a:rPr kumimoji="1" lang="en-US" altLang="ja-JP" sz="15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a:t>
                </a:r>
                <a:endPar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5" name="Text Placeholder 5">
                <a:extLst>
                  <a:ext uri="{FF2B5EF4-FFF2-40B4-BE49-F238E27FC236}">
                    <a16:creationId xmlns:a16="http://schemas.microsoft.com/office/drawing/2014/main" id="{355EDE9F-7446-4EE3-9493-CB447B548810}"/>
                  </a:ext>
                </a:extLst>
              </p:cNvPr>
              <p:cNvSpPr txBox="1">
                <a:spLocks noRot="1" noChangeAspect="1" noMove="1" noResize="1" noEditPoints="1" noAdjustHandles="1" noChangeArrowheads="1" noChangeShapeType="1" noTextEdit="1"/>
              </p:cNvSpPr>
              <p:nvPr/>
            </p:nvSpPr>
            <p:spPr>
              <a:xfrm>
                <a:off x="925484" y="2597133"/>
                <a:ext cx="10492117" cy="671120"/>
              </a:xfrm>
              <a:prstGeom prst="rect">
                <a:avLst/>
              </a:prstGeom>
              <a:blipFill>
                <a:blip r:embed="rId5"/>
                <a:stretch>
                  <a:fillRect l="-232" t="-1818" r="-23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512E3F98-8988-4238-BDF0-62769F20BA58}"/>
                  </a:ext>
                </a:extLst>
              </p:cNvPr>
              <p:cNvSpPr txBox="1">
                <a:spLocks/>
              </p:cNvSpPr>
              <p:nvPr/>
            </p:nvSpPr>
            <p:spPr>
              <a:xfrm>
                <a:off x="925483" y="3255549"/>
                <a:ext cx="10492117" cy="3642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US" altLang="ja-JP" sz="1500" u="none" strike="noStrike" kern="1200" cap="none" spc="0" normalizeH="0" baseline="0" noProof="0" dirty="0">
                    <a:ln>
                      <a:noFill/>
                    </a:ln>
                    <a:solidFill>
                      <a:prstClr val="black"/>
                    </a:solidFill>
                    <a:effectLst/>
                    <a:uLnTx/>
                    <a:uFillTx/>
                    <a:ea typeface="游ゴシック" panose="020B0400000000000000" pitchFamily="34" charset="-128"/>
                  </a:rPr>
                  <a:t>In </a:t>
                </a:r>
                <a:r>
                  <a:rPr kumimoji="1" lang="en-NZ" altLang="ja-JP" sz="1500" u="none" strike="noStrike" kern="1200" cap="none" spc="0" normalizeH="0" baseline="0" noProof="0" dirty="0">
                    <a:ln>
                      <a:noFill/>
                    </a:ln>
                    <a:solidFill>
                      <a:prstClr val="black"/>
                    </a:solidFill>
                    <a:effectLst/>
                    <a:uLnTx/>
                    <a:uFillTx/>
                    <a:ea typeface="游ゴシック" panose="020B0400000000000000" pitchFamily="34" charset="-128"/>
                  </a:rPr>
                  <a:t>this instance, there is no theory to tell us how </a:t>
                </a:r>
                <a14:m>
                  <m:oMath xmlns:m="http://schemas.openxmlformats.org/officeDocument/2006/math">
                    <m:acc>
                      <m:accPr>
                        <m:chr m:val="̂"/>
                        <m:ctrlPr>
                          <a:rPr lang="en-US"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oMath>
                </a14:m>
                <a:r>
                  <a:rPr lang="en-US" altLang="ja-JP" sz="1500" b="1" i="1" dirty="0">
                    <a:solidFill>
                      <a:prstClr val="black"/>
                    </a:solidFill>
                  </a:rPr>
                  <a:t> </a:t>
                </a:r>
                <a:r>
                  <a:rPr lang="en-US" altLang="ja-JP" sz="1500" dirty="0">
                    <a:solidFill>
                      <a:prstClr val="black"/>
                    </a:solidFill>
                  </a:rPr>
                  <a:t>is distributed.</a:t>
                </a:r>
                <a:endPar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6" name="Text Placeholder 5">
                <a:extLst>
                  <a:ext uri="{FF2B5EF4-FFF2-40B4-BE49-F238E27FC236}">
                    <a16:creationId xmlns:a16="http://schemas.microsoft.com/office/drawing/2014/main" id="{512E3F98-8988-4238-BDF0-62769F20BA58}"/>
                  </a:ext>
                </a:extLst>
              </p:cNvPr>
              <p:cNvSpPr txBox="1">
                <a:spLocks noRot="1" noChangeAspect="1" noMove="1" noResize="1" noEditPoints="1" noAdjustHandles="1" noChangeArrowheads="1" noChangeShapeType="1" noTextEdit="1"/>
              </p:cNvSpPr>
              <p:nvPr/>
            </p:nvSpPr>
            <p:spPr>
              <a:xfrm>
                <a:off x="925483" y="3255549"/>
                <a:ext cx="10492117" cy="364216"/>
              </a:xfrm>
              <a:prstGeom prst="rect">
                <a:avLst/>
              </a:prstGeom>
              <a:blipFill>
                <a:blip r:embed="rId6"/>
                <a:stretch>
                  <a:fillRect l="-232" t="-1667" b="-10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264465CC-653B-4C0F-A1A1-4FD20F98DE07}"/>
                  </a:ext>
                </a:extLst>
              </p:cNvPr>
              <p:cNvSpPr txBox="1">
                <a:spLocks/>
              </p:cNvSpPr>
              <p:nvPr/>
            </p:nvSpPr>
            <p:spPr>
              <a:xfrm>
                <a:off x="925483" y="3776040"/>
                <a:ext cx="10492117" cy="6711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500" u="none" strike="noStrike" kern="1200" cap="none" spc="0" normalizeH="0" baseline="0" noProof="0" dirty="0">
                    <a:ln>
                      <a:noFill/>
                    </a:ln>
                    <a:solidFill>
                      <a:prstClr val="black"/>
                    </a:solidFill>
                    <a:effectLst/>
                    <a:uLnTx/>
                    <a:uFillTx/>
                    <a:ea typeface="游ゴシック" panose="020B0400000000000000" pitchFamily="34" charset="-128"/>
                  </a:rPr>
                  <a:t>However, we can take </a:t>
                </a:r>
                <a:r>
                  <a:rPr kumimoji="1" lang="en-NZ" altLang="ja-JP" sz="1500" b="1" i="1" u="none" strike="noStrike" kern="1200" cap="none" spc="0" normalizeH="0" baseline="0" noProof="0" dirty="0" err="1">
                    <a:ln>
                      <a:noFill/>
                    </a:ln>
                    <a:solidFill>
                      <a:prstClr val="black"/>
                    </a:solidFill>
                    <a:effectLst/>
                    <a:uLnTx/>
                    <a:uFillTx/>
                    <a:ea typeface="游ゴシック" panose="020B0400000000000000" pitchFamily="34" charset="-128"/>
                  </a:rPr>
                  <a:t>i</a:t>
                </a:r>
                <a:r>
                  <a:rPr kumimoji="1" lang="en-NZ" altLang="ja-JP" sz="1500" b="1" i="1" u="none" strike="noStrike" kern="1200" cap="none" spc="0" normalizeH="0" noProof="0" dirty="0">
                    <a:ln>
                      <a:noFill/>
                    </a:ln>
                    <a:solidFill>
                      <a:prstClr val="black"/>
                    </a:solidFill>
                    <a:effectLst/>
                    <a:uLnTx/>
                    <a:uFillTx/>
                    <a:ea typeface="游ゴシック" panose="020B0400000000000000" pitchFamily="34" charset="-128"/>
                  </a:rPr>
                  <a:t> = 1, … , </a:t>
                </a:r>
                <a:r>
                  <a:rPr kumimoji="1" lang="en-NZ" altLang="ja-JP" sz="1500" b="1" i="1" u="none" strike="noStrike" kern="1200" cap="none" spc="0" normalizeH="0" baseline="0" noProof="0" dirty="0">
                    <a:ln>
                      <a:noFill/>
                    </a:ln>
                    <a:solidFill>
                      <a:prstClr val="black"/>
                    </a:solidFill>
                    <a:effectLst/>
                    <a:uLnTx/>
                    <a:uFillTx/>
                    <a:ea typeface="游ゴシック" panose="020B0400000000000000" pitchFamily="34" charset="-128"/>
                  </a:rPr>
                  <a:t>1000 </a:t>
                </a:r>
                <a:r>
                  <a:rPr kumimoji="1" lang="en-NZ" altLang="ja-JP" sz="1500" u="none" strike="noStrike" kern="1200" cap="none" spc="0" normalizeH="0" baseline="0" noProof="0" dirty="0">
                    <a:ln>
                      <a:noFill/>
                    </a:ln>
                    <a:solidFill>
                      <a:prstClr val="black"/>
                    </a:solidFill>
                    <a:effectLst/>
                    <a:uLnTx/>
                    <a:uFillTx/>
                    <a:ea typeface="游ゴシック" panose="020B0400000000000000" pitchFamily="34" charset="-128"/>
                  </a:rPr>
                  <a:t>samples of 500 addresses, feed them into the API and calculate the median broadband speed</a:t>
                </a:r>
                <a14:m>
                  <m:oMath xmlns:m="http://schemas.openxmlformats.org/officeDocument/2006/math">
                    <m:acc>
                      <m:accPr>
                        <m:chr m:val="̂"/>
                        <m:ctrlPr>
                          <a:rPr lang="en-US" altLang="ja-JP" sz="1500" b="1" i="1">
                            <a:solidFill>
                              <a:prstClr val="black"/>
                            </a:solidFill>
                            <a:latin typeface="Cambria Math" panose="02040503050406030204" pitchFamily="18" charset="0"/>
                          </a:rPr>
                        </m:ctrlPr>
                      </m:accPr>
                      <m:e>
                        <m:r>
                          <a:rPr lang="en-NZ" altLang="ja-JP" sz="1500" b="1" i="1" smtClean="0">
                            <a:solidFill>
                              <a:prstClr val="black"/>
                            </a:solidFill>
                            <a:latin typeface="Cambria Math" panose="02040503050406030204" pitchFamily="18" charset="0"/>
                          </a:rPr>
                          <m:t> </m:t>
                        </m:r>
                        <m:sSub>
                          <m:sSubPr>
                            <m:ctrlPr>
                              <a:rPr lang="en-NZ" altLang="ja-JP" sz="1500" b="1" i="1" smtClean="0">
                                <a:solidFill>
                                  <a:prstClr val="black"/>
                                </a:solidFill>
                                <a:latin typeface="Cambria Math" panose="02040503050406030204" pitchFamily="18" charset="0"/>
                              </a:rPr>
                            </m:ctrlPr>
                          </m:sSubPr>
                          <m:e>
                            <m:r>
                              <a:rPr lang="en-NZ" altLang="ja-JP" sz="1500" b="1" i="1">
                                <a:solidFill>
                                  <a:prstClr val="black"/>
                                </a:solidFill>
                                <a:latin typeface="Cambria Math" panose="02040503050406030204" pitchFamily="18" charset="0"/>
                              </a:rPr>
                              <m:t>𝜽</m:t>
                            </m:r>
                          </m:e>
                          <m:sub>
                            <m:r>
                              <a:rPr lang="en-NZ" altLang="ja-JP" sz="1500" b="1" i="1" smtClean="0">
                                <a:solidFill>
                                  <a:prstClr val="black"/>
                                </a:solidFill>
                                <a:latin typeface="Cambria Math" panose="02040503050406030204" pitchFamily="18" charset="0"/>
                              </a:rPr>
                              <m:t>𝒊</m:t>
                            </m:r>
                          </m:sub>
                        </m:sSub>
                      </m:e>
                    </m:acc>
                  </m:oMath>
                </a14:m>
                <a:r>
                  <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for</a:t>
                </a:r>
                <a:r>
                  <a:rPr kumimoji="1" lang="en-US" altLang="ja-JP" sz="15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each of these samples.</a:t>
                </a:r>
                <a:endPar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7" name="Text Placeholder 5">
                <a:extLst>
                  <a:ext uri="{FF2B5EF4-FFF2-40B4-BE49-F238E27FC236}">
                    <a16:creationId xmlns:a16="http://schemas.microsoft.com/office/drawing/2014/main" id="{264465CC-653B-4C0F-A1A1-4FD20F98DE07}"/>
                  </a:ext>
                </a:extLst>
              </p:cNvPr>
              <p:cNvSpPr txBox="1">
                <a:spLocks noRot="1" noChangeAspect="1" noMove="1" noResize="1" noEditPoints="1" noAdjustHandles="1" noChangeArrowheads="1" noChangeShapeType="1" noTextEdit="1"/>
              </p:cNvSpPr>
              <p:nvPr/>
            </p:nvSpPr>
            <p:spPr>
              <a:xfrm>
                <a:off x="925483" y="3776040"/>
                <a:ext cx="10492117" cy="671120"/>
              </a:xfrm>
              <a:prstGeom prst="rect">
                <a:avLst/>
              </a:prstGeom>
              <a:blipFill>
                <a:blip r:embed="rId7"/>
                <a:stretch>
                  <a:fillRect l="-232" t="-901" r="-482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BDD15B5F-FD0E-4082-9F32-D640513E7628}"/>
                  </a:ext>
                </a:extLst>
              </p:cNvPr>
              <p:cNvSpPr txBox="1">
                <a:spLocks/>
              </p:cNvSpPr>
              <p:nvPr/>
            </p:nvSpPr>
            <p:spPr>
              <a:xfrm>
                <a:off x="925483" y="4312115"/>
                <a:ext cx="10492117" cy="6711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500" dirty="0">
                    <a:solidFill>
                      <a:prstClr val="black"/>
                    </a:solidFill>
                    <a:ea typeface="游ゴシック" panose="020B0400000000000000" pitchFamily="34" charset="-128"/>
                  </a:rPr>
                  <a:t>T</a:t>
                </a:r>
                <a:r>
                  <a:rPr kumimoji="1" lang="en-NZ" altLang="ja-JP" sz="1500" u="none" strike="noStrike" kern="1200" cap="none" spc="0" normalizeH="0" baseline="0" noProof="0" dirty="0">
                    <a:ln>
                      <a:noFill/>
                    </a:ln>
                    <a:solidFill>
                      <a:prstClr val="black"/>
                    </a:solidFill>
                    <a:effectLst/>
                    <a:uLnTx/>
                    <a:uFillTx/>
                    <a:ea typeface="游ゴシック" panose="020B0400000000000000" pitchFamily="34" charset="-128"/>
                  </a:rPr>
                  <a:t>he standard error of </a:t>
                </a:r>
                <a14:m>
                  <m:oMath xmlns:m="http://schemas.openxmlformats.org/officeDocument/2006/math">
                    <m:acc>
                      <m:accPr>
                        <m:chr m:val="̂"/>
                        <m:ctrlPr>
                          <a:rPr lang="en-US"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oMath>
                </a14:m>
                <a:r>
                  <a:rPr lang="en-US" altLang="ja-JP" sz="1500" b="1" i="1" dirty="0">
                    <a:solidFill>
                      <a:prstClr val="black"/>
                    </a:solidFill>
                  </a:rPr>
                  <a:t> </a:t>
                </a:r>
                <a:r>
                  <a:rPr lang="en-US" altLang="ja-JP" sz="1500" dirty="0">
                    <a:solidFill>
                      <a:prstClr val="black"/>
                    </a:solidFill>
                  </a:rPr>
                  <a:t>is estimated by  </a:t>
                </a:r>
                <a14:m>
                  <m:oMath xmlns:m="http://schemas.openxmlformats.org/officeDocument/2006/math">
                    <m:r>
                      <a:rPr lang="en-NZ" altLang="ja-JP" sz="1500" b="1" i="1">
                        <a:solidFill>
                          <a:prstClr val="black"/>
                        </a:solidFill>
                        <a:latin typeface="Cambria Math" panose="02040503050406030204" pitchFamily="18" charset="0"/>
                      </a:rPr>
                      <m:t>𝒔</m:t>
                    </m:r>
                    <m:r>
                      <a:rPr lang="en-NZ" altLang="ja-JP" sz="1500" b="1" i="1">
                        <a:solidFill>
                          <a:prstClr val="black"/>
                        </a:solidFill>
                        <a:latin typeface="Cambria Math" panose="02040503050406030204" pitchFamily="18" charset="0"/>
                      </a:rPr>
                      <m:t>.</m:t>
                    </m:r>
                    <m:r>
                      <a:rPr lang="en-NZ" altLang="ja-JP" sz="1500" b="1" i="1">
                        <a:solidFill>
                          <a:prstClr val="black"/>
                        </a:solidFill>
                        <a:latin typeface="Cambria Math" panose="02040503050406030204" pitchFamily="18" charset="0"/>
                      </a:rPr>
                      <m:t>𝒆</m:t>
                    </m:r>
                    <m:r>
                      <a:rPr lang="en-NZ" altLang="ja-JP" sz="1500" b="1" i="1">
                        <a:solidFill>
                          <a:prstClr val="black"/>
                        </a:solidFill>
                        <a:latin typeface="Cambria Math" panose="02040503050406030204" pitchFamily="18" charset="0"/>
                      </a:rPr>
                      <m:t>.</m:t>
                    </m:r>
                    <m:d>
                      <m:dPr>
                        <m:begChr m:val="["/>
                        <m:endChr m:val="]"/>
                        <m:ctrlPr>
                          <a:rPr lang="en-NZ" altLang="ja-JP" sz="1500" b="1" i="1">
                            <a:solidFill>
                              <a:prstClr val="black"/>
                            </a:solidFill>
                            <a:latin typeface="Cambria Math" panose="02040503050406030204" pitchFamily="18" charset="0"/>
                          </a:rPr>
                        </m:ctrlPr>
                      </m:dPr>
                      <m:e>
                        <m:acc>
                          <m:accPr>
                            <m:chr m:val="̂"/>
                            <m:ctrlPr>
                              <a:rPr lang="en-NZ"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e>
                    </m:d>
                    <m:r>
                      <a:rPr lang="en-NZ" altLang="ja-JP" sz="1500" b="0" i="1" smtClean="0">
                        <a:solidFill>
                          <a:prstClr val="black"/>
                        </a:solidFill>
                        <a:latin typeface="Cambria Math" panose="02040503050406030204" pitchFamily="18" charset="0"/>
                      </a:rPr>
                      <m:t>= </m:t>
                    </m:r>
                    <m:rad>
                      <m:radPr>
                        <m:degHide m:val="on"/>
                        <m:ctrlPr>
                          <a:rPr lang="en-US" altLang="ja-JP" sz="1500" i="1" smtClean="0">
                            <a:solidFill>
                              <a:prstClr val="black"/>
                            </a:solidFill>
                            <a:latin typeface="Cambria Math" panose="02040503050406030204" pitchFamily="18" charset="0"/>
                          </a:rPr>
                        </m:ctrlPr>
                      </m:radPr>
                      <m:deg/>
                      <m:e>
                        <m:f>
                          <m:fPr>
                            <m:ctrlPr>
                              <a:rPr lang="en-US" altLang="ja-JP" sz="1500" i="1" smtClean="0">
                                <a:solidFill>
                                  <a:prstClr val="black"/>
                                </a:solidFill>
                                <a:latin typeface="Cambria Math" panose="02040503050406030204" pitchFamily="18" charset="0"/>
                              </a:rPr>
                            </m:ctrlPr>
                          </m:fPr>
                          <m:num>
                            <m:nary>
                              <m:naryPr>
                                <m:chr m:val="∑"/>
                                <m:ctrlPr>
                                  <a:rPr lang="en-US" altLang="ja-JP" sz="1500" i="1" smtClean="0">
                                    <a:solidFill>
                                      <a:prstClr val="black"/>
                                    </a:solidFill>
                                    <a:latin typeface="Cambria Math" panose="02040503050406030204" pitchFamily="18" charset="0"/>
                                  </a:rPr>
                                </m:ctrlPr>
                              </m:naryPr>
                              <m:sub>
                                <m:r>
                                  <m:rPr>
                                    <m:brk m:alnAt="23"/>
                                  </m:rPr>
                                  <a:rPr lang="en-NZ" altLang="ja-JP" sz="1500" b="0" i="1" smtClean="0">
                                    <a:solidFill>
                                      <a:prstClr val="black"/>
                                    </a:solidFill>
                                    <a:latin typeface="Cambria Math" panose="02040503050406030204" pitchFamily="18" charset="0"/>
                                  </a:rPr>
                                  <m:t>𝑖</m:t>
                                </m:r>
                                <m:r>
                                  <a:rPr lang="en-NZ" altLang="ja-JP" sz="1500" b="0" i="1" smtClean="0">
                                    <a:solidFill>
                                      <a:prstClr val="black"/>
                                    </a:solidFill>
                                    <a:latin typeface="Cambria Math" panose="02040503050406030204" pitchFamily="18" charset="0"/>
                                  </a:rPr>
                                  <m:t>=1</m:t>
                                </m:r>
                              </m:sub>
                              <m:sup>
                                <m:r>
                                  <a:rPr lang="en-NZ" altLang="ja-JP" sz="1500" b="0" i="1" smtClean="0">
                                    <a:solidFill>
                                      <a:prstClr val="black"/>
                                    </a:solidFill>
                                    <a:latin typeface="Cambria Math" panose="02040503050406030204" pitchFamily="18" charset="0"/>
                                  </a:rPr>
                                  <m:t>1000</m:t>
                                </m:r>
                              </m:sup>
                              <m:e>
                                <m:sSup>
                                  <m:sSupPr>
                                    <m:ctrlPr>
                                      <a:rPr lang="en-NZ" altLang="ja-JP" sz="1500" b="0" i="1" smtClean="0">
                                        <a:solidFill>
                                          <a:prstClr val="black"/>
                                        </a:solidFill>
                                        <a:latin typeface="Cambria Math" panose="02040503050406030204" pitchFamily="18" charset="0"/>
                                      </a:rPr>
                                    </m:ctrlPr>
                                  </m:sSupPr>
                                  <m:e>
                                    <m:d>
                                      <m:dPr>
                                        <m:ctrlPr>
                                          <a:rPr lang="en-US" altLang="ja-JP" sz="1500" i="1" smtClean="0">
                                            <a:solidFill>
                                              <a:prstClr val="black"/>
                                            </a:solidFill>
                                            <a:latin typeface="Cambria Math" panose="02040503050406030204" pitchFamily="18" charset="0"/>
                                          </a:rPr>
                                        </m:ctrlPr>
                                      </m:dPr>
                                      <m:e>
                                        <m:acc>
                                          <m:accPr>
                                            <m:chr m:val="̂"/>
                                            <m:ctrlPr>
                                              <a:rPr lang="en-US" altLang="ja-JP" sz="1500" i="1" smtClean="0">
                                                <a:solidFill>
                                                  <a:prstClr val="black"/>
                                                </a:solidFill>
                                                <a:latin typeface="Cambria Math" panose="02040503050406030204" pitchFamily="18" charset="0"/>
                                              </a:rPr>
                                            </m:ctrlPr>
                                          </m:accPr>
                                          <m:e>
                                            <m:sSub>
                                              <m:sSubPr>
                                                <m:ctrlPr>
                                                  <a:rPr lang="en-NZ" altLang="ja-JP" sz="1500" b="0" i="1" smtClean="0">
                                                    <a:solidFill>
                                                      <a:prstClr val="black"/>
                                                    </a:solidFill>
                                                    <a:latin typeface="Cambria Math" panose="02040503050406030204" pitchFamily="18" charset="0"/>
                                                  </a:rPr>
                                                </m:ctrlPr>
                                              </m:sSubPr>
                                              <m:e>
                                                <m:r>
                                                  <a:rPr lang="en-NZ" altLang="ja-JP" sz="1500" b="0" i="1" smtClean="0">
                                                    <a:solidFill>
                                                      <a:prstClr val="black"/>
                                                    </a:solidFill>
                                                    <a:latin typeface="Cambria Math" panose="02040503050406030204" pitchFamily="18" charset="0"/>
                                                  </a:rPr>
                                                  <m:t>𝜃</m:t>
                                                </m:r>
                                              </m:e>
                                              <m:sub>
                                                <m:r>
                                                  <a:rPr lang="en-NZ" altLang="ja-JP" sz="1500" b="0" i="1" smtClean="0">
                                                    <a:solidFill>
                                                      <a:prstClr val="black"/>
                                                    </a:solidFill>
                                                    <a:latin typeface="Cambria Math" panose="02040503050406030204" pitchFamily="18" charset="0"/>
                                                  </a:rPr>
                                                  <m:t>𝑖</m:t>
                                                </m:r>
                                              </m:sub>
                                            </m:sSub>
                                          </m:e>
                                        </m:acc>
                                        <m:r>
                                          <a:rPr lang="en-NZ" altLang="ja-JP" sz="1500" b="0" i="1" smtClean="0">
                                            <a:solidFill>
                                              <a:prstClr val="black"/>
                                            </a:solidFill>
                                            <a:latin typeface="Cambria Math" panose="02040503050406030204" pitchFamily="18" charset="0"/>
                                          </a:rPr>
                                          <m:t>  − </m:t>
                                        </m:r>
                                        <m:acc>
                                          <m:accPr>
                                            <m:chr m:val="̅"/>
                                            <m:ctrlPr>
                                              <a:rPr lang="en-NZ" altLang="ja-JP" sz="1500" b="0" i="1" smtClean="0">
                                                <a:solidFill>
                                                  <a:prstClr val="black"/>
                                                </a:solidFill>
                                                <a:latin typeface="Cambria Math" panose="02040503050406030204" pitchFamily="18" charset="0"/>
                                              </a:rPr>
                                            </m:ctrlPr>
                                          </m:accPr>
                                          <m:e>
                                            <m:r>
                                              <a:rPr lang="en-NZ" altLang="ja-JP" sz="1500" b="0" i="1" smtClean="0">
                                                <a:solidFill>
                                                  <a:prstClr val="black"/>
                                                </a:solidFill>
                                                <a:latin typeface="Cambria Math" panose="02040503050406030204" pitchFamily="18" charset="0"/>
                                              </a:rPr>
                                              <m:t>𝜃</m:t>
                                            </m:r>
                                          </m:e>
                                        </m:acc>
                                        <m:r>
                                          <a:rPr lang="en-NZ" altLang="ja-JP" sz="1500" b="0" i="1" smtClean="0">
                                            <a:solidFill>
                                              <a:prstClr val="black"/>
                                            </a:solidFill>
                                            <a:latin typeface="Cambria Math" panose="02040503050406030204" pitchFamily="18" charset="0"/>
                                          </a:rPr>
                                          <m:t> </m:t>
                                        </m:r>
                                      </m:e>
                                    </m:d>
                                  </m:e>
                                  <m:sup>
                                    <m:r>
                                      <a:rPr lang="en-NZ" altLang="ja-JP" sz="1500" b="0" i="1" smtClean="0">
                                        <a:solidFill>
                                          <a:prstClr val="black"/>
                                        </a:solidFill>
                                        <a:latin typeface="Cambria Math" panose="02040503050406030204" pitchFamily="18" charset="0"/>
                                      </a:rPr>
                                      <m:t>2</m:t>
                                    </m:r>
                                  </m:sup>
                                </m:sSup>
                              </m:e>
                            </m:nary>
                          </m:num>
                          <m:den>
                            <m:r>
                              <a:rPr lang="en-NZ" altLang="ja-JP" sz="1500" b="0" i="1" smtClean="0">
                                <a:solidFill>
                                  <a:prstClr val="black"/>
                                </a:solidFill>
                                <a:latin typeface="Cambria Math" panose="02040503050406030204" pitchFamily="18" charset="0"/>
                              </a:rPr>
                              <m:t>1000−1</m:t>
                            </m:r>
                          </m:den>
                        </m:f>
                      </m:e>
                    </m:rad>
                  </m:oMath>
                </a14:m>
                <a:r>
                  <a:rPr lang="en-US" altLang="ja-JP" sz="1500" dirty="0">
                    <a:solidFill>
                      <a:prstClr val="black"/>
                    </a:solidFill>
                  </a:rPr>
                  <a:t> </a:t>
                </a:r>
                <a:endPar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8" name="Text Placeholder 5">
                <a:extLst>
                  <a:ext uri="{FF2B5EF4-FFF2-40B4-BE49-F238E27FC236}">
                    <a16:creationId xmlns:a16="http://schemas.microsoft.com/office/drawing/2014/main" id="{BDD15B5F-FD0E-4082-9F32-D640513E7628}"/>
                  </a:ext>
                </a:extLst>
              </p:cNvPr>
              <p:cNvSpPr txBox="1">
                <a:spLocks noRot="1" noChangeAspect="1" noMove="1" noResize="1" noEditPoints="1" noAdjustHandles="1" noChangeArrowheads="1" noChangeShapeType="1" noTextEdit="1"/>
              </p:cNvSpPr>
              <p:nvPr/>
            </p:nvSpPr>
            <p:spPr>
              <a:xfrm>
                <a:off x="925483" y="4312115"/>
                <a:ext cx="10492117" cy="671120"/>
              </a:xfrm>
              <a:prstGeom prst="rect">
                <a:avLst/>
              </a:prstGeom>
              <a:blipFill>
                <a:blip r:embed="rId8"/>
                <a:stretch>
                  <a:fillRect l="-23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3A3528FD-BBF5-46F0-A0A7-B32573FF44A8}"/>
                  </a:ext>
                </a:extLst>
              </p:cNvPr>
              <p:cNvSpPr txBox="1">
                <a:spLocks/>
              </p:cNvSpPr>
              <p:nvPr/>
            </p:nvSpPr>
            <p:spPr>
              <a:xfrm>
                <a:off x="925483" y="4930056"/>
                <a:ext cx="10739316" cy="3642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500" dirty="0">
                    <a:solidFill>
                      <a:prstClr val="black"/>
                    </a:solidFill>
                    <a:ea typeface="游ゴシック" panose="020B0400000000000000" pitchFamily="34" charset="-128"/>
                  </a:rPr>
                  <a:t>Although we don’t know how </a:t>
                </a:r>
                <a14:m>
                  <m:oMath xmlns:m="http://schemas.openxmlformats.org/officeDocument/2006/math">
                    <m:acc>
                      <m:accPr>
                        <m:chr m:val="̂"/>
                        <m:ctrlPr>
                          <a:rPr lang="en-US"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oMath>
                </a14:m>
                <a:r>
                  <a:rPr lang="en-NZ" altLang="ja-JP" sz="1500" dirty="0">
                    <a:solidFill>
                      <a:prstClr val="black"/>
                    </a:solidFill>
                    <a:ea typeface="游ゴシック" panose="020B0400000000000000" pitchFamily="34" charset="-128"/>
                  </a:rPr>
                  <a:t> is distributed, we can create an empirical 95% confidence interval for </a:t>
                </a:r>
                <a14:m>
                  <m:oMath xmlns:m="http://schemas.openxmlformats.org/officeDocument/2006/math">
                    <m:r>
                      <a:rPr lang="en-NZ" altLang="ja-JP" sz="1500" b="1" i="1">
                        <a:solidFill>
                          <a:prstClr val="black"/>
                        </a:solidFill>
                        <a:latin typeface="Cambria Math" panose="02040503050406030204" pitchFamily="18" charset="0"/>
                      </a:rPr>
                      <m:t>𝜽</m:t>
                    </m:r>
                    <m:r>
                      <a:rPr lang="en-NZ" altLang="ja-JP" sz="1500" b="1" i="1">
                        <a:solidFill>
                          <a:prstClr val="black"/>
                        </a:solidFill>
                        <a:latin typeface="Cambria Math" panose="02040503050406030204" pitchFamily="18" charset="0"/>
                      </a:rPr>
                      <m:t> </m:t>
                    </m:r>
                  </m:oMath>
                </a14:m>
                <a:r>
                  <a:rPr lang="en-NZ" altLang="ja-JP" sz="1500" dirty="0" err="1">
                    <a:solidFill>
                      <a:prstClr val="black"/>
                    </a:solidFill>
                    <a:ea typeface="游ゴシック" panose="020B0400000000000000" pitchFamily="34" charset="-128"/>
                  </a:rPr>
                  <a:t>s.t.</a:t>
                </a:r>
                <a:r>
                  <a:rPr lang="en-NZ" altLang="ja-JP" sz="1500" dirty="0">
                    <a:solidFill>
                      <a:prstClr val="black"/>
                    </a:solidFill>
                    <a:ea typeface="游ゴシック" panose="020B0400000000000000" pitchFamily="34" charset="-128"/>
                  </a:rPr>
                  <a:t> </a:t>
                </a:r>
                <a:r>
                  <a:rPr lang="en-US" altLang="ja-JP" sz="1500" dirty="0">
                    <a:solidFill>
                      <a:prstClr val="black"/>
                    </a:solidFill>
                  </a:rPr>
                  <a:t> </a:t>
                </a:r>
                <a:endParaRPr kumimoji="1" lang="en-US" altLang="ja-JP" sz="15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9" name="Text Placeholder 5">
                <a:extLst>
                  <a:ext uri="{FF2B5EF4-FFF2-40B4-BE49-F238E27FC236}">
                    <a16:creationId xmlns:a16="http://schemas.microsoft.com/office/drawing/2014/main" id="{3A3528FD-BBF5-46F0-A0A7-B32573FF44A8}"/>
                  </a:ext>
                </a:extLst>
              </p:cNvPr>
              <p:cNvSpPr txBox="1">
                <a:spLocks noRot="1" noChangeAspect="1" noMove="1" noResize="1" noEditPoints="1" noAdjustHandles="1" noChangeArrowheads="1" noChangeShapeType="1" noTextEdit="1"/>
              </p:cNvSpPr>
              <p:nvPr/>
            </p:nvSpPr>
            <p:spPr>
              <a:xfrm>
                <a:off x="925483" y="4930056"/>
                <a:ext cx="10739316" cy="364216"/>
              </a:xfrm>
              <a:prstGeom prst="rect">
                <a:avLst/>
              </a:prstGeom>
              <a:blipFill>
                <a:blip r:embed="rId9"/>
                <a:stretch>
                  <a:fillRect l="-227" t="-1695" b="-1016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0631813-A090-4ECA-839B-6217840C5790}"/>
                  </a:ext>
                </a:extLst>
              </p:cNvPr>
              <p:cNvSpPr txBox="1"/>
              <p:nvPr/>
            </p:nvSpPr>
            <p:spPr>
              <a:xfrm>
                <a:off x="925483" y="5343360"/>
                <a:ext cx="10886431" cy="352854"/>
              </a:xfrm>
              <a:prstGeom prst="rect">
                <a:avLst/>
              </a:prstGeom>
              <a:noFill/>
            </p:spPr>
            <p:txBody>
              <a:bodyPr wrap="square">
                <a:spAutoFit/>
              </a:bodyPr>
              <a:lstStyle/>
              <a:p>
                <a14:m>
                  <m:oMath xmlns:m="http://schemas.openxmlformats.org/officeDocument/2006/math">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𝟗𝟓</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𝑪𝑰</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d>
                      <m:dPr>
                        <m:begChr m:val="["/>
                        <m:endChr m:val="]"/>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lang="en-NZ" altLang="ja-JP" sz="1500" b="1" i="1" smtClean="0">
                                <a:solidFill>
                                  <a:prstClr val="black"/>
                                </a:solidFill>
                                <a:latin typeface="Cambria Math" panose="02040503050406030204" pitchFamily="18" charset="0"/>
                              </a:rPr>
                            </m:ctrlPr>
                          </m:sSubPr>
                          <m:e>
                            <m:acc>
                              <m:accPr>
                                <m:chr m:val="̂"/>
                                <m:ctrlPr>
                                  <a:rPr lang="en-US"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e>
                          <m:sub>
                            <m:r>
                              <a:rPr lang="en-NZ" altLang="ja-JP" sz="1500" b="1" i="1" smtClean="0">
                                <a:solidFill>
                                  <a:prstClr val="black"/>
                                </a:solidFill>
                                <a:latin typeface="Cambria Math" panose="02040503050406030204" pitchFamily="18" charset="0"/>
                              </a:rPr>
                              <m:t>𝟐</m:t>
                            </m:r>
                            <m:r>
                              <a:rPr lang="en-NZ" altLang="ja-JP" sz="1500" b="1" i="1" smtClean="0">
                                <a:solidFill>
                                  <a:prstClr val="black"/>
                                </a:solidFill>
                                <a:latin typeface="Cambria Math" panose="02040503050406030204" pitchFamily="18" charset="0"/>
                              </a:rPr>
                              <m:t>.</m:t>
                            </m:r>
                            <m:r>
                              <a:rPr lang="en-NZ" altLang="ja-JP" sz="1500" b="1" i="1" smtClean="0">
                                <a:solidFill>
                                  <a:prstClr val="black"/>
                                </a:solidFill>
                                <a:latin typeface="Cambria Math" panose="02040503050406030204" pitchFamily="18" charset="0"/>
                              </a:rPr>
                              <m:t>𝟓</m:t>
                            </m:r>
                          </m:sub>
                        </m:sSub>
                        <m:r>
                          <a:rPr lang="en-NZ" altLang="ja-JP" sz="1500" b="1" i="1" smtClean="0">
                            <a:solidFill>
                              <a:prstClr val="black"/>
                            </a:solidFill>
                            <a:latin typeface="Cambria Math" panose="02040503050406030204" pitchFamily="18" charset="0"/>
                          </a:rPr>
                          <m:t> ,</m:t>
                        </m:r>
                        <m:sSub>
                          <m:sSubPr>
                            <m:ctrlPr>
                              <a:rPr lang="en-NZ" altLang="ja-JP" sz="1500" b="1" i="1">
                                <a:solidFill>
                                  <a:prstClr val="black"/>
                                </a:solidFill>
                                <a:latin typeface="Cambria Math" panose="02040503050406030204" pitchFamily="18" charset="0"/>
                              </a:rPr>
                            </m:ctrlPr>
                          </m:sSubPr>
                          <m:e>
                            <m:acc>
                              <m:accPr>
                                <m:chr m:val="̂"/>
                                <m:ctrlPr>
                                  <a:rPr lang="en-US"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e>
                          <m:sub>
                            <m:r>
                              <a:rPr lang="en-NZ" altLang="ja-JP" sz="1500" b="1" i="1" smtClean="0">
                                <a:solidFill>
                                  <a:prstClr val="black"/>
                                </a:solidFill>
                                <a:latin typeface="Cambria Math" panose="02040503050406030204" pitchFamily="18" charset="0"/>
                              </a:rPr>
                              <m:t>𝟗𝟕</m:t>
                            </m:r>
                            <m:r>
                              <a:rPr lang="en-NZ" altLang="ja-JP" sz="1500" b="1" i="1" smtClean="0">
                                <a:solidFill>
                                  <a:prstClr val="black"/>
                                </a:solidFill>
                                <a:latin typeface="Cambria Math" panose="02040503050406030204" pitchFamily="18" charset="0"/>
                              </a:rPr>
                              <m:t>.</m:t>
                            </m:r>
                            <m:r>
                              <a:rPr lang="en-NZ" altLang="ja-JP" sz="1500" b="1" i="1" smtClean="0">
                                <a:solidFill>
                                  <a:prstClr val="black"/>
                                </a:solidFill>
                                <a:latin typeface="Cambria Math" panose="02040503050406030204" pitchFamily="18" charset="0"/>
                              </a:rPr>
                              <m:t>𝟓</m:t>
                            </m:r>
                          </m:sub>
                        </m:sSub>
                      </m:e>
                    </m:d>
                  </m:oMath>
                </a14:m>
                <a:r>
                  <a:rPr lang="en-NZ" sz="1500" dirty="0"/>
                  <a:t>  where </a:t>
                </a:r>
                <a14:m>
                  <m:oMath xmlns:m="http://schemas.openxmlformats.org/officeDocument/2006/math">
                    <m:sSub>
                      <m:sSubPr>
                        <m:ctrlPr>
                          <a:rPr lang="en-NZ" altLang="ja-JP" sz="1500" b="1" i="1">
                            <a:solidFill>
                              <a:prstClr val="black"/>
                            </a:solidFill>
                            <a:latin typeface="Cambria Math" panose="02040503050406030204" pitchFamily="18" charset="0"/>
                          </a:rPr>
                        </m:ctrlPr>
                      </m:sSubPr>
                      <m:e>
                        <m:acc>
                          <m:accPr>
                            <m:chr m:val="̂"/>
                            <m:ctrlPr>
                              <a:rPr lang="en-US"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e>
                      <m:sub>
                        <m:r>
                          <a:rPr lang="en-NZ" altLang="ja-JP" sz="1500" b="1" i="1">
                            <a:solidFill>
                              <a:prstClr val="black"/>
                            </a:solidFill>
                            <a:latin typeface="Cambria Math" panose="02040503050406030204" pitchFamily="18" charset="0"/>
                          </a:rPr>
                          <m:t>𝟐</m:t>
                        </m:r>
                        <m:r>
                          <a:rPr lang="en-NZ" altLang="ja-JP" sz="1500" b="1" i="1" smtClean="0">
                            <a:solidFill>
                              <a:prstClr val="black"/>
                            </a:solidFill>
                            <a:latin typeface="Cambria Math" panose="02040503050406030204" pitchFamily="18" charset="0"/>
                          </a:rPr>
                          <m:t>.</m:t>
                        </m:r>
                        <m:r>
                          <a:rPr lang="en-NZ" altLang="ja-JP" sz="1500" b="1" i="1">
                            <a:solidFill>
                              <a:prstClr val="black"/>
                            </a:solidFill>
                            <a:latin typeface="Cambria Math" panose="02040503050406030204" pitchFamily="18" charset="0"/>
                          </a:rPr>
                          <m:t>𝟓</m:t>
                        </m:r>
                      </m:sub>
                    </m:sSub>
                  </m:oMath>
                </a14:m>
                <a:r>
                  <a:rPr lang="en-NZ" sz="1500" dirty="0"/>
                  <a:t> is the 2.5</a:t>
                </a:r>
                <a:r>
                  <a:rPr lang="en-NZ" sz="1500" baseline="30000" dirty="0"/>
                  <a:t>th</a:t>
                </a:r>
                <a:r>
                  <a:rPr lang="en-NZ" sz="1500" dirty="0"/>
                  <a:t> percentile of calculated sample statistics and </a:t>
                </a:r>
                <a14:m>
                  <m:oMath xmlns:m="http://schemas.openxmlformats.org/officeDocument/2006/math">
                    <m:sSub>
                      <m:sSubPr>
                        <m:ctrlPr>
                          <a:rPr lang="en-NZ" altLang="ja-JP" sz="1500" b="1" i="1">
                            <a:solidFill>
                              <a:prstClr val="black"/>
                            </a:solidFill>
                            <a:latin typeface="Cambria Math" panose="02040503050406030204" pitchFamily="18" charset="0"/>
                          </a:rPr>
                        </m:ctrlPr>
                      </m:sSubPr>
                      <m:e>
                        <m:acc>
                          <m:accPr>
                            <m:chr m:val="̂"/>
                            <m:ctrlPr>
                              <a:rPr lang="en-US" altLang="ja-JP" sz="1500" b="1" i="1">
                                <a:solidFill>
                                  <a:prstClr val="black"/>
                                </a:solidFill>
                                <a:latin typeface="Cambria Math" panose="02040503050406030204" pitchFamily="18" charset="0"/>
                              </a:rPr>
                            </m:ctrlPr>
                          </m:accPr>
                          <m:e>
                            <m:r>
                              <a:rPr lang="en-NZ" altLang="ja-JP" sz="1500" b="1" i="1">
                                <a:solidFill>
                                  <a:prstClr val="black"/>
                                </a:solidFill>
                                <a:latin typeface="Cambria Math" panose="02040503050406030204" pitchFamily="18" charset="0"/>
                              </a:rPr>
                              <m:t>𝜽</m:t>
                            </m:r>
                          </m:e>
                        </m:acc>
                      </m:e>
                      <m:sub>
                        <m:r>
                          <a:rPr lang="en-NZ" altLang="ja-JP" sz="1500" b="1" i="1" smtClean="0">
                            <a:solidFill>
                              <a:prstClr val="black"/>
                            </a:solidFill>
                            <a:latin typeface="Cambria Math" panose="02040503050406030204" pitchFamily="18" charset="0"/>
                          </a:rPr>
                          <m:t>𝟗𝟕</m:t>
                        </m:r>
                        <m:r>
                          <a:rPr lang="en-NZ" altLang="ja-JP" sz="1500" b="1" i="1" smtClean="0">
                            <a:solidFill>
                              <a:prstClr val="black"/>
                            </a:solidFill>
                            <a:latin typeface="Cambria Math" panose="02040503050406030204" pitchFamily="18" charset="0"/>
                          </a:rPr>
                          <m:t>.</m:t>
                        </m:r>
                        <m:r>
                          <a:rPr lang="en-NZ" altLang="ja-JP" sz="1500" b="1" i="1">
                            <a:solidFill>
                              <a:prstClr val="black"/>
                            </a:solidFill>
                            <a:latin typeface="Cambria Math" panose="02040503050406030204" pitchFamily="18" charset="0"/>
                          </a:rPr>
                          <m:t>𝟓</m:t>
                        </m:r>
                      </m:sub>
                    </m:sSub>
                  </m:oMath>
                </a14:m>
                <a:r>
                  <a:rPr lang="en-NZ" sz="1500" dirty="0"/>
                  <a:t> is the 97.5</a:t>
                </a:r>
                <a:r>
                  <a:rPr lang="en-NZ" sz="1500" baseline="30000" dirty="0"/>
                  <a:t>th</a:t>
                </a:r>
                <a:r>
                  <a:rPr lang="en-NZ" sz="1500" dirty="0"/>
                  <a:t> percentile.   </a:t>
                </a:r>
              </a:p>
            </p:txBody>
          </p:sp>
        </mc:Choice>
        <mc:Fallback xmlns="">
          <p:sp>
            <p:nvSpPr>
              <p:cNvPr id="30" name="TextBox 29">
                <a:extLst>
                  <a:ext uri="{FF2B5EF4-FFF2-40B4-BE49-F238E27FC236}">
                    <a16:creationId xmlns:a16="http://schemas.microsoft.com/office/drawing/2014/main" id="{30631813-A090-4ECA-839B-6217840C5790}"/>
                  </a:ext>
                </a:extLst>
              </p:cNvPr>
              <p:cNvSpPr txBox="1">
                <a:spLocks noRot="1" noChangeAspect="1" noMove="1" noResize="1" noEditPoints="1" noAdjustHandles="1" noChangeArrowheads="1" noChangeShapeType="1" noTextEdit="1"/>
              </p:cNvSpPr>
              <p:nvPr/>
            </p:nvSpPr>
            <p:spPr>
              <a:xfrm>
                <a:off x="925483" y="5343360"/>
                <a:ext cx="10886431" cy="352854"/>
              </a:xfrm>
              <a:prstGeom prst="rect">
                <a:avLst/>
              </a:prstGeom>
              <a:blipFill>
                <a:blip r:embed="rId10"/>
                <a:stretch>
                  <a:fillRect b="-15789"/>
                </a:stretch>
              </a:blipFill>
            </p:spPr>
            <p:txBody>
              <a:bodyPr/>
              <a:lstStyle/>
              <a:p>
                <a:r>
                  <a:rPr lang="en-NZ">
                    <a:noFill/>
                  </a:rPr>
                  <a:t> </a:t>
                </a:r>
              </a:p>
            </p:txBody>
          </p:sp>
        </mc:Fallback>
      </mc:AlternateContent>
    </p:spTree>
    <p:extLst>
      <p:ext uri="{BB962C8B-B14F-4D97-AF65-F5344CB8AC3E}">
        <p14:creationId xmlns:p14="http://schemas.microsoft.com/office/powerpoint/2010/main" val="308017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8" grpId="0"/>
      <p:bldP spid="22" grpId="0"/>
      <p:bldP spid="25" grpId="0"/>
      <p:bldP spid="26" grpId="0"/>
      <p:bldP spid="27" grpId="0"/>
      <p:bldP spid="28" grpId="0"/>
      <p:bldP spid="29" grpId="0"/>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.1b – Notation, SE &amp;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Examples: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FFB25121-ADD1-4353-9F04-7061AB6858D4}"/>
                  </a:ext>
                </a:extLst>
              </p:cNvPr>
              <p:cNvSpPr txBox="1">
                <a:spLocks/>
              </p:cNvSpPr>
              <p:nvPr/>
            </p:nvSpPr>
            <p:spPr>
              <a:xfrm>
                <a:off x="823412" y="1707977"/>
                <a:ext cx="10545171" cy="9908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2400" dirty="0">
                    <a:solidFill>
                      <a:schemeClr val="tx1"/>
                    </a:solidFill>
                    <a:latin typeface="Calibri" panose="020F0502020204030204"/>
                    <a:ea typeface="游ゴシック" panose="020B0400000000000000" pitchFamily="34" charset="-128"/>
                  </a:rPr>
                  <a:t>If no theory exists to tell us how our sample statistic </a:t>
                </a:r>
                <a14:m>
                  <m:oMath xmlns:m="http://schemas.openxmlformats.org/officeDocument/2006/math">
                    <m:acc>
                      <m:accPr>
                        <m:chr m:val="̂"/>
                        <m:ctrlPr>
                          <a:rPr lang="en-NZ" altLang="ja-JP" sz="2400" b="1" i="1">
                            <a:solidFill>
                              <a:schemeClr val="tx1"/>
                            </a:solidFill>
                            <a:latin typeface="Cambria Math" panose="02040503050406030204" pitchFamily="18" charset="0"/>
                          </a:rPr>
                        </m:ctrlPr>
                      </m:accPr>
                      <m:e>
                        <m:r>
                          <a:rPr lang="en-NZ" altLang="ja-JP" sz="2400" b="1" i="1">
                            <a:solidFill>
                              <a:schemeClr val="tx1"/>
                            </a:solidFill>
                            <a:latin typeface="Cambria Math" panose="02040503050406030204" pitchFamily="18" charset="0"/>
                          </a:rPr>
                          <m:t>𝜽</m:t>
                        </m:r>
                      </m:e>
                    </m:acc>
                    <m:r>
                      <a:rPr lang="en-NZ" altLang="ja-JP" sz="2400" b="1" i="1">
                        <a:solidFill>
                          <a:schemeClr val="tx1"/>
                        </a:solidFill>
                        <a:latin typeface="Cambria Math" panose="02040503050406030204" pitchFamily="18" charset="0"/>
                      </a:rPr>
                      <m:t> </m:t>
                    </m:r>
                  </m:oMath>
                </a14:m>
                <a:r>
                  <a:rPr kumimoji="1" lang="en-NZ" altLang="ja-JP" sz="2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is distributed and it is too time consuming / costly to obtain repeated samples from the population…</a:t>
                </a:r>
              </a:p>
            </p:txBody>
          </p:sp>
        </mc:Choice>
        <mc:Fallback xmlns="">
          <p:sp>
            <p:nvSpPr>
              <p:cNvPr id="14" name="Text Placeholder 5">
                <a:extLst>
                  <a:ext uri="{FF2B5EF4-FFF2-40B4-BE49-F238E27FC236}">
                    <a16:creationId xmlns:a16="http://schemas.microsoft.com/office/drawing/2014/main" id="{FFB25121-ADD1-4353-9F04-7061AB6858D4}"/>
                  </a:ext>
                </a:extLst>
              </p:cNvPr>
              <p:cNvSpPr txBox="1">
                <a:spLocks noRot="1" noChangeAspect="1" noMove="1" noResize="1" noEditPoints="1" noAdjustHandles="1" noChangeArrowheads="1" noChangeShapeType="1" noTextEdit="1"/>
              </p:cNvSpPr>
              <p:nvPr/>
            </p:nvSpPr>
            <p:spPr>
              <a:xfrm>
                <a:off x="823412" y="1707977"/>
                <a:ext cx="10545171" cy="990819"/>
              </a:xfrm>
              <a:prstGeom prst="rect">
                <a:avLst/>
              </a:prstGeom>
              <a:blipFill>
                <a:blip r:embed="rId3"/>
                <a:stretch>
                  <a:fillRect l="-867" t="-3067"/>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632C7064-FA04-4577-8A5E-42ACA78FEA7E}"/>
              </a:ext>
            </a:extLst>
          </p:cNvPr>
          <p:cNvSpPr txBox="1">
            <a:spLocks/>
          </p:cNvSpPr>
          <p:nvPr/>
        </p:nvSpPr>
        <p:spPr>
          <a:xfrm>
            <a:off x="823412" y="4295335"/>
            <a:ext cx="10710429" cy="14876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2800" dirty="0">
                <a:solidFill>
                  <a:schemeClr val="tx1"/>
                </a:solidFill>
                <a:latin typeface="Calibri" panose="020F0502020204030204"/>
                <a:ea typeface="游ゴシック" panose="020B0400000000000000" pitchFamily="34" charset="-128"/>
              </a:rPr>
              <a:t>There are two types of bootstrapping:</a:t>
            </a:r>
          </a:p>
          <a:p>
            <a:pPr marL="1200093" lvl="1" indent="-514350">
              <a:lnSpc>
                <a:spcPct val="100000"/>
              </a:lnSpc>
              <a:buFont typeface="+mj-lt"/>
              <a:buAutoNum type="arabicPeriod"/>
              <a:defRPr/>
            </a:pPr>
            <a:r>
              <a:rPr kumimoji="1" lang="en-NZ" altLang="ja-JP" sz="20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Non-Parametric Bootstrapping  (resampling from the initial sample with replacement)</a:t>
            </a:r>
          </a:p>
          <a:p>
            <a:pPr marL="1200093" lvl="1" indent="-514350">
              <a:lnSpc>
                <a:spcPct val="100000"/>
              </a:lnSpc>
              <a:buFont typeface="+mj-lt"/>
              <a:buAutoNum type="arabicPeriod"/>
              <a:defRPr/>
            </a:pPr>
            <a:r>
              <a:rPr lang="en-NZ" altLang="ja-JP" sz="2000" dirty="0">
                <a:latin typeface="Calibri" panose="020F0502020204030204"/>
                <a:ea typeface="游ゴシック" panose="020B0400000000000000" pitchFamily="34" charset="-128"/>
              </a:rPr>
              <a:t>Parametric Bootstrapping (resampling from a hypothesised parametrised distribution)</a:t>
            </a:r>
            <a:endParaRPr kumimoji="1" lang="en-NZ" altLang="ja-JP" sz="20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D80A15A3-B4F2-156D-BEB6-55CE9591D49E}"/>
                  </a:ext>
                </a:extLst>
              </p:cNvPr>
              <p:cNvSpPr txBox="1">
                <a:spLocks/>
              </p:cNvSpPr>
              <p:nvPr/>
            </p:nvSpPr>
            <p:spPr>
              <a:xfrm>
                <a:off x="823413" y="2963270"/>
                <a:ext cx="10545171" cy="9314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24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 then</a:t>
                </a:r>
                <a:r>
                  <a:rPr kumimoji="1" lang="en-NZ" altLang="ja-JP" sz="24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in order to estimate </a:t>
                </a:r>
                <a14:m>
                  <m:oMath xmlns:m="http://schemas.openxmlformats.org/officeDocument/2006/math">
                    <m:r>
                      <a:rPr lang="en-NZ" altLang="ja-JP" sz="2400" b="1" i="1" smtClean="0">
                        <a:solidFill>
                          <a:srgbClr val="C00000"/>
                        </a:solidFill>
                        <a:latin typeface="Cambria Math" panose="02040503050406030204" pitchFamily="18" charset="0"/>
                      </a:rPr>
                      <m:t>𝒔</m:t>
                    </m:r>
                    <m:r>
                      <a:rPr lang="en-NZ" altLang="ja-JP" sz="2400" b="1" i="1" smtClean="0">
                        <a:solidFill>
                          <a:srgbClr val="C00000"/>
                        </a:solidFill>
                        <a:latin typeface="Cambria Math" panose="02040503050406030204" pitchFamily="18" charset="0"/>
                      </a:rPr>
                      <m:t>.</m:t>
                    </m:r>
                    <m:r>
                      <a:rPr lang="en-NZ" altLang="ja-JP" sz="2400" b="1" i="1" smtClean="0">
                        <a:solidFill>
                          <a:srgbClr val="C00000"/>
                        </a:solidFill>
                        <a:latin typeface="Cambria Math" panose="02040503050406030204" pitchFamily="18" charset="0"/>
                      </a:rPr>
                      <m:t>𝒆</m:t>
                    </m:r>
                    <m:r>
                      <a:rPr lang="en-NZ" altLang="ja-JP" sz="2400" b="1" i="1" smtClean="0">
                        <a:solidFill>
                          <a:srgbClr val="C00000"/>
                        </a:solidFill>
                        <a:latin typeface="Cambria Math" panose="02040503050406030204" pitchFamily="18" charset="0"/>
                      </a:rPr>
                      <m:t>.</m:t>
                    </m:r>
                    <m:d>
                      <m:dPr>
                        <m:begChr m:val="["/>
                        <m:endChr m:val="]"/>
                        <m:ctrlPr>
                          <a:rPr lang="en-NZ" altLang="ja-JP" sz="2400" b="1" i="1">
                            <a:solidFill>
                              <a:srgbClr val="C00000"/>
                            </a:solidFill>
                            <a:latin typeface="Cambria Math" panose="02040503050406030204" pitchFamily="18" charset="0"/>
                          </a:rPr>
                        </m:ctrlPr>
                      </m:dPr>
                      <m:e>
                        <m:acc>
                          <m:accPr>
                            <m:chr m:val="̂"/>
                            <m:ctrlPr>
                              <a:rPr lang="en-NZ" altLang="ja-JP" sz="2400" b="1" i="1">
                                <a:solidFill>
                                  <a:srgbClr val="C00000"/>
                                </a:solidFill>
                                <a:latin typeface="Cambria Math" panose="02040503050406030204" pitchFamily="18" charset="0"/>
                              </a:rPr>
                            </m:ctrlPr>
                          </m:accPr>
                          <m:e>
                            <m:r>
                              <a:rPr lang="en-NZ" altLang="ja-JP" sz="2400" b="1" i="1">
                                <a:solidFill>
                                  <a:srgbClr val="C00000"/>
                                </a:solidFill>
                                <a:latin typeface="Cambria Math" panose="02040503050406030204" pitchFamily="18" charset="0"/>
                              </a:rPr>
                              <m:t>𝜽</m:t>
                            </m:r>
                          </m:e>
                        </m:acc>
                      </m:e>
                    </m:d>
                  </m:oMath>
                </a14:m>
                <a:r>
                  <a:rPr kumimoji="1" lang="en-NZ" altLang="ja-JP" sz="24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and</a:t>
                </a:r>
                <a:r>
                  <a:rPr lang="en-NZ" altLang="ja-JP" sz="2400" dirty="0">
                    <a:solidFill>
                      <a:srgbClr val="C00000"/>
                    </a:solidFill>
                  </a:rPr>
                  <a:t> create a confidence interval for </a:t>
                </a:r>
                <a14:m>
                  <m:oMath xmlns:m="http://schemas.openxmlformats.org/officeDocument/2006/math">
                    <m:r>
                      <a:rPr lang="en-NZ" altLang="ja-JP" sz="2400" b="1" i="1">
                        <a:solidFill>
                          <a:srgbClr val="C00000"/>
                        </a:solidFill>
                        <a:latin typeface="Cambria Math" panose="02040503050406030204" pitchFamily="18" charset="0"/>
                      </a:rPr>
                      <m:t>𝜽</m:t>
                    </m:r>
                  </m:oMath>
                </a14:m>
                <a:r>
                  <a:rPr kumimoji="1" lang="en-NZ" altLang="ja-JP" sz="24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 we can use a resampling method known</a:t>
                </a:r>
                <a:r>
                  <a:rPr kumimoji="1" lang="en-NZ" altLang="ja-JP" sz="24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as</a:t>
                </a:r>
                <a:r>
                  <a:rPr kumimoji="1" lang="en-NZ" altLang="ja-JP" sz="24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 </a:t>
                </a:r>
                <a:r>
                  <a:rPr kumimoji="1" lang="en-NZ" altLang="ja-JP" sz="240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bootstrapping</a:t>
                </a:r>
                <a:r>
                  <a:rPr lang="en-NZ" altLang="ja-JP" sz="2400" dirty="0">
                    <a:solidFill>
                      <a:srgbClr val="C00000"/>
                    </a:solidFill>
                    <a:latin typeface="Calibri" panose="020F0502020204030204"/>
                    <a:ea typeface="游ゴシック" panose="020B0400000000000000" pitchFamily="34" charset="-128"/>
                  </a:rPr>
                  <a:t>.</a:t>
                </a:r>
                <a:endParaRPr kumimoji="1" lang="en-NZ" altLang="ja-JP" sz="24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2" name="Text Placeholder 5">
                <a:extLst>
                  <a:ext uri="{FF2B5EF4-FFF2-40B4-BE49-F238E27FC236}">
                    <a16:creationId xmlns:a16="http://schemas.microsoft.com/office/drawing/2014/main" id="{D80A15A3-B4F2-156D-BEB6-55CE9591D49E}"/>
                  </a:ext>
                </a:extLst>
              </p:cNvPr>
              <p:cNvSpPr txBox="1">
                <a:spLocks noRot="1" noChangeAspect="1" noMove="1" noResize="1" noEditPoints="1" noAdjustHandles="1" noChangeArrowheads="1" noChangeShapeType="1" noTextEdit="1"/>
              </p:cNvSpPr>
              <p:nvPr/>
            </p:nvSpPr>
            <p:spPr>
              <a:xfrm>
                <a:off x="823413" y="2963270"/>
                <a:ext cx="10545171" cy="931460"/>
              </a:xfrm>
              <a:prstGeom prst="rect">
                <a:avLst/>
              </a:prstGeom>
              <a:blipFill>
                <a:blip r:embed="rId4"/>
                <a:stretch>
                  <a:fillRect l="-867" t="-1961" b="-8497"/>
                </a:stretch>
              </a:blipFill>
            </p:spPr>
            <p:txBody>
              <a:bodyPr/>
              <a:lstStyle/>
              <a:p>
                <a:r>
                  <a:rPr lang="en-NZ">
                    <a:noFill/>
                  </a:rPr>
                  <a:t> </a:t>
                </a:r>
              </a:p>
            </p:txBody>
          </p:sp>
        </mc:Fallback>
      </mc:AlternateContent>
    </p:spTree>
    <p:extLst>
      <p:ext uri="{BB962C8B-B14F-4D97-AF65-F5344CB8AC3E}">
        <p14:creationId xmlns:p14="http://schemas.microsoft.com/office/powerpoint/2010/main" val="202366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303658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7</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.2 – </a:t>
            </a:r>
            <a:r>
              <a:rPr lang="en-NZ" sz="4500" b="1" dirty="0">
                <a:solidFill>
                  <a:srgbClr val="FFC000"/>
                </a:solidFill>
                <a:latin typeface="Calibri" panose="020F0502020204030204"/>
              </a:rPr>
              <a:t>Non-parametric Bootstrapping</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335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.2a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.2a – Non-Parametric Bootstrapping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9145CB30-6C40-495F-BFBD-0E7496937521}"/>
              </a:ext>
            </a:extLst>
          </p:cNvPr>
          <p:cNvSpPr txBox="1">
            <a:spLocks/>
          </p:cNvSpPr>
          <p:nvPr/>
        </p:nvSpPr>
        <p:spPr>
          <a:xfrm>
            <a:off x="281533" y="1063943"/>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1:</a:t>
            </a:r>
            <a:endParaRPr lang="en-US" altLang="ja-JP" sz="1800" b="1" i="1" dirty="0">
              <a:solidFill>
                <a:schemeClr val="tx1"/>
              </a:solidFill>
            </a:endParaRPr>
          </a:p>
        </p:txBody>
      </p:sp>
      <p:sp>
        <p:nvSpPr>
          <p:cNvPr id="9" name="Text Placeholder 5">
            <a:extLst>
              <a:ext uri="{FF2B5EF4-FFF2-40B4-BE49-F238E27FC236}">
                <a16:creationId xmlns:a16="http://schemas.microsoft.com/office/drawing/2014/main" id="{7BD84D97-3899-4B53-922D-07D78A75E56F}"/>
              </a:ext>
            </a:extLst>
          </p:cNvPr>
          <p:cNvSpPr txBox="1">
            <a:spLocks/>
          </p:cNvSpPr>
          <p:nvPr/>
        </p:nvSpPr>
        <p:spPr>
          <a:xfrm>
            <a:off x="1176721" y="1063943"/>
            <a:ext cx="1065788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Suppose we have a random variable </a:t>
            </a:r>
            <a:r>
              <a:rPr lang="en-NZ" altLang="ja-JP" sz="1800" b="1" i="1" dirty="0">
                <a:solidFill>
                  <a:schemeClr val="tx1"/>
                </a:solidFill>
              </a:rPr>
              <a:t>X</a:t>
            </a:r>
            <a:r>
              <a:rPr lang="en-NZ" altLang="ja-JP" sz="1800" dirty="0">
                <a:solidFill>
                  <a:schemeClr val="tx1"/>
                </a:solidFill>
              </a:rPr>
              <a:t> with an unknown parameter or property of interest </a:t>
            </a:r>
            <a:r>
              <a:rPr lang="ja-JP" altLang="en-NZ" sz="1800" dirty="0">
                <a:solidFill>
                  <a:schemeClr val="tx1"/>
                </a:solidFill>
              </a:rPr>
              <a:t>𝜽</a:t>
            </a:r>
            <a:r>
              <a:rPr lang="en-NZ" altLang="ja-JP" sz="1800" dirty="0">
                <a:solidFill>
                  <a:schemeClr val="tx1"/>
                </a:solidFill>
              </a:rPr>
              <a:t>.</a:t>
            </a:r>
            <a:endParaRPr lang="ja-JP" altLang="en-NZ" sz="1800" dirty="0">
              <a:solidFill>
                <a:schemeClr val="tx1"/>
              </a:solidFill>
            </a:endParaRPr>
          </a:p>
        </p:txBody>
      </p:sp>
      <p:sp>
        <p:nvSpPr>
          <p:cNvPr id="10" name="Text Placeholder 5">
            <a:extLst>
              <a:ext uri="{FF2B5EF4-FFF2-40B4-BE49-F238E27FC236}">
                <a16:creationId xmlns:a16="http://schemas.microsoft.com/office/drawing/2014/main" id="{BD7C5204-4A7D-4683-B109-4683B73376FA}"/>
              </a:ext>
            </a:extLst>
          </p:cNvPr>
          <p:cNvSpPr txBox="1">
            <a:spLocks/>
          </p:cNvSpPr>
          <p:nvPr/>
        </p:nvSpPr>
        <p:spPr>
          <a:xfrm>
            <a:off x="281533" y="1676622"/>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2:</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FCF8B990-ACE0-41D2-A4EB-9AE30FF53EFD}"/>
                  </a:ext>
                </a:extLst>
              </p:cNvPr>
              <p:cNvSpPr txBox="1">
                <a:spLocks/>
              </p:cNvSpPr>
              <p:nvPr/>
            </p:nvSpPr>
            <p:spPr>
              <a:xfrm>
                <a:off x="1176721" y="1676622"/>
                <a:ext cx="10657886" cy="7799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defRPr/>
                </a:pPr>
                <a:r>
                  <a:rPr lang="en-NZ" altLang="ja-JP" sz="1800" dirty="0">
                    <a:solidFill>
                      <a:prstClr val="black"/>
                    </a:solidFill>
                  </a:rPr>
                  <a:t>In order to estimate </a:t>
                </a:r>
                <a14:m>
                  <m:oMath xmlns:m="http://schemas.openxmlformats.org/officeDocument/2006/math">
                    <m:r>
                      <a:rPr lang="en-NZ" altLang="ja-JP" sz="1800" b="1" i="1" smtClean="0">
                        <a:solidFill>
                          <a:prstClr val="black"/>
                        </a:solidFill>
                        <a:latin typeface="Cambria Math" panose="02040503050406030204" pitchFamily="18" charset="0"/>
                      </a:rPr>
                      <m:t>𝜽</m:t>
                    </m:r>
                  </m:oMath>
                </a14:m>
                <a:r>
                  <a:rPr lang="en-NZ" altLang="ja-JP" sz="1800" dirty="0">
                    <a:solidFill>
                      <a:prstClr val="black"/>
                    </a:solidFill>
                  </a:rPr>
                  <a:t> we take a sample of</a:t>
                </a:r>
                <a:r>
                  <a:rPr lang="en-NZ" altLang="ja-JP" sz="1800" b="1" i="1" dirty="0">
                    <a:solidFill>
                      <a:prstClr val="black"/>
                    </a:solidFill>
                  </a:rPr>
                  <a:t> n</a:t>
                </a:r>
                <a:r>
                  <a:rPr lang="en-NZ" altLang="ja-JP" sz="1800" dirty="0">
                    <a:solidFill>
                      <a:prstClr val="black"/>
                    </a:solidFill>
                  </a:rPr>
                  <a:t> observations of </a:t>
                </a:r>
                <a:r>
                  <a:rPr lang="en-NZ" altLang="ja-JP" sz="1800" b="1" i="1" dirty="0">
                    <a:solidFill>
                      <a:prstClr val="black"/>
                    </a:solidFill>
                  </a:rPr>
                  <a:t>X</a:t>
                </a:r>
                <a:r>
                  <a:rPr lang="en-NZ" altLang="ja-JP" sz="1800" dirty="0">
                    <a:solidFill>
                      <a:prstClr val="black"/>
                    </a:solidFill>
                  </a:rPr>
                  <a:t> and index them </a:t>
                </a:r>
                <a14:m>
                  <m:oMath xmlns:m="http://schemas.openxmlformats.org/officeDocument/2006/math">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r>
                      <a:rPr lang="en-NZ" altLang="ja-JP" sz="1800" b="1" i="1">
                        <a:solidFill>
                          <a:prstClr val="black"/>
                        </a:solidFill>
                        <a:latin typeface="Cambria Math" panose="02040503050406030204" pitchFamily="18" charset="0"/>
                      </a:rPr>
                      <m:t>=(</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r>
                      <a:rPr lang="en-NZ" altLang="ja-JP" sz="1800" b="1" i="1">
                        <a:solidFill>
                          <a:prstClr val="black"/>
                        </a:solidFill>
                        <a:latin typeface="Cambria Math" panose="02040503050406030204" pitchFamily="18" charset="0"/>
                      </a:rPr>
                      <m:t>, …,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𝒏</m:t>
                        </m:r>
                      </m:sub>
                    </m:sSub>
                    <m:r>
                      <a:rPr lang="en-NZ" altLang="ja-JP" sz="1800" b="1" i="1">
                        <a:solidFill>
                          <a:prstClr val="black"/>
                        </a:solidFill>
                        <a:latin typeface="Cambria Math" panose="02040503050406030204" pitchFamily="18" charset="0"/>
                      </a:rPr>
                      <m:t>)</m:t>
                    </m:r>
                  </m:oMath>
                </a14:m>
                <a:endParaRPr lang="en-NZ" altLang="ja-JP" sz="1800" b="1" i="1" dirty="0">
                  <a:solidFill>
                    <a:prstClr val="black"/>
                  </a:solidFill>
                </a:endParaRPr>
              </a:p>
              <a:p>
                <a:pPr lvl="0" algn="just">
                  <a:lnSpc>
                    <a:spcPct val="100000"/>
                  </a:lnSpc>
                  <a:defRPr/>
                </a:pPr>
                <a:r>
                  <a:rPr lang="en-NZ" altLang="ja-JP" sz="1800" dirty="0">
                    <a:solidFill>
                      <a:prstClr val="black"/>
                    </a:solidFill>
                  </a:rPr>
                  <a:t>and calculate a sample statistic </a:t>
                </a:r>
                <a14:m>
                  <m:oMath xmlns:m="http://schemas.openxmlformats.org/officeDocument/2006/math">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𝒈</m:t>
                    </m:r>
                    <m:r>
                      <a:rPr lang="en-NZ" altLang="ja-JP" sz="1800" b="1" i="1">
                        <a:solidFill>
                          <a:prstClr val="black"/>
                        </a:solidFill>
                        <a:latin typeface="Cambria Math" panose="02040503050406030204" pitchFamily="18" charset="0"/>
                      </a:rPr>
                      <m:t>(</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r>
                      <a:rPr lang="en-NZ" altLang="ja-JP" sz="1800" b="1" i="1">
                        <a:solidFill>
                          <a:prstClr val="black"/>
                        </a:solidFill>
                        <a:latin typeface="Cambria Math" panose="02040503050406030204" pitchFamily="18" charset="0"/>
                      </a:rPr>
                      <m:t>)</m:t>
                    </m:r>
                  </m:oMath>
                </a14:m>
                <a:r>
                  <a:rPr lang="en-NZ" altLang="ja-JP" sz="1800" b="1" i="1" dirty="0">
                    <a:solidFill>
                      <a:prstClr val="black"/>
                    </a:solidFill>
                  </a:rPr>
                  <a:t> </a:t>
                </a:r>
                <a:r>
                  <a:rPr lang="en-NZ" altLang="ja-JP" sz="1800" dirty="0">
                    <a:solidFill>
                      <a:prstClr val="black"/>
                    </a:solidFill>
                  </a:rPr>
                  <a:t>that serves as an estimate of </a:t>
                </a:r>
                <a14:m>
                  <m:oMath xmlns:m="http://schemas.openxmlformats.org/officeDocument/2006/math">
                    <m:r>
                      <a:rPr lang="en-NZ" altLang="ja-JP" sz="1800" b="1" i="1">
                        <a:solidFill>
                          <a:prstClr val="black"/>
                        </a:solidFill>
                        <a:latin typeface="Cambria Math" panose="02040503050406030204" pitchFamily="18" charset="0"/>
                      </a:rPr>
                      <m:t>𝜽</m:t>
                    </m:r>
                  </m:oMath>
                </a14:m>
                <a:r>
                  <a:rPr lang="en-NZ" altLang="ja-JP" sz="1800" b="1" i="1" dirty="0">
                    <a:solidFill>
                      <a:prstClr val="black"/>
                    </a:solidFill>
                  </a:rPr>
                  <a:t>.</a:t>
                </a:r>
              </a:p>
            </p:txBody>
          </p:sp>
        </mc:Choice>
        <mc:Fallback xmlns="">
          <p:sp>
            <p:nvSpPr>
              <p:cNvPr id="11" name="Text Placeholder 5">
                <a:extLst>
                  <a:ext uri="{FF2B5EF4-FFF2-40B4-BE49-F238E27FC236}">
                    <a16:creationId xmlns:a16="http://schemas.microsoft.com/office/drawing/2014/main" id="{FCF8B990-ACE0-41D2-A4EB-9AE30FF53EFD}"/>
                  </a:ext>
                </a:extLst>
              </p:cNvPr>
              <p:cNvSpPr txBox="1">
                <a:spLocks noRot="1" noChangeAspect="1" noMove="1" noResize="1" noEditPoints="1" noAdjustHandles="1" noChangeArrowheads="1" noChangeShapeType="1" noTextEdit="1"/>
              </p:cNvSpPr>
              <p:nvPr/>
            </p:nvSpPr>
            <p:spPr>
              <a:xfrm>
                <a:off x="1176721" y="1676622"/>
                <a:ext cx="10657886" cy="779975"/>
              </a:xfrm>
              <a:prstGeom prst="rect">
                <a:avLst/>
              </a:prstGeom>
              <a:blipFill>
                <a:blip r:embed="rId3"/>
                <a:stretch>
                  <a:fillRect l="-458" t="-3125"/>
                </a:stretch>
              </a:blipFill>
            </p:spPr>
            <p:txBody>
              <a:bodyPr/>
              <a:lstStyle/>
              <a:p>
                <a:r>
                  <a:rPr lang="en-NZ">
                    <a:noFill/>
                  </a:rPr>
                  <a:t> </a:t>
                </a:r>
              </a:p>
            </p:txBody>
          </p:sp>
        </mc:Fallback>
      </mc:AlternateContent>
      <p:sp>
        <p:nvSpPr>
          <p:cNvPr id="12" name="Text Placeholder 5">
            <a:extLst>
              <a:ext uri="{FF2B5EF4-FFF2-40B4-BE49-F238E27FC236}">
                <a16:creationId xmlns:a16="http://schemas.microsoft.com/office/drawing/2014/main" id="{D6463803-0166-40B2-B1E7-76C97B3B414C}"/>
              </a:ext>
            </a:extLst>
          </p:cNvPr>
          <p:cNvSpPr txBox="1">
            <a:spLocks/>
          </p:cNvSpPr>
          <p:nvPr/>
        </p:nvSpPr>
        <p:spPr>
          <a:xfrm>
            <a:off x="281533" y="2617451"/>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3:</a:t>
            </a:r>
            <a:endParaRPr lang="en-US" altLang="ja-JP" sz="1800" b="1" i="1" dirty="0">
              <a:solidFill>
                <a:schemeClr val="tx1"/>
              </a:solidFill>
            </a:endParaRPr>
          </a:p>
        </p:txBody>
      </p:sp>
      <p:sp>
        <p:nvSpPr>
          <p:cNvPr id="13" name="Text Placeholder 5">
            <a:extLst>
              <a:ext uri="{FF2B5EF4-FFF2-40B4-BE49-F238E27FC236}">
                <a16:creationId xmlns:a16="http://schemas.microsoft.com/office/drawing/2014/main" id="{95F7B0FE-EB6C-4ED8-B3F5-051BC05D60BB}"/>
              </a:ext>
            </a:extLst>
          </p:cNvPr>
          <p:cNvSpPr txBox="1">
            <a:spLocks/>
          </p:cNvSpPr>
          <p:nvPr/>
        </p:nvSpPr>
        <p:spPr>
          <a:xfrm>
            <a:off x="1176721" y="2598517"/>
            <a:ext cx="1065788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800" dirty="0">
                <a:solidFill>
                  <a:prstClr val="black"/>
                </a:solidFill>
              </a:rPr>
              <a:t>For </a:t>
            </a:r>
            <a:r>
              <a:rPr lang="en-NZ" altLang="ja-JP" sz="1800" b="1" i="1" dirty="0" err="1">
                <a:solidFill>
                  <a:prstClr val="black"/>
                </a:solidFill>
              </a:rPr>
              <a:t>i</a:t>
            </a:r>
            <a:r>
              <a:rPr lang="en-NZ" altLang="ja-JP" sz="1800" b="1" i="1" dirty="0">
                <a:solidFill>
                  <a:prstClr val="black"/>
                </a:solidFill>
              </a:rPr>
              <a:t> = 1 , … , B </a:t>
            </a:r>
            <a:r>
              <a:rPr lang="en-NZ" altLang="ja-JP" sz="1400" dirty="0">
                <a:solidFill>
                  <a:prstClr val="black"/>
                </a:solidFill>
              </a:rPr>
              <a:t>(where B is sufficiently large)</a:t>
            </a: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20D82506-26F3-4F23-8768-2D7D5A848AEC}"/>
                  </a:ext>
                </a:extLst>
              </p:cNvPr>
              <p:cNvSpPr txBox="1">
                <a:spLocks/>
              </p:cNvSpPr>
              <p:nvPr/>
            </p:nvSpPr>
            <p:spPr>
              <a:xfrm>
                <a:off x="1176721" y="3068112"/>
                <a:ext cx="10055386" cy="17490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romanUcPeriod"/>
                  <a:defRPr/>
                </a:pPr>
                <a:r>
                  <a:rPr lang="en-NZ" altLang="ja-JP" sz="1800" dirty="0">
                    <a:solidFill>
                      <a:prstClr val="black"/>
                    </a:solidFill>
                  </a:rPr>
                  <a:t>Create bootstrap sample </a:t>
                </a:r>
                <a14:m>
                  <m:oMath xmlns:m="http://schemas.openxmlformats.org/officeDocument/2006/math">
                    <m:r>
                      <a:rPr lang="en-NZ" altLang="ja-JP" sz="1800" b="1" i="1" smtClean="0">
                        <a:solidFill>
                          <a:prstClr val="black"/>
                        </a:solidFill>
                        <a:latin typeface="Cambria Math" panose="02040503050406030204" pitchFamily="18" charset="0"/>
                      </a:rPr>
                      <m:t>𝒊</m:t>
                    </m:r>
                  </m:oMath>
                </a14:m>
                <a:r>
                  <a:rPr lang="en-NZ" altLang="ja-JP" sz="1800" dirty="0">
                    <a:solidFill>
                      <a:prstClr val="black"/>
                    </a:solidFill>
                  </a:rPr>
                  <a:t> of length </a:t>
                </a:r>
                <a14:m>
                  <m:oMath xmlns:m="http://schemas.openxmlformats.org/officeDocument/2006/math">
                    <m:r>
                      <a:rPr lang="en-NZ" altLang="ja-JP" sz="1800" b="1" i="1" smtClean="0">
                        <a:solidFill>
                          <a:prstClr val="black"/>
                        </a:solidFill>
                        <a:latin typeface="Cambria Math" panose="02040503050406030204" pitchFamily="18" charset="0"/>
                      </a:rPr>
                      <m:t>𝒏</m:t>
                    </m:r>
                  </m:oMath>
                </a14:m>
                <a:r>
                  <a:rPr lang="en-NZ" altLang="ja-JP" sz="1800" dirty="0">
                    <a:solidFill>
                      <a:prstClr val="black"/>
                    </a:solidFill>
                  </a:rPr>
                  <a:t> such that   </a:t>
                </a:r>
                <a14:m>
                  <m:oMath xmlns:m="http://schemas.openxmlformats.org/officeDocument/2006/math">
                    <m:sSup>
                      <m:sSupPr>
                        <m:ctrlPr>
                          <a:rPr lang="en-NZ" altLang="ja-JP" sz="1800" b="1" i="1" smtClean="0">
                            <a:solidFill>
                              <a:prstClr val="black"/>
                            </a:solidFill>
                            <a:latin typeface="Cambria Math" panose="02040503050406030204" pitchFamily="18" charset="0"/>
                          </a:rPr>
                        </m:ctrlPr>
                      </m:sSupPr>
                      <m:e>
                        <m:bar>
                          <m:barPr>
                            <m:ctrlPr>
                              <a:rPr lang="en-NZ" altLang="ja-JP" sz="1800" b="1" i="1" smtClean="0">
                                <a:solidFill>
                                  <a:prstClr val="black"/>
                                </a:solidFill>
                                <a:latin typeface="Cambria Math" panose="02040503050406030204" pitchFamily="18" charset="0"/>
                              </a:rPr>
                            </m:ctrlPr>
                          </m:barPr>
                          <m:e>
                            <m:r>
                              <a:rPr lang="en-NZ" altLang="ja-JP" sz="1800" b="1" i="1" smtClean="0">
                                <a:solidFill>
                                  <a:prstClr val="black"/>
                                </a:solidFill>
                                <a:latin typeface="Cambria Math" panose="02040503050406030204" pitchFamily="18" charset="0"/>
                              </a:rPr>
                              <m:t>𝒙</m:t>
                            </m:r>
                          </m:e>
                        </m:bar>
                      </m:e>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p>
                    <m:r>
                      <a:rPr lang="en-NZ" altLang="ja-JP" sz="1800" b="1" i="1" smtClean="0">
                        <a:solidFill>
                          <a:prstClr val="black"/>
                        </a:solidFill>
                        <a:latin typeface="Cambria Math" panose="02040503050406030204" pitchFamily="18" charset="0"/>
                      </a:rPr>
                      <m:t>=(</m:t>
                    </m:r>
                    <m:sSubSup>
                      <m:sSubSupPr>
                        <m:ctrlPr>
                          <a:rPr lang="en-NZ" altLang="ja-JP" sz="1800" b="1" i="1" smtClean="0">
                            <a:solidFill>
                              <a:prstClr val="black"/>
                            </a:solidFill>
                            <a:latin typeface="Cambria Math" panose="02040503050406030204" pitchFamily="18" charset="0"/>
                          </a:rPr>
                        </m:ctrlPr>
                      </m:sSubSupPr>
                      <m:e>
                        <m:r>
                          <a:rPr lang="en-NZ" altLang="ja-JP" sz="1800" b="1" i="1" smtClean="0">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𝟏</m:t>
                        </m:r>
                      </m:sub>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bSup>
                    <m:r>
                      <a:rPr lang="en-NZ" altLang="ja-JP" sz="1800" b="1" i="1" smtClean="0">
                        <a:solidFill>
                          <a:prstClr val="black"/>
                        </a:solidFill>
                        <a:latin typeface="Cambria Math" panose="02040503050406030204" pitchFamily="18" charset="0"/>
                      </a:rPr>
                      <m:t>,  </m:t>
                    </m:r>
                    <m:sSubSup>
                      <m:sSubSupPr>
                        <m:ctrlPr>
                          <a:rPr lang="en-NZ" altLang="ja-JP" sz="1800" b="1" i="1" smtClean="0">
                            <a:solidFill>
                              <a:prstClr val="black"/>
                            </a:solidFill>
                            <a:latin typeface="Cambria Math" panose="02040503050406030204" pitchFamily="18" charset="0"/>
                          </a:rPr>
                        </m:ctrlPr>
                      </m:sSubSupPr>
                      <m:e>
                        <m:r>
                          <a:rPr lang="en-NZ" altLang="ja-JP" sz="1800" b="1" i="1" smtClean="0">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𝟐</m:t>
                        </m:r>
                      </m:sub>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bSup>
                    <m:r>
                      <a:rPr lang="en-NZ" altLang="ja-JP" sz="1800" b="1" i="1" smtClean="0">
                        <a:solidFill>
                          <a:prstClr val="black"/>
                        </a:solidFill>
                        <a:latin typeface="Cambria Math" panose="02040503050406030204" pitchFamily="18" charset="0"/>
                      </a:rPr>
                      <m:t> , …, </m:t>
                    </m:r>
                    <m:sSubSup>
                      <m:sSubSupPr>
                        <m:ctrlPr>
                          <a:rPr lang="en-NZ" altLang="ja-JP" sz="1800" b="1" i="1" smtClean="0">
                            <a:solidFill>
                              <a:prstClr val="black"/>
                            </a:solidFill>
                            <a:latin typeface="Cambria Math" panose="02040503050406030204" pitchFamily="18" charset="0"/>
                          </a:rPr>
                        </m:ctrlPr>
                      </m:sSubSupPr>
                      <m:e>
                        <m:r>
                          <a:rPr lang="en-NZ" altLang="ja-JP" sz="1800" b="1" i="1" smtClean="0">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𝒏</m:t>
                        </m:r>
                      </m:sub>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bSup>
                    <m:r>
                      <a:rPr lang="en-NZ" altLang="ja-JP" sz="1800" b="1" i="1" smtClean="0">
                        <a:solidFill>
                          <a:prstClr val="black"/>
                        </a:solidFill>
                        <a:latin typeface="Cambria Math" panose="02040503050406030204" pitchFamily="18" charset="0"/>
                      </a:rPr>
                      <m:t> )</m:t>
                    </m:r>
                  </m:oMath>
                </a14:m>
                <a:r>
                  <a:rPr lang="en-NZ" altLang="ja-JP" sz="1800" b="1" i="1" dirty="0">
                    <a:solidFill>
                      <a:prstClr val="black"/>
                    </a:solidFill>
                  </a:rPr>
                  <a:t>  </a:t>
                </a:r>
                <a:br>
                  <a:rPr lang="en-NZ" altLang="ja-JP" sz="1800" b="1" i="1" dirty="0">
                    <a:solidFill>
                      <a:prstClr val="black"/>
                    </a:solidFill>
                  </a:rPr>
                </a:br>
                <a:r>
                  <a:rPr lang="en-NZ" altLang="ja-JP" sz="1800" dirty="0">
                    <a:solidFill>
                      <a:prstClr val="black"/>
                    </a:solidFill>
                  </a:rPr>
                  <a:t>by </a:t>
                </a:r>
                <a:r>
                  <a:rPr lang="en-NZ" altLang="ja-JP" sz="1800" b="1" dirty="0">
                    <a:solidFill>
                      <a:prstClr val="black"/>
                    </a:solidFill>
                  </a:rPr>
                  <a:t>resampling</a:t>
                </a:r>
                <a:r>
                  <a:rPr lang="en-NZ" altLang="ja-JP" sz="1800" dirty="0">
                    <a:solidFill>
                      <a:prstClr val="black"/>
                    </a:solidFill>
                  </a:rPr>
                  <a:t> </a:t>
                </a:r>
                <a:r>
                  <a:rPr lang="en-NZ" altLang="ja-JP" sz="1800" b="1" dirty="0">
                    <a:solidFill>
                      <a:prstClr val="black"/>
                    </a:solidFill>
                  </a:rPr>
                  <a:t>with replacement </a:t>
                </a:r>
                <a:r>
                  <a:rPr lang="en-NZ" altLang="ja-JP" sz="1800" dirty="0">
                    <a:solidFill>
                      <a:prstClr val="black"/>
                    </a:solidFill>
                  </a:rPr>
                  <a:t>from the initial sample.</a:t>
                </a:r>
              </a:p>
              <a:p>
                <a:pPr marL="400050" lvl="0" indent="-400050">
                  <a:lnSpc>
                    <a:spcPct val="100000"/>
                  </a:lnSpc>
                  <a:buFont typeface="+mj-lt"/>
                  <a:buAutoNum type="romanUcPeriod"/>
                  <a:defRPr/>
                </a:pPr>
                <a:endParaRPr lang="en-NZ" altLang="ja-JP" sz="200" b="1" i="1" dirty="0">
                  <a:solidFill>
                    <a:prstClr val="black"/>
                  </a:solidFill>
                </a:endParaRPr>
              </a:p>
              <a:p>
                <a:pPr marL="400050" lvl="0" indent="-400050">
                  <a:lnSpc>
                    <a:spcPct val="100000"/>
                  </a:lnSpc>
                  <a:buFont typeface="+mj-lt"/>
                  <a:buAutoNum type="romanUcPeriod"/>
                  <a:defRPr/>
                </a:pPr>
                <a:endParaRPr lang="en-NZ" altLang="ja-JP" sz="200" b="1" i="1" dirty="0">
                  <a:solidFill>
                    <a:prstClr val="black"/>
                  </a:solidFill>
                </a:endParaRPr>
              </a:p>
              <a:p>
                <a:pPr marL="400050" lvl="0" indent="-400050">
                  <a:lnSpc>
                    <a:spcPct val="100000"/>
                  </a:lnSpc>
                  <a:buFont typeface="+mj-lt"/>
                  <a:buAutoNum type="romanUcPeriod"/>
                  <a:defRPr/>
                </a:pPr>
                <a:endParaRPr lang="en-NZ" altLang="ja-JP" sz="200" b="1" i="1" dirty="0">
                  <a:solidFill>
                    <a:prstClr val="black"/>
                  </a:solidFill>
                </a:endParaRPr>
              </a:p>
              <a:p>
                <a:pPr marL="400050" lvl="0" indent="-400050" algn="just">
                  <a:lnSpc>
                    <a:spcPct val="100000"/>
                  </a:lnSpc>
                  <a:buFont typeface="+mj-lt"/>
                  <a:buAutoNum type="romanUcPeriod"/>
                  <a:defRPr/>
                </a:pPr>
                <a:r>
                  <a:rPr lang="en-NZ" altLang="ja-JP" sz="1800" dirty="0">
                    <a:solidFill>
                      <a:prstClr val="black"/>
                    </a:solidFill>
                  </a:rPr>
                  <a:t>Calculate </a:t>
                </a:r>
                <a14:m>
                  <m:oMath xmlns:m="http://schemas.openxmlformats.org/officeDocument/2006/math">
                    <m:sSup>
                      <m:sSupPr>
                        <m:ctrlPr>
                          <a:rPr lang="en-NZ" altLang="ja-JP" sz="1800" b="1" i="1" smtClean="0">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p>
                    <m:r>
                      <a:rPr lang="en-NZ" altLang="ja-JP" sz="1800" b="1" i="1">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𝒈</m:t>
                    </m:r>
                    <m:r>
                      <a:rPr lang="en-NZ" altLang="ja-JP" sz="1800" b="1" i="1" smtClean="0">
                        <a:solidFill>
                          <a:prstClr val="black"/>
                        </a:solidFill>
                        <a:latin typeface="Cambria Math" panose="02040503050406030204" pitchFamily="18" charset="0"/>
                      </a:rPr>
                      <m:t>(</m:t>
                    </m:r>
                    <m:sSup>
                      <m:sSupPr>
                        <m:ctrlPr>
                          <a:rPr lang="en-NZ" altLang="ja-JP" sz="1800" b="1" i="1">
                            <a:solidFill>
                              <a:prstClr val="black"/>
                            </a:solidFill>
                            <a:latin typeface="Cambria Math" panose="02040503050406030204" pitchFamily="18" charset="0"/>
                          </a:rPr>
                        </m:ctrlPr>
                      </m:sSupPr>
                      <m:e>
                        <m:r>
                          <a:rPr lang="en-NZ" altLang="ja-JP" sz="1800" b="1" i="1" smtClean="0">
                            <a:solidFill>
                              <a:prstClr val="black"/>
                            </a:solidFill>
                            <a:latin typeface="Cambria Math" panose="02040503050406030204" pitchFamily="18" charset="0"/>
                          </a:rPr>
                          <m:t> </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r>
                      <a:rPr lang="en-NZ" altLang="ja-JP" sz="1800" b="1" i="1" smtClean="0">
                        <a:solidFill>
                          <a:prstClr val="black"/>
                        </a:solidFill>
                        <a:latin typeface="Cambria Math" panose="02040503050406030204" pitchFamily="18" charset="0"/>
                      </a:rPr>
                      <m:t> )</m:t>
                    </m:r>
                  </m:oMath>
                </a14:m>
                <a:r>
                  <a:rPr lang="en-NZ" altLang="ja-JP" sz="1800" dirty="0">
                    <a:solidFill>
                      <a:prstClr val="black"/>
                    </a:solidFill>
                  </a:rPr>
                  <a:t>, i.e. the value of the sample statistic for the bootstrap sample </a:t>
                </a:r>
                <a14:m>
                  <m:oMath xmlns:m="http://schemas.openxmlformats.org/officeDocument/2006/math">
                    <m:r>
                      <a:rPr lang="en-NZ" altLang="ja-JP" sz="1800" b="1" i="1">
                        <a:solidFill>
                          <a:prstClr val="black"/>
                        </a:solidFill>
                        <a:latin typeface="Cambria Math" panose="02040503050406030204" pitchFamily="18" charset="0"/>
                      </a:rPr>
                      <m:t>𝒊</m:t>
                    </m:r>
                  </m:oMath>
                </a14:m>
                <a:r>
                  <a:rPr lang="en-NZ" altLang="ja-JP" sz="1800" dirty="0">
                    <a:solidFill>
                      <a:prstClr val="black"/>
                    </a:solidFill>
                  </a:rPr>
                  <a:t>.</a:t>
                </a:r>
              </a:p>
              <a:p>
                <a:pPr marL="400050" lvl="0" indent="-400050" algn="just">
                  <a:lnSpc>
                    <a:spcPct val="100000"/>
                  </a:lnSpc>
                  <a:buFont typeface="+mj-lt"/>
                  <a:buAutoNum type="romanUcPeriod"/>
                  <a:defRPr/>
                </a:pPr>
                <a:endParaRPr lang="en-NZ" altLang="ja-JP" sz="200" dirty="0">
                  <a:solidFill>
                    <a:prstClr val="black"/>
                  </a:solidFill>
                </a:endParaRPr>
              </a:p>
              <a:p>
                <a:pPr marL="400050" lvl="0" indent="-400050" algn="just">
                  <a:lnSpc>
                    <a:spcPct val="100000"/>
                  </a:lnSpc>
                  <a:buFont typeface="+mj-lt"/>
                  <a:buAutoNum type="romanUcPeriod"/>
                  <a:defRPr/>
                </a:pPr>
                <a:endParaRPr lang="en-NZ" altLang="ja-JP" sz="200" dirty="0">
                  <a:solidFill>
                    <a:prstClr val="black"/>
                  </a:solidFill>
                </a:endParaRPr>
              </a:p>
              <a:p>
                <a:pPr marL="400050" lvl="0" indent="-400050" algn="just">
                  <a:lnSpc>
                    <a:spcPct val="100000"/>
                  </a:lnSpc>
                  <a:buFont typeface="+mj-lt"/>
                  <a:buAutoNum type="romanUcPeriod"/>
                  <a:defRPr/>
                </a:pPr>
                <a:endParaRPr lang="en-NZ" altLang="ja-JP" sz="200" dirty="0">
                  <a:solidFill>
                    <a:prstClr val="black"/>
                  </a:solidFill>
                </a:endParaRPr>
              </a:p>
              <a:p>
                <a:pPr marL="400050" lvl="0" indent="-400050" algn="just">
                  <a:lnSpc>
                    <a:spcPct val="100000"/>
                  </a:lnSpc>
                  <a:buFont typeface="+mj-lt"/>
                  <a:buAutoNum type="romanUcPeriod"/>
                  <a:defRPr/>
                </a:pPr>
                <a:r>
                  <a:rPr lang="en-NZ" altLang="ja-JP" sz="1800" dirty="0">
                    <a:solidFill>
                      <a:prstClr val="black"/>
                    </a:solidFill>
                  </a:rPr>
                  <a:t>Append </a:t>
                </a:r>
                <a14:m>
                  <m:oMath xmlns:m="http://schemas.openxmlformats.org/officeDocument/2006/math">
                    <m:sSup>
                      <m:sSupPr>
                        <m:ctrlPr>
                          <a:rPr lang="en-NZ" altLang="ja-JP" sz="1800" b="1" i="1">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oMath>
                </a14:m>
                <a:r>
                  <a:rPr lang="en-NZ" altLang="ja-JP" sz="1800" dirty="0">
                    <a:solidFill>
                      <a:prstClr val="black"/>
                    </a:solidFill>
                  </a:rPr>
                  <a:t> to a results file.</a:t>
                </a:r>
              </a:p>
            </p:txBody>
          </p:sp>
        </mc:Choice>
        <mc:Fallback xmlns="">
          <p:sp>
            <p:nvSpPr>
              <p:cNvPr id="15" name="Text Placeholder 5">
                <a:extLst>
                  <a:ext uri="{FF2B5EF4-FFF2-40B4-BE49-F238E27FC236}">
                    <a16:creationId xmlns:a16="http://schemas.microsoft.com/office/drawing/2014/main" id="{20D82506-26F3-4F23-8768-2D7D5A848AEC}"/>
                  </a:ext>
                </a:extLst>
              </p:cNvPr>
              <p:cNvSpPr txBox="1">
                <a:spLocks noRot="1" noChangeAspect="1" noMove="1" noResize="1" noEditPoints="1" noAdjustHandles="1" noChangeArrowheads="1" noChangeShapeType="1" noTextEdit="1"/>
              </p:cNvSpPr>
              <p:nvPr/>
            </p:nvSpPr>
            <p:spPr>
              <a:xfrm>
                <a:off x="1176721" y="3068112"/>
                <a:ext cx="10055386" cy="1749033"/>
              </a:xfrm>
              <a:prstGeom prst="rect">
                <a:avLst/>
              </a:prstGeom>
              <a:blipFill>
                <a:blip r:embed="rId4"/>
                <a:stretch>
                  <a:fillRect l="-485" t="-348"/>
                </a:stretch>
              </a:blipFill>
            </p:spPr>
            <p:txBody>
              <a:bodyPr/>
              <a:lstStyle/>
              <a:p>
                <a:r>
                  <a:rPr lang="en-NZ">
                    <a:noFill/>
                  </a:rPr>
                  <a:t> </a:t>
                </a:r>
              </a:p>
            </p:txBody>
          </p:sp>
        </mc:Fallback>
      </mc:AlternateContent>
      <p:sp>
        <p:nvSpPr>
          <p:cNvPr id="16" name="Text Placeholder 5">
            <a:extLst>
              <a:ext uri="{FF2B5EF4-FFF2-40B4-BE49-F238E27FC236}">
                <a16:creationId xmlns:a16="http://schemas.microsoft.com/office/drawing/2014/main" id="{94EE10DD-B3F3-44DE-BDAD-F5E567CB88F9}"/>
              </a:ext>
            </a:extLst>
          </p:cNvPr>
          <p:cNvSpPr txBox="1">
            <a:spLocks/>
          </p:cNvSpPr>
          <p:nvPr/>
        </p:nvSpPr>
        <p:spPr>
          <a:xfrm>
            <a:off x="281533" y="5142490"/>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4:</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536B7945-BB75-48AB-841A-8F163081B5EC}"/>
                  </a:ext>
                </a:extLst>
              </p:cNvPr>
              <p:cNvSpPr txBox="1">
                <a:spLocks/>
              </p:cNvSpPr>
              <p:nvPr/>
            </p:nvSpPr>
            <p:spPr>
              <a:xfrm>
                <a:off x="1252581" y="4919240"/>
                <a:ext cx="10657886" cy="75056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800" dirty="0">
                    <a:solidFill>
                      <a:prstClr val="black"/>
                    </a:solidFill>
                  </a:rPr>
                  <a:t>Estimate the standard error of </a:t>
                </a:r>
                <a14:m>
                  <m:oMath xmlns:m="http://schemas.openxmlformats.org/officeDocument/2006/math">
                    <m:acc>
                      <m:accPr>
                        <m:chr m:val="̂"/>
                        <m:ctrlPr>
                          <a:rPr lang="en-US"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oMath>
                </a14:m>
                <a:r>
                  <a:rPr lang="en-US" altLang="ja-JP" sz="1800" b="1" i="1" dirty="0">
                    <a:solidFill>
                      <a:prstClr val="black"/>
                    </a:solidFill>
                  </a:rPr>
                  <a:t> </a:t>
                </a:r>
                <a:r>
                  <a:rPr lang="en-US" altLang="ja-JP" sz="1800" dirty="0">
                    <a:solidFill>
                      <a:prstClr val="black"/>
                    </a:solidFill>
                  </a:rPr>
                  <a:t>using the formula  </a:t>
                </a:r>
                <a14:m>
                  <m:oMath xmlns:m="http://schemas.openxmlformats.org/officeDocument/2006/math">
                    <m:r>
                      <a:rPr lang="en-NZ" altLang="ja-JP" sz="1800" b="1" i="1">
                        <a:solidFill>
                          <a:prstClr val="black"/>
                        </a:solidFill>
                        <a:latin typeface="Cambria Math" panose="02040503050406030204" pitchFamily="18" charset="0"/>
                      </a:rPr>
                      <m:t>𝒔</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𝒆</m:t>
                    </m:r>
                    <m:r>
                      <a:rPr lang="en-NZ" altLang="ja-JP" sz="1800" b="1" i="1">
                        <a:solidFill>
                          <a:prstClr val="black"/>
                        </a:solidFill>
                        <a:latin typeface="Cambria Math" panose="02040503050406030204" pitchFamily="18" charset="0"/>
                      </a:rPr>
                      <m:t>.</m:t>
                    </m:r>
                    <m:d>
                      <m:dPr>
                        <m:begChr m:val="["/>
                        <m:endChr m:val="]"/>
                        <m:ctrlPr>
                          <a:rPr lang="en-NZ" altLang="ja-JP" sz="1800" b="1" i="1">
                            <a:solidFill>
                              <a:prstClr val="black"/>
                            </a:solidFill>
                            <a:latin typeface="Cambria Math" panose="02040503050406030204" pitchFamily="18" charset="0"/>
                          </a:rPr>
                        </m:ctrlPr>
                      </m:d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d>
                    <m:r>
                      <a:rPr lang="en-NZ" altLang="ja-JP" sz="1800" b="1" i="1">
                        <a:solidFill>
                          <a:prstClr val="black"/>
                        </a:solidFill>
                        <a:latin typeface="Cambria Math" panose="02040503050406030204" pitchFamily="18" charset="0"/>
                      </a:rPr>
                      <m:t>= </m:t>
                    </m:r>
                    <m:rad>
                      <m:radPr>
                        <m:degHide m:val="on"/>
                        <m:ctrlPr>
                          <a:rPr lang="en-US" altLang="ja-JP" sz="1800" b="1" i="1">
                            <a:solidFill>
                              <a:prstClr val="black"/>
                            </a:solidFill>
                            <a:latin typeface="Cambria Math" panose="02040503050406030204" pitchFamily="18" charset="0"/>
                          </a:rPr>
                        </m:ctrlPr>
                      </m:radPr>
                      <m:deg/>
                      <m:e>
                        <m:f>
                          <m:fPr>
                            <m:ctrlPr>
                              <a:rPr lang="en-US" altLang="ja-JP" sz="1800" b="1" i="1">
                                <a:solidFill>
                                  <a:prstClr val="black"/>
                                </a:solidFill>
                                <a:latin typeface="Cambria Math" panose="02040503050406030204" pitchFamily="18" charset="0"/>
                              </a:rPr>
                            </m:ctrlPr>
                          </m:fPr>
                          <m:num>
                            <m:nary>
                              <m:naryPr>
                                <m:chr m:val="∑"/>
                                <m:ctrlPr>
                                  <a:rPr lang="en-US" altLang="ja-JP" sz="1800" b="1" i="1">
                                    <a:solidFill>
                                      <a:prstClr val="black"/>
                                    </a:solidFill>
                                    <a:latin typeface="Cambria Math" panose="02040503050406030204" pitchFamily="18" charset="0"/>
                                  </a:rPr>
                                </m:ctrlPr>
                              </m:naryPr>
                              <m:sub>
                                <m:r>
                                  <m:rPr>
                                    <m:brk m:alnAt="23"/>
                                  </m:rPr>
                                  <a:rPr lang="en-NZ" altLang="ja-JP" sz="1800" b="1" i="1">
                                    <a:solidFill>
                                      <a:prstClr val="black"/>
                                    </a:solidFill>
                                    <a:latin typeface="Cambria Math" panose="02040503050406030204" pitchFamily="18" charset="0"/>
                                  </a:rPr>
                                  <m:t>𝒊</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𝟏</m:t>
                                </m:r>
                              </m:sub>
                              <m:sup>
                                <m:r>
                                  <a:rPr lang="en-NZ" altLang="ja-JP" sz="1800" b="1" i="1" smtClean="0">
                                    <a:solidFill>
                                      <a:prstClr val="black"/>
                                    </a:solidFill>
                                    <a:latin typeface="Cambria Math" panose="02040503050406030204" pitchFamily="18" charset="0"/>
                                  </a:rPr>
                                  <m:t>𝑩</m:t>
                                </m:r>
                              </m:sup>
                              <m:e>
                                <m:sSup>
                                  <m:sSupPr>
                                    <m:ctrlPr>
                                      <a:rPr lang="en-NZ" altLang="ja-JP" sz="1800" b="1" i="1" smtClean="0">
                                        <a:solidFill>
                                          <a:prstClr val="black"/>
                                        </a:solidFill>
                                        <a:latin typeface="Cambria Math" panose="02040503050406030204" pitchFamily="18" charset="0"/>
                                      </a:rPr>
                                    </m:ctrlPr>
                                  </m:sSupPr>
                                  <m:e>
                                    <m:d>
                                      <m:dPr>
                                        <m:ctrlPr>
                                          <a:rPr lang="en-US" altLang="ja-JP" sz="1800" b="1" i="1">
                                            <a:solidFill>
                                              <a:prstClr val="black"/>
                                            </a:solidFill>
                                            <a:latin typeface="Cambria Math" panose="02040503050406030204" pitchFamily="18" charset="0"/>
                                          </a:rPr>
                                        </m:ctrlPr>
                                      </m:dPr>
                                      <m:e>
                                        <m:sSup>
                                          <m:sSupPr>
                                            <m:ctrlPr>
                                              <a:rPr lang="en-NZ" altLang="ja-JP" sz="1800" b="1" i="1">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r>
                                          <a:rPr lang="en-NZ" altLang="ja-JP" sz="1800" b="1" i="1">
                                            <a:solidFill>
                                              <a:prstClr val="black"/>
                                            </a:solidFill>
                                            <a:latin typeface="Cambria Math" panose="02040503050406030204" pitchFamily="18" charset="0"/>
                                          </a:rPr>
                                          <m:t>− </m:t>
                                        </m:r>
                                        <m:sSup>
                                          <m:sSupPr>
                                            <m:ctrlPr>
                                              <a:rPr lang="en-NZ" altLang="ja-JP" sz="1800" b="1" i="1" smtClean="0">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smtClean="0">
                                                <a:solidFill>
                                                  <a:prstClr val="black"/>
                                                </a:solidFill>
                                                <a:latin typeface="Cambria Math" panose="02040503050406030204" pitchFamily="18" charset="0"/>
                                              </a:rPr>
                                              <m:t>∗</m:t>
                                            </m:r>
                                          </m:sup>
                                        </m:sSup>
                                        <m:r>
                                          <a:rPr lang="en-NZ" altLang="ja-JP" sz="1800" b="1" i="1">
                                            <a:solidFill>
                                              <a:prstClr val="black"/>
                                            </a:solidFill>
                                            <a:latin typeface="Cambria Math" panose="02040503050406030204" pitchFamily="18" charset="0"/>
                                          </a:rPr>
                                          <m:t> </m:t>
                                        </m:r>
                                      </m:e>
                                    </m:d>
                                  </m:e>
                                  <m:sup>
                                    <m:r>
                                      <a:rPr lang="en-NZ" altLang="ja-JP" sz="1800" b="1" i="1" smtClean="0">
                                        <a:solidFill>
                                          <a:prstClr val="black"/>
                                        </a:solidFill>
                                        <a:latin typeface="Cambria Math" panose="02040503050406030204" pitchFamily="18" charset="0"/>
                                      </a:rPr>
                                      <m:t>𝟐</m:t>
                                    </m:r>
                                  </m:sup>
                                </m:sSup>
                              </m:e>
                            </m:nary>
                          </m:num>
                          <m:den>
                            <m:r>
                              <a:rPr lang="en-NZ" altLang="ja-JP" sz="1800" b="1" i="1" smtClean="0">
                                <a:solidFill>
                                  <a:prstClr val="black"/>
                                </a:solidFill>
                                <a:latin typeface="Cambria Math" panose="02040503050406030204" pitchFamily="18" charset="0"/>
                              </a:rPr>
                              <m:t>𝑩</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𝟏</m:t>
                            </m:r>
                          </m:den>
                        </m:f>
                      </m:e>
                    </m:rad>
                  </m:oMath>
                </a14:m>
                <a:r>
                  <a:rPr lang="en-US" altLang="ja-JP" sz="1800" dirty="0">
                    <a:solidFill>
                      <a:prstClr val="black"/>
                    </a:solidFill>
                  </a:rPr>
                  <a:t> </a:t>
                </a:r>
                <a:endParaRPr lang="en-US" altLang="ja-JP" sz="1800" b="1" i="1" dirty="0">
                  <a:solidFill>
                    <a:prstClr val="black"/>
                  </a:solidFill>
                </a:endParaRPr>
              </a:p>
            </p:txBody>
          </p:sp>
        </mc:Choice>
        <mc:Fallback xmlns="">
          <p:sp>
            <p:nvSpPr>
              <p:cNvPr id="17" name="Text Placeholder 5">
                <a:extLst>
                  <a:ext uri="{FF2B5EF4-FFF2-40B4-BE49-F238E27FC236}">
                    <a16:creationId xmlns:a16="http://schemas.microsoft.com/office/drawing/2014/main" id="{536B7945-BB75-48AB-841A-8F163081B5EC}"/>
                  </a:ext>
                </a:extLst>
              </p:cNvPr>
              <p:cNvSpPr txBox="1">
                <a:spLocks noRot="1" noChangeAspect="1" noMove="1" noResize="1" noEditPoints="1" noAdjustHandles="1" noChangeArrowheads="1" noChangeShapeType="1" noTextEdit="1"/>
              </p:cNvSpPr>
              <p:nvPr/>
            </p:nvSpPr>
            <p:spPr>
              <a:xfrm>
                <a:off x="1252581" y="4919240"/>
                <a:ext cx="10657886" cy="750566"/>
              </a:xfrm>
              <a:prstGeom prst="rect">
                <a:avLst/>
              </a:prstGeom>
              <a:blipFill>
                <a:blip r:embed="rId5"/>
                <a:stretch>
                  <a:fillRect l="-457"/>
                </a:stretch>
              </a:blipFill>
            </p:spPr>
            <p:txBody>
              <a:bodyPr/>
              <a:lstStyle/>
              <a:p>
                <a:r>
                  <a:rPr lang="en-NZ">
                    <a:noFill/>
                  </a:rPr>
                  <a:t> </a:t>
                </a:r>
              </a:p>
            </p:txBody>
          </p:sp>
        </mc:Fallback>
      </mc:AlternateContent>
    </p:spTree>
    <p:extLst>
      <p:ext uri="{BB962C8B-B14F-4D97-AF65-F5344CB8AC3E}">
        <p14:creationId xmlns:p14="http://schemas.microsoft.com/office/powerpoint/2010/main" val="152746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5" grpId="0"/>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.2a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.2a – Non-Parametric Bootstrapping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9145CB30-6C40-495F-BFBD-0E7496937521}"/>
              </a:ext>
            </a:extLst>
          </p:cNvPr>
          <p:cNvSpPr txBox="1">
            <a:spLocks/>
          </p:cNvSpPr>
          <p:nvPr/>
        </p:nvSpPr>
        <p:spPr>
          <a:xfrm>
            <a:off x="163773" y="1063943"/>
            <a:ext cx="1184342"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1800" b="1" dirty="0">
                <a:solidFill>
                  <a:schemeClr val="tx1"/>
                </a:solidFill>
              </a:rPr>
              <a:t>Step 5a:</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7BD84D97-3899-4B53-922D-07D78A75E56F}"/>
                  </a:ext>
                </a:extLst>
              </p:cNvPr>
              <p:cNvSpPr txBox="1">
                <a:spLocks/>
              </p:cNvSpPr>
              <p:nvPr/>
            </p:nvSpPr>
            <p:spPr>
              <a:xfrm>
                <a:off x="1348115" y="1063942"/>
                <a:ext cx="10486492" cy="7306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tx1"/>
                    </a:solidFill>
                  </a:rPr>
                  <a:t>If the sampling distribution of </a:t>
                </a:r>
                <a14:m>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𝜽</m:t>
                        </m:r>
                      </m:e>
                    </m:acc>
                  </m:oMath>
                </a14:m>
                <a:r>
                  <a:rPr lang="ja-JP" altLang="en-NZ" sz="1800" dirty="0">
                    <a:solidFill>
                      <a:schemeClr val="tx1"/>
                    </a:solidFill>
                  </a:rPr>
                  <a:t> </a:t>
                </a:r>
                <a:r>
                  <a:rPr lang="en-NZ" altLang="ja-JP" sz="1800" dirty="0">
                    <a:solidFill>
                      <a:schemeClr val="tx1"/>
                    </a:solidFill>
                  </a:rPr>
                  <a:t>can be assumed to be normal, </a:t>
                </a:r>
                <a:br>
                  <a:rPr lang="en-NZ" altLang="ja-JP" sz="1800" dirty="0">
                    <a:solidFill>
                      <a:schemeClr val="tx1"/>
                    </a:solidFill>
                  </a:rPr>
                </a:br>
                <a:r>
                  <a:rPr lang="en-NZ" altLang="ja-JP" sz="1800" dirty="0">
                    <a:solidFill>
                      <a:schemeClr val="tx1"/>
                    </a:solidFill>
                  </a:rPr>
                  <a:t>then a 95% confidence interval for </a:t>
                </a:r>
                <a14:m>
                  <m:oMath xmlns:m="http://schemas.openxmlformats.org/officeDocument/2006/math">
                    <m:r>
                      <a:rPr lang="en-NZ" altLang="ja-JP" sz="1800" b="1" i="1" smtClean="0">
                        <a:solidFill>
                          <a:schemeClr val="tx1"/>
                        </a:solidFill>
                        <a:latin typeface="Cambria Math" panose="02040503050406030204" pitchFamily="18" charset="0"/>
                      </a:rPr>
                      <m:t>𝜽</m:t>
                    </m:r>
                  </m:oMath>
                </a14:m>
                <a:r>
                  <a:rPr lang="ja-JP" altLang="en-NZ" sz="1800" dirty="0">
                    <a:solidFill>
                      <a:schemeClr val="tx1"/>
                    </a:solidFill>
                  </a:rPr>
                  <a:t> </a:t>
                </a:r>
                <a:r>
                  <a:rPr lang="en-NZ" altLang="ja-JP" sz="1800" dirty="0">
                    <a:solidFill>
                      <a:schemeClr val="tx1"/>
                    </a:solidFill>
                  </a:rPr>
                  <a:t>can be created using the standard bootstrap confidence interval.</a:t>
                </a:r>
                <a:endParaRPr lang="ja-JP" altLang="en-NZ" sz="1800" dirty="0">
                  <a:solidFill>
                    <a:schemeClr val="tx1"/>
                  </a:solidFill>
                </a:endParaRPr>
              </a:p>
            </p:txBody>
          </p:sp>
        </mc:Choice>
        <mc:Fallback xmlns="">
          <p:sp>
            <p:nvSpPr>
              <p:cNvPr id="9" name="Text Placeholder 5">
                <a:extLst>
                  <a:ext uri="{FF2B5EF4-FFF2-40B4-BE49-F238E27FC236}">
                    <a16:creationId xmlns:a16="http://schemas.microsoft.com/office/drawing/2014/main" id="{7BD84D97-3899-4B53-922D-07D78A75E56F}"/>
                  </a:ext>
                </a:extLst>
              </p:cNvPr>
              <p:cNvSpPr txBox="1">
                <a:spLocks noRot="1" noChangeAspect="1" noMove="1" noResize="1" noEditPoints="1" noAdjustHandles="1" noChangeArrowheads="1" noChangeShapeType="1" noTextEdit="1"/>
              </p:cNvSpPr>
              <p:nvPr/>
            </p:nvSpPr>
            <p:spPr>
              <a:xfrm>
                <a:off x="1348115" y="1063942"/>
                <a:ext cx="10486492" cy="730613"/>
              </a:xfrm>
              <a:prstGeom prst="rect">
                <a:avLst/>
              </a:prstGeom>
              <a:blipFill>
                <a:blip r:embed="rId3"/>
                <a:stretch>
                  <a:fillRect l="-465" t="-3361" b="-336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1F61E9F4-56FF-41FA-9443-E509CAD2C8AD}"/>
                  </a:ext>
                </a:extLst>
              </p:cNvPr>
              <p:cNvSpPr txBox="1">
                <a:spLocks/>
              </p:cNvSpPr>
              <p:nvPr/>
            </p:nvSpPr>
            <p:spPr>
              <a:xfrm>
                <a:off x="1348115" y="1794555"/>
                <a:ext cx="10486492"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d>
                        <m:dPr>
                          <m:begChr m:val="["/>
                          <m:endChr m:val="]"/>
                          <m:ctrlPr>
                            <a:rPr lang="en-US" altLang="ja-JP" sz="1800" b="1" i="1" smtClean="0">
                              <a:solidFill>
                                <a:schemeClr val="tx1"/>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𝟗𝟔</m:t>
                          </m:r>
                          <m:r>
                            <a:rPr lang="en-NZ" altLang="ja-JP" sz="1800" b="1" i="1" smtClean="0">
                              <a:solidFill>
                                <a:schemeClr val="tx1"/>
                              </a:solidFill>
                              <a:latin typeface="Cambria Math" panose="02040503050406030204" pitchFamily="18" charset="0"/>
                            </a:rPr>
                            <m:t> ∗</m:t>
                          </m:r>
                          <m:r>
                            <a:rPr lang="en-NZ" altLang="ja-JP" sz="1800" b="1" i="1">
                              <a:solidFill>
                                <a:prstClr val="black"/>
                              </a:solidFill>
                              <a:latin typeface="Cambria Math" panose="02040503050406030204" pitchFamily="18" charset="0"/>
                            </a:rPr>
                            <m:t>𝒔</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𝒆</m:t>
                          </m:r>
                          <m:r>
                            <a:rPr lang="en-NZ" altLang="ja-JP" sz="1800" b="1" i="1">
                              <a:solidFill>
                                <a:prstClr val="black"/>
                              </a:solidFill>
                              <a:latin typeface="Cambria Math" panose="02040503050406030204" pitchFamily="18" charset="0"/>
                            </a:rPr>
                            <m:t>.</m:t>
                          </m:r>
                          <m:d>
                            <m:dPr>
                              <m:ctrlPr>
                                <a:rPr lang="en-NZ" altLang="ja-JP" sz="1800" b="1" i="1" smtClean="0">
                                  <a:solidFill>
                                    <a:prstClr val="black"/>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r>
                            <a:rPr lang="en-NZ" altLang="ja-JP" sz="1800" b="1" i="1" smtClean="0">
                              <a:solidFill>
                                <a:prstClr val="black"/>
                              </a:solidFill>
                              <a:latin typeface="Cambria Math" panose="02040503050406030204" pitchFamily="18" charset="0"/>
                            </a:rPr>
                            <m:t>  ,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𝟗𝟔</m:t>
                          </m:r>
                          <m:r>
                            <a:rPr lang="en-NZ" altLang="ja-JP" sz="1800" b="1" i="1">
                              <a:solidFill>
                                <a:schemeClr val="tx1"/>
                              </a:solidFill>
                              <a:latin typeface="Cambria Math" panose="02040503050406030204" pitchFamily="18" charset="0"/>
                            </a:rPr>
                            <m:t> ∗</m:t>
                          </m:r>
                          <m:r>
                            <a:rPr lang="en-NZ" altLang="ja-JP" sz="1800" b="1" i="1">
                              <a:solidFill>
                                <a:prstClr val="black"/>
                              </a:solidFill>
                              <a:latin typeface="Cambria Math" panose="02040503050406030204" pitchFamily="18" charset="0"/>
                            </a:rPr>
                            <m:t>𝒔</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𝒆</m:t>
                          </m:r>
                          <m:r>
                            <a:rPr lang="en-NZ" altLang="ja-JP" sz="1800" b="1" i="1">
                              <a:solidFill>
                                <a:prstClr val="black"/>
                              </a:solidFill>
                              <a:latin typeface="Cambria Math" panose="02040503050406030204" pitchFamily="18" charset="0"/>
                            </a:rPr>
                            <m:t>.</m:t>
                          </m:r>
                          <m:d>
                            <m:dPr>
                              <m:ctrlPr>
                                <a:rPr lang="en-NZ" altLang="ja-JP" sz="1800" b="1" i="1">
                                  <a:solidFill>
                                    <a:prstClr val="black"/>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e>
                      </m:d>
                    </m:oMath>
                  </m:oMathPara>
                </a14:m>
                <a:endParaRPr lang="ja-JP" altLang="en-NZ" sz="1800" b="1" dirty="0">
                  <a:solidFill>
                    <a:schemeClr val="tx1"/>
                  </a:solidFill>
                </a:endParaRPr>
              </a:p>
            </p:txBody>
          </p:sp>
        </mc:Choice>
        <mc:Fallback xmlns="">
          <p:sp>
            <p:nvSpPr>
              <p:cNvPr id="18" name="Text Placeholder 5">
                <a:extLst>
                  <a:ext uri="{FF2B5EF4-FFF2-40B4-BE49-F238E27FC236}">
                    <a16:creationId xmlns:a16="http://schemas.microsoft.com/office/drawing/2014/main" id="{1F61E9F4-56FF-41FA-9443-E509CAD2C8AD}"/>
                  </a:ext>
                </a:extLst>
              </p:cNvPr>
              <p:cNvSpPr txBox="1">
                <a:spLocks noRot="1" noChangeAspect="1" noMove="1" noResize="1" noEditPoints="1" noAdjustHandles="1" noChangeArrowheads="1" noChangeShapeType="1" noTextEdit="1"/>
              </p:cNvSpPr>
              <p:nvPr/>
            </p:nvSpPr>
            <p:spPr>
              <a:xfrm>
                <a:off x="1348115" y="1794555"/>
                <a:ext cx="10486492" cy="470760"/>
              </a:xfrm>
              <a:prstGeom prst="rect">
                <a:avLst/>
              </a:prstGeom>
              <a:blipFill>
                <a:blip r:embed="rId4"/>
                <a:stretch>
                  <a:fillRect/>
                </a:stretch>
              </a:blipFill>
            </p:spPr>
            <p:txBody>
              <a:bodyPr/>
              <a:lstStyle/>
              <a:p>
                <a:r>
                  <a:rPr lang="en-NZ">
                    <a:noFill/>
                  </a:rPr>
                  <a:t> </a:t>
                </a:r>
              </a:p>
            </p:txBody>
          </p:sp>
        </mc:Fallback>
      </mc:AlternateContent>
      <p:sp>
        <p:nvSpPr>
          <p:cNvPr id="19" name="Text Placeholder 5">
            <a:extLst>
              <a:ext uri="{FF2B5EF4-FFF2-40B4-BE49-F238E27FC236}">
                <a16:creationId xmlns:a16="http://schemas.microsoft.com/office/drawing/2014/main" id="{E28FF863-B5AC-4759-A36F-27BEABE5BE5E}"/>
              </a:ext>
            </a:extLst>
          </p:cNvPr>
          <p:cNvSpPr txBox="1">
            <a:spLocks/>
          </p:cNvSpPr>
          <p:nvPr/>
        </p:nvSpPr>
        <p:spPr>
          <a:xfrm>
            <a:off x="163773" y="2716527"/>
            <a:ext cx="1184342"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1800" b="1" dirty="0">
                <a:solidFill>
                  <a:schemeClr val="tx1"/>
                </a:solidFill>
              </a:rPr>
              <a:t>Step 5b:</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F0E9C5C9-E872-4BF6-B9D0-2358BE12021D}"/>
                  </a:ext>
                </a:extLst>
              </p:cNvPr>
              <p:cNvSpPr txBox="1">
                <a:spLocks/>
              </p:cNvSpPr>
              <p:nvPr/>
            </p:nvSpPr>
            <p:spPr>
              <a:xfrm>
                <a:off x="1348115" y="2716527"/>
                <a:ext cx="10486492" cy="7306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tx1"/>
                    </a:solidFill>
                  </a:rPr>
                  <a:t>If the sampling distribution of </a:t>
                </a:r>
                <a14:m>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𝜽</m:t>
                        </m:r>
                      </m:e>
                    </m:acc>
                  </m:oMath>
                </a14:m>
                <a:r>
                  <a:rPr lang="ja-JP" altLang="en-NZ" sz="1800" dirty="0">
                    <a:solidFill>
                      <a:schemeClr val="tx1"/>
                    </a:solidFill>
                  </a:rPr>
                  <a:t> </a:t>
                </a:r>
                <a:r>
                  <a:rPr lang="en-NZ" altLang="ja-JP" sz="1800" dirty="0">
                    <a:solidFill>
                      <a:schemeClr val="tx1"/>
                    </a:solidFill>
                  </a:rPr>
                  <a:t>cannot be assumed to be normal, </a:t>
                </a:r>
                <a:br>
                  <a:rPr lang="en-NZ" altLang="ja-JP" sz="1800" dirty="0">
                    <a:solidFill>
                      <a:schemeClr val="tx1"/>
                    </a:solidFill>
                  </a:rPr>
                </a:br>
                <a:r>
                  <a:rPr lang="en-NZ" altLang="ja-JP" sz="1800" dirty="0">
                    <a:solidFill>
                      <a:schemeClr val="tx1"/>
                    </a:solidFill>
                  </a:rPr>
                  <a:t>then percentile methods can be used to create a 95% confidence interval of </a:t>
                </a:r>
                <a14:m>
                  <m:oMath xmlns:m="http://schemas.openxmlformats.org/officeDocument/2006/math">
                    <m:r>
                      <a:rPr lang="en-NZ" altLang="ja-JP" sz="1800" b="1" i="1">
                        <a:solidFill>
                          <a:schemeClr val="tx1"/>
                        </a:solidFill>
                        <a:latin typeface="Cambria Math" panose="02040503050406030204" pitchFamily="18" charset="0"/>
                      </a:rPr>
                      <m:t>𝜽</m:t>
                    </m:r>
                  </m:oMath>
                </a14:m>
                <a:endParaRPr lang="ja-JP" altLang="en-NZ" sz="1800" dirty="0">
                  <a:solidFill>
                    <a:schemeClr val="tx1"/>
                  </a:solidFill>
                </a:endParaRPr>
              </a:p>
            </p:txBody>
          </p:sp>
        </mc:Choice>
        <mc:Fallback xmlns="">
          <p:sp>
            <p:nvSpPr>
              <p:cNvPr id="20" name="Text Placeholder 5">
                <a:extLst>
                  <a:ext uri="{FF2B5EF4-FFF2-40B4-BE49-F238E27FC236}">
                    <a16:creationId xmlns:a16="http://schemas.microsoft.com/office/drawing/2014/main" id="{F0E9C5C9-E872-4BF6-B9D0-2358BE12021D}"/>
                  </a:ext>
                </a:extLst>
              </p:cNvPr>
              <p:cNvSpPr txBox="1">
                <a:spLocks noRot="1" noChangeAspect="1" noMove="1" noResize="1" noEditPoints="1" noAdjustHandles="1" noChangeArrowheads="1" noChangeShapeType="1" noTextEdit="1"/>
              </p:cNvSpPr>
              <p:nvPr/>
            </p:nvSpPr>
            <p:spPr>
              <a:xfrm>
                <a:off x="1348115" y="2716527"/>
                <a:ext cx="10486492" cy="730613"/>
              </a:xfrm>
              <a:prstGeom prst="rect">
                <a:avLst/>
              </a:prstGeom>
              <a:blipFill>
                <a:blip r:embed="rId5"/>
                <a:stretch>
                  <a:fillRect l="-465" t="-3361" b="-336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AA6EFD4D-2E23-4671-A05E-79DE92E1EA47}"/>
                  </a:ext>
                </a:extLst>
              </p:cNvPr>
              <p:cNvSpPr txBox="1">
                <a:spLocks/>
              </p:cNvSpPr>
              <p:nvPr/>
            </p:nvSpPr>
            <p:spPr>
              <a:xfrm>
                <a:off x="3343701" y="3484457"/>
                <a:ext cx="8490906" cy="11934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d>
                        <m:dPr>
                          <m:begChr m:val="["/>
                          <m:endChr m:val="]"/>
                          <m:ctrlPr>
                            <a:rPr lang="en-US" altLang="ja-JP" sz="1800" b="1" i="1" smtClean="0">
                              <a:solidFill>
                                <a:schemeClr val="tx1"/>
                              </a:solidFill>
                              <a:latin typeface="Cambria Math" panose="02040503050406030204" pitchFamily="18" charset="0"/>
                            </a:rPr>
                          </m:ctrlPr>
                        </m:dPr>
                        <m:e>
                          <m:sSubSup>
                            <m:sSubSupPr>
                              <m:ctrlPr>
                                <a:rPr lang="en-NZ" altLang="ja-JP" sz="1800" b="1" i="1" smtClean="0">
                                  <a:solidFill>
                                    <a:prstClr val="black"/>
                                  </a:solidFill>
                                  <a:latin typeface="Cambria Math" panose="02040503050406030204" pitchFamily="18" charset="0"/>
                                </a:rPr>
                              </m:ctrlPr>
                            </m:sSub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b>
                              <m:r>
                                <a:rPr lang="en-NZ" altLang="ja-JP" sz="1800" b="1" i="1" smtClean="0">
                                  <a:solidFill>
                                    <a:prstClr val="black"/>
                                  </a:solidFill>
                                  <a:latin typeface="Cambria Math" panose="02040503050406030204" pitchFamily="18" charset="0"/>
                                </a:rPr>
                                <m:t>𝟐</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𝟓</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r>
                            <a:rPr lang="en-NZ" altLang="ja-JP" sz="1800" b="1" i="1" smtClean="0">
                              <a:solidFill>
                                <a:prstClr val="black"/>
                              </a:solidFill>
                              <a:latin typeface="Cambria Math" panose="02040503050406030204" pitchFamily="18" charset="0"/>
                            </a:rPr>
                            <m:t>  , </m:t>
                          </m:r>
                          <m:sSubSup>
                            <m:sSubSupPr>
                              <m:ctrlPr>
                                <a:rPr lang="en-NZ" altLang="ja-JP" sz="1800" b="1" i="1">
                                  <a:solidFill>
                                    <a:prstClr val="black"/>
                                  </a:solidFill>
                                  <a:latin typeface="Cambria Math" panose="02040503050406030204" pitchFamily="18" charset="0"/>
                                </a:rPr>
                              </m:ctrlPr>
                            </m:sSubSupPr>
                            <m:e>
                              <m:r>
                                <a:rPr lang="en-NZ" altLang="ja-JP" sz="1800" b="1" i="1" smtClean="0">
                                  <a:solidFill>
                                    <a:prstClr val="black"/>
                                  </a:solidFill>
                                  <a:latin typeface="Cambria Math" panose="02040503050406030204" pitchFamily="18" charset="0"/>
                                </a:rPr>
                                <m:t>  </m:t>
                              </m:r>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b>
                              <m:r>
                                <a:rPr lang="en-NZ" altLang="ja-JP" sz="1800" b="1" i="1" smtClean="0">
                                  <a:solidFill>
                                    <a:prstClr val="black"/>
                                  </a:solidFill>
                                  <a:latin typeface="Cambria Math" panose="02040503050406030204" pitchFamily="18" charset="0"/>
                                </a:rPr>
                                <m:t>𝟗𝟕</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𝟓</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d>
                    </m:oMath>
                  </m:oMathPara>
                </a14:m>
                <a:endParaRPr lang="en-NZ" altLang="ja-JP" sz="1800" b="1" dirty="0">
                  <a:solidFill>
                    <a:schemeClr val="tx1"/>
                  </a:solidFill>
                </a:endParaRPr>
              </a:p>
              <a:p>
                <a:pPr>
                  <a:lnSpc>
                    <a:spcPct val="100000"/>
                  </a:lnSpc>
                </a:pPr>
                <a:endParaRPr lang="en-NZ" altLang="ja-JP" sz="200" b="1" dirty="0">
                  <a:solidFill>
                    <a:schemeClr val="tx1"/>
                  </a:solidFill>
                </a:endParaRPr>
              </a:p>
              <a:p>
                <a:pPr>
                  <a:lnSpc>
                    <a:spcPct val="100000"/>
                  </a:lnSpc>
                </a:pPr>
                <a:endParaRPr lang="en-NZ" altLang="ja-JP" sz="200" b="1" dirty="0">
                  <a:solidFill>
                    <a:schemeClr val="tx1"/>
                  </a:solidFill>
                </a:endParaRPr>
              </a:p>
              <a:p>
                <a:pPr>
                  <a:lnSpc>
                    <a:spcPct val="100000"/>
                  </a:lnSpc>
                </a:pPr>
                <a:endParaRPr lang="en-NZ" altLang="ja-JP" sz="200" b="1" dirty="0">
                  <a:solidFill>
                    <a:schemeClr val="tx1"/>
                  </a:solidFill>
                </a:endParaRPr>
              </a:p>
              <a:p>
                <a:pPr>
                  <a:lnSpc>
                    <a:spcPct val="100000"/>
                  </a:lnSpc>
                </a:pPr>
                <a:endParaRPr lang="en-NZ" altLang="ja-JP" sz="200" b="1" dirty="0">
                  <a:solidFill>
                    <a:schemeClr val="tx1"/>
                  </a:solidFill>
                </a:endParaRPr>
              </a:p>
              <a:p>
                <a:pPr>
                  <a:lnSpc>
                    <a:spcPct val="100000"/>
                  </a:lnSpc>
                </a:pPr>
                <a:endParaRPr lang="en-NZ" altLang="ja-JP" sz="200" b="1" dirty="0">
                  <a:solidFill>
                    <a:schemeClr val="tx1"/>
                  </a:solidFill>
                </a:endParaRPr>
              </a:p>
              <a:p>
                <a:pPr>
                  <a:lnSpc>
                    <a:spcPct val="100000"/>
                  </a:lnSpc>
                </a:pPr>
                <a14:m>
                  <m:oMathPara xmlns:m="http://schemas.openxmlformats.org/officeDocument/2006/math">
                    <m:oMathParaPr>
                      <m:jc m:val="left"/>
                    </m:oMathParaPr>
                    <m:oMath xmlns:m="http://schemas.openxmlformats.org/officeDocument/2006/math">
                      <m:d>
                        <m:dPr>
                          <m:begChr m:val="["/>
                          <m:endChr m:val="]"/>
                          <m:ctrlPr>
                            <a:rPr lang="en-US" altLang="ja-JP" sz="1800" b="1" i="1" smtClean="0">
                              <a:solidFill>
                                <a:schemeClr val="tx1"/>
                              </a:solidFill>
                              <a:latin typeface="Cambria Math" panose="02040503050406030204" pitchFamily="18" charset="0"/>
                            </a:rPr>
                          </m:ctrlPr>
                        </m:dPr>
                        <m:e>
                          <m:m>
                            <m:mPr>
                              <m:mcs>
                                <m:mc>
                                  <m:mcPr>
                                    <m:count m:val="2"/>
                                    <m:mcJc m:val="center"/>
                                  </m:mcPr>
                                </m:mc>
                              </m:mcs>
                              <m:ctrlPr>
                                <a:rPr lang="en-US" altLang="ja-JP" sz="1800" b="1" i="1" smtClean="0">
                                  <a:solidFill>
                                    <a:schemeClr val="tx1"/>
                                  </a:solidFill>
                                  <a:latin typeface="Cambria Math" panose="02040503050406030204" pitchFamily="18" charset="0"/>
                                </a:rPr>
                              </m:ctrlPr>
                            </m:mPr>
                            <m:m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sSubSup>
                                      <m:sSubSupPr>
                                        <m:ctrlPr>
                                          <a:rPr lang="en-NZ" altLang="ja-JP" sz="1800" b="1" i="1">
                                            <a:solidFill>
                                              <a:prstClr val="black"/>
                                            </a:solidFill>
                                            <a:latin typeface="Cambria Math" panose="02040503050406030204" pitchFamily="18" charset="0"/>
                                          </a:rPr>
                                        </m:ctrlPr>
                                      </m:sSub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b>
                                        <m:r>
                                          <a:rPr lang="en-NZ" altLang="ja-JP" sz="1800" b="1" i="1" smtClean="0">
                                            <a:solidFill>
                                              <a:prstClr val="black"/>
                                            </a:solidFill>
                                            <a:latin typeface="Cambria Math" panose="02040503050406030204" pitchFamily="18" charset="0"/>
                                          </a:rPr>
                                          <m:t>𝟗𝟕</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𝟓</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r>
                                      <a:rPr lang="en-NZ" altLang="ja-JP" sz="1800" b="1" i="1">
                                        <a:solidFill>
                                          <a:schemeClr val="tx1"/>
                                        </a:solidFill>
                                        <a:latin typeface="Cambria Math" panose="02040503050406030204" pitchFamily="18" charset="0"/>
                                      </a:rPr>
                                      <m:t>−</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 </m:t>
                                    </m:r>
                                  </m:e>
                                </m:d>
                              </m:e>
                              <m:e>
                                <m:m>
                                  <m:mPr>
                                    <m:mcs>
                                      <m:mc>
                                        <m:mcPr>
                                          <m:count m:val="2"/>
                                          <m:mcJc m:val="center"/>
                                        </m:mcPr>
                                      </m:mc>
                                    </m:mcs>
                                    <m:ctrlPr>
                                      <a:rPr lang="en-US" altLang="ja-JP" sz="1800" b="1" i="1" smtClean="0">
                                        <a:solidFill>
                                          <a:schemeClr val="tx1"/>
                                        </a:solidFill>
                                        <a:latin typeface="Cambria Math" panose="02040503050406030204" pitchFamily="18" charset="0"/>
                                      </a:rPr>
                                    </m:ctrlPr>
                                  </m:mPr>
                                  <m:mr>
                                    <m:e>
                                      <m:r>
                                        <m:rPr>
                                          <m:brk m:alnAt="7"/>
                                        </m:rPr>
                                        <a:rPr lang="en-NZ" altLang="ja-JP" sz="1800" b="1" i="1" smtClean="0">
                                          <a:solidFill>
                                            <a:schemeClr val="tx1"/>
                                          </a:solidFill>
                                          <a:latin typeface="Cambria Math" panose="02040503050406030204" pitchFamily="18" charset="0"/>
                                        </a:rPr>
                                        <m:t>,</m:t>
                                      </m:r>
                                    </m:e>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sSubSup>
                                            <m:sSubSupPr>
                                              <m:ctrlPr>
                                                <a:rPr lang="en-NZ" altLang="ja-JP" sz="1800" b="1" i="1">
                                                  <a:solidFill>
                                                    <a:prstClr val="black"/>
                                                  </a:solidFill>
                                                  <a:latin typeface="Cambria Math" panose="02040503050406030204" pitchFamily="18" charset="0"/>
                                                </a:rPr>
                                              </m:ctrlPr>
                                            </m:sSub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b>
                                              <m:r>
                                                <a:rPr lang="en-NZ" altLang="ja-JP" sz="1800" b="1" i="1" smtClean="0">
                                                  <a:solidFill>
                                                    <a:prstClr val="black"/>
                                                  </a:solidFill>
                                                  <a:latin typeface="Cambria Math" panose="02040503050406030204" pitchFamily="18" charset="0"/>
                                                </a:rPr>
                                                <m:t>𝟐</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𝟓</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r>
                                            <a:rPr lang="en-NZ" altLang="ja-JP" sz="1800" b="1" i="1">
                                              <a:solidFill>
                                                <a:schemeClr val="tx1"/>
                                              </a:solidFill>
                                              <a:latin typeface="Cambria Math" panose="02040503050406030204" pitchFamily="18" charset="0"/>
                                            </a:rPr>
                                            <m:t>−</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 </m:t>
                                          </m:r>
                                        </m:e>
                                      </m:d>
                                    </m:e>
                                  </m:mr>
                                </m:m>
                              </m:e>
                            </m:mr>
                          </m:m>
                        </m:e>
                      </m:d>
                      <m:r>
                        <a:rPr lang="en-NZ" altLang="ja-JP" sz="1800" b="1" i="1" smtClean="0">
                          <a:solidFill>
                            <a:prstClr val="black"/>
                          </a:solidFill>
                          <a:latin typeface="Cambria Math" panose="02040503050406030204" pitchFamily="18" charset="0"/>
                        </a:rPr>
                        <m:t>  =  </m:t>
                      </m:r>
                      <m:d>
                        <m:dPr>
                          <m:begChr m:val="["/>
                          <m:endChr m:val="]"/>
                          <m:ctrlPr>
                            <a:rPr lang="en-US" altLang="ja-JP" sz="1800" b="1" i="1">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𝟐</m:t>
                          </m:r>
                          <m:m>
                            <m:mPr>
                              <m:mcs>
                                <m:mc>
                                  <m:mcPr>
                                    <m:count m:val="2"/>
                                    <m:mcJc m:val="center"/>
                                  </m:mcPr>
                                </m:mc>
                              </m:mcs>
                              <m:ctrlPr>
                                <a:rPr lang="en-US" altLang="ja-JP" sz="1800" b="1" i="1">
                                  <a:solidFill>
                                    <a:schemeClr val="tx1"/>
                                  </a:solidFill>
                                  <a:latin typeface="Cambria Math" panose="02040503050406030204" pitchFamily="18" charset="0"/>
                                </a:rPr>
                              </m:ctrlPr>
                            </m:mPr>
                            <m:m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 −</m:t>
                                </m:r>
                                <m:sSubSup>
                                  <m:sSubSupPr>
                                    <m:ctrlPr>
                                      <a:rPr lang="en-NZ" altLang="ja-JP" sz="1800" b="1" i="1">
                                        <a:solidFill>
                                          <a:prstClr val="black"/>
                                        </a:solidFill>
                                        <a:latin typeface="Cambria Math" panose="02040503050406030204" pitchFamily="18" charset="0"/>
                                      </a:rPr>
                                    </m:ctrlPr>
                                  </m:sSub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b>
                                    <m:r>
                                      <a:rPr lang="en-NZ" altLang="ja-JP" sz="1800" b="1" i="1" smtClean="0">
                                        <a:solidFill>
                                          <a:prstClr val="black"/>
                                        </a:solidFill>
                                        <a:latin typeface="Cambria Math" panose="02040503050406030204" pitchFamily="18" charset="0"/>
                                      </a:rPr>
                                      <m:t>𝟗𝟕</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𝟓</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e>
                                <m:m>
                                  <m:mPr>
                                    <m:mcs>
                                      <m:mc>
                                        <m:mcPr>
                                          <m:count m:val="2"/>
                                          <m:mcJc m:val="center"/>
                                        </m:mcPr>
                                      </m:mc>
                                    </m:mcs>
                                    <m:ctrlPr>
                                      <a:rPr lang="en-US" altLang="ja-JP" sz="1800" b="1" i="1">
                                        <a:solidFill>
                                          <a:schemeClr val="tx1"/>
                                        </a:solidFill>
                                        <a:latin typeface="Cambria Math" panose="02040503050406030204" pitchFamily="18" charset="0"/>
                                      </a:rPr>
                                    </m:ctrlPr>
                                  </m:mPr>
                                  <m:mr>
                                    <m:e>
                                      <m:r>
                                        <m:rPr>
                                          <m:brk m:alnAt="7"/>
                                        </m:rPr>
                                        <a:rPr lang="en-NZ" altLang="ja-JP" sz="1800" b="1" i="1">
                                          <a:solidFill>
                                            <a:schemeClr val="tx1"/>
                                          </a:solidFill>
                                          <a:latin typeface="Cambria Math" panose="02040503050406030204" pitchFamily="18" charset="0"/>
                                        </a:rPr>
                                        <m:t>,</m:t>
                                      </m:r>
                                    </m:e>
                                    <m:e>
                                      <m:r>
                                        <a:rPr lang="en-NZ" altLang="ja-JP" sz="1800" b="1" i="1" smtClean="0">
                                          <a:solidFill>
                                            <a:schemeClr val="tx1"/>
                                          </a:solidFill>
                                          <a:latin typeface="Cambria Math" panose="02040503050406030204" pitchFamily="18" charset="0"/>
                                        </a:rPr>
                                        <m:t>𝟐</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 −</m:t>
                                      </m:r>
                                      <m:sSubSup>
                                        <m:sSubSupPr>
                                          <m:ctrlPr>
                                            <a:rPr lang="en-NZ" altLang="ja-JP" sz="1800" b="1" i="1">
                                              <a:solidFill>
                                                <a:prstClr val="black"/>
                                              </a:solidFill>
                                              <a:latin typeface="Cambria Math" panose="02040503050406030204" pitchFamily="18" charset="0"/>
                                            </a:rPr>
                                          </m:ctrlPr>
                                        </m:sSub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b>
                                          <m:r>
                                            <a:rPr lang="en-NZ" altLang="ja-JP" sz="1800" b="1" i="1" smtClean="0">
                                              <a:solidFill>
                                                <a:prstClr val="black"/>
                                              </a:solidFill>
                                              <a:latin typeface="Cambria Math" panose="02040503050406030204" pitchFamily="18" charset="0"/>
                                            </a:rPr>
                                            <m:t>𝟐</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𝟓</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mr>
                                </m:m>
                              </m:e>
                            </m:mr>
                          </m:m>
                        </m:e>
                      </m:d>
                    </m:oMath>
                  </m:oMathPara>
                </a14:m>
                <a:endParaRPr lang="en-NZ" altLang="ja-JP" sz="1800" b="1" dirty="0">
                  <a:solidFill>
                    <a:schemeClr val="tx1"/>
                  </a:solidFill>
                </a:endParaRPr>
              </a:p>
              <a:p>
                <a:pPr>
                  <a:lnSpc>
                    <a:spcPct val="100000"/>
                  </a:lnSpc>
                </a:pPr>
                <a:r>
                  <a:rPr lang="ja-JP" altLang="en-NZ" sz="1800" b="1" dirty="0">
                    <a:solidFill>
                      <a:schemeClr val="tx1"/>
                    </a:solidFill>
                  </a:rPr>
                  <a:t>  </a:t>
                </a:r>
                <a:endParaRPr lang="en-NZ" altLang="ja-JP" sz="1800" b="1" dirty="0">
                  <a:solidFill>
                    <a:schemeClr val="tx1"/>
                  </a:solidFill>
                </a:endParaRPr>
              </a:p>
            </p:txBody>
          </p:sp>
        </mc:Choice>
        <mc:Fallback xmlns="">
          <p:sp>
            <p:nvSpPr>
              <p:cNvPr id="21" name="Text Placeholder 5">
                <a:extLst>
                  <a:ext uri="{FF2B5EF4-FFF2-40B4-BE49-F238E27FC236}">
                    <a16:creationId xmlns:a16="http://schemas.microsoft.com/office/drawing/2014/main" id="{AA6EFD4D-2E23-4671-A05E-79DE92E1EA47}"/>
                  </a:ext>
                </a:extLst>
              </p:cNvPr>
              <p:cNvSpPr txBox="1">
                <a:spLocks noRot="1" noChangeAspect="1" noMove="1" noResize="1" noEditPoints="1" noAdjustHandles="1" noChangeArrowheads="1" noChangeShapeType="1" noTextEdit="1"/>
              </p:cNvSpPr>
              <p:nvPr/>
            </p:nvSpPr>
            <p:spPr>
              <a:xfrm>
                <a:off x="3343701" y="3484457"/>
                <a:ext cx="8490906" cy="1193443"/>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83600B0D-FA27-4342-8ED5-C76B414CB49D}"/>
                  </a:ext>
                </a:extLst>
              </p:cNvPr>
              <p:cNvSpPr txBox="1">
                <a:spLocks/>
              </p:cNvSpPr>
              <p:nvPr/>
            </p:nvSpPr>
            <p:spPr>
              <a:xfrm>
                <a:off x="1348115" y="4721432"/>
                <a:ext cx="9814738" cy="82703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where </a:t>
                </a:r>
                <a14:m>
                  <m:oMath xmlns:m="http://schemas.openxmlformats.org/officeDocument/2006/math">
                    <m:sSubSup>
                      <m:sSubSupPr>
                        <m:ctrlPr>
                          <a:rPr lang="en-NZ" altLang="ja-JP" sz="1800" b="1" i="1">
                            <a:solidFill>
                              <a:prstClr val="black"/>
                            </a:solidFill>
                            <a:latin typeface="Cambria Math" panose="02040503050406030204" pitchFamily="18" charset="0"/>
                          </a:rPr>
                        </m:ctrlPr>
                      </m:sSub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b>
                        <m:r>
                          <a:rPr lang="en-NZ" altLang="ja-JP" sz="1800" b="1" i="1" smtClean="0">
                            <a:solidFill>
                              <a:prstClr val="black"/>
                            </a:solidFill>
                            <a:latin typeface="Cambria Math" panose="02040503050406030204" pitchFamily="18" charset="0"/>
                          </a:rPr>
                          <m:t>𝟐</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𝟓</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oMath>
                </a14:m>
                <a:r>
                  <a:rPr lang="en-NZ" altLang="ja-JP" sz="1800" dirty="0">
                    <a:solidFill>
                      <a:schemeClr val="tx1"/>
                    </a:solidFill>
                  </a:rPr>
                  <a:t> is the 2.5</a:t>
                </a:r>
                <a:r>
                  <a:rPr lang="en-NZ" altLang="ja-JP" sz="1800" baseline="30000" dirty="0">
                    <a:solidFill>
                      <a:schemeClr val="tx1"/>
                    </a:solidFill>
                  </a:rPr>
                  <a:t>th</a:t>
                </a:r>
                <a:r>
                  <a:rPr lang="en-NZ" altLang="ja-JP" sz="1800" dirty="0">
                    <a:solidFill>
                      <a:schemeClr val="tx1"/>
                    </a:solidFill>
                  </a:rPr>
                  <a:t> percentile  and  </a:t>
                </a:r>
                <a14:m>
                  <m:oMath xmlns:m="http://schemas.openxmlformats.org/officeDocument/2006/math">
                    <m:sSubSup>
                      <m:sSubSupPr>
                        <m:ctrlPr>
                          <a:rPr lang="en-NZ" altLang="ja-JP" sz="1800" b="1" i="1">
                            <a:solidFill>
                              <a:prstClr val="black"/>
                            </a:solidFill>
                            <a:latin typeface="Cambria Math" panose="02040503050406030204" pitchFamily="18" charset="0"/>
                          </a:rPr>
                        </m:ctrlPr>
                      </m:sSub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b>
                        <m:r>
                          <a:rPr lang="en-NZ" altLang="ja-JP" sz="1800" b="1" i="1" smtClean="0">
                            <a:solidFill>
                              <a:prstClr val="black"/>
                            </a:solidFill>
                            <a:latin typeface="Cambria Math" panose="02040503050406030204" pitchFamily="18" charset="0"/>
                          </a:rPr>
                          <m:t>𝟗𝟕</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𝟓</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oMath>
                </a14:m>
                <a:r>
                  <a:rPr lang="en-NZ" altLang="ja-JP" sz="1800" dirty="0">
                    <a:solidFill>
                      <a:schemeClr val="tx1"/>
                    </a:solidFill>
                  </a:rPr>
                  <a:t> is the 97.5</a:t>
                </a:r>
                <a:r>
                  <a:rPr lang="en-NZ" altLang="ja-JP" sz="1800" baseline="30000" dirty="0">
                    <a:solidFill>
                      <a:schemeClr val="tx1"/>
                    </a:solidFill>
                  </a:rPr>
                  <a:t>th</a:t>
                </a:r>
                <a:r>
                  <a:rPr lang="en-NZ" altLang="ja-JP" sz="1800" dirty="0">
                    <a:solidFill>
                      <a:schemeClr val="tx1"/>
                    </a:solidFill>
                  </a:rPr>
                  <a:t> percentile of the sample statistics obtained from the bootstrap samples.</a:t>
                </a:r>
                <a:endParaRPr lang="ja-JP" altLang="en-NZ" sz="1800" dirty="0">
                  <a:solidFill>
                    <a:schemeClr val="tx1"/>
                  </a:solidFill>
                </a:endParaRPr>
              </a:p>
            </p:txBody>
          </p:sp>
        </mc:Choice>
        <mc:Fallback xmlns="">
          <p:sp>
            <p:nvSpPr>
              <p:cNvPr id="22" name="Text Placeholder 5">
                <a:extLst>
                  <a:ext uri="{FF2B5EF4-FFF2-40B4-BE49-F238E27FC236}">
                    <a16:creationId xmlns:a16="http://schemas.microsoft.com/office/drawing/2014/main" id="{83600B0D-FA27-4342-8ED5-C76B414CB49D}"/>
                  </a:ext>
                </a:extLst>
              </p:cNvPr>
              <p:cNvSpPr txBox="1">
                <a:spLocks noRot="1" noChangeAspect="1" noMove="1" noResize="1" noEditPoints="1" noAdjustHandles="1" noChangeArrowheads="1" noChangeShapeType="1" noTextEdit="1"/>
              </p:cNvSpPr>
              <p:nvPr/>
            </p:nvSpPr>
            <p:spPr>
              <a:xfrm>
                <a:off x="1348115" y="4721432"/>
                <a:ext cx="9814738" cy="827035"/>
              </a:xfrm>
              <a:prstGeom prst="rect">
                <a:avLst/>
              </a:prstGeom>
              <a:blipFill>
                <a:blip r:embed="rId7"/>
                <a:stretch>
                  <a:fillRect l="-497" t="-1481" r="-559"/>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7ED7CC10-97B1-485D-AADA-DC753E4E726E}"/>
              </a:ext>
            </a:extLst>
          </p:cNvPr>
          <p:cNvSpPr txBox="1">
            <a:spLocks/>
          </p:cNvSpPr>
          <p:nvPr/>
        </p:nvSpPr>
        <p:spPr>
          <a:xfrm>
            <a:off x="1188949" y="3503133"/>
            <a:ext cx="2085804"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NZ" altLang="ja-JP" sz="1800" i="1" dirty="0" err="1">
                <a:solidFill>
                  <a:schemeClr val="bg2">
                    <a:lumMod val="50000"/>
                  </a:schemeClr>
                </a:solidFill>
              </a:rPr>
              <a:t>Efron’s</a:t>
            </a:r>
            <a:r>
              <a:rPr lang="en-NZ" altLang="ja-JP" sz="1800" i="1" dirty="0">
                <a:solidFill>
                  <a:schemeClr val="bg2">
                    <a:lumMod val="50000"/>
                  </a:schemeClr>
                </a:solidFill>
              </a:rPr>
              <a:t> Interval:</a:t>
            </a:r>
            <a:endParaRPr lang="ja-JP" altLang="en-NZ" sz="1800" i="1" dirty="0">
              <a:solidFill>
                <a:schemeClr val="bg2">
                  <a:lumMod val="50000"/>
                </a:schemeClr>
              </a:solidFill>
            </a:endParaRPr>
          </a:p>
        </p:txBody>
      </p:sp>
      <p:sp>
        <p:nvSpPr>
          <p:cNvPr id="24" name="Text Placeholder 5">
            <a:extLst>
              <a:ext uri="{FF2B5EF4-FFF2-40B4-BE49-F238E27FC236}">
                <a16:creationId xmlns:a16="http://schemas.microsoft.com/office/drawing/2014/main" id="{3FF89431-DF05-4390-A011-DA8C99D6D45A}"/>
              </a:ext>
            </a:extLst>
          </p:cNvPr>
          <p:cNvSpPr txBox="1">
            <a:spLocks/>
          </p:cNvSpPr>
          <p:nvPr/>
        </p:nvSpPr>
        <p:spPr>
          <a:xfrm>
            <a:off x="1188949" y="3973893"/>
            <a:ext cx="2085804"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NZ" altLang="ja-JP" sz="1800" i="1" dirty="0">
                <a:solidFill>
                  <a:schemeClr val="bg2">
                    <a:lumMod val="50000"/>
                  </a:schemeClr>
                </a:solidFill>
              </a:rPr>
              <a:t>Hall’s Interval:</a:t>
            </a:r>
            <a:endParaRPr lang="ja-JP" altLang="en-NZ" sz="1800" i="1" dirty="0">
              <a:solidFill>
                <a:schemeClr val="bg2">
                  <a:lumMod val="50000"/>
                </a:schemeClr>
              </a:solidFill>
            </a:endParaRPr>
          </a:p>
        </p:txBody>
      </p:sp>
    </p:spTree>
    <p:extLst>
      <p:ext uri="{BB962C8B-B14F-4D97-AF65-F5344CB8AC3E}">
        <p14:creationId xmlns:p14="http://schemas.microsoft.com/office/powerpoint/2010/main" val="2608699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.2a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.2a – Non-Parametric Bootstrapping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7BD84D97-3899-4B53-922D-07D78A75E56F}"/>
              </a:ext>
            </a:extLst>
          </p:cNvPr>
          <p:cNvSpPr txBox="1">
            <a:spLocks/>
          </p:cNvSpPr>
          <p:nvPr/>
        </p:nvSpPr>
        <p:spPr>
          <a:xfrm>
            <a:off x="436728" y="1705387"/>
            <a:ext cx="11397879" cy="5007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400" dirty="0">
                <a:solidFill>
                  <a:schemeClr val="tx1"/>
                </a:solidFill>
              </a:rPr>
              <a:t>How many bootstrap samples are required? i.e. what value of </a:t>
            </a:r>
            <a:r>
              <a:rPr lang="en-NZ" altLang="ja-JP" sz="2400" b="1" i="1" dirty="0">
                <a:solidFill>
                  <a:schemeClr val="tx1"/>
                </a:solidFill>
              </a:rPr>
              <a:t>B </a:t>
            </a:r>
            <a:r>
              <a:rPr lang="en-NZ" altLang="ja-JP" sz="2400" dirty="0">
                <a:solidFill>
                  <a:schemeClr val="tx1"/>
                </a:solidFill>
              </a:rPr>
              <a:t>should we choose?</a:t>
            </a:r>
            <a:endParaRPr lang="ja-JP" altLang="en-NZ" sz="2400" dirty="0">
              <a:solidFill>
                <a:schemeClr val="tx1"/>
              </a:solidFill>
            </a:endParaRP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340613E8-E21C-4AE4-9A36-7D10B86D7BC8}"/>
                  </a:ext>
                </a:extLst>
              </p:cNvPr>
              <p:cNvSpPr txBox="1">
                <a:spLocks/>
              </p:cNvSpPr>
              <p:nvPr/>
            </p:nvSpPr>
            <p:spPr>
              <a:xfrm>
                <a:off x="436728" y="2558959"/>
                <a:ext cx="11397879" cy="17400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400" dirty="0" err="1">
                    <a:solidFill>
                      <a:schemeClr val="tx1"/>
                    </a:solidFill>
                  </a:rPr>
                  <a:t>Efron</a:t>
                </a:r>
                <a:r>
                  <a:rPr lang="en-NZ" altLang="ja-JP" sz="2400" dirty="0">
                    <a:solidFill>
                      <a:schemeClr val="tx1"/>
                    </a:solidFill>
                  </a:rPr>
                  <a:t>* suggests that: </a:t>
                </a:r>
              </a:p>
              <a:p>
                <a:pPr marL="1085793" lvl="1" indent="-400050" algn="just">
                  <a:lnSpc>
                    <a:spcPct val="100000"/>
                  </a:lnSpc>
                  <a:buFont typeface="+mj-lt"/>
                  <a:buAutoNum type="romanUcPeriod"/>
                </a:pPr>
                <a14:m>
                  <m:oMath xmlns:m="http://schemas.openxmlformats.org/officeDocument/2006/math">
                    <m:r>
                      <a:rPr lang="en-NZ" altLang="ja-JP" b="1" i="0" smtClean="0">
                        <a:solidFill>
                          <a:schemeClr val="tx1"/>
                        </a:solidFill>
                        <a:latin typeface="Cambria Math" panose="02040503050406030204" pitchFamily="18" charset="0"/>
                      </a:rPr>
                      <m:t>𝐁</m:t>
                    </m:r>
                    <m:r>
                      <a:rPr lang="en-NZ" altLang="ja-JP" b="1" i="0" smtClean="0">
                        <a:solidFill>
                          <a:schemeClr val="tx1"/>
                        </a:solidFill>
                        <a:latin typeface="Cambria Math" panose="02040503050406030204" pitchFamily="18" charset="0"/>
                      </a:rPr>
                      <m:t>∈</m:t>
                    </m:r>
                    <m:d>
                      <m:dPr>
                        <m:begChr m:val="["/>
                        <m:endChr m:val="]"/>
                        <m:ctrlPr>
                          <a:rPr lang="en-NZ" altLang="ja-JP" b="1" i="1" smtClean="0">
                            <a:solidFill>
                              <a:schemeClr val="tx1"/>
                            </a:solidFill>
                            <a:latin typeface="Cambria Math" panose="02040503050406030204" pitchFamily="18" charset="0"/>
                          </a:rPr>
                        </m:ctrlPr>
                      </m:dPr>
                      <m:e>
                        <m:r>
                          <a:rPr lang="en-NZ" altLang="ja-JP" b="1" i="0" smtClean="0">
                            <a:solidFill>
                              <a:schemeClr val="tx1"/>
                            </a:solidFill>
                            <a:latin typeface="Cambria Math" panose="02040503050406030204" pitchFamily="18" charset="0"/>
                          </a:rPr>
                          <m:t>𝟓𝟎</m:t>
                        </m:r>
                        <m:r>
                          <a:rPr lang="en-NZ" altLang="ja-JP" b="1" i="0" smtClean="0">
                            <a:solidFill>
                              <a:schemeClr val="tx1"/>
                            </a:solidFill>
                            <a:latin typeface="Cambria Math" panose="02040503050406030204" pitchFamily="18" charset="0"/>
                          </a:rPr>
                          <m:t>, </m:t>
                        </m:r>
                        <m:r>
                          <a:rPr lang="en-NZ" altLang="ja-JP" b="1" i="0" smtClean="0">
                            <a:solidFill>
                              <a:schemeClr val="tx1"/>
                            </a:solidFill>
                            <a:latin typeface="Cambria Math" panose="02040503050406030204" pitchFamily="18" charset="0"/>
                          </a:rPr>
                          <m:t>𝟐𝟎𝟎</m:t>
                        </m:r>
                      </m:e>
                    </m:d>
                  </m:oMath>
                </a14:m>
                <a:r>
                  <a:rPr lang="en-NZ" altLang="ja-JP" dirty="0">
                    <a:solidFill>
                      <a:schemeClr val="tx1"/>
                    </a:solidFill>
                  </a:rPr>
                  <a:t> is required for estimation of </a:t>
                </a:r>
                <a14:m>
                  <m:oMath xmlns:m="http://schemas.openxmlformats.org/officeDocument/2006/math">
                    <m:r>
                      <a:rPr lang="en-NZ" altLang="ja-JP" b="1" i="0" smtClean="0">
                        <a:solidFill>
                          <a:prstClr val="black"/>
                        </a:solidFill>
                        <a:latin typeface="Cambria Math" panose="02040503050406030204" pitchFamily="18" charset="0"/>
                      </a:rPr>
                      <m:t>𝐬</m:t>
                    </m:r>
                    <m:r>
                      <a:rPr lang="en-NZ" altLang="ja-JP" b="1" i="0" smtClean="0">
                        <a:solidFill>
                          <a:prstClr val="black"/>
                        </a:solidFill>
                        <a:latin typeface="Cambria Math" panose="02040503050406030204" pitchFamily="18" charset="0"/>
                      </a:rPr>
                      <m:t>.</m:t>
                    </m:r>
                    <m:r>
                      <a:rPr lang="en-NZ" altLang="ja-JP" b="1" i="0" smtClean="0">
                        <a:solidFill>
                          <a:prstClr val="black"/>
                        </a:solidFill>
                        <a:latin typeface="Cambria Math" panose="02040503050406030204" pitchFamily="18" charset="0"/>
                      </a:rPr>
                      <m:t>𝐞</m:t>
                    </m:r>
                    <m:r>
                      <a:rPr lang="en-NZ" altLang="ja-JP" b="1" i="0" smtClean="0">
                        <a:solidFill>
                          <a:prstClr val="black"/>
                        </a:solidFill>
                        <a:latin typeface="Cambria Math" panose="02040503050406030204" pitchFamily="18" charset="0"/>
                      </a:rPr>
                      <m:t>.</m:t>
                    </m:r>
                    <m:d>
                      <m:dPr>
                        <m:ctrlPr>
                          <a:rPr lang="en-NZ" altLang="ja-JP" b="1" i="1" smtClean="0">
                            <a:solidFill>
                              <a:prstClr val="black"/>
                            </a:solidFill>
                            <a:latin typeface="Cambria Math" panose="02040503050406030204" pitchFamily="18" charset="0"/>
                          </a:rPr>
                        </m:ctrlPr>
                      </m:dPr>
                      <m:e>
                        <m:acc>
                          <m:accPr>
                            <m:chr m:val="̂"/>
                            <m:ctrlPr>
                              <a:rPr lang="en-NZ" altLang="ja-JP" b="1" i="1">
                                <a:solidFill>
                                  <a:schemeClr val="tx1"/>
                                </a:solidFill>
                                <a:latin typeface="Cambria Math" panose="02040503050406030204" pitchFamily="18" charset="0"/>
                              </a:rPr>
                            </m:ctrlPr>
                          </m:accPr>
                          <m:e>
                            <m:r>
                              <a:rPr lang="en-NZ" altLang="ja-JP" b="1" i="0">
                                <a:solidFill>
                                  <a:schemeClr val="tx1"/>
                                </a:solidFill>
                                <a:latin typeface="Cambria Math" panose="02040503050406030204" pitchFamily="18" charset="0"/>
                              </a:rPr>
                              <m:t>𝛉</m:t>
                            </m:r>
                          </m:e>
                        </m:acc>
                      </m:e>
                    </m:d>
                  </m:oMath>
                </a14:m>
                <a:endParaRPr lang="en-NZ" altLang="ja-JP" dirty="0">
                  <a:solidFill>
                    <a:schemeClr val="tx1"/>
                  </a:solidFill>
                </a:endParaRPr>
              </a:p>
              <a:p>
                <a:pPr marL="1085793" lvl="1" indent="-400050" algn="just">
                  <a:lnSpc>
                    <a:spcPct val="100000"/>
                  </a:lnSpc>
                  <a:buFont typeface="+mj-lt"/>
                  <a:buAutoNum type="romanUcPeriod"/>
                </a:pPr>
                <a14:m>
                  <m:oMath xmlns:m="http://schemas.openxmlformats.org/officeDocument/2006/math">
                    <m:r>
                      <a:rPr lang="en-NZ" altLang="ja-JP" b="1">
                        <a:latin typeface="Cambria Math" panose="02040503050406030204" pitchFamily="18" charset="0"/>
                      </a:rPr>
                      <m:t>𝐁</m:t>
                    </m:r>
                    <m:r>
                      <a:rPr lang="en-NZ" altLang="ja-JP" b="1">
                        <a:latin typeface="Cambria Math" panose="02040503050406030204" pitchFamily="18" charset="0"/>
                      </a:rPr>
                      <m:t>∈</m:t>
                    </m:r>
                    <m:d>
                      <m:dPr>
                        <m:begChr m:val="["/>
                        <m:endChr m:val="]"/>
                        <m:ctrlPr>
                          <a:rPr lang="en-NZ" altLang="ja-JP" b="1" i="1">
                            <a:latin typeface="Cambria Math" panose="02040503050406030204" pitchFamily="18" charset="0"/>
                          </a:rPr>
                        </m:ctrlPr>
                      </m:dPr>
                      <m:e>
                        <m:r>
                          <a:rPr lang="en-NZ" altLang="ja-JP" b="1" i="0" smtClean="0">
                            <a:latin typeface="Cambria Math" panose="02040503050406030204" pitchFamily="18" charset="0"/>
                          </a:rPr>
                          <m:t>𝟏</m:t>
                        </m:r>
                        <m:r>
                          <a:rPr lang="en-NZ" altLang="ja-JP" b="1" i="0" smtClean="0">
                            <a:latin typeface="Cambria Math" panose="02040503050406030204" pitchFamily="18" charset="0"/>
                          </a:rPr>
                          <m:t>,</m:t>
                        </m:r>
                        <m:r>
                          <a:rPr lang="en-NZ" altLang="ja-JP" b="1" i="0" smtClean="0">
                            <a:latin typeface="Cambria Math" panose="02040503050406030204" pitchFamily="18" charset="0"/>
                          </a:rPr>
                          <m:t>𝟎𝟎𝟎</m:t>
                        </m:r>
                        <m:r>
                          <a:rPr lang="en-NZ" altLang="ja-JP" b="1" i="0" smtClean="0">
                            <a:latin typeface="Cambria Math" panose="02040503050406030204" pitchFamily="18" charset="0"/>
                          </a:rPr>
                          <m:t> ,  </m:t>
                        </m:r>
                        <m:r>
                          <a:rPr lang="en-NZ" altLang="ja-JP" b="1" i="0" smtClean="0">
                            <a:latin typeface="Cambria Math" panose="02040503050406030204" pitchFamily="18" charset="0"/>
                          </a:rPr>
                          <m:t>𝟏𝟎</m:t>
                        </m:r>
                        <m:r>
                          <a:rPr lang="en-NZ" altLang="ja-JP" b="1" i="0" smtClean="0">
                            <a:latin typeface="Cambria Math" panose="02040503050406030204" pitchFamily="18" charset="0"/>
                          </a:rPr>
                          <m:t>,</m:t>
                        </m:r>
                        <m:r>
                          <a:rPr lang="en-NZ" altLang="ja-JP" b="1" i="0" smtClean="0">
                            <a:latin typeface="Cambria Math" panose="02040503050406030204" pitchFamily="18" charset="0"/>
                          </a:rPr>
                          <m:t>𝟎𝟎𝟎</m:t>
                        </m:r>
                      </m:e>
                    </m:d>
                  </m:oMath>
                </a14:m>
                <a:r>
                  <a:rPr lang="en-NZ" altLang="ja-JP" dirty="0"/>
                  <a:t> required to calculate a confidence interval for </a:t>
                </a:r>
                <a14:m>
                  <m:oMath xmlns:m="http://schemas.openxmlformats.org/officeDocument/2006/math">
                    <m:r>
                      <a:rPr lang="en-NZ" altLang="ja-JP" b="1" i="1" smtClean="0">
                        <a:solidFill>
                          <a:schemeClr val="tx1"/>
                        </a:solidFill>
                        <a:latin typeface="Cambria Math" panose="02040503050406030204" pitchFamily="18" charset="0"/>
                      </a:rPr>
                      <m:t>𝜽</m:t>
                    </m:r>
                  </m:oMath>
                </a14:m>
                <a:r>
                  <a:rPr lang="en-NZ" altLang="ja-JP" dirty="0"/>
                  <a:t> </a:t>
                </a:r>
                <a:r>
                  <a:rPr lang="en-NZ" altLang="ja-JP" dirty="0">
                    <a:solidFill>
                      <a:schemeClr val="tx1"/>
                    </a:solidFill>
                  </a:rPr>
                  <a:t> </a:t>
                </a:r>
                <a:endParaRPr lang="ja-JP" altLang="en-NZ" dirty="0">
                  <a:solidFill>
                    <a:schemeClr val="tx1"/>
                  </a:solidFill>
                </a:endParaRPr>
              </a:p>
            </p:txBody>
          </p:sp>
        </mc:Choice>
        <mc:Fallback xmlns="">
          <p:sp>
            <p:nvSpPr>
              <p:cNvPr id="15" name="Text Placeholder 5">
                <a:extLst>
                  <a:ext uri="{FF2B5EF4-FFF2-40B4-BE49-F238E27FC236}">
                    <a16:creationId xmlns:a16="http://schemas.microsoft.com/office/drawing/2014/main" id="{340613E8-E21C-4AE4-9A36-7D10B86D7BC8}"/>
                  </a:ext>
                </a:extLst>
              </p:cNvPr>
              <p:cNvSpPr txBox="1">
                <a:spLocks noRot="1" noChangeAspect="1" noMove="1" noResize="1" noEditPoints="1" noAdjustHandles="1" noChangeArrowheads="1" noChangeShapeType="1" noTextEdit="1"/>
              </p:cNvSpPr>
              <p:nvPr/>
            </p:nvSpPr>
            <p:spPr>
              <a:xfrm>
                <a:off x="436728" y="2558959"/>
                <a:ext cx="11397879" cy="1740081"/>
              </a:xfrm>
              <a:prstGeom prst="rect">
                <a:avLst/>
              </a:prstGeom>
              <a:blipFill>
                <a:blip r:embed="rId3"/>
                <a:stretch>
                  <a:fillRect l="-856" t="-2807"/>
                </a:stretch>
              </a:blipFill>
            </p:spPr>
            <p:txBody>
              <a:bodyPr/>
              <a:lstStyle/>
              <a:p>
                <a:r>
                  <a:rPr lang="en-NZ">
                    <a:noFill/>
                  </a:rPr>
                  <a:t> </a:t>
                </a:r>
              </a:p>
            </p:txBody>
          </p:sp>
        </mc:Fallback>
      </mc:AlternateContent>
      <p:sp>
        <p:nvSpPr>
          <p:cNvPr id="16" name="Text Placeholder 5">
            <a:extLst>
              <a:ext uri="{FF2B5EF4-FFF2-40B4-BE49-F238E27FC236}">
                <a16:creationId xmlns:a16="http://schemas.microsoft.com/office/drawing/2014/main" id="{E61ACF85-881B-4679-8A33-5A176E712AA9}"/>
              </a:ext>
            </a:extLst>
          </p:cNvPr>
          <p:cNvSpPr txBox="1">
            <a:spLocks/>
          </p:cNvSpPr>
          <p:nvPr/>
        </p:nvSpPr>
        <p:spPr>
          <a:xfrm>
            <a:off x="436728" y="4708999"/>
            <a:ext cx="11397879" cy="5007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400" dirty="0">
                <a:solidFill>
                  <a:srgbClr val="C00000"/>
                </a:solidFill>
              </a:rPr>
              <a:t>Let’s do a few computational examples.</a:t>
            </a:r>
            <a:endParaRPr lang="ja-JP" altLang="en-NZ" sz="2400" dirty="0">
              <a:solidFill>
                <a:srgbClr val="C00000"/>
              </a:solidFill>
            </a:endParaRPr>
          </a:p>
        </p:txBody>
      </p:sp>
      <p:sp>
        <p:nvSpPr>
          <p:cNvPr id="2" name="Text Placeholder 5">
            <a:extLst>
              <a:ext uri="{FF2B5EF4-FFF2-40B4-BE49-F238E27FC236}">
                <a16:creationId xmlns:a16="http://schemas.microsoft.com/office/drawing/2014/main" id="{EB95DF74-C40C-D8B7-3082-0762D9BCBC62}"/>
              </a:ext>
            </a:extLst>
          </p:cNvPr>
          <p:cNvSpPr txBox="1">
            <a:spLocks/>
          </p:cNvSpPr>
          <p:nvPr/>
        </p:nvSpPr>
        <p:spPr>
          <a:xfrm>
            <a:off x="5007428" y="6335483"/>
            <a:ext cx="6371771" cy="5007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NZ" altLang="ja-JP" sz="1200" dirty="0">
                <a:solidFill>
                  <a:schemeClr val="bg2">
                    <a:lumMod val="50000"/>
                  </a:schemeClr>
                </a:solidFill>
              </a:rPr>
              <a:t>* </a:t>
            </a:r>
            <a:r>
              <a:rPr lang="en-NZ" altLang="ja-JP" sz="1200" dirty="0" err="1">
                <a:solidFill>
                  <a:schemeClr val="bg2">
                    <a:lumMod val="50000"/>
                  </a:schemeClr>
                </a:solidFill>
              </a:rPr>
              <a:t>Efron</a:t>
            </a:r>
            <a:r>
              <a:rPr lang="en-NZ" altLang="ja-JP" sz="1200" dirty="0">
                <a:solidFill>
                  <a:schemeClr val="bg2">
                    <a:lumMod val="50000"/>
                  </a:schemeClr>
                </a:solidFill>
              </a:rPr>
              <a:t>, B. &amp; </a:t>
            </a:r>
            <a:r>
              <a:rPr lang="en-NZ" altLang="ja-JP" sz="1200" dirty="0" err="1">
                <a:solidFill>
                  <a:schemeClr val="bg2">
                    <a:lumMod val="50000"/>
                  </a:schemeClr>
                </a:solidFill>
              </a:rPr>
              <a:t>Tibshirani</a:t>
            </a:r>
            <a:r>
              <a:rPr lang="en-NZ" altLang="ja-JP" sz="1200" dirty="0">
                <a:solidFill>
                  <a:schemeClr val="bg2">
                    <a:lumMod val="50000"/>
                  </a:schemeClr>
                </a:solidFill>
              </a:rPr>
              <a:t>, R.J. (1993). An Introduction to the Bootstrap. London: Chapman &amp; Hall.</a:t>
            </a:r>
            <a:endParaRPr lang="ja-JP" altLang="en-NZ" sz="1200" dirty="0">
              <a:solidFill>
                <a:schemeClr val="bg2">
                  <a:lumMod val="50000"/>
                </a:schemeClr>
              </a:solidFill>
            </a:endParaRPr>
          </a:p>
        </p:txBody>
      </p:sp>
    </p:spTree>
    <p:extLst>
      <p:ext uri="{BB962C8B-B14F-4D97-AF65-F5344CB8AC3E}">
        <p14:creationId xmlns:p14="http://schemas.microsoft.com/office/powerpoint/2010/main" val="264420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.2b – Geocoder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F905A341-0C92-4046-BF7A-C680B334CB5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Geocoder Accuracy (Bootstrapping Example)</a:t>
            </a:r>
            <a:r>
              <a:rPr lang="en-US" altLang="ja-JP" sz="1200" dirty="0">
                <a:solidFill>
                  <a:srgbClr val="C00000"/>
                </a:solidFill>
              </a:rPr>
              <a:t>.</a:t>
            </a:r>
            <a:endParaRPr lang="en-US" altLang="ja-JP" sz="1200" b="1" i="1" dirty="0">
              <a:solidFill>
                <a:srgbClr val="C00000"/>
              </a:solidFill>
            </a:endParaRPr>
          </a:p>
        </p:txBody>
      </p:sp>
      <p:sp>
        <p:nvSpPr>
          <p:cNvPr id="10" name="Text Placeholder 5">
            <a:extLst>
              <a:ext uri="{FF2B5EF4-FFF2-40B4-BE49-F238E27FC236}">
                <a16:creationId xmlns:a16="http://schemas.microsoft.com/office/drawing/2014/main" id="{4D969575-61D3-4692-9C66-A40E06A28947}"/>
              </a:ext>
            </a:extLst>
          </p:cNvPr>
          <p:cNvSpPr txBox="1">
            <a:spLocks/>
          </p:cNvSpPr>
          <p:nvPr/>
        </p:nvSpPr>
        <p:spPr>
          <a:xfrm>
            <a:off x="447363" y="914840"/>
            <a:ext cx="10486492" cy="7306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A geocoder is a tool whereby you feed in a set of addresses and the geocoder returns to you the geocoordinates (long-lats) of those addresses so that you can plot them on a map.</a:t>
            </a:r>
            <a:endParaRPr lang="ja-JP" altLang="en-NZ" sz="1800" dirty="0">
              <a:solidFill>
                <a:schemeClr val="tx1"/>
              </a:solidFill>
            </a:endParaRPr>
          </a:p>
        </p:txBody>
      </p:sp>
      <p:pic>
        <p:nvPicPr>
          <p:cNvPr id="1026" name="Picture 2" descr="Geocoder">
            <a:extLst>
              <a:ext uri="{FF2B5EF4-FFF2-40B4-BE49-F238E27FC236}">
                <a16:creationId xmlns:a16="http://schemas.microsoft.com/office/drawing/2014/main" id="{80A8B914-2A7D-4D29-808F-4FCD5491C2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816" y="1392715"/>
            <a:ext cx="74676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394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.2b – Geocoder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F905A341-0C92-4046-BF7A-C680B334CB5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Geocoder Accuracy (Bootstrapping Example)</a:t>
            </a:r>
            <a:r>
              <a:rPr lang="en-US" altLang="ja-JP" sz="1200" dirty="0">
                <a:solidFill>
                  <a:srgbClr val="C00000"/>
                </a:solidFill>
              </a:rPr>
              <a:t>.</a:t>
            </a:r>
            <a:endParaRPr lang="en-US" altLang="ja-JP" sz="1200" b="1" i="1" dirty="0">
              <a:solidFill>
                <a:srgbClr val="C00000"/>
              </a:solidFill>
            </a:endParaRPr>
          </a:p>
        </p:txBody>
      </p:sp>
      <p:sp>
        <p:nvSpPr>
          <p:cNvPr id="10" name="Text Placeholder 5">
            <a:extLst>
              <a:ext uri="{FF2B5EF4-FFF2-40B4-BE49-F238E27FC236}">
                <a16:creationId xmlns:a16="http://schemas.microsoft.com/office/drawing/2014/main" id="{4D969575-61D3-4692-9C66-A40E06A28947}"/>
              </a:ext>
            </a:extLst>
          </p:cNvPr>
          <p:cNvSpPr txBox="1">
            <a:spLocks/>
          </p:cNvSpPr>
          <p:nvPr/>
        </p:nvSpPr>
        <p:spPr>
          <a:xfrm>
            <a:off x="566193" y="1020420"/>
            <a:ext cx="10486492" cy="8915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All geocoders work on the same basic premise. They consist of:</a:t>
            </a:r>
          </a:p>
          <a:p>
            <a:pPr marL="1085793" lvl="1" indent="-400050" algn="just">
              <a:lnSpc>
                <a:spcPct val="100000"/>
              </a:lnSpc>
              <a:buFont typeface="+mj-lt"/>
              <a:buAutoNum type="romanUcPeriod"/>
            </a:pPr>
            <a:r>
              <a:rPr lang="en-NZ" altLang="ja-JP" sz="1600" dirty="0"/>
              <a:t>A</a:t>
            </a:r>
            <a:r>
              <a:rPr lang="en-NZ" altLang="ja-JP" sz="1600" dirty="0">
                <a:solidFill>
                  <a:schemeClr val="tx1"/>
                </a:solidFill>
              </a:rPr>
              <a:t> reference list of all properties across NZ and their geo-coordinates.</a:t>
            </a:r>
          </a:p>
          <a:p>
            <a:pPr marL="1085793" lvl="1" indent="-400050" algn="just">
              <a:lnSpc>
                <a:spcPct val="100000"/>
              </a:lnSpc>
              <a:buFont typeface="+mj-lt"/>
              <a:buAutoNum type="romanUcPeriod"/>
            </a:pPr>
            <a:r>
              <a:rPr lang="en-NZ" altLang="ja-JP" sz="1600" dirty="0">
                <a:solidFill>
                  <a:schemeClr val="tx1"/>
                </a:solidFill>
              </a:rPr>
              <a:t> ‘fuzzy matching algorithm’ that matches input addresses onto the reference list.</a:t>
            </a:r>
            <a:endParaRPr lang="ja-JP" altLang="en-NZ" sz="1600" dirty="0">
              <a:solidFill>
                <a:schemeClr val="tx1"/>
              </a:solidFill>
            </a:endParaRPr>
          </a:p>
        </p:txBody>
      </p:sp>
      <p:graphicFrame>
        <p:nvGraphicFramePr>
          <p:cNvPr id="2" name="Table 1">
            <a:extLst>
              <a:ext uri="{FF2B5EF4-FFF2-40B4-BE49-F238E27FC236}">
                <a16:creationId xmlns:a16="http://schemas.microsoft.com/office/drawing/2014/main" id="{C0706193-2137-4E79-9719-F96EB9679552}"/>
              </a:ext>
            </a:extLst>
          </p:cNvPr>
          <p:cNvGraphicFramePr>
            <a:graphicFrameLocks noGrp="1"/>
          </p:cNvGraphicFramePr>
          <p:nvPr>
            <p:extLst>
              <p:ext uri="{D42A27DB-BD31-4B8C-83A1-F6EECF244321}">
                <p14:modId xmlns:p14="http://schemas.microsoft.com/office/powerpoint/2010/main" val="1892783150"/>
              </p:ext>
            </p:extLst>
          </p:nvPr>
        </p:nvGraphicFramePr>
        <p:xfrm>
          <a:off x="566193" y="2803679"/>
          <a:ext cx="5529807" cy="2782857"/>
        </p:xfrm>
        <a:graphic>
          <a:graphicData uri="http://schemas.openxmlformats.org/drawingml/2006/table">
            <a:tbl>
              <a:tblPr/>
              <a:tblGrid>
                <a:gridCol w="3896937">
                  <a:extLst>
                    <a:ext uri="{9D8B030D-6E8A-4147-A177-3AD203B41FA5}">
                      <a16:colId xmlns:a16="http://schemas.microsoft.com/office/drawing/2014/main" val="3238469412"/>
                    </a:ext>
                  </a:extLst>
                </a:gridCol>
                <a:gridCol w="823296">
                  <a:extLst>
                    <a:ext uri="{9D8B030D-6E8A-4147-A177-3AD203B41FA5}">
                      <a16:colId xmlns:a16="http://schemas.microsoft.com/office/drawing/2014/main" val="2495253228"/>
                    </a:ext>
                  </a:extLst>
                </a:gridCol>
                <a:gridCol w="809574">
                  <a:extLst>
                    <a:ext uri="{9D8B030D-6E8A-4147-A177-3AD203B41FA5}">
                      <a16:colId xmlns:a16="http://schemas.microsoft.com/office/drawing/2014/main" val="718830475"/>
                    </a:ext>
                  </a:extLst>
                </a:gridCol>
              </a:tblGrid>
              <a:tr h="252987">
                <a:tc>
                  <a:txBody>
                    <a:bodyPr/>
                    <a:lstStyle/>
                    <a:p>
                      <a:pPr algn="ctr" fontAlgn="ctr"/>
                      <a:r>
                        <a:rPr lang="en-NZ" sz="1400" b="1" i="0" u="none" strike="noStrike">
                          <a:solidFill>
                            <a:srgbClr val="FFFFFF"/>
                          </a:solidFill>
                          <a:effectLst/>
                          <a:latin typeface="Calibri" panose="020F0502020204030204" pitchFamily="34" charset="0"/>
                        </a:rPr>
                        <a:t>Address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Longitude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Latitude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091820896"/>
                  </a:ext>
                </a:extLst>
              </a:tr>
              <a:tr h="252987">
                <a:tc>
                  <a:txBody>
                    <a:bodyPr/>
                    <a:lstStyle/>
                    <a:p>
                      <a:pPr algn="ctr" fontAlgn="ctr"/>
                      <a:r>
                        <a:rPr lang="en-NZ" sz="1400" b="0" i="0" u="none" strike="noStrike">
                          <a:solidFill>
                            <a:srgbClr val="000000"/>
                          </a:solidFill>
                          <a:effectLst/>
                          <a:latin typeface="Calibri" panose="020F0502020204030204" pitchFamily="34" charset="0"/>
                        </a:rPr>
                        <a:t>21 New Bond Street, Kingsland, 1021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174.7472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-36.8688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6935336"/>
                  </a:ext>
                </a:extLst>
              </a:tr>
              <a:tr h="252987">
                <a:tc>
                  <a:txBody>
                    <a:bodyPr/>
                    <a:lstStyle/>
                    <a:p>
                      <a:pPr algn="ctr" fontAlgn="ctr"/>
                      <a:r>
                        <a:rPr lang="en-NZ" sz="1400" b="0" i="0" u="none" strike="noStrike">
                          <a:solidFill>
                            <a:srgbClr val="000000"/>
                          </a:solidFill>
                          <a:effectLst/>
                          <a:latin typeface="Calibri" panose="020F0502020204030204" pitchFamily="34" charset="0"/>
                        </a:rPr>
                        <a:t>15 Tuarangi Road, Grey Lynn, Auckland, 1021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174.7361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-36.8646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71956495"/>
                  </a:ext>
                </a:extLst>
              </a:tr>
              <a:tr h="252987">
                <a:tc>
                  <a:txBody>
                    <a:bodyPr/>
                    <a:lstStyle/>
                    <a:p>
                      <a:pPr algn="ctr" fontAlgn="ctr"/>
                      <a:r>
                        <a:rPr lang="en-NZ" sz="1400" b="0" i="0" u="none" strike="noStrike">
                          <a:solidFill>
                            <a:srgbClr val="000000"/>
                          </a:solidFill>
                          <a:effectLst/>
                          <a:latin typeface="Calibri" panose="020F0502020204030204" pitchFamily="34" charset="0"/>
                        </a:rPr>
                        <a:t>10 Rakau Road, Hataitai, Wellington 6021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174.7991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-41.2981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71834148"/>
                  </a:ext>
                </a:extLst>
              </a:tr>
              <a:tr h="252987">
                <a:tc>
                  <a:txBody>
                    <a:bodyPr/>
                    <a:lstStyle/>
                    <a:p>
                      <a:pPr algn="ctr" fontAlgn="ctr"/>
                      <a:r>
                        <a:rPr lang="en-NZ" sz="1400" b="0" i="0" u="none" strike="noStrike">
                          <a:solidFill>
                            <a:srgbClr val="000000"/>
                          </a:solidFill>
                          <a:effectLst/>
                          <a:latin typeface="Calibri" panose="020F0502020204030204" pitchFamily="34" charset="0"/>
                        </a:rPr>
                        <a:t>56 the Terrace, Wellington, 6011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-41.2808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174.7744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263843634"/>
                  </a:ext>
                </a:extLst>
              </a:tr>
              <a:tr h="252987">
                <a:tc>
                  <a:txBody>
                    <a:bodyPr/>
                    <a:lstStyle/>
                    <a:p>
                      <a:pPr algn="ctr" fontAlgn="ctr"/>
                      <a:r>
                        <a:rPr lang="en-NZ" sz="1400" b="0" i="0" u="none" strike="noStrike">
                          <a:solidFill>
                            <a:srgbClr val="000000"/>
                          </a:solidFill>
                          <a:effectLst/>
                          <a:latin typeface="Calibri" panose="020F0502020204030204" pitchFamily="34" charset="0"/>
                        </a:rPr>
                        <a:t>62 Kelburn Parade, Kelburn, Wellingon, 6012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-41.2898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174.7670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365408571"/>
                  </a:ext>
                </a:extLst>
              </a:tr>
              <a:tr h="252987">
                <a:tc>
                  <a:txBody>
                    <a:bodyPr/>
                    <a:lstStyle/>
                    <a:p>
                      <a:pPr algn="ctr" fontAlgn="ctr"/>
                      <a:r>
                        <a:rPr lang="en-NZ" sz="1400" b="0" i="0" u="none" strike="noStrike" dirty="0">
                          <a:solidFill>
                            <a:srgbClr val="000000"/>
                          </a:solidFill>
                          <a:effectLst/>
                          <a:latin typeface="Calibri" panose="020F0502020204030204" pitchFamily="34" charset="0"/>
                        </a:rPr>
                        <a:t>5 Glenmore Street, Kelburn, Wellington, 6012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-41.2807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174.7666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673887667"/>
                  </a:ext>
                </a:extLst>
              </a:tr>
              <a:tr h="252987">
                <a:tc>
                  <a:txBody>
                    <a:bodyPr/>
                    <a:lstStyle/>
                    <a:p>
                      <a:pPr algn="ctr" fontAlgn="ctr"/>
                      <a:r>
                        <a:rPr lang="en-NZ" sz="1400" b="0" i="0" u="none" strike="noStrike" dirty="0">
                          <a:solidFill>
                            <a:srgbClr val="000000"/>
                          </a:solidFill>
                          <a:effectLst/>
                          <a:latin typeface="Calibri" panose="020F0502020204030204" pitchFamily="34" charset="0"/>
                        </a:rPr>
                        <a:t>121 Glenmore Street, Kelburn, Wellington, 6012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-41.2846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174.7608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70001989"/>
                  </a:ext>
                </a:extLst>
              </a:tr>
              <a:tr h="252987">
                <a:tc>
                  <a:txBody>
                    <a:bodyPr/>
                    <a:lstStyle/>
                    <a:p>
                      <a:pPr algn="ctr" fontAlgn="ctr"/>
                      <a:r>
                        <a:rPr lang="en-NZ" sz="1400" b="0" i="0" u="none" strike="noStrike">
                          <a:solidFill>
                            <a:srgbClr val="000000"/>
                          </a:solidFill>
                          <a:effectLst/>
                          <a:latin typeface="Calibri" panose="020F0502020204030204" pitchFamily="34" charset="0"/>
                        </a:rPr>
                        <a:t>10 Abel Smith Street, Te Aro, Wellington, 6011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-41.2964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174.7757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57670875"/>
                  </a:ext>
                </a:extLst>
              </a:tr>
              <a:tr h="252987">
                <a:tc>
                  <a:txBody>
                    <a:bodyPr/>
                    <a:lstStyle/>
                    <a:p>
                      <a:pPr algn="ctr" fontAlgn="ctr"/>
                      <a:r>
                        <a:rPr lang="en-NZ" sz="1400" b="0" i="0" u="none" strike="noStrike">
                          <a:solidFill>
                            <a:srgbClr val="000000"/>
                          </a:solidFill>
                          <a:effectLst/>
                          <a:latin typeface="Calibri" panose="020F0502020204030204" pitchFamily="34" charset="0"/>
                        </a:rPr>
                        <a:t>15 Bond Street, Wellington Central, Wellington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-41.2889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174.7757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12561029"/>
                  </a:ext>
                </a:extLst>
              </a:tr>
              <a:tr h="252987">
                <a:tc>
                  <a:txBody>
                    <a:bodyPr/>
                    <a:lstStyle/>
                    <a:p>
                      <a:pPr algn="ctr" fontAlgn="ctr"/>
                      <a:r>
                        <a:rPr lang="en-NZ" sz="1400" b="0" i="0" u="none" strike="noStrike">
                          <a:solidFill>
                            <a:srgbClr val="000000"/>
                          </a:solidFill>
                          <a:effectLst/>
                          <a:latin typeface="Calibri" panose="020F0502020204030204" pitchFamily="34" charset="0"/>
                        </a:rPr>
                        <a:t>105 The Terrace, Wellington Central, Wellington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-41.2824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174.7751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3164232"/>
                  </a:ext>
                </a:extLst>
              </a:tr>
            </a:tbl>
          </a:graphicData>
        </a:graphic>
      </p:graphicFrame>
      <p:sp>
        <p:nvSpPr>
          <p:cNvPr id="11" name="Text Placeholder 5">
            <a:extLst>
              <a:ext uri="{FF2B5EF4-FFF2-40B4-BE49-F238E27FC236}">
                <a16:creationId xmlns:a16="http://schemas.microsoft.com/office/drawing/2014/main" id="{EC8CFE2F-E658-475B-B905-4286381A8A92}"/>
              </a:ext>
            </a:extLst>
          </p:cNvPr>
          <p:cNvSpPr txBox="1">
            <a:spLocks/>
          </p:cNvSpPr>
          <p:nvPr/>
        </p:nvSpPr>
        <p:spPr>
          <a:xfrm>
            <a:off x="566193" y="2204449"/>
            <a:ext cx="5529807" cy="4615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000" b="1" u="sng" dirty="0">
                <a:solidFill>
                  <a:srgbClr val="002060"/>
                </a:solidFill>
              </a:rPr>
              <a:t>Reference List</a:t>
            </a:r>
            <a:endParaRPr lang="ja-JP" altLang="en-NZ" sz="2000" b="1" u="sng" dirty="0">
              <a:solidFill>
                <a:srgbClr val="002060"/>
              </a:solidFill>
            </a:endParaRPr>
          </a:p>
        </p:txBody>
      </p:sp>
      <p:sp>
        <p:nvSpPr>
          <p:cNvPr id="12" name="Text Placeholder 5">
            <a:extLst>
              <a:ext uri="{FF2B5EF4-FFF2-40B4-BE49-F238E27FC236}">
                <a16:creationId xmlns:a16="http://schemas.microsoft.com/office/drawing/2014/main" id="{0C16C67E-B1D4-4C10-ACB3-CB57912700F3}"/>
              </a:ext>
            </a:extLst>
          </p:cNvPr>
          <p:cNvSpPr txBox="1">
            <a:spLocks/>
          </p:cNvSpPr>
          <p:nvPr/>
        </p:nvSpPr>
        <p:spPr>
          <a:xfrm>
            <a:off x="7068015" y="2199525"/>
            <a:ext cx="4557792" cy="4615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000" b="1" u="sng" dirty="0">
                <a:solidFill>
                  <a:srgbClr val="002060"/>
                </a:solidFill>
              </a:rPr>
              <a:t>Fuzzy Matching Algorithm</a:t>
            </a:r>
            <a:endParaRPr lang="ja-JP" altLang="en-NZ" sz="2000" b="1" u="sng" dirty="0">
              <a:solidFill>
                <a:srgbClr val="002060"/>
              </a:solidFill>
            </a:endParaRPr>
          </a:p>
        </p:txBody>
      </p:sp>
      <p:graphicFrame>
        <p:nvGraphicFramePr>
          <p:cNvPr id="3" name="Table 2">
            <a:extLst>
              <a:ext uri="{FF2B5EF4-FFF2-40B4-BE49-F238E27FC236}">
                <a16:creationId xmlns:a16="http://schemas.microsoft.com/office/drawing/2014/main" id="{25C39839-88FC-4F28-82CE-BAE3F31D5294}"/>
              </a:ext>
            </a:extLst>
          </p:cNvPr>
          <p:cNvGraphicFramePr>
            <a:graphicFrameLocks noGrp="1"/>
          </p:cNvGraphicFramePr>
          <p:nvPr>
            <p:extLst>
              <p:ext uri="{D42A27DB-BD31-4B8C-83A1-F6EECF244321}">
                <p14:modId xmlns:p14="http://schemas.microsoft.com/office/powerpoint/2010/main" val="1200800948"/>
              </p:ext>
            </p:extLst>
          </p:nvPr>
        </p:nvGraphicFramePr>
        <p:xfrm>
          <a:off x="7068015" y="2841748"/>
          <a:ext cx="4557792" cy="1174504"/>
        </p:xfrm>
        <a:graphic>
          <a:graphicData uri="http://schemas.openxmlformats.org/drawingml/2006/table">
            <a:tbl>
              <a:tblPr/>
              <a:tblGrid>
                <a:gridCol w="4557792">
                  <a:extLst>
                    <a:ext uri="{9D8B030D-6E8A-4147-A177-3AD203B41FA5}">
                      <a16:colId xmlns:a16="http://schemas.microsoft.com/office/drawing/2014/main" val="3038859032"/>
                    </a:ext>
                  </a:extLst>
                </a:gridCol>
              </a:tblGrid>
              <a:tr h="293626">
                <a:tc>
                  <a:txBody>
                    <a:bodyPr/>
                    <a:lstStyle/>
                    <a:p>
                      <a:pPr algn="ctr" fontAlgn="ctr"/>
                      <a:r>
                        <a:rPr lang="en-NZ" sz="1400" b="1" i="0" u="none" strike="noStrike">
                          <a:solidFill>
                            <a:srgbClr val="FFFFFF"/>
                          </a:solidFill>
                          <a:effectLst/>
                          <a:latin typeface="Calibri" panose="020F0502020204030204" pitchFamily="34" charset="0"/>
                        </a:rPr>
                        <a:t>Input Address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669590677"/>
                  </a:ext>
                </a:extLst>
              </a:tr>
              <a:tr h="293626">
                <a:tc>
                  <a:txBody>
                    <a:bodyPr/>
                    <a:lstStyle/>
                    <a:p>
                      <a:pPr algn="ctr" fontAlgn="ctr"/>
                      <a:r>
                        <a:rPr lang="en-NZ" sz="1400" b="0" i="0" u="none" strike="noStrike" dirty="0">
                          <a:solidFill>
                            <a:srgbClr val="000000"/>
                          </a:solidFill>
                          <a:effectLst/>
                          <a:latin typeface="Calibri" panose="020F0502020204030204" pitchFamily="34" charset="0"/>
                        </a:rPr>
                        <a:t>62 Kelburn Parade, Kelburn, Wellington, 6012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001985290"/>
                  </a:ext>
                </a:extLst>
              </a:tr>
              <a:tr h="293626">
                <a:tc>
                  <a:txBody>
                    <a:bodyPr/>
                    <a:lstStyle/>
                    <a:p>
                      <a:pPr algn="ctr" fontAlgn="ctr"/>
                      <a:r>
                        <a:rPr lang="en-NZ" sz="1400" b="0" i="0" u="none" strike="noStrike" dirty="0">
                          <a:solidFill>
                            <a:srgbClr val="000000"/>
                          </a:solidFill>
                          <a:effectLst/>
                          <a:latin typeface="Calibri" panose="020F0502020204030204" pitchFamily="34" charset="0"/>
                        </a:rPr>
                        <a:t>10 Abel Smith Street, 6011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629152703"/>
                  </a:ext>
                </a:extLst>
              </a:tr>
              <a:tr h="293626">
                <a:tc>
                  <a:txBody>
                    <a:bodyPr/>
                    <a:lstStyle/>
                    <a:p>
                      <a:pPr algn="ctr" fontAlgn="ctr"/>
                      <a:r>
                        <a:rPr lang="en-NZ" sz="1400" b="0" i="0" u="none" strike="noStrike" dirty="0">
                          <a:solidFill>
                            <a:srgbClr val="000000"/>
                          </a:solidFill>
                          <a:effectLst/>
                          <a:latin typeface="Calibri" panose="020F0502020204030204" pitchFamily="34" charset="0"/>
                        </a:rPr>
                        <a:t>Unit 5, 21 Glenmore Street, Kelburn, Wellington, 6012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894549231"/>
                  </a:ext>
                </a:extLst>
              </a:tr>
            </a:tbl>
          </a:graphicData>
        </a:graphic>
      </p:graphicFrame>
      <p:graphicFrame>
        <p:nvGraphicFramePr>
          <p:cNvPr id="22" name="Table 21">
            <a:extLst>
              <a:ext uri="{FF2B5EF4-FFF2-40B4-BE49-F238E27FC236}">
                <a16:creationId xmlns:a16="http://schemas.microsoft.com/office/drawing/2014/main" id="{22B47852-CC8C-49BE-BD26-13D432BAB5F6}"/>
              </a:ext>
            </a:extLst>
          </p:cNvPr>
          <p:cNvGraphicFramePr>
            <a:graphicFrameLocks noGrp="1"/>
          </p:cNvGraphicFramePr>
          <p:nvPr>
            <p:extLst>
              <p:ext uri="{D42A27DB-BD31-4B8C-83A1-F6EECF244321}">
                <p14:modId xmlns:p14="http://schemas.microsoft.com/office/powerpoint/2010/main" val="3166604298"/>
              </p:ext>
            </p:extLst>
          </p:nvPr>
        </p:nvGraphicFramePr>
        <p:xfrm>
          <a:off x="575290" y="2800275"/>
          <a:ext cx="5529807" cy="2782857"/>
        </p:xfrm>
        <a:graphic>
          <a:graphicData uri="http://schemas.openxmlformats.org/drawingml/2006/table">
            <a:tbl>
              <a:tblPr/>
              <a:tblGrid>
                <a:gridCol w="3896937">
                  <a:extLst>
                    <a:ext uri="{9D8B030D-6E8A-4147-A177-3AD203B41FA5}">
                      <a16:colId xmlns:a16="http://schemas.microsoft.com/office/drawing/2014/main" val="3238469412"/>
                    </a:ext>
                  </a:extLst>
                </a:gridCol>
                <a:gridCol w="823296">
                  <a:extLst>
                    <a:ext uri="{9D8B030D-6E8A-4147-A177-3AD203B41FA5}">
                      <a16:colId xmlns:a16="http://schemas.microsoft.com/office/drawing/2014/main" val="2495253228"/>
                    </a:ext>
                  </a:extLst>
                </a:gridCol>
                <a:gridCol w="809574">
                  <a:extLst>
                    <a:ext uri="{9D8B030D-6E8A-4147-A177-3AD203B41FA5}">
                      <a16:colId xmlns:a16="http://schemas.microsoft.com/office/drawing/2014/main" val="718830475"/>
                    </a:ext>
                  </a:extLst>
                </a:gridCol>
              </a:tblGrid>
              <a:tr h="252987">
                <a:tc>
                  <a:txBody>
                    <a:bodyPr/>
                    <a:lstStyle/>
                    <a:p>
                      <a:pPr algn="ctr" fontAlgn="ctr"/>
                      <a:r>
                        <a:rPr lang="en-NZ" sz="1400" b="1" i="0" u="none" strike="noStrike" dirty="0">
                          <a:solidFill>
                            <a:srgbClr val="FFFFFF"/>
                          </a:solidFill>
                          <a:effectLst/>
                          <a:latin typeface="Calibri" panose="020F0502020204030204" pitchFamily="34" charset="0"/>
                        </a:rPr>
                        <a:t>Address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Longitude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Latitude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091820896"/>
                  </a:ext>
                </a:extLst>
              </a:tr>
              <a:tr h="252987">
                <a:tc>
                  <a:txBody>
                    <a:bodyPr/>
                    <a:lstStyle/>
                    <a:p>
                      <a:pPr algn="ctr" fontAlgn="ctr"/>
                      <a:r>
                        <a:rPr lang="en-NZ" sz="1400" b="0" i="0" u="none" strike="noStrike" dirty="0">
                          <a:solidFill>
                            <a:srgbClr val="000000"/>
                          </a:solidFill>
                          <a:effectLst/>
                          <a:latin typeface="Calibri" panose="020F0502020204030204" pitchFamily="34" charset="0"/>
                        </a:rPr>
                        <a:t>21 New Bond Street, Kingsland, 1021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174.7472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-36.8688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6935336"/>
                  </a:ext>
                </a:extLst>
              </a:tr>
              <a:tr h="252987">
                <a:tc>
                  <a:txBody>
                    <a:bodyPr/>
                    <a:lstStyle/>
                    <a:p>
                      <a:pPr algn="ctr" fontAlgn="ctr"/>
                      <a:r>
                        <a:rPr lang="en-NZ" sz="1400" b="0" i="0" u="none" strike="noStrike" dirty="0">
                          <a:solidFill>
                            <a:srgbClr val="000000"/>
                          </a:solidFill>
                          <a:effectLst/>
                          <a:latin typeface="Calibri" panose="020F0502020204030204" pitchFamily="34" charset="0"/>
                        </a:rPr>
                        <a:t>15 </a:t>
                      </a:r>
                      <a:r>
                        <a:rPr lang="en-NZ" sz="1400" b="0" i="0" u="none" strike="noStrike" dirty="0" err="1">
                          <a:solidFill>
                            <a:srgbClr val="000000"/>
                          </a:solidFill>
                          <a:effectLst/>
                          <a:latin typeface="Calibri" panose="020F0502020204030204" pitchFamily="34" charset="0"/>
                        </a:rPr>
                        <a:t>Tuarangi</a:t>
                      </a:r>
                      <a:r>
                        <a:rPr lang="en-NZ" sz="1400" b="0" i="0" u="none" strike="noStrike" dirty="0">
                          <a:solidFill>
                            <a:srgbClr val="000000"/>
                          </a:solidFill>
                          <a:effectLst/>
                          <a:latin typeface="Calibri" panose="020F0502020204030204" pitchFamily="34" charset="0"/>
                        </a:rPr>
                        <a:t> Road, Grey Lynn, Auckland, 1021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174.7361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-36.8646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71956495"/>
                  </a:ext>
                </a:extLst>
              </a:tr>
              <a:tr h="252987">
                <a:tc>
                  <a:txBody>
                    <a:bodyPr/>
                    <a:lstStyle/>
                    <a:p>
                      <a:pPr algn="ctr" fontAlgn="ctr"/>
                      <a:r>
                        <a:rPr lang="en-NZ" sz="1400" b="0" i="0" u="none" strike="noStrike" dirty="0">
                          <a:solidFill>
                            <a:srgbClr val="000000"/>
                          </a:solidFill>
                          <a:effectLst/>
                          <a:latin typeface="Calibri" panose="020F0502020204030204" pitchFamily="34" charset="0"/>
                        </a:rPr>
                        <a:t>10 </a:t>
                      </a:r>
                      <a:r>
                        <a:rPr lang="en-NZ" sz="1400" b="0" i="0" u="none" strike="noStrike" dirty="0" err="1">
                          <a:solidFill>
                            <a:srgbClr val="000000"/>
                          </a:solidFill>
                          <a:effectLst/>
                          <a:latin typeface="Calibri" panose="020F0502020204030204" pitchFamily="34" charset="0"/>
                        </a:rPr>
                        <a:t>Rakau</a:t>
                      </a:r>
                      <a:r>
                        <a:rPr lang="en-NZ" sz="1400" b="0" i="0" u="none" strike="noStrike" dirty="0">
                          <a:solidFill>
                            <a:srgbClr val="000000"/>
                          </a:solidFill>
                          <a:effectLst/>
                          <a:latin typeface="Calibri" panose="020F0502020204030204" pitchFamily="34" charset="0"/>
                        </a:rPr>
                        <a:t> Road, </a:t>
                      </a:r>
                      <a:r>
                        <a:rPr lang="en-NZ" sz="1400" b="0" i="0" u="none" strike="noStrike" dirty="0" err="1">
                          <a:solidFill>
                            <a:srgbClr val="000000"/>
                          </a:solidFill>
                          <a:effectLst/>
                          <a:latin typeface="Calibri" panose="020F0502020204030204" pitchFamily="34" charset="0"/>
                        </a:rPr>
                        <a:t>Hataitai</a:t>
                      </a:r>
                      <a:r>
                        <a:rPr lang="en-NZ" sz="1400" b="0" i="0" u="none" strike="noStrike" dirty="0">
                          <a:solidFill>
                            <a:srgbClr val="000000"/>
                          </a:solidFill>
                          <a:effectLst/>
                          <a:latin typeface="Calibri" panose="020F0502020204030204" pitchFamily="34" charset="0"/>
                        </a:rPr>
                        <a:t>, Wellington 6021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174.7991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-41.2981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71834148"/>
                  </a:ext>
                </a:extLst>
              </a:tr>
              <a:tr h="252987">
                <a:tc>
                  <a:txBody>
                    <a:bodyPr/>
                    <a:lstStyle/>
                    <a:p>
                      <a:pPr algn="ctr" fontAlgn="ctr"/>
                      <a:r>
                        <a:rPr lang="en-NZ" sz="1400" b="0" i="0" u="none" strike="noStrike" dirty="0">
                          <a:solidFill>
                            <a:srgbClr val="000000"/>
                          </a:solidFill>
                          <a:effectLst/>
                          <a:latin typeface="Calibri" panose="020F0502020204030204" pitchFamily="34" charset="0"/>
                        </a:rPr>
                        <a:t>56 the Terrace, Wellington, 6011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-41.2808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174.7744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263843634"/>
                  </a:ext>
                </a:extLst>
              </a:tr>
              <a:tr h="252987">
                <a:tc>
                  <a:txBody>
                    <a:bodyPr/>
                    <a:lstStyle/>
                    <a:p>
                      <a:pPr algn="ctr" fontAlgn="ctr"/>
                      <a:r>
                        <a:rPr lang="en-NZ" sz="1400" b="0" i="0" u="none" strike="noStrike" dirty="0">
                          <a:solidFill>
                            <a:srgbClr val="FF0000"/>
                          </a:solidFill>
                          <a:effectLst/>
                          <a:latin typeface="Calibri" panose="020F0502020204030204" pitchFamily="34" charset="0"/>
                        </a:rPr>
                        <a:t>62 Kelburn Parade, Kelburn, Wellington, 6012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FF0000"/>
                          </a:solidFill>
                          <a:effectLst/>
                          <a:latin typeface="Calibri" panose="020F0502020204030204" pitchFamily="34" charset="0"/>
                        </a:rPr>
                        <a:t>-41.2898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FF0000"/>
                          </a:solidFill>
                          <a:effectLst/>
                          <a:latin typeface="Calibri" panose="020F0502020204030204" pitchFamily="34" charset="0"/>
                        </a:rPr>
                        <a:t>174.7670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365408571"/>
                  </a:ext>
                </a:extLst>
              </a:tr>
              <a:tr h="252987">
                <a:tc>
                  <a:txBody>
                    <a:bodyPr/>
                    <a:lstStyle/>
                    <a:p>
                      <a:pPr algn="ctr" fontAlgn="ctr"/>
                      <a:r>
                        <a:rPr lang="en-NZ" sz="1400" b="0" i="0" u="none" strike="noStrike" dirty="0">
                          <a:solidFill>
                            <a:srgbClr val="00B050"/>
                          </a:solidFill>
                          <a:effectLst/>
                          <a:latin typeface="Calibri" panose="020F0502020204030204" pitchFamily="34" charset="0"/>
                        </a:rPr>
                        <a:t>5 Glenmore Street, Kelburn, Wellington, 6012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B050"/>
                          </a:solidFill>
                          <a:effectLst/>
                          <a:latin typeface="Calibri" panose="020F0502020204030204" pitchFamily="34" charset="0"/>
                        </a:rPr>
                        <a:t>-41.2807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B050"/>
                          </a:solidFill>
                          <a:effectLst/>
                          <a:latin typeface="Calibri" panose="020F0502020204030204" pitchFamily="34" charset="0"/>
                        </a:rPr>
                        <a:t>174.7666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673887667"/>
                  </a:ext>
                </a:extLst>
              </a:tr>
              <a:tr h="252987">
                <a:tc>
                  <a:txBody>
                    <a:bodyPr/>
                    <a:lstStyle/>
                    <a:p>
                      <a:pPr algn="ctr" fontAlgn="ctr"/>
                      <a:r>
                        <a:rPr lang="en-NZ" sz="1400" b="0" i="0" u="none" strike="noStrike" dirty="0">
                          <a:solidFill>
                            <a:srgbClr val="000000"/>
                          </a:solidFill>
                          <a:effectLst/>
                          <a:latin typeface="Calibri" panose="020F0502020204030204" pitchFamily="34" charset="0"/>
                        </a:rPr>
                        <a:t>121 Glenmore Street, Kelburn, Wellington, 6012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-41.2846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174.7608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70001989"/>
                  </a:ext>
                </a:extLst>
              </a:tr>
              <a:tr h="252987">
                <a:tc>
                  <a:txBody>
                    <a:bodyPr/>
                    <a:lstStyle/>
                    <a:p>
                      <a:pPr algn="ctr" fontAlgn="ctr"/>
                      <a:r>
                        <a:rPr lang="en-NZ" sz="1400" b="0" i="0" u="none" strike="noStrike" dirty="0">
                          <a:solidFill>
                            <a:srgbClr val="0070C0"/>
                          </a:solidFill>
                          <a:effectLst/>
                          <a:latin typeface="Calibri" panose="020F0502020204030204" pitchFamily="34" charset="0"/>
                        </a:rPr>
                        <a:t>10 Abel Smith Street, </a:t>
                      </a:r>
                      <a:r>
                        <a:rPr lang="en-NZ" sz="1400" b="0" i="0" u="none" strike="noStrike" dirty="0" err="1">
                          <a:solidFill>
                            <a:srgbClr val="0070C0"/>
                          </a:solidFill>
                          <a:effectLst/>
                          <a:latin typeface="Calibri" panose="020F0502020204030204" pitchFamily="34" charset="0"/>
                        </a:rPr>
                        <a:t>Te</a:t>
                      </a:r>
                      <a:r>
                        <a:rPr lang="en-NZ" sz="1400" b="0" i="0" u="none" strike="noStrike" dirty="0">
                          <a:solidFill>
                            <a:srgbClr val="0070C0"/>
                          </a:solidFill>
                          <a:effectLst/>
                          <a:latin typeface="Calibri" panose="020F0502020204030204" pitchFamily="34" charset="0"/>
                        </a:rPr>
                        <a:t> </a:t>
                      </a:r>
                      <a:r>
                        <a:rPr lang="en-NZ" sz="1400" b="0" i="0" u="none" strike="noStrike" dirty="0" err="1">
                          <a:solidFill>
                            <a:srgbClr val="0070C0"/>
                          </a:solidFill>
                          <a:effectLst/>
                          <a:latin typeface="Calibri" panose="020F0502020204030204" pitchFamily="34" charset="0"/>
                        </a:rPr>
                        <a:t>Aro</a:t>
                      </a:r>
                      <a:r>
                        <a:rPr lang="en-NZ" sz="1400" b="0" i="0" u="none" strike="noStrike" dirty="0">
                          <a:solidFill>
                            <a:srgbClr val="0070C0"/>
                          </a:solidFill>
                          <a:effectLst/>
                          <a:latin typeface="Calibri" panose="020F0502020204030204" pitchFamily="34" charset="0"/>
                        </a:rPr>
                        <a:t>, Wellington, 6011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70C0"/>
                          </a:solidFill>
                          <a:effectLst/>
                          <a:latin typeface="Calibri" panose="020F0502020204030204" pitchFamily="34" charset="0"/>
                        </a:rPr>
                        <a:t>-41.2964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70C0"/>
                          </a:solidFill>
                          <a:effectLst/>
                          <a:latin typeface="Calibri" panose="020F0502020204030204" pitchFamily="34" charset="0"/>
                        </a:rPr>
                        <a:t>174.7757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57670875"/>
                  </a:ext>
                </a:extLst>
              </a:tr>
              <a:tr h="252987">
                <a:tc>
                  <a:txBody>
                    <a:bodyPr/>
                    <a:lstStyle/>
                    <a:p>
                      <a:pPr algn="ctr" fontAlgn="ctr"/>
                      <a:r>
                        <a:rPr lang="en-NZ" sz="1400" b="0" i="0" u="none" strike="noStrike">
                          <a:solidFill>
                            <a:srgbClr val="000000"/>
                          </a:solidFill>
                          <a:effectLst/>
                          <a:latin typeface="Calibri" panose="020F0502020204030204" pitchFamily="34" charset="0"/>
                        </a:rPr>
                        <a:t>15 Bond Street, Wellington Central, Wellington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-41.2889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174.7757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12561029"/>
                  </a:ext>
                </a:extLst>
              </a:tr>
              <a:tr h="252987">
                <a:tc>
                  <a:txBody>
                    <a:bodyPr/>
                    <a:lstStyle/>
                    <a:p>
                      <a:pPr algn="ctr" fontAlgn="ctr"/>
                      <a:r>
                        <a:rPr lang="en-NZ" sz="1400" b="0" i="0" u="none" strike="noStrike">
                          <a:solidFill>
                            <a:srgbClr val="000000"/>
                          </a:solidFill>
                          <a:effectLst/>
                          <a:latin typeface="Calibri" panose="020F0502020204030204" pitchFamily="34" charset="0"/>
                        </a:rPr>
                        <a:t>105 The Terrace, Wellington Central, Wellington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-41.2824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174.7751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3164232"/>
                  </a:ext>
                </a:extLst>
              </a:tr>
            </a:tbl>
          </a:graphicData>
        </a:graphic>
      </p:graphicFrame>
      <p:cxnSp>
        <p:nvCxnSpPr>
          <p:cNvPr id="9" name="Connector: Elbow 8">
            <a:extLst>
              <a:ext uri="{FF2B5EF4-FFF2-40B4-BE49-F238E27FC236}">
                <a16:creationId xmlns:a16="http://schemas.microsoft.com/office/drawing/2014/main" id="{4E9A8CB3-E633-4EF9-BCFB-DE6EFB31693D}"/>
              </a:ext>
            </a:extLst>
          </p:cNvPr>
          <p:cNvCxnSpPr>
            <a:cxnSpLocks/>
            <a:endCxn id="22" idx="3"/>
          </p:cNvCxnSpPr>
          <p:nvPr/>
        </p:nvCxnSpPr>
        <p:spPr>
          <a:xfrm rot="10800000" flipV="1">
            <a:off x="6105098" y="3281635"/>
            <a:ext cx="1537653" cy="910067"/>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09207C79-86DB-41F8-8BB8-C3050E23EFA7}"/>
              </a:ext>
            </a:extLst>
          </p:cNvPr>
          <p:cNvCxnSpPr>
            <a:cxnSpLocks/>
          </p:cNvCxnSpPr>
          <p:nvPr/>
        </p:nvCxnSpPr>
        <p:spPr>
          <a:xfrm rot="10800000" flipV="1">
            <a:off x="6114195" y="3636225"/>
            <a:ext cx="1828803" cy="1356005"/>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459580B1-0367-418C-A9D9-4A7BD6A2C2EC}"/>
              </a:ext>
            </a:extLst>
          </p:cNvPr>
          <p:cNvCxnSpPr>
            <a:cxnSpLocks/>
          </p:cNvCxnSpPr>
          <p:nvPr/>
        </p:nvCxnSpPr>
        <p:spPr>
          <a:xfrm rot="10800000" flipV="1">
            <a:off x="6209732" y="3836504"/>
            <a:ext cx="982641" cy="661107"/>
          </a:xfrm>
          <a:prstGeom prst="bent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07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.2b – Geocoder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F905A341-0C92-4046-BF7A-C680B334CB5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Geocoder Accuracy (Bootstrapping Example)</a:t>
            </a:r>
            <a:r>
              <a:rPr lang="en-US" altLang="ja-JP" sz="1200" dirty="0">
                <a:solidFill>
                  <a:srgbClr val="C00000"/>
                </a:solidFill>
              </a:rPr>
              <a:t>.</a:t>
            </a:r>
            <a:endParaRPr lang="en-US" altLang="ja-JP" sz="1200" b="1" i="1" dirty="0">
              <a:solidFill>
                <a:srgbClr val="C00000"/>
              </a:solidFill>
            </a:endParaRPr>
          </a:p>
        </p:txBody>
      </p:sp>
      <p:sp>
        <p:nvSpPr>
          <p:cNvPr id="10" name="Text Placeholder 5">
            <a:extLst>
              <a:ext uri="{FF2B5EF4-FFF2-40B4-BE49-F238E27FC236}">
                <a16:creationId xmlns:a16="http://schemas.microsoft.com/office/drawing/2014/main" id="{4D969575-61D3-4692-9C66-A40E06A28947}"/>
              </a:ext>
            </a:extLst>
          </p:cNvPr>
          <p:cNvSpPr txBox="1">
            <a:spLocks/>
          </p:cNvSpPr>
          <p:nvPr/>
        </p:nvSpPr>
        <p:spPr>
          <a:xfrm>
            <a:off x="7540665" y="2081523"/>
            <a:ext cx="4487562" cy="37460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Because the matching algorithm is ‘fuzzy’ there is always some error associated to a geocoder.</a:t>
            </a:r>
          </a:p>
          <a:p>
            <a:pPr algn="just">
              <a:lnSpc>
                <a:spcPct val="100000"/>
              </a:lnSpc>
            </a:pP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In the previous example, the address:</a:t>
            </a:r>
          </a:p>
          <a:p>
            <a:pPr algn="just">
              <a:lnSpc>
                <a:spcPct val="100000"/>
              </a:lnSpc>
            </a:pPr>
            <a:r>
              <a:rPr lang="en-NZ" altLang="ja-JP" sz="1800" b="1" i="1" dirty="0">
                <a:solidFill>
                  <a:schemeClr val="tx1"/>
                </a:solidFill>
              </a:rPr>
              <a:t>Unit 5, 21 Glenmore Street, Wellington, 6012</a:t>
            </a:r>
          </a:p>
          <a:p>
            <a:pPr algn="just">
              <a:lnSpc>
                <a:spcPct val="100000"/>
              </a:lnSpc>
            </a:pPr>
            <a:br>
              <a:rPr lang="en-NZ" altLang="ja-JP" sz="1800" dirty="0">
                <a:solidFill>
                  <a:schemeClr val="tx1"/>
                </a:solidFill>
              </a:rPr>
            </a:br>
            <a:r>
              <a:rPr lang="en-NZ" altLang="ja-JP" sz="1800" dirty="0">
                <a:solidFill>
                  <a:schemeClr val="tx1"/>
                </a:solidFill>
              </a:rPr>
              <a:t>was matched onto the address:</a:t>
            </a:r>
          </a:p>
          <a:p>
            <a:pPr algn="just">
              <a:lnSpc>
                <a:spcPct val="100000"/>
              </a:lnSpc>
            </a:pPr>
            <a:r>
              <a:rPr lang="en-NZ" altLang="ja-JP" sz="1800" b="1" i="1" dirty="0">
                <a:solidFill>
                  <a:schemeClr val="tx1"/>
                </a:solidFill>
              </a:rPr>
              <a:t>5 Glenmore Street, Wellington, 6012</a:t>
            </a:r>
          </a:p>
          <a:p>
            <a:pPr algn="just">
              <a:lnSpc>
                <a:spcPct val="100000"/>
              </a:lnSpc>
            </a:pPr>
            <a:endParaRPr lang="en-NZ" altLang="ja-JP" sz="1800" b="1" i="1" dirty="0">
              <a:solidFill>
                <a:schemeClr val="tx1"/>
              </a:solidFill>
            </a:endParaRPr>
          </a:p>
          <a:p>
            <a:pPr algn="just">
              <a:lnSpc>
                <a:spcPct val="100000"/>
              </a:lnSpc>
            </a:pPr>
            <a:r>
              <a:rPr lang="en-NZ" altLang="ja-JP" sz="1800" dirty="0">
                <a:solidFill>
                  <a:schemeClr val="tx1"/>
                </a:solidFill>
              </a:rPr>
              <a:t>… which is a 58 metres away</a:t>
            </a:r>
          </a:p>
        </p:txBody>
      </p:sp>
      <p:pic>
        <p:nvPicPr>
          <p:cNvPr id="13" name="Picture 12">
            <a:extLst>
              <a:ext uri="{FF2B5EF4-FFF2-40B4-BE49-F238E27FC236}">
                <a16:creationId xmlns:a16="http://schemas.microsoft.com/office/drawing/2014/main" id="{5C37EFB8-7F7C-4B6D-9086-433570FE43DA}"/>
              </a:ext>
            </a:extLst>
          </p:cNvPr>
          <p:cNvPicPr>
            <a:picLocks noChangeAspect="1"/>
          </p:cNvPicPr>
          <p:nvPr/>
        </p:nvPicPr>
        <p:blipFill>
          <a:blip r:embed="rId3"/>
          <a:stretch>
            <a:fillRect/>
          </a:stretch>
        </p:blipFill>
        <p:spPr>
          <a:xfrm>
            <a:off x="447363" y="891925"/>
            <a:ext cx="6785950" cy="5265104"/>
          </a:xfrm>
          <a:prstGeom prst="rect">
            <a:avLst/>
          </a:prstGeom>
        </p:spPr>
      </p:pic>
      <p:sp>
        <p:nvSpPr>
          <p:cNvPr id="14" name="Oval 13">
            <a:extLst>
              <a:ext uri="{FF2B5EF4-FFF2-40B4-BE49-F238E27FC236}">
                <a16:creationId xmlns:a16="http://schemas.microsoft.com/office/drawing/2014/main" id="{DA9CD3E7-5ED1-4A98-A137-05BBBA5AC549}"/>
              </a:ext>
            </a:extLst>
          </p:cNvPr>
          <p:cNvSpPr/>
          <p:nvPr/>
        </p:nvSpPr>
        <p:spPr>
          <a:xfrm>
            <a:off x="7710985" y="996287"/>
            <a:ext cx="232012" cy="232012"/>
          </a:xfrm>
          <a:prstGeom prst="ellipse">
            <a:avLst/>
          </a:prstGeom>
          <a:solidFill>
            <a:srgbClr val="01F3FF"/>
          </a:solidFill>
          <a:ln>
            <a:solidFill>
              <a:srgbClr val="01F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0" name="Oval 19">
            <a:extLst>
              <a:ext uri="{FF2B5EF4-FFF2-40B4-BE49-F238E27FC236}">
                <a16:creationId xmlns:a16="http://schemas.microsoft.com/office/drawing/2014/main" id="{743A5877-3486-4D15-8170-5F92021A5F43}"/>
              </a:ext>
            </a:extLst>
          </p:cNvPr>
          <p:cNvSpPr/>
          <p:nvPr/>
        </p:nvSpPr>
        <p:spPr>
          <a:xfrm>
            <a:off x="7710985" y="1420496"/>
            <a:ext cx="232012" cy="232012"/>
          </a:xfrm>
          <a:prstGeom prst="ellipse">
            <a:avLst/>
          </a:prstGeom>
          <a:solidFill>
            <a:srgbClr val="FF0105"/>
          </a:solidFill>
          <a:ln>
            <a:solidFill>
              <a:srgbClr val="FF01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1" name="Text Placeholder 5">
            <a:extLst>
              <a:ext uri="{FF2B5EF4-FFF2-40B4-BE49-F238E27FC236}">
                <a16:creationId xmlns:a16="http://schemas.microsoft.com/office/drawing/2014/main" id="{994C91B6-F06D-4F34-B516-564236392D2A}"/>
              </a:ext>
            </a:extLst>
          </p:cNvPr>
          <p:cNvSpPr txBox="1">
            <a:spLocks/>
          </p:cNvSpPr>
          <p:nvPr/>
        </p:nvSpPr>
        <p:spPr>
          <a:xfrm>
            <a:off x="8100223" y="920960"/>
            <a:ext cx="276339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chemeClr val="tx1"/>
                </a:solidFill>
              </a:rPr>
              <a:t>Location of input address</a:t>
            </a:r>
          </a:p>
        </p:txBody>
      </p:sp>
      <p:sp>
        <p:nvSpPr>
          <p:cNvPr id="23" name="Text Placeholder 5">
            <a:extLst>
              <a:ext uri="{FF2B5EF4-FFF2-40B4-BE49-F238E27FC236}">
                <a16:creationId xmlns:a16="http://schemas.microsoft.com/office/drawing/2014/main" id="{49C0296A-9FD3-4FA3-819D-43E6EBC9F6C1}"/>
              </a:ext>
            </a:extLst>
          </p:cNvPr>
          <p:cNvSpPr txBox="1">
            <a:spLocks/>
          </p:cNvSpPr>
          <p:nvPr/>
        </p:nvSpPr>
        <p:spPr>
          <a:xfrm>
            <a:off x="8100222" y="1347751"/>
            <a:ext cx="3432136"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chemeClr val="tx1"/>
                </a:solidFill>
              </a:rPr>
              <a:t>Location of matched address</a:t>
            </a:r>
          </a:p>
        </p:txBody>
      </p:sp>
      <p:cxnSp>
        <p:nvCxnSpPr>
          <p:cNvPr id="17" name="Straight Arrow Connector 16">
            <a:extLst>
              <a:ext uri="{FF2B5EF4-FFF2-40B4-BE49-F238E27FC236}">
                <a16:creationId xmlns:a16="http://schemas.microsoft.com/office/drawing/2014/main" id="{EAA65C07-DE6A-4EC0-B457-8C4496125662}"/>
              </a:ext>
            </a:extLst>
          </p:cNvPr>
          <p:cNvCxnSpPr>
            <a:cxnSpLocks/>
          </p:cNvCxnSpPr>
          <p:nvPr/>
        </p:nvCxnSpPr>
        <p:spPr>
          <a:xfrm flipV="1">
            <a:off x="2879678" y="1712877"/>
            <a:ext cx="232012" cy="102275"/>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33CA313-6A8E-438D-A4D0-688E8C2493B8}"/>
              </a:ext>
            </a:extLst>
          </p:cNvPr>
          <p:cNvCxnSpPr>
            <a:cxnSpLocks/>
          </p:cNvCxnSpPr>
          <p:nvPr/>
        </p:nvCxnSpPr>
        <p:spPr>
          <a:xfrm flipV="1">
            <a:off x="5063319" y="1815152"/>
            <a:ext cx="0" cy="395785"/>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91280AD-91B0-4AEA-A4DE-87E4A640C5CF}"/>
              </a:ext>
            </a:extLst>
          </p:cNvPr>
          <p:cNvCxnSpPr>
            <a:cxnSpLocks/>
          </p:cNvCxnSpPr>
          <p:nvPr/>
        </p:nvCxnSpPr>
        <p:spPr>
          <a:xfrm flipH="1" flipV="1">
            <a:off x="5268036" y="4367284"/>
            <a:ext cx="138751" cy="17969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A18E600-5F2F-40FE-AC41-FF3C27CDEEF4}"/>
              </a:ext>
            </a:extLst>
          </p:cNvPr>
          <p:cNvCxnSpPr>
            <a:cxnSpLocks/>
          </p:cNvCxnSpPr>
          <p:nvPr/>
        </p:nvCxnSpPr>
        <p:spPr>
          <a:xfrm flipV="1">
            <a:off x="3011606" y="4821031"/>
            <a:ext cx="188795" cy="460653"/>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 Placeholder 5">
            <a:extLst>
              <a:ext uri="{FF2B5EF4-FFF2-40B4-BE49-F238E27FC236}">
                <a16:creationId xmlns:a16="http://schemas.microsoft.com/office/drawing/2014/main" id="{EABA5A14-4F3B-4351-9D24-145FF84BF7E5}"/>
              </a:ext>
            </a:extLst>
          </p:cNvPr>
          <p:cNvSpPr txBox="1">
            <a:spLocks/>
          </p:cNvSpPr>
          <p:nvPr/>
        </p:nvSpPr>
        <p:spPr>
          <a:xfrm>
            <a:off x="5092168" y="1883630"/>
            <a:ext cx="809213" cy="3957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0070C0"/>
                </a:solidFill>
              </a:rPr>
              <a:t>100m</a:t>
            </a:r>
          </a:p>
        </p:txBody>
      </p:sp>
      <p:sp>
        <p:nvSpPr>
          <p:cNvPr id="40" name="Text Placeholder 5">
            <a:extLst>
              <a:ext uri="{FF2B5EF4-FFF2-40B4-BE49-F238E27FC236}">
                <a16:creationId xmlns:a16="http://schemas.microsoft.com/office/drawing/2014/main" id="{4857FD17-B94A-4A38-8859-BF6E7E295A89}"/>
              </a:ext>
            </a:extLst>
          </p:cNvPr>
          <p:cNvSpPr txBox="1">
            <a:spLocks/>
          </p:cNvSpPr>
          <p:nvPr/>
        </p:nvSpPr>
        <p:spPr>
          <a:xfrm>
            <a:off x="5341823" y="4116439"/>
            <a:ext cx="809213" cy="3957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0070C0"/>
                </a:solidFill>
              </a:rPr>
              <a:t>27m</a:t>
            </a:r>
          </a:p>
        </p:txBody>
      </p:sp>
      <p:sp>
        <p:nvSpPr>
          <p:cNvPr id="41" name="Text Placeholder 5">
            <a:extLst>
              <a:ext uri="{FF2B5EF4-FFF2-40B4-BE49-F238E27FC236}">
                <a16:creationId xmlns:a16="http://schemas.microsoft.com/office/drawing/2014/main" id="{29B3D6DE-2BE3-4808-9914-1887376CDFA0}"/>
              </a:ext>
            </a:extLst>
          </p:cNvPr>
          <p:cNvSpPr txBox="1">
            <a:spLocks/>
          </p:cNvSpPr>
          <p:nvPr/>
        </p:nvSpPr>
        <p:spPr>
          <a:xfrm>
            <a:off x="3129194" y="4906259"/>
            <a:ext cx="809213" cy="3957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0070C0"/>
                </a:solidFill>
              </a:rPr>
              <a:t>423m</a:t>
            </a:r>
          </a:p>
        </p:txBody>
      </p:sp>
      <p:sp>
        <p:nvSpPr>
          <p:cNvPr id="42" name="Text Placeholder 5">
            <a:extLst>
              <a:ext uri="{FF2B5EF4-FFF2-40B4-BE49-F238E27FC236}">
                <a16:creationId xmlns:a16="http://schemas.microsoft.com/office/drawing/2014/main" id="{792C8920-B0BF-47C5-A6AD-D3217A4F2039}"/>
              </a:ext>
            </a:extLst>
          </p:cNvPr>
          <p:cNvSpPr txBox="1">
            <a:spLocks/>
          </p:cNvSpPr>
          <p:nvPr/>
        </p:nvSpPr>
        <p:spPr>
          <a:xfrm>
            <a:off x="2688961" y="1332421"/>
            <a:ext cx="809213" cy="3957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0070C0"/>
                </a:solidFill>
              </a:rPr>
              <a:t>58m</a:t>
            </a:r>
          </a:p>
        </p:txBody>
      </p:sp>
      <p:sp>
        <p:nvSpPr>
          <p:cNvPr id="43" name="Text Placeholder 5">
            <a:extLst>
              <a:ext uri="{FF2B5EF4-FFF2-40B4-BE49-F238E27FC236}">
                <a16:creationId xmlns:a16="http://schemas.microsoft.com/office/drawing/2014/main" id="{8DCFD7E3-1A6F-4B77-83DD-B841BCF88E6B}"/>
              </a:ext>
            </a:extLst>
          </p:cNvPr>
          <p:cNvSpPr txBox="1">
            <a:spLocks/>
          </p:cNvSpPr>
          <p:nvPr/>
        </p:nvSpPr>
        <p:spPr>
          <a:xfrm>
            <a:off x="1258220" y="2603937"/>
            <a:ext cx="809213" cy="6305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0070C0"/>
                </a:solidFill>
              </a:rPr>
              <a:t>12m</a:t>
            </a:r>
          </a:p>
        </p:txBody>
      </p:sp>
    </p:spTree>
    <p:extLst>
      <p:ext uri="{BB962C8B-B14F-4D97-AF65-F5344CB8AC3E}">
        <p14:creationId xmlns:p14="http://schemas.microsoft.com/office/powerpoint/2010/main" val="1937856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.2b – Geocoder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F905A341-0C92-4046-BF7A-C680B334CB5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Geocoder Accuracy (Bootstrapping Example)</a:t>
            </a:r>
            <a:r>
              <a:rPr lang="en-US" altLang="ja-JP" sz="1200" dirty="0">
                <a:solidFill>
                  <a:srgbClr val="C00000"/>
                </a:solidFill>
              </a:rPr>
              <a:t>.</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5BC71365-561C-4DD9-91C1-26963EE150BB}"/>
                  </a:ext>
                </a:extLst>
              </p:cNvPr>
              <p:cNvSpPr txBox="1">
                <a:spLocks/>
              </p:cNvSpPr>
              <p:nvPr/>
            </p:nvSpPr>
            <p:spPr>
              <a:xfrm>
                <a:off x="319463" y="914840"/>
                <a:ext cx="11212895" cy="7855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Dr Ward builds a geocoder. His boss asks him to calculate the distance </a:t>
                </a:r>
                <a14:m>
                  <m:oMath xmlns:m="http://schemas.openxmlformats.org/officeDocument/2006/math">
                    <m:r>
                      <a:rPr lang="en-NZ" altLang="ja-JP" sz="1800" b="1" i="1">
                        <a:solidFill>
                          <a:srgbClr val="0070C0"/>
                        </a:solidFill>
                        <a:latin typeface="Cambria Math" panose="02040503050406030204" pitchFamily="18" charset="0"/>
                      </a:rPr>
                      <m:t>𝜽</m:t>
                    </m:r>
                    <m:r>
                      <a:rPr lang="en-NZ" altLang="ja-JP" sz="1800" b="1" i="1">
                        <a:solidFill>
                          <a:srgbClr val="0070C0"/>
                        </a:solidFill>
                        <a:latin typeface="Cambria Math" panose="02040503050406030204" pitchFamily="18" charset="0"/>
                      </a:rPr>
                      <m:t> </m:t>
                    </m:r>
                  </m:oMath>
                </a14:m>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such that 95% of addresses</a:t>
                </a:r>
                <a:r>
                  <a:rPr kumimoji="1" lang="en-NZ" altLang="ja-JP" sz="180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rPr>
                  <a:t> geocoded are correct to within </a:t>
                </a:r>
                <a14:m>
                  <m:oMath xmlns:m="http://schemas.openxmlformats.org/officeDocument/2006/math">
                    <m:r>
                      <a:rPr lang="en-NZ" altLang="ja-JP" sz="1800" b="1" i="1">
                        <a:solidFill>
                          <a:srgbClr val="0070C0"/>
                        </a:solidFill>
                        <a:latin typeface="Cambria Math" panose="02040503050406030204" pitchFamily="18" charset="0"/>
                      </a:rPr>
                      <m:t>𝜽</m:t>
                    </m:r>
                  </m:oMath>
                </a14:m>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 metres.</a:t>
                </a:r>
                <a:endPar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xmlns="">
          <p:sp>
            <p:nvSpPr>
              <p:cNvPr id="19" name="Text Placeholder 5">
                <a:extLst>
                  <a:ext uri="{FF2B5EF4-FFF2-40B4-BE49-F238E27FC236}">
                    <a16:creationId xmlns:a16="http://schemas.microsoft.com/office/drawing/2014/main" id="{5BC71365-561C-4DD9-91C1-26963EE150BB}"/>
                  </a:ext>
                </a:extLst>
              </p:cNvPr>
              <p:cNvSpPr txBox="1">
                <a:spLocks noRot="1" noChangeAspect="1" noMove="1" noResize="1" noEditPoints="1" noAdjustHandles="1" noChangeArrowheads="1" noChangeShapeType="1" noTextEdit="1"/>
              </p:cNvSpPr>
              <p:nvPr/>
            </p:nvSpPr>
            <p:spPr>
              <a:xfrm>
                <a:off x="319463" y="914840"/>
                <a:ext cx="11212895" cy="785599"/>
              </a:xfrm>
              <a:prstGeom prst="rect">
                <a:avLst/>
              </a:prstGeom>
              <a:blipFill>
                <a:blip r:embed="rId3"/>
                <a:stretch>
                  <a:fillRect l="-435" t="-3876" r="-435"/>
                </a:stretch>
              </a:blipFill>
            </p:spPr>
            <p:txBody>
              <a:bodyPr/>
              <a:lstStyle/>
              <a:p>
                <a:r>
                  <a:rPr lang="en-NZ">
                    <a:noFill/>
                  </a:rPr>
                  <a:t> </a:t>
                </a:r>
              </a:p>
            </p:txBody>
          </p:sp>
        </mc:Fallback>
      </mc:AlternateContent>
      <p:sp>
        <p:nvSpPr>
          <p:cNvPr id="22" name="Text Placeholder 5">
            <a:extLst>
              <a:ext uri="{FF2B5EF4-FFF2-40B4-BE49-F238E27FC236}">
                <a16:creationId xmlns:a16="http://schemas.microsoft.com/office/drawing/2014/main" id="{E4C7AB13-4486-437A-BDFC-83847AACEDFD}"/>
              </a:ext>
            </a:extLst>
          </p:cNvPr>
          <p:cNvSpPr txBox="1">
            <a:spLocks/>
          </p:cNvSpPr>
          <p:nvPr/>
        </p:nvSpPr>
        <p:spPr>
          <a:xfrm>
            <a:off x="741498" y="1582072"/>
            <a:ext cx="10739311"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X</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The</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distance in </a:t>
            </a:r>
            <a:r>
              <a:rPr kumimoji="1" lang="en-US" altLang="ja-JP" sz="1800"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rPr>
              <a:t>metres</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between input addresses and matched addresses (i.e. the error of the geocoder)</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15C4524B-702E-4F4B-9E3A-1F87A9486CEB}"/>
                  </a:ext>
                </a:extLst>
              </p:cNvPr>
              <p:cNvSpPr txBox="1">
                <a:spLocks/>
              </p:cNvSpPr>
              <p:nvPr/>
            </p:nvSpPr>
            <p:spPr>
              <a:xfrm>
                <a:off x="741499" y="2019624"/>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a:t>
                </a:r>
                <a:r>
                  <a:rPr lang="en-NZ" altLang="ja-JP" sz="1800" dirty="0">
                    <a:solidFill>
                      <a:prstClr val="black"/>
                    </a:solidFill>
                  </a:rPr>
                  <a:t>the distance such that 95% of addresses are geocoded correct to within </a:t>
                </a:r>
                <a:r>
                  <a:rPr lang="ja-JP" altLang="en-NZ" sz="1800" dirty="0">
                    <a:solidFill>
                      <a:prstClr val="black"/>
                    </a:solidFill>
                  </a:rPr>
                  <a:t>𝜽 </a:t>
                </a:r>
                <a:r>
                  <a:rPr lang="en-NZ" altLang="ja-JP" sz="1800" dirty="0">
                    <a:solidFill>
                      <a:prstClr val="black"/>
                    </a:solidFill>
                  </a:rPr>
                  <a:t>metres.</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4" name="Text Placeholder 5">
                <a:extLst>
                  <a:ext uri="{FF2B5EF4-FFF2-40B4-BE49-F238E27FC236}">
                    <a16:creationId xmlns:a16="http://schemas.microsoft.com/office/drawing/2014/main" id="{15C4524B-702E-4F4B-9E3A-1F87A9486CEB}"/>
                  </a:ext>
                </a:extLst>
              </p:cNvPr>
              <p:cNvSpPr txBox="1">
                <a:spLocks noRot="1" noChangeAspect="1" noMove="1" noResize="1" noEditPoints="1" noAdjustHandles="1" noChangeArrowheads="1" noChangeShapeType="1" noTextEdit="1"/>
              </p:cNvSpPr>
              <p:nvPr/>
            </p:nvSpPr>
            <p:spPr>
              <a:xfrm>
                <a:off x="741499" y="2019624"/>
                <a:ext cx="8649668" cy="507731"/>
              </a:xfrm>
              <a:prstGeom prst="rect">
                <a:avLst/>
              </a:prstGeom>
              <a:blipFill>
                <a:blip r:embed="rId4"/>
                <a:stretch>
                  <a:fillRect t="-8333"/>
                </a:stretch>
              </a:blipFill>
            </p:spPr>
            <p:txBody>
              <a:bodyPr/>
              <a:lstStyle/>
              <a:p>
                <a:r>
                  <a:rPr lang="en-NZ">
                    <a:noFill/>
                  </a:rPr>
                  <a:t> </a:t>
                </a:r>
              </a:p>
            </p:txBody>
          </p:sp>
        </mc:Fallback>
      </mc:AlternateContent>
      <p:pic>
        <p:nvPicPr>
          <p:cNvPr id="9" name="Picture 8">
            <a:extLst>
              <a:ext uri="{FF2B5EF4-FFF2-40B4-BE49-F238E27FC236}">
                <a16:creationId xmlns:a16="http://schemas.microsoft.com/office/drawing/2014/main" id="{9D11D6C6-5945-4DA8-9D1D-8006C8A47872}"/>
              </a:ext>
            </a:extLst>
          </p:cNvPr>
          <p:cNvPicPr>
            <a:picLocks noChangeAspect="1"/>
          </p:cNvPicPr>
          <p:nvPr/>
        </p:nvPicPr>
        <p:blipFill>
          <a:blip r:embed="rId5"/>
          <a:stretch>
            <a:fillRect/>
          </a:stretch>
        </p:blipFill>
        <p:spPr>
          <a:xfrm>
            <a:off x="638175" y="3490159"/>
            <a:ext cx="10915650" cy="2143125"/>
          </a:xfrm>
          <a:prstGeom prst="rect">
            <a:avLst/>
          </a:prstGeom>
        </p:spPr>
      </p:pic>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97172896-1BC1-4EA0-B2C5-19CC5C16B80E}"/>
                  </a:ext>
                </a:extLst>
              </p:cNvPr>
              <p:cNvSpPr txBox="1">
                <a:spLocks/>
              </p:cNvSpPr>
              <p:nvPr/>
            </p:nvSpPr>
            <p:spPr>
              <a:xfrm>
                <a:off x="741499" y="2616056"/>
                <a:ext cx="10739310" cy="6494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US" altLang="ja-JP" sz="1800" dirty="0">
                    <a:solidFill>
                      <a:prstClr val="black"/>
                    </a:solidFill>
                    <a:latin typeface="Calibri" panose="020F0502020204030204"/>
                    <a:ea typeface="游ゴシック" panose="020B0400000000000000" pitchFamily="34" charset="-128"/>
                  </a:rPr>
                  <a:t>In order to estimate </a:t>
                </a:r>
                <a14:m>
                  <m:oMath xmlns:m="http://schemas.openxmlformats.org/officeDocument/2006/math">
                    <m:r>
                      <a:rPr lang="en-NZ" altLang="ja-JP" sz="1800" b="1" i="1" smtClean="0">
                        <a:solidFill>
                          <a:prstClr val="black"/>
                        </a:solidFill>
                        <a:latin typeface="Cambria Math" panose="02040503050406030204" pitchFamily="18" charset="0"/>
                        <a:ea typeface="游ゴシック" panose="020B0400000000000000" pitchFamily="34" charset="-128"/>
                      </a:rPr>
                      <m:t>𝜽</m:t>
                    </m:r>
                  </m:oMath>
                </a14:m>
                <a:r>
                  <a:rPr lang="en-US" altLang="ja-JP" sz="1800" dirty="0">
                    <a:solidFill>
                      <a:prstClr val="black"/>
                    </a:solidFill>
                    <a:latin typeface="Calibri" panose="020F0502020204030204"/>
                    <a:ea typeface="游ゴシック" panose="020B0400000000000000" pitchFamily="34" charset="-128"/>
                  </a:rPr>
                  <a:t>, we take a sample of 4,500 addresses (whose geocoordinates are already known) and feed them into the geocoder.</a:t>
                </a:r>
              </a:p>
              <a:p>
                <a:pPr lvl="0" algn="just">
                  <a:lnSpc>
                    <a:spcPct val="100000"/>
                  </a:lnSpc>
                  <a:defRPr/>
                </a:pP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30" name="Text Placeholder 5">
                <a:extLst>
                  <a:ext uri="{FF2B5EF4-FFF2-40B4-BE49-F238E27FC236}">
                    <a16:creationId xmlns:a16="http://schemas.microsoft.com/office/drawing/2014/main" id="{97172896-1BC1-4EA0-B2C5-19CC5C16B80E}"/>
                  </a:ext>
                </a:extLst>
              </p:cNvPr>
              <p:cNvSpPr txBox="1">
                <a:spLocks noRot="1" noChangeAspect="1" noMove="1" noResize="1" noEditPoints="1" noAdjustHandles="1" noChangeArrowheads="1" noChangeShapeType="1" noTextEdit="1"/>
              </p:cNvSpPr>
              <p:nvPr/>
            </p:nvSpPr>
            <p:spPr>
              <a:xfrm>
                <a:off x="741499" y="2616056"/>
                <a:ext cx="10739310" cy="649460"/>
              </a:xfrm>
              <a:prstGeom prst="rect">
                <a:avLst/>
              </a:prstGeom>
              <a:blipFill>
                <a:blip r:embed="rId6"/>
                <a:stretch>
                  <a:fillRect l="-511" t="-4673" r="-511" b="-13084"/>
                </a:stretch>
              </a:blipFill>
            </p:spPr>
            <p:txBody>
              <a:bodyPr/>
              <a:lstStyle/>
              <a:p>
                <a:r>
                  <a:rPr lang="en-NZ">
                    <a:noFill/>
                  </a:rPr>
                  <a:t> </a:t>
                </a:r>
              </a:p>
            </p:txBody>
          </p:sp>
        </mc:Fallback>
      </mc:AlternateContent>
    </p:spTree>
    <p:extLst>
      <p:ext uri="{BB962C8B-B14F-4D97-AF65-F5344CB8AC3E}">
        <p14:creationId xmlns:p14="http://schemas.microsoft.com/office/powerpoint/2010/main" val="404431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.2b – Geocoder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F905A341-0C92-4046-BF7A-C680B334CB5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Geocoder Accuracy (Bootstrapping Example)</a:t>
            </a:r>
            <a:r>
              <a:rPr lang="en-US" altLang="ja-JP" sz="1200" dirty="0">
                <a:solidFill>
                  <a:srgbClr val="C00000"/>
                </a:solidFill>
              </a:rPr>
              <a:t>.</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5BC71365-561C-4DD9-91C1-26963EE150BB}"/>
                  </a:ext>
                </a:extLst>
              </p:cNvPr>
              <p:cNvSpPr txBox="1">
                <a:spLocks/>
              </p:cNvSpPr>
              <p:nvPr/>
            </p:nvSpPr>
            <p:spPr>
              <a:xfrm>
                <a:off x="319463" y="914840"/>
                <a:ext cx="11212895" cy="7855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Dr Ward builds a geocoder. His boss asks him to calculate the distance </a:t>
                </a:r>
                <a14:m>
                  <m:oMath xmlns:m="http://schemas.openxmlformats.org/officeDocument/2006/math">
                    <m:r>
                      <a:rPr lang="en-NZ" altLang="ja-JP" sz="1800" b="1" i="1">
                        <a:solidFill>
                          <a:srgbClr val="0070C0"/>
                        </a:solidFill>
                        <a:latin typeface="Cambria Math" panose="02040503050406030204" pitchFamily="18" charset="0"/>
                      </a:rPr>
                      <m:t>𝜽</m:t>
                    </m:r>
                    <m:r>
                      <a:rPr lang="en-NZ" altLang="ja-JP" sz="1800" b="1" i="1">
                        <a:solidFill>
                          <a:srgbClr val="0070C0"/>
                        </a:solidFill>
                        <a:latin typeface="Cambria Math" panose="02040503050406030204" pitchFamily="18" charset="0"/>
                      </a:rPr>
                      <m:t> </m:t>
                    </m:r>
                  </m:oMath>
                </a14:m>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such that 95% of addresses</a:t>
                </a:r>
                <a:r>
                  <a:rPr kumimoji="1" lang="en-NZ" altLang="ja-JP" sz="180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rPr>
                  <a:t> geocoded are correct to within </a:t>
                </a:r>
                <a14:m>
                  <m:oMath xmlns:m="http://schemas.openxmlformats.org/officeDocument/2006/math">
                    <m:r>
                      <a:rPr lang="en-NZ" altLang="ja-JP" sz="1800" b="1" i="1">
                        <a:solidFill>
                          <a:srgbClr val="0070C0"/>
                        </a:solidFill>
                        <a:latin typeface="Cambria Math" panose="02040503050406030204" pitchFamily="18" charset="0"/>
                      </a:rPr>
                      <m:t>𝜽</m:t>
                    </m:r>
                  </m:oMath>
                </a14:m>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 metres.</a:t>
                </a:r>
                <a:endPar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xmlns="">
          <p:sp>
            <p:nvSpPr>
              <p:cNvPr id="19" name="Text Placeholder 5">
                <a:extLst>
                  <a:ext uri="{FF2B5EF4-FFF2-40B4-BE49-F238E27FC236}">
                    <a16:creationId xmlns:a16="http://schemas.microsoft.com/office/drawing/2014/main" id="{5BC71365-561C-4DD9-91C1-26963EE150BB}"/>
                  </a:ext>
                </a:extLst>
              </p:cNvPr>
              <p:cNvSpPr txBox="1">
                <a:spLocks noRot="1" noChangeAspect="1" noMove="1" noResize="1" noEditPoints="1" noAdjustHandles="1" noChangeArrowheads="1" noChangeShapeType="1" noTextEdit="1"/>
              </p:cNvSpPr>
              <p:nvPr/>
            </p:nvSpPr>
            <p:spPr>
              <a:xfrm>
                <a:off x="319463" y="914840"/>
                <a:ext cx="11212895" cy="785599"/>
              </a:xfrm>
              <a:prstGeom prst="rect">
                <a:avLst/>
              </a:prstGeom>
              <a:blipFill>
                <a:blip r:embed="rId3"/>
                <a:stretch>
                  <a:fillRect l="-435" t="-3876" r="-435"/>
                </a:stretch>
              </a:blipFill>
            </p:spPr>
            <p:txBody>
              <a:bodyPr/>
              <a:lstStyle/>
              <a:p>
                <a:r>
                  <a:rPr lang="en-NZ">
                    <a:noFill/>
                  </a:rPr>
                  <a:t> </a:t>
                </a:r>
              </a:p>
            </p:txBody>
          </p:sp>
        </mc:Fallback>
      </mc:AlternateContent>
      <p:sp>
        <p:nvSpPr>
          <p:cNvPr id="22" name="Text Placeholder 5">
            <a:extLst>
              <a:ext uri="{FF2B5EF4-FFF2-40B4-BE49-F238E27FC236}">
                <a16:creationId xmlns:a16="http://schemas.microsoft.com/office/drawing/2014/main" id="{E4C7AB13-4486-437A-BDFC-83847AACEDFD}"/>
              </a:ext>
            </a:extLst>
          </p:cNvPr>
          <p:cNvSpPr txBox="1">
            <a:spLocks/>
          </p:cNvSpPr>
          <p:nvPr/>
        </p:nvSpPr>
        <p:spPr>
          <a:xfrm>
            <a:off x="741498" y="1582072"/>
            <a:ext cx="10739311"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X</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The</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distance in </a:t>
            </a:r>
            <a:r>
              <a:rPr kumimoji="1" lang="en-US" altLang="ja-JP" sz="1800"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rPr>
              <a:t>metres</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between input addresses and matched addresses (i.e. the error of the geocoder)</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15C4524B-702E-4F4B-9E3A-1F87A9486CEB}"/>
                  </a:ext>
                </a:extLst>
              </p:cNvPr>
              <p:cNvSpPr txBox="1">
                <a:spLocks/>
              </p:cNvSpPr>
              <p:nvPr/>
            </p:nvSpPr>
            <p:spPr>
              <a:xfrm>
                <a:off x="741499" y="2019624"/>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a:t>
                </a:r>
                <a:r>
                  <a:rPr lang="en-NZ" altLang="ja-JP" sz="1800" dirty="0">
                    <a:solidFill>
                      <a:prstClr val="black"/>
                    </a:solidFill>
                  </a:rPr>
                  <a:t>the distance such that 95% of addresses are geocoded correct to within </a:t>
                </a:r>
                <a:r>
                  <a:rPr lang="ja-JP" altLang="en-NZ" sz="1800" dirty="0">
                    <a:solidFill>
                      <a:prstClr val="black"/>
                    </a:solidFill>
                  </a:rPr>
                  <a:t>𝜽 </a:t>
                </a:r>
                <a:r>
                  <a:rPr lang="en-NZ" altLang="ja-JP" sz="1800" dirty="0">
                    <a:solidFill>
                      <a:prstClr val="black"/>
                    </a:solidFill>
                  </a:rPr>
                  <a:t>metres.</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4" name="Text Placeholder 5">
                <a:extLst>
                  <a:ext uri="{FF2B5EF4-FFF2-40B4-BE49-F238E27FC236}">
                    <a16:creationId xmlns:a16="http://schemas.microsoft.com/office/drawing/2014/main" id="{15C4524B-702E-4F4B-9E3A-1F87A9486CEB}"/>
                  </a:ext>
                </a:extLst>
              </p:cNvPr>
              <p:cNvSpPr txBox="1">
                <a:spLocks noRot="1" noChangeAspect="1" noMove="1" noResize="1" noEditPoints="1" noAdjustHandles="1" noChangeArrowheads="1" noChangeShapeType="1" noTextEdit="1"/>
              </p:cNvSpPr>
              <p:nvPr/>
            </p:nvSpPr>
            <p:spPr>
              <a:xfrm>
                <a:off x="741499" y="2019624"/>
                <a:ext cx="8649668" cy="507731"/>
              </a:xfrm>
              <a:prstGeom prst="rect">
                <a:avLst/>
              </a:prstGeom>
              <a:blipFill>
                <a:blip r:embed="rId4"/>
                <a:stretch>
                  <a:fillRect t="-8333"/>
                </a:stretch>
              </a:blipFill>
            </p:spPr>
            <p:txBody>
              <a:bodyPr/>
              <a:lstStyle/>
              <a:p>
                <a:r>
                  <a:rPr lang="en-NZ">
                    <a:noFill/>
                  </a:rPr>
                  <a:t> </a:t>
                </a:r>
              </a:p>
            </p:txBody>
          </p:sp>
        </mc:Fallback>
      </mc:AlternateContent>
      <p:pic>
        <p:nvPicPr>
          <p:cNvPr id="3" name="Picture 2">
            <a:extLst>
              <a:ext uri="{FF2B5EF4-FFF2-40B4-BE49-F238E27FC236}">
                <a16:creationId xmlns:a16="http://schemas.microsoft.com/office/drawing/2014/main" id="{58FF0153-A4EF-4316-8428-CF9A1995F7B0}"/>
              </a:ext>
            </a:extLst>
          </p:cNvPr>
          <p:cNvPicPr>
            <a:picLocks noChangeAspect="1"/>
          </p:cNvPicPr>
          <p:nvPr/>
        </p:nvPicPr>
        <p:blipFill>
          <a:blip r:embed="rId5"/>
          <a:stretch>
            <a:fillRect/>
          </a:stretch>
        </p:blipFill>
        <p:spPr>
          <a:xfrm>
            <a:off x="5347750" y="2467509"/>
            <a:ext cx="6184608" cy="4019995"/>
          </a:xfrm>
          <a:prstGeom prst="rect">
            <a:avLst/>
          </a:prstGeom>
        </p:spPr>
      </p:pic>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30CAC29E-C35C-483A-9262-2B9CA52530CE}"/>
                  </a:ext>
                </a:extLst>
              </p:cNvPr>
              <p:cNvSpPr txBox="1">
                <a:spLocks/>
              </p:cNvSpPr>
              <p:nvPr/>
            </p:nvSpPr>
            <p:spPr>
              <a:xfrm>
                <a:off x="741499" y="2690495"/>
                <a:ext cx="4309680" cy="26580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US" altLang="ja-JP" sz="1800" b="1" dirty="0">
                    <a:solidFill>
                      <a:prstClr val="black"/>
                    </a:solidFill>
                    <a:latin typeface="Calibri" panose="020F0502020204030204"/>
                    <a:ea typeface="游ゴシック" panose="020B0400000000000000" pitchFamily="34" charset="-128"/>
                  </a:rPr>
                  <a:t>For this sample,</a:t>
                </a:r>
                <a:r>
                  <a:rPr lang="en-US" altLang="ja-JP" sz="1800" dirty="0">
                    <a:solidFill>
                      <a:prstClr val="black"/>
                    </a:solidFill>
                    <a:latin typeface="Calibri" panose="020F0502020204030204"/>
                    <a:ea typeface="游ゴシック" panose="020B0400000000000000" pitchFamily="34" charset="-128"/>
                  </a:rPr>
                  <a:t> the distance between the actual input addresses and matched addresses (i.e. the geocoder error) is found to be less than 698m in 95% of cases.</a:t>
                </a:r>
              </a:p>
              <a:p>
                <a:pPr lvl="0" algn="just">
                  <a:lnSpc>
                    <a:spcPct val="100000"/>
                  </a:lnSpc>
                  <a:defRPr/>
                </a:pPr>
                <a:endParaRPr lang="en-US" altLang="ja-JP" sz="1800" dirty="0">
                  <a:solidFill>
                    <a:prstClr val="black"/>
                  </a:solidFill>
                  <a:latin typeface="Calibri" panose="020F0502020204030204"/>
                  <a:ea typeface="游ゴシック" panose="020B0400000000000000" pitchFamily="34" charset="-128"/>
                </a:endParaRPr>
              </a:p>
              <a:p>
                <a:pPr lvl="0" algn="just">
                  <a:lnSpc>
                    <a:spcPct val="100000"/>
                  </a:lnSpc>
                  <a:defRPr/>
                </a:pPr>
                <a:r>
                  <a:rPr lang="en-US" altLang="ja-JP" sz="1800" dirty="0">
                    <a:solidFill>
                      <a:prstClr val="black"/>
                    </a:solidFill>
                    <a:latin typeface="Calibri" panose="020F0502020204030204"/>
                    <a:ea typeface="游ゴシック" panose="020B0400000000000000" pitchFamily="34" charset="-128"/>
                  </a:rPr>
                  <a:t>i.e. </a:t>
                </a:r>
                <a14:m>
                  <m:oMath xmlns:m="http://schemas.openxmlformats.org/officeDocument/2006/math">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oMath>
                </a14:m>
                <a:r>
                  <a:rPr lang="en-US" altLang="ja-JP" sz="1800" dirty="0">
                    <a:solidFill>
                      <a:prstClr val="black"/>
                    </a:solidFill>
                    <a:latin typeface="Calibri" panose="020F0502020204030204"/>
                    <a:ea typeface="游ゴシック" panose="020B0400000000000000" pitchFamily="34" charset="-128"/>
                  </a:rPr>
                  <a:t> </a:t>
                </a:r>
                <a:r>
                  <a:rPr lang="en-US" altLang="ja-JP" sz="1800" b="1" dirty="0">
                    <a:solidFill>
                      <a:prstClr val="black"/>
                    </a:solidFill>
                    <a:latin typeface="Calibri" panose="020F0502020204030204"/>
                    <a:ea typeface="游ゴシック" panose="020B0400000000000000" pitchFamily="34" charset="-128"/>
                  </a:rPr>
                  <a:t>= 698m</a:t>
                </a:r>
                <a:r>
                  <a:rPr lang="en-US" altLang="ja-JP" sz="1800" dirty="0">
                    <a:solidFill>
                      <a:prstClr val="black"/>
                    </a:solidFill>
                    <a:latin typeface="Calibri" panose="020F0502020204030204"/>
                    <a:ea typeface="游ゴシック" panose="020B0400000000000000" pitchFamily="34" charset="-128"/>
                  </a:rPr>
                  <a:t> </a:t>
                </a: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5" name="Text Placeholder 5">
                <a:extLst>
                  <a:ext uri="{FF2B5EF4-FFF2-40B4-BE49-F238E27FC236}">
                    <a16:creationId xmlns:a16="http://schemas.microsoft.com/office/drawing/2014/main" id="{30CAC29E-C35C-483A-9262-2B9CA52530CE}"/>
                  </a:ext>
                </a:extLst>
              </p:cNvPr>
              <p:cNvSpPr txBox="1">
                <a:spLocks noRot="1" noChangeAspect="1" noMove="1" noResize="1" noEditPoints="1" noAdjustHandles="1" noChangeArrowheads="1" noChangeShapeType="1" noTextEdit="1"/>
              </p:cNvSpPr>
              <p:nvPr/>
            </p:nvSpPr>
            <p:spPr>
              <a:xfrm>
                <a:off x="741499" y="2690495"/>
                <a:ext cx="4309680" cy="2658020"/>
              </a:xfrm>
              <a:prstGeom prst="rect">
                <a:avLst/>
              </a:prstGeom>
              <a:blipFill>
                <a:blip r:embed="rId6"/>
                <a:stretch>
                  <a:fillRect l="-1273" t="-1147" r="-1132"/>
                </a:stretch>
              </a:blipFill>
            </p:spPr>
            <p:txBody>
              <a:bodyPr/>
              <a:lstStyle/>
              <a:p>
                <a:r>
                  <a:rPr lang="en-NZ">
                    <a:noFill/>
                  </a:rPr>
                  <a:t> </a:t>
                </a:r>
              </a:p>
            </p:txBody>
          </p:sp>
        </mc:Fallback>
      </mc:AlternateContent>
      <p:sp>
        <p:nvSpPr>
          <p:cNvPr id="27" name="Text Placeholder 5">
            <a:extLst>
              <a:ext uri="{FF2B5EF4-FFF2-40B4-BE49-F238E27FC236}">
                <a16:creationId xmlns:a16="http://schemas.microsoft.com/office/drawing/2014/main" id="{3271EFEB-234E-4A20-9650-DCB0926D3026}"/>
              </a:ext>
            </a:extLst>
          </p:cNvPr>
          <p:cNvSpPr txBox="1">
            <a:spLocks/>
          </p:cNvSpPr>
          <p:nvPr/>
        </p:nvSpPr>
        <p:spPr>
          <a:xfrm>
            <a:off x="9815987" y="4166412"/>
            <a:ext cx="809213" cy="3957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0070C0"/>
                </a:solidFill>
              </a:rPr>
              <a:t>698m</a:t>
            </a:r>
          </a:p>
        </p:txBody>
      </p:sp>
    </p:spTree>
    <p:extLst>
      <p:ext uri="{BB962C8B-B14F-4D97-AF65-F5344CB8AC3E}">
        <p14:creationId xmlns:p14="http://schemas.microsoft.com/office/powerpoint/2010/main" val="2379835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.2b – Geocoder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F905A341-0C92-4046-BF7A-C680B334CB5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Geocoder Accuracy (Bootstrapping Example)</a:t>
            </a:r>
            <a:r>
              <a:rPr lang="en-US" altLang="ja-JP" sz="1200" dirty="0">
                <a:solidFill>
                  <a:srgbClr val="C00000"/>
                </a:solidFill>
              </a:rPr>
              <a:t>.</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5BC71365-561C-4DD9-91C1-26963EE150BB}"/>
                  </a:ext>
                </a:extLst>
              </p:cNvPr>
              <p:cNvSpPr txBox="1">
                <a:spLocks/>
              </p:cNvSpPr>
              <p:nvPr/>
            </p:nvSpPr>
            <p:spPr>
              <a:xfrm>
                <a:off x="319463" y="914840"/>
                <a:ext cx="11212895" cy="7855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Dr Ward builds a geocoder. His boss asks him to calculate the distance </a:t>
                </a:r>
                <a14:m>
                  <m:oMath xmlns:m="http://schemas.openxmlformats.org/officeDocument/2006/math">
                    <m:r>
                      <a:rPr lang="en-NZ" altLang="ja-JP" sz="1800" b="1" i="1">
                        <a:solidFill>
                          <a:srgbClr val="0070C0"/>
                        </a:solidFill>
                        <a:latin typeface="Cambria Math" panose="02040503050406030204" pitchFamily="18" charset="0"/>
                      </a:rPr>
                      <m:t>𝜽</m:t>
                    </m:r>
                    <m:r>
                      <a:rPr lang="en-NZ" altLang="ja-JP" sz="1800" b="1" i="1">
                        <a:solidFill>
                          <a:srgbClr val="0070C0"/>
                        </a:solidFill>
                        <a:latin typeface="Cambria Math" panose="02040503050406030204" pitchFamily="18" charset="0"/>
                      </a:rPr>
                      <m:t> </m:t>
                    </m:r>
                  </m:oMath>
                </a14:m>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such that 95% of addresses</a:t>
                </a:r>
                <a:r>
                  <a:rPr kumimoji="1" lang="en-NZ" altLang="ja-JP" sz="180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rPr>
                  <a:t> geocoded are correct to within </a:t>
                </a:r>
                <a14:m>
                  <m:oMath xmlns:m="http://schemas.openxmlformats.org/officeDocument/2006/math">
                    <m:r>
                      <a:rPr lang="en-NZ" altLang="ja-JP" sz="1800" b="1" i="1">
                        <a:solidFill>
                          <a:srgbClr val="0070C0"/>
                        </a:solidFill>
                        <a:latin typeface="Cambria Math" panose="02040503050406030204" pitchFamily="18" charset="0"/>
                      </a:rPr>
                      <m:t>𝜽</m:t>
                    </m:r>
                  </m:oMath>
                </a14:m>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 metres.</a:t>
                </a:r>
                <a:endPar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xmlns="">
          <p:sp>
            <p:nvSpPr>
              <p:cNvPr id="19" name="Text Placeholder 5">
                <a:extLst>
                  <a:ext uri="{FF2B5EF4-FFF2-40B4-BE49-F238E27FC236}">
                    <a16:creationId xmlns:a16="http://schemas.microsoft.com/office/drawing/2014/main" id="{5BC71365-561C-4DD9-91C1-26963EE150BB}"/>
                  </a:ext>
                </a:extLst>
              </p:cNvPr>
              <p:cNvSpPr txBox="1">
                <a:spLocks noRot="1" noChangeAspect="1" noMove="1" noResize="1" noEditPoints="1" noAdjustHandles="1" noChangeArrowheads="1" noChangeShapeType="1" noTextEdit="1"/>
              </p:cNvSpPr>
              <p:nvPr/>
            </p:nvSpPr>
            <p:spPr>
              <a:xfrm>
                <a:off x="319463" y="914840"/>
                <a:ext cx="11212895" cy="785599"/>
              </a:xfrm>
              <a:prstGeom prst="rect">
                <a:avLst/>
              </a:prstGeom>
              <a:blipFill>
                <a:blip r:embed="rId3"/>
                <a:stretch>
                  <a:fillRect l="-435" t="-3876" r="-435"/>
                </a:stretch>
              </a:blipFill>
            </p:spPr>
            <p:txBody>
              <a:bodyPr/>
              <a:lstStyle/>
              <a:p>
                <a:r>
                  <a:rPr lang="en-NZ">
                    <a:noFill/>
                  </a:rPr>
                  <a:t> </a:t>
                </a:r>
              </a:p>
            </p:txBody>
          </p:sp>
        </mc:Fallback>
      </mc:AlternateContent>
      <p:sp>
        <p:nvSpPr>
          <p:cNvPr id="22" name="Text Placeholder 5">
            <a:extLst>
              <a:ext uri="{FF2B5EF4-FFF2-40B4-BE49-F238E27FC236}">
                <a16:creationId xmlns:a16="http://schemas.microsoft.com/office/drawing/2014/main" id="{E4C7AB13-4486-437A-BDFC-83847AACEDFD}"/>
              </a:ext>
            </a:extLst>
          </p:cNvPr>
          <p:cNvSpPr txBox="1">
            <a:spLocks/>
          </p:cNvSpPr>
          <p:nvPr/>
        </p:nvSpPr>
        <p:spPr>
          <a:xfrm>
            <a:off x="319463" y="1700439"/>
            <a:ext cx="11212895"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However, how do we know that this wasn’t just a ‘good’ sample?</a:t>
            </a: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8DE43AB8-618E-4462-A4F5-E2CDCCE84A9D}"/>
                  </a:ext>
                </a:extLst>
              </p:cNvPr>
              <p:cNvSpPr txBox="1">
                <a:spLocks/>
              </p:cNvSpPr>
              <p:nvPr/>
            </p:nvSpPr>
            <p:spPr>
              <a:xfrm>
                <a:off x="319462" y="2215745"/>
                <a:ext cx="11212895"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We need to calculate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𝒔</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𝒆</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d>
                      <m:d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and a confidence interval for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3" name="Text Placeholder 5">
                <a:extLst>
                  <a:ext uri="{FF2B5EF4-FFF2-40B4-BE49-F238E27FC236}">
                    <a16:creationId xmlns:a16="http://schemas.microsoft.com/office/drawing/2014/main" id="{8DE43AB8-618E-4462-A4F5-E2CDCCE84A9D}"/>
                  </a:ext>
                </a:extLst>
              </p:cNvPr>
              <p:cNvSpPr txBox="1">
                <a:spLocks noRot="1" noChangeAspect="1" noMove="1" noResize="1" noEditPoints="1" noAdjustHandles="1" noChangeArrowheads="1" noChangeShapeType="1" noTextEdit="1"/>
              </p:cNvSpPr>
              <p:nvPr/>
            </p:nvSpPr>
            <p:spPr>
              <a:xfrm>
                <a:off x="319462" y="2215745"/>
                <a:ext cx="11212895" cy="507731"/>
              </a:xfrm>
              <a:prstGeom prst="rect">
                <a:avLst/>
              </a:prstGeom>
              <a:blipFill>
                <a:blip r:embed="rId5"/>
                <a:stretch>
                  <a:fillRect l="-435" t="-119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67411CC6-F47C-470B-8C60-1192877537F9}"/>
                  </a:ext>
                </a:extLst>
              </p:cNvPr>
              <p:cNvSpPr txBox="1">
                <a:spLocks/>
              </p:cNvSpPr>
              <p:nvPr/>
            </p:nvSpPr>
            <p:spPr>
              <a:xfrm>
                <a:off x="815332" y="2858228"/>
                <a:ext cx="11212895"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rPr>
                  <a:t>In this case we have no idea how </a:t>
                </a:r>
                <a14:m>
                  <m:oMath xmlns:m="http://schemas.openxmlformats.org/officeDocument/2006/math">
                    <m:acc>
                      <m:accPr>
                        <m:chr m:val="̂"/>
                        <m:ctrlPr>
                          <a:rPr lang="en-NZ" altLang="ja-JP" sz="1600" b="1" i="1">
                            <a:solidFill>
                              <a:schemeClr val="bg2">
                                <a:lumMod val="50000"/>
                              </a:schemeClr>
                            </a:solidFill>
                            <a:latin typeface="Cambria Math" panose="02040503050406030204" pitchFamily="18" charset="0"/>
                          </a:rPr>
                        </m:ctrlPr>
                      </m:accPr>
                      <m:e>
                        <m:r>
                          <a:rPr lang="en-NZ" altLang="ja-JP" sz="1600" b="1" i="1">
                            <a:solidFill>
                              <a:schemeClr val="bg2">
                                <a:lumMod val="50000"/>
                              </a:schemeClr>
                            </a:solidFill>
                            <a:latin typeface="Cambria Math" panose="02040503050406030204" pitchFamily="18" charset="0"/>
                          </a:rPr>
                          <m:t>𝜽</m:t>
                        </m:r>
                      </m:e>
                    </m:acc>
                  </m:oMath>
                </a14:m>
                <a:r>
                  <a:rPr lang="en-US" altLang="ja-JP" sz="1600" dirty="0">
                    <a:solidFill>
                      <a:schemeClr val="bg2">
                        <a:lumMod val="50000"/>
                      </a:schemeClr>
                    </a:solidFill>
                  </a:rPr>
                  <a:t> </a:t>
                </a:r>
                <a:r>
                  <a:rPr kumimoji="1" lang="en-NZ"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rPr>
                  <a:t>is distributed, </a:t>
                </a:r>
                <a:r>
                  <a:rPr kumimoji="1" lang="en-NZ" altLang="ja-JP" sz="1600" u="none" strike="noStrike" kern="1200" cap="none" spc="0" normalizeH="0" baseline="0" noProof="0" dirty="0" err="1">
                    <a:ln>
                      <a:noFill/>
                    </a:ln>
                    <a:solidFill>
                      <a:schemeClr val="bg2">
                        <a:lumMod val="50000"/>
                      </a:schemeClr>
                    </a:solidFill>
                    <a:effectLst/>
                    <a:uLnTx/>
                    <a:uFillTx/>
                    <a:latin typeface="Calibri" panose="020F0502020204030204"/>
                    <a:ea typeface="游ゴシック" panose="020B0400000000000000" pitchFamily="34" charset="-128"/>
                  </a:rPr>
                  <a:t>i.e</a:t>
                </a:r>
                <a:r>
                  <a:rPr kumimoji="1" lang="en-NZ"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rPr>
                  <a:t> we don’t know the sampling distribution. </a:t>
                </a:r>
                <a:endParaRPr kumimoji="1" lang="en-US"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mc:Choice>
        <mc:Fallback xmlns="">
          <p:sp>
            <p:nvSpPr>
              <p:cNvPr id="14" name="Text Placeholder 5">
                <a:extLst>
                  <a:ext uri="{FF2B5EF4-FFF2-40B4-BE49-F238E27FC236}">
                    <a16:creationId xmlns:a16="http://schemas.microsoft.com/office/drawing/2014/main" id="{67411CC6-F47C-470B-8C60-1192877537F9}"/>
                  </a:ext>
                </a:extLst>
              </p:cNvPr>
              <p:cNvSpPr txBox="1">
                <a:spLocks noRot="1" noChangeAspect="1" noMove="1" noResize="1" noEditPoints="1" noAdjustHandles="1" noChangeArrowheads="1" noChangeShapeType="1" noTextEdit="1"/>
              </p:cNvSpPr>
              <p:nvPr/>
            </p:nvSpPr>
            <p:spPr>
              <a:xfrm>
                <a:off x="815332" y="2858228"/>
                <a:ext cx="11212895" cy="507731"/>
              </a:xfrm>
              <a:prstGeom prst="rect">
                <a:avLst/>
              </a:prstGeom>
              <a:blipFill>
                <a:blip r:embed="rId6"/>
                <a:stretch>
                  <a:fillRect l="-326" t="-120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A2C6BAFD-F10B-4AD9-A2E3-6844EA81CC76}"/>
                  </a:ext>
                </a:extLst>
              </p:cNvPr>
              <p:cNvSpPr txBox="1">
                <a:spLocks/>
              </p:cNvSpPr>
              <p:nvPr/>
            </p:nvSpPr>
            <p:spPr>
              <a:xfrm>
                <a:off x="815333" y="3356238"/>
                <a:ext cx="10717022" cy="7447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600" dirty="0">
                    <a:solidFill>
                      <a:schemeClr val="bg2">
                        <a:lumMod val="50000"/>
                      </a:schemeClr>
                    </a:solidFill>
                    <a:latin typeface="Calibri" panose="020F0502020204030204"/>
                    <a:ea typeface="游ゴシック" panose="020B0400000000000000" pitchFamily="34" charset="-128"/>
                  </a:rPr>
                  <a:t>We </a:t>
                </a:r>
                <a:r>
                  <a:rPr lang="en-NZ" altLang="ja-JP" sz="1600" b="1" dirty="0">
                    <a:solidFill>
                      <a:schemeClr val="bg2">
                        <a:lumMod val="50000"/>
                      </a:schemeClr>
                    </a:solidFill>
                    <a:latin typeface="Calibri" panose="020F0502020204030204"/>
                    <a:ea typeface="游ゴシック" panose="020B0400000000000000" pitchFamily="34" charset="-128"/>
                  </a:rPr>
                  <a:t>could</a:t>
                </a:r>
                <a:r>
                  <a:rPr lang="en-NZ" altLang="ja-JP" sz="1600" dirty="0">
                    <a:solidFill>
                      <a:schemeClr val="bg2">
                        <a:lumMod val="50000"/>
                      </a:schemeClr>
                    </a:solidFill>
                    <a:latin typeface="Calibri" panose="020F0502020204030204"/>
                    <a:ea typeface="游ゴシック" panose="020B0400000000000000" pitchFamily="34" charset="-128"/>
                  </a:rPr>
                  <a:t> try resampling from the population, i.e. feeding 1,000 samples of 4,500 addresses into the geocoder, </a:t>
                </a:r>
                <a:br>
                  <a:rPr lang="en-NZ" altLang="ja-JP" sz="1600" dirty="0">
                    <a:solidFill>
                      <a:schemeClr val="bg2">
                        <a:lumMod val="50000"/>
                      </a:schemeClr>
                    </a:solidFill>
                    <a:latin typeface="Calibri" panose="020F0502020204030204"/>
                    <a:ea typeface="游ゴシック" panose="020B0400000000000000" pitchFamily="34" charset="-128"/>
                  </a:rPr>
                </a:br>
                <a:r>
                  <a:rPr lang="en-NZ" altLang="ja-JP" sz="1600" dirty="0">
                    <a:solidFill>
                      <a:schemeClr val="bg2">
                        <a:lumMod val="50000"/>
                      </a:schemeClr>
                    </a:solidFill>
                    <a:latin typeface="Calibri" panose="020F0502020204030204"/>
                    <a:ea typeface="游ゴシック" panose="020B0400000000000000" pitchFamily="34" charset="-128"/>
                  </a:rPr>
                  <a:t>and calculating </a:t>
                </a:r>
                <a14:m>
                  <m:oMath xmlns:m="http://schemas.openxmlformats.org/officeDocument/2006/math">
                    <m:acc>
                      <m:accPr>
                        <m:chr m:val="̂"/>
                        <m:ctrlPr>
                          <a:rPr lang="en-NZ" altLang="ja-JP" sz="1600" b="1" i="1">
                            <a:solidFill>
                              <a:schemeClr val="bg2">
                                <a:lumMod val="50000"/>
                              </a:schemeClr>
                            </a:solidFill>
                            <a:latin typeface="Cambria Math" panose="02040503050406030204" pitchFamily="18" charset="0"/>
                          </a:rPr>
                        </m:ctrlPr>
                      </m:accPr>
                      <m:e>
                        <m:r>
                          <a:rPr lang="en-NZ" altLang="ja-JP" sz="1600" b="1" i="1">
                            <a:solidFill>
                              <a:schemeClr val="bg2">
                                <a:lumMod val="50000"/>
                              </a:schemeClr>
                            </a:solidFill>
                            <a:latin typeface="Cambria Math" panose="02040503050406030204" pitchFamily="18" charset="0"/>
                          </a:rPr>
                          <m:t>𝜽</m:t>
                        </m:r>
                      </m:e>
                    </m:acc>
                  </m:oMath>
                </a14:m>
                <a:r>
                  <a:rPr lang="en-NZ" altLang="ja-JP" sz="1600" dirty="0">
                    <a:solidFill>
                      <a:schemeClr val="bg2">
                        <a:lumMod val="50000"/>
                      </a:schemeClr>
                    </a:solidFill>
                    <a:latin typeface="Calibri" panose="020F0502020204030204"/>
                    <a:ea typeface="游ゴシック" panose="020B0400000000000000" pitchFamily="34" charset="-128"/>
                  </a:rPr>
                  <a:t>  for each sample.</a:t>
                </a:r>
                <a:endParaRPr kumimoji="1" lang="en-US"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mc:Choice>
        <mc:Fallback xmlns="">
          <p:sp>
            <p:nvSpPr>
              <p:cNvPr id="15" name="Text Placeholder 5">
                <a:extLst>
                  <a:ext uri="{FF2B5EF4-FFF2-40B4-BE49-F238E27FC236}">
                    <a16:creationId xmlns:a16="http://schemas.microsoft.com/office/drawing/2014/main" id="{A2C6BAFD-F10B-4AD9-A2E3-6844EA81CC76}"/>
                  </a:ext>
                </a:extLst>
              </p:cNvPr>
              <p:cNvSpPr txBox="1">
                <a:spLocks noRot="1" noChangeAspect="1" noMove="1" noResize="1" noEditPoints="1" noAdjustHandles="1" noChangeArrowheads="1" noChangeShapeType="1" noTextEdit="1"/>
              </p:cNvSpPr>
              <p:nvPr/>
            </p:nvSpPr>
            <p:spPr>
              <a:xfrm>
                <a:off x="815333" y="3356238"/>
                <a:ext cx="10717022" cy="744755"/>
              </a:xfrm>
              <a:prstGeom prst="rect">
                <a:avLst/>
              </a:prstGeom>
              <a:blipFill>
                <a:blip r:embed="rId7"/>
                <a:stretch>
                  <a:fillRect l="-341" t="-2459" r="-284"/>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16EE231A-52D7-45BA-A890-3E3BC10258CA}"/>
              </a:ext>
            </a:extLst>
          </p:cNvPr>
          <p:cNvSpPr txBox="1">
            <a:spLocks/>
          </p:cNvSpPr>
          <p:nvPr/>
        </p:nvSpPr>
        <p:spPr>
          <a:xfrm>
            <a:off x="815331" y="4058438"/>
            <a:ext cx="11212895" cy="85072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600" dirty="0">
                <a:solidFill>
                  <a:schemeClr val="bg2">
                    <a:lumMod val="50000"/>
                  </a:schemeClr>
                </a:solidFill>
                <a:latin typeface="Calibri" panose="020F0502020204030204"/>
                <a:ea typeface="游ゴシック" panose="020B0400000000000000" pitchFamily="34" charset="-128"/>
              </a:rPr>
              <a:t>However, it takes the geocoder 30 mins to geocode 4,500 addresses. Doing this 1,000 times would take approximately</a:t>
            </a:r>
          </a:p>
          <a:p>
            <a:pPr lvl="0" algn="just">
              <a:lnSpc>
                <a:spcPct val="100000"/>
              </a:lnSpc>
              <a:defRPr/>
            </a:pPr>
            <a:endParaRPr lang="en-NZ" altLang="ja-JP" sz="200" dirty="0">
              <a:solidFill>
                <a:schemeClr val="bg2">
                  <a:lumMod val="50000"/>
                </a:schemeClr>
              </a:solidFill>
              <a:latin typeface="Calibri" panose="020F0502020204030204"/>
              <a:ea typeface="游ゴシック" panose="020B0400000000000000" pitchFamily="34" charset="-128"/>
            </a:endParaRPr>
          </a:p>
          <a:p>
            <a:pPr lvl="0" algn="just">
              <a:lnSpc>
                <a:spcPct val="100000"/>
              </a:lnSpc>
              <a:defRPr/>
            </a:pPr>
            <a:endParaRPr lang="en-NZ" altLang="ja-JP" sz="200" dirty="0">
              <a:solidFill>
                <a:schemeClr val="bg2">
                  <a:lumMod val="50000"/>
                </a:schemeClr>
              </a:solidFill>
              <a:latin typeface="Calibri" panose="020F0502020204030204"/>
              <a:ea typeface="游ゴシック" panose="020B0400000000000000" pitchFamily="34" charset="-128"/>
            </a:endParaRPr>
          </a:p>
          <a:p>
            <a:pPr lvl="0" algn="ctr">
              <a:lnSpc>
                <a:spcPct val="100000"/>
              </a:lnSpc>
              <a:defRPr/>
            </a:pPr>
            <a:r>
              <a:rPr kumimoji="1" lang="en-NZ"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rPr>
              <a:t>30</a:t>
            </a:r>
            <a:r>
              <a:rPr kumimoji="1" lang="en-NZ" altLang="ja-JP" sz="160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rPr>
              <a:t> mins x 1,000   =   500 hours   ≈   3 weeks</a:t>
            </a:r>
            <a:endParaRPr kumimoji="1" lang="en-US"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A810D3B-4B05-4166-A00B-74B6D6DC7835}"/>
                  </a:ext>
                </a:extLst>
              </p:cNvPr>
              <p:cNvSpPr txBox="1">
                <a:spLocks/>
              </p:cNvSpPr>
              <p:nvPr/>
            </p:nvSpPr>
            <p:spPr>
              <a:xfrm>
                <a:off x="489552" y="5041310"/>
                <a:ext cx="11212895" cy="85072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800" dirty="0">
                    <a:solidFill>
                      <a:prstClr val="black"/>
                    </a:solidFill>
                    <a:latin typeface="Calibri" panose="020F0502020204030204"/>
                    <a:ea typeface="游ゴシック" panose="020B0400000000000000" pitchFamily="34" charset="-128"/>
                  </a:rPr>
                  <a:t>Instead, it is much more efficient to estimate </a:t>
                </a:r>
                <a14:m>
                  <m:oMath xmlns:m="http://schemas.openxmlformats.org/officeDocument/2006/math">
                    <m:r>
                      <a:rPr lang="en-NZ" altLang="ja-JP" sz="1800" b="1" i="1">
                        <a:solidFill>
                          <a:prstClr val="black"/>
                        </a:solidFill>
                        <a:latin typeface="Cambria Math" panose="02040503050406030204" pitchFamily="18" charset="0"/>
                      </a:rPr>
                      <m:t>𝒔</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𝒆</m:t>
                    </m:r>
                    <m:r>
                      <a:rPr lang="en-NZ" altLang="ja-JP" sz="1800" b="1" i="1">
                        <a:solidFill>
                          <a:prstClr val="black"/>
                        </a:solidFill>
                        <a:latin typeface="Cambria Math" panose="02040503050406030204" pitchFamily="18" charset="0"/>
                      </a:rPr>
                      <m:t>.</m:t>
                    </m:r>
                    <m:d>
                      <m:dPr>
                        <m:ctrlPr>
                          <a:rPr lang="en-NZ" altLang="ja-JP" sz="1800" i="1">
                            <a:solidFill>
                              <a:prstClr val="black"/>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r>
                      <a:rPr lang="en-NZ" altLang="ja-JP" sz="1800" i="1">
                        <a:solidFill>
                          <a:schemeClr val="tx1"/>
                        </a:solidFill>
                        <a:latin typeface="Cambria Math" panose="02040503050406030204" pitchFamily="18" charset="0"/>
                      </a:rPr>
                      <m:t> </m:t>
                    </m:r>
                  </m:oMath>
                </a14:m>
                <a:r>
                  <a:rPr lang="en-NZ" altLang="ja-JP" sz="1800" dirty="0">
                    <a:solidFill>
                      <a:prstClr val="black"/>
                    </a:solidFill>
                    <a:latin typeface="Calibri" panose="020F0502020204030204"/>
                    <a:ea typeface="游ゴシック" panose="020B0400000000000000" pitchFamily="34" charset="-128"/>
                  </a:rPr>
                  <a:t>and construct the desired confidence interval </a:t>
                </a:r>
                <a:br>
                  <a:rPr lang="en-NZ" altLang="ja-JP" sz="1800" dirty="0">
                    <a:solidFill>
                      <a:prstClr val="black"/>
                    </a:solidFill>
                    <a:latin typeface="Calibri" panose="020F0502020204030204"/>
                    <a:ea typeface="游ゴシック" panose="020B0400000000000000" pitchFamily="34" charset="-128"/>
                  </a:rPr>
                </a:br>
                <a:r>
                  <a:rPr lang="en-NZ" altLang="ja-JP" sz="1800" dirty="0">
                    <a:solidFill>
                      <a:prstClr val="black"/>
                    </a:solidFill>
                    <a:latin typeface="Calibri" panose="020F0502020204030204"/>
                    <a:ea typeface="游ゴシック" panose="020B0400000000000000" pitchFamily="34" charset="-128"/>
                  </a:rPr>
                  <a:t>using a bootstrapping algorithm.  </a:t>
                </a: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8" name="Text Placeholder 5">
                <a:extLst>
                  <a:ext uri="{FF2B5EF4-FFF2-40B4-BE49-F238E27FC236}">
                    <a16:creationId xmlns:a16="http://schemas.microsoft.com/office/drawing/2014/main" id="{4A810D3B-4B05-4166-A00B-74B6D6DC7835}"/>
                  </a:ext>
                </a:extLst>
              </p:cNvPr>
              <p:cNvSpPr txBox="1">
                <a:spLocks noRot="1" noChangeAspect="1" noMove="1" noResize="1" noEditPoints="1" noAdjustHandles="1" noChangeArrowheads="1" noChangeShapeType="1" noTextEdit="1"/>
              </p:cNvSpPr>
              <p:nvPr/>
            </p:nvSpPr>
            <p:spPr>
              <a:xfrm>
                <a:off x="489552" y="5041310"/>
                <a:ext cx="11212895" cy="850728"/>
              </a:xfrm>
              <a:prstGeom prst="rect">
                <a:avLst/>
              </a:prstGeom>
              <a:blipFill>
                <a:blip r:embed="rId8"/>
                <a:stretch>
                  <a:fillRect l="-435" t="-1429" r="-435"/>
                </a:stretch>
              </a:blipFill>
            </p:spPr>
            <p:txBody>
              <a:bodyPr/>
              <a:lstStyle/>
              <a:p>
                <a:r>
                  <a:rPr lang="en-NZ">
                    <a:noFill/>
                  </a:rPr>
                  <a:t> </a:t>
                </a:r>
              </a:p>
            </p:txBody>
          </p:sp>
        </mc:Fallback>
      </mc:AlternateContent>
    </p:spTree>
    <p:extLst>
      <p:ext uri="{BB962C8B-B14F-4D97-AF65-F5344CB8AC3E}">
        <p14:creationId xmlns:p14="http://schemas.microsoft.com/office/powerpoint/2010/main" val="161151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.2b – Geocoder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F905A341-0C92-4046-BF7A-C680B334CB5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Geocoder Accuracy (Bootstrapping Example)</a:t>
            </a:r>
            <a:r>
              <a:rPr lang="en-US" altLang="ja-JP" sz="1200" dirty="0">
                <a:solidFill>
                  <a:srgbClr val="C00000"/>
                </a:solidFill>
              </a:rPr>
              <a:t>.</a:t>
            </a:r>
            <a:endParaRPr lang="en-US" altLang="ja-JP" sz="1200" b="1" i="1" dirty="0">
              <a:solidFill>
                <a:srgbClr val="C00000"/>
              </a:solidFill>
            </a:endParaRPr>
          </a:p>
        </p:txBody>
      </p:sp>
      <p:pic>
        <p:nvPicPr>
          <p:cNvPr id="16" name="Picture 15">
            <a:extLst>
              <a:ext uri="{FF2B5EF4-FFF2-40B4-BE49-F238E27FC236}">
                <a16:creationId xmlns:a16="http://schemas.microsoft.com/office/drawing/2014/main" id="{B443FC7D-02D7-478E-9825-31B638DB0556}"/>
              </a:ext>
            </a:extLst>
          </p:cNvPr>
          <p:cNvPicPr>
            <a:picLocks noChangeAspect="1"/>
          </p:cNvPicPr>
          <p:nvPr/>
        </p:nvPicPr>
        <p:blipFill>
          <a:blip r:embed="rId3"/>
          <a:stretch>
            <a:fillRect/>
          </a:stretch>
        </p:blipFill>
        <p:spPr>
          <a:xfrm>
            <a:off x="485140" y="1487046"/>
            <a:ext cx="4004395" cy="4350325"/>
          </a:xfrm>
          <a:prstGeom prst="rect">
            <a:avLst/>
          </a:prstGeom>
        </p:spPr>
      </p:pic>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4AB8FB-C841-4D51-B343-7B43376DB2DA}"/>
                  </a:ext>
                </a:extLst>
              </p:cNvPr>
              <p:cNvSpPr txBox="1">
                <a:spLocks/>
              </p:cNvSpPr>
              <p:nvPr/>
            </p:nvSpPr>
            <p:spPr>
              <a:xfrm>
                <a:off x="58725" y="1031009"/>
                <a:ext cx="4857224"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600" b="1" dirty="0">
                    <a:solidFill>
                      <a:prstClr val="black"/>
                    </a:solidFill>
                    <a:latin typeface="Calibri" panose="020F0502020204030204"/>
                    <a:ea typeface="游ゴシック" panose="020B0400000000000000" pitchFamily="34" charset="-128"/>
                  </a:rPr>
                  <a:t>Distribution </a:t>
                </a:r>
                <a:r>
                  <a:rPr kumimoji="1" lang="en-NZ"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of </a:t>
                </a:r>
                <a14:m>
                  <m:oMath xmlns:m="http://schemas.openxmlformats.org/officeDocument/2006/math">
                    <m:sSup>
                      <m:sSupPr>
                        <m:ctrlPr>
                          <a:rPr lang="en-NZ" altLang="ja-JP" sz="1600" b="1" i="1" smtClean="0">
                            <a:solidFill>
                              <a:schemeClr val="tx1"/>
                            </a:solidFill>
                            <a:latin typeface="Cambria Math" panose="02040503050406030204" pitchFamily="18" charset="0"/>
                          </a:rPr>
                        </m:ctrlPr>
                      </m:sSupPr>
                      <m:e>
                        <m:acc>
                          <m:accPr>
                            <m:chr m:val="̂"/>
                            <m:ctrlPr>
                              <a:rPr lang="en-NZ" altLang="ja-JP" sz="1600" b="1" i="1" smtClean="0">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𝜽</m:t>
                            </m:r>
                          </m:e>
                        </m:acc>
                      </m:e>
                      <m:sup>
                        <m:r>
                          <a:rPr lang="en-NZ" altLang="ja-JP" sz="1600" b="1" i="1" smtClean="0">
                            <a:solidFill>
                              <a:schemeClr val="tx1"/>
                            </a:solidFill>
                            <a:latin typeface="Cambria Math" panose="02040503050406030204" pitchFamily="18" charset="0"/>
                          </a:rPr>
                          <m:t>∗</m:t>
                        </m:r>
                      </m:sup>
                    </m:sSup>
                  </m:oMath>
                </a14:m>
                <a:r>
                  <a:rPr kumimoji="1" lang="en-NZ"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from 1,000 Bootstrap Samples </a:t>
                </a:r>
                <a:endParaRPr kumimoji="1" lang="en-US"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3" name="Text Placeholder 5">
                <a:extLst>
                  <a:ext uri="{FF2B5EF4-FFF2-40B4-BE49-F238E27FC236}">
                    <a16:creationId xmlns:a16="http://schemas.microsoft.com/office/drawing/2014/main" id="{BA4AB8FB-C841-4D51-B343-7B43376DB2DA}"/>
                  </a:ext>
                </a:extLst>
              </p:cNvPr>
              <p:cNvSpPr txBox="1">
                <a:spLocks noRot="1" noChangeAspect="1" noMove="1" noResize="1" noEditPoints="1" noAdjustHandles="1" noChangeArrowheads="1" noChangeShapeType="1" noTextEdit="1"/>
              </p:cNvSpPr>
              <p:nvPr/>
            </p:nvSpPr>
            <p:spPr>
              <a:xfrm>
                <a:off x="58725" y="1031009"/>
                <a:ext cx="4857224" cy="507731"/>
              </a:xfrm>
              <a:prstGeom prst="rect">
                <a:avLst/>
              </a:prstGeom>
              <a:blipFill>
                <a:blip r:embed="rId4"/>
                <a:stretch>
                  <a:fillRect t="-120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8F41C144-8C3F-456B-B453-68780057D317}"/>
              </a:ext>
            </a:extLst>
          </p:cNvPr>
          <p:cNvSpPr txBox="1">
            <a:spLocks/>
          </p:cNvSpPr>
          <p:nvPr/>
        </p:nvSpPr>
        <p:spPr>
          <a:xfrm>
            <a:off x="4980397" y="1487046"/>
            <a:ext cx="4591311" cy="86351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Symbol" panose="05050102010706020507" pitchFamily="18" charset="2"/>
              <a:buChar char="Þ"/>
              <a:defRPr/>
            </a:pPr>
            <a:r>
              <a:rPr lang="en-NZ" altLang="ja-JP" sz="1500" dirty="0">
                <a:solidFill>
                  <a:prstClr val="black"/>
                </a:solidFill>
                <a:latin typeface="Calibri" panose="020F0502020204030204"/>
                <a:ea typeface="游ゴシック" panose="020B0400000000000000" pitchFamily="34" charset="-128"/>
              </a:rPr>
              <a:t>Sampling distribution is not normal</a:t>
            </a:r>
          </a:p>
          <a:p>
            <a:pPr lvl="0">
              <a:lnSpc>
                <a:spcPct val="100000"/>
              </a:lnSpc>
              <a:defRPr/>
            </a:pPr>
            <a:r>
              <a:rPr kumimoji="1" lang="en-NZ"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Can’t use standard bootstrap confidence interval.</a:t>
            </a:r>
          </a:p>
          <a:p>
            <a:pPr lvl="0">
              <a:lnSpc>
                <a:spcPct val="100000"/>
              </a:lnSpc>
              <a:defRPr/>
            </a:pPr>
            <a:r>
              <a:rPr lang="en-NZ" altLang="ja-JP" sz="1500" dirty="0">
                <a:solidFill>
                  <a:prstClr val="black"/>
                </a:solidFill>
                <a:latin typeface="Calibri" panose="020F0502020204030204"/>
                <a:ea typeface="游ゴシック" panose="020B0400000000000000" pitchFamily="34" charset="-128"/>
              </a:rPr>
              <a:t>Create CI using percentile methods instead</a:t>
            </a:r>
            <a:endParaRPr kumimoji="1" lang="en-US"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B6D31549-E652-4D5A-BF54-3280C63119F6}"/>
                  </a:ext>
                </a:extLst>
              </p:cNvPr>
              <p:cNvSpPr txBox="1">
                <a:spLocks/>
              </p:cNvSpPr>
              <p:nvPr/>
            </p:nvSpPr>
            <p:spPr>
              <a:xfrm>
                <a:off x="4980397" y="2569791"/>
                <a:ext cx="3725838" cy="21848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u="sng" dirty="0">
                    <a:solidFill>
                      <a:schemeClr val="tx1"/>
                    </a:solidFill>
                    <a:latin typeface="Cambria Math" panose="02040503050406030204" pitchFamily="18" charset="0"/>
                  </a:rPr>
                  <a:t>Results:</a:t>
                </a:r>
              </a:p>
              <a:p>
                <a:pPr lvl="0">
                  <a:lnSpc>
                    <a:spcPct val="100000"/>
                  </a:lnSpc>
                  <a:defRPr/>
                </a:pPr>
                <a:endParaRPr lang="en-NZ" altLang="ja-JP" sz="1800" b="1" i="1" dirty="0">
                  <a:solidFill>
                    <a:schemeClr val="tx1"/>
                  </a:solidFill>
                  <a:latin typeface="Cambria Math" panose="02040503050406030204" pitchFamily="18" charset="0"/>
                </a:endParaRPr>
              </a:p>
              <a:p>
                <a:pPr lvl="0">
                  <a:lnSpc>
                    <a:spcPct val="100000"/>
                  </a:lnSpc>
                  <a:defRPr/>
                </a:pPr>
                <a14:m>
                  <m:oMathPara xmlns:m="http://schemas.openxmlformats.org/officeDocument/2006/math">
                    <m:oMathParaPr>
                      <m:jc m:val="left"/>
                    </m:oMathParaPr>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𝟔𝟗𝟖</m:t>
                      </m:r>
                      <m:r>
                        <a:rPr lang="en-NZ" altLang="ja-JP" sz="1800" b="1" i="1" smtClean="0">
                          <a:solidFill>
                            <a:schemeClr val="tx1"/>
                          </a:solidFill>
                          <a:latin typeface="Cambria Math" panose="02040503050406030204" pitchFamily="18" charset="0"/>
                        </a:rPr>
                        <m:t>𝒎</m:t>
                      </m:r>
                    </m:oMath>
                  </m:oMathPara>
                </a14:m>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14:m>
                  <m:oMath xmlns:m="http://schemas.openxmlformats.org/officeDocument/2006/math">
                    <m:r>
                      <a:rPr lang="en-NZ" altLang="ja-JP" sz="1800" b="1" i="1">
                        <a:solidFill>
                          <a:prstClr val="black"/>
                        </a:solidFill>
                        <a:latin typeface="Cambria Math" panose="02040503050406030204" pitchFamily="18" charset="0"/>
                      </a:rPr>
                      <m:t>𝒔</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𝒆</m:t>
                    </m:r>
                    <m:r>
                      <a:rPr lang="en-NZ" altLang="ja-JP" sz="1800" b="1" i="1">
                        <a:solidFill>
                          <a:prstClr val="black"/>
                        </a:solidFill>
                        <a:latin typeface="Cambria Math" panose="02040503050406030204" pitchFamily="18" charset="0"/>
                      </a:rPr>
                      <m:t>.</m:t>
                    </m:r>
                    <m:d>
                      <m:dPr>
                        <m:ctrlPr>
                          <a:rPr lang="en-NZ" altLang="ja-JP" sz="1800" i="1">
                            <a:solidFill>
                              <a:prstClr val="black"/>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oMath>
                </a14:m>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67m</a:t>
                </a:r>
              </a:p>
              <a:p>
                <a:pPr lvl="0">
                  <a:lnSpc>
                    <a:spcPct val="100000"/>
                  </a:lnSpc>
                  <a:defRPr/>
                </a:pP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r>
                  <a:rPr lang="en-US" altLang="ja-JP" sz="1800" dirty="0" err="1">
                    <a:solidFill>
                      <a:prstClr val="black"/>
                    </a:solidFill>
                    <a:latin typeface="Calibri" panose="020F0502020204030204"/>
                    <a:ea typeface="游ゴシック" panose="020B0400000000000000" pitchFamily="34" charset="-128"/>
                  </a:rPr>
                  <a:t>Efron</a:t>
                </a:r>
                <a:r>
                  <a:rPr lang="en-US" altLang="ja-JP" sz="1800" dirty="0">
                    <a:solidFill>
                      <a:prstClr val="black"/>
                    </a:solidFill>
                    <a:latin typeface="Calibri" panose="020F0502020204030204"/>
                    <a:ea typeface="游ゴシック" panose="020B0400000000000000" pitchFamily="34" charset="-128"/>
                  </a:rPr>
                  <a:t> 95% C</a:t>
                </a:r>
                <a:r>
                  <a:rPr lang="en-US" altLang="ja-JP" sz="1800" dirty="0">
                    <a:solidFill>
                      <a:prstClr val="black"/>
                    </a:solidFill>
                  </a:rPr>
                  <a:t>l: </a:t>
                </a:r>
                <a:r>
                  <a:rPr lang="en-US" altLang="ja-JP" sz="1800" b="1" dirty="0">
                    <a:solidFill>
                      <a:prstClr val="black"/>
                    </a:solidFill>
                  </a:rPr>
                  <a:t>[567.95, 813.02]</a:t>
                </a:r>
              </a:p>
              <a:p>
                <a:pPr lvl="0">
                  <a:lnSpc>
                    <a:spcPct val="100000"/>
                  </a:lnSpc>
                  <a:defRPr/>
                </a:pPr>
                <a:endParaRPr lang="en-US" altLang="ja-JP" sz="1800" b="1" dirty="0">
                  <a:solidFill>
                    <a:prstClr val="black"/>
                  </a:solidFill>
                </a:endParaRPr>
              </a:p>
              <a:p>
                <a:pPr lvl="0">
                  <a:lnSpc>
                    <a:spcPct val="100000"/>
                  </a:lnSpc>
                  <a:defRPr/>
                </a:pP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Hall </a:t>
                </a:r>
                <a:r>
                  <a:rPr lang="en-US" altLang="ja-JP" sz="1800" dirty="0">
                    <a:solidFill>
                      <a:prstClr val="black"/>
                    </a:solidFill>
                  </a:rPr>
                  <a:t>95% Cl: </a:t>
                </a:r>
                <a:r>
                  <a:rPr lang="en-US" altLang="ja-JP" sz="1800" b="1" dirty="0">
                    <a:solidFill>
                      <a:prstClr val="black"/>
                    </a:solidFill>
                  </a:rPr>
                  <a:t>[581.69, 826.75]</a:t>
                </a:r>
                <a:endPar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8" name="Text Placeholder 5">
                <a:extLst>
                  <a:ext uri="{FF2B5EF4-FFF2-40B4-BE49-F238E27FC236}">
                    <a16:creationId xmlns:a16="http://schemas.microsoft.com/office/drawing/2014/main" id="{B6D31549-E652-4D5A-BF54-3280C63119F6}"/>
                  </a:ext>
                </a:extLst>
              </p:cNvPr>
              <p:cNvSpPr txBox="1">
                <a:spLocks noRot="1" noChangeAspect="1" noMove="1" noResize="1" noEditPoints="1" noAdjustHandles="1" noChangeArrowheads="1" noChangeShapeType="1" noTextEdit="1"/>
              </p:cNvSpPr>
              <p:nvPr/>
            </p:nvSpPr>
            <p:spPr>
              <a:xfrm>
                <a:off x="4980397" y="2569791"/>
                <a:ext cx="3725838" cy="2184834"/>
              </a:xfrm>
              <a:prstGeom prst="rect">
                <a:avLst/>
              </a:prstGeom>
              <a:blipFill>
                <a:blip r:embed="rId5"/>
                <a:stretch>
                  <a:fillRect l="-1473" t="-1955" b="-24022"/>
                </a:stretch>
              </a:blipFill>
            </p:spPr>
            <p:txBody>
              <a:bodyPr/>
              <a:lstStyle/>
              <a:p>
                <a:r>
                  <a:rPr lang="en-NZ">
                    <a:noFill/>
                  </a:rPr>
                  <a:t> </a:t>
                </a:r>
              </a:p>
            </p:txBody>
          </p:sp>
        </mc:Fallback>
      </mc:AlternateContent>
    </p:spTree>
    <p:extLst>
      <p:ext uri="{BB962C8B-B14F-4D97-AF65-F5344CB8AC3E}">
        <p14:creationId xmlns:p14="http://schemas.microsoft.com/office/powerpoint/2010/main" val="192867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.2c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.2c – Coefficient of Variation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04DA2210-7352-4BC7-B383-3222B6C10BF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Coefficient of Variation (Bootstrapping Example)</a:t>
            </a:r>
            <a:r>
              <a:rPr lang="en-US" altLang="ja-JP" sz="1200" dirty="0">
                <a:solidFill>
                  <a:srgbClr val="C00000"/>
                </a:solidFill>
              </a:rPr>
              <a:t>.</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3F154862-DDA8-4225-869A-09E072A0B7BE}"/>
                  </a:ext>
                </a:extLst>
              </p:cNvPr>
              <p:cNvSpPr txBox="1">
                <a:spLocks/>
              </p:cNvSpPr>
              <p:nvPr/>
            </p:nvSpPr>
            <p:spPr>
              <a:xfrm>
                <a:off x="319463" y="914840"/>
                <a:ext cx="11212895" cy="7855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 random sample of size 30 is obtained from a population with a log-normal distribution. </a:t>
                </a:r>
                <a:r>
                  <a:rPr lang="en-NZ" altLang="ja-JP" sz="1800" dirty="0">
                    <a:solidFill>
                      <a:srgbClr val="0070C0"/>
                    </a:solidFill>
                    <a:latin typeface="Calibri" panose="020F0502020204030204"/>
                    <a:ea typeface="游ゴシック" panose="020B0400000000000000" pitchFamily="34" charset="-128"/>
                  </a:rPr>
                  <a:t>We wish to create a confidence interval for the coefficient of variation </a:t>
                </a:r>
                <a14:m>
                  <m:oMath xmlns:m="http://schemas.openxmlformats.org/officeDocument/2006/math">
                    <m:r>
                      <a:rPr lang="en-NZ" altLang="ja-JP" sz="1800" b="0" i="1" smtClean="0">
                        <a:solidFill>
                          <a:srgbClr val="0070C0"/>
                        </a:solidFill>
                        <a:latin typeface="Cambria Math" panose="02040503050406030204" pitchFamily="18" charset="0"/>
                        <a:ea typeface="游ゴシック" panose="020B0400000000000000" pitchFamily="34" charset="-128"/>
                      </a:rPr>
                      <m:t>(</m:t>
                    </m:r>
                    <m:r>
                      <a:rPr lang="en-NZ" altLang="ja-JP" sz="1800" b="1" i="1" smtClean="0">
                        <a:solidFill>
                          <a:srgbClr val="0070C0"/>
                        </a:solidFill>
                        <a:latin typeface="Cambria Math" panose="02040503050406030204" pitchFamily="18" charset="0"/>
                        <a:ea typeface="游ゴシック" panose="020B0400000000000000" pitchFamily="34" charset="-128"/>
                      </a:rPr>
                      <m:t>𝜽</m:t>
                    </m:r>
                    <m:r>
                      <a:rPr lang="en-NZ" altLang="ja-JP" sz="1800" b="1" i="1" smtClean="0">
                        <a:solidFill>
                          <a:srgbClr val="0070C0"/>
                        </a:solidFill>
                        <a:latin typeface="Cambria Math" panose="02040503050406030204" pitchFamily="18" charset="0"/>
                        <a:ea typeface="游ゴシック" panose="020B0400000000000000" pitchFamily="34" charset="-128"/>
                      </a:rPr>
                      <m:t>= </m:t>
                    </m:r>
                    <m:f>
                      <m:fPr>
                        <m:type m:val="skw"/>
                        <m:ctrlPr>
                          <a:rPr lang="en-NZ" altLang="ja-JP" sz="1800" b="1" i="1" smtClean="0">
                            <a:solidFill>
                              <a:srgbClr val="0070C0"/>
                            </a:solidFill>
                            <a:latin typeface="Cambria Math" panose="02040503050406030204" pitchFamily="18" charset="0"/>
                            <a:ea typeface="游ゴシック" panose="020B0400000000000000" pitchFamily="34" charset="-128"/>
                          </a:rPr>
                        </m:ctrlPr>
                      </m:fPr>
                      <m:num>
                        <m:r>
                          <a:rPr lang="en-NZ" altLang="ja-JP" sz="1800" b="1" i="1" smtClean="0">
                            <a:solidFill>
                              <a:srgbClr val="0070C0"/>
                            </a:solidFill>
                            <a:latin typeface="Cambria Math" panose="02040503050406030204" pitchFamily="18" charset="0"/>
                            <a:ea typeface="游ゴシック" panose="020B0400000000000000" pitchFamily="34" charset="-128"/>
                          </a:rPr>
                          <m:t>𝝈</m:t>
                        </m:r>
                      </m:num>
                      <m:den>
                        <m:r>
                          <a:rPr lang="en-NZ" altLang="ja-JP" sz="1800" b="1" i="1" smtClean="0">
                            <a:solidFill>
                              <a:srgbClr val="0070C0"/>
                            </a:solidFill>
                            <a:latin typeface="Cambria Math" panose="02040503050406030204" pitchFamily="18" charset="0"/>
                            <a:ea typeface="游ゴシック" panose="020B0400000000000000" pitchFamily="34" charset="-128"/>
                          </a:rPr>
                          <m:t>𝝁</m:t>
                        </m:r>
                      </m:den>
                    </m:f>
                    <m:r>
                      <a:rPr lang="en-NZ" altLang="ja-JP" sz="1800" b="0" i="1" smtClean="0">
                        <a:solidFill>
                          <a:srgbClr val="0070C0"/>
                        </a:solidFill>
                        <a:latin typeface="Cambria Math" panose="02040503050406030204" pitchFamily="18" charset="0"/>
                        <a:ea typeface="游ゴシック" panose="020B0400000000000000" pitchFamily="34" charset="-128"/>
                      </a:rPr>
                      <m:t>)</m:t>
                    </m:r>
                  </m:oMath>
                </a14:m>
                <a:r>
                  <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 </a:t>
                </a:r>
                <a:r>
                  <a:rPr lang="en-US" altLang="ja-JP" sz="1800" dirty="0">
                    <a:solidFill>
                      <a:srgbClr val="0070C0"/>
                    </a:solidFill>
                    <a:latin typeface="Calibri" panose="020F0502020204030204"/>
                    <a:ea typeface="游ゴシック" panose="020B0400000000000000" pitchFamily="34" charset="-128"/>
                  </a:rPr>
                  <a:t>for this population.</a:t>
                </a:r>
                <a:endPar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xmlns="">
          <p:sp>
            <p:nvSpPr>
              <p:cNvPr id="14" name="Text Placeholder 5">
                <a:extLst>
                  <a:ext uri="{FF2B5EF4-FFF2-40B4-BE49-F238E27FC236}">
                    <a16:creationId xmlns:a16="http://schemas.microsoft.com/office/drawing/2014/main" id="{3F154862-DDA8-4225-869A-09E072A0B7BE}"/>
                  </a:ext>
                </a:extLst>
              </p:cNvPr>
              <p:cNvSpPr txBox="1">
                <a:spLocks noRot="1" noChangeAspect="1" noMove="1" noResize="1" noEditPoints="1" noAdjustHandles="1" noChangeArrowheads="1" noChangeShapeType="1" noTextEdit="1"/>
              </p:cNvSpPr>
              <p:nvPr/>
            </p:nvSpPr>
            <p:spPr>
              <a:xfrm>
                <a:off x="319463" y="914840"/>
                <a:ext cx="11212895" cy="785599"/>
              </a:xfrm>
              <a:prstGeom prst="rect">
                <a:avLst/>
              </a:prstGeom>
              <a:blipFill>
                <a:blip r:embed="rId3"/>
                <a:stretch>
                  <a:fillRect l="-435" t="-17829" r="-435" b="-67442"/>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31978545-3175-4EEE-B330-D2FEDD1E4EE7}"/>
              </a:ext>
            </a:extLst>
          </p:cNvPr>
          <p:cNvSpPr txBox="1">
            <a:spLocks/>
          </p:cNvSpPr>
          <p:nvPr/>
        </p:nvSpPr>
        <p:spPr>
          <a:xfrm>
            <a:off x="503430" y="2603661"/>
            <a:ext cx="10739311"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X</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The</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random variable that produced the above data set.</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8DB6145D-0E94-4BFD-A204-BA5F24864E1E}"/>
                  </a:ext>
                </a:extLst>
              </p:cNvPr>
              <p:cNvSpPr txBox="1">
                <a:spLocks/>
              </p:cNvSpPr>
              <p:nvPr/>
            </p:nvSpPr>
            <p:spPr>
              <a:xfrm>
                <a:off x="503431" y="3041213"/>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14:m>
                  <m:oMath xmlns:m="http://schemas.openxmlformats.org/officeDocument/2006/math">
                    <m:r>
                      <a:rPr lang="en-NZ" altLang="ja-JP" sz="1800" b="1" i="1" smtClean="0">
                        <a:solidFill>
                          <a:schemeClr val="tx1"/>
                        </a:solidFill>
                        <a:latin typeface="Cambria Math" panose="02040503050406030204" pitchFamily="18" charset="0"/>
                      </a:rPr>
                      <m:t>𝜽</m:t>
                    </m:r>
                    <m:r>
                      <a:rPr lang="en-NZ" altLang="ja-JP" sz="1800" b="1" i="1" smtClean="0">
                        <a:solidFill>
                          <a:schemeClr val="tx1"/>
                        </a:solidFill>
                        <a:latin typeface="Cambria Math" panose="02040503050406030204" pitchFamily="18" charset="0"/>
                      </a:rPr>
                      <m:t>= </m:t>
                    </m:r>
                    <m:f>
                      <m:fPr>
                        <m:type m:val="skw"/>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𝝈</m:t>
                        </m:r>
                      </m:num>
                      <m:den>
                        <m:r>
                          <a:rPr lang="en-NZ" altLang="ja-JP" sz="1800" b="1" i="1">
                            <a:solidFill>
                              <a:schemeClr val="tx1"/>
                            </a:solidFill>
                            <a:latin typeface="Cambria Math" panose="02040503050406030204" pitchFamily="18" charset="0"/>
                          </a:rPr>
                          <m:t>𝝁</m:t>
                        </m:r>
                      </m:den>
                    </m:f>
                  </m:oMath>
                </a14:m>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is the property of interest</a:t>
                </a:r>
              </a:p>
            </p:txBody>
          </p:sp>
        </mc:Choice>
        <mc:Fallback xmlns="">
          <p:sp>
            <p:nvSpPr>
              <p:cNvPr id="16" name="Text Placeholder 5">
                <a:extLst>
                  <a:ext uri="{FF2B5EF4-FFF2-40B4-BE49-F238E27FC236}">
                    <a16:creationId xmlns:a16="http://schemas.microsoft.com/office/drawing/2014/main" id="{8DB6145D-0E94-4BFD-A204-BA5F24864E1E}"/>
                  </a:ext>
                </a:extLst>
              </p:cNvPr>
              <p:cNvSpPr txBox="1">
                <a:spLocks noRot="1" noChangeAspect="1" noMove="1" noResize="1" noEditPoints="1" noAdjustHandles="1" noChangeArrowheads="1" noChangeShapeType="1" noTextEdit="1"/>
              </p:cNvSpPr>
              <p:nvPr/>
            </p:nvSpPr>
            <p:spPr>
              <a:xfrm>
                <a:off x="503431" y="3041213"/>
                <a:ext cx="8649668" cy="507731"/>
              </a:xfrm>
              <a:prstGeom prst="rect">
                <a:avLst/>
              </a:prstGeom>
              <a:blipFill>
                <a:blip r:embed="rId4"/>
                <a:stretch>
                  <a:fillRect t="-81928" b="-106024"/>
                </a:stretch>
              </a:blipFill>
            </p:spPr>
            <p:txBody>
              <a:bodyPr/>
              <a:lstStyle/>
              <a:p>
                <a:r>
                  <a:rPr lang="en-NZ">
                    <a:noFill/>
                  </a:rPr>
                  <a:t> </a:t>
                </a:r>
              </a:p>
            </p:txBody>
          </p:sp>
        </mc:Fallback>
      </mc:AlternateContent>
      <p:graphicFrame>
        <p:nvGraphicFramePr>
          <p:cNvPr id="2" name="Table 1">
            <a:extLst>
              <a:ext uri="{FF2B5EF4-FFF2-40B4-BE49-F238E27FC236}">
                <a16:creationId xmlns:a16="http://schemas.microsoft.com/office/drawing/2014/main" id="{BFD411F8-DF44-4674-ABB2-1FF2586D1F06}"/>
              </a:ext>
            </a:extLst>
          </p:cNvPr>
          <p:cNvGraphicFramePr>
            <a:graphicFrameLocks noGrp="1"/>
          </p:cNvGraphicFramePr>
          <p:nvPr>
            <p:extLst>
              <p:ext uri="{D42A27DB-BD31-4B8C-83A1-F6EECF244321}">
                <p14:modId xmlns:p14="http://schemas.microsoft.com/office/powerpoint/2010/main" val="2768851461"/>
              </p:ext>
            </p:extLst>
          </p:nvPr>
        </p:nvGraphicFramePr>
        <p:xfrm>
          <a:off x="2185915" y="1735481"/>
          <a:ext cx="7820170" cy="506730"/>
        </p:xfrm>
        <a:graphic>
          <a:graphicData uri="http://schemas.openxmlformats.org/drawingml/2006/table">
            <a:tbl>
              <a:tblPr/>
              <a:tblGrid>
                <a:gridCol w="668320">
                  <a:extLst>
                    <a:ext uri="{9D8B030D-6E8A-4147-A177-3AD203B41FA5}">
                      <a16:colId xmlns:a16="http://schemas.microsoft.com/office/drawing/2014/main" val="1365967740"/>
                    </a:ext>
                  </a:extLst>
                </a:gridCol>
                <a:gridCol w="476790">
                  <a:extLst>
                    <a:ext uri="{9D8B030D-6E8A-4147-A177-3AD203B41FA5}">
                      <a16:colId xmlns:a16="http://schemas.microsoft.com/office/drawing/2014/main" val="1541602423"/>
                    </a:ext>
                  </a:extLst>
                </a:gridCol>
                <a:gridCol w="476790">
                  <a:extLst>
                    <a:ext uri="{9D8B030D-6E8A-4147-A177-3AD203B41FA5}">
                      <a16:colId xmlns:a16="http://schemas.microsoft.com/office/drawing/2014/main" val="2355879754"/>
                    </a:ext>
                  </a:extLst>
                </a:gridCol>
                <a:gridCol w="476790">
                  <a:extLst>
                    <a:ext uri="{9D8B030D-6E8A-4147-A177-3AD203B41FA5}">
                      <a16:colId xmlns:a16="http://schemas.microsoft.com/office/drawing/2014/main" val="3141991012"/>
                    </a:ext>
                  </a:extLst>
                </a:gridCol>
                <a:gridCol w="476790">
                  <a:extLst>
                    <a:ext uri="{9D8B030D-6E8A-4147-A177-3AD203B41FA5}">
                      <a16:colId xmlns:a16="http://schemas.microsoft.com/office/drawing/2014/main" val="1319348185"/>
                    </a:ext>
                  </a:extLst>
                </a:gridCol>
                <a:gridCol w="476790">
                  <a:extLst>
                    <a:ext uri="{9D8B030D-6E8A-4147-A177-3AD203B41FA5}">
                      <a16:colId xmlns:a16="http://schemas.microsoft.com/office/drawing/2014/main" val="3970303682"/>
                    </a:ext>
                  </a:extLst>
                </a:gridCol>
                <a:gridCol w="476790">
                  <a:extLst>
                    <a:ext uri="{9D8B030D-6E8A-4147-A177-3AD203B41FA5}">
                      <a16:colId xmlns:a16="http://schemas.microsoft.com/office/drawing/2014/main" val="1582927412"/>
                    </a:ext>
                  </a:extLst>
                </a:gridCol>
                <a:gridCol w="476790">
                  <a:extLst>
                    <a:ext uri="{9D8B030D-6E8A-4147-A177-3AD203B41FA5}">
                      <a16:colId xmlns:a16="http://schemas.microsoft.com/office/drawing/2014/main" val="2240649461"/>
                    </a:ext>
                  </a:extLst>
                </a:gridCol>
                <a:gridCol w="476790">
                  <a:extLst>
                    <a:ext uri="{9D8B030D-6E8A-4147-A177-3AD203B41FA5}">
                      <a16:colId xmlns:a16="http://schemas.microsoft.com/office/drawing/2014/main" val="3130014922"/>
                    </a:ext>
                  </a:extLst>
                </a:gridCol>
                <a:gridCol w="476790">
                  <a:extLst>
                    <a:ext uri="{9D8B030D-6E8A-4147-A177-3AD203B41FA5}">
                      <a16:colId xmlns:a16="http://schemas.microsoft.com/office/drawing/2014/main" val="1521587822"/>
                    </a:ext>
                  </a:extLst>
                </a:gridCol>
                <a:gridCol w="476790">
                  <a:extLst>
                    <a:ext uri="{9D8B030D-6E8A-4147-A177-3AD203B41FA5}">
                      <a16:colId xmlns:a16="http://schemas.microsoft.com/office/drawing/2014/main" val="1668545571"/>
                    </a:ext>
                  </a:extLst>
                </a:gridCol>
                <a:gridCol w="476790">
                  <a:extLst>
                    <a:ext uri="{9D8B030D-6E8A-4147-A177-3AD203B41FA5}">
                      <a16:colId xmlns:a16="http://schemas.microsoft.com/office/drawing/2014/main" val="1528507077"/>
                    </a:ext>
                  </a:extLst>
                </a:gridCol>
                <a:gridCol w="476790">
                  <a:extLst>
                    <a:ext uri="{9D8B030D-6E8A-4147-A177-3AD203B41FA5}">
                      <a16:colId xmlns:a16="http://schemas.microsoft.com/office/drawing/2014/main" val="347285480"/>
                    </a:ext>
                  </a:extLst>
                </a:gridCol>
                <a:gridCol w="476790">
                  <a:extLst>
                    <a:ext uri="{9D8B030D-6E8A-4147-A177-3AD203B41FA5}">
                      <a16:colId xmlns:a16="http://schemas.microsoft.com/office/drawing/2014/main" val="2871159979"/>
                    </a:ext>
                  </a:extLst>
                </a:gridCol>
                <a:gridCol w="476790">
                  <a:extLst>
                    <a:ext uri="{9D8B030D-6E8A-4147-A177-3AD203B41FA5}">
                      <a16:colId xmlns:a16="http://schemas.microsoft.com/office/drawing/2014/main" val="3634276604"/>
                    </a:ext>
                  </a:extLst>
                </a:gridCol>
                <a:gridCol w="476790">
                  <a:extLst>
                    <a:ext uri="{9D8B030D-6E8A-4147-A177-3AD203B41FA5}">
                      <a16:colId xmlns:a16="http://schemas.microsoft.com/office/drawing/2014/main" val="3652231093"/>
                    </a:ext>
                  </a:extLst>
                </a:gridCol>
              </a:tblGrid>
              <a:tr h="190500">
                <a:tc rowSpan="2">
                  <a:txBody>
                    <a:bodyPr/>
                    <a:lstStyle/>
                    <a:p>
                      <a:pPr algn="ctr" fontAlgn="ctr"/>
                      <a:r>
                        <a:rPr lang="en-NZ" sz="1600" b="1" i="0" u="none" strike="noStrike">
                          <a:solidFill>
                            <a:srgbClr val="FFFFFF"/>
                          </a:solidFill>
                          <a:effectLst/>
                          <a:latin typeface="Calibri" panose="020F0502020204030204" pitchFamily="34" charset="0"/>
                        </a:rPr>
                        <a:t>Data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a:solidFill>
                            <a:srgbClr val="00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538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2451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3220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1977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782344589"/>
                  </a:ext>
                </a:extLst>
              </a:tr>
              <a:tr h="190500">
                <a:tc vMerge="1">
                  <a:txBody>
                    <a:bodyPr/>
                    <a:lstStyle/>
                    <a:p>
                      <a:endParaRPr lang="en-NZ"/>
                    </a:p>
                  </a:txBody>
                  <a:tcPr/>
                </a:tc>
                <a:tc>
                  <a:txBody>
                    <a:bodyPr/>
                    <a:lstStyle/>
                    <a:p>
                      <a:pPr algn="ctr" fontAlgn="ctr"/>
                      <a:r>
                        <a:rPr lang="en-NZ" sz="16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1732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1445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170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07816777"/>
                  </a:ext>
                </a:extLst>
              </a:tr>
            </a:tbl>
          </a:graphicData>
        </a:graphic>
      </p:graphicFrame>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B6AFF4B-8B7A-4550-9DF2-C838E3D4F0A8}"/>
                  </a:ext>
                </a:extLst>
              </p:cNvPr>
              <p:cNvSpPr txBox="1">
                <a:spLocks/>
              </p:cNvSpPr>
              <p:nvPr/>
            </p:nvSpPr>
            <p:spPr>
              <a:xfrm>
                <a:off x="503430" y="3523978"/>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From</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the sample above we obtain the sample statistic </a:t>
                </a:r>
                <a14:m>
                  <m:oMath xmlns:m="http://schemas.openxmlformats.org/officeDocument/2006/math">
                    <m:acc>
                      <m:accPr>
                        <m:chr m:val="̂"/>
                        <m:ctrlPr>
                          <a:rPr kumimoji="1" lang="en-US"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ctrlPr>
                      </m:accPr>
                      <m:e>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e>
                    </m:acc>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type m:val="skw"/>
                        <m:ctrlP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𝒔</m:t>
                        </m:r>
                      </m:num>
                      <m:den>
                        <m:bar>
                          <m:barPr>
                            <m:pos m:val="top"/>
                            <m:ctrlP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ctrlPr>
                          </m:barPr>
                          <m:e>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𝒚</m:t>
                            </m:r>
                          </m:e>
                        </m:bar>
                      </m:den>
                    </m:f>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𝟒𝟕𝟓𝟒𝟏𝟕</m:t>
                    </m:r>
                  </m:oMath>
                </a14:m>
                <a:endPar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7" name="Text Placeholder 5">
                <a:extLst>
                  <a:ext uri="{FF2B5EF4-FFF2-40B4-BE49-F238E27FC236}">
                    <a16:creationId xmlns:a16="http://schemas.microsoft.com/office/drawing/2014/main" id="{0B6AFF4B-8B7A-4550-9DF2-C838E3D4F0A8}"/>
                  </a:ext>
                </a:extLst>
              </p:cNvPr>
              <p:cNvSpPr txBox="1">
                <a:spLocks noRot="1" noChangeAspect="1" noMove="1" noResize="1" noEditPoints="1" noAdjustHandles="1" noChangeArrowheads="1" noChangeShapeType="1" noTextEdit="1"/>
              </p:cNvSpPr>
              <p:nvPr/>
            </p:nvSpPr>
            <p:spPr>
              <a:xfrm>
                <a:off x="503430" y="3523978"/>
                <a:ext cx="8649668" cy="507731"/>
              </a:xfrm>
              <a:prstGeom prst="rect">
                <a:avLst/>
              </a:prstGeom>
              <a:blipFill>
                <a:blip r:embed="rId5"/>
                <a:stretch>
                  <a:fillRect l="-635" t="-103614" b="-16024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BDBE45AB-B60A-40EA-B867-02DF97A61D08}"/>
                  </a:ext>
                </a:extLst>
              </p:cNvPr>
              <p:cNvSpPr txBox="1">
                <a:spLocks/>
              </p:cNvSpPr>
              <p:nvPr/>
            </p:nvSpPr>
            <p:spPr>
              <a:xfrm>
                <a:off x="503430" y="4101836"/>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How reliable is our point estimate </a:t>
                </a:r>
                <a14:m>
                  <m:oMath xmlns:m="http://schemas.openxmlformats.org/officeDocument/2006/math">
                    <m:acc>
                      <m:accPr>
                        <m:chr m:val="̂"/>
                        <m:ctrlPr>
                          <a:rPr lang="en-US"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r>
                      <a:rPr lang="en-NZ" altLang="ja-JP" sz="1800" b="1" i="1">
                        <a:solidFill>
                          <a:prstClr val="black"/>
                        </a:solidFill>
                        <a:latin typeface="Cambria Math" panose="02040503050406030204" pitchFamily="18" charset="0"/>
                      </a:rPr>
                      <m:t> </m:t>
                    </m:r>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as an estimate of </a:t>
                </a:r>
                <a14:m>
                  <m:oMath xmlns:m="http://schemas.openxmlformats.org/officeDocument/2006/math">
                    <m:r>
                      <a:rPr lang="en-NZ" altLang="ja-JP" sz="1800" b="1" i="1">
                        <a:solidFill>
                          <a:schemeClr val="tx1"/>
                        </a:solidFill>
                        <a:latin typeface="Cambria Math" panose="02040503050406030204" pitchFamily="18" charset="0"/>
                      </a:rPr>
                      <m:t>𝜽</m:t>
                    </m:r>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1" name="Text Placeholder 5">
                <a:extLst>
                  <a:ext uri="{FF2B5EF4-FFF2-40B4-BE49-F238E27FC236}">
                    <a16:creationId xmlns:a16="http://schemas.microsoft.com/office/drawing/2014/main" id="{BDBE45AB-B60A-40EA-B867-02DF97A61D08}"/>
                  </a:ext>
                </a:extLst>
              </p:cNvPr>
              <p:cNvSpPr txBox="1">
                <a:spLocks noRot="1" noChangeAspect="1" noMove="1" noResize="1" noEditPoints="1" noAdjustHandles="1" noChangeArrowheads="1" noChangeShapeType="1" noTextEdit="1"/>
              </p:cNvSpPr>
              <p:nvPr/>
            </p:nvSpPr>
            <p:spPr>
              <a:xfrm>
                <a:off x="503430" y="4101836"/>
                <a:ext cx="8649668" cy="507731"/>
              </a:xfrm>
              <a:prstGeom prst="rect">
                <a:avLst/>
              </a:prstGeom>
              <a:blipFill>
                <a:blip r:embed="rId6"/>
                <a:stretch>
                  <a:fillRect l="-635" t="-481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8A654D24-6809-4251-93BC-954AD08CEFD5}"/>
                  </a:ext>
                </a:extLst>
              </p:cNvPr>
              <p:cNvSpPr txBox="1">
                <a:spLocks/>
              </p:cNvSpPr>
              <p:nvPr/>
            </p:nvSpPr>
            <p:spPr>
              <a:xfrm>
                <a:off x="503430" y="4709842"/>
                <a:ext cx="11212895"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We need to calculate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𝒔</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𝒆</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d>
                      <m:d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and a confidence interval for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3" name="Text Placeholder 5">
                <a:extLst>
                  <a:ext uri="{FF2B5EF4-FFF2-40B4-BE49-F238E27FC236}">
                    <a16:creationId xmlns:a16="http://schemas.microsoft.com/office/drawing/2014/main" id="{8A654D24-6809-4251-93BC-954AD08CEFD5}"/>
                  </a:ext>
                </a:extLst>
              </p:cNvPr>
              <p:cNvSpPr txBox="1">
                <a:spLocks noRot="1" noChangeAspect="1" noMove="1" noResize="1" noEditPoints="1" noAdjustHandles="1" noChangeArrowheads="1" noChangeShapeType="1" noTextEdit="1"/>
              </p:cNvSpPr>
              <p:nvPr/>
            </p:nvSpPr>
            <p:spPr>
              <a:xfrm>
                <a:off x="503430" y="4709842"/>
                <a:ext cx="11212895" cy="507731"/>
              </a:xfrm>
              <a:prstGeom prst="rect">
                <a:avLst/>
              </a:prstGeom>
              <a:blipFill>
                <a:blip r:embed="rId7"/>
                <a:stretch>
                  <a:fillRect l="-489" t="-2410"/>
                </a:stretch>
              </a:blipFill>
            </p:spPr>
            <p:txBody>
              <a:bodyPr/>
              <a:lstStyle/>
              <a:p>
                <a:r>
                  <a:rPr lang="en-NZ">
                    <a:noFill/>
                  </a:rPr>
                  <a:t> </a:t>
                </a:r>
              </a:p>
            </p:txBody>
          </p:sp>
        </mc:Fallback>
      </mc:AlternateContent>
    </p:spTree>
    <p:extLst>
      <p:ext uri="{BB962C8B-B14F-4D97-AF65-F5344CB8AC3E}">
        <p14:creationId xmlns:p14="http://schemas.microsoft.com/office/powerpoint/2010/main" val="312346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1"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.2c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.2c – Coefficient of Variation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04DA2210-7352-4BC7-B383-3222B6C10BF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7.2 – Coefficient of Variation (Bootstrapping Example)</a:t>
            </a:r>
            <a:r>
              <a:rPr lang="en-US" altLang="ja-JP" sz="1200" dirty="0">
                <a:solidFill>
                  <a:srgbClr val="C00000"/>
                </a:solidFill>
              </a:rPr>
              <a:t>.</a:t>
            </a:r>
            <a:endParaRPr lang="en-US" altLang="ja-JP" sz="1200" b="1" i="1" dirty="0">
              <a:solidFill>
                <a:srgbClr val="C00000"/>
              </a:solidFill>
            </a:endParaRPr>
          </a:p>
        </p:txBody>
      </p:sp>
      <p:pic>
        <p:nvPicPr>
          <p:cNvPr id="18" name="Picture 17">
            <a:extLst>
              <a:ext uri="{FF2B5EF4-FFF2-40B4-BE49-F238E27FC236}">
                <a16:creationId xmlns:a16="http://schemas.microsoft.com/office/drawing/2014/main" id="{C4DF5816-F734-4849-B855-536AF988BBA1}"/>
              </a:ext>
            </a:extLst>
          </p:cNvPr>
          <p:cNvPicPr>
            <a:picLocks noChangeAspect="1"/>
          </p:cNvPicPr>
          <p:nvPr/>
        </p:nvPicPr>
        <p:blipFill>
          <a:blip r:embed="rId3"/>
          <a:stretch>
            <a:fillRect/>
          </a:stretch>
        </p:blipFill>
        <p:spPr>
          <a:xfrm>
            <a:off x="569881" y="1485667"/>
            <a:ext cx="3834912" cy="4347373"/>
          </a:xfrm>
          <a:prstGeom prst="rect">
            <a:avLst/>
          </a:prstGeom>
        </p:spPr>
      </p:pic>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23E56C3C-113A-4B09-A0E0-FAF0B351B722}"/>
                  </a:ext>
                </a:extLst>
              </p:cNvPr>
              <p:cNvSpPr txBox="1">
                <a:spLocks/>
              </p:cNvSpPr>
              <p:nvPr/>
            </p:nvSpPr>
            <p:spPr>
              <a:xfrm>
                <a:off x="5045254" y="1538740"/>
                <a:ext cx="4484640" cy="7766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Symbol" panose="05050102010706020507" pitchFamily="18" charset="2"/>
                  <a:buChar char="Þ"/>
                  <a:defRPr/>
                </a:pPr>
                <a:r>
                  <a:rPr lang="en-NZ" altLang="ja-JP" sz="1500" dirty="0">
                    <a:solidFill>
                      <a:prstClr val="black"/>
                    </a:solidFill>
                    <a:latin typeface="Calibri" panose="020F0502020204030204"/>
                    <a:ea typeface="游ゴシック" panose="020B0400000000000000" pitchFamily="34" charset="-128"/>
                  </a:rPr>
                  <a:t>Sampling distribution is approximately normal</a:t>
                </a:r>
              </a:p>
              <a:p>
                <a:pPr lvl="0">
                  <a:lnSpc>
                    <a:spcPct val="100000"/>
                  </a:lnSpc>
                  <a:defRPr/>
                </a:pPr>
                <a:r>
                  <a:rPr kumimoji="1" lang="en-NZ"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Can use standard bootstrap confidence interval</a:t>
                </a:r>
              </a:p>
              <a:p>
                <a:pPr lvl="0">
                  <a:lnSpc>
                    <a:spcPct val="100000"/>
                  </a:lnSpc>
                  <a:defRPr/>
                </a:pPr>
                <a14:m>
                  <m:oMathPara xmlns:m="http://schemas.openxmlformats.org/officeDocument/2006/math">
                    <m:oMathParaPr>
                      <m:jc m:val="left"/>
                    </m:oMathParaPr>
                    <m:oMath xmlns:m="http://schemas.openxmlformats.org/officeDocument/2006/math">
                      <m:d>
                        <m:dPr>
                          <m:begChr m:val="["/>
                          <m:endChr m:val="]"/>
                          <m:ctrlPr>
                            <a:rPr lang="en-US" altLang="ja-JP" sz="1500" b="1" i="1">
                              <a:solidFill>
                                <a:schemeClr val="tx1"/>
                              </a:solidFill>
                              <a:latin typeface="Cambria Math" panose="02040503050406030204" pitchFamily="18" charset="0"/>
                            </a:rPr>
                          </m:ctrlPr>
                        </m:dPr>
                        <m:e>
                          <m:acc>
                            <m:accPr>
                              <m:chr m:val="̂"/>
                              <m:ctrlPr>
                                <a:rPr lang="en-NZ" altLang="ja-JP" sz="1500" b="1" i="1">
                                  <a:solidFill>
                                    <a:schemeClr val="tx1"/>
                                  </a:solidFill>
                                  <a:latin typeface="Cambria Math" panose="02040503050406030204" pitchFamily="18" charset="0"/>
                                </a:rPr>
                              </m:ctrlPr>
                            </m:accPr>
                            <m:e>
                              <m:r>
                                <a:rPr lang="en-NZ" altLang="ja-JP" sz="1500" b="1" i="1">
                                  <a:solidFill>
                                    <a:schemeClr val="tx1"/>
                                  </a:solidFill>
                                  <a:latin typeface="Cambria Math" panose="02040503050406030204" pitchFamily="18" charset="0"/>
                                </a:rPr>
                                <m:t>𝜽</m:t>
                              </m:r>
                            </m:e>
                          </m:acc>
                          <m:r>
                            <a:rPr lang="en-NZ" altLang="ja-JP" sz="1500" b="1" i="1">
                              <a:solidFill>
                                <a:schemeClr val="tx1"/>
                              </a:solidFill>
                              <a:latin typeface="Cambria Math" panose="02040503050406030204" pitchFamily="18" charset="0"/>
                            </a:rPr>
                            <m:t> −</m:t>
                          </m:r>
                          <m:r>
                            <a:rPr lang="en-NZ" altLang="ja-JP" sz="1500" b="1" i="1">
                              <a:solidFill>
                                <a:schemeClr val="tx1"/>
                              </a:solidFill>
                              <a:latin typeface="Cambria Math" panose="02040503050406030204" pitchFamily="18" charset="0"/>
                            </a:rPr>
                            <m:t>𝟏</m:t>
                          </m:r>
                          <m:r>
                            <a:rPr lang="en-NZ" altLang="ja-JP" sz="1500" b="1" i="1">
                              <a:solidFill>
                                <a:schemeClr val="tx1"/>
                              </a:solidFill>
                              <a:latin typeface="Cambria Math" panose="02040503050406030204" pitchFamily="18" charset="0"/>
                            </a:rPr>
                            <m:t>.</m:t>
                          </m:r>
                          <m:r>
                            <a:rPr lang="en-NZ" altLang="ja-JP" sz="1500" b="1" i="1">
                              <a:solidFill>
                                <a:schemeClr val="tx1"/>
                              </a:solidFill>
                              <a:latin typeface="Cambria Math" panose="02040503050406030204" pitchFamily="18" charset="0"/>
                            </a:rPr>
                            <m:t>𝟗𝟔</m:t>
                          </m:r>
                          <m:r>
                            <a:rPr lang="en-NZ" altLang="ja-JP" sz="1500" b="1" i="1">
                              <a:solidFill>
                                <a:schemeClr val="tx1"/>
                              </a:solidFill>
                              <a:latin typeface="Cambria Math" panose="02040503050406030204" pitchFamily="18" charset="0"/>
                            </a:rPr>
                            <m:t> ∗</m:t>
                          </m:r>
                          <m:r>
                            <a:rPr lang="en-NZ" altLang="ja-JP" sz="1500" b="1" i="1">
                              <a:solidFill>
                                <a:prstClr val="black"/>
                              </a:solidFill>
                              <a:latin typeface="Cambria Math" panose="02040503050406030204" pitchFamily="18" charset="0"/>
                            </a:rPr>
                            <m:t>𝒔</m:t>
                          </m:r>
                          <m:r>
                            <a:rPr lang="en-NZ" altLang="ja-JP" sz="1500" b="1" i="1">
                              <a:solidFill>
                                <a:prstClr val="black"/>
                              </a:solidFill>
                              <a:latin typeface="Cambria Math" panose="02040503050406030204" pitchFamily="18" charset="0"/>
                            </a:rPr>
                            <m:t>.</m:t>
                          </m:r>
                          <m:r>
                            <a:rPr lang="en-NZ" altLang="ja-JP" sz="1500" b="1" i="1">
                              <a:solidFill>
                                <a:prstClr val="black"/>
                              </a:solidFill>
                              <a:latin typeface="Cambria Math" panose="02040503050406030204" pitchFamily="18" charset="0"/>
                            </a:rPr>
                            <m:t>𝒆</m:t>
                          </m:r>
                          <m:r>
                            <a:rPr lang="en-NZ" altLang="ja-JP" sz="1500" b="1" i="1">
                              <a:solidFill>
                                <a:prstClr val="black"/>
                              </a:solidFill>
                              <a:latin typeface="Cambria Math" panose="02040503050406030204" pitchFamily="18" charset="0"/>
                            </a:rPr>
                            <m:t>.</m:t>
                          </m:r>
                          <m:d>
                            <m:dPr>
                              <m:ctrlPr>
                                <a:rPr lang="en-NZ" altLang="ja-JP" sz="1500" b="1" i="1">
                                  <a:solidFill>
                                    <a:prstClr val="black"/>
                                  </a:solidFill>
                                  <a:latin typeface="Cambria Math" panose="02040503050406030204" pitchFamily="18" charset="0"/>
                                </a:rPr>
                              </m:ctrlPr>
                            </m:dPr>
                            <m:e>
                              <m:acc>
                                <m:accPr>
                                  <m:chr m:val="̂"/>
                                  <m:ctrlPr>
                                    <a:rPr lang="en-NZ" altLang="ja-JP" sz="1500" b="1" i="1">
                                      <a:solidFill>
                                        <a:schemeClr val="tx1"/>
                                      </a:solidFill>
                                      <a:latin typeface="Cambria Math" panose="02040503050406030204" pitchFamily="18" charset="0"/>
                                    </a:rPr>
                                  </m:ctrlPr>
                                </m:accPr>
                                <m:e>
                                  <m:r>
                                    <a:rPr lang="en-NZ" altLang="ja-JP" sz="1500" b="1" i="1">
                                      <a:solidFill>
                                        <a:schemeClr val="tx1"/>
                                      </a:solidFill>
                                      <a:latin typeface="Cambria Math" panose="02040503050406030204" pitchFamily="18" charset="0"/>
                                    </a:rPr>
                                    <m:t>𝜽</m:t>
                                  </m:r>
                                </m:e>
                              </m:acc>
                            </m:e>
                          </m:d>
                          <m:r>
                            <a:rPr lang="en-NZ" altLang="ja-JP" sz="1500" b="1" i="1">
                              <a:solidFill>
                                <a:prstClr val="black"/>
                              </a:solidFill>
                              <a:latin typeface="Cambria Math" panose="02040503050406030204" pitchFamily="18" charset="0"/>
                            </a:rPr>
                            <m:t>  , </m:t>
                          </m:r>
                          <m:acc>
                            <m:accPr>
                              <m:chr m:val="̂"/>
                              <m:ctrlPr>
                                <a:rPr lang="en-NZ" altLang="ja-JP" sz="1500" b="1" i="1">
                                  <a:solidFill>
                                    <a:schemeClr val="tx1"/>
                                  </a:solidFill>
                                  <a:latin typeface="Cambria Math" panose="02040503050406030204" pitchFamily="18" charset="0"/>
                                </a:rPr>
                              </m:ctrlPr>
                            </m:accPr>
                            <m:e>
                              <m:r>
                                <a:rPr lang="en-NZ" altLang="ja-JP" sz="1500" b="1" i="1">
                                  <a:solidFill>
                                    <a:schemeClr val="tx1"/>
                                  </a:solidFill>
                                  <a:latin typeface="Cambria Math" panose="02040503050406030204" pitchFamily="18" charset="0"/>
                                </a:rPr>
                                <m:t> </m:t>
                              </m:r>
                              <m:r>
                                <a:rPr lang="en-NZ" altLang="ja-JP" sz="1500" b="1" i="1">
                                  <a:solidFill>
                                    <a:schemeClr val="tx1"/>
                                  </a:solidFill>
                                  <a:latin typeface="Cambria Math" panose="02040503050406030204" pitchFamily="18" charset="0"/>
                                </a:rPr>
                                <m:t>𝜽</m:t>
                              </m:r>
                            </m:e>
                          </m:acc>
                          <m:r>
                            <a:rPr lang="en-NZ" altLang="ja-JP" sz="1500" b="1" i="1">
                              <a:solidFill>
                                <a:schemeClr val="tx1"/>
                              </a:solidFill>
                              <a:latin typeface="Cambria Math" panose="02040503050406030204" pitchFamily="18" charset="0"/>
                            </a:rPr>
                            <m:t>+</m:t>
                          </m:r>
                          <m:r>
                            <a:rPr lang="en-NZ" altLang="ja-JP" sz="1500" b="1" i="1">
                              <a:solidFill>
                                <a:schemeClr val="tx1"/>
                              </a:solidFill>
                              <a:latin typeface="Cambria Math" panose="02040503050406030204" pitchFamily="18" charset="0"/>
                            </a:rPr>
                            <m:t>𝟏</m:t>
                          </m:r>
                          <m:r>
                            <a:rPr lang="en-NZ" altLang="ja-JP" sz="1500" b="1" i="1">
                              <a:solidFill>
                                <a:schemeClr val="tx1"/>
                              </a:solidFill>
                              <a:latin typeface="Cambria Math" panose="02040503050406030204" pitchFamily="18" charset="0"/>
                            </a:rPr>
                            <m:t>.</m:t>
                          </m:r>
                          <m:r>
                            <a:rPr lang="en-NZ" altLang="ja-JP" sz="1500" b="1" i="1">
                              <a:solidFill>
                                <a:schemeClr val="tx1"/>
                              </a:solidFill>
                              <a:latin typeface="Cambria Math" panose="02040503050406030204" pitchFamily="18" charset="0"/>
                            </a:rPr>
                            <m:t>𝟗𝟔</m:t>
                          </m:r>
                          <m:r>
                            <a:rPr lang="en-NZ" altLang="ja-JP" sz="1500" b="1" i="1">
                              <a:solidFill>
                                <a:schemeClr val="tx1"/>
                              </a:solidFill>
                              <a:latin typeface="Cambria Math" panose="02040503050406030204" pitchFamily="18" charset="0"/>
                            </a:rPr>
                            <m:t> ∗</m:t>
                          </m:r>
                          <m:r>
                            <a:rPr lang="en-NZ" altLang="ja-JP" sz="1500" b="1" i="1">
                              <a:solidFill>
                                <a:prstClr val="black"/>
                              </a:solidFill>
                              <a:latin typeface="Cambria Math" panose="02040503050406030204" pitchFamily="18" charset="0"/>
                            </a:rPr>
                            <m:t>𝒔</m:t>
                          </m:r>
                          <m:r>
                            <a:rPr lang="en-NZ" altLang="ja-JP" sz="1500" b="1" i="1">
                              <a:solidFill>
                                <a:prstClr val="black"/>
                              </a:solidFill>
                              <a:latin typeface="Cambria Math" panose="02040503050406030204" pitchFamily="18" charset="0"/>
                            </a:rPr>
                            <m:t>.</m:t>
                          </m:r>
                          <m:r>
                            <a:rPr lang="en-NZ" altLang="ja-JP" sz="1500" b="1" i="1">
                              <a:solidFill>
                                <a:prstClr val="black"/>
                              </a:solidFill>
                              <a:latin typeface="Cambria Math" panose="02040503050406030204" pitchFamily="18" charset="0"/>
                            </a:rPr>
                            <m:t>𝒆</m:t>
                          </m:r>
                          <m:r>
                            <a:rPr lang="en-NZ" altLang="ja-JP" sz="1500" b="1" i="1">
                              <a:solidFill>
                                <a:prstClr val="black"/>
                              </a:solidFill>
                              <a:latin typeface="Cambria Math" panose="02040503050406030204" pitchFamily="18" charset="0"/>
                            </a:rPr>
                            <m:t>.</m:t>
                          </m:r>
                          <m:d>
                            <m:dPr>
                              <m:ctrlPr>
                                <a:rPr lang="en-NZ" altLang="ja-JP" sz="1500" b="1" i="1">
                                  <a:solidFill>
                                    <a:prstClr val="black"/>
                                  </a:solidFill>
                                  <a:latin typeface="Cambria Math" panose="02040503050406030204" pitchFamily="18" charset="0"/>
                                </a:rPr>
                              </m:ctrlPr>
                            </m:dPr>
                            <m:e>
                              <m:acc>
                                <m:accPr>
                                  <m:chr m:val="̂"/>
                                  <m:ctrlPr>
                                    <a:rPr lang="en-NZ" altLang="ja-JP" sz="1500" b="1" i="1">
                                      <a:solidFill>
                                        <a:schemeClr val="tx1"/>
                                      </a:solidFill>
                                      <a:latin typeface="Cambria Math" panose="02040503050406030204" pitchFamily="18" charset="0"/>
                                    </a:rPr>
                                  </m:ctrlPr>
                                </m:accPr>
                                <m:e>
                                  <m:r>
                                    <a:rPr lang="en-NZ" altLang="ja-JP" sz="1500" b="1" i="1">
                                      <a:solidFill>
                                        <a:schemeClr val="tx1"/>
                                      </a:solidFill>
                                      <a:latin typeface="Cambria Math" panose="02040503050406030204" pitchFamily="18" charset="0"/>
                                    </a:rPr>
                                    <m:t>𝜽</m:t>
                                  </m:r>
                                </m:e>
                              </m:acc>
                            </m:e>
                          </m:d>
                        </m:e>
                      </m:d>
                    </m:oMath>
                  </m:oMathPara>
                </a14:m>
                <a:endParaRPr kumimoji="1" lang="en-NZ" altLang="ja-JP" sz="15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4" name="Text Placeholder 5">
                <a:extLst>
                  <a:ext uri="{FF2B5EF4-FFF2-40B4-BE49-F238E27FC236}">
                    <a16:creationId xmlns:a16="http://schemas.microsoft.com/office/drawing/2014/main" id="{23E56C3C-113A-4B09-A0E0-FAF0B351B722}"/>
                  </a:ext>
                </a:extLst>
              </p:cNvPr>
              <p:cNvSpPr txBox="1">
                <a:spLocks noRot="1" noChangeAspect="1" noMove="1" noResize="1" noEditPoints="1" noAdjustHandles="1" noChangeArrowheads="1" noChangeShapeType="1" noTextEdit="1"/>
              </p:cNvSpPr>
              <p:nvPr/>
            </p:nvSpPr>
            <p:spPr>
              <a:xfrm>
                <a:off x="5045254" y="1538740"/>
                <a:ext cx="4484640" cy="776621"/>
              </a:xfrm>
              <a:prstGeom prst="rect">
                <a:avLst/>
              </a:prstGeom>
              <a:blipFill>
                <a:blip r:embed="rId4"/>
                <a:stretch>
                  <a:fillRect l="-680" t="-312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28E03187-9CB3-4275-88B8-D723C62E60F8}"/>
                  </a:ext>
                </a:extLst>
              </p:cNvPr>
              <p:cNvSpPr txBox="1">
                <a:spLocks/>
              </p:cNvSpPr>
              <p:nvPr/>
            </p:nvSpPr>
            <p:spPr>
              <a:xfrm>
                <a:off x="58725" y="1031009"/>
                <a:ext cx="4857224"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600" b="1" dirty="0">
                    <a:solidFill>
                      <a:prstClr val="black"/>
                    </a:solidFill>
                    <a:latin typeface="Calibri" panose="020F0502020204030204"/>
                    <a:ea typeface="游ゴシック" panose="020B0400000000000000" pitchFamily="34" charset="-128"/>
                  </a:rPr>
                  <a:t>Distribution </a:t>
                </a:r>
                <a:r>
                  <a:rPr kumimoji="1" lang="en-NZ"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of </a:t>
                </a:r>
                <a14:m>
                  <m:oMath xmlns:m="http://schemas.openxmlformats.org/officeDocument/2006/math">
                    <m:sSup>
                      <m:sSupPr>
                        <m:ctrlPr>
                          <a:rPr lang="en-NZ" altLang="ja-JP" sz="1600" b="1" i="1" smtClean="0">
                            <a:solidFill>
                              <a:schemeClr val="tx1"/>
                            </a:solidFill>
                            <a:latin typeface="Cambria Math" panose="02040503050406030204" pitchFamily="18" charset="0"/>
                          </a:rPr>
                        </m:ctrlPr>
                      </m:sSupPr>
                      <m:e>
                        <m:acc>
                          <m:accPr>
                            <m:chr m:val="̂"/>
                            <m:ctrlPr>
                              <a:rPr lang="en-NZ" altLang="ja-JP" sz="1600" b="1" i="1" smtClean="0">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𝜽</m:t>
                            </m:r>
                          </m:e>
                        </m:acc>
                      </m:e>
                      <m:sup>
                        <m:r>
                          <a:rPr lang="en-NZ" altLang="ja-JP" sz="1600" b="1" i="1" smtClean="0">
                            <a:solidFill>
                              <a:schemeClr val="tx1"/>
                            </a:solidFill>
                            <a:latin typeface="Cambria Math" panose="02040503050406030204" pitchFamily="18" charset="0"/>
                          </a:rPr>
                          <m:t>∗</m:t>
                        </m:r>
                      </m:sup>
                    </m:sSup>
                  </m:oMath>
                </a14:m>
                <a:r>
                  <a:rPr kumimoji="1" lang="en-NZ"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from 1,000 Bootstrap Samples </a:t>
                </a:r>
                <a:endParaRPr kumimoji="1" lang="en-US"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2" name="Text Placeholder 5">
                <a:extLst>
                  <a:ext uri="{FF2B5EF4-FFF2-40B4-BE49-F238E27FC236}">
                    <a16:creationId xmlns:a16="http://schemas.microsoft.com/office/drawing/2014/main" id="{28E03187-9CB3-4275-88B8-D723C62E60F8}"/>
                  </a:ext>
                </a:extLst>
              </p:cNvPr>
              <p:cNvSpPr txBox="1">
                <a:spLocks noRot="1" noChangeAspect="1" noMove="1" noResize="1" noEditPoints="1" noAdjustHandles="1" noChangeArrowheads="1" noChangeShapeType="1" noTextEdit="1"/>
              </p:cNvSpPr>
              <p:nvPr/>
            </p:nvSpPr>
            <p:spPr>
              <a:xfrm>
                <a:off x="58725" y="1031009"/>
                <a:ext cx="4857224" cy="507731"/>
              </a:xfrm>
              <a:prstGeom prst="rect">
                <a:avLst/>
              </a:prstGeom>
              <a:blipFill>
                <a:blip r:embed="rId5"/>
                <a:stretch>
                  <a:fillRect t="-120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D513F01C-CD4E-4054-BFE9-F4ECF1AF29D2}"/>
                  </a:ext>
                </a:extLst>
              </p:cNvPr>
              <p:cNvSpPr txBox="1">
                <a:spLocks/>
              </p:cNvSpPr>
              <p:nvPr/>
            </p:nvSpPr>
            <p:spPr>
              <a:xfrm>
                <a:off x="5045254" y="2622536"/>
                <a:ext cx="6028214" cy="26967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u="sng" dirty="0">
                    <a:solidFill>
                      <a:schemeClr val="tx1"/>
                    </a:solidFill>
                    <a:latin typeface="Cambria Math" panose="02040503050406030204" pitchFamily="18" charset="0"/>
                  </a:rPr>
                  <a:t>Results:</a:t>
                </a:r>
              </a:p>
              <a:p>
                <a:pPr lvl="0">
                  <a:lnSpc>
                    <a:spcPct val="100000"/>
                  </a:lnSpc>
                  <a:defRPr/>
                </a:pPr>
                <a:endParaRPr lang="en-NZ" altLang="ja-JP" sz="1800" b="1" u="sng" dirty="0">
                  <a:solidFill>
                    <a:schemeClr val="tx1"/>
                  </a:solidFill>
                  <a:latin typeface="Cambria Math" panose="02040503050406030204" pitchFamily="18" charset="0"/>
                </a:endParaRPr>
              </a:p>
              <a:p>
                <a:pPr lvl="0">
                  <a:lnSpc>
                    <a:spcPct val="100000"/>
                  </a:lnSpc>
                  <a:defRPr/>
                </a:pPr>
                <a14:m>
                  <m:oMathPara xmlns:m="http://schemas.openxmlformats.org/officeDocument/2006/math">
                    <m:oMathParaPr>
                      <m:jc m:val="left"/>
                    </m:oMathParaPr>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𝟒𝟕𝟓</m:t>
                      </m:r>
                    </m:oMath>
                  </m:oMathPara>
                </a14:m>
                <a:endParaRPr lang="en-NZ" altLang="ja-JP" sz="1800" b="1" dirty="0">
                  <a:solidFill>
                    <a:schemeClr val="tx1"/>
                  </a:solidFill>
                  <a:latin typeface="Calibri" panose="020F0502020204030204"/>
                </a:endParaRPr>
              </a:p>
              <a:p>
                <a:pPr lvl="0">
                  <a:lnSpc>
                    <a:spcPct val="100000"/>
                  </a:lnSpc>
                  <a:defRPr/>
                </a:pP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14:m>
                  <m:oMath xmlns:m="http://schemas.openxmlformats.org/officeDocument/2006/math">
                    <m:r>
                      <a:rPr lang="en-NZ" altLang="ja-JP" sz="1800" b="1" i="1">
                        <a:solidFill>
                          <a:prstClr val="black"/>
                        </a:solidFill>
                        <a:latin typeface="Cambria Math" panose="02040503050406030204" pitchFamily="18" charset="0"/>
                      </a:rPr>
                      <m:t>𝒔</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𝒆</m:t>
                    </m:r>
                    <m:r>
                      <a:rPr lang="en-NZ" altLang="ja-JP" sz="1800" b="1" i="1">
                        <a:solidFill>
                          <a:prstClr val="black"/>
                        </a:solidFill>
                        <a:latin typeface="Cambria Math" panose="02040503050406030204" pitchFamily="18" charset="0"/>
                      </a:rPr>
                      <m:t>.</m:t>
                    </m:r>
                    <m:d>
                      <m:dPr>
                        <m:ctrlPr>
                          <a:rPr lang="en-NZ" altLang="ja-JP" sz="1800" i="1">
                            <a:solidFill>
                              <a:prstClr val="black"/>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oMath>
                </a14:m>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0.207</a:t>
                </a:r>
              </a:p>
              <a:p>
                <a:pPr lvl="0">
                  <a:lnSpc>
                    <a:spcPct val="100000"/>
                  </a:lnSpc>
                  <a:defRPr/>
                </a:pP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r>
                  <a:rPr lang="en-US" altLang="ja-JP" sz="1800" dirty="0">
                    <a:solidFill>
                      <a:prstClr val="black"/>
                    </a:solidFill>
                    <a:latin typeface="Calibri" panose="020F0502020204030204"/>
                    <a:ea typeface="游ゴシック" panose="020B0400000000000000" pitchFamily="34" charset="-128"/>
                  </a:rPr>
                  <a:t>Standard 95% C</a:t>
                </a:r>
                <a:r>
                  <a:rPr lang="en-US" altLang="ja-JP" sz="1800" dirty="0">
                    <a:solidFill>
                      <a:prstClr val="black"/>
                    </a:solidFill>
                  </a:rPr>
                  <a:t>l: </a:t>
                </a:r>
              </a:p>
              <a:p>
                <a:pPr lvl="0">
                  <a:lnSpc>
                    <a:spcPct val="100000"/>
                  </a:lnSpc>
                  <a:defRPr/>
                </a:pPr>
                <a14:m>
                  <m:oMathPara xmlns:m="http://schemas.openxmlformats.org/officeDocument/2006/math">
                    <m:oMathParaPr>
                      <m:jc m:val="left"/>
                    </m:oMathParaPr>
                    <m:oMath xmlns:m="http://schemas.openxmlformats.org/officeDocument/2006/math">
                      <m:d>
                        <m:dPr>
                          <m:begChr m:val="["/>
                          <m:endChr m:val="]"/>
                          <m:ctrlPr>
                            <a:rPr lang="en-US" altLang="ja-JP" sz="1800" b="1" i="1">
                              <a:solidFill>
                                <a:schemeClr val="tx1"/>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𝟗𝟔</m:t>
                          </m:r>
                          <m:r>
                            <a:rPr lang="en-NZ" altLang="ja-JP" sz="1800" b="1" i="1">
                              <a:solidFill>
                                <a:schemeClr val="tx1"/>
                              </a:solidFill>
                              <a:latin typeface="Cambria Math" panose="02040503050406030204" pitchFamily="18" charset="0"/>
                            </a:rPr>
                            <m:t> ∗</m:t>
                          </m:r>
                          <m:r>
                            <a:rPr lang="en-NZ" altLang="ja-JP" sz="1800" b="1" i="1">
                              <a:solidFill>
                                <a:prstClr val="black"/>
                              </a:solidFill>
                              <a:latin typeface="Cambria Math" panose="02040503050406030204" pitchFamily="18" charset="0"/>
                            </a:rPr>
                            <m:t>𝒔</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𝒆</m:t>
                          </m:r>
                          <m:r>
                            <a:rPr lang="en-NZ" altLang="ja-JP" sz="1800" b="1" i="1">
                              <a:solidFill>
                                <a:prstClr val="black"/>
                              </a:solidFill>
                              <a:latin typeface="Cambria Math" panose="02040503050406030204" pitchFamily="18" charset="0"/>
                            </a:rPr>
                            <m:t>.</m:t>
                          </m:r>
                          <m:d>
                            <m:dPr>
                              <m:ctrlPr>
                                <a:rPr lang="en-NZ" altLang="ja-JP" sz="1800" b="1" i="1">
                                  <a:solidFill>
                                    <a:prstClr val="black"/>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r>
                            <a:rPr lang="en-NZ" altLang="ja-JP" sz="1800" b="1" i="1">
                              <a:solidFill>
                                <a:prstClr val="black"/>
                              </a:solidFill>
                              <a:latin typeface="Cambria Math" panose="02040503050406030204" pitchFamily="18" charset="0"/>
                            </a:rPr>
                            <m:t>  ,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𝟗𝟔</m:t>
                          </m:r>
                          <m:r>
                            <a:rPr lang="en-NZ" altLang="ja-JP" sz="1800" b="1" i="1">
                              <a:solidFill>
                                <a:schemeClr val="tx1"/>
                              </a:solidFill>
                              <a:latin typeface="Cambria Math" panose="02040503050406030204" pitchFamily="18" charset="0"/>
                            </a:rPr>
                            <m:t> ∗</m:t>
                          </m:r>
                          <m:r>
                            <a:rPr lang="en-NZ" altLang="ja-JP" sz="1800" b="1" i="1">
                              <a:solidFill>
                                <a:prstClr val="black"/>
                              </a:solidFill>
                              <a:latin typeface="Cambria Math" panose="02040503050406030204" pitchFamily="18" charset="0"/>
                            </a:rPr>
                            <m:t>𝒔</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𝒆</m:t>
                          </m:r>
                          <m:r>
                            <a:rPr lang="en-NZ" altLang="ja-JP" sz="1800" b="1" i="1">
                              <a:solidFill>
                                <a:prstClr val="black"/>
                              </a:solidFill>
                              <a:latin typeface="Cambria Math" panose="02040503050406030204" pitchFamily="18" charset="0"/>
                            </a:rPr>
                            <m:t>.</m:t>
                          </m:r>
                          <m:d>
                            <m:dPr>
                              <m:ctrlPr>
                                <a:rPr lang="en-NZ" altLang="ja-JP" sz="1800" b="1" i="1">
                                  <a:solidFill>
                                    <a:prstClr val="black"/>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e>
                      </m:d>
                    </m:oMath>
                  </m:oMathPara>
                </a14:m>
                <a:endParaRPr lang="en-US" altLang="ja-JP" sz="1800" b="1" dirty="0">
                  <a:solidFill>
                    <a:prstClr val="black"/>
                  </a:solidFill>
                </a:endParaRPr>
              </a:p>
              <a:p>
                <a:pPr lvl="0">
                  <a:lnSpc>
                    <a:spcPct val="100000"/>
                  </a:lnSpc>
                  <a:defRPr/>
                </a:pPr>
                <a14:m>
                  <m:oMathPara xmlns:m="http://schemas.openxmlformats.org/officeDocument/2006/math">
                    <m:oMathParaPr>
                      <m:jc m:val="left"/>
                    </m:oMathParaPr>
                    <m:oMath xmlns:m="http://schemas.openxmlformats.org/officeDocument/2006/math">
                      <m:r>
                        <a:rPr lang="en-NZ" altLang="ja-JP" sz="1800" b="1" i="1" smtClean="0">
                          <a:solidFill>
                            <a:prstClr val="black"/>
                          </a:solidFill>
                          <a:latin typeface="Cambria Math" panose="02040503050406030204" pitchFamily="18" charset="0"/>
                        </a:rPr>
                        <m:t>=[ </m:t>
                      </m:r>
                      <m:r>
                        <a:rPr lang="en-NZ" altLang="ja-JP" sz="1800" b="1" i="1" smtClean="0">
                          <a:solidFill>
                            <a:prstClr val="black"/>
                          </a:solidFill>
                          <a:latin typeface="Cambria Math" panose="02040503050406030204" pitchFamily="18" charset="0"/>
                        </a:rPr>
                        <m:t>𝟏</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𝟎𝟔𝟗</m:t>
                      </m:r>
                      <m:r>
                        <a:rPr lang="en-NZ" altLang="ja-JP" sz="1800" b="1" i="1" smtClean="0">
                          <a:solidFill>
                            <a:prstClr val="black"/>
                          </a:solidFill>
                          <a:latin typeface="Cambria Math" panose="02040503050406030204" pitchFamily="18" charset="0"/>
                        </a:rPr>
                        <m:t> , </m:t>
                      </m:r>
                      <m:r>
                        <a:rPr lang="en-NZ" altLang="ja-JP" sz="1800" b="1" i="1" smtClean="0">
                          <a:solidFill>
                            <a:prstClr val="black"/>
                          </a:solidFill>
                          <a:latin typeface="Cambria Math" panose="02040503050406030204" pitchFamily="18" charset="0"/>
                        </a:rPr>
                        <m:t>𝟏</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𝟖𝟖𝟏</m:t>
                      </m:r>
                      <m:r>
                        <a:rPr lang="en-NZ" altLang="ja-JP" sz="1800" b="1" i="1" smtClean="0">
                          <a:solidFill>
                            <a:prstClr val="black"/>
                          </a:solidFill>
                          <a:latin typeface="Cambria Math" panose="02040503050406030204" pitchFamily="18" charset="0"/>
                        </a:rPr>
                        <m:t>]</m:t>
                      </m:r>
                    </m:oMath>
                  </m:oMathPara>
                </a14:m>
                <a:endParaRPr lang="en-US" altLang="ja-JP" sz="1800" b="1" dirty="0">
                  <a:solidFill>
                    <a:prstClr val="black"/>
                  </a:solidFill>
                </a:endParaRPr>
              </a:p>
            </p:txBody>
          </p:sp>
        </mc:Choice>
        <mc:Fallback xmlns="">
          <p:sp>
            <p:nvSpPr>
              <p:cNvPr id="14" name="Text Placeholder 5">
                <a:extLst>
                  <a:ext uri="{FF2B5EF4-FFF2-40B4-BE49-F238E27FC236}">
                    <a16:creationId xmlns:a16="http://schemas.microsoft.com/office/drawing/2014/main" id="{D513F01C-CD4E-4054-BFE9-F4ECF1AF29D2}"/>
                  </a:ext>
                </a:extLst>
              </p:cNvPr>
              <p:cNvSpPr txBox="1">
                <a:spLocks noRot="1" noChangeAspect="1" noMove="1" noResize="1" noEditPoints="1" noAdjustHandles="1" noChangeArrowheads="1" noChangeShapeType="1" noTextEdit="1"/>
              </p:cNvSpPr>
              <p:nvPr/>
            </p:nvSpPr>
            <p:spPr>
              <a:xfrm>
                <a:off x="5045254" y="2622536"/>
                <a:ext cx="6028214" cy="2696724"/>
              </a:xfrm>
              <a:prstGeom prst="rect">
                <a:avLst/>
              </a:prstGeom>
              <a:blipFill>
                <a:blip r:embed="rId6"/>
                <a:stretch>
                  <a:fillRect l="-910" t="-1354" b="-226"/>
                </a:stretch>
              </a:blipFill>
            </p:spPr>
            <p:txBody>
              <a:bodyPr/>
              <a:lstStyle/>
              <a:p>
                <a:r>
                  <a:rPr lang="en-NZ">
                    <a:noFill/>
                  </a:rPr>
                  <a:t> </a:t>
                </a:r>
              </a:p>
            </p:txBody>
          </p:sp>
        </mc:Fallback>
      </mc:AlternateContent>
    </p:spTree>
    <p:extLst>
      <p:ext uri="{BB962C8B-B14F-4D97-AF65-F5344CB8AC3E}">
        <p14:creationId xmlns:p14="http://schemas.microsoft.com/office/powerpoint/2010/main" val="167915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7</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.3 – </a:t>
            </a:r>
            <a:r>
              <a:rPr lang="en-NZ" sz="4500" b="1" dirty="0">
                <a:solidFill>
                  <a:srgbClr val="FFC000"/>
                </a:solidFill>
                <a:latin typeface="Calibri" panose="020F0502020204030204"/>
              </a:rPr>
              <a:t>Bias Correction via Bootstrapping</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746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.3a – Bias Correction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Bias Correction via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7BD84D97-3899-4B53-922D-07D78A75E56F}"/>
                  </a:ext>
                </a:extLst>
              </p:cNvPr>
              <p:cNvSpPr txBox="1">
                <a:spLocks/>
              </p:cNvSpPr>
              <p:nvPr/>
            </p:nvSpPr>
            <p:spPr>
              <a:xfrm>
                <a:off x="319463" y="1184392"/>
                <a:ext cx="11515144" cy="6884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Suppose we have a random variable </a:t>
                </a:r>
                <a:r>
                  <a:rPr lang="en-NZ" altLang="ja-JP" sz="1800" b="1" i="1" dirty="0">
                    <a:solidFill>
                      <a:schemeClr val="tx1"/>
                    </a:solidFill>
                  </a:rPr>
                  <a:t>X</a:t>
                </a:r>
                <a:r>
                  <a:rPr lang="en-NZ" altLang="ja-JP" sz="1800" dirty="0">
                    <a:solidFill>
                      <a:schemeClr val="tx1"/>
                    </a:solidFill>
                  </a:rPr>
                  <a:t> with an unknown parameter or property of interest </a:t>
                </a:r>
                <a:r>
                  <a:rPr lang="ja-JP" altLang="en-NZ" sz="1800" dirty="0">
                    <a:solidFill>
                      <a:schemeClr val="tx1"/>
                    </a:solidFill>
                  </a:rPr>
                  <a:t>𝜽</a:t>
                </a:r>
                <a:r>
                  <a:rPr lang="en-NZ" altLang="ja-JP" sz="1800" dirty="0">
                    <a:solidFill>
                      <a:schemeClr val="tx1"/>
                    </a:solidFill>
                  </a:rPr>
                  <a:t>.</a:t>
                </a:r>
              </a:p>
              <a:p>
                <a:pPr algn="just">
                  <a:lnSpc>
                    <a:spcPct val="100000"/>
                  </a:lnSpc>
                  <a:defRPr/>
                </a:pPr>
                <a:r>
                  <a:rPr lang="en-NZ" altLang="ja-JP" sz="1800" dirty="0">
                    <a:solidFill>
                      <a:prstClr val="black"/>
                    </a:solidFill>
                  </a:rPr>
                  <a:t>In order to estimate </a:t>
                </a:r>
                <a:r>
                  <a:rPr lang="ja-JP" altLang="en-NZ" sz="1800" dirty="0">
                    <a:solidFill>
                      <a:schemeClr val="tx1"/>
                    </a:solidFill>
                  </a:rPr>
                  <a:t>𝜽</a:t>
                </a:r>
                <a:r>
                  <a:rPr lang="en-NZ" altLang="ja-JP" sz="1800" dirty="0">
                    <a:solidFill>
                      <a:schemeClr val="tx1"/>
                    </a:solidFill>
                  </a:rPr>
                  <a:t>, </a:t>
                </a:r>
                <a:r>
                  <a:rPr lang="en-NZ" altLang="ja-JP" sz="1800" dirty="0">
                    <a:solidFill>
                      <a:prstClr val="black"/>
                    </a:solidFill>
                  </a:rPr>
                  <a:t>we take a sample </a:t>
                </a:r>
                <a:r>
                  <a:rPr lang="en-NZ" altLang="ja-JP" sz="1800" b="1" i="1" dirty="0">
                    <a:solidFill>
                      <a:prstClr val="black"/>
                    </a:solidFill>
                  </a:rPr>
                  <a:t>n</a:t>
                </a:r>
                <a:r>
                  <a:rPr lang="en-NZ" altLang="ja-JP" sz="1800" dirty="0">
                    <a:solidFill>
                      <a:prstClr val="black"/>
                    </a:solidFill>
                  </a:rPr>
                  <a:t> observations of </a:t>
                </a:r>
                <a:r>
                  <a:rPr lang="en-NZ" altLang="ja-JP" sz="1800" b="1" i="1" dirty="0">
                    <a:solidFill>
                      <a:prstClr val="black"/>
                    </a:solidFill>
                  </a:rPr>
                  <a:t>X</a:t>
                </a:r>
                <a:r>
                  <a:rPr lang="en-NZ" altLang="ja-JP" sz="1800" dirty="0">
                    <a:solidFill>
                      <a:prstClr val="black"/>
                    </a:solidFill>
                  </a:rPr>
                  <a:t> and index</a:t>
                </a:r>
                <a:r>
                  <a:rPr lang="en-NZ" altLang="ja-JP" sz="1800" dirty="0">
                    <a:solidFill>
                      <a:prstClr val="black"/>
                    </a:solidFill>
                    <a:latin typeface="Calibri" panose="020F0502020204030204"/>
                    <a:ea typeface="游ゴシック" panose="020B0400000000000000" pitchFamily="34" charset="-128"/>
                  </a:rPr>
                  <a:t> </a:t>
                </a:r>
                <a14:m>
                  <m:oMath xmlns:m="http://schemas.openxmlformats.org/officeDocument/2006/math">
                    <m:bar>
                      <m:barPr>
                        <m:ctrlPr>
                          <a:rPr lang="en-NZ" altLang="ja-JP" sz="1800" b="1" i="1" smtClean="0">
                            <a:solidFill>
                              <a:prstClr val="black"/>
                            </a:solidFill>
                            <a:latin typeface="Cambria Math" panose="02040503050406030204" pitchFamily="18" charset="0"/>
                            <a:ea typeface="游ゴシック" panose="020B0400000000000000" pitchFamily="34" charset="-128"/>
                          </a:rPr>
                        </m:ctrlPr>
                      </m:barPr>
                      <m:e>
                        <m:r>
                          <a:rPr lang="en-NZ" altLang="ja-JP" sz="1800" b="1" i="1" smtClean="0">
                            <a:solidFill>
                              <a:prstClr val="black"/>
                            </a:solidFill>
                            <a:latin typeface="Cambria Math" panose="02040503050406030204" pitchFamily="18" charset="0"/>
                            <a:ea typeface="游ゴシック" panose="020B0400000000000000" pitchFamily="34" charset="-128"/>
                          </a:rPr>
                          <m:t>𝒙</m:t>
                        </m:r>
                      </m:e>
                    </m:bar>
                    <m:r>
                      <a:rPr lang="en-NZ" altLang="ja-JP" sz="1800" b="1" i="1" smtClean="0">
                        <a:solidFill>
                          <a:prstClr val="black"/>
                        </a:solidFill>
                        <a:latin typeface="Cambria Math" panose="02040503050406030204" pitchFamily="18" charset="0"/>
                        <a:ea typeface="游ゴシック" panose="020B0400000000000000" pitchFamily="34" charset="-128"/>
                      </a:rPr>
                      <m:t>=(</m:t>
                    </m:r>
                    <m:sSub>
                      <m:sSubPr>
                        <m:ctrlPr>
                          <a:rPr lang="en-NZ" altLang="ja-JP" sz="1800" b="1" i="1" smtClean="0">
                            <a:solidFill>
                              <a:prstClr val="black"/>
                            </a:solidFill>
                            <a:latin typeface="Cambria Math" panose="02040503050406030204" pitchFamily="18" charset="0"/>
                            <a:ea typeface="游ゴシック" panose="020B0400000000000000" pitchFamily="34" charset="-128"/>
                          </a:rPr>
                        </m:ctrlPr>
                      </m:sSubPr>
                      <m:e>
                        <m:r>
                          <a:rPr lang="en-NZ" altLang="ja-JP" sz="1800" b="1" i="1" smtClean="0">
                            <a:solidFill>
                              <a:prstClr val="black"/>
                            </a:solidFill>
                            <a:latin typeface="Cambria Math" panose="02040503050406030204" pitchFamily="18" charset="0"/>
                            <a:ea typeface="游ゴシック" panose="020B0400000000000000" pitchFamily="34" charset="-128"/>
                          </a:rPr>
                          <m:t>𝒙</m:t>
                        </m:r>
                      </m:e>
                      <m:sub>
                        <m:r>
                          <a:rPr lang="en-NZ" altLang="ja-JP" sz="1800" b="1" i="1" smtClean="0">
                            <a:solidFill>
                              <a:prstClr val="black"/>
                            </a:solidFill>
                            <a:latin typeface="Cambria Math" panose="02040503050406030204" pitchFamily="18" charset="0"/>
                            <a:ea typeface="游ゴシック" panose="020B0400000000000000" pitchFamily="34" charset="-128"/>
                          </a:rPr>
                          <m:t>𝟏</m:t>
                        </m:r>
                      </m:sub>
                    </m:sSub>
                    <m:r>
                      <a:rPr lang="en-NZ" altLang="ja-JP" sz="1800" b="1" i="1" smtClean="0">
                        <a:solidFill>
                          <a:prstClr val="black"/>
                        </a:solidFill>
                        <a:latin typeface="Cambria Math" panose="02040503050406030204" pitchFamily="18" charset="0"/>
                        <a:ea typeface="游ゴシック" panose="020B0400000000000000" pitchFamily="34" charset="-128"/>
                      </a:rPr>
                      <m:t>, </m:t>
                    </m:r>
                    <m:sSub>
                      <m:sSubPr>
                        <m:ctrlPr>
                          <a:rPr lang="en-NZ" altLang="ja-JP" sz="1800" b="1" i="1" smtClean="0">
                            <a:solidFill>
                              <a:prstClr val="black"/>
                            </a:solidFill>
                            <a:latin typeface="Cambria Math" panose="02040503050406030204" pitchFamily="18" charset="0"/>
                            <a:ea typeface="游ゴシック" panose="020B0400000000000000" pitchFamily="34" charset="-128"/>
                          </a:rPr>
                        </m:ctrlPr>
                      </m:sSubPr>
                      <m:e>
                        <m:r>
                          <a:rPr lang="en-NZ" altLang="ja-JP" sz="1800" b="1" i="1" smtClean="0">
                            <a:solidFill>
                              <a:prstClr val="black"/>
                            </a:solidFill>
                            <a:latin typeface="Cambria Math" panose="02040503050406030204" pitchFamily="18" charset="0"/>
                            <a:ea typeface="游ゴシック" panose="020B0400000000000000" pitchFamily="34" charset="-128"/>
                          </a:rPr>
                          <m:t>𝒙</m:t>
                        </m:r>
                      </m:e>
                      <m:sub>
                        <m:r>
                          <a:rPr lang="en-NZ" altLang="ja-JP" sz="1800" b="1" i="1" smtClean="0">
                            <a:solidFill>
                              <a:prstClr val="black"/>
                            </a:solidFill>
                            <a:latin typeface="Cambria Math" panose="02040503050406030204" pitchFamily="18" charset="0"/>
                            <a:ea typeface="游ゴシック" panose="020B0400000000000000" pitchFamily="34" charset="-128"/>
                          </a:rPr>
                          <m:t>𝟐</m:t>
                        </m:r>
                      </m:sub>
                    </m:sSub>
                    <m:r>
                      <a:rPr lang="en-NZ" altLang="ja-JP" sz="1800" b="1" i="1" smtClean="0">
                        <a:solidFill>
                          <a:prstClr val="black"/>
                        </a:solidFill>
                        <a:latin typeface="Cambria Math" panose="02040503050406030204" pitchFamily="18" charset="0"/>
                        <a:ea typeface="游ゴシック" panose="020B0400000000000000" pitchFamily="34" charset="-128"/>
                      </a:rPr>
                      <m:t>, …, </m:t>
                    </m:r>
                    <m:sSub>
                      <m:sSubPr>
                        <m:ctrlPr>
                          <a:rPr lang="en-NZ" altLang="ja-JP" sz="1800" b="1" i="1" smtClean="0">
                            <a:solidFill>
                              <a:prstClr val="black"/>
                            </a:solidFill>
                            <a:latin typeface="Cambria Math" panose="02040503050406030204" pitchFamily="18" charset="0"/>
                            <a:ea typeface="游ゴシック" panose="020B0400000000000000" pitchFamily="34" charset="-128"/>
                          </a:rPr>
                        </m:ctrlPr>
                      </m:sSubPr>
                      <m:e>
                        <m:r>
                          <a:rPr lang="en-NZ" altLang="ja-JP" sz="1800" b="1" i="1" smtClean="0">
                            <a:solidFill>
                              <a:prstClr val="black"/>
                            </a:solidFill>
                            <a:latin typeface="Cambria Math" panose="02040503050406030204" pitchFamily="18" charset="0"/>
                            <a:ea typeface="游ゴシック" panose="020B0400000000000000" pitchFamily="34" charset="-128"/>
                          </a:rPr>
                          <m:t>𝒙</m:t>
                        </m:r>
                      </m:e>
                      <m:sub>
                        <m:r>
                          <a:rPr lang="en-NZ" altLang="ja-JP" sz="1800" b="1" i="1" smtClean="0">
                            <a:solidFill>
                              <a:prstClr val="black"/>
                            </a:solidFill>
                            <a:latin typeface="Cambria Math" panose="02040503050406030204" pitchFamily="18" charset="0"/>
                            <a:ea typeface="游ゴシック" panose="020B0400000000000000" pitchFamily="34" charset="-128"/>
                          </a:rPr>
                          <m:t>𝒏</m:t>
                        </m:r>
                      </m:sub>
                    </m:sSub>
                    <m:r>
                      <a:rPr lang="en-NZ" altLang="ja-JP" sz="1800" b="1" i="1" smtClean="0">
                        <a:solidFill>
                          <a:prstClr val="black"/>
                        </a:solidFill>
                        <a:latin typeface="Cambria Math" panose="02040503050406030204" pitchFamily="18" charset="0"/>
                        <a:ea typeface="游ゴシック" panose="020B0400000000000000" pitchFamily="34" charset="-128"/>
                      </a:rPr>
                      <m:t>)</m:t>
                    </m:r>
                  </m:oMath>
                </a14:m>
                <a:endParaRPr lang="en-NZ" altLang="ja-JP" sz="1800" b="1" i="1" dirty="0">
                  <a:solidFill>
                    <a:prstClr val="black"/>
                  </a:solidFill>
                  <a:latin typeface="Calibri" panose="020F0502020204030204"/>
                  <a:ea typeface="游ゴシック" panose="020B0400000000000000" pitchFamily="34" charset="-128"/>
                </a:endParaRPr>
              </a:p>
              <a:p>
                <a:pPr lvl="0" algn="just">
                  <a:lnSpc>
                    <a:spcPct val="100000"/>
                  </a:lnSpc>
                  <a:defRPr/>
                </a:pPr>
                <a:endParaRPr lang="en-NZ" altLang="ja-JP" sz="1800" b="1" i="1" dirty="0">
                  <a:solidFill>
                    <a:prstClr val="black"/>
                  </a:solidFill>
                </a:endParaRPr>
              </a:p>
              <a:p>
                <a:pPr algn="just">
                  <a:lnSpc>
                    <a:spcPct val="100000"/>
                  </a:lnSpc>
                </a:pPr>
                <a:endParaRPr lang="ja-JP" altLang="en-NZ" sz="1800" dirty="0">
                  <a:solidFill>
                    <a:schemeClr val="tx1"/>
                  </a:solidFill>
                </a:endParaRPr>
              </a:p>
            </p:txBody>
          </p:sp>
        </mc:Choice>
        <mc:Fallback xmlns="">
          <p:sp>
            <p:nvSpPr>
              <p:cNvPr id="9" name="Text Placeholder 5">
                <a:extLst>
                  <a:ext uri="{FF2B5EF4-FFF2-40B4-BE49-F238E27FC236}">
                    <a16:creationId xmlns:a16="http://schemas.microsoft.com/office/drawing/2014/main" id="{7BD84D97-3899-4B53-922D-07D78A75E56F}"/>
                  </a:ext>
                </a:extLst>
              </p:cNvPr>
              <p:cNvSpPr txBox="1">
                <a:spLocks noRot="1" noChangeAspect="1" noMove="1" noResize="1" noEditPoints="1" noAdjustHandles="1" noChangeArrowheads="1" noChangeShapeType="1" noTextEdit="1"/>
              </p:cNvSpPr>
              <p:nvPr/>
            </p:nvSpPr>
            <p:spPr>
              <a:xfrm>
                <a:off x="319463" y="1184392"/>
                <a:ext cx="11515144" cy="688450"/>
              </a:xfrm>
              <a:prstGeom prst="rect">
                <a:avLst/>
              </a:prstGeom>
              <a:blipFill>
                <a:blip r:embed="rId3"/>
                <a:stretch>
                  <a:fillRect l="-424" t="-6195" b="-796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6CE29485-D3E4-422D-8510-63FB5181DCCC}"/>
                  </a:ext>
                </a:extLst>
              </p:cNvPr>
              <p:cNvSpPr txBox="1">
                <a:spLocks/>
              </p:cNvSpPr>
              <p:nvPr/>
            </p:nvSpPr>
            <p:spPr>
              <a:xfrm>
                <a:off x="357393" y="3354465"/>
                <a:ext cx="10022749" cy="12743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US" altLang="ja-JP" sz="1800" dirty="0">
                    <a:solidFill>
                      <a:schemeClr val="tx1"/>
                    </a:solidFill>
                    <a:latin typeface="Calibri" panose="020F0502020204030204"/>
                    <a:ea typeface="游ゴシック" panose="020B0400000000000000" pitchFamily="34" charset="-128"/>
                  </a:rPr>
                  <a:t>We define the bias of </a:t>
                </a:r>
                <a14:m>
                  <m:oMath xmlns:m="http://schemas.openxmlformats.org/officeDocument/2006/math">
                    <m:acc>
                      <m:accPr>
                        <m:chr m:val="̂"/>
                        <m:ctrlPr>
                          <a:rPr lang="en-NZ" altLang="ja-JP" sz="1800" b="1" i="1" smtClean="0">
                            <a:solidFill>
                              <a:schemeClr val="tx1"/>
                            </a:solidFill>
                            <a:latin typeface="Cambria Math" panose="02040503050406030204" pitchFamily="18" charset="0"/>
                            <a:ea typeface="游ゴシック" panose="020B0400000000000000" pitchFamily="34" charset="-128"/>
                          </a:rPr>
                        </m:ctrlPr>
                      </m:accPr>
                      <m:e>
                        <m:r>
                          <a:rPr lang="en-NZ" altLang="ja-JP" sz="1800" b="1" i="1" smtClean="0">
                            <a:solidFill>
                              <a:schemeClr val="tx1"/>
                            </a:solidFill>
                            <a:latin typeface="Cambria Math" panose="02040503050406030204" pitchFamily="18" charset="0"/>
                            <a:ea typeface="游ゴシック" panose="020B0400000000000000" pitchFamily="34" charset="-128"/>
                          </a:rPr>
                          <m:t>𝜽</m:t>
                        </m:r>
                      </m:e>
                    </m:acc>
                  </m:oMath>
                </a14:m>
                <a:r>
                  <a:rPr kumimoji="1" lang="en-US" altLang="ja-JP" sz="18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NZ" altLang="ja-JP" sz="18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such that</a:t>
                </a:r>
              </a:p>
              <a:p>
                <a:pPr lvl="0">
                  <a:lnSpc>
                    <a:spcPct val="100000"/>
                  </a:lnSpc>
                  <a:defRPr/>
                </a:pPr>
                <a:endParaRPr kumimoji="1" lang="en-NZ" altLang="ja-JP" sz="2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a:p>
                <a:pPr lvl="0">
                  <a:lnSpc>
                    <a:spcPct val="100000"/>
                  </a:lnSpc>
                  <a:defRPr/>
                </a:pPr>
                <a:endParaRPr kumimoji="1" lang="en-NZ" altLang="ja-JP" sz="2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a:p>
                <a:pPr lvl="0">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rgbClr val="C00000"/>
                          </a:solidFill>
                          <a:latin typeface="Cambria Math" panose="02040503050406030204" pitchFamily="18" charset="0"/>
                        </a:rPr>
                        <m:t>𝑩𝒊𝒂𝒔</m:t>
                      </m:r>
                      <m:d>
                        <m:dPr>
                          <m:begChr m:val="["/>
                          <m:endChr m:val="]"/>
                          <m:ctrlPr>
                            <a:rPr lang="en-NZ" altLang="ja-JP" sz="1800" b="1" i="1" smtClean="0">
                              <a:solidFill>
                                <a:srgbClr val="C00000"/>
                              </a:solidFill>
                              <a:latin typeface="Cambria Math" panose="02040503050406030204" pitchFamily="18" charset="0"/>
                            </a:rPr>
                          </m:ctrlPr>
                        </m:dPr>
                        <m:e>
                          <m:acc>
                            <m:accPr>
                              <m:chr m:val="̂"/>
                              <m:ctrlPr>
                                <a:rPr lang="en-NZ" altLang="ja-JP" sz="1800" b="1" i="1" smtClean="0">
                                  <a:solidFill>
                                    <a:srgbClr val="C00000"/>
                                  </a:solidFill>
                                  <a:latin typeface="Cambria Math" panose="02040503050406030204" pitchFamily="18" charset="0"/>
                                </a:rPr>
                              </m:ctrlPr>
                            </m:accPr>
                            <m:e>
                              <m:r>
                                <a:rPr lang="en-NZ" altLang="ja-JP" sz="1800" b="1" i="1" smtClean="0">
                                  <a:solidFill>
                                    <a:srgbClr val="C00000"/>
                                  </a:solidFill>
                                  <a:latin typeface="Cambria Math" panose="02040503050406030204" pitchFamily="18" charset="0"/>
                                </a:rPr>
                                <m:t>𝜽</m:t>
                              </m:r>
                            </m:e>
                          </m:acc>
                        </m:e>
                      </m:d>
                      <m:r>
                        <a:rPr lang="en-NZ" altLang="ja-JP" sz="1800" b="1" i="1" smtClean="0">
                          <a:solidFill>
                            <a:srgbClr val="C00000"/>
                          </a:solidFill>
                          <a:latin typeface="Cambria Math" panose="02040503050406030204" pitchFamily="18" charset="0"/>
                        </a:rPr>
                        <m:t>  </m:t>
                      </m:r>
                      <m:r>
                        <m:rPr>
                          <m:lit/>
                        </m:rPr>
                        <a:rPr lang="en-NZ" altLang="ja-JP" sz="1800" b="1" i="1" smtClean="0">
                          <a:solidFill>
                            <a:srgbClr val="C00000"/>
                          </a:solidFill>
                          <a:latin typeface="Cambria Math" panose="02040503050406030204" pitchFamily="18" charset="0"/>
                        </a:rPr>
                        <m:t> </m:t>
                      </m:r>
                      <m:r>
                        <a:rPr lang="en-NZ" altLang="ja-JP" sz="1800" b="1" i="1" smtClean="0">
                          <a:solidFill>
                            <a:srgbClr val="C00000"/>
                          </a:solidFill>
                          <a:latin typeface="Cambria Math" panose="02040503050406030204" pitchFamily="18" charset="0"/>
                        </a:rPr>
                        <m:t>≡  </m:t>
                      </m:r>
                      <m:r>
                        <a:rPr lang="en-NZ" altLang="ja-JP" sz="1800" b="1" i="1">
                          <a:solidFill>
                            <a:srgbClr val="C00000"/>
                          </a:solidFill>
                          <a:latin typeface="Cambria Math" panose="02040503050406030204" pitchFamily="18" charset="0"/>
                        </a:rPr>
                        <m:t>𝑬</m:t>
                      </m:r>
                      <m:d>
                        <m:dPr>
                          <m:begChr m:val="["/>
                          <m:endChr m:val="]"/>
                          <m:ctrlPr>
                            <a:rPr lang="en-NZ" altLang="ja-JP" sz="1800" b="1" i="1">
                              <a:solidFill>
                                <a:srgbClr val="C00000"/>
                              </a:solidFill>
                              <a:latin typeface="Cambria Math" panose="02040503050406030204" pitchFamily="18" charset="0"/>
                            </a:rPr>
                          </m:ctrlPr>
                        </m:dPr>
                        <m:e>
                          <m:acc>
                            <m:accPr>
                              <m:chr m:val="̂"/>
                              <m:ctrlPr>
                                <a:rPr lang="en-NZ" altLang="ja-JP" sz="1800" b="1" i="1">
                                  <a:solidFill>
                                    <a:srgbClr val="C00000"/>
                                  </a:solidFill>
                                  <a:latin typeface="Cambria Math" panose="02040503050406030204" pitchFamily="18" charset="0"/>
                                </a:rPr>
                              </m:ctrlPr>
                            </m:accPr>
                            <m:e>
                              <m:r>
                                <a:rPr lang="en-NZ" altLang="ja-JP" sz="1800" b="1" i="1">
                                  <a:solidFill>
                                    <a:srgbClr val="C00000"/>
                                  </a:solidFill>
                                  <a:latin typeface="Cambria Math" panose="02040503050406030204" pitchFamily="18" charset="0"/>
                                </a:rPr>
                                <m:t>𝜽</m:t>
                              </m:r>
                            </m:e>
                          </m:acc>
                        </m:e>
                      </m:d>
                      <m:r>
                        <a:rPr lang="en-NZ" altLang="ja-JP" sz="1800" b="1" i="1" smtClean="0">
                          <a:solidFill>
                            <a:srgbClr val="C00000"/>
                          </a:solidFill>
                          <a:latin typeface="Cambria Math" panose="02040503050406030204" pitchFamily="18" charset="0"/>
                        </a:rPr>
                        <m:t> − </m:t>
                      </m:r>
                      <m:r>
                        <a:rPr lang="en-NZ" altLang="ja-JP" sz="1800" b="1" i="1">
                          <a:solidFill>
                            <a:srgbClr val="C00000"/>
                          </a:solidFill>
                          <a:latin typeface="Cambria Math" panose="02040503050406030204" pitchFamily="18" charset="0"/>
                        </a:rPr>
                        <m:t>𝜽</m:t>
                      </m:r>
                      <m:r>
                        <a:rPr lang="en-NZ" altLang="ja-JP" sz="1800" b="1" i="1" smtClean="0">
                          <a:solidFill>
                            <a:srgbClr val="C00000"/>
                          </a:solidFill>
                          <a:latin typeface="Cambria Math" panose="02040503050406030204" pitchFamily="18" charset="0"/>
                        </a:rPr>
                        <m:t> </m:t>
                      </m:r>
                    </m:oMath>
                  </m:oMathPara>
                </a14:m>
                <a:endParaRPr kumimoji="1" lang="en-US" altLang="ja-JP" sz="18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lvl="0">
                  <a:lnSpc>
                    <a:spcPct val="100000"/>
                  </a:lnSpc>
                  <a:defRPr/>
                </a:pPr>
                <a:endParaRPr lang="en-US" altLang="ja-JP" sz="200" dirty="0">
                  <a:solidFill>
                    <a:schemeClr val="tx1"/>
                  </a:solidFill>
                  <a:latin typeface="Calibri" panose="020F0502020204030204"/>
                  <a:ea typeface="游ゴシック" panose="020B0400000000000000" pitchFamily="34" charset="-128"/>
                </a:endParaRPr>
              </a:p>
              <a:p>
                <a:pPr lvl="0">
                  <a:lnSpc>
                    <a:spcPct val="100000"/>
                  </a:lnSpc>
                  <a:defRPr/>
                </a:pPr>
                <a:endParaRPr kumimoji="1" lang="en-US" altLang="ja-JP" sz="2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a:p>
                <a:pPr lvl="0">
                  <a:lnSpc>
                    <a:spcPct val="100000"/>
                  </a:lnSpc>
                  <a:defRPr/>
                </a:pPr>
                <a:r>
                  <a:rPr lang="en-US" altLang="ja-JP" sz="1800" dirty="0">
                    <a:solidFill>
                      <a:schemeClr val="tx1"/>
                    </a:solidFill>
                    <a:latin typeface="Calibri" panose="020F0502020204030204"/>
                    <a:ea typeface="游ゴシック" panose="020B0400000000000000" pitchFamily="34" charset="-128"/>
                  </a:rPr>
                  <a:t>We say that  </a:t>
                </a:r>
                <a14:m>
                  <m:oMath xmlns:m="http://schemas.openxmlformats.org/officeDocument/2006/math">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oMath>
                </a14:m>
                <a:r>
                  <a:rPr lang="en-US" altLang="ja-JP" sz="1800" dirty="0">
                    <a:solidFill>
                      <a:schemeClr val="tx1"/>
                    </a:solidFill>
                  </a:rPr>
                  <a:t>  </a:t>
                </a:r>
                <a:r>
                  <a:rPr lang="en-US" altLang="ja-JP" sz="1800" dirty="0">
                    <a:solidFill>
                      <a:schemeClr val="tx1"/>
                    </a:solidFill>
                    <a:latin typeface="Calibri" panose="020F0502020204030204"/>
                    <a:ea typeface="游ゴシック" panose="020B0400000000000000" pitchFamily="34" charset="-128"/>
                  </a:rPr>
                  <a:t>is an unbiassed estimator of </a:t>
                </a:r>
                <a14:m>
                  <m:oMath xmlns:m="http://schemas.openxmlformats.org/officeDocument/2006/math">
                    <m:r>
                      <a:rPr lang="en-NZ" altLang="ja-JP" sz="1800" b="1" i="1">
                        <a:solidFill>
                          <a:schemeClr val="tx1"/>
                        </a:solidFill>
                        <a:latin typeface="Cambria Math" panose="02040503050406030204" pitchFamily="18" charset="0"/>
                      </a:rPr>
                      <m:t>𝜽</m:t>
                    </m:r>
                    <m:r>
                      <a:rPr lang="en-NZ" altLang="ja-JP" sz="1800" b="1" i="1">
                        <a:solidFill>
                          <a:schemeClr val="tx1"/>
                        </a:solidFill>
                        <a:latin typeface="Cambria Math" panose="02040503050406030204" pitchFamily="18" charset="0"/>
                      </a:rPr>
                      <m:t> </m:t>
                    </m:r>
                  </m:oMath>
                </a14:m>
                <a:r>
                  <a:rPr lang="en-US" altLang="ja-JP" sz="1800" dirty="0">
                    <a:solidFill>
                      <a:schemeClr val="tx1"/>
                    </a:solidFill>
                    <a:latin typeface="Calibri" panose="020F0502020204030204"/>
                    <a:ea typeface="游ゴシック" panose="020B0400000000000000" pitchFamily="34" charset="-128"/>
                  </a:rPr>
                  <a:t> if  </a:t>
                </a:r>
                <a14:m>
                  <m:oMath xmlns:m="http://schemas.openxmlformats.org/officeDocument/2006/math">
                    <m:r>
                      <a:rPr lang="en-NZ" altLang="ja-JP" sz="1800" b="1" i="1">
                        <a:solidFill>
                          <a:schemeClr val="tx1"/>
                        </a:solidFill>
                        <a:latin typeface="Cambria Math" panose="02040503050406030204" pitchFamily="18" charset="0"/>
                      </a:rPr>
                      <m:t>𝑩𝒊𝒂𝒔</m:t>
                    </m:r>
                    <m:d>
                      <m:dPr>
                        <m:begChr m:val="["/>
                        <m:endChr m:val="]"/>
                        <m:ctrlPr>
                          <a:rPr lang="en-NZ" altLang="ja-JP" sz="1800" b="1" i="1">
                            <a:solidFill>
                              <a:schemeClr val="tx1"/>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oMath>
                </a14:m>
                <a:r>
                  <a:rPr kumimoji="1" lang="en-US" altLang="ja-JP" sz="18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0.</a:t>
                </a:r>
              </a:p>
            </p:txBody>
          </p:sp>
        </mc:Choice>
        <mc:Fallback xmlns="">
          <p:sp>
            <p:nvSpPr>
              <p:cNvPr id="18" name="Text Placeholder 5">
                <a:extLst>
                  <a:ext uri="{FF2B5EF4-FFF2-40B4-BE49-F238E27FC236}">
                    <a16:creationId xmlns:a16="http://schemas.microsoft.com/office/drawing/2014/main" id="{6CE29485-D3E4-422D-8510-63FB5181DCCC}"/>
                  </a:ext>
                </a:extLst>
              </p:cNvPr>
              <p:cNvSpPr txBox="1">
                <a:spLocks noRot="1" noChangeAspect="1" noMove="1" noResize="1" noEditPoints="1" noAdjustHandles="1" noChangeArrowheads="1" noChangeShapeType="1" noTextEdit="1"/>
              </p:cNvSpPr>
              <p:nvPr/>
            </p:nvSpPr>
            <p:spPr>
              <a:xfrm>
                <a:off x="357393" y="3354465"/>
                <a:ext cx="10022749" cy="1274327"/>
              </a:xfrm>
              <a:prstGeom prst="rect">
                <a:avLst/>
              </a:prstGeom>
              <a:blipFill>
                <a:blip r:embed="rId4"/>
                <a:stretch>
                  <a:fillRect l="-547" t="-143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9B25D11B-6C50-465D-80E3-F5C2AAF4AAAE}"/>
                  </a:ext>
                </a:extLst>
              </p:cNvPr>
              <p:cNvSpPr txBox="1">
                <a:spLocks/>
              </p:cNvSpPr>
              <p:nvPr/>
            </p:nvSpPr>
            <p:spPr>
              <a:xfrm>
                <a:off x="357393" y="2282335"/>
                <a:ext cx="11731972" cy="6844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then </a:t>
                </a:r>
                <a:r>
                  <a:rPr lang="en-NZ" altLang="ja-JP" sz="1800" dirty="0">
                    <a:solidFill>
                      <a:prstClr val="black"/>
                    </a:solidFill>
                  </a:rPr>
                  <a:t>calculate a sample statistic </a:t>
                </a:r>
                <a14:m>
                  <m:oMath xmlns:m="http://schemas.openxmlformats.org/officeDocument/2006/math">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𝒈</m:t>
                    </m:r>
                    <m:r>
                      <a:rPr lang="en-NZ" altLang="ja-JP" sz="1800" b="1" i="1">
                        <a:solidFill>
                          <a:prstClr val="black"/>
                        </a:solidFill>
                        <a:latin typeface="Cambria Math" panose="02040503050406030204" pitchFamily="18" charset="0"/>
                      </a:rPr>
                      <m:t>(</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r>
                      <a:rPr lang="en-NZ" altLang="ja-JP" sz="1800" b="1" i="1">
                        <a:solidFill>
                          <a:prstClr val="black"/>
                        </a:solidFill>
                        <a:latin typeface="Cambria Math" panose="02040503050406030204" pitchFamily="18" charset="0"/>
                      </a:rPr>
                      <m:t>)</m:t>
                    </m:r>
                  </m:oMath>
                </a14:m>
                <a:r>
                  <a:rPr lang="en-NZ" altLang="ja-JP" sz="1800" b="1" i="1" dirty="0">
                    <a:solidFill>
                      <a:prstClr val="black"/>
                    </a:solidFill>
                  </a:rPr>
                  <a:t> </a:t>
                </a:r>
                <a:r>
                  <a:rPr lang="en-NZ" altLang="ja-JP" sz="1800" dirty="0">
                    <a:solidFill>
                      <a:prstClr val="black"/>
                    </a:solidFill>
                  </a:rPr>
                  <a:t>that serves as an estimate of </a:t>
                </a:r>
                <a14:m>
                  <m:oMath xmlns:m="http://schemas.openxmlformats.org/officeDocument/2006/math">
                    <m:r>
                      <a:rPr lang="en-NZ" altLang="ja-JP" sz="1800" b="1" i="1">
                        <a:solidFill>
                          <a:prstClr val="black"/>
                        </a:solidFill>
                        <a:latin typeface="Cambria Math" panose="02040503050406030204" pitchFamily="18" charset="0"/>
                      </a:rPr>
                      <m:t>𝜽</m:t>
                    </m:r>
                  </m:oMath>
                </a14:m>
                <a:r>
                  <a:rPr lang="en-NZ" altLang="ja-JP" sz="1800" b="1" i="1" dirty="0">
                    <a:solidFill>
                      <a:prstClr val="black"/>
                    </a:solidFill>
                  </a:rPr>
                  <a:t>.</a:t>
                </a:r>
              </a:p>
              <a:p>
                <a:pPr algn="just">
                  <a:lnSpc>
                    <a:spcPct val="100000"/>
                  </a:lnSpc>
                </a:pPr>
                <a:r>
                  <a:rPr lang="en-NZ" altLang="ja-JP" sz="1800" dirty="0">
                    <a:solidFill>
                      <a:prstClr val="black"/>
                    </a:solidFill>
                  </a:rPr>
                  <a:t>We may ask </a:t>
                </a:r>
                <a:r>
                  <a:rPr lang="en-US" altLang="ja-JP" sz="1800" dirty="0">
                    <a:solidFill>
                      <a:schemeClr val="bg2">
                        <a:lumMod val="25000"/>
                      </a:schemeClr>
                    </a:solidFill>
                    <a:latin typeface="Calibri" panose="020F0502020204030204"/>
                    <a:ea typeface="游ゴシック" panose="020B0400000000000000" pitchFamily="34" charset="-128"/>
                  </a:rPr>
                  <a:t>is </a:t>
                </a:r>
                <a14:m>
                  <m:oMath xmlns:m="http://schemas.openxmlformats.org/officeDocument/2006/math">
                    <m:r>
                      <a:rPr lang="en-NZ" altLang="ja-JP" sz="1800" b="1" i="1" smtClean="0">
                        <a:solidFill>
                          <a:schemeClr val="tx1"/>
                        </a:solidFill>
                        <a:latin typeface="Cambria Math" panose="02040503050406030204" pitchFamily="18" charset="0"/>
                        <a:ea typeface="游ゴシック" panose="020B0400000000000000" pitchFamily="34" charset="-128"/>
                      </a:rPr>
                      <m:t>𝑬</m:t>
                    </m:r>
                    <m:d>
                      <m:dPr>
                        <m:begChr m:val="["/>
                        <m:endChr m:val="]"/>
                        <m:ctrlPr>
                          <a:rPr lang="en-NZ" altLang="ja-JP" sz="1800" b="1" i="1" smtClean="0">
                            <a:solidFill>
                              <a:schemeClr val="tx1"/>
                            </a:solidFill>
                            <a:latin typeface="Cambria Math" panose="02040503050406030204" pitchFamily="18" charset="0"/>
                            <a:ea typeface="游ゴシック" panose="020B0400000000000000" pitchFamily="34" charset="-128"/>
                          </a:rPr>
                        </m:ctrlPr>
                      </m:dPr>
                      <m:e>
                        <m:acc>
                          <m:accPr>
                            <m:chr m:val="̂"/>
                            <m:ctrlPr>
                              <a:rPr lang="en-NZ" altLang="ja-JP" sz="1800" b="1" i="1" smtClean="0">
                                <a:solidFill>
                                  <a:schemeClr val="tx1"/>
                                </a:solidFill>
                                <a:latin typeface="Cambria Math" panose="02040503050406030204" pitchFamily="18" charset="0"/>
                                <a:ea typeface="游ゴシック" panose="020B0400000000000000" pitchFamily="34" charset="-128"/>
                              </a:rPr>
                            </m:ctrlPr>
                          </m:accPr>
                          <m:e>
                            <m:r>
                              <a:rPr lang="en-NZ" altLang="ja-JP" sz="1800" b="1" i="1" smtClean="0">
                                <a:solidFill>
                                  <a:schemeClr val="tx1"/>
                                </a:solidFill>
                                <a:latin typeface="Cambria Math" panose="02040503050406030204" pitchFamily="18" charset="0"/>
                                <a:ea typeface="游ゴシック" panose="020B0400000000000000" pitchFamily="34" charset="-128"/>
                              </a:rPr>
                              <m:t>𝜽</m:t>
                            </m:r>
                          </m:e>
                        </m:acc>
                      </m:e>
                    </m:d>
                    <m:r>
                      <a:rPr lang="en-NZ" altLang="ja-JP" sz="1800" b="1" i="1" smtClean="0">
                        <a:solidFill>
                          <a:schemeClr val="tx1"/>
                        </a:solidFill>
                        <a:latin typeface="Cambria Math" panose="02040503050406030204" pitchFamily="18" charset="0"/>
                        <a:ea typeface="游ゴシック" panose="020B0400000000000000" pitchFamily="34" charset="-128"/>
                      </a:rPr>
                      <m:t>=</m:t>
                    </m:r>
                    <m:r>
                      <a:rPr lang="en-NZ" altLang="ja-JP" sz="1800" b="1" i="1" smtClean="0">
                        <a:solidFill>
                          <a:schemeClr val="tx1"/>
                        </a:solidFill>
                        <a:latin typeface="Cambria Math" panose="02040503050406030204" pitchFamily="18" charset="0"/>
                        <a:ea typeface="游ゴシック" panose="020B0400000000000000" pitchFamily="34" charset="-128"/>
                      </a:rPr>
                      <m:t>𝜽</m:t>
                    </m:r>
                  </m:oMath>
                </a14:m>
                <a:r>
                  <a:rPr kumimoji="1" lang="en-US" altLang="ja-JP" sz="18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endParaRPr lang="en-NZ" altLang="ja-JP" sz="1800" dirty="0">
                  <a:solidFill>
                    <a:schemeClr val="tx1"/>
                  </a:solidFill>
                </a:endParaRPr>
              </a:p>
              <a:p>
                <a:pPr algn="just">
                  <a:lnSpc>
                    <a:spcPct val="100000"/>
                  </a:lnSpc>
                </a:pPr>
                <a:endParaRPr lang="ja-JP" altLang="en-NZ" sz="1800" dirty="0">
                  <a:solidFill>
                    <a:schemeClr val="tx1"/>
                  </a:solidFill>
                </a:endParaRPr>
              </a:p>
            </p:txBody>
          </p:sp>
        </mc:Choice>
        <mc:Fallback xmlns="">
          <p:sp>
            <p:nvSpPr>
              <p:cNvPr id="19" name="Text Placeholder 5">
                <a:extLst>
                  <a:ext uri="{FF2B5EF4-FFF2-40B4-BE49-F238E27FC236}">
                    <a16:creationId xmlns:a16="http://schemas.microsoft.com/office/drawing/2014/main" id="{9B25D11B-6C50-465D-80E3-F5C2AAF4AAAE}"/>
                  </a:ext>
                </a:extLst>
              </p:cNvPr>
              <p:cNvSpPr txBox="1">
                <a:spLocks noRot="1" noChangeAspect="1" noMove="1" noResize="1" noEditPoints="1" noAdjustHandles="1" noChangeArrowheads="1" noChangeShapeType="1" noTextEdit="1"/>
              </p:cNvSpPr>
              <p:nvPr/>
            </p:nvSpPr>
            <p:spPr>
              <a:xfrm>
                <a:off x="357393" y="2282335"/>
                <a:ext cx="11731972" cy="684478"/>
              </a:xfrm>
              <a:prstGeom prst="rect">
                <a:avLst/>
              </a:prstGeom>
              <a:blipFill>
                <a:blip r:embed="rId5"/>
                <a:stretch>
                  <a:fillRect l="-468" t="-885" b="-1504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C261FC69-C468-4571-A4C8-FD34B494C52A}"/>
                  </a:ext>
                </a:extLst>
              </p:cNvPr>
              <p:cNvSpPr txBox="1">
                <a:spLocks/>
              </p:cNvSpPr>
              <p:nvPr/>
            </p:nvSpPr>
            <p:spPr>
              <a:xfrm>
                <a:off x="319463" y="5055669"/>
                <a:ext cx="10721576" cy="6844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latin typeface="Calibri" panose="020F0502020204030204"/>
                    <a:ea typeface="游ゴシック" panose="020B0400000000000000" pitchFamily="34" charset="-128"/>
                  </a:rPr>
                  <a:t>Although </a:t>
                </a:r>
                <a14:m>
                  <m:oMath xmlns:m="http://schemas.openxmlformats.org/officeDocument/2006/math">
                    <m:r>
                      <a:rPr lang="en-NZ" altLang="ja-JP" sz="1800" b="1" i="1">
                        <a:solidFill>
                          <a:schemeClr val="tx1"/>
                        </a:solidFill>
                        <a:latin typeface="Cambria Math" panose="02040503050406030204" pitchFamily="18" charset="0"/>
                      </a:rPr>
                      <m:t>𝑩𝒊𝒂𝒔</m:t>
                    </m:r>
                    <m:d>
                      <m:dPr>
                        <m:begChr m:val="["/>
                        <m:endChr m:val="]"/>
                        <m:ctrlPr>
                          <a:rPr lang="en-NZ" altLang="ja-JP" sz="1800" b="1" i="1">
                            <a:solidFill>
                              <a:schemeClr val="tx1"/>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oMath>
                </a14:m>
                <a:r>
                  <a:rPr lang="en-NZ" altLang="ja-JP" sz="1800" dirty="0">
                    <a:solidFill>
                      <a:schemeClr val="tx1"/>
                    </a:solidFill>
                    <a:latin typeface="Calibri" panose="020F0502020204030204"/>
                    <a:ea typeface="游ゴシック" panose="020B0400000000000000" pitchFamily="34" charset="-128"/>
                  </a:rPr>
                  <a:t> is unknown (since </a:t>
                </a:r>
                <a:r>
                  <a:rPr lang="ja-JP" altLang="en-NZ" sz="1800" dirty="0">
                    <a:solidFill>
                      <a:schemeClr val="tx1"/>
                    </a:solidFill>
                  </a:rPr>
                  <a:t>𝜽 </a:t>
                </a:r>
                <a:r>
                  <a:rPr lang="en-NZ" altLang="ja-JP" sz="1800" dirty="0">
                    <a:solidFill>
                      <a:schemeClr val="tx1"/>
                    </a:solidFill>
                    <a:latin typeface="Calibri" panose="020F0502020204030204"/>
                    <a:ea typeface="游ゴシック" panose="020B0400000000000000" pitchFamily="34" charset="-128"/>
                  </a:rPr>
                  <a:t>is unknown), it can be</a:t>
                </a:r>
                <a:r>
                  <a:rPr lang="en-NZ" altLang="ja-JP" sz="1800" i="1" dirty="0">
                    <a:solidFill>
                      <a:schemeClr val="tx1"/>
                    </a:solidFill>
                    <a:latin typeface="Calibri" panose="020F0502020204030204"/>
                    <a:ea typeface="游ゴシック" panose="020B0400000000000000" pitchFamily="34" charset="-128"/>
                  </a:rPr>
                  <a:t> estimated </a:t>
                </a:r>
                <a:r>
                  <a:rPr lang="en-NZ" altLang="ja-JP" sz="1800" dirty="0">
                    <a:solidFill>
                      <a:schemeClr val="tx1"/>
                    </a:solidFill>
                    <a:latin typeface="Calibri" panose="020F0502020204030204"/>
                    <a:ea typeface="游ゴシック" panose="020B0400000000000000" pitchFamily="34" charset="-128"/>
                  </a:rPr>
                  <a:t>via the following procedure which leads us to a biased corrected estimate of </a:t>
                </a:r>
                <a:r>
                  <a:rPr lang="ja-JP" altLang="en-NZ" sz="1800" dirty="0">
                    <a:solidFill>
                      <a:schemeClr val="tx1"/>
                    </a:solidFill>
                  </a:rPr>
                  <a:t>𝜽</a:t>
                </a:r>
                <a:r>
                  <a:rPr lang="en-NZ" altLang="ja-JP" sz="1800" dirty="0">
                    <a:solidFill>
                      <a:schemeClr val="tx1"/>
                    </a:solidFill>
                    <a:latin typeface="Calibri" panose="020F0502020204030204"/>
                    <a:ea typeface="游ゴシック" panose="020B0400000000000000" pitchFamily="34" charset="-128"/>
                  </a:rPr>
                  <a:t>.  </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11" name="Text Placeholder 5">
                <a:extLst>
                  <a:ext uri="{FF2B5EF4-FFF2-40B4-BE49-F238E27FC236}">
                    <a16:creationId xmlns:a16="http://schemas.microsoft.com/office/drawing/2014/main" id="{C261FC69-C468-4571-A4C8-FD34B494C52A}"/>
                  </a:ext>
                </a:extLst>
              </p:cNvPr>
              <p:cNvSpPr txBox="1">
                <a:spLocks noRot="1" noChangeAspect="1" noMove="1" noResize="1" noEditPoints="1" noAdjustHandles="1" noChangeArrowheads="1" noChangeShapeType="1" noTextEdit="1"/>
              </p:cNvSpPr>
              <p:nvPr/>
            </p:nvSpPr>
            <p:spPr>
              <a:xfrm>
                <a:off x="319463" y="5055669"/>
                <a:ext cx="10721576" cy="684479"/>
              </a:xfrm>
              <a:prstGeom prst="rect">
                <a:avLst/>
              </a:prstGeom>
              <a:blipFill>
                <a:blip r:embed="rId6"/>
                <a:stretch>
                  <a:fillRect l="-455" t="-2655" b="-12389"/>
                </a:stretch>
              </a:blipFill>
            </p:spPr>
            <p:txBody>
              <a:bodyPr/>
              <a:lstStyle/>
              <a:p>
                <a:r>
                  <a:rPr lang="en-NZ">
                    <a:noFill/>
                  </a:rPr>
                  <a:t> </a:t>
                </a:r>
              </a:p>
            </p:txBody>
          </p:sp>
        </mc:Fallback>
      </mc:AlternateContent>
    </p:spTree>
    <p:extLst>
      <p:ext uri="{BB962C8B-B14F-4D97-AF65-F5344CB8AC3E}">
        <p14:creationId xmlns:p14="http://schemas.microsoft.com/office/powerpoint/2010/main" val="60912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.3a – Bias Correction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Bias Correction via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95F7B0FE-EB6C-4ED8-B3F5-051BC05D60BB}"/>
                  </a:ext>
                </a:extLst>
              </p:cNvPr>
              <p:cNvSpPr txBox="1">
                <a:spLocks/>
              </p:cNvSpPr>
              <p:nvPr/>
            </p:nvSpPr>
            <p:spPr>
              <a:xfrm>
                <a:off x="1534114" y="1939404"/>
                <a:ext cx="9556966" cy="13157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NZ" altLang="ja-JP" sz="1800" dirty="0">
                    <a:solidFill>
                      <a:prstClr val="black"/>
                    </a:solidFill>
                  </a:rPr>
                  <a:t>For </a:t>
                </a:r>
                <a:r>
                  <a:rPr lang="en-NZ" altLang="ja-JP" sz="1800" b="1" i="1" dirty="0" err="1">
                    <a:solidFill>
                      <a:prstClr val="black"/>
                    </a:solidFill>
                  </a:rPr>
                  <a:t>i</a:t>
                </a:r>
                <a:r>
                  <a:rPr lang="en-NZ" altLang="ja-JP" sz="1800" b="1" i="1" dirty="0">
                    <a:solidFill>
                      <a:prstClr val="black"/>
                    </a:solidFill>
                  </a:rPr>
                  <a:t> = 1 , … , B  </a:t>
                </a:r>
              </a:p>
              <a:p>
                <a:pPr>
                  <a:lnSpc>
                    <a:spcPct val="100000"/>
                  </a:lnSpc>
                  <a:defRPr/>
                </a:pPr>
                <a:r>
                  <a:rPr lang="en-NZ" altLang="ja-JP" sz="1800" dirty="0">
                    <a:solidFill>
                      <a:prstClr val="black"/>
                    </a:solidFill>
                  </a:rPr>
                  <a:t>create bootstrap sample </a:t>
                </a:r>
                <a14:m>
                  <m:oMath xmlns:m="http://schemas.openxmlformats.org/officeDocument/2006/math">
                    <m:r>
                      <a:rPr lang="en-NZ" altLang="ja-JP" sz="1800" b="1" i="1">
                        <a:solidFill>
                          <a:prstClr val="black"/>
                        </a:solidFill>
                        <a:latin typeface="Cambria Math" panose="02040503050406030204" pitchFamily="18" charset="0"/>
                      </a:rPr>
                      <m:t>𝒊</m:t>
                    </m:r>
                  </m:oMath>
                </a14:m>
                <a:r>
                  <a:rPr lang="en-NZ" altLang="ja-JP" sz="1800" dirty="0">
                    <a:solidFill>
                      <a:prstClr val="black"/>
                    </a:solidFill>
                  </a:rPr>
                  <a:t> of length </a:t>
                </a:r>
                <a14:m>
                  <m:oMath xmlns:m="http://schemas.openxmlformats.org/officeDocument/2006/math">
                    <m:r>
                      <a:rPr lang="en-NZ" altLang="ja-JP" sz="1800" b="1" i="1">
                        <a:solidFill>
                          <a:prstClr val="black"/>
                        </a:solidFill>
                        <a:latin typeface="Cambria Math" panose="02040503050406030204" pitchFamily="18" charset="0"/>
                      </a:rPr>
                      <m:t>𝒏</m:t>
                    </m:r>
                  </m:oMath>
                </a14:m>
                <a:r>
                  <a:rPr lang="en-NZ" altLang="ja-JP" sz="1800" dirty="0">
                    <a:solidFill>
                      <a:prstClr val="black"/>
                    </a:solidFill>
                  </a:rPr>
                  <a:t> such that   </a:t>
                </a:r>
                <a14:m>
                  <m:oMath xmlns:m="http://schemas.openxmlformats.org/officeDocument/2006/math">
                    <m:sSup>
                      <m:sSupPr>
                        <m:ctrlPr>
                          <a:rPr lang="en-NZ" altLang="ja-JP" sz="1800" b="1" i="1">
                            <a:solidFill>
                              <a:prstClr val="black"/>
                            </a:solidFill>
                            <a:latin typeface="Cambria Math" panose="02040503050406030204" pitchFamily="18" charset="0"/>
                          </a:rPr>
                        </m:ctrlPr>
                      </m:sSup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r>
                      <a:rPr lang="en-NZ" altLang="ja-JP" sz="1800" b="1" i="1">
                        <a:solidFill>
                          <a:prstClr val="black"/>
                        </a:solidFill>
                        <a:latin typeface="Cambria Math" panose="02040503050406030204" pitchFamily="18" charset="0"/>
                      </a:rPr>
                      <m:t>=(</m:t>
                    </m:r>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r>
                      <a:rPr lang="en-NZ" altLang="ja-JP" sz="1800" b="1" i="1">
                        <a:solidFill>
                          <a:prstClr val="black"/>
                        </a:solidFill>
                        <a:latin typeface="Cambria Math" panose="02040503050406030204" pitchFamily="18" charset="0"/>
                      </a:rPr>
                      <m:t>,  </m:t>
                    </m:r>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r>
                      <a:rPr lang="en-NZ" altLang="ja-JP" sz="1800" b="1" i="1">
                        <a:solidFill>
                          <a:prstClr val="black"/>
                        </a:solidFill>
                        <a:latin typeface="Cambria Math" panose="02040503050406030204" pitchFamily="18" charset="0"/>
                      </a:rPr>
                      <m:t> , …, </m:t>
                    </m:r>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𝒏</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r>
                      <a:rPr lang="en-NZ" altLang="ja-JP" sz="1800" b="1" i="1">
                        <a:solidFill>
                          <a:prstClr val="black"/>
                        </a:solidFill>
                        <a:latin typeface="Cambria Math" panose="02040503050406030204" pitchFamily="18" charset="0"/>
                      </a:rPr>
                      <m:t> )</m:t>
                    </m:r>
                  </m:oMath>
                </a14:m>
                <a:r>
                  <a:rPr lang="en-NZ" altLang="ja-JP" sz="1800" b="1" i="1" dirty="0">
                    <a:solidFill>
                      <a:prstClr val="black"/>
                    </a:solidFill>
                  </a:rPr>
                  <a:t>  </a:t>
                </a:r>
                <a:br>
                  <a:rPr lang="en-NZ" altLang="ja-JP" sz="1800" b="1" i="1" dirty="0">
                    <a:solidFill>
                      <a:prstClr val="black"/>
                    </a:solidFill>
                  </a:rPr>
                </a:br>
                <a:r>
                  <a:rPr lang="en-NZ" altLang="ja-JP" sz="1800" dirty="0">
                    <a:solidFill>
                      <a:prstClr val="black"/>
                    </a:solidFill>
                  </a:rPr>
                  <a:t>by </a:t>
                </a:r>
                <a:r>
                  <a:rPr lang="en-NZ" altLang="ja-JP" sz="1800" b="1" dirty="0">
                    <a:solidFill>
                      <a:prstClr val="black"/>
                    </a:solidFill>
                  </a:rPr>
                  <a:t>resampling</a:t>
                </a:r>
                <a:r>
                  <a:rPr lang="en-NZ" altLang="ja-JP" sz="1800" dirty="0">
                    <a:solidFill>
                      <a:prstClr val="black"/>
                    </a:solidFill>
                  </a:rPr>
                  <a:t> </a:t>
                </a:r>
                <a:r>
                  <a:rPr lang="en-NZ" altLang="ja-JP" sz="1800" b="1" dirty="0">
                    <a:solidFill>
                      <a:prstClr val="black"/>
                    </a:solidFill>
                  </a:rPr>
                  <a:t>with replacement </a:t>
                </a:r>
                <a:r>
                  <a:rPr lang="en-NZ" altLang="ja-JP" sz="1800" dirty="0">
                    <a:solidFill>
                      <a:prstClr val="black"/>
                    </a:solidFill>
                  </a:rPr>
                  <a:t>from the initial sample.</a:t>
                </a:r>
              </a:p>
              <a:p>
                <a:pPr>
                  <a:lnSpc>
                    <a:spcPct val="100000"/>
                  </a:lnSpc>
                  <a:defRPr/>
                </a:pPr>
                <a:r>
                  <a:rPr lang="en-NZ" altLang="ja-JP" sz="1800" dirty="0">
                    <a:solidFill>
                      <a:prstClr val="black"/>
                    </a:solidFill>
                  </a:rPr>
                  <a:t>Calculate the sample statistic </a:t>
                </a:r>
                <a14:m>
                  <m:oMath xmlns:m="http://schemas.openxmlformats.org/officeDocument/2006/math">
                    <m:sSup>
                      <m:sSupPr>
                        <m:ctrlPr>
                          <a:rPr lang="en-NZ" altLang="ja-JP" sz="1800" b="1" i="1">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𝒈</m:t>
                    </m:r>
                    <m:d>
                      <m:dPr>
                        <m:ctrlPr>
                          <a:rPr lang="en-NZ" altLang="ja-JP" sz="1800" b="1" i="1">
                            <a:solidFill>
                              <a:prstClr val="black"/>
                            </a:solidFill>
                            <a:latin typeface="Cambria Math" panose="02040503050406030204" pitchFamily="18" charset="0"/>
                          </a:rPr>
                        </m:ctrlPr>
                      </m:dPr>
                      <m:e>
                        <m:sSup>
                          <m:sSupPr>
                            <m:ctrlPr>
                              <a:rPr lang="en-NZ" altLang="ja-JP" sz="1800" b="1" i="1">
                                <a:solidFill>
                                  <a:prstClr val="black"/>
                                </a:solidFill>
                                <a:latin typeface="Cambria Math" panose="02040503050406030204" pitchFamily="18" charset="0"/>
                              </a:rPr>
                            </m:ctrlPr>
                          </m:sSupPr>
                          <m:e>
                            <m:r>
                              <a:rPr lang="en-NZ" altLang="ja-JP" sz="1800" b="1" i="1">
                                <a:solidFill>
                                  <a:prstClr val="black"/>
                                </a:solidFill>
                                <a:latin typeface="Cambria Math" panose="02040503050406030204" pitchFamily="18" charset="0"/>
                              </a:rPr>
                              <m:t> </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r>
                          <a:rPr lang="en-NZ" altLang="ja-JP" sz="1800" b="1" i="1">
                            <a:solidFill>
                              <a:prstClr val="black"/>
                            </a:solidFill>
                            <a:latin typeface="Cambria Math" panose="02040503050406030204" pitchFamily="18" charset="0"/>
                          </a:rPr>
                          <m:t> </m:t>
                        </m:r>
                      </m:e>
                    </m:d>
                  </m:oMath>
                </a14:m>
                <a:r>
                  <a:rPr lang="en-NZ" altLang="ja-JP" sz="1800" dirty="0">
                    <a:solidFill>
                      <a:prstClr val="black"/>
                    </a:solidFill>
                  </a:rPr>
                  <a:t> for the bootstrap sample and append to a results file.</a:t>
                </a:r>
              </a:p>
              <a:p>
                <a:pPr lvl="0" algn="just">
                  <a:lnSpc>
                    <a:spcPct val="100000"/>
                  </a:lnSpc>
                  <a:defRPr/>
                </a:pPr>
                <a:endParaRPr lang="en-NZ" altLang="ja-JP" sz="1800" b="1" i="1" dirty="0">
                  <a:solidFill>
                    <a:prstClr val="black"/>
                  </a:solidFill>
                </a:endParaRPr>
              </a:p>
            </p:txBody>
          </p:sp>
        </mc:Choice>
        <mc:Fallback xmlns="">
          <p:sp>
            <p:nvSpPr>
              <p:cNvPr id="13" name="Text Placeholder 5">
                <a:extLst>
                  <a:ext uri="{FF2B5EF4-FFF2-40B4-BE49-F238E27FC236}">
                    <a16:creationId xmlns:a16="http://schemas.microsoft.com/office/drawing/2014/main" id="{95F7B0FE-EB6C-4ED8-B3F5-051BC05D60BB}"/>
                  </a:ext>
                </a:extLst>
              </p:cNvPr>
              <p:cNvSpPr txBox="1">
                <a:spLocks noRot="1" noChangeAspect="1" noMove="1" noResize="1" noEditPoints="1" noAdjustHandles="1" noChangeArrowheads="1" noChangeShapeType="1" noTextEdit="1"/>
              </p:cNvSpPr>
              <p:nvPr/>
            </p:nvSpPr>
            <p:spPr>
              <a:xfrm>
                <a:off x="1534114" y="1939404"/>
                <a:ext cx="9556966" cy="1315719"/>
              </a:xfrm>
              <a:prstGeom prst="rect">
                <a:avLst/>
              </a:prstGeom>
              <a:blipFill>
                <a:blip r:embed="rId3"/>
                <a:stretch>
                  <a:fillRect l="-574" t="-2315" b="-2315"/>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43B8C095-37EF-4AA2-A7DC-F99D3EDE5064}"/>
              </a:ext>
            </a:extLst>
          </p:cNvPr>
          <p:cNvSpPr txBox="1">
            <a:spLocks/>
          </p:cNvSpPr>
          <p:nvPr/>
        </p:nvSpPr>
        <p:spPr>
          <a:xfrm>
            <a:off x="319463" y="883855"/>
            <a:ext cx="11515144"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Bootstrapping Bias Correction Procedure:</a:t>
            </a:r>
            <a:endParaRPr lang="en-NZ" altLang="ja-JP" sz="1800" b="1" i="1" dirty="0">
              <a:solidFill>
                <a:prstClr val="black"/>
              </a:solidFill>
            </a:endParaRPr>
          </a:p>
          <a:p>
            <a:pPr algn="just">
              <a:lnSpc>
                <a:spcPct val="100000"/>
              </a:lnSpc>
            </a:pPr>
            <a:endParaRPr lang="ja-JP" altLang="en-NZ" sz="1800" dirty="0">
              <a:solidFill>
                <a:schemeClr val="tx1"/>
              </a:solidFill>
            </a:endParaRPr>
          </a:p>
        </p:txBody>
      </p:sp>
      <p:sp>
        <p:nvSpPr>
          <p:cNvPr id="21" name="Text Placeholder 5">
            <a:extLst>
              <a:ext uri="{FF2B5EF4-FFF2-40B4-BE49-F238E27FC236}">
                <a16:creationId xmlns:a16="http://schemas.microsoft.com/office/drawing/2014/main" id="{1748E90F-557E-4304-8180-2F50E907F99A}"/>
              </a:ext>
            </a:extLst>
          </p:cNvPr>
          <p:cNvSpPr txBox="1">
            <a:spLocks/>
          </p:cNvSpPr>
          <p:nvPr/>
        </p:nvSpPr>
        <p:spPr>
          <a:xfrm>
            <a:off x="588100" y="1939405"/>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2:</a:t>
            </a:r>
            <a:endParaRPr lang="en-US" altLang="ja-JP" sz="1800" b="1" i="1" dirty="0">
              <a:solidFill>
                <a:schemeClr val="tx1"/>
              </a:solidFill>
            </a:endParaRPr>
          </a:p>
        </p:txBody>
      </p:sp>
      <p:sp>
        <p:nvSpPr>
          <p:cNvPr id="22" name="Text Placeholder 5">
            <a:extLst>
              <a:ext uri="{FF2B5EF4-FFF2-40B4-BE49-F238E27FC236}">
                <a16:creationId xmlns:a16="http://schemas.microsoft.com/office/drawing/2014/main" id="{F181B6D1-045C-46A1-9092-A6024E0EA66E}"/>
              </a:ext>
            </a:extLst>
          </p:cNvPr>
          <p:cNvSpPr txBox="1">
            <a:spLocks/>
          </p:cNvSpPr>
          <p:nvPr/>
        </p:nvSpPr>
        <p:spPr>
          <a:xfrm>
            <a:off x="588100" y="3549967"/>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3:</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5809BFB8-3D67-4A7C-87CC-EAB89FE91832}"/>
                  </a:ext>
                </a:extLst>
              </p:cNvPr>
              <p:cNvSpPr txBox="1">
                <a:spLocks/>
              </p:cNvSpPr>
              <p:nvPr/>
            </p:nvSpPr>
            <p:spPr>
              <a:xfrm>
                <a:off x="1483288" y="3549968"/>
                <a:ext cx="9556966" cy="11071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NZ" altLang="ja-JP" sz="1800" dirty="0">
                    <a:solidFill>
                      <a:prstClr val="black"/>
                    </a:solidFill>
                  </a:rPr>
                  <a:t>Create a new estimate of </a:t>
                </a:r>
                <a14:m>
                  <m:oMath xmlns:m="http://schemas.openxmlformats.org/officeDocument/2006/math">
                    <m:r>
                      <a:rPr lang="en-NZ" altLang="ja-JP" sz="1800" b="1" i="1">
                        <a:solidFill>
                          <a:schemeClr val="tx1"/>
                        </a:solidFill>
                        <a:latin typeface="Cambria Math" panose="02040503050406030204" pitchFamily="18" charset="0"/>
                      </a:rPr>
                      <m:t>𝜽</m:t>
                    </m:r>
                    <m:r>
                      <a:rPr lang="en-NZ" altLang="ja-JP" sz="1800" b="1" i="1">
                        <a:solidFill>
                          <a:schemeClr val="tx1"/>
                        </a:solidFill>
                        <a:latin typeface="Cambria Math" panose="02040503050406030204" pitchFamily="18" charset="0"/>
                      </a:rPr>
                      <m:t> </m:t>
                    </m:r>
                  </m:oMath>
                </a14:m>
                <a:r>
                  <a:rPr lang="en-NZ" altLang="ja-JP" sz="1800" dirty="0">
                    <a:solidFill>
                      <a:prstClr val="black"/>
                    </a:solidFill>
                  </a:rPr>
                  <a:t>by taking the mean of the bootstrap sample statistics, i.e. calculate</a:t>
                </a:r>
              </a:p>
              <a:p>
                <a:pPr>
                  <a:lnSpc>
                    <a:spcPct val="100000"/>
                  </a:lnSpc>
                  <a:defRPr/>
                </a:pPr>
                <a14:m>
                  <m:oMathPara xmlns:m="http://schemas.openxmlformats.org/officeDocument/2006/math">
                    <m:oMathParaPr>
                      <m:jc m:val="centerGroup"/>
                    </m:oMathParaPr>
                    <m:oMath xmlns:m="http://schemas.openxmlformats.org/officeDocument/2006/math">
                      <m:sSup>
                        <m:sSupPr>
                          <m:ctrlPr>
                            <a:rPr lang="en-NZ" altLang="ja-JP" sz="1800" b="1" i="1" smtClean="0">
                              <a:solidFill>
                                <a:prstClr val="black"/>
                              </a:solidFill>
                              <a:latin typeface="Cambria Math" panose="02040503050406030204" pitchFamily="18" charset="0"/>
                            </a:rPr>
                          </m:ctrlPr>
                        </m:sSupPr>
                        <m:e>
                          <m:bar>
                            <m:barPr>
                              <m:pos m:val="top"/>
                              <m:ctrlPr>
                                <a:rPr lang="en-NZ" altLang="ja-JP" sz="1800" b="1" i="1" smtClean="0">
                                  <a:solidFill>
                                    <a:prstClr val="black"/>
                                  </a:solidFill>
                                  <a:latin typeface="Cambria Math" panose="02040503050406030204" pitchFamily="18" charset="0"/>
                                </a:rPr>
                              </m:ctrlPr>
                            </m:barPr>
                            <m:e>
                              <m:r>
                                <a:rPr lang="en-NZ" altLang="ja-JP" sz="1800" b="1" i="1" smtClean="0">
                                  <a:solidFill>
                                    <a:prstClr val="black"/>
                                  </a:solidFill>
                                  <a:latin typeface="Cambria Math" panose="02040503050406030204" pitchFamily="18" charset="0"/>
                                </a:rPr>
                                <m:t>𝜽</m:t>
                              </m:r>
                            </m:e>
                          </m:bar>
                        </m:e>
                        <m:sup>
                          <m:r>
                            <a:rPr lang="en-NZ" altLang="ja-JP" sz="1800" b="1" i="1" smtClean="0">
                              <a:solidFill>
                                <a:prstClr val="black"/>
                              </a:solidFill>
                              <a:latin typeface="Cambria Math" panose="02040503050406030204" pitchFamily="18" charset="0"/>
                            </a:rPr>
                            <m:t> ∗</m:t>
                          </m:r>
                        </m:sup>
                      </m:sSup>
                      <m:r>
                        <a:rPr lang="en-NZ" altLang="ja-JP" sz="1800" b="1" i="1" smtClean="0">
                          <a:solidFill>
                            <a:prstClr val="black"/>
                          </a:solidFill>
                          <a:latin typeface="Cambria Math" panose="02040503050406030204" pitchFamily="18" charset="0"/>
                        </a:rPr>
                        <m:t> =   </m:t>
                      </m:r>
                      <m:f>
                        <m:fPr>
                          <m:ctrlPr>
                            <a:rPr lang="en-NZ" altLang="ja-JP" sz="1800" b="1" i="1" smtClean="0">
                              <a:solidFill>
                                <a:prstClr val="black"/>
                              </a:solidFill>
                              <a:latin typeface="Cambria Math" panose="02040503050406030204" pitchFamily="18" charset="0"/>
                            </a:rPr>
                          </m:ctrlPr>
                        </m:fPr>
                        <m:num>
                          <m:r>
                            <a:rPr lang="en-NZ" altLang="ja-JP" sz="1800" b="1" i="1" smtClean="0">
                              <a:solidFill>
                                <a:prstClr val="black"/>
                              </a:solidFill>
                              <a:latin typeface="Cambria Math" panose="02040503050406030204" pitchFamily="18" charset="0"/>
                            </a:rPr>
                            <m:t>𝟏</m:t>
                          </m:r>
                        </m:num>
                        <m:den>
                          <m:r>
                            <a:rPr lang="en-NZ" altLang="ja-JP" sz="1800" b="1" i="1" smtClean="0">
                              <a:solidFill>
                                <a:prstClr val="black"/>
                              </a:solidFill>
                              <a:latin typeface="Cambria Math" panose="02040503050406030204" pitchFamily="18" charset="0"/>
                            </a:rPr>
                            <m:t>𝑩</m:t>
                          </m:r>
                        </m:den>
                      </m:f>
                      <m:r>
                        <a:rPr lang="en-NZ" altLang="ja-JP" sz="1800" b="1" i="1" smtClean="0">
                          <a:solidFill>
                            <a:prstClr val="black"/>
                          </a:solidFill>
                          <a:latin typeface="Cambria Math" panose="02040503050406030204" pitchFamily="18" charset="0"/>
                        </a:rPr>
                        <m:t>  </m:t>
                      </m:r>
                      <m:nary>
                        <m:naryPr>
                          <m:chr m:val="∑"/>
                          <m:ctrlPr>
                            <a:rPr lang="en-NZ" altLang="ja-JP" sz="1800" b="1" i="1" smtClean="0">
                              <a:solidFill>
                                <a:prstClr val="black"/>
                              </a:solidFill>
                              <a:latin typeface="Cambria Math" panose="02040503050406030204" pitchFamily="18" charset="0"/>
                            </a:rPr>
                          </m:ctrlPr>
                        </m:naryPr>
                        <m:sub>
                          <m:r>
                            <m:rPr>
                              <m:brk m:alnAt="23"/>
                            </m:rPr>
                            <a:rPr lang="en-NZ" altLang="ja-JP" sz="1800" b="1" i="1" smtClean="0">
                              <a:solidFill>
                                <a:prstClr val="black"/>
                              </a:solidFill>
                              <a:latin typeface="Cambria Math" panose="02040503050406030204" pitchFamily="18" charset="0"/>
                            </a:rPr>
                            <m:t>𝒊</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𝟏</m:t>
                          </m:r>
                        </m:sub>
                        <m:sup>
                          <m:r>
                            <a:rPr lang="en-NZ" altLang="ja-JP" sz="1800" b="1" i="1" smtClean="0">
                              <a:solidFill>
                                <a:prstClr val="black"/>
                              </a:solidFill>
                              <a:latin typeface="Cambria Math" panose="02040503050406030204" pitchFamily="18" charset="0"/>
                            </a:rPr>
                            <m:t>𝑩</m:t>
                          </m:r>
                        </m:sup>
                        <m:e>
                          <m:sSup>
                            <m:sSupPr>
                              <m:ctrlPr>
                                <a:rPr lang="en-NZ" altLang="ja-JP" sz="1800" b="1" i="1">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e>
                      </m:nary>
                    </m:oMath>
                  </m:oMathPara>
                </a14:m>
                <a:endParaRPr lang="en-NZ" altLang="ja-JP" sz="1800" b="1" dirty="0">
                  <a:solidFill>
                    <a:prstClr val="black"/>
                  </a:solidFill>
                </a:endParaRPr>
              </a:p>
              <a:p>
                <a:pPr lvl="0" algn="just">
                  <a:lnSpc>
                    <a:spcPct val="100000"/>
                  </a:lnSpc>
                  <a:defRPr/>
                </a:pPr>
                <a:endParaRPr lang="en-NZ" altLang="ja-JP" sz="1800" b="1" i="1" dirty="0">
                  <a:solidFill>
                    <a:prstClr val="black"/>
                  </a:solidFill>
                </a:endParaRPr>
              </a:p>
            </p:txBody>
          </p:sp>
        </mc:Choice>
        <mc:Fallback xmlns="">
          <p:sp>
            <p:nvSpPr>
              <p:cNvPr id="23" name="Text Placeholder 5">
                <a:extLst>
                  <a:ext uri="{FF2B5EF4-FFF2-40B4-BE49-F238E27FC236}">
                    <a16:creationId xmlns:a16="http://schemas.microsoft.com/office/drawing/2014/main" id="{5809BFB8-3D67-4A7C-87CC-EAB89FE91832}"/>
                  </a:ext>
                </a:extLst>
              </p:cNvPr>
              <p:cNvSpPr txBox="1">
                <a:spLocks noRot="1" noChangeAspect="1" noMove="1" noResize="1" noEditPoints="1" noAdjustHandles="1" noChangeArrowheads="1" noChangeShapeType="1" noTextEdit="1"/>
              </p:cNvSpPr>
              <p:nvPr/>
            </p:nvSpPr>
            <p:spPr>
              <a:xfrm>
                <a:off x="1483288" y="3549968"/>
                <a:ext cx="9556966" cy="1107178"/>
              </a:xfrm>
              <a:prstGeom prst="rect">
                <a:avLst/>
              </a:prstGeom>
              <a:blipFill>
                <a:blip r:embed="rId4"/>
                <a:stretch>
                  <a:fillRect l="-510" t="-2747"/>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91078704-4D5B-4440-A286-F0354B7F5AC3}"/>
              </a:ext>
            </a:extLst>
          </p:cNvPr>
          <p:cNvSpPr txBox="1">
            <a:spLocks/>
          </p:cNvSpPr>
          <p:nvPr/>
        </p:nvSpPr>
        <p:spPr>
          <a:xfrm>
            <a:off x="588100" y="4875869"/>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4:</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CBDAA07D-8C5E-4827-A035-5635D3DB8DE5}"/>
                  </a:ext>
                </a:extLst>
              </p:cNvPr>
              <p:cNvSpPr txBox="1">
                <a:spLocks/>
              </p:cNvSpPr>
              <p:nvPr/>
            </p:nvSpPr>
            <p:spPr>
              <a:xfrm>
                <a:off x="1483288" y="4804680"/>
                <a:ext cx="9556966" cy="6131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NZ" altLang="ja-JP" sz="1800" dirty="0">
                    <a:solidFill>
                      <a:prstClr val="black"/>
                    </a:solidFill>
                  </a:rPr>
                  <a:t>Estimate the bias of </a:t>
                </a:r>
                <a14:m>
                  <m:oMath xmlns:m="http://schemas.openxmlformats.org/officeDocument/2006/math">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oMath>
                </a14:m>
                <a:r>
                  <a:rPr lang="en-US" altLang="ja-JP" sz="1800" dirty="0">
                    <a:solidFill>
                      <a:schemeClr val="tx1"/>
                    </a:solidFill>
                  </a:rPr>
                  <a:t> </a:t>
                </a:r>
                <a:r>
                  <a:rPr lang="en-NZ" altLang="ja-JP" sz="1800" dirty="0">
                    <a:solidFill>
                      <a:prstClr val="black"/>
                    </a:solidFill>
                  </a:rPr>
                  <a:t>by calculating </a:t>
                </a:r>
                <a14:m>
                  <m:oMath xmlns:m="http://schemas.openxmlformats.org/officeDocument/2006/math">
                    <m:r>
                      <a:rPr lang="en-NZ" altLang="ja-JP" sz="1800" b="1" i="1">
                        <a:solidFill>
                          <a:schemeClr val="tx1"/>
                        </a:solidFill>
                        <a:latin typeface="Cambria Math" panose="02040503050406030204" pitchFamily="18" charset="0"/>
                      </a:rPr>
                      <m:t>𝑩𝒊𝒂𝒔</m:t>
                    </m:r>
                    <m:d>
                      <m:dPr>
                        <m:begChr m:val="["/>
                        <m:endChr m:val="]"/>
                        <m:ctrlPr>
                          <a:rPr lang="en-NZ" altLang="ja-JP" sz="1800" b="1" i="1">
                            <a:solidFill>
                              <a:schemeClr val="tx1"/>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ea typeface="Cambria Math" panose="02040503050406030204" pitchFamily="18" charset="0"/>
                      </a:rPr>
                      <m:t>≈</m:t>
                    </m:r>
                    <m:sSup>
                      <m:sSupPr>
                        <m:ctrlPr>
                          <a:rPr lang="en-NZ" altLang="ja-JP" sz="1800" b="1" i="1">
                            <a:solidFill>
                              <a:prstClr val="black"/>
                            </a:solidFill>
                            <a:latin typeface="Cambria Math" panose="02040503050406030204" pitchFamily="18" charset="0"/>
                          </a:rPr>
                        </m:ctrlPr>
                      </m:sSupPr>
                      <m:e>
                        <m:bar>
                          <m:barPr>
                            <m:pos m:val="top"/>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𝜽</m:t>
                            </m:r>
                          </m:e>
                        </m:bar>
                      </m:e>
                      <m:sup>
                        <m:r>
                          <a:rPr lang="en-NZ" altLang="ja-JP" sz="1800" b="1" i="1">
                            <a:solidFill>
                              <a:prstClr val="black"/>
                            </a:solidFill>
                            <a:latin typeface="Cambria Math" panose="02040503050406030204" pitchFamily="18" charset="0"/>
                          </a:rPr>
                          <m:t> ∗</m:t>
                        </m:r>
                      </m:sup>
                    </m:sSup>
                    <m:r>
                      <a:rPr lang="en-NZ" altLang="ja-JP" sz="1800" b="1" i="1" smtClean="0">
                        <a:solidFill>
                          <a:prstClr val="black"/>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oMath>
                </a14:m>
                <a:endParaRPr lang="en-NZ" altLang="ja-JP" sz="1800" dirty="0">
                  <a:solidFill>
                    <a:prstClr val="black"/>
                  </a:solidFill>
                </a:endParaRPr>
              </a:p>
              <a:p>
                <a:pPr lvl="0" algn="just">
                  <a:lnSpc>
                    <a:spcPct val="100000"/>
                  </a:lnSpc>
                  <a:defRPr/>
                </a:pPr>
                <a:endParaRPr lang="en-NZ" altLang="ja-JP" sz="1800" b="1" i="1" dirty="0">
                  <a:solidFill>
                    <a:prstClr val="black"/>
                  </a:solidFill>
                </a:endParaRPr>
              </a:p>
            </p:txBody>
          </p:sp>
        </mc:Choice>
        <mc:Fallback xmlns="">
          <p:sp>
            <p:nvSpPr>
              <p:cNvPr id="25" name="Text Placeholder 5">
                <a:extLst>
                  <a:ext uri="{FF2B5EF4-FFF2-40B4-BE49-F238E27FC236}">
                    <a16:creationId xmlns:a16="http://schemas.microsoft.com/office/drawing/2014/main" id="{CBDAA07D-8C5E-4827-A035-5635D3DB8DE5}"/>
                  </a:ext>
                </a:extLst>
              </p:cNvPr>
              <p:cNvSpPr txBox="1">
                <a:spLocks noRot="1" noChangeAspect="1" noMove="1" noResize="1" noEditPoints="1" noAdjustHandles="1" noChangeArrowheads="1" noChangeShapeType="1" noTextEdit="1"/>
              </p:cNvSpPr>
              <p:nvPr/>
            </p:nvSpPr>
            <p:spPr>
              <a:xfrm>
                <a:off x="1483288" y="4804680"/>
                <a:ext cx="9556966" cy="613137"/>
              </a:xfrm>
              <a:prstGeom prst="rect">
                <a:avLst/>
              </a:prstGeom>
              <a:blipFill>
                <a:blip r:embed="rId5"/>
                <a:stretch>
                  <a:fillRect l="-510"/>
                </a:stretch>
              </a:blipFill>
            </p:spPr>
            <p:txBody>
              <a:bodyPr/>
              <a:lstStyle/>
              <a:p>
                <a:r>
                  <a:rPr lang="en-NZ">
                    <a:noFill/>
                  </a:rPr>
                  <a:t> </a:t>
                </a:r>
              </a:p>
            </p:txBody>
          </p:sp>
        </mc:Fallback>
      </mc:AlternateContent>
      <p:sp>
        <p:nvSpPr>
          <p:cNvPr id="26" name="Text Placeholder 5">
            <a:extLst>
              <a:ext uri="{FF2B5EF4-FFF2-40B4-BE49-F238E27FC236}">
                <a16:creationId xmlns:a16="http://schemas.microsoft.com/office/drawing/2014/main" id="{16B3FFD8-1CB6-49FA-95A7-4319FD70CDB5}"/>
              </a:ext>
            </a:extLst>
          </p:cNvPr>
          <p:cNvSpPr txBox="1">
            <a:spLocks/>
          </p:cNvSpPr>
          <p:nvPr/>
        </p:nvSpPr>
        <p:spPr>
          <a:xfrm>
            <a:off x="588100" y="5609862"/>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5:</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D1CFB74A-8932-499F-ADDA-D0EE94F894ED}"/>
                  </a:ext>
                </a:extLst>
              </p:cNvPr>
              <p:cNvSpPr txBox="1">
                <a:spLocks/>
              </p:cNvSpPr>
              <p:nvPr/>
            </p:nvSpPr>
            <p:spPr>
              <a:xfrm>
                <a:off x="1483288" y="5543679"/>
                <a:ext cx="9556966" cy="6131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NZ" altLang="ja-JP" sz="1800" dirty="0">
                    <a:solidFill>
                      <a:prstClr val="black"/>
                    </a:solidFill>
                  </a:rPr>
                  <a:t>Create a bias corrected version of </a:t>
                </a:r>
                <a14:m>
                  <m:oMath xmlns:m="http://schemas.openxmlformats.org/officeDocument/2006/math">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oMath>
                </a14:m>
                <a:r>
                  <a:rPr lang="en-NZ" altLang="ja-JP" sz="1800" dirty="0">
                    <a:solidFill>
                      <a:prstClr val="black"/>
                    </a:solidFill>
                  </a:rPr>
                  <a:t> using the formula:</a:t>
                </a:r>
              </a:p>
              <a:p>
                <a:pPr algn="ctr">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sub>
                          <m:r>
                            <a:rPr lang="en-NZ" altLang="ja-JP" sz="1800" b="1" i="1" smtClean="0">
                              <a:solidFill>
                                <a:schemeClr val="tx1"/>
                              </a:solidFill>
                              <a:latin typeface="Cambria Math" panose="02040503050406030204" pitchFamily="18" charset="0"/>
                            </a:rPr>
                            <m:t>𝑩𝑪</m:t>
                          </m:r>
                        </m:sub>
                      </m:sSub>
                      <m:r>
                        <a:rPr lang="en-NZ" altLang="ja-JP" sz="1800" b="1" i="1" smtClean="0">
                          <a:solidFill>
                            <a:schemeClr val="tx1"/>
                          </a:solidFill>
                          <a:latin typeface="Cambria Math" panose="02040503050406030204" pitchFamily="18" charset="0"/>
                        </a:rPr>
                        <m:t>  =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𝑩𝒊𝒂𝒔</m:t>
                      </m:r>
                      <m:d>
                        <m:dPr>
                          <m:begChr m:val="["/>
                          <m:endChr m:val="]"/>
                          <m:ctrlPr>
                            <a:rPr lang="en-NZ" altLang="ja-JP" sz="1800" b="1" i="1">
                              <a:solidFill>
                                <a:schemeClr val="tx1"/>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ea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 − </m:t>
                      </m:r>
                      <m:d>
                        <m:dPr>
                          <m:ctrlPr>
                            <a:rPr lang="en-NZ" altLang="ja-JP" sz="1800" b="1" i="1" smtClean="0">
                              <a:solidFill>
                                <a:schemeClr val="tx1"/>
                              </a:solidFill>
                              <a:latin typeface="Cambria Math" panose="02040503050406030204" pitchFamily="18" charset="0"/>
                            </a:rPr>
                          </m:ctrlPr>
                        </m:dPr>
                        <m:e>
                          <m:sSup>
                            <m:sSupPr>
                              <m:ctrlPr>
                                <a:rPr lang="en-NZ" altLang="ja-JP" sz="1800" b="1" i="1">
                                  <a:solidFill>
                                    <a:prstClr val="black"/>
                                  </a:solidFill>
                                  <a:latin typeface="Cambria Math" panose="02040503050406030204" pitchFamily="18" charset="0"/>
                                </a:rPr>
                              </m:ctrlPr>
                            </m:sSupPr>
                            <m:e>
                              <m:bar>
                                <m:barPr>
                                  <m:pos m:val="top"/>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𝜽</m:t>
                                  </m:r>
                                </m:e>
                              </m:bar>
                            </m:e>
                            <m:sup>
                              <m:r>
                                <a:rPr lang="en-NZ" altLang="ja-JP" sz="1800" b="1" i="1">
                                  <a:solidFill>
                                    <a:prstClr val="black"/>
                                  </a:solidFill>
                                  <a:latin typeface="Cambria Math" panose="02040503050406030204" pitchFamily="18" charset="0"/>
                                </a:rPr>
                                <m:t> ∗</m:t>
                              </m:r>
                            </m:sup>
                          </m:sSup>
                          <m:r>
                            <a:rPr lang="en-NZ" altLang="ja-JP" sz="1800" b="1" i="1">
                              <a:solidFill>
                                <a:prstClr val="black"/>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𝟐</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 −</m:t>
                      </m:r>
                      <m:sSup>
                        <m:sSupPr>
                          <m:ctrlPr>
                            <a:rPr lang="en-NZ" altLang="ja-JP" sz="1800" b="1" i="1">
                              <a:solidFill>
                                <a:prstClr val="black"/>
                              </a:solidFill>
                              <a:latin typeface="Cambria Math" panose="02040503050406030204" pitchFamily="18" charset="0"/>
                            </a:rPr>
                          </m:ctrlPr>
                        </m:sSupPr>
                        <m:e>
                          <m:bar>
                            <m:barPr>
                              <m:pos m:val="top"/>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𝜽</m:t>
                              </m:r>
                            </m:e>
                          </m:bar>
                        </m:e>
                        <m:sup>
                          <m:r>
                            <a:rPr lang="en-NZ" altLang="ja-JP" sz="1800" b="1" i="1">
                              <a:solidFill>
                                <a:prstClr val="black"/>
                              </a:solidFill>
                              <a:latin typeface="Cambria Math" panose="02040503050406030204" pitchFamily="18" charset="0"/>
                            </a:rPr>
                            <m:t> ∗</m:t>
                          </m:r>
                        </m:sup>
                      </m:sSup>
                    </m:oMath>
                  </m:oMathPara>
                </a14:m>
                <a:endParaRPr lang="en-NZ" altLang="ja-JP" sz="1800" b="1" i="1" dirty="0">
                  <a:solidFill>
                    <a:prstClr val="black"/>
                  </a:solidFill>
                </a:endParaRPr>
              </a:p>
              <a:p>
                <a:pPr lvl="0" algn="just">
                  <a:lnSpc>
                    <a:spcPct val="100000"/>
                  </a:lnSpc>
                  <a:defRPr/>
                </a:pPr>
                <a:endParaRPr lang="en-NZ" altLang="ja-JP" sz="1800" b="1" i="1" dirty="0">
                  <a:solidFill>
                    <a:prstClr val="black"/>
                  </a:solidFill>
                </a:endParaRPr>
              </a:p>
            </p:txBody>
          </p:sp>
        </mc:Choice>
        <mc:Fallback xmlns="">
          <p:sp>
            <p:nvSpPr>
              <p:cNvPr id="27" name="Text Placeholder 5">
                <a:extLst>
                  <a:ext uri="{FF2B5EF4-FFF2-40B4-BE49-F238E27FC236}">
                    <a16:creationId xmlns:a16="http://schemas.microsoft.com/office/drawing/2014/main" id="{D1CFB74A-8932-499F-ADDA-D0EE94F894ED}"/>
                  </a:ext>
                </a:extLst>
              </p:cNvPr>
              <p:cNvSpPr txBox="1">
                <a:spLocks noRot="1" noChangeAspect="1" noMove="1" noResize="1" noEditPoints="1" noAdjustHandles="1" noChangeArrowheads="1" noChangeShapeType="1" noTextEdit="1"/>
              </p:cNvSpPr>
              <p:nvPr/>
            </p:nvSpPr>
            <p:spPr>
              <a:xfrm>
                <a:off x="1483288" y="5543679"/>
                <a:ext cx="9556966" cy="613137"/>
              </a:xfrm>
              <a:prstGeom prst="rect">
                <a:avLst/>
              </a:prstGeom>
              <a:blipFill>
                <a:blip r:embed="rId6"/>
                <a:stretch>
                  <a:fillRect l="-510" t="-2970" b="-21782"/>
                </a:stretch>
              </a:blipFill>
            </p:spPr>
            <p:txBody>
              <a:bodyPr/>
              <a:lstStyle/>
              <a:p>
                <a:r>
                  <a:rPr lang="en-NZ">
                    <a:noFill/>
                  </a:rPr>
                  <a:t> </a:t>
                </a:r>
              </a:p>
            </p:txBody>
          </p:sp>
        </mc:Fallback>
      </mc:AlternateContent>
      <p:sp>
        <p:nvSpPr>
          <p:cNvPr id="2" name="Text Placeholder 5">
            <a:extLst>
              <a:ext uri="{FF2B5EF4-FFF2-40B4-BE49-F238E27FC236}">
                <a16:creationId xmlns:a16="http://schemas.microsoft.com/office/drawing/2014/main" id="{40212321-A958-591F-E0E2-22291350163D}"/>
              </a:ext>
            </a:extLst>
          </p:cNvPr>
          <p:cNvSpPr txBox="1">
            <a:spLocks/>
          </p:cNvSpPr>
          <p:nvPr/>
        </p:nvSpPr>
        <p:spPr>
          <a:xfrm>
            <a:off x="588100" y="1297871"/>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1:</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F9B84013-8FE0-F7E0-C234-E77B2AB3AA19}"/>
                  </a:ext>
                </a:extLst>
              </p:cNvPr>
              <p:cNvSpPr txBox="1">
                <a:spLocks/>
              </p:cNvSpPr>
              <p:nvPr/>
            </p:nvSpPr>
            <p:spPr>
              <a:xfrm>
                <a:off x="1483288" y="1310101"/>
                <a:ext cx="7783542" cy="4154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Ca</a:t>
                </a:r>
                <a:r>
                  <a:rPr lang="en-NZ" altLang="ja-JP" sz="1800" dirty="0">
                    <a:solidFill>
                      <a:prstClr val="black"/>
                    </a:solidFill>
                  </a:rPr>
                  <a:t>lculate a sample statistic </a:t>
                </a:r>
                <a14:m>
                  <m:oMath xmlns:m="http://schemas.openxmlformats.org/officeDocument/2006/math">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𝒈</m:t>
                    </m:r>
                    <m:r>
                      <a:rPr lang="en-NZ" altLang="ja-JP" sz="1800" b="1" i="1">
                        <a:solidFill>
                          <a:prstClr val="black"/>
                        </a:solidFill>
                        <a:latin typeface="Cambria Math" panose="02040503050406030204" pitchFamily="18" charset="0"/>
                      </a:rPr>
                      <m:t>(</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r>
                      <a:rPr lang="en-NZ" altLang="ja-JP" sz="1800" b="1" i="1">
                        <a:solidFill>
                          <a:prstClr val="black"/>
                        </a:solidFill>
                        <a:latin typeface="Cambria Math" panose="02040503050406030204" pitchFamily="18" charset="0"/>
                      </a:rPr>
                      <m:t>)</m:t>
                    </m:r>
                  </m:oMath>
                </a14:m>
                <a:r>
                  <a:rPr lang="en-NZ" altLang="ja-JP" sz="1800" b="1" i="1" dirty="0">
                    <a:solidFill>
                      <a:prstClr val="black"/>
                    </a:solidFill>
                  </a:rPr>
                  <a:t> </a:t>
                </a:r>
                <a:r>
                  <a:rPr lang="en-NZ" altLang="ja-JP" sz="1800" dirty="0">
                    <a:solidFill>
                      <a:prstClr val="black"/>
                    </a:solidFill>
                  </a:rPr>
                  <a:t>that serves as an estimate of </a:t>
                </a:r>
                <a14:m>
                  <m:oMath xmlns:m="http://schemas.openxmlformats.org/officeDocument/2006/math">
                    <m:r>
                      <a:rPr lang="en-NZ" altLang="ja-JP" sz="1800" b="1" i="1">
                        <a:solidFill>
                          <a:prstClr val="black"/>
                        </a:solidFill>
                        <a:latin typeface="Cambria Math" panose="02040503050406030204" pitchFamily="18" charset="0"/>
                      </a:rPr>
                      <m:t>𝜽</m:t>
                    </m:r>
                  </m:oMath>
                </a14:m>
                <a:r>
                  <a:rPr lang="en-NZ" altLang="ja-JP" sz="1800" b="1" i="1" dirty="0">
                    <a:solidFill>
                      <a:prstClr val="black"/>
                    </a:solidFill>
                  </a:rPr>
                  <a:t>.</a:t>
                </a:r>
              </a:p>
            </p:txBody>
          </p:sp>
        </mc:Choice>
        <mc:Fallback xmlns="">
          <p:sp>
            <p:nvSpPr>
              <p:cNvPr id="3" name="Text Placeholder 5">
                <a:extLst>
                  <a:ext uri="{FF2B5EF4-FFF2-40B4-BE49-F238E27FC236}">
                    <a16:creationId xmlns:a16="http://schemas.microsoft.com/office/drawing/2014/main" id="{F9B84013-8FE0-F7E0-C234-E77B2AB3AA19}"/>
                  </a:ext>
                </a:extLst>
              </p:cNvPr>
              <p:cNvSpPr txBox="1">
                <a:spLocks noRot="1" noChangeAspect="1" noMove="1" noResize="1" noEditPoints="1" noAdjustHandles="1" noChangeArrowheads="1" noChangeShapeType="1" noTextEdit="1"/>
              </p:cNvSpPr>
              <p:nvPr/>
            </p:nvSpPr>
            <p:spPr>
              <a:xfrm>
                <a:off x="1483288" y="1310101"/>
                <a:ext cx="7783542" cy="415474"/>
              </a:xfrm>
              <a:prstGeom prst="rect">
                <a:avLst/>
              </a:prstGeom>
              <a:blipFill>
                <a:blip r:embed="rId7"/>
                <a:stretch>
                  <a:fillRect l="-626" t="-2941" b="-17647"/>
                </a:stretch>
              </a:blipFill>
            </p:spPr>
            <p:txBody>
              <a:bodyPr/>
              <a:lstStyle/>
              <a:p>
                <a:r>
                  <a:rPr lang="en-NZ">
                    <a:noFill/>
                  </a:rPr>
                  <a:t> </a:t>
                </a:r>
              </a:p>
            </p:txBody>
          </p:sp>
        </mc:Fallback>
      </mc:AlternateContent>
    </p:spTree>
    <p:extLst>
      <p:ext uri="{BB962C8B-B14F-4D97-AF65-F5344CB8AC3E}">
        <p14:creationId xmlns:p14="http://schemas.microsoft.com/office/powerpoint/2010/main" val="1440249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p:bldP spid="22" grpId="0"/>
      <p:bldP spid="23" grpId="0"/>
      <p:bldP spid="24" grpId="0"/>
      <p:bldP spid="25" grpId="0"/>
      <p:bldP spid="26" grpId="0"/>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.3b – Coefficient of Variation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04DA2210-7352-4BC7-B383-3222B6C10BF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7.3 - Coefficient of Variation (Bias Correction Example)</a:t>
            </a:r>
            <a:r>
              <a:rPr lang="en-US" altLang="ja-JP" sz="1200" dirty="0">
                <a:solidFill>
                  <a:srgbClr val="C00000"/>
                </a:solidFill>
              </a:rPr>
              <a:t>.</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3F154862-DDA8-4225-869A-09E072A0B7BE}"/>
                  </a:ext>
                </a:extLst>
              </p:cNvPr>
              <p:cNvSpPr txBox="1">
                <a:spLocks/>
              </p:cNvSpPr>
              <p:nvPr/>
            </p:nvSpPr>
            <p:spPr>
              <a:xfrm>
                <a:off x="319463" y="914840"/>
                <a:ext cx="11212895" cy="7855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 random sample of size 30 is obtained from a population with a log-normal distribution. </a:t>
                </a:r>
                <a:r>
                  <a:rPr lang="en-NZ" altLang="ja-JP" sz="1800" dirty="0">
                    <a:solidFill>
                      <a:srgbClr val="0070C0"/>
                    </a:solidFill>
                    <a:latin typeface="Calibri" panose="020F0502020204030204"/>
                    <a:ea typeface="游ゴシック" panose="020B0400000000000000" pitchFamily="34" charset="-128"/>
                  </a:rPr>
                  <a:t>We wish to create a bias corrected estimate for the coefficient of variation </a:t>
                </a:r>
                <a14:m>
                  <m:oMath xmlns:m="http://schemas.openxmlformats.org/officeDocument/2006/math">
                    <m:r>
                      <a:rPr lang="en-NZ" altLang="ja-JP" sz="1800" b="0" i="1" smtClean="0">
                        <a:solidFill>
                          <a:srgbClr val="0070C0"/>
                        </a:solidFill>
                        <a:latin typeface="Cambria Math" panose="02040503050406030204" pitchFamily="18" charset="0"/>
                        <a:ea typeface="游ゴシック" panose="020B0400000000000000" pitchFamily="34" charset="-128"/>
                      </a:rPr>
                      <m:t>(</m:t>
                    </m:r>
                    <m:r>
                      <a:rPr lang="en-NZ" altLang="ja-JP" sz="1800" b="1" i="1" smtClean="0">
                        <a:solidFill>
                          <a:srgbClr val="0070C0"/>
                        </a:solidFill>
                        <a:latin typeface="Cambria Math" panose="02040503050406030204" pitchFamily="18" charset="0"/>
                        <a:ea typeface="游ゴシック" panose="020B0400000000000000" pitchFamily="34" charset="-128"/>
                      </a:rPr>
                      <m:t>𝜽</m:t>
                    </m:r>
                    <m:r>
                      <a:rPr lang="en-NZ" altLang="ja-JP" sz="1800" b="1" i="1" smtClean="0">
                        <a:solidFill>
                          <a:srgbClr val="0070C0"/>
                        </a:solidFill>
                        <a:latin typeface="Cambria Math" panose="02040503050406030204" pitchFamily="18" charset="0"/>
                        <a:ea typeface="游ゴシック" panose="020B0400000000000000" pitchFamily="34" charset="-128"/>
                      </a:rPr>
                      <m:t>= </m:t>
                    </m:r>
                    <m:f>
                      <m:fPr>
                        <m:type m:val="skw"/>
                        <m:ctrlPr>
                          <a:rPr lang="en-NZ" altLang="ja-JP" sz="1800" b="1" i="1" smtClean="0">
                            <a:solidFill>
                              <a:srgbClr val="0070C0"/>
                            </a:solidFill>
                            <a:latin typeface="Cambria Math" panose="02040503050406030204" pitchFamily="18" charset="0"/>
                            <a:ea typeface="游ゴシック" panose="020B0400000000000000" pitchFamily="34" charset="-128"/>
                          </a:rPr>
                        </m:ctrlPr>
                      </m:fPr>
                      <m:num>
                        <m:r>
                          <a:rPr lang="en-NZ" altLang="ja-JP" sz="1800" b="1" i="1" smtClean="0">
                            <a:solidFill>
                              <a:srgbClr val="0070C0"/>
                            </a:solidFill>
                            <a:latin typeface="Cambria Math" panose="02040503050406030204" pitchFamily="18" charset="0"/>
                            <a:ea typeface="游ゴシック" panose="020B0400000000000000" pitchFamily="34" charset="-128"/>
                          </a:rPr>
                          <m:t>𝝈</m:t>
                        </m:r>
                      </m:num>
                      <m:den>
                        <m:r>
                          <a:rPr lang="en-NZ" altLang="ja-JP" sz="1800" b="1" i="1" smtClean="0">
                            <a:solidFill>
                              <a:srgbClr val="0070C0"/>
                            </a:solidFill>
                            <a:latin typeface="Cambria Math" panose="02040503050406030204" pitchFamily="18" charset="0"/>
                            <a:ea typeface="游ゴシック" panose="020B0400000000000000" pitchFamily="34" charset="-128"/>
                          </a:rPr>
                          <m:t>𝝁</m:t>
                        </m:r>
                      </m:den>
                    </m:f>
                    <m:r>
                      <a:rPr lang="en-NZ" altLang="ja-JP" sz="1800" b="0" i="1" smtClean="0">
                        <a:solidFill>
                          <a:srgbClr val="0070C0"/>
                        </a:solidFill>
                        <a:latin typeface="Cambria Math" panose="02040503050406030204" pitchFamily="18" charset="0"/>
                        <a:ea typeface="游ゴシック" panose="020B0400000000000000" pitchFamily="34" charset="-128"/>
                      </a:rPr>
                      <m:t>)</m:t>
                    </m:r>
                  </m:oMath>
                </a14:m>
                <a:r>
                  <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 </a:t>
                </a:r>
                <a:r>
                  <a:rPr lang="en-US" altLang="ja-JP" sz="1800" dirty="0">
                    <a:solidFill>
                      <a:srgbClr val="0070C0"/>
                    </a:solidFill>
                    <a:latin typeface="Calibri" panose="020F0502020204030204"/>
                    <a:ea typeface="游ゴシック" panose="020B0400000000000000" pitchFamily="34" charset="-128"/>
                  </a:rPr>
                  <a:t>for this population.</a:t>
                </a:r>
                <a:endParaRPr kumimoji="1" lang="en-US" altLang="ja-JP" sz="180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xmlns="">
          <p:sp>
            <p:nvSpPr>
              <p:cNvPr id="14" name="Text Placeholder 5">
                <a:extLst>
                  <a:ext uri="{FF2B5EF4-FFF2-40B4-BE49-F238E27FC236}">
                    <a16:creationId xmlns:a16="http://schemas.microsoft.com/office/drawing/2014/main" id="{3F154862-DDA8-4225-869A-09E072A0B7BE}"/>
                  </a:ext>
                </a:extLst>
              </p:cNvPr>
              <p:cNvSpPr txBox="1">
                <a:spLocks noRot="1" noChangeAspect="1" noMove="1" noResize="1" noEditPoints="1" noAdjustHandles="1" noChangeArrowheads="1" noChangeShapeType="1" noTextEdit="1"/>
              </p:cNvSpPr>
              <p:nvPr/>
            </p:nvSpPr>
            <p:spPr>
              <a:xfrm>
                <a:off x="319463" y="914840"/>
                <a:ext cx="11212895" cy="785599"/>
              </a:xfrm>
              <a:prstGeom prst="rect">
                <a:avLst/>
              </a:prstGeom>
              <a:blipFill>
                <a:blip r:embed="rId3"/>
                <a:stretch>
                  <a:fillRect l="-435" t="-17829" r="-435" b="-67442"/>
                </a:stretch>
              </a:blipFill>
            </p:spPr>
            <p:txBody>
              <a:bodyPr/>
              <a:lstStyle/>
              <a:p>
                <a:r>
                  <a:rPr lang="en-NZ">
                    <a:noFill/>
                  </a:rPr>
                  <a:t> </a:t>
                </a:r>
              </a:p>
            </p:txBody>
          </p:sp>
        </mc:Fallback>
      </mc:AlternateContent>
      <p:graphicFrame>
        <p:nvGraphicFramePr>
          <p:cNvPr id="2" name="Table 1">
            <a:extLst>
              <a:ext uri="{FF2B5EF4-FFF2-40B4-BE49-F238E27FC236}">
                <a16:creationId xmlns:a16="http://schemas.microsoft.com/office/drawing/2014/main" id="{BFD411F8-DF44-4674-ABB2-1FF2586D1F06}"/>
              </a:ext>
            </a:extLst>
          </p:cNvPr>
          <p:cNvGraphicFramePr>
            <a:graphicFrameLocks noGrp="1"/>
          </p:cNvGraphicFramePr>
          <p:nvPr/>
        </p:nvGraphicFramePr>
        <p:xfrm>
          <a:off x="2185915" y="1735481"/>
          <a:ext cx="7820170" cy="506730"/>
        </p:xfrm>
        <a:graphic>
          <a:graphicData uri="http://schemas.openxmlformats.org/drawingml/2006/table">
            <a:tbl>
              <a:tblPr/>
              <a:tblGrid>
                <a:gridCol w="668320">
                  <a:extLst>
                    <a:ext uri="{9D8B030D-6E8A-4147-A177-3AD203B41FA5}">
                      <a16:colId xmlns:a16="http://schemas.microsoft.com/office/drawing/2014/main" val="1365967740"/>
                    </a:ext>
                  </a:extLst>
                </a:gridCol>
                <a:gridCol w="476790">
                  <a:extLst>
                    <a:ext uri="{9D8B030D-6E8A-4147-A177-3AD203B41FA5}">
                      <a16:colId xmlns:a16="http://schemas.microsoft.com/office/drawing/2014/main" val="1541602423"/>
                    </a:ext>
                  </a:extLst>
                </a:gridCol>
                <a:gridCol w="476790">
                  <a:extLst>
                    <a:ext uri="{9D8B030D-6E8A-4147-A177-3AD203B41FA5}">
                      <a16:colId xmlns:a16="http://schemas.microsoft.com/office/drawing/2014/main" val="2355879754"/>
                    </a:ext>
                  </a:extLst>
                </a:gridCol>
                <a:gridCol w="476790">
                  <a:extLst>
                    <a:ext uri="{9D8B030D-6E8A-4147-A177-3AD203B41FA5}">
                      <a16:colId xmlns:a16="http://schemas.microsoft.com/office/drawing/2014/main" val="3141991012"/>
                    </a:ext>
                  </a:extLst>
                </a:gridCol>
                <a:gridCol w="476790">
                  <a:extLst>
                    <a:ext uri="{9D8B030D-6E8A-4147-A177-3AD203B41FA5}">
                      <a16:colId xmlns:a16="http://schemas.microsoft.com/office/drawing/2014/main" val="1319348185"/>
                    </a:ext>
                  </a:extLst>
                </a:gridCol>
                <a:gridCol w="476790">
                  <a:extLst>
                    <a:ext uri="{9D8B030D-6E8A-4147-A177-3AD203B41FA5}">
                      <a16:colId xmlns:a16="http://schemas.microsoft.com/office/drawing/2014/main" val="3970303682"/>
                    </a:ext>
                  </a:extLst>
                </a:gridCol>
                <a:gridCol w="476790">
                  <a:extLst>
                    <a:ext uri="{9D8B030D-6E8A-4147-A177-3AD203B41FA5}">
                      <a16:colId xmlns:a16="http://schemas.microsoft.com/office/drawing/2014/main" val="1582927412"/>
                    </a:ext>
                  </a:extLst>
                </a:gridCol>
                <a:gridCol w="476790">
                  <a:extLst>
                    <a:ext uri="{9D8B030D-6E8A-4147-A177-3AD203B41FA5}">
                      <a16:colId xmlns:a16="http://schemas.microsoft.com/office/drawing/2014/main" val="2240649461"/>
                    </a:ext>
                  </a:extLst>
                </a:gridCol>
                <a:gridCol w="476790">
                  <a:extLst>
                    <a:ext uri="{9D8B030D-6E8A-4147-A177-3AD203B41FA5}">
                      <a16:colId xmlns:a16="http://schemas.microsoft.com/office/drawing/2014/main" val="3130014922"/>
                    </a:ext>
                  </a:extLst>
                </a:gridCol>
                <a:gridCol w="476790">
                  <a:extLst>
                    <a:ext uri="{9D8B030D-6E8A-4147-A177-3AD203B41FA5}">
                      <a16:colId xmlns:a16="http://schemas.microsoft.com/office/drawing/2014/main" val="1521587822"/>
                    </a:ext>
                  </a:extLst>
                </a:gridCol>
                <a:gridCol w="476790">
                  <a:extLst>
                    <a:ext uri="{9D8B030D-6E8A-4147-A177-3AD203B41FA5}">
                      <a16:colId xmlns:a16="http://schemas.microsoft.com/office/drawing/2014/main" val="1668545571"/>
                    </a:ext>
                  </a:extLst>
                </a:gridCol>
                <a:gridCol w="476790">
                  <a:extLst>
                    <a:ext uri="{9D8B030D-6E8A-4147-A177-3AD203B41FA5}">
                      <a16:colId xmlns:a16="http://schemas.microsoft.com/office/drawing/2014/main" val="1528507077"/>
                    </a:ext>
                  </a:extLst>
                </a:gridCol>
                <a:gridCol w="476790">
                  <a:extLst>
                    <a:ext uri="{9D8B030D-6E8A-4147-A177-3AD203B41FA5}">
                      <a16:colId xmlns:a16="http://schemas.microsoft.com/office/drawing/2014/main" val="347285480"/>
                    </a:ext>
                  </a:extLst>
                </a:gridCol>
                <a:gridCol w="476790">
                  <a:extLst>
                    <a:ext uri="{9D8B030D-6E8A-4147-A177-3AD203B41FA5}">
                      <a16:colId xmlns:a16="http://schemas.microsoft.com/office/drawing/2014/main" val="2871159979"/>
                    </a:ext>
                  </a:extLst>
                </a:gridCol>
                <a:gridCol w="476790">
                  <a:extLst>
                    <a:ext uri="{9D8B030D-6E8A-4147-A177-3AD203B41FA5}">
                      <a16:colId xmlns:a16="http://schemas.microsoft.com/office/drawing/2014/main" val="3634276604"/>
                    </a:ext>
                  </a:extLst>
                </a:gridCol>
                <a:gridCol w="476790">
                  <a:extLst>
                    <a:ext uri="{9D8B030D-6E8A-4147-A177-3AD203B41FA5}">
                      <a16:colId xmlns:a16="http://schemas.microsoft.com/office/drawing/2014/main" val="3652231093"/>
                    </a:ext>
                  </a:extLst>
                </a:gridCol>
              </a:tblGrid>
              <a:tr h="190500">
                <a:tc rowSpan="2">
                  <a:txBody>
                    <a:bodyPr/>
                    <a:lstStyle/>
                    <a:p>
                      <a:pPr algn="ctr" fontAlgn="ctr"/>
                      <a:r>
                        <a:rPr lang="en-NZ" sz="1600" b="1" i="0" u="none" strike="noStrike">
                          <a:solidFill>
                            <a:srgbClr val="FFFFFF"/>
                          </a:solidFill>
                          <a:effectLst/>
                          <a:latin typeface="Calibri" panose="020F0502020204030204" pitchFamily="34" charset="0"/>
                        </a:rPr>
                        <a:t>Data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a:solidFill>
                            <a:srgbClr val="00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538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2451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3220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1977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782344589"/>
                  </a:ext>
                </a:extLst>
              </a:tr>
              <a:tr h="190500">
                <a:tc vMerge="1">
                  <a:txBody>
                    <a:bodyPr/>
                    <a:lstStyle/>
                    <a:p>
                      <a:endParaRPr lang="en-NZ"/>
                    </a:p>
                  </a:txBody>
                  <a:tcPr/>
                </a:tc>
                <a:tc>
                  <a:txBody>
                    <a:bodyPr/>
                    <a:lstStyle/>
                    <a:p>
                      <a:pPr algn="ctr" fontAlgn="ctr"/>
                      <a:r>
                        <a:rPr lang="en-NZ" sz="16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1732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1445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170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07816777"/>
                  </a:ext>
                </a:extLst>
              </a:tr>
            </a:tbl>
          </a:graphicData>
        </a:graphic>
      </p:graphicFrame>
      <p:sp>
        <p:nvSpPr>
          <p:cNvPr id="18" name="Text Placeholder 5">
            <a:extLst>
              <a:ext uri="{FF2B5EF4-FFF2-40B4-BE49-F238E27FC236}">
                <a16:creationId xmlns:a16="http://schemas.microsoft.com/office/drawing/2014/main" id="{1AF7EF27-E7A8-4E23-8941-043BAE2A3F54}"/>
              </a:ext>
            </a:extLst>
          </p:cNvPr>
          <p:cNvSpPr txBox="1">
            <a:spLocks/>
          </p:cNvSpPr>
          <p:nvPr/>
        </p:nvSpPr>
        <p:spPr>
          <a:xfrm>
            <a:off x="476134" y="2617742"/>
            <a:ext cx="10739311"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X</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 The</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random variable that produced the above data set.</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A8C98AC-6A21-4F74-AA1C-CAA845597EDA}"/>
                  </a:ext>
                </a:extLst>
              </p:cNvPr>
              <p:cNvSpPr txBox="1">
                <a:spLocks/>
              </p:cNvSpPr>
              <p:nvPr/>
            </p:nvSpPr>
            <p:spPr>
              <a:xfrm>
                <a:off x="476135" y="3055294"/>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14:m>
                  <m:oMath xmlns:m="http://schemas.openxmlformats.org/officeDocument/2006/math">
                    <m:r>
                      <a:rPr lang="en-NZ" altLang="ja-JP" sz="1800" b="1" i="1" smtClean="0">
                        <a:solidFill>
                          <a:schemeClr val="tx1"/>
                        </a:solidFill>
                        <a:latin typeface="Cambria Math" panose="02040503050406030204" pitchFamily="18" charset="0"/>
                      </a:rPr>
                      <m:t>𝜽</m:t>
                    </m:r>
                    <m:r>
                      <a:rPr lang="en-NZ" altLang="ja-JP" sz="1800" b="1" i="1" smtClean="0">
                        <a:solidFill>
                          <a:schemeClr val="tx1"/>
                        </a:solidFill>
                        <a:latin typeface="Cambria Math" panose="02040503050406030204" pitchFamily="18" charset="0"/>
                      </a:rPr>
                      <m:t>= </m:t>
                    </m:r>
                    <m:f>
                      <m:fPr>
                        <m:type m:val="skw"/>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𝝈</m:t>
                        </m:r>
                      </m:num>
                      <m:den>
                        <m:r>
                          <a:rPr lang="en-NZ" altLang="ja-JP" sz="1800" b="1" i="1">
                            <a:solidFill>
                              <a:schemeClr val="tx1"/>
                            </a:solidFill>
                            <a:latin typeface="Cambria Math" panose="02040503050406030204" pitchFamily="18" charset="0"/>
                          </a:rPr>
                          <m:t>𝝁</m:t>
                        </m:r>
                      </m:den>
                    </m:f>
                  </m:oMath>
                </a14:m>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is the property of interest</a:t>
                </a:r>
              </a:p>
            </p:txBody>
          </p:sp>
        </mc:Choice>
        <mc:Fallback xmlns="">
          <p:sp>
            <p:nvSpPr>
              <p:cNvPr id="19" name="Text Placeholder 5">
                <a:extLst>
                  <a:ext uri="{FF2B5EF4-FFF2-40B4-BE49-F238E27FC236}">
                    <a16:creationId xmlns:a16="http://schemas.microsoft.com/office/drawing/2014/main" id="{BA8C98AC-6A21-4F74-AA1C-CAA845597EDA}"/>
                  </a:ext>
                </a:extLst>
              </p:cNvPr>
              <p:cNvSpPr txBox="1">
                <a:spLocks noRot="1" noChangeAspect="1" noMove="1" noResize="1" noEditPoints="1" noAdjustHandles="1" noChangeArrowheads="1" noChangeShapeType="1" noTextEdit="1"/>
              </p:cNvSpPr>
              <p:nvPr/>
            </p:nvSpPr>
            <p:spPr>
              <a:xfrm>
                <a:off x="476135" y="3055294"/>
                <a:ext cx="8649668" cy="507731"/>
              </a:xfrm>
              <a:prstGeom prst="rect">
                <a:avLst/>
              </a:prstGeom>
              <a:blipFill>
                <a:blip r:embed="rId4"/>
                <a:stretch>
                  <a:fillRect t="-81928" b="-10602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7C05862E-5BEF-4113-BA28-511840FE0167}"/>
                  </a:ext>
                </a:extLst>
              </p:cNvPr>
              <p:cNvSpPr txBox="1">
                <a:spLocks/>
              </p:cNvSpPr>
              <p:nvPr/>
            </p:nvSpPr>
            <p:spPr>
              <a:xfrm>
                <a:off x="476134" y="3538059"/>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From</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the sample above we obtain the sample statistic </a:t>
                </a:r>
                <a14:m>
                  <m:oMath xmlns:m="http://schemas.openxmlformats.org/officeDocument/2006/math">
                    <m:acc>
                      <m:accPr>
                        <m:chr m:val="̂"/>
                        <m:ctrlPr>
                          <a:rPr kumimoji="1" lang="en-US"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ctrlPr>
                      </m:accPr>
                      <m:e>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𝜽</m:t>
                        </m:r>
                      </m:e>
                    </m:acc>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type m:val="skw"/>
                        <m:ctrlP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𝒔</m:t>
                        </m:r>
                      </m:num>
                      <m:den>
                        <m:bar>
                          <m:barPr>
                            <m:pos m:val="top"/>
                            <m:ctrlP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ctrlPr>
                          </m:barPr>
                          <m:e>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𝒚</m:t>
                            </m:r>
                          </m:e>
                        </m:bar>
                      </m:den>
                    </m:f>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rPr>
                      <m:t>𝟒𝟕𝟓𝟒𝟏𝟕</m:t>
                    </m:r>
                  </m:oMath>
                </a14:m>
                <a:endPar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0" name="Text Placeholder 5">
                <a:extLst>
                  <a:ext uri="{FF2B5EF4-FFF2-40B4-BE49-F238E27FC236}">
                    <a16:creationId xmlns:a16="http://schemas.microsoft.com/office/drawing/2014/main" id="{7C05862E-5BEF-4113-BA28-511840FE0167}"/>
                  </a:ext>
                </a:extLst>
              </p:cNvPr>
              <p:cNvSpPr txBox="1">
                <a:spLocks noRot="1" noChangeAspect="1" noMove="1" noResize="1" noEditPoints="1" noAdjustHandles="1" noChangeArrowheads="1" noChangeShapeType="1" noTextEdit="1"/>
              </p:cNvSpPr>
              <p:nvPr/>
            </p:nvSpPr>
            <p:spPr>
              <a:xfrm>
                <a:off x="476134" y="3538059"/>
                <a:ext cx="8649668" cy="507731"/>
              </a:xfrm>
              <a:prstGeom prst="rect">
                <a:avLst/>
              </a:prstGeom>
              <a:blipFill>
                <a:blip r:embed="rId5"/>
                <a:stretch>
                  <a:fillRect l="-564" t="-102381" b="-15714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22CA372-9101-43E1-9868-55B4D3036FA0}"/>
                  </a:ext>
                </a:extLst>
              </p:cNvPr>
              <p:cNvSpPr txBox="1">
                <a:spLocks/>
              </p:cNvSpPr>
              <p:nvPr/>
            </p:nvSpPr>
            <p:spPr>
              <a:xfrm>
                <a:off x="476134" y="4038697"/>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However, when sample sizes are small this estimator tends to underestimate </a:t>
                </a:r>
                <a14:m>
                  <m:oMath xmlns:m="http://schemas.openxmlformats.org/officeDocument/2006/math">
                    <m:r>
                      <a:rPr lang="en-NZ" altLang="ja-JP" sz="1800" b="1" i="1">
                        <a:solidFill>
                          <a:schemeClr val="tx1"/>
                        </a:solidFill>
                        <a:latin typeface="Cambria Math" panose="02040503050406030204" pitchFamily="18" charset="0"/>
                      </a:rPr>
                      <m:t>𝜽</m:t>
                    </m:r>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(see </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hlinkClick r:id="rId6"/>
                  </a:rPr>
                  <a:t>link</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2" name="Text Placeholder 5">
                <a:extLst>
                  <a:ext uri="{FF2B5EF4-FFF2-40B4-BE49-F238E27FC236}">
                    <a16:creationId xmlns:a16="http://schemas.microsoft.com/office/drawing/2014/main" id="{522CA372-9101-43E1-9868-55B4D3036FA0}"/>
                  </a:ext>
                </a:extLst>
              </p:cNvPr>
              <p:cNvSpPr txBox="1">
                <a:spLocks noRot="1" noChangeAspect="1" noMove="1" noResize="1" noEditPoints="1" noAdjustHandles="1" noChangeArrowheads="1" noChangeShapeType="1" noTextEdit="1"/>
              </p:cNvSpPr>
              <p:nvPr/>
            </p:nvSpPr>
            <p:spPr>
              <a:xfrm>
                <a:off x="476134" y="4038697"/>
                <a:ext cx="8649668" cy="507731"/>
              </a:xfrm>
              <a:prstGeom prst="rect">
                <a:avLst/>
              </a:prstGeom>
              <a:blipFill>
                <a:blip r:embed="rId7"/>
                <a:stretch>
                  <a:fillRect l="-564" t="-722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D4BF534-73D6-42E5-872B-1B1465CCB6AA}"/>
                  </a:ext>
                </a:extLst>
              </p:cNvPr>
              <p:cNvSpPr txBox="1">
                <a:spLocks/>
              </p:cNvSpPr>
              <p:nvPr/>
            </p:nvSpPr>
            <p:spPr>
              <a:xfrm>
                <a:off x="476134" y="4569035"/>
                <a:ext cx="8649668" cy="5077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As such, we want to create a bias corrected estimate of </a:t>
                </a:r>
                <a14:m>
                  <m:oMath xmlns:m="http://schemas.openxmlformats.org/officeDocument/2006/math">
                    <m:r>
                      <a:rPr lang="en-NZ" altLang="ja-JP" sz="1800" b="1" i="1">
                        <a:solidFill>
                          <a:schemeClr val="tx1"/>
                        </a:solidFill>
                        <a:latin typeface="Cambria Math" panose="02040503050406030204" pitchFamily="18" charset="0"/>
                      </a:rPr>
                      <m:t>𝜽</m:t>
                    </m:r>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4" name="Text Placeholder 5">
                <a:extLst>
                  <a:ext uri="{FF2B5EF4-FFF2-40B4-BE49-F238E27FC236}">
                    <a16:creationId xmlns:a16="http://schemas.microsoft.com/office/drawing/2014/main" id="{CD4BF534-73D6-42E5-872B-1B1465CCB6AA}"/>
                  </a:ext>
                </a:extLst>
              </p:cNvPr>
              <p:cNvSpPr txBox="1">
                <a:spLocks noRot="1" noChangeAspect="1" noMove="1" noResize="1" noEditPoints="1" noAdjustHandles="1" noChangeArrowheads="1" noChangeShapeType="1" noTextEdit="1"/>
              </p:cNvSpPr>
              <p:nvPr/>
            </p:nvSpPr>
            <p:spPr>
              <a:xfrm>
                <a:off x="476134" y="4569035"/>
                <a:ext cx="8649668" cy="507731"/>
              </a:xfrm>
              <a:prstGeom prst="rect">
                <a:avLst/>
              </a:prstGeom>
              <a:blipFill>
                <a:blip r:embed="rId8"/>
                <a:stretch>
                  <a:fillRect l="-564" t="-7229"/>
                </a:stretch>
              </a:blipFill>
            </p:spPr>
            <p:txBody>
              <a:bodyPr/>
              <a:lstStyle/>
              <a:p>
                <a:r>
                  <a:rPr lang="en-NZ">
                    <a:noFill/>
                  </a:rPr>
                  <a:t> </a:t>
                </a:r>
              </a:p>
            </p:txBody>
          </p:sp>
        </mc:Fallback>
      </mc:AlternateContent>
    </p:spTree>
    <p:extLst>
      <p:ext uri="{BB962C8B-B14F-4D97-AF65-F5344CB8AC3E}">
        <p14:creationId xmlns:p14="http://schemas.microsoft.com/office/powerpoint/2010/main" val="71366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2" grpId="0"/>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7942997" y="86139"/>
            <a:ext cx="414636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.3b – Non-parametric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442400"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7</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.3b – Coefficient of Variation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04DA2210-7352-4BC7-B383-3222B6C10BF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7.3 - Coefficient of Variation (Bias Correction Example)</a:t>
            </a:r>
            <a:r>
              <a:rPr lang="en-US" altLang="ja-JP" sz="1200" dirty="0">
                <a:solidFill>
                  <a:srgbClr val="C00000"/>
                </a:solidFill>
              </a:rPr>
              <a:t>.</a:t>
            </a:r>
            <a:endParaRPr lang="en-US" altLang="ja-JP" sz="1200" b="1" i="1" dirty="0">
              <a:solidFill>
                <a:srgbClr val="C00000"/>
              </a:solidFill>
            </a:endParaRPr>
          </a:p>
        </p:txBody>
      </p:sp>
      <p:pic>
        <p:nvPicPr>
          <p:cNvPr id="7" name="Picture 6">
            <a:extLst>
              <a:ext uri="{FF2B5EF4-FFF2-40B4-BE49-F238E27FC236}">
                <a16:creationId xmlns:a16="http://schemas.microsoft.com/office/drawing/2014/main" id="{C9653444-4660-41A7-ADEF-5D5BAF00A24C}"/>
              </a:ext>
            </a:extLst>
          </p:cNvPr>
          <p:cNvPicPr>
            <a:picLocks noChangeAspect="1"/>
          </p:cNvPicPr>
          <p:nvPr/>
        </p:nvPicPr>
        <p:blipFill>
          <a:blip r:embed="rId3"/>
          <a:stretch>
            <a:fillRect/>
          </a:stretch>
        </p:blipFill>
        <p:spPr>
          <a:xfrm>
            <a:off x="257353" y="2623622"/>
            <a:ext cx="6899605" cy="3256697"/>
          </a:xfrm>
          <a:prstGeom prst="rect">
            <a:avLst/>
          </a:prstGeom>
        </p:spPr>
      </p:pic>
      <p:pic>
        <p:nvPicPr>
          <p:cNvPr id="10" name="Picture 9">
            <a:extLst>
              <a:ext uri="{FF2B5EF4-FFF2-40B4-BE49-F238E27FC236}">
                <a16:creationId xmlns:a16="http://schemas.microsoft.com/office/drawing/2014/main" id="{E2AE2E15-3ED4-4CFF-B155-2C222AFF3F54}"/>
              </a:ext>
            </a:extLst>
          </p:cNvPr>
          <p:cNvPicPr>
            <a:picLocks noChangeAspect="1"/>
          </p:cNvPicPr>
          <p:nvPr/>
        </p:nvPicPr>
        <p:blipFill>
          <a:blip r:embed="rId4"/>
          <a:stretch>
            <a:fillRect/>
          </a:stretch>
        </p:blipFill>
        <p:spPr>
          <a:xfrm>
            <a:off x="397901" y="977681"/>
            <a:ext cx="6759057" cy="764275"/>
          </a:xfrm>
          <a:prstGeom prst="rect">
            <a:avLst/>
          </a:prstGeom>
        </p:spPr>
      </p:pic>
      <p:pic>
        <p:nvPicPr>
          <p:cNvPr id="12" name="Picture 11">
            <a:extLst>
              <a:ext uri="{FF2B5EF4-FFF2-40B4-BE49-F238E27FC236}">
                <a16:creationId xmlns:a16="http://schemas.microsoft.com/office/drawing/2014/main" id="{250B342F-777C-4377-9489-22C5FBB92BFE}"/>
              </a:ext>
            </a:extLst>
          </p:cNvPr>
          <p:cNvPicPr>
            <a:picLocks noChangeAspect="1"/>
          </p:cNvPicPr>
          <p:nvPr/>
        </p:nvPicPr>
        <p:blipFill>
          <a:blip r:embed="rId5"/>
          <a:stretch>
            <a:fillRect/>
          </a:stretch>
        </p:blipFill>
        <p:spPr>
          <a:xfrm>
            <a:off x="397901" y="1879464"/>
            <a:ext cx="5934660" cy="655434"/>
          </a:xfrm>
          <a:prstGeom prst="rect">
            <a:avLst/>
          </a:prstGeom>
        </p:spPr>
      </p:pic>
      <p:pic>
        <p:nvPicPr>
          <p:cNvPr id="16" name="Picture 15">
            <a:extLst>
              <a:ext uri="{FF2B5EF4-FFF2-40B4-BE49-F238E27FC236}">
                <a16:creationId xmlns:a16="http://schemas.microsoft.com/office/drawing/2014/main" id="{5A8212C2-C903-49A1-974B-DD72268ACAE4}"/>
              </a:ext>
            </a:extLst>
          </p:cNvPr>
          <p:cNvPicPr>
            <a:picLocks noChangeAspect="1"/>
          </p:cNvPicPr>
          <p:nvPr/>
        </p:nvPicPr>
        <p:blipFill>
          <a:blip r:embed="rId6"/>
          <a:stretch>
            <a:fillRect/>
          </a:stretch>
        </p:blipFill>
        <p:spPr>
          <a:xfrm>
            <a:off x="397901" y="5453868"/>
            <a:ext cx="6087240" cy="608724"/>
          </a:xfrm>
          <a:prstGeom prst="rect">
            <a:avLst/>
          </a:prstGeom>
        </p:spPr>
      </p:pic>
      <p:sp>
        <p:nvSpPr>
          <p:cNvPr id="25" name="Text Placeholder 5">
            <a:extLst>
              <a:ext uri="{FF2B5EF4-FFF2-40B4-BE49-F238E27FC236}">
                <a16:creationId xmlns:a16="http://schemas.microsoft.com/office/drawing/2014/main" id="{FA1D7EB3-0FB1-4166-84D2-2F499CC1CBD6}"/>
              </a:ext>
            </a:extLst>
          </p:cNvPr>
          <p:cNvSpPr txBox="1">
            <a:spLocks/>
          </p:cNvSpPr>
          <p:nvPr/>
        </p:nvSpPr>
        <p:spPr>
          <a:xfrm>
            <a:off x="7560860" y="1155588"/>
            <a:ext cx="4367283" cy="7147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000" b="1" u="sng" dirty="0">
                <a:solidFill>
                  <a:srgbClr val="002060"/>
                </a:solidFill>
              </a:rPr>
              <a:t>Results</a:t>
            </a:r>
            <a:endParaRPr lang="ja-JP" altLang="en-NZ" sz="2000" b="1" u="sng" dirty="0">
              <a:solidFill>
                <a:srgbClr val="002060"/>
              </a:solidFill>
            </a:endParaRPr>
          </a:p>
        </p:txBody>
      </p:sp>
      <p:sp>
        <p:nvSpPr>
          <p:cNvPr id="26" name="Right Brace 25">
            <a:extLst>
              <a:ext uri="{FF2B5EF4-FFF2-40B4-BE49-F238E27FC236}">
                <a16:creationId xmlns:a16="http://schemas.microsoft.com/office/drawing/2014/main" id="{CA64D503-7E8C-484E-B3AA-871CA1AC921E}"/>
              </a:ext>
            </a:extLst>
          </p:cNvPr>
          <p:cNvSpPr/>
          <p:nvPr/>
        </p:nvSpPr>
        <p:spPr>
          <a:xfrm>
            <a:off x="7089805" y="1261826"/>
            <a:ext cx="368489" cy="480076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solidFill>
                <a:srgbClr val="C00000"/>
              </a:solidFill>
            </a:endParaRPr>
          </a:p>
        </p:txBody>
      </p:sp>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DA6990E4-3D1D-44B2-A277-351D6019A0B1}"/>
                  </a:ext>
                </a:extLst>
              </p:cNvPr>
              <p:cNvSpPr txBox="1">
                <a:spLocks/>
              </p:cNvSpPr>
              <p:nvPr/>
            </p:nvSpPr>
            <p:spPr>
              <a:xfrm>
                <a:off x="7560860" y="1779908"/>
                <a:ext cx="4367283" cy="23963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14:m>
                  <m:oMathPara xmlns:m="http://schemas.openxmlformats.org/officeDocument/2006/math">
                    <m:oMathParaPr>
                      <m:jc m:val="centerGroup"/>
                    </m:oMathParaPr>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𝟒𝟕𝟓𝟒𝟏𝟕</m:t>
                      </m:r>
                    </m:oMath>
                  </m:oMathPara>
                </a14:m>
                <a:endParaRPr lang="en-NZ" altLang="ja-JP" sz="1800" b="1" dirty="0">
                  <a:solidFill>
                    <a:schemeClr val="tx1"/>
                  </a:solidFill>
                  <a:latin typeface="Calibri" panose="020F0502020204030204"/>
                </a:endParaRPr>
              </a:p>
              <a:p>
                <a:pPr lvl="0" algn="just">
                  <a:lnSpc>
                    <a:spcPct val="100000"/>
                  </a:lnSpc>
                  <a:defRPr/>
                </a:pPr>
                <a:endParaRPr lang="en-NZ" altLang="ja-JP" sz="1800" b="1" dirty="0">
                  <a:solidFill>
                    <a:schemeClr val="tx1"/>
                  </a:solidFill>
                  <a:latin typeface="Calibri" panose="020F0502020204030204"/>
                </a:endParaRPr>
              </a:p>
              <a:p>
                <a:pPr lvl="0" algn="just">
                  <a:lnSpc>
                    <a:spcPct val="100000"/>
                  </a:lnSpc>
                  <a:defRPr/>
                </a:pPr>
                <a14:m>
                  <m:oMathPara xmlns:m="http://schemas.openxmlformats.org/officeDocument/2006/math">
                    <m:oMathParaPr>
                      <m:jc m:val="centerGroup"/>
                    </m:oMathParaPr>
                    <m:oMath xmlns:m="http://schemas.openxmlformats.org/officeDocument/2006/math">
                      <m:sSup>
                        <m:sSupPr>
                          <m:ctrlPr>
                            <a:rPr lang="en-NZ" altLang="ja-JP" sz="1800" b="1" i="1" smtClean="0">
                              <a:solidFill>
                                <a:prstClr val="black"/>
                              </a:solidFill>
                              <a:latin typeface="Cambria Math" panose="02040503050406030204" pitchFamily="18" charset="0"/>
                            </a:rPr>
                          </m:ctrlPr>
                        </m:sSupPr>
                        <m:e>
                          <m:bar>
                            <m:barPr>
                              <m:pos m:val="top"/>
                              <m:ctrlPr>
                                <a:rPr lang="en-NZ" altLang="ja-JP" sz="1800" b="1" i="1" smtClean="0">
                                  <a:solidFill>
                                    <a:prstClr val="black"/>
                                  </a:solidFill>
                                  <a:latin typeface="Cambria Math" panose="02040503050406030204" pitchFamily="18" charset="0"/>
                                </a:rPr>
                              </m:ctrlPr>
                            </m:barPr>
                            <m:e>
                              <m:r>
                                <a:rPr lang="en-NZ" altLang="ja-JP" sz="1800" b="1" i="1" smtClean="0">
                                  <a:solidFill>
                                    <a:prstClr val="black"/>
                                  </a:solidFill>
                                  <a:latin typeface="Cambria Math" panose="02040503050406030204" pitchFamily="18" charset="0"/>
                                </a:rPr>
                                <m:t>𝜽</m:t>
                              </m:r>
                            </m:e>
                          </m:bar>
                        </m:e>
                        <m:sup>
                          <m:r>
                            <a:rPr lang="en-NZ" altLang="ja-JP" sz="1800" b="1" i="1" smtClean="0">
                              <a:solidFill>
                                <a:prstClr val="black"/>
                              </a:solidFill>
                              <a:latin typeface="Cambria Math" panose="02040503050406030204" pitchFamily="18" charset="0"/>
                            </a:rPr>
                            <m:t> ∗</m:t>
                          </m:r>
                        </m:sup>
                      </m:sSup>
                      <m:r>
                        <a:rPr lang="en-NZ" altLang="ja-JP" sz="1800" b="1" i="1" smtClean="0">
                          <a:solidFill>
                            <a:prstClr val="black"/>
                          </a:solidFill>
                          <a:latin typeface="Cambria Math" panose="02040503050406030204" pitchFamily="18" charset="0"/>
                        </a:rPr>
                        <m:t> =  </m:t>
                      </m:r>
                      <m:r>
                        <a:rPr lang="en-NZ" altLang="ja-JP" sz="1800" b="1" i="1" smtClean="0">
                          <a:solidFill>
                            <a:prstClr val="black"/>
                          </a:solidFill>
                          <a:latin typeface="Cambria Math" panose="02040503050406030204" pitchFamily="18" charset="0"/>
                        </a:rPr>
                        <m:t>𝟏</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𝟒𝟑𝟓𝟏𝟔𝟔</m:t>
                      </m:r>
                    </m:oMath>
                  </m:oMathPara>
                </a14:m>
                <a:endParaRPr lang="en-NZ" altLang="ja-JP" sz="1800" b="1" dirty="0">
                  <a:solidFill>
                    <a:schemeClr val="tx1"/>
                  </a:solidFill>
                  <a:latin typeface="Calibri" panose="020F0502020204030204"/>
                </a:endParaRPr>
              </a:p>
              <a:p>
                <a:pPr lvl="0" algn="just">
                  <a:lnSpc>
                    <a:spcPct val="100000"/>
                  </a:lnSpc>
                  <a:defRPr/>
                </a:pPr>
                <a:endParaRPr lang="en-NZ" altLang="ja-JP" sz="1800" b="1" dirty="0">
                  <a:solidFill>
                    <a:schemeClr val="tx1"/>
                  </a:solidFill>
                  <a:latin typeface="Calibri" panose="020F0502020204030204"/>
                </a:endParaRPr>
              </a:p>
              <a:p>
                <a:pPr lvl="0" algn="just">
                  <a:lnSpc>
                    <a:spcPct val="100000"/>
                  </a:lnSpc>
                  <a:defRPr/>
                </a:pPr>
                <a14:m>
                  <m:oMathPara xmlns:m="http://schemas.openxmlformats.org/officeDocument/2006/math">
                    <m:oMathParaPr>
                      <m:jc m:val="centerGroup"/>
                    </m:oMathParaPr>
                    <m:oMath xmlns:m="http://schemas.openxmlformats.org/officeDocument/2006/math">
                      <m:r>
                        <a:rPr lang="en-NZ" altLang="ja-JP" sz="1800" b="1" i="1">
                          <a:solidFill>
                            <a:schemeClr val="tx1"/>
                          </a:solidFill>
                          <a:latin typeface="Cambria Math" panose="02040503050406030204" pitchFamily="18" charset="0"/>
                        </a:rPr>
                        <m:t>𝑩𝒊𝒂𝒔</m:t>
                      </m:r>
                      <m:d>
                        <m:dPr>
                          <m:begChr m:val="["/>
                          <m:endChr m:val="]"/>
                          <m:ctrlPr>
                            <a:rPr lang="en-NZ" altLang="ja-JP" sz="1800" b="1" i="1">
                              <a:solidFill>
                                <a:schemeClr val="tx1"/>
                              </a:solidFill>
                              <a:latin typeface="Cambria Math" panose="02040503050406030204" pitchFamily="18" charset="0"/>
                            </a:rPr>
                          </m:ctrlPr>
                        </m:d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d>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ea typeface="Cambria Math" panose="02040503050406030204" pitchFamily="18" charset="0"/>
                        </a:rPr>
                        <m:t>≈</m:t>
                      </m:r>
                      <m:sSup>
                        <m:sSupPr>
                          <m:ctrlPr>
                            <a:rPr lang="en-NZ" altLang="ja-JP" sz="1800" b="1" i="1">
                              <a:solidFill>
                                <a:prstClr val="black"/>
                              </a:solidFill>
                              <a:latin typeface="Cambria Math" panose="02040503050406030204" pitchFamily="18" charset="0"/>
                            </a:rPr>
                          </m:ctrlPr>
                        </m:sSupPr>
                        <m:e>
                          <m:bar>
                            <m:barPr>
                              <m:pos m:val="top"/>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𝜽</m:t>
                              </m:r>
                            </m:e>
                          </m:bar>
                        </m:e>
                        <m:sup>
                          <m:r>
                            <a:rPr lang="en-NZ" altLang="ja-JP" sz="1800" b="1" i="1">
                              <a:solidFill>
                                <a:prstClr val="black"/>
                              </a:solidFill>
                              <a:latin typeface="Cambria Math" panose="02040503050406030204" pitchFamily="18" charset="0"/>
                            </a:rPr>
                            <m:t> ∗</m:t>
                          </m:r>
                        </m:sup>
                      </m:sSup>
                      <m:r>
                        <a:rPr lang="en-NZ" altLang="ja-JP" sz="1800" b="1" i="1">
                          <a:solidFill>
                            <a:prstClr val="black"/>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𝟎𝟒𝟎𝟐𝟓𝟏</m:t>
                      </m:r>
                    </m:oMath>
                  </m:oMathPara>
                </a14:m>
                <a:endParaRPr lang="en-NZ" altLang="ja-JP" sz="1800" b="1" dirty="0">
                  <a:solidFill>
                    <a:schemeClr val="tx1"/>
                  </a:solidFill>
                  <a:latin typeface="Calibri" panose="020F0502020204030204"/>
                </a:endParaRPr>
              </a:p>
              <a:p>
                <a:pPr lvl="0" algn="just">
                  <a:lnSpc>
                    <a:spcPct val="100000"/>
                  </a:lnSpc>
                  <a:defRPr/>
                </a:pPr>
                <a:endParaRPr lang="en-NZ" altLang="ja-JP" sz="1800" b="1" dirty="0">
                  <a:solidFill>
                    <a:schemeClr val="tx1"/>
                  </a:solidFill>
                  <a:latin typeface="Calibri" panose="020F0502020204030204"/>
                </a:endParaRPr>
              </a:p>
              <a:p>
                <a:pPr lvl="0" algn="just">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e>
                        <m:sub>
                          <m:r>
                            <a:rPr lang="en-NZ" altLang="ja-JP" sz="1800" b="1" i="1" smtClean="0">
                              <a:solidFill>
                                <a:schemeClr val="tx1"/>
                              </a:solidFill>
                              <a:latin typeface="Cambria Math" panose="02040503050406030204" pitchFamily="18" charset="0"/>
                            </a:rPr>
                            <m:t>𝑩𝑪</m:t>
                          </m:r>
                        </m:sub>
                      </m:sSub>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𝟐</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 −</m:t>
                      </m:r>
                      <m:sSup>
                        <m:sSupPr>
                          <m:ctrlPr>
                            <a:rPr lang="en-NZ" altLang="ja-JP" sz="1800" b="1" i="1">
                              <a:solidFill>
                                <a:prstClr val="black"/>
                              </a:solidFill>
                              <a:latin typeface="Cambria Math" panose="02040503050406030204" pitchFamily="18" charset="0"/>
                            </a:rPr>
                          </m:ctrlPr>
                        </m:sSupPr>
                        <m:e>
                          <m:bar>
                            <m:barPr>
                              <m:pos m:val="top"/>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𝜽</m:t>
                              </m:r>
                            </m:e>
                          </m:bar>
                        </m:e>
                        <m:sup>
                          <m:r>
                            <a:rPr lang="en-NZ" altLang="ja-JP" sz="1800" b="1" i="1">
                              <a:solidFill>
                                <a:prstClr val="black"/>
                              </a:solidFill>
                              <a:latin typeface="Cambria Math" panose="02040503050406030204" pitchFamily="18" charset="0"/>
                            </a:rPr>
                            <m:t> ∗</m:t>
                          </m:r>
                        </m:sup>
                      </m:sSup>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𝟓𝟏𝟓𝟔𝟔𝟖</m:t>
                      </m:r>
                    </m:oMath>
                  </m:oMathPara>
                </a14:m>
                <a:endParaRPr lang="en-NZ" altLang="ja-JP" sz="1800" b="1" dirty="0">
                  <a:solidFill>
                    <a:schemeClr val="tx1"/>
                  </a:solidFill>
                  <a:latin typeface="Calibri" panose="020F0502020204030204"/>
                </a:endParaRPr>
              </a:p>
              <a:p>
                <a:pPr lvl="0" algn="just">
                  <a:lnSpc>
                    <a:spcPct val="100000"/>
                  </a:lnSpc>
                  <a:defRPr/>
                </a:pP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7" name="Text Placeholder 5">
                <a:extLst>
                  <a:ext uri="{FF2B5EF4-FFF2-40B4-BE49-F238E27FC236}">
                    <a16:creationId xmlns:a16="http://schemas.microsoft.com/office/drawing/2014/main" id="{DA6990E4-3D1D-44B2-A277-351D6019A0B1}"/>
                  </a:ext>
                </a:extLst>
              </p:cNvPr>
              <p:cNvSpPr txBox="1">
                <a:spLocks noRot="1" noChangeAspect="1" noMove="1" noResize="1" noEditPoints="1" noAdjustHandles="1" noChangeArrowheads="1" noChangeShapeType="1" noTextEdit="1"/>
              </p:cNvSpPr>
              <p:nvPr/>
            </p:nvSpPr>
            <p:spPr>
              <a:xfrm>
                <a:off x="7560860" y="1779908"/>
                <a:ext cx="4367283" cy="2396307"/>
              </a:xfrm>
              <a:prstGeom prst="rect">
                <a:avLst/>
              </a:prstGeom>
              <a:blipFill>
                <a:blip r:embed="rId7"/>
                <a:stretch>
                  <a:fillRect t="-2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A66AA2C1-8156-4A4C-B074-4172EDE6F726}"/>
                  </a:ext>
                </a:extLst>
              </p:cNvPr>
              <p:cNvSpPr txBox="1">
                <a:spLocks/>
              </p:cNvSpPr>
              <p:nvPr/>
            </p:nvSpPr>
            <p:spPr>
              <a:xfrm>
                <a:off x="7761622" y="4278088"/>
                <a:ext cx="3940825" cy="16022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80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 expected, the bias corrected estimate </a:t>
                </a:r>
                <a14:m>
                  <m:oMath xmlns:m="http://schemas.openxmlformats.org/officeDocument/2006/math">
                    <m:sSub>
                      <m:sSubPr>
                        <m:ctrlPr>
                          <a:rPr lang="en-NZ" altLang="ja-JP" sz="1800" b="1" i="1" smtClean="0">
                            <a:solidFill>
                              <a:srgbClr val="C00000"/>
                            </a:solidFill>
                            <a:latin typeface="Cambria Math" panose="02040503050406030204" pitchFamily="18" charset="0"/>
                          </a:rPr>
                        </m:ctrlPr>
                      </m:sSubPr>
                      <m:e>
                        <m:acc>
                          <m:accPr>
                            <m:chr m:val="̂"/>
                            <m:ctrlPr>
                              <a:rPr lang="en-NZ" altLang="ja-JP" sz="1800" b="1" i="1">
                                <a:solidFill>
                                  <a:srgbClr val="C00000"/>
                                </a:solidFill>
                                <a:latin typeface="Cambria Math" panose="02040503050406030204" pitchFamily="18" charset="0"/>
                              </a:rPr>
                            </m:ctrlPr>
                          </m:accPr>
                          <m:e>
                            <m:r>
                              <a:rPr lang="en-NZ" altLang="ja-JP" sz="1800" b="1" i="1">
                                <a:solidFill>
                                  <a:srgbClr val="C00000"/>
                                </a:solidFill>
                                <a:latin typeface="Cambria Math" panose="02040503050406030204" pitchFamily="18" charset="0"/>
                              </a:rPr>
                              <m:t>𝜽</m:t>
                            </m:r>
                          </m:e>
                        </m:acc>
                      </m:e>
                      <m:sub>
                        <m:r>
                          <a:rPr lang="en-NZ" altLang="ja-JP" sz="1800" b="1" i="1" smtClean="0">
                            <a:solidFill>
                              <a:srgbClr val="C00000"/>
                            </a:solidFill>
                            <a:latin typeface="Cambria Math" panose="02040503050406030204" pitchFamily="18" charset="0"/>
                          </a:rPr>
                          <m:t>𝑩𝑪</m:t>
                        </m:r>
                      </m:sub>
                    </m:sSub>
                  </m:oMath>
                </a14:m>
                <a:r>
                  <a:rPr kumimoji="1" lang="en-NZ" altLang="ja-JP" sz="180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 is greater than our initial estimate </a:t>
                </a:r>
                <a14:m>
                  <m:oMath xmlns:m="http://schemas.openxmlformats.org/officeDocument/2006/math">
                    <m:acc>
                      <m:accPr>
                        <m:chr m:val="̂"/>
                        <m:ctrlPr>
                          <a:rPr lang="en-NZ" altLang="ja-JP" sz="1800" b="1" i="1">
                            <a:solidFill>
                              <a:srgbClr val="C00000"/>
                            </a:solidFill>
                            <a:latin typeface="Cambria Math" panose="02040503050406030204" pitchFamily="18" charset="0"/>
                          </a:rPr>
                        </m:ctrlPr>
                      </m:accPr>
                      <m:e>
                        <m:r>
                          <a:rPr lang="en-NZ" altLang="ja-JP" sz="1800" b="1" i="1">
                            <a:solidFill>
                              <a:srgbClr val="C00000"/>
                            </a:solidFill>
                            <a:latin typeface="Cambria Math" panose="02040503050406030204" pitchFamily="18" charset="0"/>
                          </a:rPr>
                          <m:t>𝜽</m:t>
                        </m:r>
                      </m:e>
                    </m:acc>
                  </m:oMath>
                </a14:m>
                <a:r>
                  <a:rPr kumimoji="1" lang="en-NZ" altLang="ja-JP" sz="180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 </a:t>
                </a:r>
              </a:p>
              <a:p>
                <a:pPr lvl="0" algn="just">
                  <a:lnSpc>
                    <a:spcPct val="100000"/>
                  </a:lnSpc>
                  <a:defRPr/>
                </a:pPr>
                <a:endParaRPr lang="en-NZ" altLang="ja-JP" sz="1800" dirty="0">
                  <a:solidFill>
                    <a:srgbClr val="C00000"/>
                  </a:solidFill>
                  <a:latin typeface="Calibri" panose="020F0502020204030204"/>
                  <a:ea typeface="游ゴシック" panose="020B0400000000000000" pitchFamily="34" charset="-128"/>
                </a:endParaRPr>
              </a:p>
              <a:p>
                <a:pPr lvl="0" algn="just">
                  <a:lnSpc>
                    <a:spcPct val="100000"/>
                  </a:lnSpc>
                  <a:defRPr/>
                </a:pPr>
                <a:r>
                  <a:rPr kumimoji="1" lang="en-NZ" altLang="ja-JP" sz="180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The original estimate was too low. </a:t>
                </a:r>
                <a:endParaRPr kumimoji="1" lang="en-US" altLang="ja-JP" sz="180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28" name="Text Placeholder 5">
                <a:extLst>
                  <a:ext uri="{FF2B5EF4-FFF2-40B4-BE49-F238E27FC236}">
                    <a16:creationId xmlns:a16="http://schemas.microsoft.com/office/drawing/2014/main" id="{A66AA2C1-8156-4A4C-B074-4172EDE6F726}"/>
                  </a:ext>
                </a:extLst>
              </p:cNvPr>
              <p:cNvSpPr txBox="1">
                <a:spLocks noRot="1" noChangeAspect="1" noMove="1" noResize="1" noEditPoints="1" noAdjustHandles="1" noChangeArrowheads="1" noChangeShapeType="1" noTextEdit="1"/>
              </p:cNvSpPr>
              <p:nvPr/>
            </p:nvSpPr>
            <p:spPr>
              <a:xfrm>
                <a:off x="7761622" y="4278088"/>
                <a:ext cx="3940825" cy="1602231"/>
              </a:xfrm>
              <a:prstGeom prst="rect">
                <a:avLst/>
              </a:prstGeom>
              <a:blipFill>
                <a:blip r:embed="rId8"/>
                <a:stretch>
                  <a:fillRect l="-1236" t="-2281" r="-1236"/>
                </a:stretch>
              </a:blipFill>
            </p:spPr>
            <p:txBody>
              <a:bodyPr/>
              <a:lstStyle/>
              <a:p>
                <a:r>
                  <a:rPr lang="en-NZ">
                    <a:noFill/>
                  </a:rPr>
                  <a:t> </a:t>
                </a:r>
              </a:p>
            </p:txBody>
          </p:sp>
        </mc:Fallback>
      </mc:AlternateContent>
    </p:spTree>
    <p:extLst>
      <p:ext uri="{BB962C8B-B14F-4D97-AF65-F5344CB8AC3E}">
        <p14:creationId xmlns:p14="http://schemas.microsoft.com/office/powerpoint/2010/main" val="217448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28"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7851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7</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.4 – Standard </a:t>
            </a:r>
            <a:r>
              <a:rPr lang="en-NZ" sz="4500" b="1" dirty="0">
                <a:solidFill>
                  <a:srgbClr val="FFC000"/>
                </a:solidFill>
                <a:latin typeface="Calibri" panose="020F0502020204030204"/>
              </a:rPr>
              <a:t>Error &amp; Confidence Intervals for GLM Regression Coefficients</a:t>
            </a:r>
            <a:br>
              <a:rPr lang="en-NZ" sz="4500" b="1" dirty="0">
                <a:solidFill>
                  <a:srgbClr val="FFC000"/>
                </a:solidFill>
                <a:latin typeface="Calibri" panose="020F0502020204030204"/>
              </a:rPr>
            </a:br>
            <a:r>
              <a:rPr lang="en-NZ" sz="2000" b="1" dirty="0">
                <a:solidFill>
                  <a:srgbClr val="FFC000"/>
                </a:solidFill>
                <a:latin typeface="Calibri" panose="020F0502020204030204"/>
              </a:rPr>
              <a:t>(Bootstrapping the Residual)</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375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a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7.4a – Standard Error of Regression Coefficients: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FD3A5DF6-61A2-49DF-9336-17B980807688}"/>
              </a:ext>
            </a:extLst>
          </p:cNvPr>
          <p:cNvSpPr txBox="1">
            <a:spLocks/>
          </p:cNvSpPr>
          <p:nvPr/>
        </p:nvSpPr>
        <p:spPr>
          <a:xfrm>
            <a:off x="445827" y="941696"/>
            <a:ext cx="1130034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we want to model a response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as a linear function of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independent variables.</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11C6D720-0012-4350-9B18-A9E7A67CD6E3}"/>
                  </a:ext>
                </a:extLst>
              </p:cNvPr>
              <p:cNvSpPr txBox="1">
                <a:spLocks/>
              </p:cNvSpPr>
              <p:nvPr/>
            </p:nvSpPr>
            <p:spPr>
              <a:xfrm>
                <a:off x="727880" y="1306822"/>
                <a:ext cx="1130034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𝟐</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𝟐</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𝒑</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𝒑</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oMath>
                  </m:oMathPara>
                </a14:m>
                <a:endParaRPr kumimoji="1" lang="en-NZ"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11C6D720-0012-4350-9B18-A9E7A67CD6E3}"/>
                  </a:ext>
                </a:extLst>
              </p:cNvPr>
              <p:cNvSpPr txBox="1">
                <a:spLocks noRot="1" noChangeAspect="1" noMove="1" noResize="1" noEditPoints="1" noAdjustHandles="1" noChangeArrowheads="1" noChangeShapeType="1" noTextEdit="1"/>
              </p:cNvSpPr>
              <p:nvPr/>
            </p:nvSpPr>
            <p:spPr>
              <a:xfrm>
                <a:off x="727880" y="1306822"/>
                <a:ext cx="11300347" cy="365126"/>
              </a:xfrm>
              <a:prstGeom prst="rect">
                <a:avLst/>
              </a:prstGeom>
              <a:blipFill>
                <a:blip r:embed="rId3"/>
                <a:stretch>
                  <a:fillRect b="-3333"/>
                </a:stretch>
              </a:blipFill>
            </p:spPr>
            <p:txBody>
              <a:bodyPr/>
              <a:lstStyle/>
              <a:p>
                <a:r>
                  <a:rPr lang="en-NZ">
                    <a:noFill/>
                  </a:rPr>
                  <a:t> </a:t>
                </a:r>
              </a:p>
            </p:txBody>
          </p:sp>
        </mc:Fallback>
      </mc:AlternateContent>
      <p:sp>
        <p:nvSpPr>
          <p:cNvPr id="9" name="Text Placeholder 5">
            <a:extLst>
              <a:ext uri="{FF2B5EF4-FFF2-40B4-BE49-F238E27FC236}">
                <a16:creationId xmlns:a16="http://schemas.microsoft.com/office/drawing/2014/main" id="{6473D723-3B0B-4EA1-9BD3-39241755F327}"/>
              </a:ext>
            </a:extLst>
          </p:cNvPr>
          <p:cNvSpPr txBox="1">
            <a:spLocks/>
          </p:cNvSpPr>
          <p:nvPr/>
        </p:nvSpPr>
        <p:spPr>
          <a:xfrm>
            <a:off x="445827" y="1977408"/>
            <a:ext cx="1130034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order to do so we take a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sample</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of the response and independent variables:</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83BF2555-19D1-4106-A226-F434AC32B4CF}"/>
                  </a:ext>
                </a:extLst>
              </p:cNvPr>
              <p:cNvSpPr txBox="1">
                <a:spLocks/>
              </p:cNvSpPr>
              <p:nvPr/>
            </p:nvSpPr>
            <p:spPr>
              <a:xfrm>
                <a:off x="445827" y="2459053"/>
                <a:ext cx="11300347" cy="14682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
                          </m:e>
                        </m:mr>
                      </m:m>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m>
                        <m:mPr>
                          <m:mcs>
                            <m:mc>
                              <m:mcPr>
                                <m:count m:val="2"/>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e>
                              </m:mr>
                            </m:m>
                          </m:e>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
                          </m:e>
                        </m:mr>
                      </m:m>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m>
                        <m:mPr>
                          <m:mcs>
                            <m:mc>
                              <m:mcPr>
                                <m:count m:val="2"/>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1,1</m:t>
                                </m:r>
                              </m:sub>
                            </m:sSub>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
                          </m:e>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
                          </m:e>
                        </m:mr>
                      </m:m>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m>
                        <m:mPr>
                          <m:mcs>
                            <m:mc>
                              <m:mcPr>
                                <m:count m:val="2"/>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1,2</m:t>
                                </m:r>
                              </m:sub>
                            </m:sSub>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mr>
                            </m:m>
                          </m:e>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
                          </m:e>
                        </m:mr>
                      </m:m>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m>
                        <m:mPr>
                          <m:mcs>
                            <m:mc>
                              <m:mcPr>
                                <m:count m:val="2"/>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e>
                              </m:mr>
                              <m:m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e>
                              </m:mr>
                            </m:m>
                          </m:e>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mr>
                            </m:m>
                          </m:e>
                        </m:mr>
                      </m:m>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m>
                        <m:mPr>
                          <m:mcs>
                            <m:mc>
                              <m:mcPr>
                                <m:count m:val="2"/>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𝑝</m:t>
                                </m:r>
                              </m:sub>
                            </m:s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𝑝</m:t>
                                </m:r>
                              </m:sub>
                            </m:sSub>
                          </m:e>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𝜖</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e>
                              </m:mr>
                            </m:m>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𝑝</m:t>
                                </m:r>
                              </m:sub>
                            </m:s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𝑝</m:t>
                                </m:r>
                              </m:sub>
                            </m:sSub>
                          </m:e>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𝜖</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e>
                              </m:mr>
                            </m:m>
                          </m:e>
                        </m:mr>
                        <m:m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𝑝</m:t>
                                      </m:r>
                                    </m:sub>
                                  </m:s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𝑝</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𝑝</m:t>
                                      </m:r>
                                    </m:sub>
                                  </m:sSub>
                                </m:e>
                              </m:mr>
                            </m:m>
                          </m:e>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
                                </m:e>
                              </m:mr>
                              <m:mr>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𝜖</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𝑝</m:t>
                                            </m:r>
                                          </m:sub>
                                        </m:sSub>
                                      </m:e>
                                    </m:mr>
                                  </m:m>
                                </m:e>
                              </m:mr>
                            </m:m>
                          </m:e>
                        </m:mr>
                      </m:m>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1" name="Text Placeholder 5">
                <a:extLst>
                  <a:ext uri="{FF2B5EF4-FFF2-40B4-BE49-F238E27FC236}">
                    <a16:creationId xmlns:a16="http://schemas.microsoft.com/office/drawing/2014/main" id="{83BF2555-19D1-4106-A226-F434AC32B4CF}"/>
                  </a:ext>
                </a:extLst>
              </p:cNvPr>
              <p:cNvSpPr txBox="1">
                <a:spLocks noRot="1" noChangeAspect="1" noMove="1" noResize="1" noEditPoints="1" noAdjustHandles="1" noChangeArrowheads="1" noChangeShapeType="1" noTextEdit="1"/>
              </p:cNvSpPr>
              <p:nvPr/>
            </p:nvSpPr>
            <p:spPr>
              <a:xfrm>
                <a:off x="445827" y="2459053"/>
                <a:ext cx="11300347" cy="1468249"/>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7C68D98A-6D69-48FD-83FC-555B641E0366}"/>
                  </a:ext>
                </a:extLst>
              </p:cNvPr>
              <p:cNvSpPr txBox="1">
                <a:spLocks/>
              </p:cNvSpPr>
              <p:nvPr/>
            </p:nvSpPr>
            <p:spPr>
              <a:xfrm>
                <a:off x="445827" y="3740904"/>
                <a:ext cx="11300347" cy="14682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d>
                        <m:d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r>
                                    <m:e>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mr>
                                </m:m>
                              </m:e>
                            </m:m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d>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d>
                        <m:dPr>
                          <m:begChr m:val="["/>
                          <m:endChr m:val="]"/>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3"/>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e>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1,1</m:t>
                                    </m:r>
                                  </m:sub>
                                </m:sSub>
                              </m:e>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𝑝</m:t>
                                                </m:r>
                                              </m:sub>
                                            </m:sSub>
                                          </m:e>
                                        </m:mr>
                                      </m:m>
                                    </m:e>
                                  </m:mr>
                                </m:m>
                              </m:e>
                            </m:m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e>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𝑝</m:t>
                                                </m:r>
                                              </m:sub>
                                            </m:sSub>
                                          </m:e>
                                        </m:mr>
                                      </m:m>
                                    </m:e>
                                  </m:mr>
                                </m:m>
                              </m:e>
                            </m:mr>
                            <m:m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e>
                                  </m:mr>
                                </m:m>
                              </m:e>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mr>
                                </m:m>
                              </m:e>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mr>
                                      </m:m>
                                    </m:e>
                                    <m:e>
                                      <m:m>
                                        <m:mPr>
                                          <m:mcs>
                                            <m:mc>
                                              <m:mcPr>
                                                <m:count m:val="2"/>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
                                          </m:e>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𝑝</m:t>
                                                      </m:r>
                                                    </m:sub>
                                                  </m:sSub>
                                                </m:e>
                                              </m:mr>
                                            </m:m>
                                          </m:e>
                                        </m:mr>
                                      </m:m>
                                    </m:e>
                                  </m:mr>
                                </m:m>
                              </m:e>
                            </m:mr>
                          </m:m>
                        </m:e>
                      </m:d>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mr>
                            <m:m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mr>
                                  <m:m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𝛽</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𝑝</m:t>
                                                </m:r>
                                              </m:sub>
                                            </m:sSub>
                                          </m:e>
                                        </m:mr>
                                      </m:m>
                                    </m:e>
                                  </m:mr>
                                </m:m>
                              </m:e>
                            </m:mr>
                          </m:m>
                        </m:e>
                      </m:d>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d>
                        <m:d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𝜖</m:t>
                                          </m:r>
                                        </m:e>
                                        <m:sub>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𝜖</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mr>
                                </m:m>
                              </m:e>
                            </m:mr>
                            <m:mr>
                              <m:e>
                                <m:r>
                                  <m:rPr>
                                    <m:brk m:alnAt="7"/>
                                  </m:r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𝜖</m:t>
                                    </m:r>
                                  </m:e>
                                  <m:sub>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b>
                                </m:sSub>
                              </m:e>
                            </m:mr>
                          </m:m>
                        </m:e>
                      </m:d>
                    </m:oMath>
                  </m:oMathPara>
                </a14:m>
                <a:endPar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7C68D98A-6D69-48FD-83FC-555B641E0366}"/>
                  </a:ext>
                </a:extLst>
              </p:cNvPr>
              <p:cNvSpPr txBox="1">
                <a:spLocks noRot="1" noChangeAspect="1" noMove="1" noResize="1" noEditPoints="1" noAdjustHandles="1" noChangeArrowheads="1" noChangeShapeType="1" noTextEdit="1"/>
              </p:cNvSpPr>
              <p:nvPr/>
            </p:nvSpPr>
            <p:spPr>
              <a:xfrm>
                <a:off x="445827" y="3740904"/>
                <a:ext cx="11300347" cy="1468248"/>
              </a:xfrm>
              <a:prstGeom prst="rect">
                <a:avLst/>
              </a:prstGeom>
              <a:blipFill>
                <a:blip r:embed="rId5"/>
                <a:stretch>
                  <a:fillRect/>
                </a:stretch>
              </a:blipFill>
            </p:spPr>
            <p:txBody>
              <a:bodyPr/>
              <a:lstStyle/>
              <a:p>
                <a:r>
                  <a:rPr lang="en-NZ">
                    <a:noFill/>
                  </a:rPr>
                  <a:t> </a:t>
                </a:r>
              </a:p>
            </p:txBody>
          </p:sp>
        </mc:Fallback>
      </mc:AlternateContent>
      <p:sp>
        <p:nvSpPr>
          <p:cNvPr id="13" name="Text Placeholder 5">
            <a:extLst>
              <a:ext uri="{FF2B5EF4-FFF2-40B4-BE49-F238E27FC236}">
                <a16:creationId xmlns:a16="http://schemas.microsoft.com/office/drawing/2014/main" id="{07FA34E0-205F-41EF-94BD-4504A336BD07}"/>
              </a:ext>
            </a:extLst>
          </p:cNvPr>
          <p:cNvSpPr txBox="1">
            <a:spLocks/>
          </p:cNvSpPr>
          <p:nvPr/>
        </p:nvSpPr>
        <p:spPr>
          <a:xfrm>
            <a:off x="3436684" y="5026589"/>
            <a:ext cx="862361"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(n,1)</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18186912-6D40-414C-8F26-F18CDF9ED62A}"/>
              </a:ext>
            </a:extLst>
          </p:cNvPr>
          <p:cNvSpPr txBox="1">
            <a:spLocks/>
          </p:cNvSpPr>
          <p:nvPr/>
        </p:nvSpPr>
        <p:spPr>
          <a:xfrm>
            <a:off x="5335997" y="5026589"/>
            <a:ext cx="862361"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(n, p+1)</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FDB8A8CC-2659-42A0-B2AB-4A4B95D47019}"/>
              </a:ext>
            </a:extLst>
          </p:cNvPr>
          <p:cNvSpPr txBox="1">
            <a:spLocks/>
          </p:cNvSpPr>
          <p:nvPr/>
        </p:nvSpPr>
        <p:spPr>
          <a:xfrm>
            <a:off x="6858721" y="5026589"/>
            <a:ext cx="862361"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(p+1,1)</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CDF012B-14F4-4692-9908-16D4CFAD11E2}"/>
              </a:ext>
            </a:extLst>
          </p:cNvPr>
          <p:cNvSpPr txBox="1">
            <a:spLocks/>
          </p:cNvSpPr>
          <p:nvPr/>
        </p:nvSpPr>
        <p:spPr>
          <a:xfrm>
            <a:off x="7965471" y="5026589"/>
            <a:ext cx="862361"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(n,1)</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18" name="Text Placeholder 5">
            <a:extLst>
              <a:ext uri="{FF2B5EF4-FFF2-40B4-BE49-F238E27FC236}">
                <a16:creationId xmlns:a16="http://schemas.microsoft.com/office/drawing/2014/main" id="{2FECA405-CF8A-417B-8D82-7115A9BF04BE}"/>
              </a:ext>
            </a:extLst>
          </p:cNvPr>
          <p:cNvSpPr txBox="1">
            <a:spLocks/>
          </p:cNvSpPr>
          <p:nvPr/>
        </p:nvSpPr>
        <p:spPr>
          <a:xfrm>
            <a:off x="2296357" y="4109902"/>
            <a:ext cx="80168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6884483C-4200-4C68-920F-94C82C571ACC}"/>
              </a:ext>
            </a:extLst>
          </p:cNvPr>
          <p:cNvSpPr txBox="1">
            <a:spLocks/>
          </p:cNvSpPr>
          <p:nvPr/>
        </p:nvSpPr>
        <p:spPr>
          <a:xfrm>
            <a:off x="2350948" y="5551178"/>
            <a:ext cx="80168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27FC6C21-7B70-4800-99C5-43E4BF33D15B}"/>
                  </a:ext>
                </a:extLst>
              </p:cNvPr>
              <p:cNvSpPr txBox="1">
                <a:spLocks/>
              </p:cNvSpPr>
              <p:nvPr/>
            </p:nvSpPr>
            <p:spPr>
              <a:xfrm>
                <a:off x="3151496" y="5634968"/>
                <a:ext cx="588900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bar>
                        <m:bar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bar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𝒀</m:t>
                          </m:r>
                        </m:e>
                      </m:ba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𝑿</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bar>
                        <m:bar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bar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𝜷</m:t>
                          </m:r>
                        </m:e>
                      </m:bar>
                      <m:r>
                        <a:rPr kumimoji="1" lang="en-NZ" altLang="ja-JP" sz="2000" b="1" i="0" u="none" strike="noStrike" kern="1200" cap="none" spc="0" normalizeH="0" baseline="0" noProof="0" smtClean="0">
                          <a:ln>
                            <a:noFill/>
                          </a:ln>
                          <a:solidFill>
                            <a:prstClr val="black"/>
                          </a:solidFill>
                          <a:effectLst/>
                          <a:uLnTx/>
                          <a:uFillTx/>
                          <a:latin typeface="Cambria Math" panose="02040503050406030204" pitchFamily="18" charset="0"/>
                          <a:cs typeface="+mn-cs"/>
                        </a:rPr>
                        <m:t> + </m:t>
                      </m:r>
                      <m:bar>
                        <m:bar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bar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𝝐</m:t>
                          </m:r>
                        </m:e>
                      </m:bar>
                    </m:oMath>
                  </m:oMathPara>
                </a14:m>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27FC6C21-7B70-4800-99C5-43E4BF33D15B}"/>
                  </a:ext>
                </a:extLst>
              </p:cNvPr>
              <p:cNvSpPr txBox="1">
                <a:spLocks noRot="1" noChangeAspect="1" noMove="1" noResize="1" noEditPoints="1" noAdjustHandles="1" noChangeArrowheads="1" noChangeShapeType="1" noTextEdit="1"/>
              </p:cNvSpPr>
              <p:nvPr/>
            </p:nvSpPr>
            <p:spPr>
              <a:xfrm>
                <a:off x="3151496" y="5634968"/>
                <a:ext cx="5889009" cy="365126"/>
              </a:xfrm>
              <a:prstGeom prst="rect">
                <a:avLst/>
              </a:prstGeom>
              <a:blipFill>
                <a:blip r:embed="rId6"/>
                <a:stretch>
                  <a:fillRect b="-26667"/>
                </a:stretch>
              </a:blipFill>
            </p:spPr>
            <p:txBody>
              <a:bodyPr/>
              <a:lstStyle/>
              <a:p>
                <a:r>
                  <a:rPr lang="en-NZ">
                    <a:noFill/>
                  </a:rPr>
                  <a:t> </a:t>
                </a:r>
              </a:p>
            </p:txBody>
          </p:sp>
        </mc:Fallback>
      </mc:AlternateContent>
    </p:spTree>
    <p:extLst>
      <p:ext uri="{BB962C8B-B14F-4D97-AF65-F5344CB8AC3E}">
        <p14:creationId xmlns:p14="http://schemas.microsoft.com/office/powerpoint/2010/main" val="161777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8" grpId="0"/>
      <p:bldP spid="19" grpId="0"/>
      <p:bldP spid="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FD3A5DF6-61A2-49DF-9336-17B980807688}"/>
                  </a:ext>
                </a:extLst>
              </p:cNvPr>
              <p:cNvSpPr txBox="1">
                <a:spLocks/>
              </p:cNvSpPr>
              <p:nvPr/>
            </p:nvSpPr>
            <p:spPr>
              <a:xfrm>
                <a:off x="445827" y="941696"/>
                <a:ext cx="11300347"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then choose the coefficients </a:t>
                </a:r>
                <a14:m>
                  <m:oMath xmlns:m="http://schemas.openxmlformats.org/officeDocument/2006/math">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𝜷</m:t>
                        </m:r>
                      </m:e>
                    </m:bar>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that minimise the Residual </a:t>
                </a:r>
                <a:r>
                  <a:rPr lang="en-NZ" altLang="ja-JP" sz="1800" dirty="0">
                    <a:solidFill>
                      <a:prstClr val="black"/>
                    </a:solidFill>
                    <a:latin typeface="Calibri" panose="020F0502020204030204"/>
                    <a:ea typeface="游ゴシック" panose="020B0400000000000000" pitchFamily="34" charset="-128"/>
                  </a:rPr>
                  <a:t>S</a:t>
                </a:r>
                <a:r>
                  <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um of Squares</a:t>
                </a:r>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7" name="Text Placeholder 5">
                <a:extLst>
                  <a:ext uri="{FF2B5EF4-FFF2-40B4-BE49-F238E27FC236}">
                    <a16:creationId xmlns:a16="http://schemas.microsoft.com/office/drawing/2014/main" id="{FD3A5DF6-61A2-49DF-9336-17B980807688}"/>
                  </a:ext>
                </a:extLst>
              </p:cNvPr>
              <p:cNvSpPr txBox="1">
                <a:spLocks noRot="1" noChangeAspect="1" noMove="1" noResize="1" noEditPoints="1" noAdjustHandles="1" noChangeArrowheads="1" noChangeShapeType="1" noTextEdit="1"/>
              </p:cNvSpPr>
              <p:nvPr/>
            </p:nvSpPr>
            <p:spPr>
              <a:xfrm>
                <a:off x="445827" y="941696"/>
                <a:ext cx="11300347" cy="432373"/>
              </a:xfrm>
              <a:prstGeom prst="rect">
                <a:avLst/>
              </a:prstGeom>
              <a:blipFill>
                <a:blip r:embed="rId3"/>
                <a:stretch>
                  <a:fillRect l="-431" t="-5634" b="-845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4279A085-E7DA-439C-B0E0-15E4B5982ED1}"/>
                  </a:ext>
                </a:extLst>
              </p:cNvPr>
              <p:cNvSpPr txBox="1">
                <a:spLocks/>
              </p:cNvSpPr>
              <p:nvPr/>
            </p:nvSpPr>
            <p:spPr>
              <a:xfrm>
                <a:off x="445826" y="1328106"/>
                <a:ext cx="11300347" cy="7779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centerGroup"/>
                    </m:oMathParaPr>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𝑹𝑺𝑺</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𝒏</m:t>
                          </m:r>
                        </m:sup>
                        <m:e>
                          <m:sSubSup>
                            <m:sSub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ctrlPr>
                            </m:sSub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𝝐</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𝒊</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rPr>
                                <m:t>𝟐</m:t>
                              </m:r>
                            </m:sup>
                          </m:sSubSup>
                        </m:e>
                      </m:nary>
                      <m:r>
                        <a:rPr lang="en-NZ" altLang="ja-JP" sz="1800" b="1" i="1">
                          <a:solidFill>
                            <a:prstClr val="black"/>
                          </a:solidFill>
                          <a:latin typeface="Cambria Math" panose="02040503050406030204" pitchFamily="18" charset="0"/>
                        </a:rPr>
                        <m:t>=   </m:t>
                      </m:r>
                      <m:sSup>
                        <m:sSupPr>
                          <m:ctrlPr>
                            <a:rPr lang="en-NZ" altLang="ja-JP" sz="1800" b="1" i="1">
                              <a:solidFill>
                                <a:prstClr val="black"/>
                              </a:solidFill>
                              <a:latin typeface="Cambria Math" panose="02040503050406030204" pitchFamily="18" charset="0"/>
                            </a:rPr>
                          </m:ctrlPr>
                        </m:sSup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𝝐</m:t>
                              </m:r>
                            </m:e>
                          </m:bar>
                        </m:e>
                        <m:sup>
                          <m:r>
                            <a:rPr lang="en-NZ" altLang="ja-JP" sz="1800" b="1" i="1">
                              <a:solidFill>
                                <a:prstClr val="black"/>
                              </a:solidFill>
                              <a:latin typeface="Cambria Math" panose="02040503050406030204" pitchFamily="18" charset="0"/>
                            </a:rPr>
                            <m:t>𝑻</m:t>
                          </m:r>
                        </m:sup>
                      </m:sSup>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𝝐</m:t>
                          </m:r>
                        </m:e>
                      </m:bar>
                      <m:r>
                        <a:rPr lang="en-NZ" altLang="ja-JP" sz="1800" b="1" i="1">
                          <a:solidFill>
                            <a:prstClr val="black"/>
                          </a:solidFill>
                          <a:latin typeface="Cambria Math" panose="02040503050406030204" pitchFamily="18" charset="0"/>
                        </a:rPr>
                        <m:t>  =   </m:t>
                      </m:r>
                      <m:sSup>
                        <m:sSupPr>
                          <m:ctrlPr>
                            <a:rPr lang="en-NZ" altLang="ja-JP" sz="1800" b="1" i="1">
                              <a:solidFill>
                                <a:prstClr val="black"/>
                              </a:solidFill>
                              <a:latin typeface="Cambria Math" panose="02040503050406030204" pitchFamily="18" charset="0"/>
                            </a:rPr>
                          </m:ctrlPr>
                        </m:sSup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e>
                        <m:sup>
                          <m:r>
                            <a:rPr lang="en-NZ" altLang="ja-JP" sz="1800" b="1" i="1">
                              <a:solidFill>
                                <a:prstClr val="black"/>
                              </a:solidFill>
                              <a:latin typeface="Cambria Math" panose="02040503050406030204" pitchFamily="18" charset="0"/>
                            </a:rPr>
                            <m:t>𝑻</m:t>
                          </m:r>
                        </m:sup>
                      </m:sSup>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 </m:t>
                          </m:r>
                          <m:r>
                            <a:rPr lang="en-NZ" altLang="ja-JP" sz="1800" b="1" i="1">
                              <a:solidFill>
                                <a:prstClr val="black"/>
                              </a:solidFill>
                              <a:latin typeface="Cambria Math" panose="02040503050406030204" pitchFamily="18" charset="0"/>
                            </a:rPr>
                            <m:t>𝒀</m:t>
                          </m:r>
                        </m:e>
                      </m:bar>
                      <m:r>
                        <a:rPr lang="en-NZ" altLang="ja-JP" sz="1800" b="1" i="1">
                          <a:solidFill>
                            <a:prstClr val="black"/>
                          </a:solidFill>
                          <a:latin typeface="Cambria Math" panose="02040503050406030204" pitchFamily="18" charset="0"/>
                        </a:rPr>
                        <m:t>    −   </m:t>
                      </m:r>
                      <m:r>
                        <a:rPr lang="en-NZ" altLang="ja-JP" sz="1800" b="1" i="1">
                          <a:solidFill>
                            <a:prstClr val="black"/>
                          </a:solidFill>
                          <a:latin typeface="Cambria Math" panose="02040503050406030204" pitchFamily="18" charset="0"/>
                        </a:rPr>
                        <m:t>𝟐</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 </m:t>
                          </m:r>
                          <m:sSup>
                            <m:sSupPr>
                              <m:ctrlPr>
                                <a:rPr lang="en-NZ" altLang="ja-JP" sz="1800" b="1" i="1">
                                  <a:solidFill>
                                    <a:prstClr val="black"/>
                                  </a:solidFill>
                                  <a:latin typeface="Cambria Math" panose="02040503050406030204" pitchFamily="18" charset="0"/>
                                </a:rPr>
                              </m:ctrlPr>
                            </m:sSupPr>
                            <m:e>
                              <m:r>
                                <a:rPr lang="en-NZ" altLang="ja-JP" sz="1800" b="1" i="1">
                                  <a:solidFill>
                                    <a:prstClr val="black"/>
                                  </a:solidFill>
                                  <a:latin typeface="Cambria Math" panose="02040503050406030204" pitchFamily="18" charset="0"/>
                                </a:rPr>
                                <m:t>𝜷</m:t>
                              </m:r>
                            </m:e>
                            <m:sup>
                              <m:r>
                                <a:rPr lang="en-NZ" altLang="ja-JP" sz="1800" b="1" i="1">
                                  <a:solidFill>
                                    <a:prstClr val="black"/>
                                  </a:solidFill>
                                  <a:latin typeface="Cambria Math" panose="02040503050406030204" pitchFamily="18" charset="0"/>
                                </a:rPr>
                                <m:t>𝑻</m:t>
                              </m:r>
                            </m:sup>
                          </m:sSup>
                        </m:e>
                      </m:bar>
                      <m:r>
                        <a:rPr lang="en-NZ" altLang="ja-JP" sz="1800" b="1" i="1">
                          <a:solidFill>
                            <a:prstClr val="black"/>
                          </a:solidFill>
                          <a:latin typeface="Cambria Math" panose="02040503050406030204" pitchFamily="18" charset="0"/>
                        </a:rPr>
                        <m:t> </m:t>
                      </m:r>
                      <m:sSup>
                        <m:sSupPr>
                          <m:ctrlPr>
                            <a:rPr lang="en-NZ" altLang="ja-JP" sz="1800" b="1" i="1">
                              <a:solidFill>
                                <a:prstClr val="black"/>
                              </a:solidFill>
                              <a:latin typeface="Cambria Math" panose="02040503050406030204" pitchFamily="18" charset="0"/>
                            </a:rPr>
                          </m:ctrlPr>
                        </m:sSupPr>
                        <m:e>
                          <m:r>
                            <a:rPr lang="en-NZ" altLang="ja-JP" sz="1800" b="1" i="1">
                              <a:solidFill>
                                <a:prstClr val="black"/>
                              </a:solidFill>
                              <a:latin typeface="Cambria Math" panose="02040503050406030204" pitchFamily="18" charset="0"/>
                            </a:rPr>
                            <m:t>𝑿</m:t>
                          </m:r>
                        </m:e>
                        <m:sup>
                          <m:r>
                            <a:rPr lang="en-NZ" altLang="ja-JP" sz="1800" b="1" i="1">
                              <a:solidFill>
                                <a:prstClr val="black"/>
                              </a:solidFill>
                              <a:latin typeface="Cambria Math" panose="02040503050406030204" pitchFamily="18" charset="0"/>
                            </a:rPr>
                            <m:t>𝑻</m:t>
                          </m:r>
                        </m:sup>
                      </m:sSup>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 </m:t>
                          </m:r>
                          <m:r>
                            <a:rPr lang="en-NZ" altLang="ja-JP" sz="1800" b="1" i="1">
                              <a:solidFill>
                                <a:prstClr val="black"/>
                              </a:solidFill>
                              <a:latin typeface="Cambria Math" panose="02040503050406030204" pitchFamily="18" charset="0"/>
                            </a:rPr>
                            <m:t>𝒀</m:t>
                          </m:r>
                        </m:e>
                      </m:bar>
                      <m:r>
                        <a:rPr lang="en-NZ" altLang="ja-JP" sz="1800" b="1" i="1">
                          <a:solidFill>
                            <a:prstClr val="black"/>
                          </a:solidFill>
                          <a:latin typeface="Cambria Math" panose="02040503050406030204" pitchFamily="18" charset="0"/>
                        </a:rPr>
                        <m:t>    +   </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 </m:t>
                          </m:r>
                          <m:sSup>
                            <m:sSupPr>
                              <m:ctrlPr>
                                <a:rPr lang="en-NZ" altLang="ja-JP" sz="1800" b="1" i="1">
                                  <a:solidFill>
                                    <a:prstClr val="black"/>
                                  </a:solidFill>
                                  <a:latin typeface="Cambria Math" panose="02040503050406030204" pitchFamily="18" charset="0"/>
                                </a:rPr>
                              </m:ctrlPr>
                            </m:sSupPr>
                            <m:e>
                              <m:r>
                                <a:rPr lang="en-NZ" altLang="ja-JP" sz="1800" b="1" i="1">
                                  <a:solidFill>
                                    <a:prstClr val="black"/>
                                  </a:solidFill>
                                  <a:latin typeface="Cambria Math" panose="02040503050406030204" pitchFamily="18" charset="0"/>
                                </a:rPr>
                                <m:t>𝜷</m:t>
                              </m:r>
                            </m:e>
                            <m:sup>
                              <m:r>
                                <a:rPr lang="en-NZ" altLang="ja-JP" sz="1800" b="1" i="1">
                                  <a:solidFill>
                                    <a:prstClr val="black"/>
                                  </a:solidFill>
                                  <a:latin typeface="Cambria Math" panose="02040503050406030204" pitchFamily="18" charset="0"/>
                                </a:rPr>
                                <m:t>𝑻</m:t>
                              </m:r>
                            </m:sup>
                          </m:sSup>
                        </m:e>
                      </m:bar>
                      <m:r>
                        <a:rPr lang="en-NZ" altLang="ja-JP" sz="1800" b="1" i="1">
                          <a:solidFill>
                            <a:prstClr val="black"/>
                          </a:solidFill>
                          <a:latin typeface="Cambria Math" panose="02040503050406030204" pitchFamily="18" charset="0"/>
                        </a:rPr>
                        <m:t> </m:t>
                      </m:r>
                      <m:sSup>
                        <m:sSupPr>
                          <m:ctrlPr>
                            <a:rPr lang="en-NZ" altLang="ja-JP" sz="1800" b="1" i="1">
                              <a:solidFill>
                                <a:prstClr val="black"/>
                              </a:solidFill>
                              <a:latin typeface="Cambria Math" panose="02040503050406030204" pitchFamily="18" charset="0"/>
                            </a:rPr>
                          </m:ctrlPr>
                        </m:sSupPr>
                        <m:e>
                          <m:r>
                            <a:rPr lang="en-NZ" altLang="ja-JP" sz="1800" b="1" i="1">
                              <a:solidFill>
                                <a:prstClr val="black"/>
                              </a:solidFill>
                              <a:latin typeface="Cambria Math" panose="02040503050406030204" pitchFamily="18" charset="0"/>
                            </a:rPr>
                            <m:t>𝑿</m:t>
                          </m:r>
                        </m:e>
                        <m:sup>
                          <m:r>
                            <a:rPr lang="en-NZ" altLang="ja-JP" sz="1800" b="1" i="1">
                              <a:solidFill>
                                <a:prstClr val="black"/>
                              </a:solidFill>
                              <a:latin typeface="Cambria Math" panose="02040503050406030204" pitchFamily="18" charset="0"/>
                            </a:rPr>
                            <m:t>𝑻</m:t>
                          </m:r>
                        </m:sup>
                      </m:sSup>
                      <m:r>
                        <a:rPr lang="en-NZ" altLang="ja-JP" sz="1800" b="1" i="1">
                          <a:solidFill>
                            <a:prstClr val="black"/>
                          </a:solidFill>
                          <a:latin typeface="Cambria Math" panose="02040503050406030204" pitchFamily="18" charset="0"/>
                        </a:rPr>
                        <m:t> </m:t>
                      </m:r>
                      <m:r>
                        <a:rPr lang="en-NZ" altLang="ja-JP" sz="1800" b="1" i="1">
                          <a:solidFill>
                            <a:prstClr val="black"/>
                          </a:solidFill>
                          <a:latin typeface="Cambria Math" panose="02040503050406030204" pitchFamily="18" charset="0"/>
                        </a:rPr>
                        <m:t>𝑿</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𝜷</m:t>
                          </m:r>
                        </m:e>
                      </m:bar>
                    </m:oMath>
                  </m:oMathPara>
                </a14:m>
                <a:endParaRPr lang="en-NZ" altLang="ja-JP" sz="1800" b="1" i="1" dirty="0">
                  <a:solidFill>
                    <a:prstClr val="black"/>
                  </a:solidFill>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2" name="Text Placeholder 5">
                <a:extLst>
                  <a:ext uri="{FF2B5EF4-FFF2-40B4-BE49-F238E27FC236}">
                    <a16:creationId xmlns:a16="http://schemas.microsoft.com/office/drawing/2014/main" id="{4279A085-E7DA-439C-B0E0-15E4B5982ED1}"/>
                  </a:ext>
                </a:extLst>
              </p:cNvPr>
              <p:cNvSpPr txBox="1">
                <a:spLocks noRot="1" noChangeAspect="1" noMove="1" noResize="1" noEditPoints="1" noAdjustHandles="1" noChangeArrowheads="1" noChangeShapeType="1" noTextEdit="1"/>
              </p:cNvSpPr>
              <p:nvPr/>
            </p:nvSpPr>
            <p:spPr>
              <a:xfrm>
                <a:off x="445826" y="1328106"/>
                <a:ext cx="11300347" cy="777922"/>
              </a:xfrm>
              <a:prstGeom prst="rect">
                <a:avLst/>
              </a:prstGeom>
              <a:blipFill>
                <a:blip r:embed="rId4"/>
                <a:stretch>
                  <a:fillRect b="-315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5A4B24A1-E437-4B6C-BF6F-F0D9AA3A4D0A}"/>
                  </a:ext>
                </a:extLst>
              </p:cNvPr>
              <p:cNvSpPr txBox="1">
                <a:spLocks/>
              </p:cNvSpPr>
              <p:nvPr/>
            </p:nvSpPr>
            <p:spPr>
              <a:xfrm>
                <a:off x="445825" y="2242426"/>
                <a:ext cx="6964907"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Residual sum of squares is minimised when   </a:t>
                </a:r>
                <a14:m>
                  <m:oMath xmlns:m="http://schemas.openxmlformats.org/officeDocument/2006/math">
                    <m:acc>
                      <m:accPr>
                        <m:chr m:val="̂"/>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bar>
                          <m:barPr>
                            <m:ctrlPr>
                              <a:rPr kumimoji="1" lang="en-NZ" altLang="ja-JP" sz="1800" b="1" i="1" u="none" strike="noStrike" kern="1200" cap="none" spc="0" normalizeH="0" baseline="0" noProof="0">
                                <a:ln>
                                  <a:noFill/>
                                </a:ln>
                                <a:solidFill>
                                  <a:srgbClr val="C00000"/>
                                </a:solidFill>
                                <a:effectLst/>
                                <a:uLnTx/>
                                <a:uFillTx/>
                                <a:latin typeface="Cambria Math" panose="02040503050406030204" pitchFamily="18" charset="0"/>
                                <a:cs typeface="+mn-cs"/>
                              </a:rPr>
                            </m:ctrlPr>
                          </m:barPr>
                          <m:e>
                            <m:r>
                              <a:rPr kumimoji="1" lang="en-NZ" altLang="ja-JP" sz="1800" b="1" i="1" u="none" strike="noStrike" kern="1200" cap="none" spc="0" normalizeH="0" baseline="0" noProof="0">
                                <a:ln>
                                  <a:noFill/>
                                </a:ln>
                                <a:solidFill>
                                  <a:srgbClr val="C00000"/>
                                </a:solidFill>
                                <a:effectLst/>
                                <a:uLnTx/>
                                <a:uFillTx/>
                                <a:latin typeface="Cambria Math" panose="02040503050406030204" pitchFamily="18" charset="0"/>
                                <a:cs typeface="+mn-cs"/>
                              </a:rPr>
                              <m:t>𝜷</m:t>
                            </m:r>
                          </m:e>
                        </m:bar>
                      </m:e>
                    </m:acc>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p>
                      <m:sSup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pPr>
                      <m:e>
                        <m:d>
                          <m:d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sSup>
                              <m:sSup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p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sup>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𝑻</m:t>
                                </m:r>
                              </m:sup>
                            </m:sSup>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d>
                      </m:e>
                      <m:sup>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𝟏</m:t>
                        </m:r>
                      </m:sup>
                    </m:sSup>
                    <m:sSup>
                      <m:sSup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p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sup>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𝑻</m:t>
                        </m:r>
                      </m:sup>
                    </m:sSup>
                    <m:bar>
                      <m:barPr>
                        <m:ctrlPr>
                          <a:rPr kumimoji="1" lang="en-NZ" altLang="ja-JP" sz="1800" b="1" i="1" u="none" strike="noStrike" kern="1200" cap="none" spc="0" normalizeH="0" baseline="0" noProof="0">
                            <a:ln>
                              <a:noFill/>
                            </a:ln>
                            <a:solidFill>
                              <a:srgbClr val="C00000"/>
                            </a:solidFill>
                            <a:effectLst/>
                            <a:uLnTx/>
                            <a:uFillTx/>
                            <a:latin typeface="Cambria Math" panose="02040503050406030204" pitchFamily="18" charset="0"/>
                            <a:cs typeface="+mn-cs"/>
                          </a:rPr>
                        </m:ctrlPr>
                      </m:barPr>
                      <m:e>
                        <m:r>
                          <a:rPr kumimoji="1" lang="en-NZ" altLang="ja-JP" sz="1800" b="1" i="1" u="none" strike="noStrike" kern="1200" cap="none" spc="0" normalizeH="0" baseline="0" noProof="0">
                            <a:ln>
                              <a:noFill/>
                            </a:ln>
                            <a:solidFill>
                              <a:srgbClr val="C00000"/>
                            </a:solidFill>
                            <a:effectLst/>
                            <a:uLnTx/>
                            <a:uFillTx/>
                            <a:latin typeface="Cambria Math" panose="02040503050406030204" pitchFamily="18" charset="0"/>
                            <a:cs typeface="+mn-cs"/>
                          </a:rPr>
                          <m:t> </m:t>
                        </m:r>
                        <m:r>
                          <a:rPr kumimoji="1" lang="en-NZ" altLang="ja-JP" sz="18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bar>
                  </m:oMath>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5A4B24A1-E437-4B6C-BF6F-F0D9AA3A4D0A}"/>
                  </a:ext>
                </a:extLst>
              </p:cNvPr>
              <p:cNvSpPr txBox="1">
                <a:spLocks noRot="1" noChangeAspect="1" noMove="1" noResize="1" noEditPoints="1" noAdjustHandles="1" noChangeArrowheads="1" noChangeShapeType="1" noTextEdit="1"/>
              </p:cNvSpPr>
              <p:nvPr/>
            </p:nvSpPr>
            <p:spPr>
              <a:xfrm>
                <a:off x="445825" y="2242426"/>
                <a:ext cx="6964907" cy="432373"/>
              </a:xfrm>
              <a:prstGeom prst="rect">
                <a:avLst/>
              </a:prstGeom>
              <a:blipFill>
                <a:blip r:embed="rId5"/>
                <a:stretch>
                  <a:fillRect l="-700" b="-26761"/>
                </a:stretch>
              </a:blipFill>
            </p:spPr>
            <p:txBody>
              <a:bodyPr/>
              <a:lstStyle/>
              <a:p>
                <a:r>
                  <a:rPr lang="en-NZ">
                    <a:noFill/>
                  </a:rPr>
                  <a:t> </a:t>
                </a:r>
              </a:p>
            </p:txBody>
          </p:sp>
        </mc:Fallback>
      </mc:AlternateContent>
      <p:sp>
        <p:nvSpPr>
          <p:cNvPr id="27" name="Text Placeholder 5">
            <a:extLst>
              <a:ext uri="{FF2B5EF4-FFF2-40B4-BE49-F238E27FC236}">
                <a16:creationId xmlns:a16="http://schemas.microsoft.com/office/drawing/2014/main" id="{E9086B30-A09C-49B9-9943-6D9DD1E7F3A9}"/>
              </a:ext>
            </a:extLst>
          </p:cNvPr>
          <p:cNvSpPr txBox="1">
            <a:spLocks/>
          </p:cNvSpPr>
          <p:nvPr/>
        </p:nvSpPr>
        <p:spPr>
          <a:xfrm>
            <a:off x="10120953" y="1557744"/>
            <a:ext cx="545121"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(1)</a:t>
            </a:r>
          </a:p>
        </p:txBody>
      </p:sp>
      <p:sp>
        <p:nvSpPr>
          <p:cNvPr id="15" name="Footer Placeholder 2">
            <a:extLst>
              <a:ext uri="{FF2B5EF4-FFF2-40B4-BE49-F238E27FC236}">
                <a16:creationId xmlns:a16="http://schemas.microsoft.com/office/drawing/2014/main" id="{65232B49-A219-453C-A7B1-01762A16A97C}"/>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a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mc:Choice xmlns:a14="http://schemas.microsoft.com/office/drawing/2010/main" Requires="a14">
          <p:sp>
            <p:nvSpPr>
              <p:cNvPr id="16" name="Text Placeholder 5">
                <a:extLst>
                  <a:ext uri="{FF2B5EF4-FFF2-40B4-BE49-F238E27FC236}">
                    <a16:creationId xmlns:a16="http://schemas.microsoft.com/office/drawing/2014/main" id="{45F1F277-0FDE-4D7A-A7AC-68499CD5F13B}"/>
                  </a:ext>
                </a:extLst>
              </p:cNvPr>
              <p:cNvSpPr txBox="1">
                <a:spLocks/>
              </p:cNvSpPr>
              <p:nvPr/>
            </p:nvSpPr>
            <p:spPr>
              <a:xfrm>
                <a:off x="445825" y="3074269"/>
                <a:ext cx="11482318"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However, if we had chosen a different sample we would have obtained a different value of </a:t>
                </a:r>
                <a14:m>
                  <m:oMath xmlns:m="http://schemas.openxmlformats.org/officeDocument/2006/math">
                    <m:acc>
                      <m:accPr>
                        <m:chr m:val="̂"/>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accPr>
                      <m:e>
                        <m:bar>
                          <m:barPr>
                            <m:ctrlPr>
                              <a:rPr kumimoji="1" lang="en-NZ" altLang="ja-JP" sz="1800" b="1" i="1" u="none" strike="noStrike" kern="1200" cap="none" spc="0" normalizeH="0" baseline="0" noProof="0">
                                <a:ln>
                                  <a:noFill/>
                                </a:ln>
                                <a:solidFill>
                                  <a:schemeClr val="tx1"/>
                                </a:solidFill>
                                <a:effectLst/>
                                <a:uLnTx/>
                                <a:uFillTx/>
                                <a:latin typeface="Cambria Math" panose="02040503050406030204" pitchFamily="18" charset="0"/>
                                <a:cs typeface="+mn-cs"/>
                              </a:rPr>
                            </m:ctrlPr>
                          </m:barPr>
                          <m:e>
                            <m:r>
                              <a:rPr kumimoji="1" lang="en-NZ" altLang="ja-JP" sz="1800" b="1" i="1" u="none" strike="noStrike" kern="1200" cap="none" spc="0" normalizeH="0" baseline="0" noProof="0">
                                <a:ln>
                                  <a:noFill/>
                                </a:ln>
                                <a:solidFill>
                                  <a:schemeClr val="tx1"/>
                                </a:solidFill>
                                <a:effectLst/>
                                <a:uLnTx/>
                                <a:uFillTx/>
                                <a:latin typeface="Cambria Math" panose="02040503050406030204" pitchFamily="18" charset="0"/>
                                <a:cs typeface="+mn-cs"/>
                              </a:rPr>
                              <m:t>𝜷</m:t>
                            </m:r>
                          </m:e>
                        </m:bar>
                      </m:e>
                    </m:acc>
                  </m:oMath>
                </a14:m>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p:sp>
            <p:nvSpPr>
              <p:cNvPr id="16" name="Text Placeholder 5">
                <a:extLst>
                  <a:ext uri="{FF2B5EF4-FFF2-40B4-BE49-F238E27FC236}">
                    <a16:creationId xmlns:a16="http://schemas.microsoft.com/office/drawing/2014/main" id="{45F1F277-0FDE-4D7A-A7AC-68499CD5F13B}"/>
                  </a:ext>
                </a:extLst>
              </p:cNvPr>
              <p:cNvSpPr txBox="1">
                <a:spLocks noRot="1" noChangeAspect="1" noMove="1" noResize="1" noEditPoints="1" noAdjustHandles="1" noChangeArrowheads="1" noChangeShapeType="1" noTextEdit="1"/>
              </p:cNvSpPr>
              <p:nvPr/>
            </p:nvSpPr>
            <p:spPr>
              <a:xfrm>
                <a:off x="445825" y="3074269"/>
                <a:ext cx="11482318" cy="432373"/>
              </a:xfrm>
              <a:prstGeom prst="rect">
                <a:avLst/>
              </a:prstGeom>
              <a:blipFill>
                <a:blip r:embed="rId6"/>
                <a:stretch>
                  <a:fillRect l="-425" t="-1408" b="-1267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31B1D10F-41B3-4542-A631-31D88B8F545F}"/>
                  </a:ext>
                </a:extLst>
              </p:cNvPr>
              <p:cNvSpPr txBox="1">
                <a:spLocks/>
              </p:cNvSpPr>
              <p:nvPr/>
            </p:nvSpPr>
            <p:spPr>
              <a:xfrm>
                <a:off x="445825" y="3689925"/>
                <a:ext cx="11482318"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As such,</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the vector of coefficients</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acc>
                      <m:accPr>
                        <m:chr m:val="̂"/>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accPr>
                      <m:e>
                        <m:bar>
                          <m:barPr>
                            <m:ctrlPr>
                              <a:rPr kumimoji="1" lang="en-NZ" altLang="ja-JP" sz="1800" b="1" i="1" u="none" strike="noStrike" kern="1200" cap="none" spc="0" normalizeH="0" baseline="0" noProof="0">
                                <a:ln>
                                  <a:noFill/>
                                </a:ln>
                                <a:solidFill>
                                  <a:schemeClr val="tx1"/>
                                </a:solidFill>
                                <a:effectLst/>
                                <a:uLnTx/>
                                <a:uFillTx/>
                                <a:latin typeface="Cambria Math" panose="02040503050406030204" pitchFamily="18" charset="0"/>
                                <a:cs typeface="+mn-cs"/>
                              </a:rPr>
                            </m:ctrlPr>
                          </m:barPr>
                          <m:e>
                            <m:r>
                              <a:rPr kumimoji="1" lang="en-NZ" altLang="ja-JP" sz="1800" b="1" i="1" u="none" strike="noStrike" kern="1200" cap="none" spc="0" normalizeH="0" baseline="0" noProof="0">
                                <a:ln>
                                  <a:noFill/>
                                </a:ln>
                                <a:solidFill>
                                  <a:schemeClr val="tx1"/>
                                </a:solidFill>
                                <a:effectLst/>
                                <a:uLnTx/>
                                <a:uFillTx/>
                                <a:latin typeface="Cambria Math" panose="02040503050406030204" pitchFamily="18" charset="0"/>
                                <a:cs typeface="+mn-cs"/>
                              </a:rPr>
                              <m:t>𝜷</m:t>
                            </m:r>
                          </m:e>
                        </m:bar>
                      </m:e>
                    </m:acc>
                  </m:oMath>
                </a14:m>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a:t>
                </a:r>
                <a:r>
                  <a:rPr kumimoji="1" lang="en-NZ" altLang="ja-JP" sz="1800" b="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itself a random variable</a:t>
                </a:r>
                <a:r>
                  <a:rPr lang="en-NZ" altLang="ja-JP" sz="1800"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and we may ask how it is distributed.</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7" name="Text Placeholder 5">
                <a:extLst>
                  <a:ext uri="{FF2B5EF4-FFF2-40B4-BE49-F238E27FC236}">
                    <a16:creationId xmlns:a16="http://schemas.microsoft.com/office/drawing/2014/main" id="{31B1D10F-41B3-4542-A631-31D88B8F545F}"/>
                  </a:ext>
                </a:extLst>
              </p:cNvPr>
              <p:cNvSpPr txBox="1">
                <a:spLocks noRot="1" noChangeAspect="1" noMove="1" noResize="1" noEditPoints="1" noAdjustHandles="1" noChangeArrowheads="1" noChangeShapeType="1" noTextEdit="1"/>
              </p:cNvSpPr>
              <p:nvPr/>
            </p:nvSpPr>
            <p:spPr>
              <a:xfrm>
                <a:off x="445825" y="3689925"/>
                <a:ext cx="11482318" cy="432373"/>
              </a:xfrm>
              <a:prstGeom prst="rect">
                <a:avLst/>
              </a:prstGeom>
              <a:blipFill>
                <a:blip r:embed="rId7"/>
                <a:stretch>
                  <a:fillRect l="-425" t="-1408" b="-1267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2D1DAF44-6A2B-42C9-9F51-C63C2034DCC1}"/>
                  </a:ext>
                </a:extLst>
              </p:cNvPr>
              <p:cNvSpPr txBox="1">
                <a:spLocks/>
              </p:cNvSpPr>
              <p:nvPr/>
            </p:nvSpPr>
            <p:spPr>
              <a:xfrm>
                <a:off x="445825" y="4349670"/>
                <a:ext cx="11482318"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Under the assumption that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𝝐</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𝑵</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𝝈</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p>
                    </m:s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oMath>
                </a14:m>
                <a:r>
                  <a:rPr lang="en-NZ" altLang="ja-JP" sz="1800" b="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then it can be shown that</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2D1DAF44-6A2B-42C9-9F51-C63C2034DCC1}"/>
                  </a:ext>
                </a:extLst>
              </p:cNvPr>
              <p:cNvSpPr txBox="1">
                <a:spLocks noRot="1" noChangeAspect="1" noMove="1" noResize="1" noEditPoints="1" noAdjustHandles="1" noChangeArrowheads="1" noChangeShapeType="1" noTextEdit="1"/>
              </p:cNvSpPr>
              <p:nvPr/>
            </p:nvSpPr>
            <p:spPr>
              <a:xfrm>
                <a:off x="445825" y="4349670"/>
                <a:ext cx="11482318" cy="432373"/>
              </a:xfrm>
              <a:prstGeom prst="rect">
                <a:avLst/>
              </a:prstGeom>
              <a:blipFill>
                <a:blip r:embed="rId8"/>
                <a:stretch>
                  <a:fillRect l="-425" t="-7143" b="-10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178D9488-3EBB-4A07-8D88-F65802935832}"/>
                  </a:ext>
                </a:extLst>
              </p:cNvPr>
              <p:cNvSpPr txBox="1">
                <a:spLocks/>
              </p:cNvSpPr>
              <p:nvPr/>
            </p:nvSpPr>
            <p:spPr>
              <a:xfrm>
                <a:off x="1562003" y="4850938"/>
                <a:ext cx="6667598"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14:m>
                  <m:oMath xmlns:m="http://schemas.openxmlformats.org/officeDocument/2006/math">
                    <m:acc>
                      <m:accPr>
                        <m:chr m:val="̂"/>
                        <m:ctrlPr>
                          <a:rPr lang="en-NZ" altLang="ja-JP" sz="1600" b="1" i="1" smtClean="0">
                            <a:solidFill>
                              <a:schemeClr val="tx1"/>
                            </a:solidFill>
                            <a:latin typeface="Cambria Math" panose="02040503050406030204" pitchFamily="18" charset="0"/>
                          </a:rPr>
                        </m:ctrlPr>
                      </m:acc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𝜷</m:t>
                            </m:r>
                          </m:e>
                        </m:bar>
                      </m:e>
                    </m:acc>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is an unbiassed estimator of the population regression coefficient vector </a:t>
                </a:r>
                <a14:m>
                  <m:oMath xmlns:m="http://schemas.openxmlformats.org/officeDocument/2006/math">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𝜷</m:t>
                        </m:r>
                      </m:e>
                    </m:ba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9" name="Text Placeholder 5">
                <a:extLst>
                  <a:ext uri="{FF2B5EF4-FFF2-40B4-BE49-F238E27FC236}">
                    <a16:creationId xmlns:a16="http://schemas.microsoft.com/office/drawing/2014/main" id="{178D9488-3EBB-4A07-8D88-F65802935832}"/>
                  </a:ext>
                </a:extLst>
              </p:cNvPr>
              <p:cNvSpPr txBox="1">
                <a:spLocks noRot="1" noChangeAspect="1" noMove="1" noResize="1" noEditPoints="1" noAdjustHandles="1" noChangeArrowheads="1" noChangeShapeType="1" noTextEdit="1"/>
              </p:cNvSpPr>
              <p:nvPr/>
            </p:nvSpPr>
            <p:spPr>
              <a:xfrm>
                <a:off x="1562003" y="4850938"/>
                <a:ext cx="6667598" cy="432373"/>
              </a:xfrm>
              <a:prstGeom prst="rect">
                <a:avLst/>
              </a:prstGeom>
              <a:blipFill>
                <a:blip r:embed="rId9"/>
                <a:stretch>
                  <a:fillRect b="-1408"/>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FCC76E3C-D416-4963-AE09-4ABC4282D652}"/>
              </a:ext>
            </a:extLst>
          </p:cNvPr>
          <p:cNvSpPr txBox="1">
            <a:spLocks/>
          </p:cNvSpPr>
          <p:nvPr/>
        </p:nvSpPr>
        <p:spPr>
          <a:xfrm>
            <a:off x="8487892" y="4666132"/>
            <a:ext cx="2394487" cy="7859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kumimoji="1" lang="en-NZ" altLang="ja-JP" sz="1400" b="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rPr>
              <a:t>i.e. the vector you would get if you were to use the whole population of data</a:t>
            </a:r>
            <a:endPar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AEA9597D-5898-4B1E-9E18-C7D9B83AB290}"/>
                  </a:ext>
                </a:extLst>
              </p:cNvPr>
              <p:cNvSpPr txBox="1">
                <a:spLocks/>
              </p:cNvSpPr>
              <p:nvPr/>
            </p:nvSpPr>
            <p:spPr>
              <a:xfrm>
                <a:off x="1562003" y="5516259"/>
                <a:ext cx="2832576"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14:m>
                  <m:oMathPara xmlns:m="http://schemas.openxmlformats.org/officeDocument/2006/math">
                    <m:oMathParaPr>
                      <m:jc m:val="left"/>
                    </m:oMathParaPr>
                    <m:oMath xmlns:m="http://schemas.openxmlformats.org/officeDocument/2006/math">
                      <m:r>
                        <a:rPr lang="en-NZ" altLang="ja-JP" sz="1600" b="1" i="1" smtClean="0">
                          <a:solidFill>
                            <a:schemeClr val="tx1"/>
                          </a:solidFill>
                          <a:latin typeface="Cambria Math" panose="02040503050406030204" pitchFamily="18" charset="0"/>
                        </a:rPr>
                        <m:t>𝒔</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𝒆</m:t>
                      </m:r>
                      <m:r>
                        <a:rPr lang="en-NZ" altLang="ja-JP" sz="1600" b="1" i="1" smtClean="0">
                          <a:solidFill>
                            <a:schemeClr val="tx1"/>
                          </a:solidFill>
                          <a:latin typeface="Cambria Math" panose="02040503050406030204" pitchFamily="18" charset="0"/>
                        </a:rPr>
                        <m:t>.</m:t>
                      </m:r>
                      <m:d>
                        <m:dPr>
                          <m:ctrlPr>
                            <a:rPr lang="en-NZ" altLang="ja-JP" sz="1600" b="1" i="1" smtClean="0">
                              <a:solidFill>
                                <a:schemeClr val="tx1"/>
                              </a:solidFill>
                              <a:latin typeface="Cambria Math" panose="02040503050406030204" pitchFamily="18" charset="0"/>
                            </a:rPr>
                          </m:ctrlPr>
                        </m:dPr>
                        <m:e>
                          <m:acc>
                            <m:accPr>
                              <m:chr m:val="̂"/>
                              <m:ctrlPr>
                                <a:rPr lang="en-NZ" altLang="ja-JP" sz="1600" b="1" i="1" smtClean="0">
                                  <a:solidFill>
                                    <a:schemeClr val="tx1"/>
                                  </a:solidFill>
                                  <a:latin typeface="Cambria Math" panose="02040503050406030204" pitchFamily="18" charset="0"/>
                                </a:rPr>
                              </m:ctrlPr>
                            </m:accPr>
                            <m:e>
                              <m:sSub>
                                <m:sSubPr>
                                  <m:ctrlPr>
                                    <a:rPr lang="en-NZ" altLang="ja-JP" sz="1600" b="1" i="1" smtClean="0">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𝜷</m:t>
                                      </m:r>
                                    </m:e>
                                  </m:bar>
                                </m:e>
                                <m:sub>
                                  <m:r>
                                    <a:rPr lang="en-NZ" altLang="ja-JP" sz="1600" b="1" i="1" smtClean="0">
                                      <a:solidFill>
                                        <a:schemeClr val="tx1"/>
                                      </a:solidFill>
                                      <a:latin typeface="Cambria Math" panose="02040503050406030204" pitchFamily="18" charset="0"/>
                                    </a:rPr>
                                    <m:t>𝒋</m:t>
                                  </m:r>
                                </m:sub>
                              </m:sSub>
                            </m:e>
                          </m:acc>
                        </m:e>
                      </m:d>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𝝈</m:t>
                      </m:r>
                      <m:r>
                        <a:rPr lang="en-NZ" altLang="ja-JP" sz="1600" b="1" i="1" smtClean="0">
                          <a:solidFill>
                            <a:schemeClr val="tx1"/>
                          </a:solidFill>
                          <a:latin typeface="Cambria Math" panose="02040503050406030204" pitchFamily="18" charset="0"/>
                        </a:rPr>
                        <m:t> </m:t>
                      </m:r>
                      <m:rad>
                        <m:radPr>
                          <m:degHide m:val="on"/>
                          <m:ctrlPr>
                            <a:rPr lang="en-NZ" altLang="ja-JP" sz="1600" b="1" i="1" smtClean="0">
                              <a:solidFill>
                                <a:schemeClr val="tx1"/>
                              </a:solidFill>
                              <a:latin typeface="Cambria Math" panose="02040503050406030204" pitchFamily="18" charset="0"/>
                            </a:rPr>
                          </m:ctrlPr>
                        </m:radPr>
                        <m:deg/>
                        <m:e>
                          <m:sSubSup>
                            <m:sSubSupPr>
                              <m:ctrlPr>
                                <a:rPr lang="en-NZ" altLang="ja-JP" sz="1600" b="1" i="1" smtClean="0">
                                  <a:solidFill>
                                    <a:schemeClr val="tx1"/>
                                  </a:solidFill>
                                  <a:latin typeface="Cambria Math" panose="02040503050406030204" pitchFamily="18" charset="0"/>
                                </a:rPr>
                              </m:ctrlPr>
                            </m:sSubSupPr>
                            <m:e>
                              <m:d>
                                <m:dPr>
                                  <m:begChr m:val="["/>
                                  <m:endChr m:val="]"/>
                                  <m:ctrlPr>
                                    <a:rPr lang="en-NZ" altLang="ja-JP" sz="1600" b="1" i="1" smtClean="0">
                                      <a:solidFill>
                                        <a:schemeClr val="tx1"/>
                                      </a:solidFill>
                                      <a:latin typeface="Cambria Math" panose="02040503050406030204" pitchFamily="18" charset="0"/>
                                    </a:rPr>
                                  </m:ctrlPr>
                                </m:dPr>
                                <m:e>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𝑿</m:t>
                                      </m:r>
                                    </m:e>
                                    <m:sup>
                                      <m:r>
                                        <a:rPr lang="en-NZ" altLang="ja-JP" sz="1600" b="1" i="1" smtClean="0">
                                          <a:solidFill>
                                            <a:schemeClr val="tx1"/>
                                          </a:solidFill>
                                          <a:latin typeface="Cambria Math" panose="02040503050406030204" pitchFamily="18" charset="0"/>
                                        </a:rPr>
                                        <m:t>𝑻</m:t>
                                      </m:r>
                                    </m:sup>
                                  </m:sSup>
                                  <m:r>
                                    <a:rPr lang="en-NZ" altLang="ja-JP" sz="1600" b="1" i="1" smtClean="0">
                                      <a:solidFill>
                                        <a:schemeClr val="tx1"/>
                                      </a:solidFill>
                                      <a:latin typeface="Cambria Math" panose="02040503050406030204" pitchFamily="18" charset="0"/>
                                    </a:rPr>
                                    <m:t>𝑿</m:t>
                                  </m:r>
                                  <m:r>
                                    <a:rPr lang="en-NZ" altLang="ja-JP" sz="1600" b="1" i="1" smtClean="0">
                                      <a:solidFill>
                                        <a:schemeClr val="tx1"/>
                                      </a:solidFill>
                                      <a:latin typeface="Cambria Math" panose="02040503050406030204" pitchFamily="18" charset="0"/>
                                    </a:rPr>
                                    <m:t> </m:t>
                                  </m:r>
                                </m:e>
                              </m:d>
                            </m:e>
                            <m:sub>
                              <m:r>
                                <a:rPr lang="en-NZ" altLang="ja-JP" sz="1600" b="1" i="1" smtClean="0">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up>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sup>
                          </m:sSubSup>
                        </m:e>
                      </m:ra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1" name="Text Placeholder 5">
                <a:extLst>
                  <a:ext uri="{FF2B5EF4-FFF2-40B4-BE49-F238E27FC236}">
                    <a16:creationId xmlns:a16="http://schemas.microsoft.com/office/drawing/2014/main" id="{AEA9597D-5898-4B1E-9E18-C7D9B83AB290}"/>
                  </a:ext>
                </a:extLst>
              </p:cNvPr>
              <p:cNvSpPr txBox="1">
                <a:spLocks noRot="1" noChangeAspect="1" noMove="1" noResize="1" noEditPoints="1" noAdjustHandles="1" noChangeArrowheads="1" noChangeShapeType="1" noTextEdit="1"/>
              </p:cNvSpPr>
              <p:nvPr/>
            </p:nvSpPr>
            <p:spPr>
              <a:xfrm>
                <a:off x="1562003" y="5516259"/>
                <a:ext cx="2832576" cy="432373"/>
              </a:xfrm>
              <a:prstGeom prst="rect">
                <a:avLst/>
              </a:prstGeom>
              <a:blipFill>
                <a:blip r:embed="rId10"/>
                <a:stretch>
                  <a:fillRect b="-2535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70420442-C8EE-4466-89B7-82C6A2BC2F04}"/>
                  </a:ext>
                </a:extLst>
              </p:cNvPr>
              <p:cNvSpPr txBox="1">
                <a:spLocks/>
              </p:cNvSpPr>
              <p:nvPr/>
            </p:nvSpPr>
            <p:spPr>
              <a:xfrm>
                <a:off x="4267200" y="5458948"/>
                <a:ext cx="4773305" cy="7859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kumimoji="1" lang="en-NZ" altLang="ja-JP" sz="1400" b="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rPr>
                  <a:t>Note that </a:t>
                </a:r>
                <a:r>
                  <a:rPr kumimoji="1" lang="el-GR" altLang="ja-JP" sz="1400" b="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rPr>
                  <a:t>σ</a:t>
                </a:r>
                <a:r>
                  <a:rPr kumimoji="1" lang="en-NZ" altLang="ja-JP" sz="1400" b="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rPr>
                  <a:t> (the variance of the errors) has to be estimated by</a:t>
                </a:r>
              </a:p>
              <a:p>
                <a:pPr lvl="0">
                  <a:lnSpc>
                    <a:spcPct val="100000"/>
                  </a:lnSpc>
                </a:pPr>
                <a14:m>
                  <m:oMathPara xmlns:m="http://schemas.openxmlformats.org/officeDocument/2006/math">
                    <m:oMathParaPr>
                      <m:jc m:val="centerGroup"/>
                    </m:oMathParaPr>
                    <m:oMath xmlns:m="http://schemas.openxmlformats.org/officeDocument/2006/math">
                      <m:acc>
                        <m:accPr>
                          <m:chr m:val="̂"/>
                          <m:ctrlP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ctrlPr>
                        </m:accPr>
                        <m:e>
                          <m: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t>𝑠</m:t>
                          </m:r>
                        </m:e>
                      </m:acc>
                      <m: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t> =  </m:t>
                      </m:r>
                      <m:rad>
                        <m:radPr>
                          <m:degHide m:val="on"/>
                          <m:ctrlP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ctrlPr>
                        </m:radPr>
                        <m:deg/>
                        <m:e>
                          <m:f>
                            <m:fPr>
                              <m:ctrlP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ctrlPr>
                            </m:fPr>
                            <m:num>
                              <m:sSup>
                                <m:sSupPr>
                                  <m:ctrlPr>
                                    <a:rPr lang="en-NZ" altLang="ja-JP" sz="1400" b="1" i="1">
                                      <a:solidFill>
                                        <a:schemeClr val="bg2">
                                          <a:lumMod val="50000"/>
                                        </a:schemeClr>
                                      </a:solidFill>
                                      <a:latin typeface="Cambria Math" panose="02040503050406030204" pitchFamily="18" charset="0"/>
                                    </a:rPr>
                                  </m:ctrlPr>
                                </m:sSupPr>
                                <m:e>
                                  <m:bar>
                                    <m:barPr>
                                      <m:ctrlPr>
                                        <a:rPr lang="en-NZ" altLang="ja-JP" sz="1400" b="1" i="1">
                                          <a:solidFill>
                                            <a:schemeClr val="bg2">
                                              <a:lumMod val="50000"/>
                                            </a:schemeClr>
                                          </a:solidFill>
                                          <a:latin typeface="Cambria Math" panose="02040503050406030204" pitchFamily="18" charset="0"/>
                                        </a:rPr>
                                      </m:ctrlPr>
                                    </m:barPr>
                                    <m:e>
                                      <m:r>
                                        <a:rPr lang="en-NZ" altLang="ja-JP" sz="1400" b="1" i="1">
                                          <a:solidFill>
                                            <a:schemeClr val="bg2">
                                              <a:lumMod val="50000"/>
                                            </a:schemeClr>
                                          </a:solidFill>
                                          <a:latin typeface="Cambria Math" panose="02040503050406030204" pitchFamily="18" charset="0"/>
                                        </a:rPr>
                                        <m:t>𝝐</m:t>
                                      </m:r>
                                    </m:e>
                                  </m:bar>
                                </m:e>
                                <m:sup>
                                  <m:r>
                                    <a:rPr lang="en-NZ" altLang="ja-JP" sz="1400" b="1" i="1">
                                      <a:solidFill>
                                        <a:schemeClr val="bg2">
                                          <a:lumMod val="50000"/>
                                        </a:schemeClr>
                                      </a:solidFill>
                                      <a:latin typeface="Cambria Math" panose="02040503050406030204" pitchFamily="18" charset="0"/>
                                    </a:rPr>
                                    <m:t>𝑻</m:t>
                                  </m:r>
                                </m:sup>
                              </m:sSup>
                              <m:bar>
                                <m:barPr>
                                  <m:ctrlPr>
                                    <a:rPr lang="en-NZ" altLang="ja-JP" sz="1400" b="1" i="1">
                                      <a:solidFill>
                                        <a:schemeClr val="bg2">
                                          <a:lumMod val="50000"/>
                                        </a:schemeClr>
                                      </a:solidFill>
                                      <a:latin typeface="Cambria Math" panose="02040503050406030204" pitchFamily="18" charset="0"/>
                                    </a:rPr>
                                  </m:ctrlPr>
                                </m:barPr>
                                <m:e>
                                  <m:r>
                                    <a:rPr lang="en-NZ" altLang="ja-JP" sz="1400" b="1" i="1">
                                      <a:solidFill>
                                        <a:schemeClr val="bg2">
                                          <a:lumMod val="50000"/>
                                        </a:schemeClr>
                                      </a:solidFill>
                                      <a:latin typeface="Cambria Math" panose="02040503050406030204" pitchFamily="18" charset="0"/>
                                    </a:rPr>
                                    <m:t>𝝐</m:t>
                                  </m:r>
                                </m:e>
                              </m:bar>
                            </m:num>
                            <m:den>
                              <m: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t>𝑁</m:t>
                              </m:r>
                              <m: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t> −</m:t>
                              </m:r>
                              <m: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t>𝑃</m:t>
                              </m:r>
                              <m:r>
                                <a:rPr kumimoji="1" lang="en-NZ" altLang="ja-JP" sz="14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rPr>
                                <m:t> −1</m:t>
                              </m:r>
                            </m:den>
                          </m:f>
                        </m:e>
                      </m:rad>
                    </m:oMath>
                  </m:oMathPara>
                </a14:m>
                <a:endPar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mc:Choice>
        <mc:Fallback xmlns="">
          <p:sp>
            <p:nvSpPr>
              <p:cNvPr id="24" name="Text Placeholder 5">
                <a:extLst>
                  <a:ext uri="{FF2B5EF4-FFF2-40B4-BE49-F238E27FC236}">
                    <a16:creationId xmlns:a16="http://schemas.microsoft.com/office/drawing/2014/main" id="{70420442-C8EE-4466-89B7-82C6A2BC2F04}"/>
                  </a:ext>
                </a:extLst>
              </p:cNvPr>
              <p:cNvSpPr txBox="1">
                <a:spLocks noRot="1" noChangeAspect="1" noMove="1" noResize="1" noEditPoints="1" noAdjustHandles="1" noChangeArrowheads="1" noChangeShapeType="1" noTextEdit="1"/>
              </p:cNvSpPr>
              <p:nvPr/>
            </p:nvSpPr>
            <p:spPr>
              <a:xfrm>
                <a:off x="4267200" y="5458948"/>
                <a:ext cx="4773305" cy="785916"/>
              </a:xfrm>
              <a:prstGeom prst="rect">
                <a:avLst/>
              </a:prstGeom>
              <a:blipFill>
                <a:blip r:embed="rId11"/>
                <a:stretch>
                  <a:fillRect l="-383" t="-775" b="-13178"/>
                </a:stretch>
              </a:blipFill>
            </p:spPr>
            <p:txBody>
              <a:bodyPr/>
              <a:lstStyle/>
              <a:p>
                <a:r>
                  <a:rPr lang="en-NZ">
                    <a:noFill/>
                  </a:rPr>
                  <a:t> </a:t>
                </a:r>
              </a:p>
            </p:txBody>
          </p:sp>
        </mc:Fallback>
      </mc:AlternateContent>
      <p:sp>
        <p:nvSpPr>
          <p:cNvPr id="23" name="Title 6">
            <a:extLst>
              <a:ext uri="{FF2B5EF4-FFF2-40B4-BE49-F238E27FC236}">
                <a16:creationId xmlns:a16="http://schemas.microsoft.com/office/drawing/2014/main" id="{E638A2DB-3614-413D-8BAB-FEC0801B7AFD}"/>
              </a:ext>
            </a:extLst>
          </p:cNvPr>
          <p:cNvSpPr txBox="1">
            <a:spLocks/>
          </p:cNvSpPr>
          <p:nvPr/>
        </p:nvSpPr>
        <p:spPr>
          <a:xfrm>
            <a:off x="319463" y="196889"/>
            <a:ext cx="8168429"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7.4a – Standard Error of </a:t>
            </a:r>
            <a:r>
              <a:rPr kumimoji="1" lang="en-US" altLang="ja-JP" sz="3600" b="1" i="0" u="sng" strike="noStrike" kern="1200" cap="none" spc="0" normalizeH="0" baseline="0" noProof="0">
                <a:ln>
                  <a:noFill/>
                </a:ln>
                <a:solidFill>
                  <a:prstClr val="black"/>
                </a:solidFill>
                <a:effectLst/>
                <a:uLnTx/>
                <a:uFillTx/>
                <a:latin typeface="Calibri" panose="020F0502020204030204"/>
                <a:ea typeface="游ゴシック Light" panose="020B0300000000000000" pitchFamily="34" charset="-128"/>
                <a:cs typeface="+mj-cs"/>
              </a:rPr>
              <a:t>Regression Coefficients: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263604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Footer Placeholder 2">
            <a:extLst>
              <a:ext uri="{FF2B5EF4-FFF2-40B4-BE49-F238E27FC236}">
                <a16:creationId xmlns:a16="http://schemas.microsoft.com/office/drawing/2014/main" id="{65232B49-A219-453C-A7B1-01762A16A97C}"/>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a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2D1DAF44-6A2B-42C9-9F51-C63C2034DCC1}"/>
                  </a:ext>
                </a:extLst>
              </p:cNvPr>
              <p:cNvSpPr txBox="1">
                <a:spLocks/>
              </p:cNvSpPr>
              <p:nvPr/>
            </p:nvSpPr>
            <p:spPr>
              <a:xfrm>
                <a:off x="319463" y="2350893"/>
                <a:ext cx="11482318" cy="21562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r>
                  <a:rPr kumimoji="1" lang="en-NZ" altLang="ja-JP" sz="3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But what if the assumption </a:t>
                </a:r>
                <a14:m>
                  <m:oMath xmlns:m="http://schemas.openxmlformats.org/officeDocument/2006/math">
                    <m:sSub>
                      <m:sSubPr>
                        <m:ctrlP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𝝐</m:t>
                        </m:r>
                      </m:e>
                      <m:sub>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𝑵</m:t>
                    </m:r>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Sup>
                      <m:sSupPr>
                        <m:ctrlP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𝝈</m:t>
                        </m:r>
                      </m:e>
                      <m:sup>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p>
                    </m:sSup>
                    <m:r>
                      <a:rPr kumimoji="1" lang="en-NZ" altLang="ja-JP" sz="30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oMath>
                </a14:m>
                <a:r>
                  <a:rPr lang="en-NZ" altLang="ja-JP" sz="3000" b="1" dirty="0">
                    <a:solidFill>
                      <a:prstClr val="black"/>
                    </a:solidFill>
                    <a:latin typeface="Calibri" panose="020F0502020204030204"/>
                    <a:ea typeface="游ゴシック" panose="020B0400000000000000" pitchFamily="34" charset="-128"/>
                  </a:rPr>
                  <a:t> </a:t>
                </a:r>
                <a:r>
                  <a:rPr lang="en-NZ" altLang="ja-JP" sz="3000" dirty="0">
                    <a:solidFill>
                      <a:prstClr val="black"/>
                    </a:solidFill>
                    <a:latin typeface="Calibri" panose="020F0502020204030204"/>
                    <a:ea typeface="游ゴシック" panose="020B0400000000000000" pitchFamily="34" charset="-128"/>
                  </a:rPr>
                  <a:t>does not hold?</a:t>
                </a:r>
              </a:p>
              <a:p>
                <a:pPr lvl="0" algn="ctr">
                  <a:lnSpc>
                    <a:spcPct val="100000"/>
                  </a:lnSpc>
                </a:pPr>
                <a:endParaRPr lang="en-NZ" altLang="ja-JP" sz="3000" dirty="0">
                  <a:solidFill>
                    <a:prstClr val="black"/>
                  </a:solidFill>
                  <a:latin typeface="Calibri" panose="020F0502020204030204"/>
                  <a:ea typeface="游ゴシック" panose="020B0400000000000000" pitchFamily="34" charset="-128"/>
                </a:endParaRPr>
              </a:p>
              <a:p>
                <a:pPr lvl="0" algn="ctr">
                  <a:lnSpc>
                    <a:spcPct val="100000"/>
                  </a:lnSpc>
                </a:pPr>
                <a:r>
                  <a:rPr lang="en-NZ" altLang="ja-JP" sz="3000" dirty="0">
                    <a:solidFill>
                      <a:prstClr val="black"/>
                    </a:solidFill>
                    <a:latin typeface="Calibri" panose="020F0502020204030204"/>
                    <a:ea typeface="游ゴシック" panose="020B0400000000000000" pitchFamily="34" charset="-128"/>
                  </a:rPr>
                  <a:t>W</a:t>
                </a:r>
                <a:r>
                  <a:rPr kumimoji="1" lang="en-NZ" altLang="ja-JP" sz="3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e can create an estimate of the</a:t>
                </a:r>
                <a:r>
                  <a:rPr kumimoji="1" lang="en-NZ" altLang="ja-JP" sz="30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standard error of </a:t>
                </a:r>
                <a14:m>
                  <m:oMath xmlns:m="http://schemas.openxmlformats.org/officeDocument/2006/math">
                    <m:acc>
                      <m:accPr>
                        <m:chr m:val="̂"/>
                        <m:ctrlPr>
                          <a:rPr lang="en-NZ" altLang="ja-JP" sz="3000" b="1" i="1">
                            <a:solidFill>
                              <a:schemeClr val="tx1"/>
                            </a:solidFill>
                            <a:latin typeface="Cambria Math" panose="02040503050406030204" pitchFamily="18" charset="0"/>
                          </a:rPr>
                        </m:ctrlPr>
                      </m:accPr>
                      <m:e>
                        <m:bar>
                          <m:barPr>
                            <m:ctrlPr>
                              <a:rPr lang="en-NZ" altLang="ja-JP" sz="3000" b="1" i="1">
                                <a:solidFill>
                                  <a:schemeClr val="tx1"/>
                                </a:solidFill>
                                <a:latin typeface="Cambria Math" panose="02040503050406030204" pitchFamily="18" charset="0"/>
                              </a:rPr>
                            </m:ctrlPr>
                          </m:barPr>
                          <m:e>
                            <m:r>
                              <a:rPr lang="en-NZ" altLang="ja-JP" sz="3000" b="1" i="1">
                                <a:solidFill>
                                  <a:schemeClr val="tx1"/>
                                </a:solidFill>
                                <a:latin typeface="Cambria Math" panose="02040503050406030204" pitchFamily="18" charset="0"/>
                              </a:rPr>
                              <m:t>𝜷</m:t>
                            </m:r>
                          </m:e>
                        </m:bar>
                      </m:e>
                    </m:acc>
                  </m:oMath>
                </a14:m>
                <a:r>
                  <a:rPr kumimoji="1" lang="en-NZ" altLang="ja-JP" sz="30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by </a:t>
                </a:r>
                <a:br>
                  <a:rPr kumimoji="1" lang="en-NZ" altLang="ja-JP" sz="30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br>
                <a:r>
                  <a:rPr kumimoji="1" lang="en-NZ" altLang="ja-JP" sz="30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bootstrapping the residual </a:t>
                </a:r>
                <a:endParaRPr kumimoji="1" lang="en-NZ" altLang="ja-JP" sz="3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8" name="Text Placeholder 5">
                <a:extLst>
                  <a:ext uri="{FF2B5EF4-FFF2-40B4-BE49-F238E27FC236}">
                    <a16:creationId xmlns:a16="http://schemas.microsoft.com/office/drawing/2014/main" id="{2D1DAF44-6A2B-42C9-9F51-C63C2034DCC1}"/>
                  </a:ext>
                </a:extLst>
              </p:cNvPr>
              <p:cNvSpPr txBox="1">
                <a:spLocks noRot="1" noChangeAspect="1" noMove="1" noResize="1" noEditPoints="1" noAdjustHandles="1" noChangeArrowheads="1" noChangeShapeType="1" noTextEdit="1"/>
              </p:cNvSpPr>
              <p:nvPr/>
            </p:nvSpPr>
            <p:spPr>
              <a:xfrm>
                <a:off x="319463" y="2350893"/>
                <a:ext cx="11482318" cy="2156214"/>
              </a:xfrm>
              <a:prstGeom prst="rect">
                <a:avLst/>
              </a:prstGeom>
              <a:blipFill>
                <a:blip r:embed="rId3"/>
                <a:stretch>
                  <a:fillRect t="-2833" b="-4816"/>
                </a:stretch>
              </a:blipFill>
            </p:spPr>
            <p:txBody>
              <a:bodyPr/>
              <a:lstStyle/>
              <a:p>
                <a:r>
                  <a:rPr lang="en-NZ">
                    <a:noFill/>
                  </a:rPr>
                  <a:t> </a:t>
                </a:r>
              </a:p>
            </p:txBody>
          </p:sp>
        </mc:Fallback>
      </mc:AlternateContent>
      <p:sp>
        <p:nvSpPr>
          <p:cNvPr id="23" name="Title 6">
            <a:extLst>
              <a:ext uri="{FF2B5EF4-FFF2-40B4-BE49-F238E27FC236}">
                <a16:creationId xmlns:a16="http://schemas.microsoft.com/office/drawing/2014/main" id="{E638A2DB-3614-413D-8BAB-FEC0801B7AFD}"/>
              </a:ext>
            </a:extLst>
          </p:cNvPr>
          <p:cNvSpPr txBox="1">
            <a:spLocks/>
          </p:cNvSpPr>
          <p:nvPr/>
        </p:nvSpPr>
        <p:spPr>
          <a:xfrm>
            <a:off x="319463" y="196889"/>
            <a:ext cx="8168429"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7.4a – Standard Error of </a:t>
            </a:r>
            <a:r>
              <a:rPr kumimoji="1" lang="en-US" altLang="ja-JP" sz="3600" b="1" i="0" u="sng" strike="noStrike" kern="1200" cap="none" spc="0" normalizeH="0" baseline="0" noProof="0">
                <a:ln>
                  <a:noFill/>
                </a:ln>
                <a:solidFill>
                  <a:prstClr val="black"/>
                </a:solidFill>
                <a:effectLst/>
                <a:uLnTx/>
                <a:uFillTx/>
                <a:latin typeface="Calibri" panose="020F0502020204030204"/>
                <a:ea typeface="游ゴシック Light" panose="020B0300000000000000" pitchFamily="34" charset="-128"/>
                <a:cs typeface="+mj-cs"/>
              </a:rPr>
              <a:t>Regression Coefficients: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2182475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9145CB30-6C40-495F-BFBD-0E7496937521}"/>
              </a:ext>
            </a:extLst>
          </p:cNvPr>
          <p:cNvSpPr txBox="1">
            <a:spLocks/>
          </p:cNvSpPr>
          <p:nvPr/>
        </p:nvSpPr>
        <p:spPr>
          <a:xfrm>
            <a:off x="193100" y="1163512"/>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1:</a:t>
            </a:r>
            <a:endParaRPr lang="en-US" altLang="ja-JP" sz="1800" b="1" i="1" dirty="0">
              <a:solidFill>
                <a:schemeClr val="tx1"/>
              </a:solidFill>
            </a:endParaRPr>
          </a:p>
        </p:txBody>
      </p:sp>
      <p:sp>
        <p:nvSpPr>
          <p:cNvPr id="10" name="Text Placeholder 5">
            <a:extLst>
              <a:ext uri="{FF2B5EF4-FFF2-40B4-BE49-F238E27FC236}">
                <a16:creationId xmlns:a16="http://schemas.microsoft.com/office/drawing/2014/main" id="{BD7C5204-4A7D-4683-B109-4683B73376FA}"/>
              </a:ext>
            </a:extLst>
          </p:cNvPr>
          <p:cNvSpPr txBox="1">
            <a:spLocks/>
          </p:cNvSpPr>
          <p:nvPr/>
        </p:nvSpPr>
        <p:spPr>
          <a:xfrm>
            <a:off x="193100" y="2457181"/>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2:</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FCF8B990-ACE0-41D2-A4EB-9AE30FF53EFD}"/>
                  </a:ext>
                </a:extLst>
              </p:cNvPr>
              <p:cNvSpPr txBox="1">
                <a:spLocks/>
              </p:cNvSpPr>
              <p:nvPr/>
            </p:nvSpPr>
            <p:spPr>
              <a:xfrm>
                <a:off x="1126217" y="2375663"/>
                <a:ext cx="10657886" cy="8390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800" dirty="0">
                    <a:solidFill>
                      <a:prstClr val="black"/>
                    </a:solidFill>
                  </a:rPr>
                  <a:t>We take a sample of </a:t>
                </a:r>
                <a:r>
                  <a:rPr lang="en-NZ" altLang="ja-JP" sz="1800" b="1" i="1" dirty="0">
                    <a:solidFill>
                      <a:prstClr val="black"/>
                    </a:solidFill>
                  </a:rPr>
                  <a:t>n</a:t>
                </a:r>
                <a:r>
                  <a:rPr lang="en-NZ" altLang="ja-JP" sz="1800" dirty="0">
                    <a:solidFill>
                      <a:prstClr val="black"/>
                    </a:solidFill>
                  </a:rPr>
                  <a:t> observations and calculate the vector  </a:t>
                </a:r>
                <a14:m>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𝜷</m:t>
                            </m:r>
                          </m:e>
                        </m:bar>
                      </m:e>
                    </m:acc>
                    <m:r>
                      <a:rPr lang="en-NZ" altLang="ja-JP" sz="1800" b="1" i="1">
                        <a:solidFill>
                          <a:schemeClr val="tx1"/>
                        </a:solidFill>
                        <a:latin typeface="Cambria Math" panose="02040503050406030204" pitchFamily="18" charset="0"/>
                      </a:rPr>
                      <m:t>  =  </m:t>
                    </m:r>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𝑿</m:t>
                                </m:r>
                              </m:e>
                              <m:sup>
                                <m:r>
                                  <a:rPr lang="en-NZ" altLang="ja-JP" sz="1800" b="1" i="1">
                                    <a:solidFill>
                                      <a:schemeClr val="tx1"/>
                                    </a:solidFill>
                                    <a:latin typeface="Cambria Math" panose="02040503050406030204" pitchFamily="18" charset="0"/>
                                  </a:rPr>
                                  <m:t>𝑻</m:t>
                                </m:r>
                              </m:sup>
                            </m:sSup>
                            <m:r>
                              <a:rPr lang="en-NZ" altLang="ja-JP" sz="1800" b="1" i="1">
                                <a:solidFill>
                                  <a:schemeClr val="tx1"/>
                                </a:solidFill>
                                <a:latin typeface="Cambria Math" panose="02040503050406030204" pitchFamily="18" charset="0"/>
                              </a:rPr>
                              <m:t>𝑿</m:t>
                            </m:r>
                          </m:e>
                        </m:d>
                      </m:e>
                      <m:sup>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p>
                    </m:sSup>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𝑿</m:t>
                        </m:r>
                      </m:e>
                      <m:sup>
                        <m:r>
                          <a:rPr lang="en-NZ" altLang="ja-JP" sz="1800" b="1" i="1">
                            <a:solidFill>
                              <a:schemeClr val="tx1"/>
                            </a:solidFill>
                            <a:latin typeface="Cambria Math" panose="02040503050406030204" pitchFamily="18" charset="0"/>
                          </a:rPr>
                          <m:t>𝑻</m:t>
                        </m:r>
                      </m:sup>
                    </m:sSup>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𝒀</m:t>
                        </m:r>
                      </m:e>
                    </m:bar>
                  </m:oMath>
                </a14:m>
                <a:endParaRPr lang="en-NZ" altLang="ja-JP" sz="1800" b="1" i="1" dirty="0">
                  <a:solidFill>
                    <a:prstClr val="black"/>
                  </a:solidFill>
                </a:endParaRPr>
              </a:p>
              <a:p>
                <a:pPr lvl="0" algn="just">
                  <a:lnSpc>
                    <a:spcPct val="100000"/>
                  </a:lnSpc>
                  <a:defRPr/>
                </a:pPr>
                <a:r>
                  <a:rPr lang="en-NZ" altLang="ja-JP" sz="1800" dirty="0">
                    <a:solidFill>
                      <a:prstClr val="black"/>
                    </a:solidFill>
                  </a:rPr>
                  <a:t>This serves as our point estimate of the true regression coefficients.</a:t>
                </a:r>
              </a:p>
            </p:txBody>
          </p:sp>
        </mc:Choice>
        <mc:Fallback xmlns="">
          <p:sp>
            <p:nvSpPr>
              <p:cNvPr id="11" name="Text Placeholder 5">
                <a:extLst>
                  <a:ext uri="{FF2B5EF4-FFF2-40B4-BE49-F238E27FC236}">
                    <a16:creationId xmlns:a16="http://schemas.microsoft.com/office/drawing/2014/main" id="{FCF8B990-ACE0-41D2-A4EB-9AE30FF53EFD}"/>
                  </a:ext>
                </a:extLst>
              </p:cNvPr>
              <p:cNvSpPr txBox="1">
                <a:spLocks noRot="1" noChangeAspect="1" noMove="1" noResize="1" noEditPoints="1" noAdjustHandles="1" noChangeArrowheads="1" noChangeShapeType="1" noTextEdit="1"/>
              </p:cNvSpPr>
              <p:nvPr/>
            </p:nvSpPr>
            <p:spPr>
              <a:xfrm>
                <a:off x="1126217" y="2375663"/>
                <a:ext cx="10657886" cy="839027"/>
              </a:xfrm>
              <a:prstGeom prst="rect">
                <a:avLst/>
              </a:prstGeom>
              <a:blipFill>
                <a:blip r:embed="rId3"/>
                <a:stretch>
                  <a:fillRect l="-515" b="-5109"/>
                </a:stretch>
              </a:blipFill>
            </p:spPr>
            <p:txBody>
              <a:bodyPr/>
              <a:lstStyle/>
              <a:p>
                <a:r>
                  <a:rPr lang="en-NZ">
                    <a:noFill/>
                  </a:rPr>
                  <a:t> </a:t>
                </a:r>
              </a:p>
            </p:txBody>
          </p:sp>
        </mc:Fallback>
      </mc:AlternateContent>
      <p:sp>
        <p:nvSpPr>
          <p:cNvPr id="18" name="Footer Placeholder 2">
            <a:extLst>
              <a:ext uri="{FF2B5EF4-FFF2-40B4-BE49-F238E27FC236}">
                <a16:creationId xmlns:a16="http://schemas.microsoft.com/office/drawing/2014/main" id="{B723EE1F-6CFB-4C5C-800F-BF3FC4709EEF}"/>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7.4b</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9" name="Title 6">
            <a:extLst>
              <a:ext uri="{FF2B5EF4-FFF2-40B4-BE49-F238E27FC236}">
                <a16:creationId xmlns:a16="http://schemas.microsoft.com/office/drawing/2014/main" id="{461E7E7E-ECA2-459A-8D70-1D18DE8CBDEF}"/>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7.4b – Bootstrapping the Residual</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0" name="Text Placeholder 5">
            <a:extLst>
              <a:ext uri="{FF2B5EF4-FFF2-40B4-BE49-F238E27FC236}">
                <a16:creationId xmlns:a16="http://schemas.microsoft.com/office/drawing/2014/main" id="{B05AE8A5-C63C-49CA-B3CF-A0A70021AE09}"/>
              </a:ext>
            </a:extLst>
          </p:cNvPr>
          <p:cNvSpPr txBox="1">
            <a:spLocks/>
          </p:cNvSpPr>
          <p:nvPr/>
        </p:nvSpPr>
        <p:spPr>
          <a:xfrm>
            <a:off x="1126217" y="1143773"/>
            <a:ext cx="1053152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 want to model a response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as a linear function of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independent variables…</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BC63C7B6-2891-4BCB-9904-7C2F2A6100E0}"/>
                  </a:ext>
                </a:extLst>
              </p:cNvPr>
              <p:cNvSpPr txBox="1">
                <a:spLocks/>
              </p:cNvSpPr>
              <p:nvPr/>
            </p:nvSpPr>
            <p:spPr>
              <a:xfrm>
                <a:off x="1088288" y="1508899"/>
                <a:ext cx="1053152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𝟐</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𝟐</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𝒑</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𝑿</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𝒑</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oMath>
                  </m:oMathPara>
                </a14:m>
                <a:endParaRPr kumimoji="1" lang="en-NZ"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BC63C7B6-2891-4BCB-9904-7C2F2A6100E0}"/>
                  </a:ext>
                </a:extLst>
              </p:cNvPr>
              <p:cNvSpPr txBox="1">
                <a:spLocks noRot="1" noChangeAspect="1" noMove="1" noResize="1" noEditPoints="1" noAdjustHandles="1" noChangeArrowheads="1" noChangeShapeType="1" noTextEdit="1"/>
              </p:cNvSpPr>
              <p:nvPr/>
            </p:nvSpPr>
            <p:spPr>
              <a:xfrm>
                <a:off x="1088288" y="1508899"/>
                <a:ext cx="10531523" cy="365126"/>
              </a:xfrm>
              <a:prstGeom prst="rect">
                <a:avLst/>
              </a:prstGeom>
              <a:blipFill>
                <a:blip r:embed="rId4"/>
                <a:stretch>
                  <a:fillRect b="-508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832AB2DD-39FB-4395-AFD6-30F89FBE195B}"/>
                  </a:ext>
                </a:extLst>
              </p:cNvPr>
              <p:cNvSpPr txBox="1">
                <a:spLocks/>
              </p:cNvSpPr>
              <p:nvPr/>
            </p:nvSpPr>
            <p:spPr>
              <a:xfrm>
                <a:off x="1088288" y="3856471"/>
                <a:ext cx="10531523" cy="8390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NZ" altLang="ja-JP" sz="1800" dirty="0">
                    <a:solidFill>
                      <a:prstClr val="black"/>
                    </a:solidFill>
                  </a:rPr>
                  <a:t>We calculate the residual vector   </a:t>
                </a:r>
                <a14:m>
                  <m:oMath xmlns:m="http://schemas.openxmlformats.org/officeDocument/2006/math">
                    <m:bar>
                      <m:barPr>
                        <m:ctrlPr>
                          <a:rPr lang="en-NZ" altLang="ja-JP" sz="1800" b="1" i="1">
                            <a:solidFill>
                              <a:prstClr val="black"/>
                            </a:solidFill>
                            <a:latin typeface="Cambria Math" panose="02040503050406030204" pitchFamily="18" charset="0"/>
                          </a:rPr>
                        </m:ctrlPr>
                      </m:barPr>
                      <m:e>
                        <m:acc>
                          <m:accPr>
                            <m:chr m:val="̂"/>
                            <m:ctrlPr>
                              <a:rPr lang="en-NZ" altLang="ja-JP" sz="1800" b="1" i="1" smtClean="0">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𝝐</m:t>
                            </m:r>
                          </m:e>
                        </m:acc>
                      </m:e>
                    </m:bar>
                  </m:oMath>
                </a14:m>
                <a:r>
                  <a:rPr lang="en-NZ" altLang="ja-JP" sz="1800" dirty="0">
                    <a:solidFill>
                      <a:prstClr val="black"/>
                    </a:solidFill>
                  </a:rPr>
                  <a:t>    =    </a:t>
                </a:r>
                <a14:m>
                  <m:oMath xmlns:m="http://schemas.openxmlformats.org/officeDocument/2006/math">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r>
                      <a:rPr lang="en-NZ" altLang="ja-JP" sz="1800" b="1" i="1">
                        <a:solidFill>
                          <a:prstClr val="black"/>
                        </a:solidFill>
                        <a:latin typeface="Cambria Math" panose="02040503050406030204" pitchFamily="18" charset="0"/>
                      </a:rPr>
                      <m:t> </m:t>
                    </m:r>
                  </m:oMath>
                </a14:m>
                <a:r>
                  <a:rPr lang="en-NZ" altLang="ja-JP" sz="1800" dirty="0">
                    <a:solidFill>
                      <a:prstClr val="black"/>
                    </a:solidFill>
                  </a:rPr>
                  <a:t> -  </a:t>
                </a:r>
                <a14:m>
                  <m:oMath xmlns:m="http://schemas.openxmlformats.org/officeDocument/2006/math">
                    <m:r>
                      <a:rPr lang="en-NZ" altLang="ja-JP" sz="1800" b="1" i="1">
                        <a:solidFill>
                          <a:prstClr val="black"/>
                        </a:solidFill>
                        <a:latin typeface="Cambria Math" panose="02040503050406030204" pitchFamily="18" charset="0"/>
                      </a:rPr>
                      <m:t>𝑿</m:t>
                    </m:r>
                    <m:acc>
                      <m:accPr>
                        <m:chr m:val="̂"/>
                        <m:ctrlPr>
                          <a:rPr lang="en-NZ" altLang="ja-JP" sz="1800" b="1" i="1">
                            <a:solidFill>
                              <a:schemeClr val="tx1"/>
                            </a:solidFill>
                            <a:latin typeface="Cambria Math" panose="02040503050406030204" pitchFamily="18" charset="0"/>
                          </a:rPr>
                        </m:ctrlPr>
                      </m:acc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𝜷</m:t>
                            </m:r>
                          </m:e>
                        </m:bar>
                      </m:e>
                    </m:acc>
                    <m:r>
                      <a:rPr lang="en-NZ" altLang="ja-JP" sz="1800" b="1" i="1">
                        <a:solidFill>
                          <a:schemeClr val="tx1"/>
                        </a:solidFill>
                        <a:latin typeface="Cambria Math" panose="02040503050406030204" pitchFamily="18" charset="0"/>
                      </a:rPr>
                      <m:t>    ≡   </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r>
                      <a:rPr lang="en-NZ" altLang="ja-JP" sz="1800" b="1" i="1">
                        <a:solidFill>
                          <a:prstClr val="black"/>
                        </a:solidFill>
                        <a:latin typeface="Cambria Math" panose="02040503050406030204" pitchFamily="18" charset="0"/>
                      </a:rPr>
                      <m:t>  − </m:t>
                    </m:r>
                    <m:acc>
                      <m:accPr>
                        <m:chr m:val="̂"/>
                        <m:ctrlPr>
                          <a:rPr lang="en-NZ" altLang="ja-JP" sz="1800" b="1" i="1">
                            <a:solidFill>
                              <a:prstClr val="black"/>
                            </a:solidFill>
                            <a:latin typeface="Cambria Math" panose="02040503050406030204" pitchFamily="18" charset="0"/>
                          </a:rPr>
                        </m:ctrlPr>
                      </m:acc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e>
                    </m:acc>
                  </m:oMath>
                </a14:m>
                <a:endParaRPr lang="en-NZ" altLang="ja-JP" sz="1800" dirty="0">
                  <a:solidFill>
                    <a:prstClr val="black"/>
                  </a:solidFill>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Upon inspection we have reason to believe that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𝝐</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𝝈</m:t>
                        </m: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oMath>
                </a14:m>
                <a:r>
                  <a:rPr lang="en-NZ" altLang="ja-JP" sz="1600" b="1" dirty="0">
                    <a:solidFill>
                      <a:prstClr val="black"/>
                    </a:solidFill>
                    <a:latin typeface="Calibri" panose="020F0502020204030204"/>
                    <a:ea typeface="游ゴシック" panose="020B0400000000000000" pitchFamily="34" charset="-128"/>
                  </a:rPr>
                  <a:t> </a:t>
                </a:r>
                <a:r>
                  <a:rPr lang="en-NZ" altLang="ja-JP" sz="1600" dirty="0">
                    <a:solidFill>
                      <a:prstClr val="black"/>
                    </a:solidFill>
                    <a:latin typeface="Calibri" panose="020F0502020204030204"/>
                    <a:ea typeface="游ゴシック" panose="020B0400000000000000" pitchFamily="34" charset="-128"/>
                  </a:rPr>
                  <a:t>does not hold</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832AB2DD-39FB-4395-AFD6-30F89FBE195B}"/>
                  </a:ext>
                </a:extLst>
              </p:cNvPr>
              <p:cNvSpPr txBox="1">
                <a:spLocks noRot="1" noChangeAspect="1" noMove="1" noResize="1" noEditPoints="1" noAdjustHandles="1" noChangeArrowheads="1" noChangeShapeType="1" noTextEdit="1"/>
              </p:cNvSpPr>
              <p:nvPr/>
            </p:nvSpPr>
            <p:spPr>
              <a:xfrm>
                <a:off x="1088288" y="3856471"/>
                <a:ext cx="10531523" cy="839026"/>
              </a:xfrm>
              <a:prstGeom prst="rect">
                <a:avLst/>
              </a:prstGeom>
              <a:blipFill>
                <a:blip r:embed="rId5"/>
                <a:stretch>
                  <a:fillRect l="-521" t="-1460"/>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2BC8D805-2DED-4AF4-9055-6E885CDF014E}"/>
              </a:ext>
            </a:extLst>
          </p:cNvPr>
          <p:cNvSpPr txBox="1">
            <a:spLocks/>
          </p:cNvSpPr>
          <p:nvPr/>
        </p:nvSpPr>
        <p:spPr>
          <a:xfrm>
            <a:off x="193100" y="3900544"/>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3:</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F7E9B423-B497-4C68-A3B6-4C0C9ABC1654}"/>
                  </a:ext>
                </a:extLst>
              </p:cNvPr>
              <p:cNvSpPr txBox="1">
                <a:spLocks/>
              </p:cNvSpPr>
              <p:nvPr/>
            </p:nvSpPr>
            <p:spPr>
              <a:xfrm>
                <a:off x="1088288" y="5110227"/>
                <a:ext cx="10531523" cy="79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NZ" altLang="ja-JP" sz="1800" dirty="0">
                    <a:solidFill>
                      <a:prstClr val="black"/>
                    </a:solidFill>
                  </a:rPr>
                  <a:t>Save the vectors  </a:t>
                </a:r>
                <a14:m>
                  <m:oMath xmlns:m="http://schemas.openxmlformats.org/officeDocument/2006/math">
                    <m:acc>
                      <m:accPr>
                        <m:chr m:val="̂"/>
                        <m:ctrlPr>
                          <a:rPr lang="en-NZ" altLang="ja-JP" sz="1800" b="1" i="1">
                            <a:solidFill>
                              <a:prstClr val="black"/>
                            </a:solidFill>
                            <a:latin typeface="Cambria Math" panose="02040503050406030204" pitchFamily="18" charset="0"/>
                          </a:rPr>
                        </m:ctrlPr>
                      </m:acc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e>
                    </m:acc>
                    <m:r>
                      <a:rPr lang="en-NZ" altLang="ja-JP" sz="1800" b="0" i="1" smtClean="0">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𝑿</m:t>
                    </m:r>
                    <m:acc>
                      <m:accPr>
                        <m:chr m:val="̂"/>
                        <m:ctrlPr>
                          <a:rPr lang="en-NZ" altLang="ja-JP" sz="1800" b="1" i="1">
                            <a:solidFill>
                              <a:schemeClr val="tx1"/>
                            </a:solidFill>
                            <a:latin typeface="Cambria Math" panose="02040503050406030204" pitchFamily="18" charset="0"/>
                          </a:rPr>
                        </m:ctrlPr>
                      </m:acc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𝜷</m:t>
                            </m:r>
                          </m:e>
                        </m:bar>
                      </m:e>
                    </m:acc>
                  </m:oMath>
                </a14:m>
                <a:r>
                  <a:rPr lang="en-NZ" altLang="ja-JP" sz="1800" dirty="0">
                    <a:solidFill>
                      <a:prstClr val="black"/>
                    </a:solidFill>
                  </a:rPr>
                  <a:t>   and   </a:t>
                </a:r>
                <a14:m>
                  <m:oMath xmlns:m="http://schemas.openxmlformats.org/officeDocument/2006/math">
                    <m:bar>
                      <m:barPr>
                        <m:ctrlPr>
                          <a:rPr lang="en-NZ" altLang="ja-JP" sz="1800" b="1" i="1">
                            <a:solidFill>
                              <a:prstClr val="black"/>
                            </a:solidFill>
                            <a:latin typeface="Cambria Math" panose="02040503050406030204" pitchFamily="18" charset="0"/>
                          </a:rPr>
                        </m:ctrlPr>
                      </m:bar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𝝐</m:t>
                            </m:r>
                          </m:e>
                        </m:acc>
                      </m:e>
                    </m:bar>
                    <m:r>
                      <a:rPr lang="en-NZ" altLang="ja-JP" sz="1800" b="1" i="1">
                        <a:solidFill>
                          <a:schemeClr val="tx1"/>
                        </a:solidFill>
                        <a:latin typeface="Cambria Math" panose="02040503050406030204" pitchFamily="18" charset="0"/>
                      </a:rPr>
                      <m:t>≡   </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r>
                      <a:rPr lang="en-NZ" altLang="ja-JP" sz="1800" b="1" i="1">
                        <a:solidFill>
                          <a:prstClr val="black"/>
                        </a:solidFill>
                        <a:latin typeface="Cambria Math" panose="02040503050406030204" pitchFamily="18" charset="0"/>
                      </a:rPr>
                      <m:t>  − </m:t>
                    </m:r>
                    <m:acc>
                      <m:accPr>
                        <m:chr m:val="̂"/>
                        <m:ctrlPr>
                          <a:rPr lang="en-NZ" altLang="ja-JP" sz="1800" b="1" i="1">
                            <a:solidFill>
                              <a:prstClr val="black"/>
                            </a:solidFill>
                            <a:latin typeface="Cambria Math" panose="02040503050406030204" pitchFamily="18" charset="0"/>
                          </a:rPr>
                        </m:ctrlPr>
                      </m:acc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e>
                    </m:acc>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for use later</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24" name="Text Placeholder 5">
                <a:extLst>
                  <a:ext uri="{FF2B5EF4-FFF2-40B4-BE49-F238E27FC236}">
                    <a16:creationId xmlns:a16="http://schemas.microsoft.com/office/drawing/2014/main" id="{F7E9B423-B497-4C68-A3B6-4C0C9ABC1654}"/>
                  </a:ext>
                </a:extLst>
              </p:cNvPr>
              <p:cNvSpPr txBox="1">
                <a:spLocks noRot="1" noChangeAspect="1" noMove="1" noResize="1" noEditPoints="1" noAdjustHandles="1" noChangeArrowheads="1" noChangeShapeType="1" noTextEdit="1"/>
              </p:cNvSpPr>
              <p:nvPr/>
            </p:nvSpPr>
            <p:spPr>
              <a:xfrm>
                <a:off x="1088288" y="5110227"/>
                <a:ext cx="10531523" cy="794953"/>
              </a:xfrm>
              <a:prstGeom prst="rect">
                <a:avLst/>
              </a:prstGeom>
              <a:blipFill>
                <a:blip r:embed="rId6"/>
                <a:stretch>
                  <a:fillRect l="-521" t="-763"/>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DFD3B02C-515C-43B6-A45D-223457A4C2FD}"/>
              </a:ext>
            </a:extLst>
          </p:cNvPr>
          <p:cNvSpPr txBox="1">
            <a:spLocks/>
          </p:cNvSpPr>
          <p:nvPr/>
        </p:nvSpPr>
        <p:spPr>
          <a:xfrm>
            <a:off x="193100" y="511022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4:</a:t>
            </a:r>
            <a:endParaRPr lang="en-US" altLang="ja-JP" sz="1800" b="1" i="1" dirty="0">
              <a:solidFill>
                <a:schemeClr val="tx1"/>
              </a:solidFill>
            </a:endParaRPr>
          </a:p>
        </p:txBody>
      </p:sp>
    </p:spTree>
    <p:extLst>
      <p:ext uri="{BB962C8B-B14F-4D97-AF65-F5344CB8AC3E}">
        <p14:creationId xmlns:p14="http://schemas.microsoft.com/office/powerpoint/2010/main" val="230636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2" grpId="0"/>
      <p:bldP spid="23" grpId="0"/>
      <p:bldP spid="24" grpId="0"/>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D6463803-0166-40B2-B1E7-76C97B3B414C}"/>
              </a:ext>
            </a:extLst>
          </p:cNvPr>
          <p:cNvSpPr txBox="1">
            <a:spLocks/>
          </p:cNvSpPr>
          <p:nvPr/>
        </p:nvSpPr>
        <p:spPr>
          <a:xfrm>
            <a:off x="243603" y="96406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5:</a:t>
            </a:r>
            <a:endParaRPr lang="en-US" altLang="ja-JP" sz="1800" b="1" i="1" dirty="0">
              <a:solidFill>
                <a:schemeClr val="tx1"/>
              </a:solidFill>
            </a:endParaRPr>
          </a:p>
        </p:txBody>
      </p:sp>
      <p:sp>
        <p:nvSpPr>
          <p:cNvPr id="13" name="Text Placeholder 5">
            <a:extLst>
              <a:ext uri="{FF2B5EF4-FFF2-40B4-BE49-F238E27FC236}">
                <a16:creationId xmlns:a16="http://schemas.microsoft.com/office/drawing/2014/main" id="{95F7B0FE-EB6C-4ED8-B3F5-051BC05D60BB}"/>
              </a:ext>
            </a:extLst>
          </p:cNvPr>
          <p:cNvSpPr txBox="1">
            <a:spLocks/>
          </p:cNvSpPr>
          <p:nvPr/>
        </p:nvSpPr>
        <p:spPr>
          <a:xfrm>
            <a:off x="1138791" y="968870"/>
            <a:ext cx="1065788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800" dirty="0">
                <a:solidFill>
                  <a:prstClr val="black"/>
                </a:solidFill>
              </a:rPr>
              <a:t>For </a:t>
            </a:r>
            <a:r>
              <a:rPr lang="en-NZ" altLang="ja-JP" sz="1800" b="1" i="1" dirty="0" err="1">
                <a:solidFill>
                  <a:prstClr val="black"/>
                </a:solidFill>
              </a:rPr>
              <a:t>i</a:t>
            </a:r>
            <a:r>
              <a:rPr lang="en-NZ" altLang="ja-JP" sz="1800" b="1" i="1" dirty="0">
                <a:solidFill>
                  <a:prstClr val="black"/>
                </a:solidFill>
              </a:rPr>
              <a:t> = 1 , … , B</a:t>
            </a: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20D82506-26F3-4F23-8768-2D7D5A848AEC}"/>
                  </a:ext>
                </a:extLst>
              </p:cNvPr>
              <p:cNvSpPr txBox="1">
                <a:spLocks/>
              </p:cNvSpPr>
              <p:nvPr/>
            </p:nvSpPr>
            <p:spPr>
              <a:xfrm>
                <a:off x="1069024" y="1334651"/>
                <a:ext cx="10055386" cy="8286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romanUcPeriod"/>
                  <a:defRPr/>
                </a:pPr>
                <a:r>
                  <a:rPr lang="en-NZ" altLang="ja-JP" sz="1800" dirty="0">
                    <a:solidFill>
                      <a:prstClr val="black"/>
                    </a:solidFill>
                  </a:rPr>
                  <a:t>Create bootstrap residual vector </a:t>
                </a:r>
                <a14:m>
                  <m:oMath xmlns:m="http://schemas.openxmlformats.org/officeDocument/2006/math">
                    <m:r>
                      <a:rPr lang="en-NZ" altLang="ja-JP" sz="1800" b="1" i="1" smtClean="0">
                        <a:solidFill>
                          <a:prstClr val="black"/>
                        </a:solidFill>
                        <a:latin typeface="Cambria Math" panose="02040503050406030204" pitchFamily="18" charset="0"/>
                      </a:rPr>
                      <m:t>𝒊</m:t>
                    </m:r>
                  </m:oMath>
                </a14:m>
                <a:r>
                  <a:rPr lang="en-NZ" altLang="ja-JP" sz="1800" dirty="0">
                    <a:solidFill>
                      <a:prstClr val="black"/>
                    </a:solidFill>
                  </a:rPr>
                  <a:t> such that   </a:t>
                </a:r>
                <a14:m>
                  <m:oMath xmlns:m="http://schemas.openxmlformats.org/officeDocument/2006/math">
                    <m:acc>
                      <m:accPr>
                        <m:chr m:val="̂"/>
                        <m:ctrlPr>
                          <a:rPr lang="en-NZ" altLang="ja-JP" sz="1800" b="1" i="1" smtClean="0">
                            <a:solidFill>
                              <a:prstClr val="black"/>
                            </a:solidFill>
                            <a:latin typeface="Cambria Math" panose="02040503050406030204" pitchFamily="18" charset="0"/>
                          </a:rPr>
                        </m:ctrlPr>
                      </m:accPr>
                      <m:e>
                        <m:sSup>
                          <m:sSupPr>
                            <m:ctrlPr>
                              <a:rPr lang="en-NZ" altLang="ja-JP" sz="1800" b="1" i="1" smtClean="0">
                                <a:solidFill>
                                  <a:prstClr val="black"/>
                                </a:solidFill>
                                <a:latin typeface="Cambria Math" panose="02040503050406030204" pitchFamily="18" charset="0"/>
                              </a:rPr>
                            </m:ctrlPr>
                          </m:sSup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𝝐</m:t>
                                </m:r>
                              </m:e>
                            </m:bar>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e>
                    </m:acc>
                    <m:r>
                      <a:rPr lang="en-NZ" altLang="ja-JP" sz="1800" b="1" i="1" smtClean="0">
                        <a:solidFill>
                          <a:prstClr val="black"/>
                        </a:solidFill>
                        <a:latin typeface="Cambria Math" panose="02040503050406030204" pitchFamily="18" charset="0"/>
                      </a:rPr>
                      <m:t>=(</m:t>
                    </m:r>
                    <m:acc>
                      <m:accPr>
                        <m:chr m:val="̂"/>
                        <m:ctrlPr>
                          <a:rPr lang="en-NZ" altLang="ja-JP" sz="1800" b="1" i="1" smtClean="0">
                            <a:solidFill>
                              <a:prstClr val="black"/>
                            </a:solidFill>
                            <a:latin typeface="Cambria Math" panose="02040503050406030204" pitchFamily="18" charset="0"/>
                          </a:rPr>
                        </m:ctrlPr>
                      </m:accPr>
                      <m:e>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𝝐</m:t>
                            </m:r>
                          </m:e>
                          <m:sub>
                            <m:r>
                              <a:rPr lang="en-NZ" altLang="ja-JP" sz="1800" b="1" i="1">
                                <a:solidFill>
                                  <a:prstClr val="black"/>
                                </a:solidFill>
                                <a:latin typeface="Cambria Math" panose="02040503050406030204" pitchFamily="18" charset="0"/>
                              </a:rPr>
                              <m:t>𝟏</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acc>
                    <m:r>
                      <a:rPr lang="en-NZ" altLang="ja-JP" sz="1800" b="1" i="1" smtClean="0">
                        <a:solidFill>
                          <a:prstClr val="black"/>
                        </a:solidFill>
                        <a:latin typeface="Cambria Math" panose="02040503050406030204" pitchFamily="18" charset="0"/>
                      </a:rPr>
                      <m:t>,  </m:t>
                    </m:r>
                    <m:acc>
                      <m:accPr>
                        <m:chr m:val="̂"/>
                        <m:ctrlPr>
                          <a:rPr lang="en-NZ" altLang="ja-JP" sz="1800" b="1" i="1" smtClean="0">
                            <a:solidFill>
                              <a:prstClr val="black"/>
                            </a:solidFill>
                            <a:latin typeface="Cambria Math" panose="02040503050406030204" pitchFamily="18" charset="0"/>
                          </a:rPr>
                        </m:ctrlPr>
                      </m:accPr>
                      <m:e>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𝝐</m:t>
                            </m:r>
                          </m:e>
                          <m:sub>
                            <m:r>
                              <a:rPr lang="en-NZ" altLang="ja-JP" sz="1800" b="1" i="1">
                                <a:solidFill>
                                  <a:prstClr val="black"/>
                                </a:solidFill>
                                <a:latin typeface="Cambria Math" panose="02040503050406030204" pitchFamily="18" charset="0"/>
                              </a:rPr>
                              <m:t>𝟐</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acc>
                    <m:r>
                      <a:rPr lang="en-NZ" altLang="ja-JP" sz="1800" b="1" i="1" smtClean="0">
                        <a:solidFill>
                          <a:prstClr val="black"/>
                        </a:solidFill>
                        <a:latin typeface="Cambria Math" panose="02040503050406030204" pitchFamily="18" charset="0"/>
                      </a:rPr>
                      <m:t>, …, </m:t>
                    </m:r>
                    <m:acc>
                      <m:accPr>
                        <m:chr m:val="̂"/>
                        <m:ctrlPr>
                          <a:rPr lang="en-NZ" altLang="ja-JP" sz="1800" b="1" i="1" smtClean="0">
                            <a:solidFill>
                              <a:prstClr val="black"/>
                            </a:solidFill>
                            <a:latin typeface="Cambria Math" panose="02040503050406030204" pitchFamily="18" charset="0"/>
                          </a:rPr>
                        </m:ctrlPr>
                      </m:accPr>
                      <m:e>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𝝐</m:t>
                            </m:r>
                          </m:e>
                          <m:sub>
                            <m:r>
                              <a:rPr lang="en-NZ" altLang="ja-JP" sz="1800" b="1" i="1">
                                <a:solidFill>
                                  <a:prstClr val="black"/>
                                </a:solidFill>
                                <a:latin typeface="Cambria Math" panose="02040503050406030204" pitchFamily="18" charset="0"/>
                              </a:rPr>
                              <m:t>𝒏</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acc>
                    <m:r>
                      <a:rPr lang="en-NZ" altLang="ja-JP" sz="1800" b="1" i="1" smtClean="0">
                        <a:solidFill>
                          <a:prstClr val="black"/>
                        </a:solidFill>
                        <a:latin typeface="Cambria Math" panose="02040503050406030204" pitchFamily="18" charset="0"/>
                      </a:rPr>
                      <m:t>)</m:t>
                    </m:r>
                  </m:oMath>
                </a14:m>
                <a:r>
                  <a:rPr lang="en-NZ" altLang="ja-JP" sz="1800" b="1" i="1" dirty="0">
                    <a:solidFill>
                      <a:prstClr val="black"/>
                    </a:solidFill>
                  </a:rPr>
                  <a:t>  </a:t>
                </a:r>
                <a:br>
                  <a:rPr lang="en-NZ" altLang="ja-JP" sz="1800" b="1" i="1" dirty="0">
                    <a:solidFill>
                      <a:prstClr val="black"/>
                    </a:solidFill>
                  </a:rPr>
                </a:br>
                <a:r>
                  <a:rPr lang="en-NZ" altLang="ja-JP" sz="1800" dirty="0">
                    <a:solidFill>
                      <a:prstClr val="black"/>
                    </a:solidFill>
                  </a:rPr>
                  <a:t>by resampling </a:t>
                </a:r>
                <a:r>
                  <a:rPr lang="en-NZ" altLang="ja-JP" sz="1800" b="1" dirty="0">
                    <a:solidFill>
                      <a:prstClr val="black"/>
                    </a:solidFill>
                  </a:rPr>
                  <a:t>with replacement </a:t>
                </a:r>
                <a:r>
                  <a:rPr lang="en-NZ" altLang="ja-JP" sz="1800" dirty="0">
                    <a:solidFill>
                      <a:prstClr val="black"/>
                    </a:solidFill>
                  </a:rPr>
                  <a:t>from </a:t>
                </a:r>
                <a14:m>
                  <m:oMath xmlns:m="http://schemas.openxmlformats.org/officeDocument/2006/math">
                    <m:bar>
                      <m:barPr>
                        <m:ctrlPr>
                          <a:rPr lang="en-NZ" altLang="ja-JP" sz="1800" b="1" i="1">
                            <a:solidFill>
                              <a:prstClr val="black"/>
                            </a:solidFill>
                            <a:latin typeface="Cambria Math" panose="02040503050406030204" pitchFamily="18" charset="0"/>
                          </a:rPr>
                        </m:ctrlPr>
                      </m:bar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𝝐</m:t>
                            </m:r>
                          </m:e>
                        </m:acc>
                      </m:e>
                    </m:bar>
                  </m:oMath>
                </a14:m>
                <a:endParaRPr lang="en-NZ" altLang="ja-JP" sz="1800" dirty="0">
                  <a:solidFill>
                    <a:prstClr val="black"/>
                  </a:solidFill>
                </a:endParaRPr>
              </a:p>
            </p:txBody>
          </p:sp>
        </mc:Choice>
        <mc:Fallback xmlns="">
          <p:sp>
            <p:nvSpPr>
              <p:cNvPr id="15" name="Text Placeholder 5">
                <a:extLst>
                  <a:ext uri="{FF2B5EF4-FFF2-40B4-BE49-F238E27FC236}">
                    <a16:creationId xmlns:a16="http://schemas.microsoft.com/office/drawing/2014/main" id="{20D82506-26F3-4F23-8768-2D7D5A848AEC}"/>
                  </a:ext>
                </a:extLst>
              </p:cNvPr>
              <p:cNvSpPr txBox="1">
                <a:spLocks noRot="1" noChangeAspect="1" noMove="1" noResize="1" noEditPoints="1" noAdjustHandles="1" noChangeArrowheads="1" noChangeShapeType="1" noTextEdit="1"/>
              </p:cNvSpPr>
              <p:nvPr/>
            </p:nvSpPr>
            <p:spPr>
              <a:xfrm>
                <a:off x="1069024" y="1334651"/>
                <a:ext cx="10055386" cy="828655"/>
              </a:xfrm>
              <a:prstGeom prst="rect">
                <a:avLst/>
              </a:prstGeom>
              <a:blipFill>
                <a:blip r:embed="rId3"/>
                <a:stretch>
                  <a:fillRect l="-485"/>
                </a:stretch>
              </a:blipFill>
            </p:spPr>
            <p:txBody>
              <a:bodyPr/>
              <a:lstStyle/>
              <a:p>
                <a:r>
                  <a:rPr lang="en-NZ">
                    <a:noFill/>
                  </a:rPr>
                  <a:t> </a:t>
                </a:r>
              </a:p>
            </p:txBody>
          </p:sp>
        </mc:Fallback>
      </mc:AlternateContent>
      <p:sp>
        <p:nvSpPr>
          <p:cNvPr id="16" name="Text Placeholder 5">
            <a:extLst>
              <a:ext uri="{FF2B5EF4-FFF2-40B4-BE49-F238E27FC236}">
                <a16:creationId xmlns:a16="http://schemas.microsoft.com/office/drawing/2014/main" id="{94EE10DD-B3F3-44DE-BDAD-F5E567CB88F9}"/>
              </a:ext>
            </a:extLst>
          </p:cNvPr>
          <p:cNvSpPr txBox="1">
            <a:spLocks/>
          </p:cNvSpPr>
          <p:nvPr/>
        </p:nvSpPr>
        <p:spPr>
          <a:xfrm>
            <a:off x="172402" y="5567174"/>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6:</a:t>
            </a:r>
            <a:endParaRPr lang="en-US" altLang="ja-JP" sz="1800" b="1" i="1" dirty="0">
              <a:solidFill>
                <a:schemeClr val="tx1"/>
              </a:solidFill>
            </a:endParaRPr>
          </a:p>
        </p:txBody>
      </p:sp>
      <p:sp>
        <p:nvSpPr>
          <p:cNvPr id="18" name="Footer Placeholder 2">
            <a:extLst>
              <a:ext uri="{FF2B5EF4-FFF2-40B4-BE49-F238E27FC236}">
                <a16:creationId xmlns:a16="http://schemas.microsoft.com/office/drawing/2014/main" id="{B723EE1F-6CFB-4C5C-800F-BF3FC4709EEF}"/>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7.4b</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9" name="Title 6">
            <a:extLst>
              <a:ext uri="{FF2B5EF4-FFF2-40B4-BE49-F238E27FC236}">
                <a16:creationId xmlns:a16="http://schemas.microsoft.com/office/drawing/2014/main" id="{461E7E7E-ECA2-459A-8D70-1D18DE8CBDEF}"/>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7.4b – Bootstrapping the Residual</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16A9B147-0975-4A22-8484-D5A820E3DDE4}"/>
                  </a:ext>
                </a:extLst>
              </p:cNvPr>
              <p:cNvSpPr txBox="1">
                <a:spLocks/>
              </p:cNvSpPr>
              <p:nvPr/>
            </p:nvSpPr>
            <p:spPr>
              <a:xfrm>
                <a:off x="1067590" y="2102806"/>
                <a:ext cx="10055386" cy="4262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bar>
                        <m:barPr>
                          <m:ctrlPr>
                            <a:rPr lang="en-NZ" altLang="ja-JP" sz="1800" b="1" i="1" smtClean="0">
                              <a:solidFill>
                                <a:prstClr val="black"/>
                              </a:solidFill>
                              <a:latin typeface="Cambria Math" panose="02040503050406030204" pitchFamily="18" charset="0"/>
                            </a:rPr>
                          </m:ctrlPr>
                        </m:bar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𝝐</m:t>
                              </m:r>
                            </m:e>
                          </m:acc>
                        </m:e>
                      </m:bar>
                      <m:r>
                        <a:rPr lang="en-NZ" altLang="ja-JP" sz="1800" b="1" i="1" smtClean="0">
                          <a:solidFill>
                            <a:prstClr val="black"/>
                          </a:solidFill>
                          <a:latin typeface="Cambria Math" panose="02040503050406030204" pitchFamily="18" charset="0"/>
                        </a:rPr>
                        <m:t>  =  </m:t>
                      </m:r>
                      <m:d>
                        <m:dPr>
                          <m:ctrlPr>
                            <a:rPr lang="en-NZ" altLang="ja-JP" sz="1800" b="1" i="1" smtClean="0">
                              <a:solidFill>
                                <a:prstClr val="black"/>
                              </a:solidFill>
                              <a:latin typeface="Cambria Math" panose="02040503050406030204" pitchFamily="18" charset="0"/>
                            </a:rPr>
                          </m:ctrlPr>
                        </m:dPr>
                        <m:e>
                          <m:m>
                            <m:mPr>
                              <m:mcs>
                                <m:mc>
                                  <m:mcPr>
                                    <m:count m:val="3"/>
                                    <m:mcJc m:val="center"/>
                                  </m:mcPr>
                                </m:mc>
                              </m:mcs>
                              <m:ctrlPr>
                                <a:rPr lang="en-NZ" altLang="ja-JP" sz="1800" b="1" i="1" smtClean="0">
                                  <a:solidFill>
                                    <a:prstClr val="black"/>
                                  </a:solidFill>
                                  <a:latin typeface="Cambria Math" panose="02040503050406030204" pitchFamily="18" charset="0"/>
                                </a:rPr>
                              </m:ctrlPr>
                            </m:mPr>
                            <m:mr>
                              <m:e>
                                <m:r>
                                  <m:rPr>
                                    <m:brk m:alnAt="7"/>
                                  </m:rPr>
                                  <a:rPr lang="en-NZ" altLang="ja-JP" sz="1800" b="1" i="1" smtClean="0">
                                    <a:solidFill>
                                      <a:srgbClr val="FF0000"/>
                                    </a:solidFill>
                                    <a:latin typeface="Cambria Math" panose="02040503050406030204" pitchFamily="18" charset="0"/>
                                  </a:rPr>
                                  <m:t>−</m:t>
                                </m:r>
                                <m:r>
                                  <a:rPr lang="en-NZ" altLang="ja-JP" sz="1800" b="1" i="1" smtClean="0">
                                    <a:solidFill>
                                      <a:srgbClr val="FF0000"/>
                                    </a:solidFill>
                                    <a:latin typeface="Cambria Math" panose="02040503050406030204" pitchFamily="18" charset="0"/>
                                  </a:rPr>
                                  <m:t>𝟖</m:t>
                                </m:r>
                                <m:r>
                                  <a:rPr lang="en-NZ" altLang="ja-JP" sz="1800" b="1" i="1" smtClean="0">
                                    <a:solidFill>
                                      <a:srgbClr val="FF0000"/>
                                    </a:solidFill>
                                    <a:latin typeface="Cambria Math" panose="02040503050406030204" pitchFamily="18" charset="0"/>
                                  </a:rPr>
                                  <m:t>.</m:t>
                                </m:r>
                                <m:r>
                                  <a:rPr lang="en-NZ" altLang="ja-JP" sz="1800" b="1" i="1" smtClean="0">
                                    <a:solidFill>
                                      <a:srgbClr val="FF0000"/>
                                    </a:solidFill>
                                    <a:latin typeface="Cambria Math" panose="02040503050406030204" pitchFamily="18" charset="0"/>
                                  </a:rPr>
                                  <m:t>𝟕𝟖</m:t>
                                </m:r>
                                <m:r>
                                  <a:rPr lang="en-NZ" altLang="ja-JP" sz="1800" b="1" i="1" smtClean="0">
                                    <a:solidFill>
                                      <a:prstClr val="black"/>
                                    </a:solidFill>
                                    <a:latin typeface="Cambria Math" panose="02040503050406030204" pitchFamily="18" charset="0"/>
                                  </a:rPr>
                                  <m:t>,</m:t>
                                </m:r>
                              </m:e>
                              <m:e>
                                <m:m>
                                  <m:mPr>
                                    <m:mcs>
                                      <m:mc>
                                        <m:mcPr>
                                          <m:count m:val="3"/>
                                          <m:mcJc m:val="center"/>
                                        </m:mcPr>
                                      </m:mc>
                                    </m:mcs>
                                    <m:ctrlPr>
                                      <a:rPr lang="en-NZ" altLang="ja-JP" sz="1800" b="1" i="1" smtClean="0">
                                        <a:solidFill>
                                          <a:prstClr val="black"/>
                                        </a:solidFill>
                                        <a:latin typeface="Cambria Math" panose="02040503050406030204" pitchFamily="18" charset="0"/>
                                      </a:rPr>
                                    </m:ctrlPr>
                                  </m:mPr>
                                  <m:mr>
                                    <m:e>
                                      <m:r>
                                        <m:rPr>
                                          <m:brk m:alnAt="7"/>
                                        </m:rPr>
                                        <a:rPr lang="en-NZ" altLang="ja-JP" sz="1800" b="1" i="1" smtClean="0">
                                          <a:solidFill>
                                            <a:srgbClr val="FFC000"/>
                                          </a:solidFill>
                                          <a:latin typeface="Cambria Math" panose="02040503050406030204" pitchFamily="18" charset="0"/>
                                        </a:rPr>
                                        <m:t>𝟐</m:t>
                                      </m:r>
                                      <m:r>
                                        <a:rPr lang="en-NZ" altLang="ja-JP" sz="1800" b="1" i="1" smtClean="0">
                                          <a:solidFill>
                                            <a:srgbClr val="FFC000"/>
                                          </a:solidFill>
                                          <a:latin typeface="Cambria Math" panose="02040503050406030204" pitchFamily="18" charset="0"/>
                                        </a:rPr>
                                        <m:t>𝟎</m:t>
                                      </m:r>
                                      <m:r>
                                        <a:rPr lang="en-NZ" altLang="ja-JP" sz="1800" b="1" i="1" smtClean="0">
                                          <a:solidFill>
                                            <a:srgbClr val="FFC000"/>
                                          </a:solidFill>
                                          <a:latin typeface="Cambria Math" panose="02040503050406030204" pitchFamily="18" charset="0"/>
                                        </a:rPr>
                                        <m:t>.</m:t>
                                      </m:r>
                                      <m:r>
                                        <a:rPr lang="en-NZ" altLang="ja-JP" sz="1800" b="1" i="1" smtClean="0">
                                          <a:solidFill>
                                            <a:srgbClr val="FFC000"/>
                                          </a:solidFill>
                                          <a:latin typeface="Cambria Math" panose="02040503050406030204" pitchFamily="18" charset="0"/>
                                        </a:rPr>
                                        <m:t>𝟓𝟏</m:t>
                                      </m:r>
                                      <m:r>
                                        <a:rPr lang="en-NZ" altLang="ja-JP" sz="1800" b="1" i="1" smtClean="0">
                                          <a:solidFill>
                                            <a:prstClr val="black"/>
                                          </a:solidFill>
                                          <a:latin typeface="Cambria Math" panose="02040503050406030204" pitchFamily="18" charset="0"/>
                                        </a:rPr>
                                        <m:t>,</m:t>
                                      </m:r>
                                    </m:e>
                                    <m:e>
                                      <m:r>
                                        <a:rPr lang="en-NZ" altLang="ja-JP" sz="1800" b="1" i="1" smtClean="0">
                                          <a:solidFill>
                                            <a:srgbClr val="92D050"/>
                                          </a:solidFill>
                                          <a:latin typeface="Cambria Math" panose="02040503050406030204" pitchFamily="18" charset="0"/>
                                        </a:rPr>
                                        <m:t>𝟏𝟖</m:t>
                                      </m:r>
                                      <m:r>
                                        <a:rPr lang="en-NZ" altLang="ja-JP" sz="1800" b="1" i="1" smtClean="0">
                                          <a:solidFill>
                                            <a:srgbClr val="92D050"/>
                                          </a:solidFill>
                                          <a:latin typeface="Cambria Math" panose="02040503050406030204" pitchFamily="18" charset="0"/>
                                        </a:rPr>
                                        <m:t>.</m:t>
                                      </m:r>
                                      <m:r>
                                        <a:rPr lang="en-NZ" altLang="ja-JP" sz="1800" b="1" i="1" smtClean="0">
                                          <a:solidFill>
                                            <a:srgbClr val="92D050"/>
                                          </a:solidFill>
                                          <a:latin typeface="Cambria Math" panose="02040503050406030204" pitchFamily="18" charset="0"/>
                                        </a:rPr>
                                        <m:t>𝟗𝟒</m:t>
                                      </m:r>
                                      <m:r>
                                        <a:rPr lang="en-NZ" altLang="ja-JP" sz="1800" b="1" i="1" smtClean="0">
                                          <a:solidFill>
                                            <a:prstClr val="black"/>
                                          </a:solidFill>
                                          <a:latin typeface="Cambria Math" panose="02040503050406030204" pitchFamily="18" charset="0"/>
                                        </a:rPr>
                                        <m:t>,</m:t>
                                      </m:r>
                                    </m:e>
                                    <m:e>
                                      <m:r>
                                        <a:rPr lang="en-NZ" altLang="ja-JP" sz="1800" b="1" i="1" smtClean="0">
                                          <a:solidFill>
                                            <a:srgbClr val="00B0F0"/>
                                          </a:solidFill>
                                          <a:latin typeface="Cambria Math" panose="02040503050406030204" pitchFamily="18" charset="0"/>
                                        </a:rPr>
                                        <m:t>−</m:t>
                                      </m:r>
                                      <m:r>
                                        <a:rPr lang="en-NZ" altLang="ja-JP" sz="1800" b="1" i="1" smtClean="0">
                                          <a:solidFill>
                                            <a:srgbClr val="00B0F0"/>
                                          </a:solidFill>
                                          <a:latin typeface="Cambria Math" panose="02040503050406030204" pitchFamily="18" charset="0"/>
                                        </a:rPr>
                                        <m:t>𝟕</m:t>
                                      </m:r>
                                      <m:r>
                                        <a:rPr lang="en-NZ" altLang="ja-JP" sz="1800" b="1" i="1" smtClean="0">
                                          <a:solidFill>
                                            <a:srgbClr val="00B0F0"/>
                                          </a:solidFill>
                                          <a:latin typeface="Cambria Math" panose="02040503050406030204" pitchFamily="18" charset="0"/>
                                        </a:rPr>
                                        <m:t>.</m:t>
                                      </m:r>
                                      <m:r>
                                        <a:rPr lang="en-NZ" altLang="ja-JP" sz="1800" b="1" i="1" smtClean="0">
                                          <a:solidFill>
                                            <a:srgbClr val="00B0F0"/>
                                          </a:solidFill>
                                          <a:latin typeface="Cambria Math" panose="02040503050406030204" pitchFamily="18" charset="0"/>
                                        </a:rPr>
                                        <m:t>𝟏𝟗</m:t>
                                      </m:r>
                                      <m:r>
                                        <a:rPr lang="en-NZ" altLang="ja-JP" sz="1800" b="1" i="1" smtClean="0">
                                          <a:solidFill>
                                            <a:prstClr val="black"/>
                                          </a:solidFill>
                                          <a:latin typeface="Cambria Math" panose="02040503050406030204" pitchFamily="18" charset="0"/>
                                        </a:rPr>
                                        <m:t>,</m:t>
                                      </m:r>
                                    </m:e>
                                  </m:mr>
                                </m:m>
                              </m:e>
                              <m:e>
                                <m:m>
                                  <m:mPr>
                                    <m:mcs>
                                      <m:mc>
                                        <m:mcPr>
                                          <m:count m:val="3"/>
                                          <m:mcJc m:val="center"/>
                                        </m:mcPr>
                                      </m:mc>
                                    </m:mcs>
                                    <m:ctrlPr>
                                      <a:rPr lang="en-NZ" altLang="ja-JP" sz="1800" b="1" i="1" smtClean="0">
                                        <a:solidFill>
                                          <a:prstClr val="black"/>
                                        </a:solidFill>
                                        <a:latin typeface="Cambria Math" panose="02040503050406030204" pitchFamily="18" charset="0"/>
                                      </a:rPr>
                                    </m:ctrlPr>
                                  </m:mPr>
                                  <m:mr>
                                    <m:e>
                                      <m:r>
                                        <m:rPr>
                                          <m:brk m:alnAt="7"/>
                                        </m:rPr>
                                        <a:rPr lang="en-NZ" altLang="ja-JP" sz="1800" b="1" i="1" smtClean="0">
                                          <a:solidFill>
                                            <a:srgbClr val="002060"/>
                                          </a:solidFill>
                                          <a:latin typeface="Cambria Math" panose="02040503050406030204" pitchFamily="18" charset="0"/>
                                        </a:rPr>
                                        <m:t>𝟗</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𝟔𝟔</m:t>
                                      </m:r>
                                      <m:r>
                                        <a:rPr lang="en-NZ" altLang="ja-JP" sz="1800" b="1" i="1" smtClean="0">
                                          <a:solidFill>
                                            <a:prstClr val="black"/>
                                          </a:solidFill>
                                          <a:latin typeface="Cambria Math" panose="02040503050406030204" pitchFamily="18" charset="0"/>
                                        </a:rPr>
                                        <m:t>,</m:t>
                                      </m:r>
                                    </m:e>
                                    <m:e>
                                      <m:r>
                                        <a:rPr lang="en-NZ" altLang="ja-JP" sz="1800" b="1" i="1" smtClean="0">
                                          <a:solidFill>
                                            <a:prstClr val="black"/>
                                          </a:solidFill>
                                          <a:latin typeface="Cambria Math" panose="02040503050406030204" pitchFamily="18" charset="0"/>
                                        </a:rPr>
                                        <m:t>…</m:t>
                                      </m:r>
                                    </m:e>
                                    <m:e>
                                      <m:m>
                                        <m:mPr>
                                          <m:mcs>
                                            <m:mc>
                                              <m:mcPr>
                                                <m:count m:val="3"/>
                                                <m:mcJc m:val="center"/>
                                              </m:mcPr>
                                            </m:mc>
                                          </m:mcs>
                                          <m:ctrlPr>
                                            <a:rPr lang="en-NZ" altLang="ja-JP" sz="1800" b="1" i="1" smtClean="0">
                                              <a:solidFill>
                                                <a:prstClr val="black"/>
                                              </a:solidFill>
                                              <a:latin typeface="Cambria Math" panose="02040503050406030204" pitchFamily="18" charset="0"/>
                                            </a:rPr>
                                          </m:ctrlPr>
                                        </m:mPr>
                                        <m:mr>
                                          <m:e>
                                            <m:r>
                                              <m:rPr>
                                                <m:brk m:alnAt="7"/>
                                              </m:rPr>
                                              <a:rPr lang="en-NZ" altLang="ja-JP" sz="1800" b="1" i="1" smtClean="0">
                                                <a:solidFill>
                                                  <a:srgbClr val="FF00CC"/>
                                                </a:solidFill>
                                                <a:latin typeface="Cambria Math" panose="02040503050406030204" pitchFamily="18" charset="0"/>
                                              </a:rPr>
                                              <m:t>𝟖</m:t>
                                            </m:r>
                                            <m:r>
                                              <a:rPr lang="en-NZ" altLang="ja-JP" sz="1800" b="1" i="1" smtClean="0">
                                                <a:solidFill>
                                                  <a:srgbClr val="FF00CC"/>
                                                </a:solidFill>
                                                <a:latin typeface="Cambria Math" panose="02040503050406030204" pitchFamily="18" charset="0"/>
                                              </a:rPr>
                                              <m:t>.</m:t>
                                            </m:r>
                                            <m:r>
                                              <a:rPr lang="en-NZ" altLang="ja-JP" sz="1800" b="1" i="1" smtClean="0">
                                                <a:solidFill>
                                                  <a:srgbClr val="FF00CC"/>
                                                </a:solidFill>
                                                <a:latin typeface="Cambria Math" panose="02040503050406030204" pitchFamily="18" charset="0"/>
                                              </a:rPr>
                                              <m:t>𝟖𝟏</m:t>
                                            </m:r>
                                          </m:e>
                                          <m:e>
                                            <m:r>
                                              <a:rPr lang="en-NZ" altLang="ja-JP" sz="1800" b="1" i="1" smtClean="0">
                                                <a:solidFill>
                                                  <a:prstClr val="black"/>
                                                </a:solidFill>
                                                <a:latin typeface="Cambria Math" panose="02040503050406030204" pitchFamily="18" charset="0"/>
                                              </a:rPr>
                                              <m:t>𝟐</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𝟔𝟎</m:t>
                                            </m:r>
                                          </m:e>
                                          <m:e>
                                            <m:r>
                                              <a:rPr lang="en-NZ" altLang="ja-JP" sz="1800" b="1" i="1" smtClean="0">
                                                <a:solidFill>
                                                  <a:srgbClr val="7030A0"/>
                                                </a:solidFill>
                                                <a:latin typeface="Cambria Math" panose="02040503050406030204" pitchFamily="18" charset="0"/>
                                              </a:rPr>
                                              <m:t>𝟏𝟗</m:t>
                                            </m:r>
                                            <m:r>
                                              <a:rPr lang="en-NZ" altLang="ja-JP" sz="1800" b="1" i="1" smtClean="0">
                                                <a:solidFill>
                                                  <a:srgbClr val="7030A0"/>
                                                </a:solidFill>
                                                <a:latin typeface="Cambria Math" panose="02040503050406030204" pitchFamily="18" charset="0"/>
                                              </a:rPr>
                                              <m:t>.</m:t>
                                            </m:r>
                                            <m:r>
                                              <a:rPr lang="en-NZ" altLang="ja-JP" sz="1800" b="1" i="1" smtClean="0">
                                                <a:solidFill>
                                                  <a:srgbClr val="7030A0"/>
                                                </a:solidFill>
                                                <a:latin typeface="Cambria Math" panose="02040503050406030204" pitchFamily="18" charset="0"/>
                                              </a:rPr>
                                              <m:t>𝟗𝟓</m:t>
                                            </m:r>
                                          </m:e>
                                        </m:mr>
                                      </m:m>
                                    </m:e>
                                  </m:mr>
                                </m:m>
                              </m:e>
                            </m:mr>
                          </m:m>
                        </m:e>
                      </m:d>
                    </m:oMath>
                  </m:oMathPara>
                </a14:m>
                <a:endParaRPr lang="en-NZ" altLang="ja-JP" sz="1800" dirty="0">
                  <a:solidFill>
                    <a:prstClr val="black"/>
                  </a:solidFill>
                </a:endParaRPr>
              </a:p>
            </p:txBody>
          </p:sp>
        </mc:Choice>
        <mc:Fallback xmlns="">
          <p:sp>
            <p:nvSpPr>
              <p:cNvPr id="23" name="Text Placeholder 5">
                <a:extLst>
                  <a:ext uri="{FF2B5EF4-FFF2-40B4-BE49-F238E27FC236}">
                    <a16:creationId xmlns:a16="http://schemas.microsoft.com/office/drawing/2014/main" id="{16A9B147-0975-4A22-8484-D5A820E3DDE4}"/>
                  </a:ext>
                </a:extLst>
              </p:cNvPr>
              <p:cNvSpPr txBox="1">
                <a:spLocks noRot="1" noChangeAspect="1" noMove="1" noResize="1" noEditPoints="1" noAdjustHandles="1" noChangeArrowheads="1" noChangeShapeType="1" noTextEdit="1"/>
              </p:cNvSpPr>
              <p:nvPr/>
            </p:nvSpPr>
            <p:spPr>
              <a:xfrm>
                <a:off x="1067590" y="2102806"/>
                <a:ext cx="10055386" cy="426282"/>
              </a:xfrm>
              <a:prstGeom prst="rect">
                <a:avLst/>
              </a:prstGeom>
              <a:blipFill>
                <a:blip r:embed="rId4"/>
                <a:stretch>
                  <a:fillRect t="-42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192B6CE3-AC52-428A-907C-15DCB4D97907}"/>
                  </a:ext>
                </a:extLst>
              </p:cNvPr>
              <p:cNvSpPr txBox="1">
                <a:spLocks/>
              </p:cNvSpPr>
              <p:nvPr/>
            </p:nvSpPr>
            <p:spPr>
              <a:xfrm>
                <a:off x="1067590" y="2653889"/>
                <a:ext cx="10055386" cy="4262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acc>
                        <m:accPr>
                          <m:chr m:val="̂"/>
                          <m:ctrlPr>
                            <a:rPr lang="en-NZ" altLang="ja-JP" sz="1800" b="1" i="1">
                              <a:solidFill>
                                <a:prstClr val="black"/>
                              </a:solidFill>
                              <a:latin typeface="Cambria Math" panose="02040503050406030204" pitchFamily="18" charset="0"/>
                            </a:rPr>
                          </m:ctrlPr>
                        </m:accPr>
                        <m:e>
                          <m:sSup>
                            <m:sSupPr>
                              <m:ctrlPr>
                                <a:rPr lang="en-NZ" altLang="ja-JP" sz="1800" b="1" i="1">
                                  <a:solidFill>
                                    <a:prstClr val="black"/>
                                  </a:solidFill>
                                  <a:latin typeface="Cambria Math" panose="02040503050406030204" pitchFamily="18" charset="0"/>
                                </a:rPr>
                              </m:ctrlPr>
                            </m:sSup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𝝐</m:t>
                                  </m:r>
                                </m:e>
                              </m:bar>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e>
                      </m:acc>
                      <m:r>
                        <a:rPr lang="en-NZ" altLang="ja-JP" sz="1800" b="1" i="1" smtClean="0">
                          <a:solidFill>
                            <a:prstClr val="black"/>
                          </a:solidFill>
                          <a:latin typeface="Cambria Math" panose="02040503050406030204" pitchFamily="18" charset="0"/>
                        </a:rPr>
                        <m:t>=  </m:t>
                      </m:r>
                      <m:d>
                        <m:dPr>
                          <m:ctrlPr>
                            <a:rPr lang="en-NZ" altLang="ja-JP" sz="1800" b="1" i="1" smtClean="0">
                              <a:solidFill>
                                <a:prstClr val="black"/>
                              </a:solidFill>
                              <a:latin typeface="Cambria Math" panose="02040503050406030204" pitchFamily="18" charset="0"/>
                            </a:rPr>
                          </m:ctrlPr>
                        </m:dPr>
                        <m:e>
                          <m:m>
                            <m:mPr>
                              <m:mcs>
                                <m:mc>
                                  <m:mcPr>
                                    <m:count m:val="3"/>
                                    <m:mcJc m:val="center"/>
                                  </m:mcPr>
                                </m:mc>
                              </m:mcs>
                              <m:ctrlPr>
                                <a:rPr lang="en-NZ" altLang="ja-JP" sz="1800" b="1" i="1" smtClean="0">
                                  <a:solidFill>
                                    <a:prstClr val="black"/>
                                  </a:solidFill>
                                  <a:latin typeface="Cambria Math" panose="02040503050406030204" pitchFamily="18" charset="0"/>
                                </a:rPr>
                              </m:ctrlPr>
                            </m:mPr>
                            <m:mr>
                              <m:e>
                                <m:r>
                                  <a:rPr lang="en-NZ" altLang="ja-JP" sz="1800" b="1" i="1">
                                    <a:solidFill>
                                      <a:srgbClr val="00B0F0"/>
                                    </a:solidFill>
                                    <a:latin typeface="Cambria Math" panose="02040503050406030204" pitchFamily="18" charset="0"/>
                                  </a:rPr>
                                  <m:t>−</m:t>
                                </m:r>
                                <m:r>
                                  <a:rPr lang="en-NZ" altLang="ja-JP" sz="1800" b="1" i="1">
                                    <a:solidFill>
                                      <a:srgbClr val="00B0F0"/>
                                    </a:solidFill>
                                    <a:latin typeface="Cambria Math" panose="02040503050406030204" pitchFamily="18" charset="0"/>
                                  </a:rPr>
                                  <m:t>𝟕</m:t>
                                </m:r>
                                <m:r>
                                  <a:rPr lang="en-NZ" altLang="ja-JP" sz="1800" b="1" i="1">
                                    <a:solidFill>
                                      <a:srgbClr val="00B0F0"/>
                                    </a:solidFill>
                                    <a:latin typeface="Cambria Math" panose="02040503050406030204" pitchFamily="18" charset="0"/>
                                  </a:rPr>
                                  <m:t>.</m:t>
                                </m:r>
                                <m:r>
                                  <a:rPr lang="en-NZ" altLang="ja-JP" sz="1800" b="1" i="1">
                                    <a:solidFill>
                                      <a:srgbClr val="00B0F0"/>
                                    </a:solidFill>
                                    <a:latin typeface="Cambria Math" panose="02040503050406030204" pitchFamily="18" charset="0"/>
                                  </a:rPr>
                                  <m:t>𝟏𝟗</m:t>
                                </m:r>
                                <m:r>
                                  <m:rPr>
                                    <m:brk m:alnAt="7"/>
                                  </m:rPr>
                                  <a:rPr lang="en-NZ" altLang="ja-JP" sz="1800" b="1" i="1" smtClean="0">
                                    <a:solidFill>
                                      <a:prstClr val="black"/>
                                    </a:solidFill>
                                    <a:latin typeface="Cambria Math" panose="02040503050406030204" pitchFamily="18" charset="0"/>
                                  </a:rPr>
                                  <m:t>,</m:t>
                                </m:r>
                              </m:e>
                              <m:e>
                                <m:m>
                                  <m:mPr>
                                    <m:mcs>
                                      <m:mc>
                                        <m:mcPr>
                                          <m:count m:val="3"/>
                                          <m:mcJc m:val="center"/>
                                        </m:mcPr>
                                      </m:mc>
                                    </m:mcs>
                                    <m:ctrlPr>
                                      <a:rPr lang="en-NZ" altLang="ja-JP" sz="1800" b="1" i="1" smtClean="0">
                                        <a:solidFill>
                                          <a:prstClr val="black"/>
                                        </a:solidFill>
                                        <a:latin typeface="Cambria Math" panose="02040503050406030204" pitchFamily="18" charset="0"/>
                                      </a:rPr>
                                    </m:ctrlPr>
                                  </m:mPr>
                                  <m:mr>
                                    <m:e>
                                      <m:r>
                                        <m:rPr>
                                          <m:brk m:alnAt="7"/>
                                        </m:rPr>
                                        <a:rPr lang="en-NZ" altLang="ja-JP" sz="1800" b="1" i="1">
                                          <a:solidFill>
                                            <a:srgbClr val="FF00CC"/>
                                          </a:solidFill>
                                          <a:latin typeface="Cambria Math" panose="02040503050406030204" pitchFamily="18" charset="0"/>
                                        </a:rPr>
                                        <m:t>𝟖</m:t>
                                      </m:r>
                                      <m:r>
                                        <a:rPr lang="en-NZ" altLang="ja-JP" sz="1800" b="1" i="1">
                                          <a:solidFill>
                                            <a:srgbClr val="FF00CC"/>
                                          </a:solidFill>
                                          <a:latin typeface="Cambria Math" panose="02040503050406030204" pitchFamily="18" charset="0"/>
                                        </a:rPr>
                                        <m:t>.</m:t>
                                      </m:r>
                                      <m:r>
                                        <a:rPr lang="en-NZ" altLang="ja-JP" sz="1800" b="1" i="1">
                                          <a:solidFill>
                                            <a:srgbClr val="FF00CC"/>
                                          </a:solidFill>
                                          <a:latin typeface="Cambria Math" panose="02040503050406030204" pitchFamily="18" charset="0"/>
                                        </a:rPr>
                                        <m:t>𝟖𝟏</m:t>
                                      </m:r>
                                      <m:r>
                                        <m:rPr>
                                          <m:brk m:alnAt="7"/>
                                        </m:rPr>
                                        <a:rPr lang="en-NZ" altLang="ja-JP" sz="1800" b="1" i="1" smtClean="0">
                                          <a:solidFill>
                                            <a:prstClr val="black"/>
                                          </a:solidFill>
                                          <a:latin typeface="Cambria Math" panose="02040503050406030204" pitchFamily="18" charset="0"/>
                                        </a:rPr>
                                        <m:t>,</m:t>
                                      </m:r>
                                    </m:e>
                                    <m:e>
                                      <m:r>
                                        <m:rPr>
                                          <m:brk m:alnAt="7"/>
                                        </m:rPr>
                                        <a:rPr lang="en-NZ" altLang="ja-JP" sz="1800" b="1" i="1">
                                          <a:solidFill>
                                            <a:srgbClr val="FF00CC"/>
                                          </a:solidFill>
                                          <a:latin typeface="Cambria Math" panose="02040503050406030204" pitchFamily="18" charset="0"/>
                                        </a:rPr>
                                        <m:t>𝟖</m:t>
                                      </m:r>
                                      <m:r>
                                        <a:rPr lang="en-NZ" altLang="ja-JP" sz="1800" b="1" i="1">
                                          <a:solidFill>
                                            <a:srgbClr val="FF00CC"/>
                                          </a:solidFill>
                                          <a:latin typeface="Cambria Math" panose="02040503050406030204" pitchFamily="18" charset="0"/>
                                        </a:rPr>
                                        <m:t>.</m:t>
                                      </m:r>
                                      <m:r>
                                        <a:rPr lang="en-NZ" altLang="ja-JP" sz="1800" b="1" i="1">
                                          <a:solidFill>
                                            <a:srgbClr val="FF00CC"/>
                                          </a:solidFill>
                                          <a:latin typeface="Cambria Math" panose="02040503050406030204" pitchFamily="18" charset="0"/>
                                        </a:rPr>
                                        <m:t>𝟖𝟏</m:t>
                                      </m:r>
                                      <m:r>
                                        <a:rPr lang="en-NZ" altLang="ja-JP" sz="1800" b="1" i="1" smtClean="0">
                                          <a:solidFill>
                                            <a:prstClr val="black"/>
                                          </a:solidFill>
                                          <a:latin typeface="Cambria Math" panose="02040503050406030204" pitchFamily="18" charset="0"/>
                                        </a:rPr>
                                        <m:t>,</m:t>
                                      </m:r>
                                    </m:e>
                                    <m:e>
                                      <m:r>
                                        <m:rPr>
                                          <m:brk m:alnAt="7"/>
                                        </m:rPr>
                                        <a:rPr lang="en-NZ" altLang="ja-JP" sz="1800" b="1" i="1">
                                          <a:solidFill>
                                            <a:srgbClr val="FF0000"/>
                                          </a:solidFill>
                                          <a:latin typeface="Cambria Math" panose="02040503050406030204" pitchFamily="18" charset="0"/>
                                        </a:rPr>
                                        <m:t>−</m:t>
                                      </m:r>
                                      <m:r>
                                        <a:rPr lang="en-NZ" altLang="ja-JP" sz="1800" b="1" i="1">
                                          <a:solidFill>
                                            <a:srgbClr val="FF0000"/>
                                          </a:solidFill>
                                          <a:latin typeface="Cambria Math" panose="02040503050406030204" pitchFamily="18" charset="0"/>
                                        </a:rPr>
                                        <m:t>𝟖</m:t>
                                      </m:r>
                                      <m:r>
                                        <a:rPr lang="en-NZ" altLang="ja-JP" sz="1800" b="1" i="1">
                                          <a:solidFill>
                                            <a:srgbClr val="FF0000"/>
                                          </a:solidFill>
                                          <a:latin typeface="Cambria Math" panose="02040503050406030204" pitchFamily="18" charset="0"/>
                                        </a:rPr>
                                        <m:t>.</m:t>
                                      </m:r>
                                      <m:r>
                                        <a:rPr lang="en-NZ" altLang="ja-JP" sz="1800" b="1" i="1">
                                          <a:solidFill>
                                            <a:srgbClr val="FF0000"/>
                                          </a:solidFill>
                                          <a:latin typeface="Cambria Math" panose="02040503050406030204" pitchFamily="18" charset="0"/>
                                        </a:rPr>
                                        <m:t>𝟕𝟖</m:t>
                                      </m:r>
                                      <m:r>
                                        <a:rPr lang="en-NZ" altLang="ja-JP" sz="1800" b="1" i="1" smtClean="0">
                                          <a:solidFill>
                                            <a:prstClr val="black"/>
                                          </a:solidFill>
                                          <a:latin typeface="Cambria Math" panose="02040503050406030204" pitchFamily="18" charset="0"/>
                                        </a:rPr>
                                        <m:t>,</m:t>
                                      </m:r>
                                    </m:e>
                                  </m:mr>
                                </m:m>
                              </m:e>
                              <m:e>
                                <m:m>
                                  <m:mPr>
                                    <m:mcs>
                                      <m:mc>
                                        <m:mcPr>
                                          <m:count m:val="3"/>
                                          <m:mcJc m:val="center"/>
                                        </m:mcPr>
                                      </m:mc>
                                    </m:mcs>
                                    <m:ctrlPr>
                                      <a:rPr lang="en-NZ" altLang="ja-JP" sz="1800" b="1" i="1" smtClean="0">
                                        <a:solidFill>
                                          <a:prstClr val="black"/>
                                        </a:solidFill>
                                        <a:latin typeface="Cambria Math" panose="02040503050406030204" pitchFamily="18" charset="0"/>
                                      </a:rPr>
                                    </m:ctrlPr>
                                  </m:mPr>
                                  <m:mr>
                                    <m:e>
                                      <m:r>
                                        <a:rPr lang="en-NZ" altLang="ja-JP" sz="1800" b="1" i="1">
                                          <a:solidFill>
                                            <a:srgbClr val="7030A0"/>
                                          </a:solidFill>
                                          <a:latin typeface="Cambria Math" panose="02040503050406030204" pitchFamily="18" charset="0"/>
                                        </a:rPr>
                                        <m:t>𝟏𝟗</m:t>
                                      </m:r>
                                      <m:r>
                                        <a:rPr lang="en-NZ" altLang="ja-JP" sz="1800" b="1" i="1">
                                          <a:solidFill>
                                            <a:srgbClr val="7030A0"/>
                                          </a:solidFill>
                                          <a:latin typeface="Cambria Math" panose="02040503050406030204" pitchFamily="18" charset="0"/>
                                        </a:rPr>
                                        <m:t>.</m:t>
                                      </m:r>
                                      <m:r>
                                        <a:rPr lang="en-NZ" altLang="ja-JP" sz="1800" b="1" i="1">
                                          <a:solidFill>
                                            <a:srgbClr val="7030A0"/>
                                          </a:solidFill>
                                          <a:latin typeface="Cambria Math" panose="02040503050406030204" pitchFamily="18" charset="0"/>
                                        </a:rPr>
                                        <m:t>𝟗𝟓</m:t>
                                      </m:r>
                                      <m:r>
                                        <m:rPr>
                                          <m:brk m:alnAt="7"/>
                                        </m:rPr>
                                        <a:rPr lang="en-NZ" altLang="ja-JP" sz="1800" b="1" i="1" smtClean="0">
                                          <a:solidFill>
                                            <a:prstClr val="black"/>
                                          </a:solidFill>
                                          <a:latin typeface="Cambria Math" panose="02040503050406030204" pitchFamily="18" charset="0"/>
                                        </a:rPr>
                                        <m:t>,</m:t>
                                      </m:r>
                                    </m:e>
                                    <m:e>
                                      <m:r>
                                        <a:rPr lang="en-NZ" altLang="ja-JP" sz="1800" b="1" i="1" smtClean="0">
                                          <a:solidFill>
                                            <a:prstClr val="black"/>
                                          </a:solidFill>
                                          <a:latin typeface="Cambria Math" panose="02040503050406030204" pitchFamily="18" charset="0"/>
                                        </a:rPr>
                                        <m:t>…</m:t>
                                      </m:r>
                                    </m:e>
                                    <m:e>
                                      <m:m>
                                        <m:mPr>
                                          <m:mcs>
                                            <m:mc>
                                              <m:mcPr>
                                                <m:count m:val="3"/>
                                                <m:mcJc m:val="center"/>
                                              </m:mcPr>
                                            </m:mc>
                                          </m:mcs>
                                          <m:ctrlPr>
                                            <a:rPr lang="en-NZ" altLang="ja-JP" sz="1800" b="1" i="1" smtClean="0">
                                              <a:solidFill>
                                                <a:prstClr val="black"/>
                                              </a:solidFill>
                                              <a:latin typeface="Cambria Math" panose="02040503050406030204" pitchFamily="18" charset="0"/>
                                            </a:rPr>
                                          </m:ctrlPr>
                                        </m:mPr>
                                        <m:mr>
                                          <m:e>
                                            <m:r>
                                              <m:rPr>
                                                <m:brk m:alnAt="7"/>
                                              </m:rPr>
                                              <a:rPr lang="en-NZ" altLang="ja-JP" sz="1800" b="1" i="1" smtClean="0">
                                                <a:solidFill>
                                                  <a:srgbClr val="FF00CC"/>
                                                </a:solidFill>
                                                <a:latin typeface="Cambria Math" panose="02040503050406030204" pitchFamily="18" charset="0"/>
                                              </a:rPr>
                                              <m:t>𝟖</m:t>
                                            </m:r>
                                            <m:r>
                                              <a:rPr lang="en-NZ" altLang="ja-JP" sz="1800" b="1" i="1" smtClean="0">
                                                <a:solidFill>
                                                  <a:srgbClr val="FF00CC"/>
                                                </a:solidFill>
                                                <a:latin typeface="Cambria Math" panose="02040503050406030204" pitchFamily="18" charset="0"/>
                                              </a:rPr>
                                              <m:t>.</m:t>
                                            </m:r>
                                            <m:r>
                                              <a:rPr lang="en-NZ" altLang="ja-JP" sz="1800" b="1" i="1" smtClean="0">
                                                <a:solidFill>
                                                  <a:srgbClr val="FF00CC"/>
                                                </a:solidFill>
                                                <a:latin typeface="Cambria Math" panose="02040503050406030204" pitchFamily="18" charset="0"/>
                                              </a:rPr>
                                              <m:t>𝟖𝟏</m:t>
                                            </m:r>
                                          </m:e>
                                          <m:e>
                                            <m:r>
                                              <m:rPr>
                                                <m:brk m:alnAt="7"/>
                                              </m:rPr>
                                              <a:rPr lang="en-NZ" altLang="ja-JP" sz="1800" b="1" i="1">
                                                <a:solidFill>
                                                  <a:srgbClr val="FF0000"/>
                                                </a:solidFill>
                                                <a:latin typeface="Cambria Math" panose="02040503050406030204" pitchFamily="18" charset="0"/>
                                              </a:rPr>
                                              <m:t>−</m:t>
                                            </m:r>
                                            <m:r>
                                              <a:rPr lang="en-NZ" altLang="ja-JP" sz="1800" b="1" i="1">
                                                <a:solidFill>
                                                  <a:srgbClr val="FF0000"/>
                                                </a:solidFill>
                                                <a:latin typeface="Cambria Math" panose="02040503050406030204" pitchFamily="18" charset="0"/>
                                              </a:rPr>
                                              <m:t>𝟖</m:t>
                                            </m:r>
                                            <m:r>
                                              <a:rPr lang="en-NZ" altLang="ja-JP" sz="1800" b="1" i="1">
                                                <a:solidFill>
                                                  <a:srgbClr val="FF0000"/>
                                                </a:solidFill>
                                                <a:latin typeface="Cambria Math" panose="02040503050406030204" pitchFamily="18" charset="0"/>
                                              </a:rPr>
                                              <m:t>.</m:t>
                                            </m:r>
                                            <m:r>
                                              <a:rPr lang="en-NZ" altLang="ja-JP" sz="1800" b="1" i="1">
                                                <a:solidFill>
                                                  <a:srgbClr val="FF0000"/>
                                                </a:solidFill>
                                                <a:latin typeface="Cambria Math" panose="02040503050406030204" pitchFamily="18" charset="0"/>
                                              </a:rPr>
                                              <m:t>𝟕𝟖</m:t>
                                            </m:r>
                                          </m:e>
                                          <m:e>
                                            <m:r>
                                              <a:rPr lang="en-NZ" altLang="ja-JP" sz="1800" b="1" i="1">
                                                <a:solidFill>
                                                  <a:srgbClr val="92D050"/>
                                                </a:solidFill>
                                                <a:latin typeface="Cambria Math" panose="02040503050406030204" pitchFamily="18" charset="0"/>
                                              </a:rPr>
                                              <m:t>𝟏𝟖</m:t>
                                            </m:r>
                                            <m:r>
                                              <a:rPr lang="en-NZ" altLang="ja-JP" sz="1800" b="1" i="1">
                                                <a:solidFill>
                                                  <a:srgbClr val="92D050"/>
                                                </a:solidFill>
                                                <a:latin typeface="Cambria Math" panose="02040503050406030204" pitchFamily="18" charset="0"/>
                                              </a:rPr>
                                              <m:t>.</m:t>
                                            </m:r>
                                            <m:r>
                                              <a:rPr lang="en-NZ" altLang="ja-JP" sz="1800" b="1" i="1">
                                                <a:solidFill>
                                                  <a:srgbClr val="92D050"/>
                                                </a:solidFill>
                                                <a:latin typeface="Cambria Math" panose="02040503050406030204" pitchFamily="18" charset="0"/>
                                              </a:rPr>
                                              <m:t>𝟗𝟒</m:t>
                                            </m:r>
                                          </m:e>
                                        </m:mr>
                                      </m:m>
                                    </m:e>
                                  </m:mr>
                                </m:m>
                              </m:e>
                            </m:mr>
                          </m:m>
                        </m:e>
                      </m:d>
                    </m:oMath>
                  </m:oMathPara>
                </a14:m>
                <a:endParaRPr lang="en-NZ" altLang="ja-JP" sz="1800" dirty="0">
                  <a:solidFill>
                    <a:prstClr val="black"/>
                  </a:solidFill>
                </a:endParaRPr>
              </a:p>
            </p:txBody>
          </p:sp>
        </mc:Choice>
        <mc:Fallback xmlns="">
          <p:sp>
            <p:nvSpPr>
              <p:cNvPr id="24" name="Text Placeholder 5">
                <a:extLst>
                  <a:ext uri="{FF2B5EF4-FFF2-40B4-BE49-F238E27FC236}">
                    <a16:creationId xmlns:a16="http://schemas.microsoft.com/office/drawing/2014/main" id="{192B6CE3-AC52-428A-907C-15DCB4D97907}"/>
                  </a:ext>
                </a:extLst>
              </p:cNvPr>
              <p:cNvSpPr txBox="1">
                <a:spLocks noRot="1" noChangeAspect="1" noMove="1" noResize="1" noEditPoints="1" noAdjustHandles="1" noChangeArrowheads="1" noChangeShapeType="1" noTextEdit="1"/>
              </p:cNvSpPr>
              <p:nvPr/>
            </p:nvSpPr>
            <p:spPr>
              <a:xfrm>
                <a:off x="1067590" y="2653889"/>
                <a:ext cx="10055386" cy="426282"/>
              </a:xfrm>
              <a:prstGeom prst="rect">
                <a:avLst/>
              </a:prstGeom>
              <a:blipFill>
                <a:blip r:embed="rId5"/>
                <a:stretch>
                  <a:fillRect/>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25B5A4F1-8C4B-45B4-A7A9-D9C71476EAA8}"/>
              </a:ext>
            </a:extLst>
          </p:cNvPr>
          <p:cNvSpPr txBox="1">
            <a:spLocks/>
          </p:cNvSpPr>
          <p:nvPr/>
        </p:nvSpPr>
        <p:spPr>
          <a:xfrm>
            <a:off x="1252530" y="2378348"/>
            <a:ext cx="555103" cy="4262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r">
              <a:lnSpc>
                <a:spcPct val="100000"/>
              </a:lnSpc>
            </a:pPr>
            <a:r>
              <a:rPr kumimoji="1" lang="en-NZ" altLang="ja-JP" sz="1800" b="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rPr>
              <a:t>e.g.</a:t>
            </a:r>
            <a:endParaRPr kumimoji="1" lang="en-NZ" altLang="ja-JP" sz="18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mc:AlternateContent xmlns:mc="http://schemas.openxmlformats.org/markup-compatibility/2006">
        <mc:Choice xmlns:a14="http://schemas.microsoft.com/office/drawing/2010/main" Requires="a14">
          <p:sp>
            <p:nvSpPr>
              <p:cNvPr id="26" name="Text Placeholder 5">
                <a:extLst>
                  <a:ext uri="{FF2B5EF4-FFF2-40B4-BE49-F238E27FC236}">
                    <a16:creationId xmlns:a16="http://schemas.microsoft.com/office/drawing/2014/main" id="{17F12B70-100B-4421-9CB4-13A8FE8DB554}"/>
                  </a:ext>
                </a:extLst>
              </p:cNvPr>
              <p:cNvSpPr txBox="1">
                <a:spLocks/>
              </p:cNvSpPr>
              <p:nvPr/>
            </p:nvSpPr>
            <p:spPr>
              <a:xfrm>
                <a:off x="1138791" y="3292542"/>
                <a:ext cx="10055386" cy="8183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romanUcPeriod" startAt="2"/>
                  <a:defRPr/>
                </a:pPr>
                <a:r>
                  <a:rPr lang="en-NZ" altLang="ja-JP" sz="1800" dirty="0">
                    <a:solidFill>
                      <a:prstClr val="black"/>
                    </a:solidFill>
                  </a:rPr>
                  <a:t>Create bootstrap data vector </a:t>
                </a:r>
                <a14:m>
                  <m:oMath xmlns:m="http://schemas.openxmlformats.org/officeDocument/2006/math">
                    <m:r>
                      <a:rPr lang="en-NZ" altLang="ja-JP" sz="1800" b="1" i="1">
                        <a:solidFill>
                          <a:prstClr val="black"/>
                        </a:solidFill>
                        <a:latin typeface="Cambria Math" panose="02040503050406030204" pitchFamily="18" charset="0"/>
                      </a:rPr>
                      <m:t>𝒊</m:t>
                    </m:r>
                    <m:r>
                      <a:rPr lang="en-NZ" altLang="ja-JP" sz="1800" b="1" i="1">
                        <a:solidFill>
                          <a:prstClr val="black"/>
                        </a:solidFill>
                        <a:latin typeface="Cambria Math" panose="02040503050406030204" pitchFamily="18" charset="0"/>
                      </a:rPr>
                      <m:t> </m:t>
                    </m:r>
                  </m:oMath>
                </a14:m>
                <a:r>
                  <a:rPr lang="en-NZ" altLang="ja-JP" sz="1800" dirty="0">
                    <a:solidFill>
                      <a:prstClr val="black"/>
                    </a:solidFill>
                  </a:rPr>
                  <a:t>by appending the constructed residual vector to the fitted values  </a:t>
                </a:r>
                <a14:m>
                  <m:oMath xmlns:m="http://schemas.openxmlformats.org/officeDocument/2006/math">
                    <m:sSup>
                      <m:sSupPr>
                        <m:ctrlPr>
                          <a:rPr lang="en-NZ" altLang="ja-JP" sz="1800" b="1" i="1" smtClean="0">
                            <a:solidFill>
                              <a:prstClr val="black"/>
                            </a:solidFill>
                            <a:latin typeface="Cambria Math" panose="02040503050406030204" pitchFamily="18" charset="0"/>
                          </a:rPr>
                        </m:ctrlPr>
                      </m:sSupPr>
                      <m:e>
                        <m:bar>
                          <m:barPr>
                            <m:ctrlPr>
                              <a:rPr lang="en-NZ" altLang="ja-JP" sz="1800" b="1" i="1" smtClean="0">
                                <a:solidFill>
                                  <a:prstClr val="black"/>
                                </a:solidFill>
                                <a:latin typeface="Cambria Math" panose="02040503050406030204" pitchFamily="18" charset="0"/>
                              </a:rPr>
                            </m:ctrlPr>
                          </m:barPr>
                          <m:e>
                            <m:r>
                              <a:rPr lang="en-NZ" altLang="ja-JP" sz="1800" b="1" i="1" smtClean="0">
                                <a:solidFill>
                                  <a:prstClr val="black"/>
                                </a:solidFill>
                                <a:latin typeface="Cambria Math" panose="02040503050406030204" pitchFamily="18" charset="0"/>
                              </a:rPr>
                              <m:t>𝒀</m:t>
                            </m:r>
                          </m:e>
                        </m:bar>
                      </m:e>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p>
                    <m:r>
                      <a:rPr lang="en-NZ" altLang="ja-JP" sz="1800" b="1" i="1" smtClean="0">
                        <a:solidFill>
                          <a:prstClr val="black"/>
                        </a:solidFill>
                        <a:latin typeface="Cambria Math" panose="02040503050406030204" pitchFamily="18" charset="0"/>
                      </a:rPr>
                      <m:t>  </m:t>
                    </m:r>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  </m:t>
                    </m:r>
                    <m:acc>
                      <m:accPr>
                        <m:chr m:val="̂"/>
                        <m:ctrlPr>
                          <a:rPr lang="en-NZ" altLang="ja-JP" sz="1800" b="1" i="1">
                            <a:solidFill>
                              <a:prstClr val="black"/>
                            </a:solidFill>
                            <a:latin typeface="Cambria Math" panose="02040503050406030204" pitchFamily="18" charset="0"/>
                          </a:rPr>
                        </m:ctrlPr>
                      </m:acc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e>
                    </m:acc>
                    <m:r>
                      <a:rPr lang="en-NZ" altLang="ja-JP" sz="1800" b="1" i="1" smtClean="0">
                        <a:solidFill>
                          <a:prstClr val="black"/>
                        </a:solidFill>
                        <a:latin typeface="Cambria Math" panose="02040503050406030204" pitchFamily="18" charset="0"/>
                      </a:rPr>
                      <m:t>+</m:t>
                    </m:r>
                    <m:acc>
                      <m:accPr>
                        <m:chr m:val="̂"/>
                        <m:ctrlPr>
                          <a:rPr lang="en-NZ" altLang="ja-JP" sz="1800" b="1" i="1">
                            <a:solidFill>
                              <a:prstClr val="black"/>
                            </a:solidFill>
                            <a:latin typeface="Cambria Math" panose="02040503050406030204" pitchFamily="18" charset="0"/>
                          </a:rPr>
                        </m:ctrlPr>
                      </m:accPr>
                      <m:e>
                        <m:sSup>
                          <m:sSupPr>
                            <m:ctrlPr>
                              <a:rPr lang="en-NZ" altLang="ja-JP" sz="1800" b="1" i="1">
                                <a:solidFill>
                                  <a:prstClr val="black"/>
                                </a:solidFill>
                                <a:latin typeface="Cambria Math" panose="02040503050406030204" pitchFamily="18" charset="0"/>
                              </a:rPr>
                            </m:ctrlPr>
                          </m:sSup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𝝐</m:t>
                                </m:r>
                              </m:e>
                            </m:bar>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e>
                    </m:acc>
                    <m:r>
                      <a:rPr lang="en-NZ" altLang="ja-JP" sz="1800" b="1" i="1" smtClean="0">
                        <a:solidFill>
                          <a:prstClr val="black"/>
                        </a:solidFill>
                        <a:latin typeface="Cambria Math" panose="02040503050406030204" pitchFamily="18" charset="0"/>
                      </a:rPr>
                      <m:t>   =  </m:t>
                    </m:r>
                    <m:r>
                      <a:rPr lang="en-NZ" altLang="ja-JP" sz="1800" b="1" i="1" smtClean="0">
                        <a:solidFill>
                          <a:prstClr val="black"/>
                        </a:solidFill>
                        <a:latin typeface="Cambria Math" panose="02040503050406030204" pitchFamily="18" charset="0"/>
                      </a:rPr>
                      <m:t>( </m:t>
                    </m:r>
                    <m:acc>
                      <m:accPr>
                        <m:chr m:val="̂"/>
                        <m:ctrlPr>
                          <a:rPr lang="en-NZ" altLang="ja-JP" sz="1800" b="1" i="1" smtClean="0">
                            <a:solidFill>
                              <a:prstClr val="black"/>
                            </a:solidFill>
                            <a:latin typeface="Cambria Math" panose="02040503050406030204" pitchFamily="18" charset="0"/>
                          </a:rPr>
                        </m:ctrlPr>
                      </m:accPr>
                      <m:e>
                        <m:sSub>
                          <m:sSubPr>
                            <m:ctrlPr>
                              <a:rPr lang="en-NZ" altLang="ja-JP" sz="1800" b="1" i="1" smtClean="0">
                                <a:solidFill>
                                  <a:prstClr val="black"/>
                                </a:solidFill>
                                <a:latin typeface="Cambria Math" panose="02040503050406030204" pitchFamily="18" charset="0"/>
                              </a:rPr>
                            </m:ctrlPr>
                          </m:sSubPr>
                          <m:e>
                            <m:r>
                              <a:rPr lang="en-NZ" altLang="ja-JP" sz="1800" b="1" i="1" smtClean="0">
                                <a:solidFill>
                                  <a:prstClr val="black"/>
                                </a:solidFill>
                                <a:latin typeface="Cambria Math" panose="02040503050406030204" pitchFamily="18" charset="0"/>
                              </a:rPr>
                              <m:t>𝒀</m:t>
                            </m:r>
                          </m:e>
                          <m:sub>
                            <m:r>
                              <a:rPr lang="en-NZ" altLang="ja-JP" sz="1800" b="1" i="1" smtClean="0">
                                <a:solidFill>
                                  <a:prstClr val="black"/>
                                </a:solidFill>
                                <a:latin typeface="Cambria Math" panose="02040503050406030204" pitchFamily="18" charset="0"/>
                              </a:rPr>
                              <m:t>𝟏</m:t>
                            </m:r>
                          </m:sub>
                        </m:sSub>
                      </m:e>
                    </m:acc>
                    <m:r>
                      <a:rPr lang="en-NZ" altLang="ja-JP" sz="1800" b="1" i="1" smtClean="0">
                        <a:solidFill>
                          <a:prstClr val="black"/>
                        </a:solidFill>
                        <a:latin typeface="Cambria Math" panose="02040503050406030204" pitchFamily="18" charset="0"/>
                      </a:rPr>
                      <m:t>+</m:t>
                    </m:r>
                    <m:acc>
                      <m:accPr>
                        <m:chr m:val="̂"/>
                        <m:ctrlPr>
                          <a:rPr lang="en-NZ" altLang="ja-JP" sz="1800" b="1" i="1">
                            <a:solidFill>
                              <a:prstClr val="black"/>
                            </a:solidFill>
                            <a:latin typeface="Cambria Math" panose="02040503050406030204" pitchFamily="18" charset="0"/>
                          </a:rPr>
                        </m:ctrlPr>
                      </m:accPr>
                      <m:e>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𝝐</m:t>
                            </m:r>
                          </m:e>
                          <m:sub>
                            <m:r>
                              <a:rPr lang="en-NZ" altLang="ja-JP" sz="1800" b="1" i="1">
                                <a:solidFill>
                                  <a:prstClr val="black"/>
                                </a:solidFill>
                                <a:latin typeface="Cambria Math" panose="02040503050406030204" pitchFamily="18" charset="0"/>
                              </a:rPr>
                              <m:t>𝟏</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acc>
                    <m:r>
                      <a:rPr lang="en-NZ" altLang="ja-JP" sz="1800" b="1" i="1" smtClean="0">
                        <a:solidFill>
                          <a:prstClr val="black"/>
                        </a:solidFill>
                        <a:latin typeface="Cambria Math" panose="02040503050406030204" pitchFamily="18" charset="0"/>
                      </a:rPr>
                      <m:t>,   </m:t>
                    </m:r>
                    <m:acc>
                      <m:accPr>
                        <m:chr m:val="̂"/>
                        <m:ctrlPr>
                          <a:rPr lang="en-NZ" altLang="ja-JP" sz="1800" b="1" i="1">
                            <a:solidFill>
                              <a:prstClr val="black"/>
                            </a:solidFill>
                            <a:latin typeface="Cambria Math" panose="02040503050406030204" pitchFamily="18" charset="0"/>
                          </a:rPr>
                        </m:ctrlPr>
                      </m:acc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𝒀</m:t>
                            </m:r>
                          </m:e>
                          <m:sub>
                            <m:r>
                              <a:rPr lang="en-NZ" altLang="ja-JP" sz="1800" b="1" i="1" smtClean="0">
                                <a:solidFill>
                                  <a:prstClr val="black"/>
                                </a:solidFill>
                                <a:latin typeface="Cambria Math" panose="02040503050406030204" pitchFamily="18" charset="0"/>
                              </a:rPr>
                              <m:t>𝟐</m:t>
                            </m:r>
                          </m:sub>
                        </m:sSub>
                      </m:e>
                    </m:acc>
                    <m:r>
                      <a:rPr lang="en-NZ" altLang="ja-JP" sz="1800" b="1" i="1" smtClean="0">
                        <a:solidFill>
                          <a:prstClr val="black"/>
                        </a:solidFill>
                        <a:latin typeface="Cambria Math" panose="02040503050406030204" pitchFamily="18" charset="0"/>
                      </a:rPr>
                      <m:t>+</m:t>
                    </m:r>
                    <m:acc>
                      <m:accPr>
                        <m:chr m:val="̂"/>
                        <m:ctrlPr>
                          <a:rPr lang="en-NZ" altLang="ja-JP" sz="1800" b="1" i="1">
                            <a:solidFill>
                              <a:prstClr val="black"/>
                            </a:solidFill>
                            <a:latin typeface="Cambria Math" panose="02040503050406030204" pitchFamily="18" charset="0"/>
                          </a:rPr>
                        </m:ctrlPr>
                      </m:accPr>
                      <m:e>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𝝐</m:t>
                            </m:r>
                          </m:e>
                          <m:sub>
                            <m:r>
                              <a:rPr lang="en-NZ" altLang="ja-JP" sz="1800" b="1" i="1">
                                <a:solidFill>
                                  <a:prstClr val="black"/>
                                </a:solidFill>
                                <a:latin typeface="Cambria Math" panose="02040503050406030204" pitchFamily="18" charset="0"/>
                              </a:rPr>
                              <m:t>𝟐</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acc>
                    <m:r>
                      <a:rPr lang="en-NZ" altLang="ja-JP" sz="1800" b="1" i="1" smtClean="0">
                        <a:solidFill>
                          <a:prstClr val="black"/>
                        </a:solidFill>
                        <a:latin typeface="Cambria Math" panose="02040503050406030204" pitchFamily="18" charset="0"/>
                      </a:rPr>
                      <m:t>,  …  ,</m:t>
                    </m:r>
                    <m:acc>
                      <m:accPr>
                        <m:chr m:val="̂"/>
                        <m:ctrlPr>
                          <a:rPr lang="en-NZ" altLang="ja-JP" sz="1800" b="1" i="1">
                            <a:solidFill>
                              <a:prstClr val="black"/>
                            </a:solidFill>
                            <a:latin typeface="Cambria Math" panose="02040503050406030204" pitchFamily="18" charset="0"/>
                          </a:rPr>
                        </m:ctrlPr>
                      </m:accPr>
                      <m:e>
                        <m:r>
                          <a:rPr lang="en-NZ" altLang="ja-JP" sz="1800" b="1" i="1" smtClean="0">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𝒀</m:t>
                            </m:r>
                          </m:e>
                          <m:sub>
                            <m:r>
                              <a:rPr lang="en-NZ" altLang="ja-JP" sz="1800" b="1" i="1" smtClean="0">
                                <a:solidFill>
                                  <a:prstClr val="black"/>
                                </a:solidFill>
                                <a:latin typeface="Cambria Math" panose="02040503050406030204" pitchFamily="18" charset="0"/>
                              </a:rPr>
                              <m:t>𝒏</m:t>
                            </m:r>
                          </m:sub>
                        </m:sSub>
                      </m:e>
                    </m:acc>
                    <m:r>
                      <a:rPr lang="en-NZ" altLang="ja-JP" sz="1800" b="1" i="1" smtClean="0">
                        <a:solidFill>
                          <a:prstClr val="black"/>
                        </a:solidFill>
                        <a:latin typeface="Cambria Math" panose="02040503050406030204" pitchFamily="18" charset="0"/>
                      </a:rPr>
                      <m:t>+</m:t>
                    </m:r>
                    <m:acc>
                      <m:accPr>
                        <m:chr m:val="̂"/>
                        <m:ctrlPr>
                          <a:rPr lang="en-NZ" altLang="ja-JP" sz="1800" b="1" i="1">
                            <a:solidFill>
                              <a:prstClr val="black"/>
                            </a:solidFill>
                            <a:latin typeface="Cambria Math" panose="02040503050406030204" pitchFamily="18" charset="0"/>
                          </a:rPr>
                        </m:ctrlPr>
                      </m:accPr>
                      <m:e>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𝝐</m:t>
                            </m:r>
                          </m:e>
                          <m:sub>
                            <m:r>
                              <a:rPr lang="en-NZ" altLang="ja-JP" sz="1800" b="1" i="1">
                                <a:solidFill>
                                  <a:prstClr val="black"/>
                                </a:solidFill>
                                <a:latin typeface="Cambria Math" panose="02040503050406030204" pitchFamily="18" charset="0"/>
                              </a:rPr>
                              <m:t>𝒏</m:t>
                            </m:r>
                          </m:sub>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bSup>
                      </m:e>
                    </m:acc>
                    <m:r>
                      <a:rPr lang="en-NZ" altLang="ja-JP" sz="1800" b="1" i="1" smtClean="0">
                        <a:solidFill>
                          <a:prstClr val="black"/>
                        </a:solidFill>
                        <a:latin typeface="Cambria Math" panose="02040503050406030204" pitchFamily="18" charset="0"/>
                      </a:rPr>
                      <m:t>)</m:t>
                    </m:r>
                  </m:oMath>
                </a14:m>
                <a:endParaRPr lang="en-NZ" altLang="ja-JP" sz="1800" dirty="0">
                  <a:solidFill>
                    <a:prstClr val="black"/>
                  </a:solidFill>
                </a:endParaRPr>
              </a:p>
            </p:txBody>
          </p:sp>
        </mc:Choice>
        <mc:Fallback>
          <p:sp>
            <p:nvSpPr>
              <p:cNvPr id="26" name="Text Placeholder 5">
                <a:extLst>
                  <a:ext uri="{FF2B5EF4-FFF2-40B4-BE49-F238E27FC236}">
                    <a16:creationId xmlns:a16="http://schemas.microsoft.com/office/drawing/2014/main" id="{17F12B70-100B-4421-9CB4-13A8FE8DB554}"/>
                  </a:ext>
                </a:extLst>
              </p:cNvPr>
              <p:cNvSpPr txBox="1">
                <a:spLocks noRot="1" noChangeAspect="1" noMove="1" noResize="1" noEditPoints="1" noAdjustHandles="1" noChangeArrowheads="1" noChangeShapeType="1" noTextEdit="1"/>
              </p:cNvSpPr>
              <p:nvPr/>
            </p:nvSpPr>
            <p:spPr>
              <a:xfrm>
                <a:off x="1138791" y="3292542"/>
                <a:ext cx="10055386" cy="818319"/>
              </a:xfrm>
              <a:prstGeom prst="rect">
                <a:avLst/>
              </a:prstGeom>
              <a:blipFill>
                <a:blip r:embed="rId6"/>
                <a:stretch>
                  <a:fillRect l="-546" t="-373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53DD6ACF-C89B-44F2-972C-7E2E792F0DB7}"/>
                  </a:ext>
                </a:extLst>
              </p:cNvPr>
              <p:cNvSpPr txBox="1">
                <a:spLocks/>
              </p:cNvSpPr>
              <p:nvPr/>
            </p:nvSpPr>
            <p:spPr>
              <a:xfrm>
                <a:off x="1138791" y="4248761"/>
                <a:ext cx="10055386" cy="96541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romanUcPeriod" startAt="3"/>
                  <a:defRPr/>
                </a:pPr>
                <a:r>
                  <a:rPr lang="en-NZ" altLang="ja-JP" sz="1800" dirty="0">
                    <a:solidFill>
                      <a:prstClr val="black"/>
                    </a:solidFill>
                  </a:rPr>
                  <a:t>Now considering the model   </a:t>
                </a:r>
                <a14:m>
                  <m:oMath xmlns:m="http://schemas.openxmlformats.org/officeDocument/2006/math">
                    <m:sSup>
                      <m:sSupPr>
                        <m:ctrlPr>
                          <a:rPr lang="en-NZ" altLang="ja-JP" sz="1800" b="1" i="1" smtClean="0">
                            <a:solidFill>
                              <a:prstClr val="black"/>
                            </a:solidFill>
                            <a:latin typeface="Cambria Math" panose="02040503050406030204" pitchFamily="18" charset="0"/>
                          </a:rPr>
                        </m:ctrlPr>
                      </m:sSupPr>
                      <m:e>
                        <m:bar>
                          <m:barPr>
                            <m:ctrlPr>
                              <a:rPr lang="en-NZ" altLang="ja-JP" sz="1800" b="1" i="1" smtClean="0">
                                <a:solidFill>
                                  <a:prstClr val="black"/>
                                </a:solidFill>
                                <a:latin typeface="Cambria Math" panose="02040503050406030204" pitchFamily="18" charset="0"/>
                              </a:rPr>
                            </m:ctrlPr>
                          </m:barPr>
                          <m:e>
                            <m:r>
                              <a:rPr lang="en-NZ" altLang="ja-JP" sz="1800" b="1" i="1" smtClean="0">
                                <a:solidFill>
                                  <a:prstClr val="black"/>
                                </a:solidFill>
                                <a:latin typeface="Cambria Math" panose="02040503050406030204" pitchFamily="18" charset="0"/>
                              </a:rPr>
                              <m:t>𝒀</m:t>
                            </m:r>
                          </m:e>
                        </m:bar>
                      </m:e>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𝑿</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𝜷</m:t>
                        </m:r>
                      </m:e>
                    </m:bar>
                    <m:r>
                      <a:rPr lang="en-NZ" altLang="ja-JP" sz="1800" b="1" i="1" smtClean="0">
                        <a:solidFill>
                          <a:schemeClr val="tx1"/>
                        </a:solidFill>
                        <a:latin typeface="Cambria Math" panose="02040503050406030204" pitchFamily="18" charset="0"/>
                      </a:rPr>
                      <m:t>+  </m:t>
                    </m:r>
                    <m:acc>
                      <m:accPr>
                        <m:chr m:val="̃"/>
                        <m:ctrlPr>
                          <a:rPr lang="en-NZ" altLang="ja-JP" sz="1800" b="1" i="1" smtClean="0">
                            <a:solidFill>
                              <a:schemeClr val="tx1"/>
                            </a:solidFill>
                            <a:latin typeface="Cambria Math" panose="02040503050406030204" pitchFamily="18" charset="0"/>
                          </a:rPr>
                        </m:ctrlPr>
                      </m:acc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𝝐</m:t>
                            </m:r>
                          </m:e>
                        </m:bar>
                      </m:e>
                    </m:acc>
                  </m:oMath>
                </a14:m>
                <a:r>
                  <a:rPr lang="en-NZ" altLang="ja-JP" sz="1800" dirty="0">
                    <a:solidFill>
                      <a:prstClr val="black"/>
                    </a:solidFill>
                  </a:rPr>
                  <a:t>     </a:t>
                </a:r>
                <a:br>
                  <a:rPr lang="en-NZ" altLang="ja-JP" sz="1800" dirty="0">
                    <a:solidFill>
                      <a:prstClr val="black"/>
                    </a:solidFill>
                  </a:rPr>
                </a:br>
                <a:r>
                  <a:rPr lang="en-NZ" altLang="ja-JP" sz="1800" dirty="0">
                    <a:solidFill>
                      <a:prstClr val="black"/>
                    </a:solidFill>
                  </a:rPr>
                  <a:t>calculate the new regression coefficients   </a:t>
                </a:r>
                <a14:m>
                  <m:oMath xmlns:m="http://schemas.openxmlformats.org/officeDocument/2006/math">
                    <m:sSup>
                      <m:sSupPr>
                        <m:ctrlPr>
                          <a:rPr lang="en-NZ" altLang="ja-JP" sz="1800" b="1" i="1" smtClean="0">
                            <a:solidFill>
                              <a:schemeClr val="tx1"/>
                            </a:solidFill>
                            <a:latin typeface="Cambria Math" panose="02040503050406030204" pitchFamily="18" charset="0"/>
                          </a:rPr>
                        </m:ctrlPr>
                      </m:sSupPr>
                      <m:e>
                        <m:acc>
                          <m:accPr>
                            <m:chr m:val="̂"/>
                            <m:ctrlPr>
                              <a:rPr lang="en-NZ" altLang="ja-JP" sz="1800" b="1" i="1">
                                <a:solidFill>
                                  <a:schemeClr val="tx1"/>
                                </a:solidFill>
                                <a:latin typeface="Cambria Math" panose="02040503050406030204" pitchFamily="18" charset="0"/>
                              </a:rPr>
                            </m:ctrlPr>
                          </m:acc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𝜷</m:t>
                                </m:r>
                              </m:e>
                            </m:bar>
                          </m:e>
                        </m:acc>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𝒊</m:t>
                        </m:r>
                      </m:sup>
                    </m:sSup>
                    <m:r>
                      <a:rPr lang="en-NZ" altLang="ja-JP" sz="1800" b="1" i="1">
                        <a:solidFill>
                          <a:schemeClr val="tx1"/>
                        </a:solidFill>
                        <a:latin typeface="Cambria Math" panose="02040503050406030204" pitchFamily="18" charset="0"/>
                      </a:rPr>
                      <m:t>  =  </m:t>
                    </m:r>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𝑿</m:t>
                                </m:r>
                              </m:e>
                              <m:sup>
                                <m:r>
                                  <a:rPr lang="en-NZ" altLang="ja-JP" sz="1800" b="1" i="1">
                                    <a:solidFill>
                                      <a:schemeClr val="tx1"/>
                                    </a:solidFill>
                                    <a:latin typeface="Cambria Math" panose="02040503050406030204" pitchFamily="18" charset="0"/>
                                  </a:rPr>
                                  <m:t>𝑻</m:t>
                                </m:r>
                              </m:sup>
                            </m:sSup>
                            <m:r>
                              <a:rPr lang="en-NZ" altLang="ja-JP" sz="1800" b="1" i="1">
                                <a:solidFill>
                                  <a:schemeClr val="tx1"/>
                                </a:solidFill>
                                <a:latin typeface="Cambria Math" panose="02040503050406030204" pitchFamily="18" charset="0"/>
                              </a:rPr>
                              <m:t>𝑿</m:t>
                            </m:r>
                          </m:e>
                        </m:d>
                      </m:e>
                      <m:sup>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p>
                    </m:sSup>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𝑿</m:t>
                        </m:r>
                      </m:e>
                      <m:sup>
                        <m:r>
                          <a:rPr lang="en-NZ" altLang="ja-JP" sz="1800" b="1" i="1">
                            <a:solidFill>
                              <a:schemeClr val="tx1"/>
                            </a:solidFill>
                            <a:latin typeface="Cambria Math" panose="02040503050406030204" pitchFamily="18" charset="0"/>
                          </a:rPr>
                          <m:t>𝑻</m:t>
                        </m:r>
                      </m:sup>
                    </m:sSup>
                    <m:sSup>
                      <m:sSupPr>
                        <m:ctrlPr>
                          <a:rPr lang="en-NZ" altLang="ja-JP" sz="1800" b="1" i="1">
                            <a:solidFill>
                              <a:prstClr val="black"/>
                            </a:solidFill>
                            <a:latin typeface="Cambria Math" panose="02040503050406030204" pitchFamily="18" charset="0"/>
                          </a:rPr>
                        </m:ctrlPr>
                      </m:sSupPr>
                      <m:e>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𝒀</m:t>
                            </m:r>
                          </m:e>
                        </m:bar>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oMath>
                </a14:m>
                <a:r>
                  <a:rPr lang="en-NZ" altLang="ja-JP" sz="1800" dirty="0">
                    <a:solidFill>
                      <a:prstClr val="black"/>
                    </a:solidFill>
                  </a:rPr>
                  <a:t>    and append to a results file.</a:t>
                </a:r>
              </a:p>
            </p:txBody>
          </p:sp>
        </mc:Choice>
        <mc:Fallback xmlns="">
          <p:sp>
            <p:nvSpPr>
              <p:cNvPr id="27" name="Text Placeholder 5">
                <a:extLst>
                  <a:ext uri="{FF2B5EF4-FFF2-40B4-BE49-F238E27FC236}">
                    <a16:creationId xmlns:a16="http://schemas.microsoft.com/office/drawing/2014/main" id="{53DD6ACF-C89B-44F2-972C-7E2E792F0DB7}"/>
                  </a:ext>
                </a:extLst>
              </p:cNvPr>
              <p:cNvSpPr txBox="1">
                <a:spLocks noRot="1" noChangeAspect="1" noMove="1" noResize="1" noEditPoints="1" noAdjustHandles="1" noChangeArrowheads="1" noChangeShapeType="1" noTextEdit="1"/>
              </p:cNvSpPr>
              <p:nvPr/>
            </p:nvSpPr>
            <p:spPr>
              <a:xfrm>
                <a:off x="1138791" y="4248761"/>
                <a:ext cx="10055386" cy="965412"/>
              </a:xfrm>
              <a:prstGeom prst="rect">
                <a:avLst/>
              </a:prstGeom>
              <a:blipFill>
                <a:blip r:embed="rId7"/>
                <a:stretch>
                  <a:fillRect l="-546" t="-189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2885DDC2-5AC0-497F-A65B-AF268FF53DA7}"/>
                  </a:ext>
                </a:extLst>
              </p:cNvPr>
              <p:cNvSpPr txBox="1">
                <a:spLocks/>
              </p:cNvSpPr>
              <p:nvPr/>
            </p:nvSpPr>
            <p:spPr>
              <a:xfrm>
                <a:off x="1252530" y="5499044"/>
                <a:ext cx="10657886" cy="9004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prstClr val="black"/>
                    </a:solidFill>
                  </a:rPr>
                  <a:t>The standard deviation of the elements of the collection   </a:t>
                </a:r>
                <a14:m>
                  <m:oMath xmlns:m="http://schemas.openxmlformats.org/officeDocument/2006/math">
                    <m:d>
                      <m:dPr>
                        <m:begChr m:val="{"/>
                        <m:endChr m:val="}"/>
                        <m:ctrlPr>
                          <a:rPr lang="en-NZ" altLang="ja-JP" sz="1800" i="1" smtClean="0">
                            <a:solidFill>
                              <a:prstClr val="black"/>
                            </a:solidFill>
                            <a:latin typeface="Cambria Math" panose="02040503050406030204" pitchFamily="18" charset="0"/>
                          </a:rPr>
                        </m:ctrlPr>
                      </m:dPr>
                      <m:e>
                        <m:sSup>
                          <m:sSupPr>
                            <m:ctrlPr>
                              <a:rPr lang="en-NZ" altLang="ja-JP" sz="1800" b="1" i="1">
                                <a:solidFill>
                                  <a:schemeClr val="tx1"/>
                                </a:solidFill>
                                <a:latin typeface="Cambria Math" panose="02040503050406030204" pitchFamily="18" charset="0"/>
                              </a:rPr>
                            </m:ctrlPr>
                          </m:sSupPr>
                          <m:e>
                            <m:acc>
                              <m:accPr>
                                <m:chr m:val="̂"/>
                                <m:ctrlPr>
                                  <a:rPr lang="en-NZ" altLang="ja-JP" sz="1800" b="1" i="1">
                                    <a:solidFill>
                                      <a:schemeClr val="tx1"/>
                                    </a:solidFill>
                                    <a:latin typeface="Cambria Math" panose="02040503050406030204" pitchFamily="18" charset="0"/>
                                  </a:rPr>
                                </m:ctrlPr>
                              </m:acc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𝜷</m:t>
                                    </m:r>
                                  </m:e>
                                </m:bar>
                              </m:e>
                            </m:acc>
                          </m:e>
                          <m:sup>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p>
                        </m:sSup>
                        <m:r>
                          <a:rPr lang="en-NZ" altLang="ja-JP" sz="1800" b="0" i="1" smtClean="0">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acc>
                              <m:accPr>
                                <m:chr m:val="̂"/>
                                <m:ctrlPr>
                                  <a:rPr lang="en-NZ" altLang="ja-JP" sz="1800" b="1" i="1">
                                    <a:solidFill>
                                      <a:schemeClr val="tx1"/>
                                    </a:solidFill>
                                    <a:latin typeface="Cambria Math" panose="02040503050406030204" pitchFamily="18" charset="0"/>
                                  </a:rPr>
                                </m:ctrlPr>
                              </m:acc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𝜷</m:t>
                                    </m:r>
                                  </m:e>
                                </m:bar>
                              </m:e>
                            </m:acc>
                          </m:e>
                          <m:sup>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r>
                          <a:rPr lang="en-NZ" altLang="ja-JP" sz="1800" b="0"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acc>
                              <m:accPr>
                                <m:chr m:val="̂"/>
                                <m:ctrlPr>
                                  <a:rPr lang="en-NZ" altLang="ja-JP" sz="1800" b="1" i="1">
                                    <a:solidFill>
                                      <a:schemeClr val="tx1"/>
                                    </a:solidFill>
                                    <a:latin typeface="Cambria Math" panose="02040503050406030204" pitchFamily="18" charset="0"/>
                                  </a:rPr>
                                </m:ctrlPr>
                              </m:acc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𝜷</m:t>
                                    </m:r>
                                  </m:e>
                                </m:bar>
                              </m:e>
                            </m:acc>
                          </m:e>
                          <m:sup>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𝑩</m:t>
                            </m:r>
                          </m:sup>
                        </m:sSup>
                      </m:e>
                    </m:d>
                  </m:oMath>
                </a14:m>
                <a:r>
                  <a:rPr lang="en-NZ" altLang="ja-JP" sz="1800" dirty="0">
                    <a:solidFill>
                      <a:prstClr val="black"/>
                    </a:solidFill>
                  </a:rPr>
                  <a:t>   can then be taken as </a:t>
                </a:r>
                <a:br>
                  <a:rPr lang="en-NZ" altLang="ja-JP" sz="1800" dirty="0">
                    <a:solidFill>
                      <a:prstClr val="black"/>
                    </a:solidFill>
                  </a:rPr>
                </a:br>
                <a:r>
                  <a:rPr lang="en-NZ" altLang="ja-JP" sz="1800" dirty="0">
                    <a:solidFill>
                      <a:prstClr val="black"/>
                    </a:solidFill>
                  </a:rPr>
                  <a:t>estimates of the standard error of the regression coefficients.  </a:t>
                </a:r>
                <a:endParaRPr lang="en-NZ" altLang="ja-JP" sz="1800" b="1" i="1" dirty="0">
                  <a:solidFill>
                    <a:prstClr val="black"/>
                  </a:solidFill>
                </a:endParaRPr>
              </a:p>
            </p:txBody>
          </p:sp>
        </mc:Choice>
        <mc:Fallback xmlns="">
          <p:sp>
            <p:nvSpPr>
              <p:cNvPr id="29" name="Text Placeholder 5">
                <a:extLst>
                  <a:ext uri="{FF2B5EF4-FFF2-40B4-BE49-F238E27FC236}">
                    <a16:creationId xmlns:a16="http://schemas.microsoft.com/office/drawing/2014/main" id="{2885DDC2-5AC0-497F-A65B-AF268FF53DA7}"/>
                  </a:ext>
                </a:extLst>
              </p:cNvPr>
              <p:cNvSpPr txBox="1">
                <a:spLocks noRot="1" noChangeAspect="1" noMove="1" noResize="1" noEditPoints="1" noAdjustHandles="1" noChangeArrowheads="1" noChangeShapeType="1" noTextEdit="1"/>
              </p:cNvSpPr>
              <p:nvPr/>
            </p:nvSpPr>
            <p:spPr>
              <a:xfrm>
                <a:off x="1252530" y="5499044"/>
                <a:ext cx="10657886" cy="900438"/>
              </a:xfrm>
              <a:prstGeom prst="rect">
                <a:avLst/>
              </a:prstGeom>
              <a:blipFill>
                <a:blip r:embed="rId8"/>
                <a:stretch>
                  <a:fillRect l="-457"/>
                </a:stretch>
              </a:blipFill>
            </p:spPr>
            <p:txBody>
              <a:bodyPr/>
              <a:lstStyle/>
              <a:p>
                <a:r>
                  <a:rPr lang="en-NZ">
                    <a:noFill/>
                  </a:rPr>
                  <a:t> </a:t>
                </a:r>
              </a:p>
            </p:txBody>
          </p:sp>
        </mc:Fallback>
      </mc:AlternateContent>
    </p:spTree>
    <p:extLst>
      <p:ext uri="{BB962C8B-B14F-4D97-AF65-F5344CB8AC3E}">
        <p14:creationId xmlns:p14="http://schemas.microsoft.com/office/powerpoint/2010/main" val="303432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P spid="24" grpId="0"/>
      <p:bldP spid="25" grpId="0"/>
      <p:bldP spid="26" grpId="0"/>
      <p:bldP spid="27" grpId="0"/>
      <p:bldP spid="2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Footer Placeholder 2">
            <a:extLst>
              <a:ext uri="{FF2B5EF4-FFF2-40B4-BE49-F238E27FC236}">
                <a16:creationId xmlns:a16="http://schemas.microsoft.com/office/drawing/2014/main" id="{65232B49-A219-453C-A7B1-01762A16A97C}"/>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7.4c</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3" name="Title 6">
            <a:extLst>
              <a:ext uri="{FF2B5EF4-FFF2-40B4-BE49-F238E27FC236}">
                <a16:creationId xmlns:a16="http://schemas.microsoft.com/office/drawing/2014/main" id="{E638A2DB-3614-413D-8BAB-FEC0801B7AFD}"/>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7.4c – Insurance Policy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214FD899-81AD-41C6-8CF1-0EDCADB18C3F}"/>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7.4 - Insurance Model (Bootstrapping Residuals Example)</a:t>
            </a:r>
            <a:r>
              <a:rPr lang="en-US" altLang="ja-JP" sz="1200" dirty="0">
                <a:solidFill>
                  <a:srgbClr val="C00000"/>
                </a:solidFill>
              </a:rPr>
              <a:t>.</a:t>
            </a:r>
            <a:endParaRPr lang="en-US" altLang="ja-JP" sz="1200" b="1" i="1" dirty="0">
              <a:solidFill>
                <a:srgbClr val="C00000"/>
              </a:solidFill>
            </a:endParaRPr>
          </a:p>
        </p:txBody>
      </p:sp>
      <p:graphicFrame>
        <p:nvGraphicFramePr>
          <p:cNvPr id="2" name="Table 1">
            <a:extLst>
              <a:ext uri="{FF2B5EF4-FFF2-40B4-BE49-F238E27FC236}">
                <a16:creationId xmlns:a16="http://schemas.microsoft.com/office/drawing/2014/main" id="{F0F5857B-30D2-460A-91C2-7675B3A4A0EC}"/>
              </a:ext>
            </a:extLst>
          </p:cNvPr>
          <p:cNvGraphicFramePr>
            <a:graphicFrameLocks noGrp="1"/>
          </p:cNvGraphicFramePr>
          <p:nvPr>
            <p:extLst>
              <p:ext uri="{D42A27DB-BD31-4B8C-83A1-F6EECF244321}">
                <p14:modId xmlns:p14="http://schemas.microsoft.com/office/powerpoint/2010/main" val="3945988257"/>
              </p:ext>
            </p:extLst>
          </p:nvPr>
        </p:nvGraphicFramePr>
        <p:xfrm>
          <a:off x="384697" y="1619480"/>
          <a:ext cx="4208469" cy="4563175"/>
        </p:xfrm>
        <a:graphic>
          <a:graphicData uri="http://schemas.openxmlformats.org/drawingml/2006/table">
            <a:tbl>
              <a:tblPr/>
              <a:tblGrid>
                <a:gridCol w="734442">
                  <a:extLst>
                    <a:ext uri="{9D8B030D-6E8A-4147-A177-3AD203B41FA5}">
                      <a16:colId xmlns:a16="http://schemas.microsoft.com/office/drawing/2014/main" val="3082478897"/>
                    </a:ext>
                  </a:extLst>
                </a:gridCol>
                <a:gridCol w="734442">
                  <a:extLst>
                    <a:ext uri="{9D8B030D-6E8A-4147-A177-3AD203B41FA5}">
                      <a16:colId xmlns:a16="http://schemas.microsoft.com/office/drawing/2014/main" val="56432358"/>
                    </a:ext>
                  </a:extLst>
                </a:gridCol>
                <a:gridCol w="341962">
                  <a:extLst>
                    <a:ext uri="{9D8B030D-6E8A-4147-A177-3AD203B41FA5}">
                      <a16:colId xmlns:a16="http://schemas.microsoft.com/office/drawing/2014/main" val="1165560294"/>
                    </a:ext>
                  </a:extLst>
                </a:gridCol>
                <a:gridCol w="497399">
                  <a:extLst>
                    <a:ext uri="{9D8B030D-6E8A-4147-A177-3AD203B41FA5}">
                      <a16:colId xmlns:a16="http://schemas.microsoft.com/office/drawing/2014/main" val="604661467"/>
                    </a:ext>
                  </a:extLst>
                </a:gridCol>
                <a:gridCol w="683926">
                  <a:extLst>
                    <a:ext uri="{9D8B030D-6E8A-4147-A177-3AD203B41FA5}">
                      <a16:colId xmlns:a16="http://schemas.microsoft.com/office/drawing/2014/main" val="4228163368"/>
                    </a:ext>
                  </a:extLst>
                </a:gridCol>
                <a:gridCol w="594548">
                  <a:extLst>
                    <a:ext uri="{9D8B030D-6E8A-4147-A177-3AD203B41FA5}">
                      <a16:colId xmlns:a16="http://schemas.microsoft.com/office/drawing/2014/main" val="2645983512"/>
                    </a:ext>
                  </a:extLst>
                </a:gridCol>
                <a:gridCol w="621750">
                  <a:extLst>
                    <a:ext uri="{9D8B030D-6E8A-4147-A177-3AD203B41FA5}">
                      <a16:colId xmlns:a16="http://schemas.microsoft.com/office/drawing/2014/main" val="3462405060"/>
                    </a:ext>
                  </a:extLst>
                </a:gridCol>
              </a:tblGrid>
              <a:tr h="414835">
                <a:tc>
                  <a:txBody>
                    <a:bodyPr/>
                    <a:lstStyle/>
                    <a:p>
                      <a:pPr algn="ctr" fontAlgn="ctr"/>
                      <a:r>
                        <a:rPr lang="en-NZ" sz="1100" b="1" i="0" u="none" strike="noStrike">
                          <a:solidFill>
                            <a:srgbClr val="FFFFFF"/>
                          </a:solidFill>
                          <a:effectLst/>
                          <a:latin typeface="Calibri" panose="020F0502020204030204" pitchFamily="34" charset="0"/>
                        </a:rPr>
                        <a:t> Client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dirty="0">
                          <a:solidFill>
                            <a:srgbClr val="FFFFFF"/>
                          </a:solidFill>
                          <a:effectLst/>
                          <a:latin typeface="Calibri" panose="020F0502020204030204" pitchFamily="34" charset="0"/>
                        </a:rPr>
                        <a:t> Charges (Y) $000s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Age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BMI</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Children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Sex</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Smoker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406879427"/>
                  </a:ext>
                </a:extLst>
              </a:tr>
              <a:tr h="207417">
                <a:tc>
                  <a:txBody>
                    <a:bodyPr/>
                    <a:lstStyle/>
                    <a:p>
                      <a:pPr algn="ctr" fontAlgn="ctr"/>
                      <a:r>
                        <a:rPr lang="en-NZ" sz="11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107.70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18.36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dirty="0">
                          <a:solidFill>
                            <a:srgbClr val="000000"/>
                          </a:solidFill>
                          <a:effectLst/>
                          <a:latin typeface="Calibri" panose="020F0502020204030204" pitchFamily="34" charset="0"/>
                        </a:rPr>
                        <a:t>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51349827"/>
                  </a:ext>
                </a:extLst>
              </a:tr>
              <a:tr h="207417">
                <a:tc>
                  <a:txBody>
                    <a:bodyPr/>
                    <a:lstStyle/>
                    <a:p>
                      <a:pPr algn="ctr" fontAlgn="ctr"/>
                      <a:r>
                        <a:rPr lang="en-NZ" sz="11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181.65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22.86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yes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328894847"/>
                  </a:ext>
                </a:extLst>
              </a:tr>
              <a:tr h="207417">
                <a:tc>
                  <a:txBody>
                    <a:bodyPr/>
                    <a:lstStyle/>
                    <a:p>
                      <a:pPr algn="ctr" fontAlgn="ctr"/>
                      <a:r>
                        <a:rPr lang="en-NZ" sz="11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178.53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27.18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27946695"/>
                  </a:ext>
                </a:extLst>
              </a:tr>
              <a:tr h="207417">
                <a:tc>
                  <a:txBody>
                    <a:bodyPr/>
                    <a:lstStyle/>
                    <a:p>
                      <a:pPr algn="ctr" fontAlgn="ctr"/>
                      <a:r>
                        <a:rPr lang="en-NZ" sz="11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157.68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yes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688625251"/>
                  </a:ext>
                </a:extLst>
              </a:tr>
              <a:tr h="207417">
                <a:tc>
                  <a:txBody>
                    <a:bodyPr/>
                    <a:lstStyle/>
                    <a:p>
                      <a:pPr algn="ctr" fontAlgn="ctr"/>
                      <a:r>
                        <a:rPr lang="en-NZ" sz="11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181.67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26.73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557694560"/>
                  </a:ext>
                </a:extLst>
              </a:tr>
              <a:tr h="207417">
                <a:tc>
                  <a:txBody>
                    <a:bodyPr/>
                    <a:lstStyle/>
                    <a:p>
                      <a:pPr algn="ctr" fontAlgn="ctr"/>
                      <a:r>
                        <a:rPr lang="en-NZ" sz="11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117.95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16.95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24298888"/>
                  </a:ext>
                </a:extLst>
              </a:tr>
              <a:tr h="207417">
                <a:tc>
                  <a:txBody>
                    <a:bodyPr/>
                    <a:lstStyle/>
                    <a:p>
                      <a:pPr algn="ctr" fontAlgn="ctr"/>
                      <a:r>
                        <a:rPr lang="en-NZ" sz="11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191.09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30.36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676717602"/>
                  </a:ext>
                </a:extLst>
              </a:tr>
              <a:tr h="207417">
                <a:tc>
                  <a:txBody>
                    <a:bodyPr/>
                    <a:lstStyle/>
                    <a:p>
                      <a:pPr algn="ctr" fontAlgn="ctr"/>
                      <a:r>
                        <a:rPr lang="en-NZ" sz="11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96.87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16.24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51641479"/>
                  </a:ext>
                </a:extLst>
              </a:tr>
              <a:tr h="207417">
                <a:tc>
                  <a:txBody>
                    <a:bodyPr/>
                    <a:lstStyle/>
                    <a:p>
                      <a:pPr algn="ctr" fontAlgn="ctr"/>
                      <a:r>
                        <a:rPr lang="en-NZ" sz="11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113.98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19.24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38855573"/>
                  </a:ext>
                </a:extLst>
              </a:tr>
              <a:tr h="207417">
                <a:tc>
                  <a:txBody>
                    <a:bodyPr/>
                    <a:lstStyle/>
                    <a:p>
                      <a:pPr algn="ctr" fontAlgn="ctr"/>
                      <a:r>
                        <a:rPr lang="en-NZ" sz="11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109.54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16.14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262082702"/>
                  </a:ext>
                </a:extLst>
              </a:tr>
              <a:tr h="207417">
                <a:tc>
                  <a:txBody>
                    <a:bodyPr/>
                    <a:lstStyle/>
                    <a:p>
                      <a:pPr algn="ctr" fontAlgn="ctr"/>
                      <a:r>
                        <a:rPr lang="en-NZ" sz="11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184.02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27.01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83109119"/>
                  </a:ext>
                </a:extLst>
              </a:tr>
              <a:tr h="207417">
                <a:tc>
                  <a:txBody>
                    <a:bodyPr/>
                    <a:lstStyle/>
                    <a:p>
                      <a:pPr algn="ctr" fontAlgn="ctr"/>
                      <a:r>
                        <a:rPr lang="en-NZ" sz="11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217.17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32963261"/>
                  </a:ext>
                </a:extLst>
              </a:tr>
              <a:tr h="207417">
                <a:tc>
                  <a:txBody>
                    <a:bodyPr/>
                    <a:lstStyle/>
                    <a:p>
                      <a:pPr algn="ctr" fontAlgn="ctr"/>
                      <a:r>
                        <a:rPr lang="en-NZ" sz="11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158.67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306573609"/>
                  </a:ext>
                </a:extLst>
              </a:tr>
              <a:tr h="207417">
                <a:tc>
                  <a:txBody>
                    <a:bodyPr/>
                    <a:lstStyle/>
                    <a:p>
                      <a:pPr algn="ctr" fontAlgn="ctr"/>
                      <a:r>
                        <a:rPr lang="en-NZ" sz="11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181.40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28.78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37078749"/>
                  </a:ext>
                </a:extLst>
              </a:tr>
              <a:tr h="207417">
                <a:tc>
                  <a:txBody>
                    <a:bodyPr/>
                    <a:lstStyle/>
                    <a:p>
                      <a:pPr algn="ctr" fontAlgn="ctr"/>
                      <a:r>
                        <a:rPr lang="en-NZ" sz="11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233.25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32.15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yes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92502879"/>
                  </a:ext>
                </a:extLst>
              </a:tr>
              <a:tr h="207417">
                <a:tc>
                  <a:txBody>
                    <a:bodyPr/>
                    <a:lstStyle/>
                    <a:p>
                      <a:pPr algn="ctr" fontAlgn="ctr"/>
                      <a:r>
                        <a:rPr lang="en-NZ" sz="11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154.95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22.05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yes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71860293"/>
                  </a:ext>
                </a:extLst>
              </a:tr>
              <a:tr h="207417">
                <a:tc>
                  <a:txBody>
                    <a:bodyPr/>
                    <a:lstStyle/>
                    <a:p>
                      <a:pPr algn="ctr" fontAlgn="ctr"/>
                      <a:r>
                        <a:rPr lang="en-NZ" sz="11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169.29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25.67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884081342"/>
                  </a:ext>
                </a:extLst>
              </a:tr>
              <a:tr h="207417">
                <a:tc>
                  <a:txBody>
                    <a:bodyPr/>
                    <a:lstStyle/>
                    <a:p>
                      <a:pPr algn="ctr" fontAlgn="ctr"/>
                      <a:r>
                        <a:rPr lang="en-NZ" sz="11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224.75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67302554"/>
                  </a:ext>
                </a:extLst>
              </a:tr>
              <a:tr h="207417">
                <a:tc>
                  <a:txBody>
                    <a:bodyPr/>
                    <a:lstStyle/>
                    <a:p>
                      <a:pPr algn="ctr" fontAlgn="ctr"/>
                      <a:r>
                        <a:rPr lang="en-NZ" sz="11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207.18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28.35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yes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79341834"/>
                  </a:ext>
                </a:extLst>
              </a:tr>
              <a:tr h="207417">
                <a:tc>
                  <a:txBody>
                    <a:bodyPr/>
                    <a:lstStyle/>
                    <a:p>
                      <a:pPr algn="ctr" fontAlgn="ctr"/>
                      <a:r>
                        <a:rPr lang="en-NZ" sz="1100" b="0" i="0" u="none" strike="noStrike">
                          <a:solidFill>
                            <a:srgbClr val="000000"/>
                          </a:solidFill>
                          <a:effectLst/>
                          <a:latin typeface="Calibri" panose="020F0502020204030204" pitchFamily="34" charset="0"/>
                        </a:rPr>
                        <a:t>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 $  122.00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19.68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female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dirty="0">
                          <a:solidFill>
                            <a:srgbClr val="000000"/>
                          </a:solidFill>
                          <a:effectLst/>
                          <a:latin typeface="Calibri" panose="020F050202020403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278482490"/>
                  </a:ext>
                </a:extLst>
              </a:tr>
            </a:tbl>
          </a:graphicData>
        </a:graphic>
      </p:graphicFrame>
      <p:sp>
        <p:nvSpPr>
          <p:cNvPr id="9" name="Text Placeholder 5">
            <a:extLst>
              <a:ext uri="{FF2B5EF4-FFF2-40B4-BE49-F238E27FC236}">
                <a16:creationId xmlns:a16="http://schemas.microsoft.com/office/drawing/2014/main" id="{6BC47DE8-C9E9-46A4-A065-AAEB5CA15427}"/>
              </a:ext>
            </a:extLst>
          </p:cNvPr>
          <p:cNvSpPr txBox="1">
            <a:spLocks/>
          </p:cNvSpPr>
          <p:nvPr/>
        </p:nvSpPr>
        <p:spPr>
          <a:xfrm>
            <a:off x="384697" y="897266"/>
            <a:ext cx="11524537"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chemeClr val="accent1"/>
                </a:solidFill>
                <a:latin typeface="Calibri" panose="020F0502020204030204"/>
                <a:ea typeface="游ゴシック" panose="020B0400000000000000" pitchFamily="34" charset="-128"/>
              </a:rPr>
              <a:t>Data on 1,338 medical insurance policies issued in the USA were collected. There is interest in understanding the pattern of billing  for medical costs by health insurance companies. The variables in  the dataset are:</a:t>
            </a:r>
            <a:endParaRPr kumimoji="1" lang="en-NZ" altLang="ja-JP" sz="1600" b="0" i="1" u="none" strike="noStrike" kern="1200" cap="none" spc="0" normalizeH="0" baseline="0" noProof="0" dirty="0">
              <a:ln>
                <a:noFill/>
              </a:ln>
              <a:solidFill>
                <a:schemeClr val="accent1"/>
              </a:solidFill>
              <a:effectLst/>
              <a:uLnTx/>
              <a:uFillTx/>
              <a:latin typeface="Calibri" panose="020F0502020204030204"/>
              <a:ea typeface="游ゴシック" panose="020B0400000000000000" pitchFamily="34" charset="-128"/>
            </a:endParaRPr>
          </a:p>
        </p:txBody>
      </p:sp>
      <p:sp>
        <p:nvSpPr>
          <p:cNvPr id="12" name="Text Placeholder 5">
            <a:extLst>
              <a:ext uri="{FF2B5EF4-FFF2-40B4-BE49-F238E27FC236}">
                <a16:creationId xmlns:a16="http://schemas.microsoft.com/office/drawing/2014/main" id="{DE9856C0-A018-4168-94F9-28B231B9FB77}"/>
              </a:ext>
            </a:extLst>
          </p:cNvPr>
          <p:cNvSpPr txBox="1">
            <a:spLocks/>
          </p:cNvSpPr>
          <p:nvPr/>
        </p:nvSpPr>
        <p:spPr>
          <a:xfrm>
            <a:off x="4961262" y="1866928"/>
            <a:ext cx="6639499" cy="15868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600" i="1" dirty="0">
                <a:solidFill>
                  <a:srgbClr val="C00000"/>
                </a:solidFill>
                <a:latin typeface="Calibri" panose="020F0502020204030204"/>
                <a:ea typeface="游ゴシック" panose="020B0400000000000000" pitchFamily="34" charset="-128"/>
              </a:rPr>
              <a:t>C</a:t>
            </a:r>
            <a:r>
              <a:rPr kumimoji="1" lang="en-NZ" altLang="ja-JP" sz="1600" b="0" i="1"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harges</a:t>
            </a:r>
            <a:r>
              <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(Y): </a:t>
            </a:r>
            <a:r>
              <a:rPr kumimoji="1" lang="en-NZ" altLang="ja-JP" sz="16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Individual medical costs billed by health insurance ($1000s)</a:t>
            </a:r>
          </a:p>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600" i="1" dirty="0">
                <a:solidFill>
                  <a:srgbClr val="C00000"/>
                </a:solidFill>
                <a:latin typeface="Calibri" panose="020F0502020204030204"/>
                <a:ea typeface="游ゴシック" panose="020B0400000000000000" pitchFamily="34" charset="-128"/>
              </a:rPr>
              <a:t>A</a:t>
            </a:r>
            <a:r>
              <a:rPr kumimoji="1" lang="en-NZ" altLang="ja-JP" sz="1600" b="0" i="1"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ge</a:t>
            </a:r>
            <a:r>
              <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Age of primary beneficiary </a:t>
            </a:r>
          </a:p>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600" i="1" dirty="0">
                <a:solidFill>
                  <a:srgbClr val="C00000"/>
                </a:solidFill>
                <a:latin typeface="Calibri" panose="020F0502020204030204"/>
                <a:ea typeface="游ゴシック" panose="020B0400000000000000" pitchFamily="34" charset="-128"/>
              </a:rPr>
              <a:t>BMI: </a:t>
            </a:r>
            <a:r>
              <a:rPr kumimoji="1" lang="en-NZ" altLang="ja-JP" sz="16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Body mass index (weight/height^2) of primary beneficiary</a:t>
            </a:r>
          </a:p>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600" i="1" dirty="0">
                <a:solidFill>
                  <a:srgbClr val="C00000"/>
                </a:solidFill>
                <a:latin typeface="Calibri" panose="020F0502020204030204"/>
                <a:ea typeface="游ゴシック" panose="020B0400000000000000" pitchFamily="34" charset="-128"/>
              </a:rPr>
              <a:t>C</a:t>
            </a:r>
            <a:r>
              <a:rPr kumimoji="1" lang="en-NZ" altLang="ja-JP" sz="1600" b="0" i="1"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hildren</a:t>
            </a:r>
            <a:r>
              <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Number of dependent children covered by health insurance</a:t>
            </a:r>
          </a:p>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600" i="1" dirty="0">
                <a:solidFill>
                  <a:srgbClr val="C00000"/>
                </a:solidFill>
                <a:latin typeface="Calibri" panose="020F0502020204030204"/>
                <a:ea typeface="游ゴシック" panose="020B0400000000000000" pitchFamily="34" charset="-128"/>
              </a:rPr>
              <a:t>S</a:t>
            </a:r>
            <a:r>
              <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ex: </a:t>
            </a:r>
            <a:r>
              <a:rPr kumimoji="1" lang="en-NZ" altLang="ja-JP" sz="16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Gender of insurance contractor (female, male)</a:t>
            </a:r>
          </a:p>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600" i="1" dirty="0">
                <a:solidFill>
                  <a:srgbClr val="C00000"/>
                </a:solidFill>
                <a:latin typeface="Calibri" panose="020F0502020204030204"/>
                <a:ea typeface="游ゴシック" panose="020B0400000000000000" pitchFamily="34" charset="-128"/>
              </a:rPr>
              <a:t>S</a:t>
            </a:r>
            <a:r>
              <a:rPr kumimoji="1" lang="en-NZ" altLang="ja-JP" sz="1600" b="0" i="1"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moker</a:t>
            </a:r>
            <a:r>
              <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Current smoking status of primary beneficiary (yes, no)</a:t>
            </a:r>
          </a:p>
        </p:txBody>
      </p:sp>
      <p:sp>
        <p:nvSpPr>
          <p:cNvPr id="17" name="Text Placeholder 5">
            <a:extLst>
              <a:ext uri="{FF2B5EF4-FFF2-40B4-BE49-F238E27FC236}">
                <a16:creationId xmlns:a16="http://schemas.microsoft.com/office/drawing/2014/main" id="{2411262F-2F45-4F85-ADEE-EB1CA4D2D679}"/>
              </a:ext>
            </a:extLst>
          </p:cNvPr>
          <p:cNvSpPr txBox="1">
            <a:spLocks/>
          </p:cNvSpPr>
          <p:nvPr/>
        </p:nvSpPr>
        <p:spPr>
          <a:xfrm>
            <a:off x="4961262" y="3870630"/>
            <a:ext cx="6947971" cy="18561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l" defTabSz="914324" rtl="0" eaLnBrk="1" fontAlgn="auto" latinLnBrk="0" hangingPunct="1">
              <a:lnSpc>
                <a:spcPct val="100000"/>
              </a:lnSpc>
              <a:spcBef>
                <a:spcPts val="0"/>
              </a:spcBef>
              <a:spcAft>
                <a:spcPts val="0"/>
              </a:spcAft>
              <a:buClrTx/>
              <a:buSzTx/>
              <a:buFont typeface="+mj-lt"/>
              <a:buAutoNum type="romanUcPeriod"/>
              <a:tabLst/>
              <a:defRPr/>
            </a:pPr>
            <a:r>
              <a:rPr lang="en-NZ" altLang="ja-JP" sz="1800" dirty="0">
                <a:solidFill>
                  <a:srgbClr val="0070C0"/>
                </a:solidFill>
                <a:latin typeface="Calibri" panose="020F0502020204030204"/>
                <a:ea typeface="游ゴシック" panose="020B0400000000000000" pitchFamily="34" charset="-128"/>
              </a:rPr>
              <a:t>Construct a linear model of Charges as a function of the other five variables (plus intercept).</a:t>
            </a:r>
          </a:p>
          <a:p>
            <a:pPr marL="400050" marR="0" lvl="0" indent="-400050" algn="l" defTabSz="914324" rtl="0" eaLnBrk="1" fontAlgn="auto" latinLnBrk="0" hangingPunct="1">
              <a:lnSpc>
                <a:spcPct val="100000"/>
              </a:lnSpc>
              <a:spcBef>
                <a:spcPts val="0"/>
              </a:spcBef>
              <a:spcAft>
                <a:spcPts val="0"/>
              </a:spcAft>
              <a:buClrTx/>
              <a:buSzTx/>
              <a:buFont typeface="+mj-lt"/>
              <a:buAutoNum type="romanUcPeriod"/>
              <a:tabLst/>
              <a:defRPr/>
            </a:pPr>
            <a:endParaRPr kumimoji="1" lang="en-NZ" altLang="ja-JP" sz="18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400050" marR="0" lvl="0" indent="-400050" algn="l" defTabSz="914324" rtl="0" eaLnBrk="1" fontAlgn="auto" latinLnBrk="0" hangingPunct="1">
              <a:lnSpc>
                <a:spcPct val="100000"/>
              </a:lnSpc>
              <a:spcBef>
                <a:spcPts val="0"/>
              </a:spcBef>
              <a:spcAft>
                <a:spcPts val="0"/>
              </a:spcAft>
              <a:buClrTx/>
              <a:buSzTx/>
              <a:buFont typeface="+mj-lt"/>
              <a:buAutoNum type="romanUcPeriod"/>
              <a:tabLst/>
              <a:defRPr/>
            </a:pPr>
            <a:r>
              <a:rPr lang="en-NZ" altLang="ja-JP" sz="1800" dirty="0">
                <a:solidFill>
                  <a:srgbClr val="0070C0"/>
                </a:solidFill>
                <a:latin typeface="Calibri" panose="020F0502020204030204"/>
                <a:ea typeface="游ゴシック" panose="020B0400000000000000" pitchFamily="34" charset="-128"/>
              </a:rPr>
              <a:t>Estimate the standard error of the regression coefficients produced</a:t>
            </a:r>
          </a:p>
          <a:p>
            <a:pPr marL="400050" marR="0" lvl="0" indent="-400050" algn="l" defTabSz="914324" rtl="0" eaLnBrk="1" fontAlgn="auto" latinLnBrk="0" hangingPunct="1">
              <a:lnSpc>
                <a:spcPct val="100000"/>
              </a:lnSpc>
              <a:spcBef>
                <a:spcPts val="0"/>
              </a:spcBef>
              <a:spcAft>
                <a:spcPts val="0"/>
              </a:spcAft>
              <a:buClrTx/>
              <a:buSzTx/>
              <a:buFont typeface="+mj-lt"/>
              <a:buAutoNum type="romanUcPeriod"/>
              <a:tabLst/>
              <a:defRPr/>
            </a:pPr>
            <a:endParaRPr kumimoji="1" lang="en-NZ" altLang="ja-JP" sz="18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400050" marR="0" lvl="0" indent="-400050" algn="l"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Construct a 95% confidence interval for </a:t>
            </a:r>
            <a:r>
              <a:rPr lang="en-NZ" altLang="ja-JP" sz="1800" dirty="0">
                <a:solidFill>
                  <a:srgbClr val="0070C0"/>
                </a:solidFill>
                <a:latin typeface="Calibri" panose="020F0502020204030204"/>
                <a:ea typeface="游ゴシック" panose="020B0400000000000000" pitchFamily="34" charset="-128"/>
              </a:rPr>
              <a:t>each regression coefficient.</a:t>
            </a:r>
            <a:endPar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355184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Footer Placeholder 2">
            <a:extLst>
              <a:ext uri="{FF2B5EF4-FFF2-40B4-BE49-F238E27FC236}">
                <a16:creationId xmlns:a16="http://schemas.microsoft.com/office/drawing/2014/main" id="{65232B49-A219-453C-A7B1-01762A16A97C}"/>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7.4c</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3" name="Title 6">
            <a:extLst>
              <a:ext uri="{FF2B5EF4-FFF2-40B4-BE49-F238E27FC236}">
                <a16:creationId xmlns:a16="http://schemas.microsoft.com/office/drawing/2014/main" id="{E638A2DB-3614-413D-8BAB-FEC0801B7AFD}"/>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7.4c – Insurance Policy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214FD899-81AD-41C6-8CF1-0EDCADB18C3F}"/>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7.4 - Insurance Model (Bootstrapping Residuals Example)</a:t>
            </a:r>
            <a:r>
              <a:rPr lang="en-US" altLang="ja-JP" sz="1200" dirty="0">
                <a:solidFill>
                  <a:srgbClr val="C00000"/>
                </a:solidFill>
              </a:rPr>
              <a:t>.</a:t>
            </a:r>
            <a:endParaRPr lang="en-US" altLang="ja-JP" sz="1200" b="1" i="1" dirty="0">
              <a:solidFill>
                <a:srgbClr val="C00000"/>
              </a:solidFill>
            </a:endParaRPr>
          </a:p>
        </p:txBody>
      </p:sp>
      <p:sp>
        <p:nvSpPr>
          <p:cNvPr id="19" name="Text Placeholder 5">
            <a:extLst>
              <a:ext uri="{FF2B5EF4-FFF2-40B4-BE49-F238E27FC236}">
                <a16:creationId xmlns:a16="http://schemas.microsoft.com/office/drawing/2014/main" id="{05A15012-5E33-49BB-8098-1ADBBD5C90FD}"/>
              </a:ext>
            </a:extLst>
          </p:cNvPr>
          <p:cNvSpPr txBox="1">
            <a:spLocks/>
          </p:cNvSpPr>
          <p:nvPr/>
        </p:nvSpPr>
        <p:spPr>
          <a:xfrm>
            <a:off x="491929" y="2840202"/>
            <a:ext cx="3229220" cy="40131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002060"/>
                </a:solidFill>
                <a:latin typeface="Calibri" panose="020F0502020204030204"/>
                <a:ea typeface="游ゴシック" panose="020B0400000000000000" pitchFamily="34" charset="-128"/>
              </a:rPr>
              <a:t>Model Coefficients </a:t>
            </a:r>
            <a:endParaRPr kumimoji="1" lang="en-NZ" altLang="ja-JP" sz="1600" b="1" i="1" u="none" strike="noStrike" kern="1200" cap="none" spc="0" normalizeH="0" baseline="0" noProof="0" dirty="0">
              <a:ln>
                <a:noFill/>
              </a:ln>
              <a:solidFill>
                <a:srgbClr val="002060"/>
              </a:solidFill>
              <a:effectLst/>
              <a:uLnTx/>
              <a:uFillTx/>
              <a:latin typeface="Calibri" panose="020F0502020204030204"/>
              <a:ea typeface="游ゴシック" panose="020B0400000000000000" pitchFamily="34" charset="-128"/>
              <a:cs typeface="+mn-cs"/>
            </a:endParaRPr>
          </a:p>
        </p:txBody>
      </p:sp>
      <p:graphicFrame>
        <p:nvGraphicFramePr>
          <p:cNvPr id="14" name="Table 13">
            <a:extLst>
              <a:ext uri="{FF2B5EF4-FFF2-40B4-BE49-F238E27FC236}">
                <a16:creationId xmlns:a16="http://schemas.microsoft.com/office/drawing/2014/main" id="{8D77DA96-1B5E-4967-AB36-3BAE4749A6F1}"/>
              </a:ext>
            </a:extLst>
          </p:cNvPr>
          <p:cNvGraphicFramePr>
            <a:graphicFrameLocks noGrp="1"/>
          </p:cNvGraphicFramePr>
          <p:nvPr>
            <p:extLst>
              <p:ext uri="{D42A27DB-BD31-4B8C-83A1-F6EECF244321}">
                <p14:modId xmlns:p14="http://schemas.microsoft.com/office/powerpoint/2010/main" val="2244800"/>
              </p:ext>
            </p:extLst>
          </p:nvPr>
        </p:nvGraphicFramePr>
        <p:xfrm>
          <a:off x="491929" y="3267955"/>
          <a:ext cx="3229220" cy="2709762"/>
        </p:xfrm>
        <a:graphic>
          <a:graphicData uri="http://schemas.openxmlformats.org/drawingml/2006/table">
            <a:tbl>
              <a:tblPr/>
              <a:tblGrid>
                <a:gridCol w="1605833">
                  <a:extLst>
                    <a:ext uri="{9D8B030D-6E8A-4147-A177-3AD203B41FA5}">
                      <a16:colId xmlns:a16="http://schemas.microsoft.com/office/drawing/2014/main" val="335566975"/>
                    </a:ext>
                  </a:extLst>
                </a:gridCol>
                <a:gridCol w="1623387">
                  <a:extLst>
                    <a:ext uri="{9D8B030D-6E8A-4147-A177-3AD203B41FA5}">
                      <a16:colId xmlns:a16="http://schemas.microsoft.com/office/drawing/2014/main" val="3051247752"/>
                    </a:ext>
                  </a:extLst>
                </a:gridCol>
              </a:tblGrid>
              <a:tr h="506034">
                <a:tc>
                  <a:txBody>
                    <a:bodyPr/>
                    <a:lstStyle/>
                    <a:p>
                      <a:pPr algn="ctr" fontAlgn="ctr"/>
                      <a:r>
                        <a:rPr lang="en-NZ" sz="1800" b="1" i="0" u="none" strike="noStrike" dirty="0">
                          <a:solidFill>
                            <a:srgbClr val="FFFFFF"/>
                          </a:solidFill>
                          <a:effectLst/>
                          <a:latin typeface="Calibri" panose="020F0502020204030204" pitchFamily="34" charset="0"/>
                        </a:rPr>
                        <a:t> Variable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a:solidFill>
                            <a:srgbClr val="FFFFFF"/>
                          </a:solidFill>
                          <a:effectLst/>
                          <a:latin typeface="Calibri" panose="020F0502020204030204" pitchFamily="34" charset="0"/>
                        </a:rPr>
                        <a:t>Coefficient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003522474"/>
                  </a:ext>
                </a:extLst>
              </a:tr>
              <a:tr h="367288">
                <a:tc>
                  <a:txBody>
                    <a:bodyPr/>
                    <a:lstStyle/>
                    <a:p>
                      <a:pPr algn="ctr" fontAlgn="ctr"/>
                      <a:r>
                        <a:rPr lang="en-NZ" sz="1800" b="0" i="0" u="none" strike="noStrike" dirty="0">
                          <a:solidFill>
                            <a:srgbClr val="000000"/>
                          </a:solidFill>
                          <a:effectLst/>
                          <a:latin typeface="Calibri" panose="020F0502020204030204" pitchFamily="34" charset="0"/>
                        </a:rPr>
                        <a:t>Intercept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-18.193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718984867"/>
                  </a:ext>
                </a:extLst>
              </a:tr>
              <a:tr h="367288">
                <a:tc>
                  <a:txBody>
                    <a:bodyPr/>
                    <a:lstStyle/>
                    <a:p>
                      <a:pPr algn="ctr" fontAlgn="ctr"/>
                      <a:r>
                        <a:rPr lang="en-NZ" sz="1800" b="0" i="0" u="none" strike="noStrike" dirty="0">
                          <a:solidFill>
                            <a:srgbClr val="000000"/>
                          </a:solidFill>
                          <a:effectLst/>
                          <a:latin typeface="Calibri" panose="020F0502020204030204" pitchFamily="34" charset="0"/>
                        </a:rPr>
                        <a:t>Age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0.009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172654127"/>
                  </a:ext>
                </a:extLst>
              </a:tr>
              <a:tr h="367288">
                <a:tc>
                  <a:txBody>
                    <a:bodyPr/>
                    <a:lstStyle/>
                    <a:p>
                      <a:pPr algn="ctr" fontAlgn="ctr"/>
                      <a:r>
                        <a:rPr lang="en-NZ" sz="1800" b="0" i="0" u="none" strike="noStrike">
                          <a:solidFill>
                            <a:srgbClr val="000000"/>
                          </a:solidFill>
                          <a:effectLst/>
                          <a:latin typeface="Calibri" panose="020F0502020204030204" pitchFamily="34" charset="0"/>
                        </a:rPr>
                        <a:t>BMI</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6.789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59509051"/>
                  </a:ext>
                </a:extLst>
              </a:tr>
              <a:tr h="367288">
                <a:tc>
                  <a:txBody>
                    <a:bodyPr/>
                    <a:lstStyle/>
                    <a:p>
                      <a:pPr algn="ctr" fontAlgn="ctr"/>
                      <a:r>
                        <a:rPr lang="en-NZ" sz="1800" b="0" i="0" u="none" strike="noStrike" dirty="0">
                          <a:solidFill>
                            <a:srgbClr val="000000"/>
                          </a:solidFill>
                          <a:effectLst/>
                          <a:latin typeface="Calibri" panose="020F0502020204030204" pitchFamily="34" charset="0"/>
                        </a:rPr>
                        <a:t>Children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4.982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528683980"/>
                  </a:ext>
                </a:extLst>
              </a:tr>
              <a:tr h="367288">
                <a:tc>
                  <a:txBody>
                    <a:bodyPr/>
                    <a:lstStyle/>
                    <a:p>
                      <a:pPr algn="ctr" fontAlgn="ctr"/>
                      <a:r>
                        <a:rPr lang="en-NZ" sz="1800" b="0" i="0" u="none" strike="noStrike" dirty="0">
                          <a:solidFill>
                            <a:srgbClr val="000000"/>
                          </a:solidFill>
                          <a:effectLst/>
                          <a:latin typeface="Calibri" panose="020F0502020204030204" pitchFamily="34" charset="0"/>
                        </a:rPr>
                        <a:t>Sex = M</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1.523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239975299"/>
                  </a:ext>
                </a:extLst>
              </a:tr>
              <a:tr h="367288">
                <a:tc>
                  <a:txBody>
                    <a:bodyPr/>
                    <a:lstStyle/>
                    <a:p>
                      <a:pPr algn="ctr" fontAlgn="ctr"/>
                      <a:r>
                        <a:rPr lang="en-NZ" sz="1800" b="0" i="0" u="none" strike="noStrike" dirty="0">
                          <a:solidFill>
                            <a:srgbClr val="000000"/>
                          </a:solidFill>
                          <a:effectLst/>
                          <a:latin typeface="Calibri" panose="020F0502020204030204" pitchFamily="34" charset="0"/>
                        </a:rPr>
                        <a:t>Smoker = 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34.420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095328584"/>
                  </a:ext>
                </a:extLst>
              </a:tr>
            </a:tbl>
          </a:graphicData>
        </a:graphic>
      </p:graphicFrame>
      <p:sp>
        <p:nvSpPr>
          <p:cNvPr id="2" name="Text Box 4">
            <a:extLst>
              <a:ext uri="{FF2B5EF4-FFF2-40B4-BE49-F238E27FC236}">
                <a16:creationId xmlns:a16="http://schemas.microsoft.com/office/drawing/2014/main" id="{58DD17E7-0BA2-2833-8F88-7D5268E029A1}"/>
              </a:ext>
            </a:extLst>
          </p:cNvPr>
          <p:cNvSpPr txBox="1">
            <a:spLocks noChangeArrowheads="1"/>
          </p:cNvSpPr>
          <p:nvPr/>
        </p:nvSpPr>
        <p:spPr bwMode="auto">
          <a:xfrm>
            <a:off x="445825" y="990632"/>
            <a:ext cx="5650175" cy="1330193"/>
          </a:xfrm>
          <a:prstGeom prst="rect">
            <a:avLst/>
          </a:prstGeom>
          <a:solidFill>
            <a:srgbClr val="F3F3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NZ" sz="1500" dirty="0">
                <a:solidFill>
                  <a:srgbClr val="538135"/>
                </a:solidFill>
                <a:effectLst/>
                <a:latin typeface="Calibri" panose="020F0502020204030204" pitchFamily="34" charset="0"/>
                <a:ea typeface="Calibri" panose="020F0502020204030204" pitchFamily="34" charset="0"/>
                <a:cs typeface="Times New Roman" panose="02020603050405020304" pitchFamily="18" charset="0"/>
              </a:rPr>
              <a:t># 1.1a - Read in 'Insurance Data Set.csv'</a:t>
            </a:r>
            <a:br>
              <a:rPr lang="en-NZ" sz="1500" dirty="0">
                <a:solidFill>
                  <a:srgbClr val="538135"/>
                </a:solidFill>
                <a:latin typeface="Calibri" panose="020F0502020204030204" pitchFamily="34" charset="0"/>
                <a:ea typeface="Calibri" panose="020F0502020204030204" pitchFamily="34" charset="0"/>
                <a:cs typeface="Times New Roman" panose="02020603050405020304" pitchFamily="18" charset="0"/>
              </a:rPr>
            </a:br>
            <a:r>
              <a:rPr lang="en-NZ" sz="1500" dirty="0">
                <a:effectLst/>
                <a:latin typeface="Calibri" panose="020F0502020204030204" pitchFamily="34" charset="0"/>
                <a:ea typeface="Calibri" panose="020F0502020204030204" pitchFamily="34" charset="0"/>
                <a:cs typeface="Times New Roman" panose="02020603050405020304" pitchFamily="18" charset="0"/>
              </a:rPr>
              <a:t>&gt; ins &lt;- read.csv("</a:t>
            </a:r>
            <a:r>
              <a:rPr lang="en-NZ" sz="15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F:\\Lecture Courses\\...\\Insurance Data Set.csv”</a:t>
            </a:r>
            <a:r>
              <a:rPr lang="en-NZ" sz="15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NZ" sz="1500" dirty="0">
                <a:solidFill>
                  <a:srgbClr val="538135"/>
                </a:solidFill>
                <a:effectLst/>
                <a:latin typeface="Calibri" panose="020F0502020204030204" pitchFamily="34" charset="0"/>
                <a:ea typeface="Calibri" panose="020F0502020204030204" pitchFamily="34" charset="0"/>
                <a:cs typeface="Times New Roman" panose="02020603050405020304" pitchFamily="18" charset="0"/>
              </a:rPr>
              <a:t>ins# 1.1b - Create the linear regression model</a:t>
            </a:r>
            <a:br>
              <a:rPr lang="en-NZ" sz="15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NZ" sz="15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&gt; fit1 &lt;- </a:t>
            </a:r>
            <a:r>
              <a:rPr lang="en-NZ" sz="15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lm</a:t>
            </a:r>
            <a:r>
              <a:rPr lang="en-NZ" sz="15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charges ~ age + </a:t>
            </a:r>
            <a:r>
              <a:rPr lang="en-NZ" sz="15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bmi</a:t>
            </a:r>
            <a:r>
              <a:rPr lang="en-NZ" sz="15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 children + sex + smoker, data=ins)</a:t>
            </a:r>
            <a:endParaRPr lang="en-NZ" sz="15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Placeholder 5">
            <a:extLst>
              <a:ext uri="{FF2B5EF4-FFF2-40B4-BE49-F238E27FC236}">
                <a16:creationId xmlns:a16="http://schemas.microsoft.com/office/drawing/2014/main" id="{9C2DB7F2-5AAD-2A25-ABA7-80188072779D}"/>
              </a:ext>
            </a:extLst>
          </p:cNvPr>
          <p:cNvSpPr txBox="1">
            <a:spLocks/>
          </p:cNvSpPr>
          <p:nvPr/>
        </p:nvSpPr>
        <p:spPr>
          <a:xfrm>
            <a:off x="4577357" y="2915266"/>
            <a:ext cx="6595516" cy="14910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model coefficients produced </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are point estimates of the true regression coefficients. </a:t>
            </a:r>
          </a:p>
          <a:p>
            <a:pPr lvl="0">
              <a:lnSpc>
                <a:spcPct val="100000"/>
              </a:lnSpc>
            </a:pPr>
            <a:endParaRPr lang="en-NZ" altLang="ja-JP" sz="1800" dirty="0">
              <a:solidFill>
                <a:prstClr val="black"/>
              </a:solidFill>
              <a:latin typeface="Calibri" panose="020F0502020204030204"/>
              <a:ea typeface="游ゴシック" panose="020B0400000000000000" pitchFamily="34" charset="-128"/>
            </a:endParaRPr>
          </a:p>
          <a:p>
            <a:pPr lvl="0">
              <a:lnSpc>
                <a:spcPct val="100000"/>
              </a:lnSpc>
            </a:pPr>
            <a:r>
              <a:rPr lang="en-NZ" altLang="ja-JP" sz="1800" dirty="0">
                <a:solidFill>
                  <a:prstClr val="black"/>
                </a:solidFill>
                <a:latin typeface="Calibri" panose="020F0502020204030204"/>
                <a:ea typeface="游ゴシック" panose="020B0400000000000000" pitchFamily="34" charset="-128"/>
              </a:rPr>
              <a:t>We need to calculate the standard error of these estimates and calculate a 95% confidence interval for each regression coefficient.</a:t>
            </a:r>
            <a:endParaRPr lang="en-NZ" altLang="ja-JP" sz="1800" baseline="0" dirty="0">
              <a:solidFill>
                <a:prstClr val="black"/>
              </a:solidFill>
              <a:latin typeface="Calibri" panose="020F0502020204030204"/>
              <a:ea typeface="游ゴシック" panose="020B0400000000000000" pitchFamily="34" charset="-128"/>
            </a:endParaRPr>
          </a:p>
        </p:txBody>
      </p:sp>
      <mc:AlternateContent xmlns:mc="http://schemas.openxmlformats.org/markup-compatibility/2006">
        <mc:Choice xmlns:a14="http://schemas.microsoft.com/office/drawing/2010/main" Requires="a14">
          <p:sp>
            <p:nvSpPr>
              <p:cNvPr id="10" name="Text Placeholder 5">
                <a:extLst>
                  <a:ext uri="{FF2B5EF4-FFF2-40B4-BE49-F238E27FC236}">
                    <a16:creationId xmlns:a16="http://schemas.microsoft.com/office/drawing/2014/main" id="{215CC588-68D2-56B6-A4B3-3ECCB0ED5AD5}"/>
                  </a:ext>
                </a:extLst>
              </p:cNvPr>
              <p:cNvSpPr txBox="1">
                <a:spLocks/>
              </p:cNvSpPr>
              <p:nvPr/>
            </p:nvSpPr>
            <p:spPr>
              <a:xfrm>
                <a:off x="4577357" y="4540964"/>
                <a:ext cx="6595516" cy="6365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𝝐</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𝑵</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𝝈</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p>
                    </m:s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oMath>
                </a14:m>
                <a:r>
                  <a:rPr lang="en-NZ" altLang="ja-JP" sz="1800" b="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then </a:t>
                </a:r>
                <a:r>
                  <a:rPr lang="en-NZ" altLang="ja-JP" sz="1600" b="1" dirty="0">
                    <a:solidFill>
                      <a:schemeClr val="tx1"/>
                    </a:solidFill>
                  </a:rPr>
                  <a:t> </a:t>
                </a:r>
                <a14:m>
                  <m:oMath xmlns:m="http://schemas.openxmlformats.org/officeDocument/2006/math">
                    <m:r>
                      <a:rPr lang="en-NZ" altLang="ja-JP" sz="1600" b="1" i="1">
                        <a:solidFill>
                          <a:schemeClr val="tx1"/>
                        </a:solidFill>
                        <a:latin typeface="Cambria Math" panose="02040503050406030204" pitchFamily="18" charset="0"/>
                      </a:rPr>
                      <m:t>𝒔</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𝒆</m:t>
                    </m:r>
                    <m:r>
                      <a:rPr lang="en-NZ" altLang="ja-JP" sz="1600" b="1" i="1">
                        <a:solidFill>
                          <a:schemeClr val="tx1"/>
                        </a:solidFill>
                        <a:latin typeface="Cambria Math" panose="02040503050406030204" pitchFamily="18" charset="0"/>
                      </a:rPr>
                      <m:t>.</m:t>
                    </m:r>
                    <m:d>
                      <m:dPr>
                        <m:ctrlPr>
                          <a:rPr lang="en-NZ" altLang="ja-JP" sz="1600" b="1" i="1">
                            <a:solidFill>
                              <a:schemeClr val="tx1"/>
                            </a:solidFill>
                            <a:latin typeface="Cambria Math" panose="02040503050406030204" pitchFamily="18" charset="0"/>
                          </a:rPr>
                        </m:ctrlPr>
                      </m:dPr>
                      <m:e>
                        <m:acc>
                          <m:accPr>
                            <m:chr m:val="̂"/>
                            <m:ctrlPr>
                              <a:rPr lang="en-NZ" altLang="ja-JP" sz="1600" b="1" i="1">
                                <a:solidFill>
                                  <a:schemeClr val="tx1"/>
                                </a:solidFill>
                                <a:latin typeface="Cambria Math" panose="02040503050406030204" pitchFamily="18" charset="0"/>
                              </a:rPr>
                            </m:ctrlPr>
                          </m:accPr>
                          <m:e>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𝜷</m:t>
                                    </m:r>
                                  </m:e>
                                </m:bar>
                              </m:e>
                              <m:sub>
                                <m:r>
                                  <a:rPr lang="en-NZ" altLang="ja-JP" sz="1600" b="1" i="1">
                                    <a:solidFill>
                                      <a:schemeClr val="tx1"/>
                                    </a:solidFill>
                                    <a:latin typeface="Cambria Math" panose="02040503050406030204" pitchFamily="18" charset="0"/>
                                  </a:rPr>
                                  <m:t>𝒋</m:t>
                                </m:r>
                              </m:sub>
                            </m:sSub>
                          </m:e>
                        </m:acc>
                      </m:e>
                    </m:d>
                    <m:r>
                      <a:rPr lang="en-NZ" altLang="ja-JP" sz="1600" b="1" i="1">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𝝈</m:t>
                    </m:r>
                    <m:r>
                      <a:rPr lang="en-NZ" altLang="ja-JP" sz="1600" b="1" i="1">
                        <a:solidFill>
                          <a:schemeClr val="tx1"/>
                        </a:solidFill>
                        <a:latin typeface="Cambria Math" panose="02040503050406030204" pitchFamily="18" charset="0"/>
                      </a:rPr>
                      <m:t> </m:t>
                    </m:r>
                    <m:rad>
                      <m:radPr>
                        <m:degHide m:val="on"/>
                        <m:ctrlPr>
                          <a:rPr lang="en-NZ" altLang="ja-JP" sz="1600" b="1" i="1">
                            <a:solidFill>
                              <a:schemeClr val="tx1"/>
                            </a:solidFill>
                            <a:latin typeface="Cambria Math" panose="02040503050406030204" pitchFamily="18" charset="0"/>
                          </a:rPr>
                        </m:ctrlPr>
                      </m:radPr>
                      <m:deg/>
                      <m:e>
                        <m:sSubSup>
                          <m:sSubSupPr>
                            <m:ctrlPr>
                              <a:rPr lang="en-NZ" altLang="ja-JP" sz="1600" b="1" i="1">
                                <a:solidFill>
                                  <a:schemeClr val="tx1"/>
                                </a:solidFill>
                                <a:latin typeface="Cambria Math" panose="02040503050406030204" pitchFamily="18" charset="0"/>
                              </a:rPr>
                            </m:ctrlPr>
                          </m:sSubSupPr>
                          <m:e>
                            <m:d>
                              <m:dPr>
                                <m:begChr m:val="["/>
                                <m:endChr m:val="]"/>
                                <m:ctrlPr>
                                  <a:rPr lang="en-NZ" altLang="ja-JP" sz="1600" b="1" i="1">
                                    <a:solidFill>
                                      <a:schemeClr val="tx1"/>
                                    </a:solidFill>
                                    <a:latin typeface="Cambria Math" panose="02040503050406030204" pitchFamily="18" charset="0"/>
                                  </a:rPr>
                                </m:ctrlPr>
                              </m:dPr>
                              <m:e>
                                <m:sSup>
                                  <m:sSupPr>
                                    <m:ctrlPr>
                                      <a:rPr lang="en-NZ" altLang="ja-JP" sz="1600" b="1" i="1">
                                        <a:solidFill>
                                          <a:schemeClr val="tx1"/>
                                        </a:solidFill>
                                        <a:latin typeface="Cambria Math" panose="02040503050406030204" pitchFamily="18" charset="0"/>
                                      </a:rPr>
                                    </m:ctrlPr>
                                  </m:sSupPr>
                                  <m:e>
                                    <m:r>
                                      <a:rPr lang="en-NZ" altLang="ja-JP" sz="1600" b="1" i="1">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𝑿</m:t>
                                    </m:r>
                                  </m:e>
                                  <m:sup>
                                    <m:r>
                                      <a:rPr lang="en-NZ" altLang="ja-JP" sz="1600" b="1" i="1">
                                        <a:solidFill>
                                          <a:schemeClr val="tx1"/>
                                        </a:solidFill>
                                        <a:latin typeface="Cambria Math" panose="02040503050406030204" pitchFamily="18" charset="0"/>
                                      </a:rPr>
                                      <m:t>𝑻</m:t>
                                    </m:r>
                                  </m:sup>
                                </m:sSup>
                                <m:r>
                                  <a:rPr lang="en-NZ" altLang="ja-JP" sz="1600" b="1" i="1">
                                    <a:solidFill>
                                      <a:schemeClr val="tx1"/>
                                    </a:solidFill>
                                    <a:latin typeface="Cambria Math" panose="02040503050406030204" pitchFamily="18" charset="0"/>
                                  </a:rPr>
                                  <m:t>𝑿</m:t>
                                </m:r>
                                <m:r>
                                  <a:rPr lang="en-NZ" altLang="ja-JP" sz="1600" b="1" i="1">
                                    <a:solidFill>
                                      <a:schemeClr val="tx1"/>
                                    </a:solidFill>
                                    <a:latin typeface="Cambria Math" panose="02040503050406030204" pitchFamily="18" charset="0"/>
                                  </a:rPr>
                                  <m:t> </m:t>
                                </m:r>
                              </m:e>
                            </m:d>
                          </m:e>
                          <m:sub>
                            <m:r>
                              <a:rPr lang="en-NZ" altLang="ja-JP" sz="1600" b="1" i="1">
                                <a:solidFill>
                                  <a:schemeClr val="tx1"/>
                                </a:solidFill>
                                <a:latin typeface="Cambria Math" panose="02040503050406030204" pitchFamily="18" charset="0"/>
                              </a:rPr>
                              <m:t>𝒋</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up>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p>
                        </m:sSubSup>
                      </m:e>
                    </m:rad>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p:sp>
            <p:nvSpPr>
              <p:cNvPr id="10" name="Text Placeholder 5">
                <a:extLst>
                  <a:ext uri="{FF2B5EF4-FFF2-40B4-BE49-F238E27FC236}">
                    <a16:creationId xmlns:a16="http://schemas.microsoft.com/office/drawing/2014/main" id="{215CC588-68D2-56B6-A4B3-3ECCB0ED5AD5}"/>
                  </a:ext>
                </a:extLst>
              </p:cNvPr>
              <p:cNvSpPr txBox="1">
                <a:spLocks noRot="1" noChangeAspect="1" noMove="1" noResize="1" noEditPoints="1" noAdjustHandles="1" noChangeArrowheads="1" noChangeShapeType="1" noTextEdit="1"/>
              </p:cNvSpPr>
              <p:nvPr/>
            </p:nvSpPr>
            <p:spPr>
              <a:xfrm>
                <a:off x="4577357" y="4540964"/>
                <a:ext cx="6595516" cy="636573"/>
              </a:xfrm>
              <a:prstGeom prst="rect">
                <a:avLst/>
              </a:prstGeom>
              <a:blipFill>
                <a:blip r:embed="rId3"/>
                <a:stretch>
                  <a:fillRect/>
                </a:stretch>
              </a:blipFill>
            </p:spPr>
            <p:txBody>
              <a:bodyPr/>
              <a:lstStyle/>
              <a:p>
                <a:r>
                  <a:rPr lang="en-NZ">
                    <a:noFill/>
                  </a:rPr>
                  <a:t> </a:t>
                </a:r>
              </a:p>
            </p:txBody>
          </p:sp>
        </mc:Fallback>
      </mc:AlternateContent>
      <p:sp>
        <p:nvSpPr>
          <p:cNvPr id="12" name="Text Placeholder 5">
            <a:extLst>
              <a:ext uri="{FF2B5EF4-FFF2-40B4-BE49-F238E27FC236}">
                <a16:creationId xmlns:a16="http://schemas.microsoft.com/office/drawing/2014/main" id="{7F59B639-9A96-0CF2-0112-D58E6B1B88B6}"/>
              </a:ext>
            </a:extLst>
          </p:cNvPr>
          <p:cNvSpPr txBox="1">
            <a:spLocks/>
          </p:cNvSpPr>
          <p:nvPr/>
        </p:nvSpPr>
        <p:spPr>
          <a:xfrm>
            <a:off x="4577357" y="5350852"/>
            <a:ext cx="659551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lang="en-NZ" altLang="ja-JP" sz="1800" dirty="0">
                <a:solidFill>
                  <a:prstClr val="black"/>
                </a:solidFill>
                <a:latin typeface="Calibri" panose="020F0502020204030204"/>
                <a:ea typeface="游ゴシック" panose="020B0400000000000000" pitchFamily="34" charset="-128"/>
              </a:rPr>
              <a:t>… but are the errors of our model normally distributed?</a:t>
            </a:r>
            <a:endParaRPr lang="en-NZ" altLang="ja-JP" sz="1800" baseline="0" dirty="0">
              <a:solidFill>
                <a:prstClr val="black"/>
              </a:solidFill>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192144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07AE0C-10C1-F3CF-8747-F350ED4A3AC9}"/>
              </a:ext>
            </a:extLst>
          </p:cNvPr>
          <p:cNvPicPr>
            <a:picLocks noChangeAspect="1"/>
          </p:cNvPicPr>
          <p:nvPr/>
        </p:nvPicPr>
        <p:blipFill>
          <a:blip r:embed="rId2"/>
          <a:stretch>
            <a:fillRect/>
          </a:stretch>
        </p:blipFill>
        <p:spPr>
          <a:xfrm>
            <a:off x="1733888" y="935776"/>
            <a:ext cx="8724225" cy="456445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Footer Placeholder 2">
            <a:extLst>
              <a:ext uri="{FF2B5EF4-FFF2-40B4-BE49-F238E27FC236}">
                <a16:creationId xmlns:a16="http://schemas.microsoft.com/office/drawing/2014/main" id="{65232B49-A219-453C-A7B1-01762A16A97C}"/>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7.4c</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3" name="Title 6">
            <a:extLst>
              <a:ext uri="{FF2B5EF4-FFF2-40B4-BE49-F238E27FC236}">
                <a16:creationId xmlns:a16="http://schemas.microsoft.com/office/drawing/2014/main" id="{E638A2DB-3614-413D-8BAB-FEC0801B7AFD}"/>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7.4c – Insurance Policy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214FD899-81AD-41C6-8CF1-0EDCADB18C3F}"/>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7.4 - Insurance Model (Bootstrapping Residuals Example)</a:t>
            </a:r>
            <a:r>
              <a:rPr lang="en-US" altLang="ja-JP" sz="1200" dirty="0">
                <a:solidFill>
                  <a:srgbClr val="C00000"/>
                </a:solidFill>
              </a:rPr>
              <a:t>.</a:t>
            </a:r>
            <a:endParaRPr lang="en-US" altLang="ja-JP" sz="1200" b="1" i="1" dirty="0">
              <a:solidFill>
                <a:srgbClr val="C00000"/>
              </a:solidFill>
            </a:endParaRPr>
          </a:p>
        </p:txBody>
      </p:sp>
      <p:sp>
        <p:nvSpPr>
          <p:cNvPr id="21" name="Text Placeholder 5">
            <a:extLst>
              <a:ext uri="{FF2B5EF4-FFF2-40B4-BE49-F238E27FC236}">
                <a16:creationId xmlns:a16="http://schemas.microsoft.com/office/drawing/2014/main" id="{E837AD8F-8389-4FEE-8552-D17D7B21F02C}"/>
              </a:ext>
            </a:extLst>
          </p:cNvPr>
          <p:cNvSpPr txBox="1">
            <a:spLocks/>
          </p:cNvSpPr>
          <p:nvPr/>
        </p:nvSpPr>
        <p:spPr>
          <a:xfrm>
            <a:off x="375039" y="5565266"/>
            <a:ext cx="11441922"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dirty="0">
                <a:solidFill>
                  <a:prstClr val="black"/>
                </a:solidFill>
                <a:latin typeface="Calibri" panose="020F0502020204030204"/>
                <a:ea typeface="游ゴシック" panose="020B0400000000000000" pitchFamily="34" charset="-128"/>
              </a:rPr>
              <a:t>Residual plots indicate residuals are not normally distributed.</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dirty="0">
                <a:solidFill>
                  <a:prstClr val="black"/>
                </a:solidFill>
                <a:latin typeface="Calibri" panose="020F0502020204030204"/>
                <a:ea typeface="游ゴシック" panose="020B0400000000000000" pitchFamily="34" charset="-128"/>
              </a:rPr>
              <a:t>=&gt; Have to estimate the standard error of regression coefficients and construct confidence intervals by bootstrapping the residual.</a:t>
            </a: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1099427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54E050-2AF0-CC9C-0C20-71293D55CCA4}"/>
              </a:ext>
            </a:extLst>
          </p:cNvPr>
          <p:cNvPicPr>
            <a:picLocks noChangeAspect="1"/>
          </p:cNvPicPr>
          <p:nvPr/>
        </p:nvPicPr>
        <p:blipFill>
          <a:blip r:embed="rId2"/>
          <a:stretch>
            <a:fillRect/>
          </a:stretch>
        </p:blipFill>
        <p:spPr>
          <a:xfrm>
            <a:off x="476933" y="1145908"/>
            <a:ext cx="6810972" cy="4494668"/>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Footer Placeholder 2">
            <a:extLst>
              <a:ext uri="{FF2B5EF4-FFF2-40B4-BE49-F238E27FC236}">
                <a16:creationId xmlns:a16="http://schemas.microsoft.com/office/drawing/2014/main" id="{65232B49-A219-453C-A7B1-01762A16A97C}"/>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7.4c</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Bootstrapping the Residual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3" name="Title 6">
            <a:extLst>
              <a:ext uri="{FF2B5EF4-FFF2-40B4-BE49-F238E27FC236}">
                <a16:creationId xmlns:a16="http://schemas.microsoft.com/office/drawing/2014/main" id="{E638A2DB-3614-413D-8BAB-FEC0801B7AFD}"/>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7.4c – Insurance Policy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214FD899-81AD-41C6-8CF1-0EDCADB18C3F}"/>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7.4 - Insurance Model (Bootstrapping Residuals Example)</a:t>
            </a:r>
            <a:r>
              <a:rPr lang="en-US" altLang="ja-JP" sz="1200" dirty="0">
                <a:solidFill>
                  <a:srgbClr val="C00000"/>
                </a:solidFill>
              </a:rPr>
              <a:t>.</a:t>
            </a:r>
            <a:endParaRPr lang="en-US" altLang="ja-JP" sz="1200" b="1" i="1" dirty="0">
              <a:solidFill>
                <a:srgbClr val="C00000"/>
              </a:solidFill>
            </a:endParaRPr>
          </a:p>
        </p:txBody>
      </p:sp>
      <p:pic>
        <p:nvPicPr>
          <p:cNvPr id="24" name="Picture 23">
            <a:extLst>
              <a:ext uri="{FF2B5EF4-FFF2-40B4-BE49-F238E27FC236}">
                <a16:creationId xmlns:a16="http://schemas.microsoft.com/office/drawing/2014/main" id="{9FFADCA3-23C2-451D-9EBB-25F14BCA4BF8}"/>
              </a:ext>
            </a:extLst>
          </p:cNvPr>
          <p:cNvPicPr>
            <a:picLocks noChangeAspect="1"/>
          </p:cNvPicPr>
          <p:nvPr/>
        </p:nvPicPr>
        <p:blipFill>
          <a:blip r:embed="rId4"/>
          <a:stretch>
            <a:fillRect/>
          </a:stretch>
        </p:blipFill>
        <p:spPr>
          <a:xfrm>
            <a:off x="7402416" y="3869054"/>
            <a:ext cx="4686949" cy="346935"/>
          </a:xfrm>
          <a:prstGeom prst="rect">
            <a:avLst/>
          </a:prstGeom>
        </p:spPr>
      </p:pic>
      <p:sp>
        <p:nvSpPr>
          <p:cNvPr id="26" name="Text Placeholder 5">
            <a:extLst>
              <a:ext uri="{FF2B5EF4-FFF2-40B4-BE49-F238E27FC236}">
                <a16:creationId xmlns:a16="http://schemas.microsoft.com/office/drawing/2014/main" id="{13C9571F-922A-40B6-829B-01B95C83A8E7}"/>
              </a:ext>
            </a:extLst>
          </p:cNvPr>
          <p:cNvSpPr txBox="1">
            <a:spLocks/>
          </p:cNvSpPr>
          <p:nvPr/>
        </p:nvSpPr>
        <p:spPr>
          <a:xfrm>
            <a:off x="1258388" y="953791"/>
            <a:ext cx="86023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dirty="0">
                <a:solidFill>
                  <a:srgbClr val="C00000"/>
                </a:solidFill>
                <a:latin typeface="Calibri" panose="020F0502020204030204"/>
                <a:ea typeface="游ゴシック" panose="020B0400000000000000" pitchFamily="34" charset="-128"/>
              </a:rPr>
              <a:t>Intercept</a:t>
            </a: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27" name="Text Placeholder 5">
            <a:extLst>
              <a:ext uri="{FF2B5EF4-FFF2-40B4-BE49-F238E27FC236}">
                <a16:creationId xmlns:a16="http://schemas.microsoft.com/office/drawing/2014/main" id="{E16E844C-8161-4860-9EAC-2081AA9DD7F9}"/>
              </a:ext>
            </a:extLst>
          </p:cNvPr>
          <p:cNvSpPr txBox="1">
            <a:spLocks/>
          </p:cNvSpPr>
          <p:nvPr/>
        </p:nvSpPr>
        <p:spPr>
          <a:xfrm>
            <a:off x="3543442" y="953789"/>
            <a:ext cx="86023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dirty="0">
                <a:solidFill>
                  <a:srgbClr val="C00000"/>
                </a:solidFill>
                <a:latin typeface="Calibri" panose="020F0502020204030204"/>
                <a:ea typeface="游ゴシック" panose="020B0400000000000000" pitchFamily="34" charset="-128"/>
              </a:rPr>
              <a:t>Age</a:t>
            </a: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28" name="Text Placeholder 5">
            <a:extLst>
              <a:ext uri="{FF2B5EF4-FFF2-40B4-BE49-F238E27FC236}">
                <a16:creationId xmlns:a16="http://schemas.microsoft.com/office/drawing/2014/main" id="{00C7E2D0-C6A6-4CE1-AF73-F475D7A44F5A}"/>
              </a:ext>
            </a:extLst>
          </p:cNvPr>
          <p:cNvSpPr txBox="1">
            <a:spLocks/>
          </p:cNvSpPr>
          <p:nvPr/>
        </p:nvSpPr>
        <p:spPr>
          <a:xfrm>
            <a:off x="5665882" y="953789"/>
            <a:ext cx="86023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dirty="0">
                <a:solidFill>
                  <a:srgbClr val="C00000"/>
                </a:solidFill>
                <a:latin typeface="Calibri" panose="020F0502020204030204"/>
                <a:ea typeface="游ゴシック" panose="020B0400000000000000" pitchFamily="34" charset="-128"/>
              </a:rPr>
              <a:t>BMI</a:t>
            </a: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29" name="Text Placeholder 5">
            <a:extLst>
              <a:ext uri="{FF2B5EF4-FFF2-40B4-BE49-F238E27FC236}">
                <a16:creationId xmlns:a16="http://schemas.microsoft.com/office/drawing/2014/main" id="{681A4A41-5B57-4F7F-81E9-BFA08E107D08}"/>
              </a:ext>
            </a:extLst>
          </p:cNvPr>
          <p:cNvSpPr txBox="1">
            <a:spLocks/>
          </p:cNvSpPr>
          <p:nvPr/>
        </p:nvSpPr>
        <p:spPr>
          <a:xfrm>
            <a:off x="1258388" y="3296789"/>
            <a:ext cx="86023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dirty="0">
                <a:solidFill>
                  <a:srgbClr val="C00000"/>
                </a:solidFill>
                <a:latin typeface="Calibri" panose="020F0502020204030204"/>
                <a:ea typeface="游ゴシック" panose="020B0400000000000000" pitchFamily="34" charset="-128"/>
              </a:rPr>
              <a:t>Children</a:t>
            </a: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30" name="Text Placeholder 5">
            <a:extLst>
              <a:ext uri="{FF2B5EF4-FFF2-40B4-BE49-F238E27FC236}">
                <a16:creationId xmlns:a16="http://schemas.microsoft.com/office/drawing/2014/main" id="{5192C648-6182-4DAA-931A-565EAE0F01B9}"/>
              </a:ext>
            </a:extLst>
          </p:cNvPr>
          <p:cNvSpPr txBox="1">
            <a:spLocks/>
          </p:cNvSpPr>
          <p:nvPr/>
        </p:nvSpPr>
        <p:spPr>
          <a:xfrm>
            <a:off x="3543442" y="3290933"/>
            <a:ext cx="86023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dirty="0">
                <a:solidFill>
                  <a:srgbClr val="C00000"/>
                </a:solidFill>
                <a:latin typeface="Calibri" panose="020F0502020204030204"/>
                <a:ea typeface="游ゴシック" panose="020B0400000000000000" pitchFamily="34" charset="-128"/>
              </a:rPr>
              <a:t>Sex</a:t>
            </a: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31" name="Text Placeholder 5">
            <a:extLst>
              <a:ext uri="{FF2B5EF4-FFF2-40B4-BE49-F238E27FC236}">
                <a16:creationId xmlns:a16="http://schemas.microsoft.com/office/drawing/2014/main" id="{C54D4A7A-F1A3-4903-8CD4-0380D0C86AC2}"/>
              </a:ext>
            </a:extLst>
          </p:cNvPr>
          <p:cNvSpPr txBox="1">
            <a:spLocks/>
          </p:cNvSpPr>
          <p:nvPr/>
        </p:nvSpPr>
        <p:spPr>
          <a:xfrm>
            <a:off x="5665882" y="3302478"/>
            <a:ext cx="86023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dirty="0">
                <a:solidFill>
                  <a:srgbClr val="C00000"/>
                </a:solidFill>
                <a:latin typeface="Calibri" panose="020F0502020204030204"/>
                <a:ea typeface="游ゴシック" panose="020B0400000000000000" pitchFamily="34" charset="-128"/>
              </a:rPr>
              <a:t>Smoker</a:t>
            </a: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34" name="Text Placeholder 5">
            <a:extLst>
              <a:ext uri="{FF2B5EF4-FFF2-40B4-BE49-F238E27FC236}">
                <a16:creationId xmlns:a16="http://schemas.microsoft.com/office/drawing/2014/main" id="{AA60C449-8CC3-486E-998F-F27B16510D2C}"/>
              </a:ext>
            </a:extLst>
          </p:cNvPr>
          <p:cNvSpPr txBox="1">
            <a:spLocks/>
          </p:cNvSpPr>
          <p:nvPr/>
        </p:nvSpPr>
        <p:spPr>
          <a:xfrm>
            <a:off x="476932" y="5659685"/>
            <a:ext cx="6810972" cy="6131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dirty="0">
                <a:solidFill>
                  <a:prstClr val="black"/>
                </a:solidFill>
                <a:latin typeface="Calibri" panose="020F0502020204030204"/>
                <a:ea typeface="游ゴシック" panose="020B0400000000000000" pitchFamily="34" charset="-128"/>
              </a:rPr>
              <a:t>Distribution of bootstrapped coefficients look approximately normal.</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=&gt;</a:t>
            </a:r>
            <a:r>
              <a:rPr kumimoji="1" lang="en-NZ" altLang="ja-JP" sz="14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400" b="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C.I.s for each coefficient can be obtained via standard bootstrap confidence interval.</a:t>
            </a: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graphicFrame>
        <p:nvGraphicFramePr>
          <p:cNvPr id="6" name="Table 5">
            <a:extLst>
              <a:ext uri="{FF2B5EF4-FFF2-40B4-BE49-F238E27FC236}">
                <a16:creationId xmlns:a16="http://schemas.microsoft.com/office/drawing/2014/main" id="{B2B494A3-4BC3-23D4-32C2-99648F8ABEAF}"/>
              </a:ext>
            </a:extLst>
          </p:cNvPr>
          <p:cNvGraphicFramePr>
            <a:graphicFrameLocks noGrp="1"/>
          </p:cNvGraphicFramePr>
          <p:nvPr>
            <p:extLst>
              <p:ext uri="{D42A27DB-BD31-4B8C-83A1-F6EECF244321}">
                <p14:modId xmlns:p14="http://schemas.microsoft.com/office/powerpoint/2010/main" val="1185381370"/>
              </p:ext>
            </p:extLst>
          </p:nvPr>
        </p:nvGraphicFramePr>
        <p:xfrm>
          <a:off x="7444060" y="2646609"/>
          <a:ext cx="4466766" cy="2196775"/>
        </p:xfrm>
        <a:graphic>
          <a:graphicData uri="http://schemas.openxmlformats.org/drawingml/2006/table">
            <a:tbl>
              <a:tblPr/>
              <a:tblGrid>
                <a:gridCol w="1005822">
                  <a:extLst>
                    <a:ext uri="{9D8B030D-6E8A-4147-A177-3AD203B41FA5}">
                      <a16:colId xmlns:a16="http://schemas.microsoft.com/office/drawing/2014/main" val="1193775516"/>
                    </a:ext>
                  </a:extLst>
                </a:gridCol>
                <a:gridCol w="1225275">
                  <a:extLst>
                    <a:ext uri="{9D8B030D-6E8A-4147-A177-3AD203B41FA5}">
                      <a16:colId xmlns:a16="http://schemas.microsoft.com/office/drawing/2014/main" val="1532198462"/>
                    </a:ext>
                  </a:extLst>
                </a:gridCol>
                <a:gridCol w="877808">
                  <a:extLst>
                    <a:ext uri="{9D8B030D-6E8A-4147-A177-3AD203B41FA5}">
                      <a16:colId xmlns:a16="http://schemas.microsoft.com/office/drawing/2014/main" val="2779921531"/>
                    </a:ext>
                  </a:extLst>
                </a:gridCol>
                <a:gridCol w="1357861">
                  <a:extLst>
                    <a:ext uri="{9D8B030D-6E8A-4147-A177-3AD203B41FA5}">
                      <a16:colId xmlns:a16="http://schemas.microsoft.com/office/drawing/2014/main" val="1232086351"/>
                    </a:ext>
                  </a:extLst>
                </a:gridCol>
              </a:tblGrid>
              <a:tr h="549193">
                <a:tc>
                  <a:txBody>
                    <a:bodyPr/>
                    <a:lstStyle/>
                    <a:p>
                      <a:pPr algn="ctr" fontAlgn="ctr"/>
                      <a:r>
                        <a:rPr lang="en-NZ" sz="1500" b="1" i="0" u="none" strike="noStrike">
                          <a:solidFill>
                            <a:srgbClr val="FFFFFF"/>
                          </a:solidFill>
                          <a:effectLst/>
                          <a:latin typeface="Calibri" panose="020F0502020204030204" pitchFamily="34" charset="0"/>
                        </a:rPr>
                        <a:t> Variable </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500" b="1" i="0" u="none" strike="noStrike">
                          <a:solidFill>
                            <a:srgbClr val="FFFFFF"/>
                          </a:solidFill>
                          <a:effectLst/>
                          <a:latin typeface="Calibri" panose="020F0502020204030204" pitchFamily="34" charset="0"/>
                        </a:rPr>
                        <a:t>Coefficient</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500" b="1" i="0" u="none" strike="noStrike">
                          <a:solidFill>
                            <a:srgbClr val="FFFFFF"/>
                          </a:solidFill>
                          <a:effectLst/>
                          <a:latin typeface="Calibri" panose="020F0502020204030204" pitchFamily="34" charset="0"/>
                        </a:rPr>
                        <a:t> Std Error </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500" b="1" i="0" u="none" strike="noStrike">
                          <a:solidFill>
                            <a:srgbClr val="FFFFFF"/>
                          </a:solidFill>
                          <a:effectLst/>
                          <a:latin typeface="Calibri" panose="020F0502020204030204" pitchFamily="34" charset="0"/>
                        </a:rPr>
                        <a:t>95% CI</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884536841"/>
                  </a:ext>
                </a:extLst>
              </a:tr>
              <a:tr h="274597">
                <a:tc>
                  <a:txBody>
                    <a:bodyPr/>
                    <a:lstStyle/>
                    <a:p>
                      <a:pPr algn="ctr" fontAlgn="ctr"/>
                      <a:r>
                        <a:rPr lang="en-NZ" sz="1500" b="0" i="0" u="none" strike="noStrike">
                          <a:solidFill>
                            <a:srgbClr val="000000"/>
                          </a:solidFill>
                          <a:effectLst/>
                          <a:latin typeface="Calibri" panose="020F0502020204030204" pitchFamily="34" charset="0"/>
                        </a:rPr>
                        <a:t>Intercept</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-18.193</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dirty="0">
                          <a:solidFill>
                            <a:srgbClr val="000000"/>
                          </a:solidFill>
                          <a:effectLst/>
                          <a:latin typeface="Calibri" panose="020F0502020204030204" pitchFamily="34" charset="0"/>
                        </a:rPr>
                        <a:t>0.836</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(-19.83, -16.55)</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418827423"/>
                  </a:ext>
                </a:extLst>
              </a:tr>
              <a:tr h="274597">
                <a:tc>
                  <a:txBody>
                    <a:bodyPr/>
                    <a:lstStyle/>
                    <a:p>
                      <a:pPr algn="ctr" fontAlgn="ctr"/>
                      <a:r>
                        <a:rPr lang="en-NZ" sz="1500" b="0" i="0" u="none" strike="noStrike">
                          <a:solidFill>
                            <a:srgbClr val="000000"/>
                          </a:solidFill>
                          <a:effectLst/>
                          <a:latin typeface="Calibri" panose="020F0502020204030204" pitchFamily="34" charset="0"/>
                        </a:rPr>
                        <a:t>Age</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0.009</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dirty="0">
                          <a:solidFill>
                            <a:srgbClr val="000000"/>
                          </a:solidFill>
                          <a:effectLst/>
                          <a:latin typeface="Calibri" panose="020F0502020204030204" pitchFamily="34" charset="0"/>
                        </a:rPr>
                        <a:t>0.011</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(-0.01, 0.03)</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09790874"/>
                  </a:ext>
                </a:extLst>
              </a:tr>
              <a:tr h="274597">
                <a:tc>
                  <a:txBody>
                    <a:bodyPr/>
                    <a:lstStyle/>
                    <a:p>
                      <a:pPr algn="ctr" fontAlgn="ctr"/>
                      <a:r>
                        <a:rPr lang="en-NZ" sz="1500" b="0" i="0" u="none" strike="noStrike">
                          <a:solidFill>
                            <a:srgbClr val="000000"/>
                          </a:solidFill>
                          <a:effectLst/>
                          <a:latin typeface="Calibri" panose="020F0502020204030204" pitchFamily="34" charset="0"/>
                        </a:rPr>
                        <a:t>BMI</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6.789</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dirty="0">
                          <a:solidFill>
                            <a:srgbClr val="000000"/>
                          </a:solidFill>
                          <a:effectLst/>
                          <a:latin typeface="Calibri" panose="020F0502020204030204" pitchFamily="34" charset="0"/>
                        </a:rPr>
                        <a:t>0.027</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(6.74, 6.84)</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56905216"/>
                  </a:ext>
                </a:extLst>
              </a:tr>
              <a:tr h="274597">
                <a:tc>
                  <a:txBody>
                    <a:bodyPr/>
                    <a:lstStyle/>
                    <a:p>
                      <a:pPr algn="ctr" fontAlgn="ctr"/>
                      <a:r>
                        <a:rPr lang="en-NZ" sz="1500" b="0" i="0" u="none" strike="noStrike">
                          <a:solidFill>
                            <a:srgbClr val="000000"/>
                          </a:solidFill>
                          <a:effectLst/>
                          <a:latin typeface="Calibri" panose="020F0502020204030204" pitchFamily="34" charset="0"/>
                        </a:rPr>
                        <a:t>Children</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4.982</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dirty="0">
                          <a:solidFill>
                            <a:srgbClr val="000000"/>
                          </a:solidFill>
                          <a:effectLst/>
                          <a:latin typeface="Calibri" panose="020F0502020204030204" pitchFamily="34" charset="0"/>
                        </a:rPr>
                        <a:t>0.102</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(4.78, 5.18)</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40692917"/>
                  </a:ext>
                </a:extLst>
              </a:tr>
              <a:tr h="274597">
                <a:tc>
                  <a:txBody>
                    <a:bodyPr/>
                    <a:lstStyle/>
                    <a:p>
                      <a:pPr algn="ctr" fontAlgn="ctr"/>
                      <a:r>
                        <a:rPr lang="en-NZ" sz="1500" b="0" i="0" u="none" strike="noStrike">
                          <a:solidFill>
                            <a:srgbClr val="000000"/>
                          </a:solidFill>
                          <a:effectLst/>
                          <a:latin typeface="Calibri" panose="020F0502020204030204" pitchFamily="34" charset="0"/>
                        </a:rPr>
                        <a:t>Sex</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1.523</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dirty="0">
                          <a:solidFill>
                            <a:srgbClr val="000000"/>
                          </a:solidFill>
                          <a:effectLst/>
                          <a:latin typeface="Calibri" panose="020F0502020204030204" pitchFamily="34" charset="0"/>
                        </a:rPr>
                        <a:t>0.294</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dirty="0">
                          <a:solidFill>
                            <a:srgbClr val="000000"/>
                          </a:solidFill>
                          <a:effectLst/>
                          <a:latin typeface="Calibri" panose="020F0502020204030204" pitchFamily="34" charset="0"/>
                        </a:rPr>
                        <a:t>(0.95, 2.1)</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25807921"/>
                  </a:ext>
                </a:extLst>
              </a:tr>
              <a:tr h="274597">
                <a:tc>
                  <a:txBody>
                    <a:bodyPr/>
                    <a:lstStyle/>
                    <a:p>
                      <a:pPr algn="ctr" fontAlgn="ctr"/>
                      <a:r>
                        <a:rPr lang="en-NZ" sz="1500" b="0" i="0" u="none" strike="noStrike">
                          <a:solidFill>
                            <a:srgbClr val="000000"/>
                          </a:solidFill>
                          <a:effectLst/>
                          <a:latin typeface="Calibri" panose="020F0502020204030204" pitchFamily="34" charset="0"/>
                        </a:rPr>
                        <a:t>Smoker</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a:solidFill>
                            <a:srgbClr val="000000"/>
                          </a:solidFill>
                          <a:effectLst/>
                          <a:latin typeface="Calibri" panose="020F0502020204030204" pitchFamily="34" charset="0"/>
                        </a:rPr>
                        <a:t>34.420</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dirty="0">
                          <a:solidFill>
                            <a:srgbClr val="000000"/>
                          </a:solidFill>
                          <a:effectLst/>
                          <a:latin typeface="Calibri" panose="020F0502020204030204" pitchFamily="34" charset="0"/>
                        </a:rPr>
                        <a:t>0.331</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500" b="0" i="0" u="none" strike="noStrike" dirty="0">
                          <a:solidFill>
                            <a:srgbClr val="000000"/>
                          </a:solidFill>
                          <a:effectLst/>
                          <a:latin typeface="Calibri" panose="020F0502020204030204" pitchFamily="34" charset="0"/>
                        </a:rPr>
                        <a:t>(33.77, 35.07)</a:t>
                      </a:r>
                    </a:p>
                  </a:txBody>
                  <a:tcPr marL="13729" marR="13729" marT="1372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637965394"/>
                  </a:ext>
                </a:extLst>
              </a:tr>
            </a:tbl>
          </a:graphicData>
        </a:graphic>
      </p:graphicFrame>
      <p:sp>
        <p:nvSpPr>
          <p:cNvPr id="8" name="Text Placeholder 5">
            <a:extLst>
              <a:ext uri="{FF2B5EF4-FFF2-40B4-BE49-F238E27FC236}">
                <a16:creationId xmlns:a16="http://schemas.microsoft.com/office/drawing/2014/main" id="{3FAFF654-8D2D-3A78-7B9A-32D9C06BB1D4}"/>
              </a:ext>
            </a:extLst>
          </p:cNvPr>
          <p:cNvSpPr txBox="1">
            <a:spLocks/>
          </p:cNvSpPr>
          <p:nvPr/>
        </p:nvSpPr>
        <p:spPr>
          <a:xfrm>
            <a:off x="7444060" y="2193123"/>
            <a:ext cx="4452539" cy="45348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002060"/>
                </a:solidFill>
              </a:rPr>
              <a:t>Summary Results Table</a:t>
            </a:r>
            <a:endParaRPr lang="ja-JP" altLang="en-NZ" sz="1800" b="1" dirty="0">
              <a:solidFill>
                <a:srgbClr val="002060"/>
              </a:solidFill>
            </a:endParaRPr>
          </a:p>
        </p:txBody>
      </p:sp>
    </p:spTree>
    <p:extLst>
      <p:ext uri="{BB962C8B-B14F-4D97-AF65-F5344CB8AC3E}">
        <p14:creationId xmlns:p14="http://schemas.microsoft.com/office/powerpoint/2010/main" val="1508993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7</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.5 – </a:t>
            </a:r>
            <a:r>
              <a:rPr lang="en-NZ" sz="4500" b="1" dirty="0">
                <a:solidFill>
                  <a:srgbClr val="FFC000"/>
                </a:solidFill>
                <a:latin typeface="Calibri" panose="020F0502020204030204"/>
              </a:rPr>
              <a:t>Parametric Bootstrapping</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55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Footer Placeholder 2">
            <a:extLst>
              <a:ext uri="{FF2B5EF4-FFF2-40B4-BE49-F238E27FC236}">
                <a16:creationId xmlns:a16="http://schemas.microsoft.com/office/drawing/2014/main" id="{65232B49-A219-453C-A7B1-01762A16A97C}"/>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7.5a</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3" name="Title 6">
            <a:extLst>
              <a:ext uri="{FF2B5EF4-FFF2-40B4-BE49-F238E27FC236}">
                <a16:creationId xmlns:a16="http://schemas.microsoft.com/office/drawing/2014/main" id="{E638A2DB-3614-413D-8BAB-FEC0801B7AFD}"/>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7.5a – 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pic>
        <p:nvPicPr>
          <p:cNvPr id="25" name="Picture 24">
            <a:extLst>
              <a:ext uri="{FF2B5EF4-FFF2-40B4-BE49-F238E27FC236}">
                <a16:creationId xmlns:a16="http://schemas.microsoft.com/office/drawing/2014/main" id="{85212104-A05D-4397-8698-3B76212CCAA5}"/>
              </a:ext>
            </a:extLst>
          </p:cNvPr>
          <p:cNvPicPr>
            <a:picLocks noChangeAspect="1"/>
          </p:cNvPicPr>
          <p:nvPr/>
        </p:nvPicPr>
        <p:blipFill>
          <a:blip r:embed="rId3"/>
          <a:stretch>
            <a:fillRect/>
          </a:stretch>
        </p:blipFill>
        <p:spPr>
          <a:xfrm>
            <a:off x="5754724" y="4378647"/>
            <a:ext cx="1446497" cy="428625"/>
          </a:xfrm>
          <a:prstGeom prst="rect">
            <a:avLst/>
          </a:prstGeom>
        </p:spPr>
      </p:pic>
      <p:sp>
        <p:nvSpPr>
          <p:cNvPr id="11" name="Text Placeholder 5">
            <a:extLst>
              <a:ext uri="{FF2B5EF4-FFF2-40B4-BE49-F238E27FC236}">
                <a16:creationId xmlns:a16="http://schemas.microsoft.com/office/drawing/2014/main" id="{C2C896FE-D53C-4319-81C6-D5F678C1DD97}"/>
              </a:ext>
            </a:extLst>
          </p:cNvPr>
          <p:cNvSpPr txBox="1">
            <a:spLocks/>
          </p:cNvSpPr>
          <p:nvPr/>
        </p:nvSpPr>
        <p:spPr>
          <a:xfrm>
            <a:off x="319463" y="909449"/>
            <a:ext cx="1139031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Parametric bootstrapping follows a very similar process to non-parametric bootstrapping, the major difference being:</a:t>
            </a:r>
          </a:p>
          <a:p>
            <a:pPr algn="ctr">
              <a:lnSpc>
                <a:spcPct val="100000"/>
              </a:lnSpc>
            </a:pPr>
            <a:r>
              <a:rPr lang="en-NZ" altLang="ja-JP" sz="1800" dirty="0">
                <a:solidFill>
                  <a:srgbClr val="C00000"/>
                </a:solidFill>
              </a:rPr>
              <a:t>Instead of resampling from the original sample, we resample from a hypothesised parametrised distribution.</a:t>
            </a:r>
            <a:r>
              <a:rPr lang="en-NZ" altLang="ja-JP" sz="1800" dirty="0">
                <a:solidFill>
                  <a:schemeClr val="tx1"/>
                </a:solidFill>
              </a:rPr>
              <a:t> </a:t>
            </a:r>
            <a:endParaRPr lang="ja-JP" altLang="en-NZ" sz="1800" dirty="0">
              <a:solidFill>
                <a:schemeClr val="tx1"/>
              </a:solidFill>
            </a:endParaRPr>
          </a:p>
        </p:txBody>
      </p:sp>
      <p:sp>
        <p:nvSpPr>
          <p:cNvPr id="12" name="Text Placeholder 5">
            <a:extLst>
              <a:ext uri="{FF2B5EF4-FFF2-40B4-BE49-F238E27FC236}">
                <a16:creationId xmlns:a16="http://schemas.microsoft.com/office/drawing/2014/main" id="{3A0BB866-E3F1-444E-8C42-5A3A5D08C43E}"/>
              </a:ext>
            </a:extLst>
          </p:cNvPr>
          <p:cNvSpPr txBox="1">
            <a:spLocks/>
          </p:cNvSpPr>
          <p:nvPr/>
        </p:nvSpPr>
        <p:spPr>
          <a:xfrm>
            <a:off x="475153" y="170653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1:</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9076E2C9-040B-41BC-80C0-4272D5E7C965}"/>
                  </a:ext>
                </a:extLst>
              </p:cNvPr>
              <p:cNvSpPr txBox="1">
                <a:spLocks/>
              </p:cNvSpPr>
              <p:nvPr/>
            </p:nvSpPr>
            <p:spPr>
              <a:xfrm>
                <a:off x="1370341" y="1706537"/>
                <a:ext cx="1065788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Suppose we have a random variable </a:t>
                </a:r>
                <a:r>
                  <a:rPr lang="en-NZ" altLang="ja-JP" sz="1800" b="1" i="1" dirty="0">
                    <a:solidFill>
                      <a:schemeClr val="tx1"/>
                    </a:solidFill>
                  </a:rPr>
                  <a:t>X</a:t>
                </a:r>
                <a:r>
                  <a:rPr lang="en-NZ" altLang="ja-JP" sz="1800" dirty="0">
                    <a:solidFill>
                      <a:schemeClr val="tx1"/>
                    </a:solidFill>
                  </a:rPr>
                  <a:t> with an unknown parameter of interest </a:t>
                </a:r>
                <a:r>
                  <a:rPr lang="ja-JP" altLang="en-NZ" sz="1800" dirty="0">
                    <a:solidFill>
                      <a:schemeClr val="tx1"/>
                    </a:solidFill>
                  </a:rPr>
                  <a:t>𝜽</a:t>
                </a:r>
                <a:r>
                  <a:rPr lang="en-NZ" altLang="ja-JP" sz="1800" dirty="0">
                    <a:solidFill>
                      <a:schemeClr val="tx1"/>
                    </a:solidFill>
                  </a:rPr>
                  <a:t>.</a:t>
                </a:r>
              </a:p>
              <a:p>
                <a:pPr algn="just">
                  <a:lnSpc>
                    <a:spcPct val="100000"/>
                  </a:lnSpc>
                </a:pPr>
                <a:r>
                  <a:rPr lang="en-NZ" altLang="ja-JP" sz="1800" dirty="0">
                    <a:solidFill>
                      <a:schemeClr val="tx1"/>
                    </a:solidFill>
                  </a:rPr>
                  <a:t>We assume that X follows a known distribution </a:t>
                </a:r>
                <a14:m>
                  <m:oMath xmlns:m="http://schemas.openxmlformats.org/officeDocument/2006/math">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𝜽</m:t>
                    </m:r>
                    <m:r>
                      <a:rPr lang="en-NZ" altLang="ja-JP" sz="1800" b="1" i="1" smtClean="0">
                        <a:solidFill>
                          <a:schemeClr val="tx1"/>
                        </a:solidFill>
                        <a:latin typeface="Cambria Math" panose="02040503050406030204" pitchFamily="18" charset="0"/>
                      </a:rPr>
                      <m:t>)</m:t>
                    </m:r>
                  </m:oMath>
                </a14:m>
                <a:endParaRPr lang="ja-JP" altLang="en-NZ" sz="1800" b="1" dirty="0">
                  <a:solidFill>
                    <a:schemeClr val="tx1"/>
                  </a:solidFill>
                </a:endParaRPr>
              </a:p>
            </p:txBody>
          </p:sp>
        </mc:Choice>
        <mc:Fallback xmlns="">
          <p:sp>
            <p:nvSpPr>
              <p:cNvPr id="13" name="Text Placeholder 5">
                <a:extLst>
                  <a:ext uri="{FF2B5EF4-FFF2-40B4-BE49-F238E27FC236}">
                    <a16:creationId xmlns:a16="http://schemas.microsoft.com/office/drawing/2014/main" id="{9076E2C9-040B-41BC-80C0-4272D5E7C965}"/>
                  </a:ext>
                </a:extLst>
              </p:cNvPr>
              <p:cNvSpPr txBox="1">
                <a:spLocks noRot="1" noChangeAspect="1" noMove="1" noResize="1" noEditPoints="1" noAdjustHandles="1" noChangeArrowheads="1" noChangeShapeType="1" noTextEdit="1"/>
              </p:cNvSpPr>
              <p:nvPr/>
            </p:nvSpPr>
            <p:spPr>
              <a:xfrm>
                <a:off x="1370341" y="1706537"/>
                <a:ext cx="10657886" cy="675343"/>
              </a:xfrm>
              <a:prstGeom prst="rect">
                <a:avLst/>
              </a:prstGeom>
              <a:blipFill>
                <a:blip r:embed="rId4"/>
                <a:stretch>
                  <a:fillRect l="-515" t="-7207" b="-9009"/>
                </a:stretch>
              </a:blipFill>
            </p:spPr>
            <p:txBody>
              <a:bodyPr/>
              <a:lstStyle/>
              <a:p>
                <a:r>
                  <a:rPr lang="en-NZ">
                    <a:noFill/>
                  </a:rPr>
                  <a:t> </a:t>
                </a:r>
              </a:p>
            </p:txBody>
          </p:sp>
        </mc:Fallback>
      </mc:AlternateContent>
      <p:sp>
        <p:nvSpPr>
          <p:cNvPr id="14" name="Text Placeholder 5">
            <a:extLst>
              <a:ext uri="{FF2B5EF4-FFF2-40B4-BE49-F238E27FC236}">
                <a16:creationId xmlns:a16="http://schemas.microsoft.com/office/drawing/2014/main" id="{2E94B5AC-F827-4F91-9102-B02AD7375E6A}"/>
              </a:ext>
            </a:extLst>
          </p:cNvPr>
          <p:cNvSpPr txBox="1">
            <a:spLocks/>
          </p:cNvSpPr>
          <p:nvPr/>
        </p:nvSpPr>
        <p:spPr>
          <a:xfrm>
            <a:off x="475153" y="2492749"/>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2:</a:t>
            </a:r>
            <a:endParaRPr lang="en-US" altLang="ja-JP" sz="1800" b="1" i="1" dirty="0">
              <a:solidFill>
                <a:schemeClr val="tx1"/>
              </a:solidFill>
            </a:endParaRPr>
          </a:p>
        </p:txBody>
      </p:sp>
      <mc:AlternateContent xmlns:mc="http://schemas.openxmlformats.org/markup-compatibility/2006">
        <mc:Choice xmlns:a14="http://schemas.microsoft.com/office/drawing/2010/main" Requires="a14">
          <p:sp>
            <p:nvSpPr>
              <p:cNvPr id="16" name="Text Placeholder 5">
                <a:extLst>
                  <a:ext uri="{FF2B5EF4-FFF2-40B4-BE49-F238E27FC236}">
                    <a16:creationId xmlns:a16="http://schemas.microsoft.com/office/drawing/2014/main" id="{774A2E3C-F8A2-4513-818B-84833F7C136E}"/>
                  </a:ext>
                </a:extLst>
              </p:cNvPr>
              <p:cNvSpPr txBox="1">
                <a:spLocks/>
              </p:cNvSpPr>
              <p:nvPr/>
            </p:nvSpPr>
            <p:spPr>
              <a:xfrm>
                <a:off x="1370341" y="2492749"/>
                <a:ext cx="10657886" cy="7799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800" dirty="0">
                    <a:solidFill>
                      <a:prstClr val="black"/>
                    </a:solidFill>
                  </a:rPr>
                  <a:t>We take a sample of </a:t>
                </a:r>
                <a:r>
                  <a:rPr lang="en-NZ" altLang="ja-JP" sz="1800" b="1" i="1" dirty="0">
                    <a:solidFill>
                      <a:prstClr val="black"/>
                    </a:solidFill>
                  </a:rPr>
                  <a:t>n</a:t>
                </a:r>
                <a:r>
                  <a:rPr lang="en-NZ" altLang="ja-JP" sz="1800" dirty="0">
                    <a:solidFill>
                      <a:prstClr val="black"/>
                    </a:solidFill>
                  </a:rPr>
                  <a:t> observations of </a:t>
                </a:r>
                <a:r>
                  <a:rPr lang="en-NZ" altLang="ja-JP" sz="1800" b="1" i="1" dirty="0">
                    <a:solidFill>
                      <a:prstClr val="black"/>
                    </a:solidFill>
                  </a:rPr>
                  <a:t>X</a:t>
                </a:r>
                <a:r>
                  <a:rPr lang="en-NZ" altLang="ja-JP" sz="1800" dirty="0">
                    <a:solidFill>
                      <a:prstClr val="black"/>
                    </a:solidFill>
                  </a:rPr>
                  <a:t> and index them </a:t>
                </a:r>
                <a:r>
                  <a:rPr lang="en-NZ" altLang="ja-JP" sz="1800" b="1" i="1" u="sng" dirty="0">
                    <a:solidFill>
                      <a:prstClr val="black"/>
                    </a:solidFill>
                  </a:rPr>
                  <a:t>x</a:t>
                </a:r>
                <a:r>
                  <a:rPr lang="en-NZ" altLang="ja-JP" sz="1800" b="1" i="1" dirty="0">
                    <a:solidFill>
                      <a:prstClr val="black"/>
                    </a:solidFill>
                  </a:rPr>
                  <a:t> = (x</a:t>
                </a:r>
                <a:r>
                  <a:rPr lang="en-NZ" altLang="ja-JP" sz="1800" b="1" i="1" baseline="-25000" dirty="0">
                    <a:solidFill>
                      <a:prstClr val="black"/>
                    </a:solidFill>
                  </a:rPr>
                  <a:t>1 </a:t>
                </a:r>
                <a:r>
                  <a:rPr lang="en-NZ" altLang="ja-JP" sz="1800" b="1" i="1" dirty="0">
                    <a:solidFill>
                      <a:prstClr val="black"/>
                    </a:solidFill>
                  </a:rPr>
                  <a:t>, x</a:t>
                </a:r>
                <a:r>
                  <a:rPr lang="en-NZ" altLang="ja-JP" sz="1800" b="1" i="1" baseline="-25000" dirty="0">
                    <a:solidFill>
                      <a:prstClr val="black"/>
                    </a:solidFill>
                  </a:rPr>
                  <a:t>2</a:t>
                </a:r>
                <a:r>
                  <a:rPr lang="en-NZ" altLang="ja-JP" sz="1800" b="1" i="1" dirty="0">
                    <a:solidFill>
                      <a:prstClr val="black"/>
                    </a:solidFill>
                  </a:rPr>
                  <a:t> , … , </a:t>
                </a:r>
                <a:r>
                  <a:rPr lang="en-NZ" altLang="ja-JP" sz="1800" b="1" i="1" dirty="0" err="1">
                    <a:solidFill>
                      <a:prstClr val="black"/>
                    </a:solidFill>
                  </a:rPr>
                  <a:t>x</a:t>
                </a:r>
                <a:r>
                  <a:rPr lang="en-NZ" altLang="ja-JP" sz="1800" b="1" i="1" baseline="-25000" dirty="0" err="1">
                    <a:solidFill>
                      <a:prstClr val="black"/>
                    </a:solidFill>
                  </a:rPr>
                  <a:t>n</a:t>
                </a:r>
                <a:r>
                  <a:rPr lang="en-NZ" altLang="ja-JP" sz="1800" b="1" i="1" dirty="0">
                    <a:solidFill>
                      <a:prstClr val="black"/>
                    </a:solidFill>
                  </a:rPr>
                  <a:t> )</a:t>
                </a:r>
              </a:p>
              <a:p>
                <a:pPr algn="just">
                  <a:lnSpc>
                    <a:spcPct val="100000"/>
                  </a:lnSpc>
                  <a:defRPr/>
                </a:pPr>
                <a:r>
                  <a:rPr lang="en-NZ" altLang="ja-JP" sz="1800" dirty="0">
                    <a:solidFill>
                      <a:prstClr val="black"/>
                    </a:solidFill>
                  </a:rPr>
                  <a:t>and calculate a sample statistic </a:t>
                </a:r>
                <a14:m>
                  <m:oMath xmlns:m="http://schemas.openxmlformats.org/officeDocument/2006/math">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𝒈</m:t>
                    </m:r>
                    <m:r>
                      <a:rPr lang="en-NZ" altLang="ja-JP" sz="1800" b="1" i="1">
                        <a:solidFill>
                          <a:prstClr val="black"/>
                        </a:solidFill>
                        <a:latin typeface="Cambria Math" panose="02040503050406030204" pitchFamily="18" charset="0"/>
                      </a:rPr>
                      <m:t>(</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r>
                      <a:rPr lang="en-NZ" altLang="ja-JP" sz="1800" b="1" i="1">
                        <a:solidFill>
                          <a:prstClr val="black"/>
                        </a:solidFill>
                        <a:latin typeface="Cambria Math" panose="02040503050406030204" pitchFamily="18" charset="0"/>
                      </a:rPr>
                      <m:t>)</m:t>
                    </m:r>
                  </m:oMath>
                </a14:m>
                <a:r>
                  <a:rPr lang="en-NZ" altLang="ja-JP" sz="1800" b="1" i="1" dirty="0">
                    <a:solidFill>
                      <a:prstClr val="black"/>
                    </a:solidFill>
                  </a:rPr>
                  <a:t> </a:t>
                </a:r>
                <a:r>
                  <a:rPr lang="en-NZ" altLang="ja-JP" sz="1800" dirty="0">
                    <a:solidFill>
                      <a:prstClr val="black"/>
                    </a:solidFill>
                  </a:rPr>
                  <a:t>that serves as an estimate of </a:t>
                </a:r>
                <a14:m>
                  <m:oMath xmlns:m="http://schemas.openxmlformats.org/officeDocument/2006/math">
                    <m:r>
                      <a:rPr lang="en-NZ" altLang="ja-JP" sz="1800" b="1" i="1">
                        <a:solidFill>
                          <a:prstClr val="black"/>
                        </a:solidFill>
                        <a:latin typeface="Cambria Math" panose="02040503050406030204" pitchFamily="18" charset="0"/>
                      </a:rPr>
                      <m:t>𝜽</m:t>
                    </m:r>
                  </m:oMath>
                </a14:m>
                <a:r>
                  <a:rPr lang="en-NZ" altLang="ja-JP" sz="1800" b="1" i="1" dirty="0">
                    <a:solidFill>
                      <a:prstClr val="black"/>
                    </a:solidFill>
                  </a:rPr>
                  <a:t>.</a:t>
                </a:r>
              </a:p>
            </p:txBody>
          </p:sp>
        </mc:Choice>
        <mc:Fallback>
          <p:sp>
            <p:nvSpPr>
              <p:cNvPr id="16" name="Text Placeholder 5">
                <a:extLst>
                  <a:ext uri="{FF2B5EF4-FFF2-40B4-BE49-F238E27FC236}">
                    <a16:creationId xmlns:a16="http://schemas.microsoft.com/office/drawing/2014/main" id="{774A2E3C-F8A2-4513-818B-84833F7C136E}"/>
                  </a:ext>
                </a:extLst>
              </p:cNvPr>
              <p:cNvSpPr txBox="1">
                <a:spLocks noRot="1" noChangeAspect="1" noMove="1" noResize="1" noEditPoints="1" noAdjustHandles="1" noChangeArrowheads="1" noChangeShapeType="1" noTextEdit="1"/>
              </p:cNvSpPr>
              <p:nvPr/>
            </p:nvSpPr>
            <p:spPr>
              <a:xfrm>
                <a:off x="1370341" y="2492749"/>
                <a:ext cx="10657886" cy="779975"/>
              </a:xfrm>
              <a:prstGeom prst="rect">
                <a:avLst/>
              </a:prstGeom>
              <a:blipFill>
                <a:blip r:embed="rId5"/>
                <a:stretch>
                  <a:fillRect l="-515" t="-4688"/>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ACAC2334-07BF-4A60-96C5-E69F5E7E2C5B}"/>
              </a:ext>
            </a:extLst>
          </p:cNvPr>
          <p:cNvSpPr txBox="1">
            <a:spLocks/>
          </p:cNvSpPr>
          <p:nvPr/>
        </p:nvSpPr>
        <p:spPr>
          <a:xfrm>
            <a:off x="475153" y="3390415"/>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3:</a:t>
            </a:r>
            <a:endParaRPr lang="en-US" altLang="ja-JP" sz="1800" b="1" i="1" dirty="0">
              <a:solidFill>
                <a:schemeClr val="tx1"/>
              </a:solidFill>
            </a:endParaRPr>
          </a:p>
        </p:txBody>
      </p:sp>
      <p:sp>
        <p:nvSpPr>
          <p:cNvPr id="18" name="Text Placeholder 5">
            <a:extLst>
              <a:ext uri="{FF2B5EF4-FFF2-40B4-BE49-F238E27FC236}">
                <a16:creationId xmlns:a16="http://schemas.microsoft.com/office/drawing/2014/main" id="{C84B09D4-C86F-472A-811E-03A3FC6CAA5C}"/>
              </a:ext>
            </a:extLst>
          </p:cNvPr>
          <p:cNvSpPr txBox="1">
            <a:spLocks/>
          </p:cNvSpPr>
          <p:nvPr/>
        </p:nvSpPr>
        <p:spPr>
          <a:xfrm>
            <a:off x="1370341" y="3371481"/>
            <a:ext cx="1065788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800" dirty="0">
                <a:solidFill>
                  <a:prstClr val="black"/>
                </a:solidFill>
              </a:rPr>
              <a:t>For </a:t>
            </a:r>
            <a:r>
              <a:rPr lang="en-NZ" altLang="ja-JP" sz="1800" b="1" i="1" dirty="0" err="1">
                <a:solidFill>
                  <a:prstClr val="black"/>
                </a:solidFill>
              </a:rPr>
              <a:t>i</a:t>
            </a:r>
            <a:r>
              <a:rPr lang="en-NZ" altLang="ja-JP" sz="1800" b="1" i="1" dirty="0">
                <a:solidFill>
                  <a:prstClr val="black"/>
                </a:solidFill>
              </a:rPr>
              <a:t> = 1 , … , B</a:t>
            </a: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8E0D3477-BE0D-439F-8B7D-9E3D29FC1680}"/>
                  </a:ext>
                </a:extLst>
              </p:cNvPr>
              <p:cNvSpPr txBox="1">
                <a:spLocks/>
              </p:cNvSpPr>
              <p:nvPr/>
            </p:nvSpPr>
            <p:spPr>
              <a:xfrm>
                <a:off x="1370341" y="3667855"/>
                <a:ext cx="10055386" cy="12391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romanUcPeriod"/>
                  <a:defRPr/>
                </a:pPr>
                <a:r>
                  <a:rPr lang="en-NZ" altLang="ja-JP" sz="1800" dirty="0">
                    <a:solidFill>
                      <a:prstClr val="black"/>
                    </a:solidFill>
                  </a:rPr>
                  <a:t>Create bootstrap sample </a:t>
                </a:r>
                <a14:m>
                  <m:oMath xmlns:m="http://schemas.openxmlformats.org/officeDocument/2006/math">
                    <m:r>
                      <a:rPr lang="en-NZ" altLang="ja-JP" sz="1800" b="1" i="1" smtClean="0">
                        <a:solidFill>
                          <a:prstClr val="black"/>
                        </a:solidFill>
                        <a:latin typeface="Cambria Math" panose="02040503050406030204" pitchFamily="18" charset="0"/>
                      </a:rPr>
                      <m:t>𝒊</m:t>
                    </m:r>
                  </m:oMath>
                </a14:m>
                <a:r>
                  <a:rPr lang="en-NZ" altLang="ja-JP" sz="1800" dirty="0">
                    <a:solidFill>
                      <a:prstClr val="black"/>
                    </a:solidFill>
                  </a:rPr>
                  <a:t> of length </a:t>
                </a:r>
                <a14:m>
                  <m:oMath xmlns:m="http://schemas.openxmlformats.org/officeDocument/2006/math">
                    <m:r>
                      <a:rPr lang="en-NZ" altLang="ja-JP" sz="1800" b="1" i="1" smtClean="0">
                        <a:solidFill>
                          <a:prstClr val="black"/>
                        </a:solidFill>
                        <a:latin typeface="Cambria Math" panose="02040503050406030204" pitchFamily="18" charset="0"/>
                      </a:rPr>
                      <m:t>𝒏</m:t>
                    </m:r>
                  </m:oMath>
                </a14:m>
                <a:r>
                  <a:rPr lang="en-NZ" altLang="ja-JP" sz="1800" dirty="0">
                    <a:solidFill>
                      <a:prstClr val="black"/>
                    </a:solidFill>
                  </a:rPr>
                  <a:t> such that   </a:t>
                </a:r>
                <a14:m>
                  <m:oMath xmlns:m="http://schemas.openxmlformats.org/officeDocument/2006/math">
                    <m:sSup>
                      <m:sSupPr>
                        <m:ctrlPr>
                          <a:rPr lang="en-NZ" altLang="ja-JP" sz="1800" b="1" i="1" smtClean="0">
                            <a:solidFill>
                              <a:prstClr val="black"/>
                            </a:solidFill>
                            <a:latin typeface="Cambria Math" panose="02040503050406030204" pitchFamily="18" charset="0"/>
                          </a:rPr>
                        </m:ctrlPr>
                      </m:sSupPr>
                      <m:e>
                        <m:bar>
                          <m:barPr>
                            <m:ctrlPr>
                              <a:rPr lang="en-NZ" altLang="ja-JP" sz="1800" b="1" i="1" smtClean="0">
                                <a:solidFill>
                                  <a:prstClr val="black"/>
                                </a:solidFill>
                                <a:latin typeface="Cambria Math" panose="02040503050406030204" pitchFamily="18" charset="0"/>
                              </a:rPr>
                            </m:ctrlPr>
                          </m:barPr>
                          <m:e>
                            <m:r>
                              <a:rPr lang="en-NZ" altLang="ja-JP" sz="1800" b="1" i="1" smtClean="0">
                                <a:solidFill>
                                  <a:prstClr val="black"/>
                                </a:solidFill>
                                <a:latin typeface="Cambria Math" panose="02040503050406030204" pitchFamily="18" charset="0"/>
                              </a:rPr>
                              <m:t>𝒙</m:t>
                            </m:r>
                          </m:e>
                        </m:bar>
                      </m:e>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p>
                    <m:r>
                      <a:rPr lang="en-NZ" altLang="ja-JP" sz="1800" b="1" i="1" smtClean="0">
                        <a:solidFill>
                          <a:prstClr val="black"/>
                        </a:solidFill>
                        <a:latin typeface="Cambria Math" panose="02040503050406030204" pitchFamily="18" charset="0"/>
                      </a:rPr>
                      <m:t>=(</m:t>
                    </m:r>
                    <m:sSubSup>
                      <m:sSubSupPr>
                        <m:ctrlPr>
                          <a:rPr lang="en-NZ" altLang="ja-JP" sz="1800" b="1" i="1" smtClean="0">
                            <a:solidFill>
                              <a:prstClr val="black"/>
                            </a:solidFill>
                            <a:latin typeface="Cambria Math" panose="02040503050406030204" pitchFamily="18" charset="0"/>
                          </a:rPr>
                        </m:ctrlPr>
                      </m:sSubSupPr>
                      <m:e>
                        <m:r>
                          <a:rPr lang="en-NZ" altLang="ja-JP" sz="1800" b="1" i="1" smtClean="0">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𝟏</m:t>
                        </m:r>
                      </m:sub>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bSup>
                    <m:r>
                      <a:rPr lang="en-NZ" altLang="ja-JP" sz="1800" b="1" i="1" smtClean="0">
                        <a:solidFill>
                          <a:prstClr val="black"/>
                        </a:solidFill>
                        <a:latin typeface="Cambria Math" panose="02040503050406030204" pitchFamily="18" charset="0"/>
                      </a:rPr>
                      <m:t>,  </m:t>
                    </m:r>
                    <m:sSubSup>
                      <m:sSubSupPr>
                        <m:ctrlPr>
                          <a:rPr lang="en-NZ" altLang="ja-JP" sz="1800" b="1" i="1" smtClean="0">
                            <a:solidFill>
                              <a:prstClr val="black"/>
                            </a:solidFill>
                            <a:latin typeface="Cambria Math" panose="02040503050406030204" pitchFamily="18" charset="0"/>
                          </a:rPr>
                        </m:ctrlPr>
                      </m:sSubSupPr>
                      <m:e>
                        <m:r>
                          <a:rPr lang="en-NZ" altLang="ja-JP" sz="1800" b="1" i="1" smtClean="0">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𝟐</m:t>
                        </m:r>
                      </m:sub>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bSup>
                    <m:r>
                      <a:rPr lang="en-NZ" altLang="ja-JP" sz="1800" b="1" i="1" smtClean="0">
                        <a:solidFill>
                          <a:prstClr val="black"/>
                        </a:solidFill>
                        <a:latin typeface="Cambria Math" panose="02040503050406030204" pitchFamily="18" charset="0"/>
                      </a:rPr>
                      <m:t> , …, </m:t>
                    </m:r>
                    <m:sSubSup>
                      <m:sSubSupPr>
                        <m:ctrlPr>
                          <a:rPr lang="en-NZ" altLang="ja-JP" sz="1800" b="1" i="1" smtClean="0">
                            <a:solidFill>
                              <a:prstClr val="black"/>
                            </a:solidFill>
                            <a:latin typeface="Cambria Math" panose="02040503050406030204" pitchFamily="18" charset="0"/>
                          </a:rPr>
                        </m:ctrlPr>
                      </m:sSubSupPr>
                      <m:e>
                        <m:r>
                          <a:rPr lang="en-NZ" altLang="ja-JP" sz="1800" b="1" i="1" smtClean="0">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𝒏</m:t>
                        </m:r>
                      </m:sub>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bSup>
                    <m:r>
                      <a:rPr lang="en-NZ" altLang="ja-JP" sz="1800" b="1" i="1" smtClean="0">
                        <a:solidFill>
                          <a:prstClr val="black"/>
                        </a:solidFill>
                        <a:latin typeface="Cambria Math" panose="02040503050406030204" pitchFamily="18" charset="0"/>
                      </a:rPr>
                      <m:t> )</m:t>
                    </m:r>
                  </m:oMath>
                </a14:m>
                <a:r>
                  <a:rPr lang="en-NZ" altLang="ja-JP" sz="1800" b="1" i="1" dirty="0">
                    <a:solidFill>
                      <a:prstClr val="black"/>
                    </a:solidFill>
                  </a:rPr>
                  <a:t>  </a:t>
                </a:r>
                <a:br>
                  <a:rPr lang="en-NZ" altLang="ja-JP" sz="1800" b="1" i="1" dirty="0">
                    <a:solidFill>
                      <a:prstClr val="black"/>
                    </a:solidFill>
                  </a:rPr>
                </a:br>
                <a:r>
                  <a:rPr lang="en-NZ" altLang="ja-JP" sz="1800" dirty="0">
                    <a:solidFill>
                      <a:prstClr val="black"/>
                    </a:solidFill>
                  </a:rPr>
                  <a:t>by sampling from the distribution </a:t>
                </a:r>
                <a14:m>
                  <m:oMath xmlns:m="http://schemas.openxmlformats.org/officeDocument/2006/math">
                    <m:r>
                      <a:rPr lang="en-NZ" altLang="ja-JP" sz="1800" b="1" i="1">
                        <a:solidFill>
                          <a:schemeClr val="tx1"/>
                        </a:solidFill>
                        <a:latin typeface="Cambria Math" panose="02040503050406030204" pitchFamily="18" charset="0"/>
                      </a:rPr>
                      <m:t>𝑭</m:t>
                    </m:r>
                    <m:r>
                      <a:rPr lang="en-NZ" altLang="ja-JP" sz="1800" b="1" i="1">
                        <a:solidFill>
                          <a:schemeClr val="tx1"/>
                        </a:solidFill>
                        <a:latin typeface="Cambria Math" panose="02040503050406030204" pitchFamily="18" charset="0"/>
                      </a:rPr>
                      <m:t>(</m:t>
                    </m:r>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r>
                      <a:rPr lang="en-NZ" altLang="ja-JP" sz="1800" b="1" i="1">
                        <a:solidFill>
                          <a:schemeClr val="tx1"/>
                        </a:solidFill>
                        <a:latin typeface="Cambria Math" panose="02040503050406030204" pitchFamily="18" charset="0"/>
                      </a:rPr>
                      <m:t>)</m:t>
                    </m:r>
                  </m:oMath>
                </a14:m>
                <a:endParaRPr lang="en-NZ" altLang="ja-JP" sz="1800" dirty="0">
                  <a:solidFill>
                    <a:prstClr val="black"/>
                  </a:solidFill>
                </a:endParaRPr>
              </a:p>
              <a:p>
                <a:pPr marL="400050" lvl="0" indent="-400050">
                  <a:lnSpc>
                    <a:spcPct val="100000"/>
                  </a:lnSpc>
                  <a:buFont typeface="+mj-lt"/>
                  <a:buAutoNum type="romanUcPeriod"/>
                  <a:defRPr/>
                </a:pPr>
                <a:endParaRPr lang="en-NZ" altLang="ja-JP" sz="200" b="1" i="1" dirty="0">
                  <a:solidFill>
                    <a:prstClr val="black"/>
                  </a:solidFill>
                </a:endParaRPr>
              </a:p>
              <a:p>
                <a:pPr marL="400050" lvl="0" indent="-400050">
                  <a:lnSpc>
                    <a:spcPct val="100000"/>
                  </a:lnSpc>
                  <a:buFont typeface="+mj-lt"/>
                  <a:buAutoNum type="romanUcPeriod"/>
                  <a:defRPr/>
                </a:pPr>
                <a:endParaRPr lang="en-NZ" altLang="ja-JP" sz="200" b="1" i="1" dirty="0">
                  <a:solidFill>
                    <a:prstClr val="black"/>
                  </a:solidFill>
                </a:endParaRPr>
              </a:p>
              <a:p>
                <a:pPr marL="400050" lvl="0" indent="-400050">
                  <a:lnSpc>
                    <a:spcPct val="100000"/>
                  </a:lnSpc>
                  <a:buFont typeface="+mj-lt"/>
                  <a:buAutoNum type="romanUcPeriod"/>
                  <a:defRPr/>
                </a:pPr>
                <a:endParaRPr lang="en-NZ" altLang="ja-JP" sz="200" b="1" i="1" dirty="0">
                  <a:solidFill>
                    <a:prstClr val="black"/>
                  </a:solidFill>
                </a:endParaRPr>
              </a:p>
              <a:p>
                <a:pPr marL="400050" lvl="0" indent="-400050" algn="just">
                  <a:lnSpc>
                    <a:spcPct val="100000"/>
                  </a:lnSpc>
                  <a:buFont typeface="+mj-lt"/>
                  <a:buAutoNum type="romanUcPeriod"/>
                  <a:defRPr/>
                </a:pPr>
                <a:r>
                  <a:rPr lang="en-NZ" altLang="ja-JP" sz="1800" dirty="0">
                    <a:solidFill>
                      <a:prstClr val="black"/>
                    </a:solidFill>
                  </a:rPr>
                  <a:t>For bootstrap sample </a:t>
                </a:r>
                <a14:m>
                  <m:oMath xmlns:m="http://schemas.openxmlformats.org/officeDocument/2006/math">
                    <m:r>
                      <a:rPr lang="en-NZ" altLang="ja-JP" sz="1800" b="1" i="1">
                        <a:solidFill>
                          <a:prstClr val="black"/>
                        </a:solidFill>
                        <a:latin typeface="Cambria Math" panose="02040503050406030204" pitchFamily="18" charset="0"/>
                      </a:rPr>
                      <m:t>𝒊</m:t>
                    </m:r>
                  </m:oMath>
                </a14:m>
                <a:r>
                  <a:rPr lang="en-NZ" altLang="ja-JP" sz="1800" dirty="0">
                    <a:solidFill>
                      <a:prstClr val="black"/>
                    </a:solidFill>
                  </a:rPr>
                  <a:t> we calculate </a:t>
                </a:r>
                <a14:m>
                  <m:oMath xmlns:m="http://schemas.openxmlformats.org/officeDocument/2006/math">
                    <m:sSup>
                      <m:sSupPr>
                        <m:ctrlPr>
                          <a:rPr lang="en-NZ" altLang="ja-JP" sz="1800" b="1" i="1" smtClean="0">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p>
                    </m:sSup>
                    <m:r>
                      <a:rPr lang="en-NZ" altLang="ja-JP" sz="1800" b="1" i="1">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𝒈</m:t>
                    </m:r>
                    <m:r>
                      <a:rPr lang="en-NZ" altLang="ja-JP" sz="1800" b="1" i="1" smtClean="0">
                        <a:solidFill>
                          <a:prstClr val="black"/>
                        </a:solidFill>
                        <a:latin typeface="Cambria Math" panose="02040503050406030204" pitchFamily="18" charset="0"/>
                      </a:rPr>
                      <m:t>(</m:t>
                    </m:r>
                    <m:sSup>
                      <m:sSupPr>
                        <m:ctrlPr>
                          <a:rPr lang="en-NZ" altLang="ja-JP" sz="1800" b="1" i="1">
                            <a:solidFill>
                              <a:prstClr val="black"/>
                            </a:solidFill>
                            <a:latin typeface="Cambria Math" panose="02040503050406030204" pitchFamily="18" charset="0"/>
                          </a:rPr>
                        </m:ctrlPr>
                      </m:sSupPr>
                      <m:e>
                        <m:r>
                          <a:rPr lang="en-NZ" altLang="ja-JP" sz="1800" b="1" i="1" smtClean="0">
                            <a:solidFill>
                              <a:prstClr val="black"/>
                            </a:solidFill>
                            <a:latin typeface="Cambria Math" panose="02040503050406030204" pitchFamily="18" charset="0"/>
                          </a:rPr>
                          <m:t> </m:t>
                        </m:r>
                        <m:bar>
                          <m:barPr>
                            <m:ctrlPr>
                              <a:rPr lang="en-NZ" altLang="ja-JP" sz="1800" b="1" i="1">
                                <a:solidFill>
                                  <a:prstClr val="black"/>
                                </a:solidFill>
                                <a:latin typeface="Cambria Math" panose="02040503050406030204" pitchFamily="18" charset="0"/>
                              </a:rPr>
                            </m:ctrlPr>
                          </m:barPr>
                          <m:e>
                            <m:r>
                              <a:rPr lang="en-NZ" altLang="ja-JP" sz="1800" b="1" i="1">
                                <a:solidFill>
                                  <a:prstClr val="black"/>
                                </a:solidFill>
                                <a:latin typeface="Cambria Math" panose="02040503050406030204" pitchFamily="18" charset="0"/>
                              </a:rPr>
                              <m:t>𝒙</m:t>
                            </m:r>
                          </m:e>
                        </m:bar>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r>
                      <a:rPr lang="en-NZ" altLang="ja-JP" sz="1800" b="1" i="1" smtClean="0">
                        <a:solidFill>
                          <a:prstClr val="black"/>
                        </a:solidFill>
                        <a:latin typeface="Cambria Math" panose="02040503050406030204" pitchFamily="18" charset="0"/>
                      </a:rPr>
                      <m:t> )</m:t>
                    </m:r>
                  </m:oMath>
                </a14:m>
                <a:r>
                  <a:rPr lang="en-NZ" altLang="ja-JP" sz="1800" dirty="0">
                    <a:solidFill>
                      <a:prstClr val="black"/>
                    </a:solidFill>
                  </a:rPr>
                  <a:t> and append this value to a results file</a:t>
                </a:r>
              </a:p>
            </p:txBody>
          </p:sp>
        </mc:Choice>
        <mc:Fallback xmlns="">
          <p:sp>
            <p:nvSpPr>
              <p:cNvPr id="19" name="Text Placeholder 5">
                <a:extLst>
                  <a:ext uri="{FF2B5EF4-FFF2-40B4-BE49-F238E27FC236}">
                    <a16:creationId xmlns:a16="http://schemas.microsoft.com/office/drawing/2014/main" id="{8E0D3477-BE0D-439F-8B7D-9E3D29FC1680}"/>
                  </a:ext>
                </a:extLst>
              </p:cNvPr>
              <p:cNvSpPr txBox="1">
                <a:spLocks noRot="1" noChangeAspect="1" noMove="1" noResize="1" noEditPoints="1" noAdjustHandles="1" noChangeArrowheads="1" noChangeShapeType="1" noTextEdit="1"/>
              </p:cNvSpPr>
              <p:nvPr/>
            </p:nvSpPr>
            <p:spPr>
              <a:xfrm>
                <a:off x="1370341" y="3667855"/>
                <a:ext cx="10055386" cy="1239111"/>
              </a:xfrm>
              <a:prstGeom prst="rect">
                <a:avLst/>
              </a:prstGeom>
              <a:blipFill>
                <a:blip r:embed="rId6"/>
                <a:stretch>
                  <a:fillRect l="-546" t="-985"/>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CD209878-5C8D-461E-8627-DEFFB0107C4E}"/>
              </a:ext>
            </a:extLst>
          </p:cNvPr>
          <p:cNvSpPr txBox="1">
            <a:spLocks/>
          </p:cNvSpPr>
          <p:nvPr/>
        </p:nvSpPr>
        <p:spPr>
          <a:xfrm>
            <a:off x="475153" y="4935852"/>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4:</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B02E1331-C8C0-4DD5-A247-029079BA1F4D}"/>
                  </a:ext>
                </a:extLst>
              </p:cNvPr>
              <p:cNvSpPr txBox="1">
                <a:spLocks/>
              </p:cNvSpPr>
              <p:nvPr/>
            </p:nvSpPr>
            <p:spPr>
              <a:xfrm>
                <a:off x="1370341" y="4920549"/>
                <a:ext cx="1065788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estimate </a:t>
                </a:r>
                <a14:m>
                  <m:oMath xmlns:m="http://schemas.openxmlformats.org/officeDocument/2006/math">
                    <m:r>
                      <a:rPr lang="en-NZ" altLang="ja-JP" sz="1800" b="1" i="1" smtClean="0">
                        <a:solidFill>
                          <a:schemeClr val="tx1"/>
                        </a:solidFill>
                        <a:latin typeface="Cambria Math" panose="02040503050406030204" pitchFamily="18" charset="0"/>
                      </a:rPr>
                      <m:t>𝒔</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𝒆</m:t>
                    </m:r>
                    <m:r>
                      <a:rPr lang="en-NZ" altLang="ja-JP" sz="1800" b="1" i="1" smtClean="0">
                        <a:solidFill>
                          <a:schemeClr val="tx1"/>
                        </a:solidFill>
                        <a:latin typeface="Cambria Math" panose="02040503050406030204" pitchFamily="18" charset="0"/>
                      </a:rPr>
                      <m:t>.(</m:t>
                    </m:r>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r>
                      <a:rPr lang="en-NZ" altLang="ja-JP" sz="1800" b="1" i="1" smtClean="0">
                        <a:solidFill>
                          <a:schemeClr val="tx1"/>
                        </a:solidFill>
                        <a:latin typeface="Cambria Math" panose="02040503050406030204" pitchFamily="18" charset="0"/>
                      </a:rPr>
                      <m:t>)</m:t>
                    </m:r>
                  </m:oMath>
                </a14:m>
                <a:r>
                  <a:rPr lang="ja-JP" altLang="en-NZ" sz="1800" b="1" dirty="0">
                    <a:solidFill>
                      <a:schemeClr val="tx1"/>
                    </a:solidFill>
                  </a:rPr>
                  <a:t> </a:t>
                </a:r>
                <a:r>
                  <a:rPr lang="en-NZ" altLang="ja-JP" sz="1800" dirty="0">
                    <a:solidFill>
                      <a:schemeClr val="tx1"/>
                    </a:solidFill>
                  </a:rPr>
                  <a:t>by calculating the standard deviation of the </a:t>
                </a:r>
                <a14:m>
                  <m:oMath xmlns:m="http://schemas.openxmlformats.org/officeDocument/2006/math">
                    <m:sSup>
                      <m:sSupPr>
                        <m:ctrlPr>
                          <a:rPr lang="en-NZ" altLang="ja-JP" sz="1800" b="1" i="1">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oMath>
                </a14:m>
                <a:r>
                  <a:rPr lang="en-NZ" altLang="ja-JP" sz="1800" dirty="0">
                    <a:solidFill>
                      <a:schemeClr val="tx1"/>
                    </a:solidFill>
                  </a:rPr>
                  <a:t> </a:t>
                </a:r>
                <a:endParaRPr lang="ja-JP" altLang="en-NZ" sz="1800" dirty="0">
                  <a:solidFill>
                    <a:schemeClr val="tx1"/>
                  </a:solidFill>
                </a:endParaRPr>
              </a:p>
            </p:txBody>
          </p:sp>
        </mc:Choice>
        <mc:Fallback xmlns="">
          <p:sp>
            <p:nvSpPr>
              <p:cNvPr id="21" name="Text Placeholder 5">
                <a:extLst>
                  <a:ext uri="{FF2B5EF4-FFF2-40B4-BE49-F238E27FC236}">
                    <a16:creationId xmlns:a16="http://schemas.microsoft.com/office/drawing/2014/main" id="{B02E1331-C8C0-4DD5-A247-029079BA1F4D}"/>
                  </a:ext>
                </a:extLst>
              </p:cNvPr>
              <p:cNvSpPr txBox="1">
                <a:spLocks noRot="1" noChangeAspect="1" noMove="1" noResize="1" noEditPoints="1" noAdjustHandles="1" noChangeArrowheads="1" noChangeShapeType="1" noTextEdit="1"/>
              </p:cNvSpPr>
              <p:nvPr/>
            </p:nvSpPr>
            <p:spPr>
              <a:xfrm>
                <a:off x="1370341" y="4920549"/>
                <a:ext cx="10657886" cy="675343"/>
              </a:xfrm>
              <a:prstGeom prst="rect">
                <a:avLst/>
              </a:prstGeom>
              <a:blipFill>
                <a:blip r:embed="rId7"/>
                <a:stretch>
                  <a:fillRect l="-515" t="-2703"/>
                </a:stretch>
              </a:blipFill>
            </p:spPr>
            <p:txBody>
              <a:bodyPr/>
              <a:lstStyle/>
              <a:p>
                <a:r>
                  <a:rPr lang="en-NZ">
                    <a:noFill/>
                  </a:rPr>
                  <a:t> </a:t>
                </a:r>
              </a:p>
            </p:txBody>
          </p:sp>
        </mc:Fallback>
      </mc:AlternateContent>
      <p:sp>
        <p:nvSpPr>
          <p:cNvPr id="22" name="Text Placeholder 5">
            <a:extLst>
              <a:ext uri="{FF2B5EF4-FFF2-40B4-BE49-F238E27FC236}">
                <a16:creationId xmlns:a16="http://schemas.microsoft.com/office/drawing/2014/main" id="{659F24BA-5AE7-4A5E-866A-60605687221F}"/>
              </a:ext>
            </a:extLst>
          </p:cNvPr>
          <p:cNvSpPr txBox="1">
            <a:spLocks/>
          </p:cNvSpPr>
          <p:nvPr/>
        </p:nvSpPr>
        <p:spPr>
          <a:xfrm>
            <a:off x="475153" y="5456173"/>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5:</a:t>
            </a:r>
            <a:endParaRPr lang="en-US" altLang="ja-JP" sz="1800" b="1" i="1" dirty="0">
              <a:solidFill>
                <a:schemeClr val="tx1"/>
              </a:solidFill>
            </a:endParaRPr>
          </a:p>
        </p:txBody>
      </p:sp>
      <mc:AlternateContent xmlns:mc="http://schemas.openxmlformats.org/markup-compatibility/2006">
        <mc:Choice xmlns:a14="http://schemas.microsoft.com/office/drawing/2010/main" Requires="a14">
          <p:sp>
            <p:nvSpPr>
              <p:cNvPr id="24" name="Text Placeholder 5">
                <a:extLst>
                  <a:ext uri="{FF2B5EF4-FFF2-40B4-BE49-F238E27FC236}">
                    <a16:creationId xmlns:a16="http://schemas.microsoft.com/office/drawing/2014/main" id="{8CBF1D68-6A50-4D31-9B1D-971753B9D1FB}"/>
                  </a:ext>
                </a:extLst>
              </p:cNvPr>
              <p:cNvSpPr txBox="1">
                <a:spLocks/>
              </p:cNvSpPr>
              <p:nvPr/>
            </p:nvSpPr>
            <p:spPr>
              <a:xfrm>
                <a:off x="1370341" y="5449542"/>
                <a:ext cx="969799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tx1"/>
                    </a:solidFill>
                  </a:rPr>
                  <a:t>If the </a:t>
                </a:r>
                <a14:m>
                  <m:oMath xmlns:m="http://schemas.openxmlformats.org/officeDocument/2006/math">
                    <m:sSup>
                      <m:sSupPr>
                        <m:ctrlPr>
                          <a:rPr lang="en-NZ" altLang="ja-JP" sz="1800" b="1" i="1">
                            <a:solidFill>
                              <a:prstClr val="black"/>
                            </a:solidFill>
                            <a:latin typeface="Cambria Math" panose="02040503050406030204" pitchFamily="18" charset="0"/>
                          </a:rPr>
                        </m:ctrlPr>
                      </m:sSup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sup>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p>
                    </m:sSup>
                  </m:oMath>
                </a14:m>
                <a:r>
                  <a:rPr lang="en-NZ" altLang="ja-JP" sz="1800" dirty="0">
                    <a:solidFill>
                      <a:schemeClr val="tx1"/>
                    </a:solidFill>
                  </a:rPr>
                  <a:t> can be assumed to be normal, we calculate a 95%  confidence interval for </a:t>
                </a:r>
                <a:r>
                  <a:rPr lang="ja-JP" altLang="en-NZ" sz="1800" dirty="0">
                    <a:solidFill>
                      <a:schemeClr val="tx1"/>
                    </a:solidFill>
                  </a:rPr>
                  <a:t>𝜽 </a:t>
                </a:r>
                <a:r>
                  <a:rPr lang="en-NZ" altLang="ja-JP" sz="1800" dirty="0">
                    <a:solidFill>
                      <a:schemeClr val="tx1"/>
                    </a:solidFill>
                  </a:rPr>
                  <a:t>using the standard bootstrap confidence interval </a:t>
                </a:r>
                <a14:m>
                  <m:oMath xmlns:m="http://schemas.openxmlformats.org/officeDocument/2006/math">
                    <m:r>
                      <a:rPr lang="en-NZ" altLang="ja-JP" sz="1800" b="0" i="1" smtClean="0">
                        <a:solidFill>
                          <a:schemeClr val="tx1"/>
                        </a:solidFill>
                        <a:latin typeface="Cambria Math" panose="02040503050406030204" pitchFamily="18" charset="0"/>
                      </a:rPr>
                      <m:t>[</m:t>
                    </m:r>
                    <m:acc>
                      <m:accPr>
                        <m:chr m:val="̂"/>
                        <m:ctrlPr>
                          <a:rPr lang="en-NZ" altLang="ja-JP" sz="1800" b="1" i="1">
                            <a:solidFill>
                              <a:prstClr val="black"/>
                            </a:solidFill>
                            <a:latin typeface="Cambria Math" panose="02040503050406030204" pitchFamily="18" charset="0"/>
                          </a:rPr>
                        </m:ctrlPr>
                      </m:accPr>
                      <m:e>
                        <m:r>
                          <a:rPr lang="en-NZ" altLang="ja-JP" sz="1800" b="1" i="1" smtClean="0">
                            <a:solidFill>
                              <a:prstClr val="black"/>
                            </a:solidFill>
                            <a:latin typeface="Cambria Math" panose="02040503050406030204" pitchFamily="18" charset="0"/>
                          </a:rPr>
                          <m:t> </m:t>
                        </m:r>
                        <m:r>
                          <a:rPr lang="en-NZ" altLang="ja-JP" sz="1800" b="1" i="1">
                            <a:solidFill>
                              <a:prstClr val="black"/>
                            </a:solidFill>
                            <a:latin typeface="Cambria Math" panose="02040503050406030204" pitchFamily="18" charset="0"/>
                          </a:rPr>
                          <m:t>𝜽</m:t>
                        </m:r>
                      </m:e>
                    </m:acc>
                    <m:r>
                      <a:rPr lang="en-NZ" altLang="ja-JP" sz="1800" b="1" i="1" smtClean="0">
                        <a:solidFill>
                          <a:prstClr val="black"/>
                        </a:solidFill>
                        <a:latin typeface="Cambria Math" panose="02040503050406030204" pitchFamily="18" charset="0"/>
                      </a:rPr>
                      <m:t> </m:t>
                    </m:r>
                    <m:r>
                      <a:rPr lang="en-NZ" altLang="ja-JP" sz="1800" b="1" i="1" smtClean="0">
                        <a:solidFill>
                          <a:prstClr val="black"/>
                        </a:solidFill>
                        <a:latin typeface="Cambria Math" panose="02040503050406030204" pitchFamily="18" charset="0"/>
                        <a:ea typeface="Cambria Math" panose="02040503050406030204" pitchFamily="18" charset="0"/>
                      </a:rPr>
                      <m:t>±</m:t>
                    </m:r>
                    <m:r>
                      <a:rPr lang="en-NZ" altLang="ja-JP" sz="1800" b="1" i="1" smtClean="0">
                        <a:solidFill>
                          <a:prstClr val="black"/>
                        </a:solidFill>
                        <a:latin typeface="Cambria Math" panose="02040503050406030204" pitchFamily="18" charset="0"/>
                        <a:ea typeface="Cambria Math" panose="02040503050406030204" pitchFamily="18" charset="0"/>
                      </a:rPr>
                      <m:t>𝟏</m:t>
                    </m:r>
                    <m:r>
                      <a:rPr lang="en-NZ" altLang="ja-JP" sz="1800" b="1" i="1" smtClean="0">
                        <a:solidFill>
                          <a:prstClr val="black"/>
                        </a:solidFill>
                        <a:latin typeface="Cambria Math" panose="02040503050406030204" pitchFamily="18" charset="0"/>
                        <a:ea typeface="Cambria Math" panose="02040503050406030204" pitchFamily="18" charset="0"/>
                      </a:rPr>
                      <m:t>.</m:t>
                    </m:r>
                    <m:r>
                      <a:rPr lang="en-NZ" altLang="ja-JP" sz="1800" b="1" i="1" smtClean="0">
                        <a:solidFill>
                          <a:prstClr val="black"/>
                        </a:solidFill>
                        <a:latin typeface="Cambria Math" panose="02040503050406030204" pitchFamily="18" charset="0"/>
                        <a:ea typeface="Cambria Math" panose="02040503050406030204" pitchFamily="18" charset="0"/>
                      </a:rPr>
                      <m:t>𝟗𝟔</m:t>
                    </m:r>
                    <m:r>
                      <a:rPr lang="en-NZ" altLang="ja-JP" sz="1800" b="1" i="1" smtClean="0">
                        <a:solidFill>
                          <a:prstClr val="black"/>
                        </a:solidFill>
                        <a:latin typeface="Cambria Math" panose="02040503050406030204" pitchFamily="18" charset="0"/>
                        <a:ea typeface="Cambria Math" panose="02040503050406030204" pitchFamily="18" charset="0"/>
                      </a:rPr>
                      <m:t> ∗</m:t>
                    </m:r>
                    <m:r>
                      <a:rPr lang="en-NZ" altLang="ja-JP" sz="1800" b="1" i="1">
                        <a:solidFill>
                          <a:schemeClr val="tx1"/>
                        </a:solidFill>
                        <a:latin typeface="Cambria Math" panose="02040503050406030204" pitchFamily="18" charset="0"/>
                      </a:rPr>
                      <m:t>𝒔</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𝒆</m:t>
                    </m:r>
                    <m:r>
                      <a:rPr lang="en-NZ" altLang="ja-JP" sz="1800" b="1" i="1">
                        <a:solidFill>
                          <a:schemeClr val="tx1"/>
                        </a:solidFill>
                        <a:latin typeface="Cambria Math" panose="02040503050406030204" pitchFamily="18" charset="0"/>
                      </a:rPr>
                      <m:t>.</m:t>
                    </m:r>
                    <m:d>
                      <m:dPr>
                        <m:ctrlPr>
                          <a:rPr lang="en-NZ" altLang="ja-JP" sz="1800" b="1" i="1">
                            <a:solidFill>
                              <a:schemeClr val="tx1"/>
                            </a:solidFill>
                            <a:latin typeface="Cambria Math" panose="02040503050406030204" pitchFamily="18" charset="0"/>
                          </a:rPr>
                        </m:ctrlPr>
                      </m:d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𝜽</m:t>
                            </m:r>
                          </m:e>
                        </m:acc>
                      </m:e>
                    </m:d>
                    <m:r>
                      <a:rPr lang="en-NZ" altLang="ja-JP" sz="1800" b="1" i="1" smtClean="0">
                        <a:solidFill>
                          <a:schemeClr val="tx1"/>
                        </a:solidFill>
                        <a:latin typeface="Cambria Math" panose="02040503050406030204" pitchFamily="18" charset="0"/>
                      </a:rPr>
                      <m:t> ]</m:t>
                    </m:r>
                  </m:oMath>
                </a14:m>
                <a:r>
                  <a:rPr lang="en-NZ" altLang="ja-JP" sz="1800" dirty="0">
                    <a:solidFill>
                      <a:schemeClr val="tx1"/>
                    </a:solidFill>
                  </a:rPr>
                  <a:t>. </a:t>
                </a:r>
                <a:br>
                  <a:rPr lang="en-NZ" altLang="ja-JP" sz="1800" dirty="0">
                    <a:solidFill>
                      <a:schemeClr val="tx1"/>
                    </a:solidFill>
                  </a:rPr>
                </a:br>
                <a:r>
                  <a:rPr lang="en-NZ" altLang="ja-JP" sz="1800" dirty="0">
                    <a:solidFill>
                      <a:schemeClr val="tx1"/>
                    </a:solidFill>
                  </a:rPr>
                  <a:t>Otherwise, we calculate the confidence interval using percentile methods.</a:t>
                </a:r>
                <a:endParaRPr lang="ja-JP" altLang="en-NZ" sz="1800" dirty="0">
                  <a:solidFill>
                    <a:schemeClr val="tx1"/>
                  </a:solidFill>
                </a:endParaRPr>
              </a:p>
            </p:txBody>
          </p:sp>
        </mc:Choice>
        <mc:Fallback>
          <p:sp>
            <p:nvSpPr>
              <p:cNvPr id="24" name="Text Placeholder 5">
                <a:extLst>
                  <a:ext uri="{FF2B5EF4-FFF2-40B4-BE49-F238E27FC236}">
                    <a16:creationId xmlns:a16="http://schemas.microsoft.com/office/drawing/2014/main" id="{8CBF1D68-6A50-4D31-9B1D-971753B9D1FB}"/>
                  </a:ext>
                </a:extLst>
              </p:cNvPr>
              <p:cNvSpPr txBox="1">
                <a:spLocks noRot="1" noChangeAspect="1" noMove="1" noResize="1" noEditPoints="1" noAdjustHandles="1" noChangeArrowheads="1" noChangeShapeType="1" noTextEdit="1"/>
              </p:cNvSpPr>
              <p:nvPr/>
            </p:nvSpPr>
            <p:spPr>
              <a:xfrm>
                <a:off x="1370341" y="5449542"/>
                <a:ext cx="9697993" cy="675343"/>
              </a:xfrm>
              <a:prstGeom prst="rect">
                <a:avLst/>
              </a:prstGeom>
              <a:blipFill>
                <a:blip r:embed="rId8"/>
                <a:stretch>
                  <a:fillRect l="-566" t="-5405" b="-56757"/>
                </a:stretch>
              </a:blipFill>
            </p:spPr>
            <p:txBody>
              <a:bodyPr/>
              <a:lstStyle/>
              <a:p>
                <a:r>
                  <a:rPr lang="en-NZ">
                    <a:noFill/>
                  </a:rPr>
                  <a:t> </a:t>
                </a:r>
              </a:p>
            </p:txBody>
          </p:sp>
        </mc:Fallback>
      </mc:AlternateContent>
    </p:spTree>
    <p:extLst>
      <p:ext uri="{BB962C8B-B14F-4D97-AF65-F5344CB8AC3E}">
        <p14:creationId xmlns:p14="http://schemas.microsoft.com/office/powerpoint/2010/main" val="347363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P spid="17" grpId="0"/>
      <p:bldP spid="18" grpId="0"/>
      <p:bldP spid="19" grpId="0"/>
      <p:bldP spid="20" grpId="0"/>
      <p:bldP spid="21" grpId="0"/>
      <p:bldP spid="22" grpId="0"/>
      <p:bldP spid="2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pic>
        <p:nvPicPr>
          <p:cNvPr id="25" name="Picture 24">
            <a:extLst>
              <a:ext uri="{FF2B5EF4-FFF2-40B4-BE49-F238E27FC236}">
                <a16:creationId xmlns:a16="http://schemas.microsoft.com/office/drawing/2014/main" id="{85212104-A05D-4397-8698-3B76212CCAA5}"/>
              </a:ext>
            </a:extLst>
          </p:cNvPr>
          <p:cNvPicPr>
            <a:picLocks noChangeAspect="1"/>
          </p:cNvPicPr>
          <p:nvPr/>
        </p:nvPicPr>
        <p:blipFill>
          <a:blip r:embed="rId3"/>
          <a:stretch>
            <a:fillRect/>
          </a:stretch>
        </p:blipFill>
        <p:spPr>
          <a:xfrm>
            <a:off x="5754724" y="4378647"/>
            <a:ext cx="1446497" cy="428625"/>
          </a:xfrm>
          <a:prstGeom prst="rect">
            <a:avLst/>
          </a:prstGeom>
        </p:spPr>
      </p:pic>
      <p:sp>
        <p:nvSpPr>
          <p:cNvPr id="11" name="Footer Placeholder 2">
            <a:extLst>
              <a:ext uri="{FF2B5EF4-FFF2-40B4-BE49-F238E27FC236}">
                <a16:creationId xmlns:a16="http://schemas.microsoft.com/office/drawing/2014/main" id="{1EA04003-994C-434B-9E8F-8ACE04D3B07A}"/>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7.5a</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itle 6">
            <a:extLst>
              <a:ext uri="{FF2B5EF4-FFF2-40B4-BE49-F238E27FC236}">
                <a16:creationId xmlns:a16="http://schemas.microsoft.com/office/drawing/2014/main" id="{7C0CE8D7-235C-4C1E-9D84-462BF3BDCF78}"/>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7.5a – 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E90AD94A-7CC2-4CF5-B03A-9232DC59D535}"/>
              </a:ext>
            </a:extLst>
          </p:cNvPr>
          <p:cNvSpPr txBox="1">
            <a:spLocks/>
          </p:cNvSpPr>
          <p:nvPr/>
        </p:nvSpPr>
        <p:spPr>
          <a:xfrm>
            <a:off x="682388" y="1624453"/>
            <a:ext cx="10481482" cy="9739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Arial" panose="020B0604020202020204" pitchFamily="34" charset="0"/>
              <a:buChar char="•"/>
            </a:pPr>
            <a:r>
              <a:rPr lang="en-NZ" altLang="ja-JP" sz="2400" dirty="0">
                <a:solidFill>
                  <a:schemeClr val="tx1"/>
                </a:solidFill>
              </a:rPr>
              <a:t>Note that parametric bootstrapping requires us to assume that the data come from a particular model (i.e. a particular probability distribution).</a:t>
            </a:r>
            <a:endParaRPr lang="ja-JP" altLang="en-NZ" sz="2400" dirty="0">
              <a:solidFill>
                <a:schemeClr val="tx1"/>
              </a:solidFill>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658DD355-3AC3-46CE-BDD7-2D5495896484}"/>
                  </a:ext>
                </a:extLst>
              </p:cNvPr>
              <p:cNvSpPr txBox="1">
                <a:spLocks/>
              </p:cNvSpPr>
              <p:nvPr/>
            </p:nvSpPr>
            <p:spPr>
              <a:xfrm>
                <a:off x="682388" y="2724341"/>
                <a:ext cx="10481482" cy="9739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Arial" panose="020B0604020202020204" pitchFamily="34" charset="0"/>
                  <a:buChar char="•"/>
                </a:pPr>
                <a:r>
                  <a:rPr lang="en-NZ" altLang="ja-JP" sz="2400" dirty="0">
                    <a:solidFill>
                      <a:schemeClr val="tx1"/>
                    </a:solidFill>
                  </a:rPr>
                  <a:t>If we choose the wrong model, our estimates of the standard error of </a:t>
                </a:r>
                <a14:m>
                  <m:oMath xmlns:m="http://schemas.openxmlformats.org/officeDocument/2006/math">
                    <m:acc>
                      <m:accPr>
                        <m:chr m:val="̂"/>
                        <m:ctrlPr>
                          <a:rPr lang="en-NZ" altLang="ja-JP" sz="2400" b="1" i="1" smtClean="0">
                            <a:solidFill>
                              <a:prstClr val="black"/>
                            </a:solidFill>
                            <a:latin typeface="Cambria Math" panose="02040503050406030204" pitchFamily="18" charset="0"/>
                          </a:rPr>
                        </m:ctrlPr>
                      </m:accPr>
                      <m:e>
                        <m:r>
                          <a:rPr lang="en-NZ" altLang="ja-JP" sz="2400" b="1" i="1">
                            <a:solidFill>
                              <a:prstClr val="black"/>
                            </a:solidFill>
                            <a:latin typeface="Cambria Math" panose="02040503050406030204" pitchFamily="18" charset="0"/>
                          </a:rPr>
                          <m:t>𝜽</m:t>
                        </m:r>
                      </m:e>
                    </m:acc>
                    <m:r>
                      <a:rPr lang="en-NZ" altLang="ja-JP" sz="2400" b="1" i="1">
                        <a:solidFill>
                          <a:prstClr val="black"/>
                        </a:solidFill>
                        <a:latin typeface="Cambria Math" panose="02040503050406030204" pitchFamily="18" charset="0"/>
                      </a:rPr>
                      <m:t> </m:t>
                    </m:r>
                  </m:oMath>
                </a14:m>
                <a:r>
                  <a:rPr lang="en-NZ" altLang="ja-JP" sz="2400" dirty="0">
                    <a:solidFill>
                      <a:schemeClr val="tx1"/>
                    </a:solidFill>
                  </a:rPr>
                  <a:t>will be incorrect.</a:t>
                </a:r>
                <a:endParaRPr lang="ja-JP" altLang="en-NZ" sz="2400" dirty="0">
                  <a:solidFill>
                    <a:schemeClr val="tx1"/>
                  </a:solidFill>
                </a:endParaRPr>
              </a:p>
            </p:txBody>
          </p:sp>
        </mc:Choice>
        <mc:Fallback xmlns="">
          <p:sp>
            <p:nvSpPr>
              <p:cNvPr id="14" name="Text Placeholder 5">
                <a:extLst>
                  <a:ext uri="{FF2B5EF4-FFF2-40B4-BE49-F238E27FC236}">
                    <a16:creationId xmlns:a16="http://schemas.microsoft.com/office/drawing/2014/main" id="{658DD355-3AC3-46CE-BDD7-2D5495896484}"/>
                  </a:ext>
                </a:extLst>
              </p:cNvPr>
              <p:cNvSpPr txBox="1">
                <a:spLocks noRot="1" noChangeAspect="1" noMove="1" noResize="1" noEditPoints="1" noAdjustHandles="1" noChangeArrowheads="1" noChangeShapeType="1" noTextEdit="1"/>
              </p:cNvSpPr>
              <p:nvPr/>
            </p:nvSpPr>
            <p:spPr>
              <a:xfrm>
                <a:off x="682388" y="2724341"/>
                <a:ext cx="10481482" cy="973942"/>
              </a:xfrm>
              <a:prstGeom prst="rect">
                <a:avLst/>
              </a:prstGeom>
              <a:blipFill>
                <a:blip r:embed="rId4"/>
                <a:stretch>
                  <a:fillRect l="-814" t="-3125" r="-873"/>
                </a:stretch>
              </a:blipFill>
            </p:spPr>
            <p:txBody>
              <a:bodyPr/>
              <a:lstStyle/>
              <a:p>
                <a:r>
                  <a:rPr lang="en-NZ">
                    <a:noFill/>
                  </a:rPr>
                  <a:t> </a:t>
                </a:r>
              </a:p>
            </p:txBody>
          </p:sp>
        </mc:Fallback>
      </mc:AlternateContent>
      <p:sp>
        <p:nvSpPr>
          <p:cNvPr id="16" name="Text Placeholder 5">
            <a:extLst>
              <a:ext uri="{FF2B5EF4-FFF2-40B4-BE49-F238E27FC236}">
                <a16:creationId xmlns:a16="http://schemas.microsoft.com/office/drawing/2014/main" id="{8D28B9DA-1DAA-4E25-9023-7BC07004BD54}"/>
              </a:ext>
            </a:extLst>
          </p:cNvPr>
          <p:cNvSpPr txBox="1">
            <a:spLocks/>
          </p:cNvSpPr>
          <p:nvPr/>
        </p:nvSpPr>
        <p:spPr>
          <a:xfrm>
            <a:off x="682388" y="3931336"/>
            <a:ext cx="10481482" cy="14025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Arial" panose="020B0604020202020204" pitchFamily="34" charset="0"/>
              <a:buChar char="•"/>
            </a:pPr>
            <a:r>
              <a:rPr lang="en-NZ" altLang="ja-JP" sz="2400" dirty="0">
                <a:solidFill>
                  <a:schemeClr val="tx1"/>
                </a:solidFill>
              </a:rPr>
              <a:t>However, if we are able to choose a suitable model, parametric bootstrapping is often better than non-parametric bootstrapping particularly when sample sizes are small.</a:t>
            </a:r>
            <a:endParaRPr lang="ja-JP" altLang="en-NZ" sz="2400" dirty="0">
              <a:solidFill>
                <a:schemeClr val="tx1"/>
              </a:solidFill>
            </a:endParaRPr>
          </a:p>
        </p:txBody>
      </p:sp>
    </p:spTree>
    <p:extLst>
      <p:ext uri="{BB962C8B-B14F-4D97-AF65-F5344CB8AC3E}">
        <p14:creationId xmlns:p14="http://schemas.microsoft.com/office/powerpoint/2010/main" val="366326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1EA04003-994C-434B-9E8F-8ACE04D3B07A}"/>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7.5b</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itle 6">
            <a:extLst>
              <a:ext uri="{FF2B5EF4-FFF2-40B4-BE49-F238E27FC236}">
                <a16:creationId xmlns:a16="http://schemas.microsoft.com/office/drawing/2014/main" id="{7C0CE8D7-235C-4C1E-9D84-462BF3BDCF78}"/>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7.5b – Exponential</a:t>
            </a:r>
            <a:r>
              <a:rPr kumimoji="1" lang="en-US" altLang="ja-JP" sz="3600" b="1" i="0" u="sng" strike="noStrike" kern="1200" cap="none" spc="0" normalizeH="0" noProof="0" dirty="0">
                <a:ln>
                  <a:noFill/>
                </a:ln>
                <a:solidFill>
                  <a:prstClr val="black"/>
                </a:solidFill>
                <a:effectLst/>
                <a:uLnTx/>
                <a:uFillTx/>
                <a:latin typeface="Calibri" panose="020F0502020204030204"/>
                <a:ea typeface="游ゴシック Light" panose="020B0300000000000000" pitchFamily="34" charset="-128"/>
                <a:cs typeface="+mj-cs"/>
              </a:rPr>
              <a:t> &amp; Gamma Distributions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Text Placeholder 5">
            <a:extLst>
              <a:ext uri="{FF2B5EF4-FFF2-40B4-BE49-F238E27FC236}">
                <a16:creationId xmlns:a16="http://schemas.microsoft.com/office/drawing/2014/main" id="{95EF3768-75E4-4B05-BCB3-542BFCCB3548}"/>
              </a:ext>
            </a:extLst>
          </p:cNvPr>
          <p:cNvSpPr txBox="1">
            <a:spLocks/>
          </p:cNvSpPr>
          <p:nvPr/>
        </p:nvSpPr>
        <p:spPr>
          <a:xfrm>
            <a:off x="319463" y="909449"/>
            <a:ext cx="11390316" cy="1028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Let </a:t>
            </a:r>
            <a:r>
              <a:rPr lang="en-NZ" altLang="ja-JP" sz="1800" b="1" i="1" dirty="0">
                <a:solidFill>
                  <a:schemeClr val="tx1"/>
                </a:solidFill>
              </a:rPr>
              <a:t>X</a:t>
            </a:r>
            <a:r>
              <a:rPr lang="en-NZ" altLang="ja-JP" sz="1800" dirty="0">
                <a:solidFill>
                  <a:schemeClr val="tx1"/>
                </a:solidFill>
              </a:rPr>
              <a:t> be the length of time or space until an event occurs </a:t>
            </a:r>
          </a:p>
          <a:p>
            <a:pPr algn="just">
              <a:lnSpc>
                <a:spcPct val="100000"/>
              </a:lnSpc>
            </a:pPr>
            <a:r>
              <a:rPr lang="en-NZ" altLang="ja-JP" sz="1800" dirty="0">
                <a:solidFill>
                  <a:schemeClr val="bg2">
                    <a:lumMod val="50000"/>
                  </a:schemeClr>
                </a:solidFill>
              </a:rPr>
              <a:t>(e.g. incoming calls to a call centre, intervals between people arriving in a queue at a bank, the distance along a road between trees of a particular species, etc.)</a:t>
            </a:r>
            <a:endParaRPr lang="ja-JP" altLang="en-NZ" sz="1800" dirty="0">
              <a:solidFill>
                <a:schemeClr val="bg2">
                  <a:lumMod val="50000"/>
                </a:schemeClr>
              </a:solidFill>
            </a:endParaRPr>
          </a:p>
        </p:txBody>
      </p:sp>
      <mc:AlternateContent xmlns:mc="http://schemas.openxmlformats.org/markup-compatibility/2006">
        <mc:Choice xmlns:a14="http://schemas.microsoft.com/office/drawing/2010/main" Requires="a14">
          <p:sp>
            <p:nvSpPr>
              <p:cNvPr id="15" name="Text Placeholder 5">
                <a:extLst>
                  <a:ext uri="{FF2B5EF4-FFF2-40B4-BE49-F238E27FC236}">
                    <a16:creationId xmlns:a16="http://schemas.microsoft.com/office/drawing/2014/main" id="{483B26EE-C562-465A-9784-020717A91A91}"/>
                  </a:ext>
                </a:extLst>
              </p:cNvPr>
              <p:cNvSpPr txBox="1">
                <a:spLocks/>
              </p:cNvSpPr>
              <p:nvPr/>
            </p:nvSpPr>
            <p:spPr>
              <a:xfrm>
                <a:off x="319463" y="1935394"/>
                <a:ext cx="11390316" cy="6753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If these events occur </a:t>
                </a:r>
                <a:r>
                  <a:rPr lang="en-NZ" altLang="ja-JP" sz="1800" b="1" dirty="0">
                    <a:solidFill>
                      <a:srgbClr val="C00000"/>
                    </a:solidFill>
                  </a:rPr>
                  <a:t>independently</a:t>
                </a:r>
                <a:r>
                  <a:rPr lang="en-NZ" altLang="ja-JP" sz="1800" dirty="0">
                    <a:solidFill>
                      <a:schemeClr val="tx1"/>
                    </a:solidFill>
                  </a:rPr>
                  <a:t> and at a constant rate </a:t>
                </a:r>
                <a:r>
                  <a:rPr lang="el-GR" altLang="ja-JP" sz="1800" b="1" i="1" dirty="0">
                    <a:solidFill>
                      <a:schemeClr val="tx1"/>
                    </a:solidFill>
                  </a:rPr>
                  <a:t>λ</a:t>
                </a:r>
                <a:r>
                  <a:rPr lang="en-NZ" altLang="ja-JP" sz="1800" dirty="0">
                    <a:solidFill>
                      <a:schemeClr val="tx1"/>
                    </a:solidFill>
                  </a:rPr>
                  <a:t>, then </a:t>
                </a:r>
                <a:r>
                  <a:rPr lang="en-NZ" altLang="ja-JP" sz="1800" b="1" i="1" dirty="0">
                    <a:solidFill>
                      <a:schemeClr val="tx1"/>
                    </a:solidFill>
                  </a:rPr>
                  <a:t>X</a:t>
                </a:r>
                <a:r>
                  <a:rPr lang="en-NZ" altLang="ja-JP" sz="1800" dirty="0">
                    <a:solidFill>
                      <a:schemeClr val="tx1"/>
                    </a:solidFill>
                  </a:rPr>
                  <a:t> is said to follow an exponential distribution, i.e.</a:t>
                </a:r>
              </a:p>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 </m:t>
                      </m:r>
                      <m:r>
                        <a:rPr lang="en-NZ" altLang="ja-JP" sz="1800" b="1" i="0" smtClean="0">
                          <a:solidFill>
                            <a:schemeClr val="tx1"/>
                          </a:solidFill>
                          <a:latin typeface="Cambria Math" panose="02040503050406030204" pitchFamily="18" charset="0"/>
                        </a:rPr>
                        <m:t>𝐞𝐱𝐩</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m:t>
                      </m:r>
                    </m:oMath>
                  </m:oMathPara>
                </a14:m>
                <a:endParaRPr lang="ja-JP" altLang="en-NZ" sz="1800" b="1" dirty="0">
                  <a:solidFill>
                    <a:schemeClr val="bg2">
                      <a:lumMod val="50000"/>
                    </a:schemeClr>
                  </a:solidFill>
                </a:endParaRPr>
              </a:p>
            </p:txBody>
          </p:sp>
        </mc:Choice>
        <mc:Fallback>
          <p:sp>
            <p:nvSpPr>
              <p:cNvPr id="15" name="Text Placeholder 5">
                <a:extLst>
                  <a:ext uri="{FF2B5EF4-FFF2-40B4-BE49-F238E27FC236}">
                    <a16:creationId xmlns:a16="http://schemas.microsoft.com/office/drawing/2014/main" id="{483B26EE-C562-465A-9784-020717A91A91}"/>
                  </a:ext>
                </a:extLst>
              </p:cNvPr>
              <p:cNvSpPr txBox="1">
                <a:spLocks noRot="1" noChangeAspect="1" noMove="1" noResize="1" noEditPoints="1" noAdjustHandles="1" noChangeArrowheads="1" noChangeShapeType="1" noTextEdit="1"/>
              </p:cNvSpPr>
              <p:nvPr/>
            </p:nvSpPr>
            <p:spPr>
              <a:xfrm>
                <a:off x="319463" y="1935394"/>
                <a:ext cx="11390316" cy="675344"/>
              </a:xfrm>
              <a:prstGeom prst="rect">
                <a:avLst/>
              </a:prstGeom>
              <a:blipFill>
                <a:blip r:embed="rId3"/>
                <a:stretch>
                  <a:fillRect l="-428" t="-4505" b="-2703"/>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57A1A454-61B2-4D20-BB70-2D3700794D0F}"/>
              </a:ext>
            </a:extLst>
          </p:cNvPr>
          <p:cNvSpPr txBox="1">
            <a:spLocks/>
          </p:cNvSpPr>
          <p:nvPr/>
        </p:nvSpPr>
        <p:spPr>
          <a:xfrm>
            <a:off x="471863" y="4572911"/>
            <a:ext cx="11390316"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expectation and variance of </a:t>
            </a:r>
            <a:r>
              <a:rPr lang="en-NZ" altLang="ja-JP" sz="1800" b="1" i="1" dirty="0">
                <a:solidFill>
                  <a:schemeClr val="tx1"/>
                </a:solidFill>
              </a:rPr>
              <a:t>X</a:t>
            </a:r>
            <a:r>
              <a:rPr lang="en-NZ" altLang="ja-JP" sz="1800" dirty="0">
                <a:solidFill>
                  <a:schemeClr val="tx1"/>
                </a:solidFill>
              </a:rPr>
              <a:t> are given by…</a:t>
            </a:r>
            <a:endParaRPr lang="ja-JP" altLang="en-NZ" sz="1800" b="1" dirty="0">
              <a:solidFill>
                <a:schemeClr val="bg2">
                  <a:lumMod val="50000"/>
                </a:schemeClr>
              </a:solidFill>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8A1D91FD-694E-4349-94FE-EC7D310F88EF}"/>
                  </a:ext>
                </a:extLst>
              </p:cNvPr>
              <p:cNvSpPr txBox="1">
                <a:spLocks/>
              </p:cNvSpPr>
              <p:nvPr/>
            </p:nvSpPr>
            <p:spPr>
              <a:xfrm>
                <a:off x="523672" y="3366768"/>
                <a:ext cx="4198454" cy="8065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𝒇</m:t>
                          </m:r>
                        </m:e>
                        <m:sub>
                          <m:r>
                            <a:rPr lang="en-NZ" altLang="ja-JP" sz="1800" b="1" i="1" smtClean="0">
                              <a:solidFill>
                                <a:schemeClr val="tx1"/>
                              </a:solidFill>
                              <a:latin typeface="Cambria Math" panose="02040503050406030204" pitchFamily="18" charset="0"/>
                            </a:rPr>
                            <m:t>𝑿</m:t>
                          </m:r>
                        </m:sub>
                      </m:sSub>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𝒙</m:t>
                          </m:r>
                        </m:e>
                      </m:d>
                      <m:r>
                        <a:rPr lang="en-NZ" altLang="ja-JP" sz="1800" b="1" i="1" smtClean="0">
                          <a:solidFill>
                            <a:schemeClr val="tx1"/>
                          </a:solidFill>
                          <a:latin typeface="Cambria Math" panose="02040503050406030204" pitchFamily="18" charset="0"/>
                        </a:rPr>
                        <m:t>=  </m:t>
                      </m:r>
                      <m:d>
                        <m:dPr>
                          <m:begChr m:val="{"/>
                          <m:endChr m:val=""/>
                          <m:ctrlPr>
                            <a:rPr lang="en-NZ" altLang="ja-JP" sz="1800" b="1" i="1" smtClean="0">
                              <a:solidFill>
                                <a:schemeClr val="tx1"/>
                              </a:solidFill>
                              <a:latin typeface="Cambria Math" panose="02040503050406030204" pitchFamily="18" charset="0"/>
                            </a:rPr>
                          </m:ctrlPr>
                        </m:dPr>
                        <m:e>
                          <m:m>
                            <m:mPr>
                              <m:mcs>
                                <m:mc>
                                  <m:mcPr>
                                    <m:count m:val="2"/>
                                    <m:mcJc m:val="center"/>
                                  </m:mcPr>
                                </m:mc>
                              </m:mcs>
                              <m:ctrlPr>
                                <a:rPr lang="en-NZ" altLang="ja-JP" sz="1800" b="1" i="1" smtClean="0">
                                  <a:solidFill>
                                    <a:schemeClr val="tx1"/>
                                  </a:solidFill>
                                  <a:latin typeface="Cambria Math" panose="02040503050406030204" pitchFamily="18" charset="0"/>
                                </a:rPr>
                              </m:ctrlPr>
                            </m:mPr>
                            <m:mr>
                              <m:e>
                                <m:r>
                                  <m:rPr>
                                    <m:brk m:alnAt="7"/>
                                  </m:rP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𝒆</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𝒙</m:t>
                                    </m:r>
                                  </m:sup>
                                </m:sSup>
                              </m:e>
                              <m:e>
                                <m:r>
                                  <a:rPr lang="en-NZ" altLang="ja-JP" sz="1800" b="1" i="1" smtClean="0">
                                    <a:solidFill>
                                      <a:schemeClr val="tx1"/>
                                    </a:solidFill>
                                    <a:latin typeface="Cambria Math" panose="02040503050406030204" pitchFamily="18" charset="0"/>
                                  </a:rPr>
                                  <m:t>𝒊𝒇</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𝒙</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e>
                            </m:mr>
                            <m:mr>
                              <m:e>
                                <m:r>
                                  <a:rPr lang="en-NZ" altLang="ja-JP" sz="1800" b="1" i="1" smtClean="0">
                                    <a:solidFill>
                                      <a:schemeClr val="tx1"/>
                                    </a:solidFill>
                                    <a:latin typeface="Cambria Math" panose="02040503050406030204" pitchFamily="18" charset="0"/>
                                  </a:rPr>
                                  <m:t>𝟎</m:t>
                                </m:r>
                              </m:e>
                              <m:e>
                                <m:r>
                                  <a:rPr lang="en-NZ" altLang="ja-JP" sz="1800" b="1" i="1" smtClean="0">
                                    <a:solidFill>
                                      <a:schemeClr val="tx1"/>
                                    </a:solidFill>
                                    <a:latin typeface="Cambria Math" panose="02040503050406030204" pitchFamily="18" charset="0"/>
                                  </a:rPr>
                                  <m:t>𝒊𝒇</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𝒙</m:t>
                                </m:r>
                                <m:r>
                                  <a:rPr lang="en-NZ" altLang="ja-JP" sz="1800" b="1" i="1" smtClean="0">
                                    <a:solidFill>
                                      <a:schemeClr val="tx1"/>
                                    </a:solidFill>
                                    <a:latin typeface="Cambria Math" panose="02040503050406030204" pitchFamily="18" charset="0"/>
                                  </a:rPr>
                                  <m:t>&lt;</m:t>
                                </m:r>
                                <m:r>
                                  <a:rPr lang="en-NZ" altLang="ja-JP" sz="1800" b="1" i="1" smtClean="0">
                                    <a:solidFill>
                                      <a:schemeClr val="tx1"/>
                                    </a:solidFill>
                                    <a:latin typeface="Cambria Math" panose="02040503050406030204" pitchFamily="18" charset="0"/>
                                  </a:rPr>
                                  <m:t>𝟎</m:t>
                                </m:r>
                              </m:e>
                            </m:mr>
                          </m:m>
                        </m:e>
                      </m:d>
                    </m:oMath>
                  </m:oMathPara>
                </a14:m>
                <a:endParaRPr lang="ja-JP" altLang="en-NZ" sz="1800" b="1" dirty="0">
                  <a:solidFill>
                    <a:schemeClr val="tx1"/>
                  </a:solidFill>
                </a:endParaRPr>
              </a:p>
            </p:txBody>
          </p:sp>
        </mc:Choice>
        <mc:Fallback xmlns="">
          <p:sp>
            <p:nvSpPr>
              <p:cNvPr id="18" name="Text Placeholder 5">
                <a:extLst>
                  <a:ext uri="{FF2B5EF4-FFF2-40B4-BE49-F238E27FC236}">
                    <a16:creationId xmlns:a16="http://schemas.microsoft.com/office/drawing/2014/main" id="{8A1D91FD-694E-4349-94FE-EC7D310F88EF}"/>
                  </a:ext>
                </a:extLst>
              </p:cNvPr>
              <p:cNvSpPr txBox="1">
                <a:spLocks noRot="1" noChangeAspect="1" noMove="1" noResize="1" noEditPoints="1" noAdjustHandles="1" noChangeArrowheads="1" noChangeShapeType="1" noTextEdit="1"/>
              </p:cNvSpPr>
              <p:nvPr/>
            </p:nvSpPr>
            <p:spPr>
              <a:xfrm>
                <a:off x="523672" y="3366768"/>
                <a:ext cx="4198454" cy="806522"/>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D21E9AED-B424-4F1E-96AE-480FEB601A2E}"/>
                  </a:ext>
                </a:extLst>
              </p:cNvPr>
              <p:cNvSpPr txBox="1">
                <a:spLocks/>
              </p:cNvSpPr>
              <p:nvPr/>
            </p:nvSpPr>
            <p:spPr>
              <a:xfrm>
                <a:off x="6014621" y="3366768"/>
                <a:ext cx="4198454" cy="8065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𝑭</m:t>
                          </m:r>
                        </m:e>
                        <m:sub>
                          <m:r>
                            <a:rPr lang="en-NZ" altLang="ja-JP" sz="1800" b="1" i="1" smtClean="0">
                              <a:solidFill>
                                <a:schemeClr val="tx1"/>
                              </a:solidFill>
                              <a:latin typeface="Cambria Math" panose="02040503050406030204" pitchFamily="18" charset="0"/>
                            </a:rPr>
                            <m:t>𝑿</m:t>
                          </m:r>
                        </m:sub>
                      </m:sSub>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𝒙</m:t>
                          </m:r>
                        </m:e>
                      </m:d>
                      <m:r>
                        <a:rPr lang="en-NZ" altLang="ja-JP" sz="1800" b="1" i="1" smtClean="0">
                          <a:solidFill>
                            <a:schemeClr val="tx1"/>
                          </a:solidFill>
                          <a:latin typeface="Cambria Math" panose="02040503050406030204" pitchFamily="18" charset="0"/>
                        </a:rPr>
                        <m:t>=  </m:t>
                      </m:r>
                      <m:d>
                        <m:dPr>
                          <m:begChr m:val="{"/>
                          <m:endChr m:val=""/>
                          <m:ctrlPr>
                            <a:rPr lang="en-NZ" altLang="ja-JP" sz="1800" b="1" i="1" smtClean="0">
                              <a:solidFill>
                                <a:schemeClr val="tx1"/>
                              </a:solidFill>
                              <a:latin typeface="Cambria Math" panose="02040503050406030204" pitchFamily="18" charset="0"/>
                            </a:rPr>
                          </m:ctrlPr>
                        </m:dPr>
                        <m:e>
                          <m:m>
                            <m:mPr>
                              <m:mcs>
                                <m:mc>
                                  <m:mcPr>
                                    <m:count m:val="2"/>
                                    <m:mcJc m:val="center"/>
                                  </m:mcPr>
                                </m:mc>
                              </m:mcs>
                              <m:ctrlPr>
                                <a:rPr lang="en-NZ" altLang="ja-JP" sz="1800" b="1" i="1" smtClean="0">
                                  <a:solidFill>
                                    <a:schemeClr val="tx1"/>
                                  </a:solidFill>
                                  <a:latin typeface="Cambria Math" panose="02040503050406030204" pitchFamily="18" charset="0"/>
                                </a:rPr>
                              </m:ctrlPr>
                            </m:mPr>
                            <m:mr>
                              <m:e>
                                <m:r>
                                  <m:rPr>
                                    <m:brk m:alnAt="7"/>
                                  </m:rP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𝒆</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𝒙</m:t>
                                    </m:r>
                                  </m:sup>
                                </m:sSup>
                              </m:e>
                              <m:e>
                                <m:r>
                                  <a:rPr lang="en-NZ" altLang="ja-JP" sz="1800" b="1" i="1" smtClean="0">
                                    <a:solidFill>
                                      <a:schemeClr val="tx1"/>
                                    </a:solidFill>
                                    <a:latin typeface="Cambria Math" panose="02040503050406030204" pitchFamily="18" charset="0"/>
                                  </a:rPr>
                                  <m:t>𝒊𝒇</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𝒙</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e>
                            </m:mr>
                            <m:mr>
                              <m:e>
                                <m:r>
                                  <a:rPr lang="en-NZ" altLang="ja-JP" sz="1800" b="1" i="1" smtClean="0">
                                    <a:solidFill>
                                      <a:schemeClr val="tx1"/>
                                    </a:solidFill>
                                    <a:latin typeface="Cambria Math" panose="02040503050406030204" pitchFamily="18" charset="0"/>
                                  </a:rPr>
                                  <m:t>𝟎</m:t>
                                </m:r>
                              </m:e>
                              <m:e>
                                <m:r>
                                  <a:rPr lang="en-NZ" altLang="ja-JP" sz="1800" b="1" i="1" smtClean="0">
                                    <a:solidFill>
                                      <a:schemeClr val="tx1"/>
                                    </a:solidFill>
                                    <a:latin typeface="Cambria Math" panose="02040503050406030204" pitchFamily="18" charset="0"/>
                                  </a:rPr>
                                  <m:t>𝒊𝒇</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𝒙</m:t>
                                </m:r>
                                <m:r>
                                  <a:rPr lang="en-NZ" altLang="ja-JP" sz="1800" b="1" i="1" smtClean="0">
                                    <a:solidFill>
                                      <a:schemeClr val="tx1"/>
                                    </a:solidFill>
                                    <a:latin typeface="Cambria Math" panose="02040503050406030204" pitchFamily="18" charset="0"/>
                                  </a:rPr>
                                  <m:t>&lt;</m:t>
                                </m:r>
                                <m:r>
                                  <a:rPr lang="en-NZ" altLang="ja-JP" sz="1800" b="1" i="1" smtClean="0">
                                    <a:solidFill>
                                      <a:schemeClr val="tx1"/>
                                    </a:solidFill>
                                    <a:latin typeface="Cambria Math" panose="02040503050406030204" pitchFamily="18" charset="0"/>
                                  </a:rPr>
                                  <m:t>𝟎</m:t>
                                </m:r>
                              </m:e>
                            </m:mr>
                          </m:m>
                        </m:e>
                      </m:d>
                    </m:oMath>
                  </m:oMathPara>
                </a14:m>
                <a:endParaRPr lang="ja-JP" altLang="en-NZ" sz="1800" b="1" dirty="0">
                  <a:solidFill>
                    <a:schemeClr val="tx1"/>
                  </a:solidFill>
                </a:endParaRPr>
              </a:p>
            </p:txBody>
          </p:sp>
        </mc:Choice>
        <mc:Fallback xmlns="">
          <p:sp>
            <p:nvSpPr>
              <p:cNvPr id="19" name="Text Placeholder 5">
                <a:extLst>
                  <a:ext uri="{FF2B5EF4-FFF2-40B4-BE49-F238E27FC236}">
                    <a16:creationId xmlns:a16="http://schemas.microsoft.com/office/drawing/2014/main" id="{D21E9AED-B424-4F1E-96AE-480FEB601A2E}"/>
                  </a:ext>
                </a:extLst>
              </p:cNvPr>
              <p:cNvSpPr txBox="1">
                <a:spLocks noRot="1" noChangeAspect="1" noMove="1" noResize="1" noEditPoints="1" noAdjustHandles="1" noChangeArrowheads="1" noChangeShapeType="1" noTextEdit="1"/>
              </p:cNvSpPr>
              <p:nvPr/>
            </p:nvSpPr>
            <p:spPr>
              <a:xfrm>
                <a:off x="6014621" y="3366768"/>
                <a:ext cx="4198454" cy="806522"/>
              </a:xfrm>
              <a:prstGeom prst="rect">
                <a:avLst/>
              </a:prstGeom>
              <a:blipFill>
                <a:blip r:embed="rId5"/>
                <a:stretch>
                  <a:fillRect/>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053ED0DF-1AF7-4BF8-9D89-5B3733340764}"/>
              </a:ext>
            </a:extLst>
          </p:cNvPr>
          <p:cNvSpPr txBox="1">
            <a:spLocks/>
          </p:cNvSpPr>
          <p:nvPr/>
        </p:nvSpPr>
        <p:spPr>
          <a:xfrm>
            <a:off x="471863" y="2963166"/>
            <a:ext cx="11390316"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probability density function (</a:t>
            </a:r>
            <a:r>
              <a:rPr lang="en-NZ" altLang="ja-JP" sz="1800" dirty="0" err="1">
                <a:solidFill>
                  <a:schemeClr val="tx1"/>
                </a:solidFill>
              </a:rPr>
              <a:t>p.d.f</a:t>
            </a:r>
            <a:r>
              <a:rPr lang="en-NZ" altLang="ja-JP" sz="1800" dirty="0">
                <a:solidFill>
                  <a:schemeClr val="tx1"/>
                </a:solidFill>
              </a:rPr>
              <a:t>) and cumulative density function (</a:t>
            </a:r>
            <a:r>
              <a:rPr lang="en-NZ" altLang="ja-JP" sz="1800" dirty="0" err="1">
                <a:solidFill>
                  <a:schemeClr val="tx1"/>
                </a:solidFill>
              </a:rPr>
              <a:t>c.d.f</a:t>
            </a:r>
            <a:r>
              <a:rPr lang="en-NZ" altLang="ja-JP" sz="1800" dirty="0">
                <a:solidFill>
                  <a:schemeClr val="tx1"/>
                </a:solidFill>
              </a:rPr>
              <a:t>) of </a:t>
            </a:r>
            <a:r>
              <a:rPr lang="en-NZ" altLang="ja-JP" sz="1800" b="1" i="1" dirty="0">
                <a:solidFill>
                  <a:schemeClr val="tx1"/>
                </a:solidFill>
              </a:rPr>
              <a:t>X</a:t>
            </a:r>
            <a:r>
              <a:rPr lang="en-NZ" altLang="ja-JP" sz="1800" dirty="0">
                <a:solidFill>
                  <a:schemeClr val="tx1"/>
                </a:solidFill>
              </a:rPr>
              <a:t> are given by:</a:t>
            </a:r>
            <a:endParaRPr lang="ja-JP" altLang="en-NZ" sz="1800" b="1" dirty="0">
              <a:solidFill>
                <a:schemeClr val="bg2">
                  <a:lumMod val="50000"/>
                </a:schemeClr>
              </a:solidFill>
            </a:endParaRPr>
          </a:p>
        </p:txBody>
      </p:sp>
      <p:sp>
        <p:nvSpPr>
          <p:cNvPr id="21" name="Text Placeholder 5">
            <a:extLst>
              <a:ext uri="{FF2B5EF4-FFF2-40B4-BE49-F238E27FC236}">
                <a16:creationId xmlns:a16="http://schemas.microsoft.com/office/drawing/2014/main" id="{61B2D0AE-B16C-4387-8506-6F84737B300C}"/>
              </a:ext>
            </a:extLst>
          </p:cNvPr>
          <p:cNvSpPr txBox="1">
            <a:spLocks/>
          </p:cNvSpPr>
          <p:nvPr/>
        </p:nvSpPr>
        <p:spPr>
          <a:xfrm>
            <a:off x="523672" y="5554653"/>
            <a:ext cx="11390316"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 which can be easily proven using integration by parts.</a:t>
            </a:r>
            <a:endParaRPr lang="ja-JP" altLang="en-NZ" sz="1800" b="1" dirty="0">
              <a:solidFill>
                <a:schemeClr val="bg2">
                  <a:lumMod val="50000"/>
                </a:schemeClr>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337204FF-C55F-4800-8C4C-76DE81351832}"/>
                  </a:ext>
                </a:extLst>
              </p:cNvPr>
              <p:cNvSpPr txBox="1">
                <a:spLocks/>
              </p:cNvSpPr>
              <p:nvPr/>
            </p:nvSpPr>
            <p:spPr>
              <a:xfrm>
                <a:off x="2384316" y="4915842"/>
                <a:ext cx="3630305" cy="6270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𝝀</m:t>
                          </m:r>
                        </m:den>
                      </m:f>
                    </m:oMath>
                  </m:oMathPara>
                </a14:m>
                <a:endParaRPr lang="ja-JP" altLang="en-NZ" sz="1800" b="1" dirty="0">
                  <a:solidFill>
                    <a:schemeClr val="tx1"/>
                  </a:solidFill>
                </a:endParaRPr>
              </a:p>
            </p:txBody>
          </p:sp>
        </mc:Choice>
        <mc:Fallback xmlns="">
          <p:sp>
            <p:nvSpPr>
              <p:cNvPr id="22" name="Text Placeholder 5">
                <a:extLst>
                  <a:ext uri="{FF2B5EF4-FFF2-40B4-BE49-F238E27FC236}">
                    <a16:creationId xmlns:a16="http://schemas.microsoft.com/office/drawing/2014/main" id="{337204FF-C55F-4800-8C4C-76DE81351832}"/>
                  </a:ext>
                </a:extLst>
              </p:cNvPr>
              <p:cNvSpPr txBox="1">
                <a:spLocks noRot="1" noChangeAspect="1" noMove="1" noResize="1" noEditPoints="1" noAdjustHandles="1" noChangeArrowheads="1" noChangeShapeType="1" noTextEdit="1"/>
              </p:cNvSpPr>
              <p:nvPr/>
            </p:nvSpPr>
            <p:spPr>
              <a:xfrm>
                <a:off x="2384316" y="4915842"/>
                <a:ext cx="3630305" cy="627036"/>
              </a:xfrm>
              <a:prstGeom prst="rect">
                <a:avLst/>
              </a:prstGeom>
              <a:blipFill>
                <a:blip r:embed="rId6"/>
                <a:stretch>
                  <a:fillRect/>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C26CD206-CA86-4DBD-A2E9-DE6D8A6226B7}"/>
              </a:ext>
            </a:extLst>
          </p:cNvPr>
          <p:cNvSpPr txBox="1">
            <a:spLocks/>
          </p:cNvSpPr>
          <p:nvPr/>
        </p:nvSpPr>
        <p:spPr>
          <a:xfrm>
            <a:off x="5584716" y="5044603"/>
            <a:ext cx="859809"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and</a:t>
            </a:r>
            <a:endParaRPr lang="ja-JP" altLang="en-NZ" sz="1800" b="1" dirty="0">
              <a:solidFill>
                <a:schemeClr val="bg2">
                  <a:lumMod val="50000"/>
                </a:schemeClr>
              </a:solidFill>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3D6F1630-ED22-48F0-9FCC-AF1F131B3B37}"/>
                  </a:ext>
                </a:extLst>
              </p:cNvPr>
              <p:cNvSpPr txBox="1">
                <a:spLocks/>
              </p:cNvSpPr>
              <p:nvPr/>
            </p:nvSpPr>
            <p:spPr>
              <a:xfrm>
                <a:off x="6014620" y="4915842"/>
                <a:ext cx="3630305" cy="6270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𝝀</m:t>
                              </m:r>
                            </m:e>
                            <m:sup>
                              <m:r>
                                <a:rPr lang="en-NZ" altLang="ja-JP" sz="1800" b="1" i="1" smtClean="0">
                                  <a:solidFill>
                                    <a:schemeClr val="tx1"/>
                                  </a:solidFill>
                                  <a:latin typeface="Cambria Math" panose="02040503050406030204" pitchFamily="18" charset="0"/>
                                </a:rPr>
                                <m:t>𝟐</m:t>
                              </m:r>
                            </m:sup>
                          </m:sSup>
                        </m:den>
                      </m:f>
                    </m:oMath>
                  </m:oMathPara>
                </a14:m>
                <a:endParaRPr lang="ja-JP" altLang="en-NZ" sz="1800" b="1" dirty="0">
                  <a:solidFill>
                    <a:schemeClr val="tx1"/>
                  </a:solidFill>
                </a:endParaRPr>
              </a:p>
            </p:txBody>
          </p:sp>
        </mc:Choice>
        <mc:Fallback xmlns="">
          <p:sp>
            <p:nvSpPr>
              <p:cNvPr id="24" name="Text Placeholder 5">
                <a:extLst>
                  <a:ext uri="{FF2B5EF4-FFF2-40B4-BE49-F238E27FC236}">
                    <a16:creationId xmlns:a16="http://schemas.microsoft.com/office/drawing/2014/main" id="{3D6F1630-ED22-48F0-9FCC-AF1F131B3B37}"/>
                  </a:ext>
                </a:extLst>
              </p:cNvPr>
              <p:cNvSpPr txBox="1">
                <a:spLocks noRot="1" noChangeAspect="1" noMove="1" noResize="1" noEditPoints="1" noAdjustHandles="1" noChangeArrowheads="1" noChangeShapeType="1" noTextEdit="1"/>
              </p:cNvSpPr>
              <p:nvPr/>
            </p:nvSpPr>
            <p:spPr>
              <a:xfrm>
                <a:off x="6014620" y="4915842"/>
                <a:ext cx="3630305" cy="627036"/>
              </a:xfrm>
              <a:prstGeom prst="rect">
                <a:avLst/>
              </a:prstGeom>
              <a:blipFill>
                <a:blip r:embed="rId7"/>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72919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0" grpId="0"/>
      <p:bldP spid="21" grpId="0"/>
      <p:bldP spid="22" grpId="0"/>
      <p:bldP spid="23" grpId="0"/>
      <p:bldP spid="2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1EA04003-994C-434B-9E8F-8ACE04D3B07A}"/>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7.5b</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itle 6">
            <a:extLst>
              <a:ext uri="{FF2B5EF4-FFF2-40B4-BE49-F238E27FC236}">
                <a16:creationId xmlns:a16="http://schemas.microsoft.com/office/drawing/2014/main" id="{7C0CE8D7-235C-4C1E-9D84-462BF3BDCF78}"/>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7.5b – Exponential</a:t>
            </a:r>
            <a:r>
              <a:rPr kumimoji="1" lang="en-US" altLang="ja-JP" sz="3600" b="1" i="0" u="sng" strike="noStrike" kern="1200" cap="none" spc="0" normalizeH="0" noProof="0" dirty="0">
                <a:ln>
                  <a:noFill/>
                </a:ln>
                <a:solidFill>
                  <a:prstClr val="black"/>
                </a:solidFill>
                <a:effectLst/>
                <a:uLnTx/>
                <a:uFillTx/>
                <a:latin typeface="Calibri" panose="020F0502020204030204"/>
                <a:ea typeface="游ゴシック Light" panose="020B0300000000000000" pitchFamily="34" charset="-128"/>
                <a:cs typeface="+mj-cs"/>
              </a:rPr>
              <a:t> &amp; Gamma Distributions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Text Placeholder 5">
            <a:extLst>
              <a:ext uri="{FF2B5EF4-FFF2-40B4-BE49-F238E27FC236}">
                <a16:creationId xmlns:a16="http://schemas.microsoft.com/office/drawing/2014/main" id="{95EF3768-75E4-4B05-BCB3-542BFCCB3548}"/>
              </a:ext>
            </a:extLst>
          </p:cNvPr>
          <p:cNvSpPr txBox="1">
            <a:spLocks/>
          </p:cNvSpPr>
          <p:nvPr/>
        </p:nvSpPr>
        <p:spPr>
          <a:xfrm>
            <a:off x="319463" y="909449"/>
            <a:ext cx="11390316" cy="1028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If </a:t>
            </a:r>
            <a:r>
              <a:rPr lang="en-NZ" altLang="ja-JP" sz="1800" b="1" i="1" dirty="0">
                <a:solidFill>
                  <a:schemeClr val="tx1"/>
                </a:solidFill>
              </a:rPr>
              <a:t>X</a:t>
            </a:r>
            <a:r>
              <a:rPr lang="en-NZ" altLang="ja-JP" sz="1800" dirty="0">
                <a:solidFill>
                  <a:schemeClr val="tx1"/>
                </a:solidFill>
              </a:rPr>
              <a:t> is the length of time (or space) until the </a:t>
            </a:r>
            <a:r>
              <a:rPr lang="el-GR" altLang="ja-JP" sz="1800" b="1" i="1" dirty="0">
                <a:solidFill>
                  <a:schemeClr val="tx1"/>
                </a:solidFill>
              </a:rPr>
              <a:t>α</a:t>
            </a:r>
            <a:r>
              <a:rPr lang="en-NZ" altLang="ja-JP" sz="1800" b="1" i="1" baseline="30000" dirty="0" err="1">
                <a:solidFill>
                  <a:schemeClr val="tx1"/>
                </a:solidFill>
              </a:rPr>
              <a:t>th</a:t>
            </a:r>
            <a:r>
              <a:rPr lang="en-NZ" altLang="ja-JP" sz="1800" dirty="0">
                <a:solidFill>
                  <a:schemeClr val="tx1"/>
                </a:solidFill>
              </a:rPr>
              <a:t> event occurs, where events occur at a constant rate </a:t>
            </a:r>
            <a:r>
              <a:rPr lang="el-GR" altLang="ja-JP" sz="1800" b="1" i="1" dirty="0">
                <a:solidFill>
                  <a:schemeClr val="tx1"/>
                </a:solidFill>
              </a:rPr>
              <a:t>λ</a:t>
            </a:r>
            <a:r>
              <a:rPr lang="en-NZ" altLang="ja-JP" sz="1800" dirty="0">
                <a:solidFill>
                  <a:schemeClr val="tx1"/>
                </a:solidFill>
              </a:rPr>
              <a:t> (</a:t>
            </a:r>
            <a:r>
              <a:rPr lang="en-NZ" altLang="ja-JP" sz="1800" dirty="0">
                <a:solidFill>
                  <a:srgbClr val="C00000"/>
                </a:solidFill>
              </a:rPr>
              <a:t>but not necessarily independently</a:t>
            </a:r>
            <a:r>
              <a:rPr lang="en-NZ" altLang="ja-JP" sz="1800" dirty="0">
                <a:solidFill>
                  <a:schemeClr val="tx1"/>
                </a:solidFill>
              </a:rPr>
              <a:t>) then we say that </a:t>
            </a:r>
            <a:r>
              <a:rPr lang="en-NZ" altLang="ja-JP" sz="1800" b="1" i="1" dirty="0">
                <a:solidFill>
                  <a:schemeClr val="tx1"/>
                </a:solidFill>
              </a:rPr>
              <a:t>X</a:t>
            </a:r>
            <a:r>
              <a:rPr lang="en-NZ" altLang="ja-JP" sz="1800" dirty="0">
                <a:solidFill>
                  <a:schemeClr val="tx1"/>
                </a:solidFill>
              </a:rPr>
              <a:t> follows a Gamma distribution with rate </a:t>
            </a:r>
            <a:r>
              <a:rPr lang="el-GR" altLang="ja-JP" sz="1800" b="1" i="1" dirty="0">
                <a:solidFill>
                  <a:schemeClr val="tx1"/>
                </a:solidFill>
              </a:rPr>
              <a:t>λ </a:t>
            </a:r>
            <a:r>
              <a:rPr lang="en-NZ" altLang="ja-JP" sz="1800" dirty="0">
                <a:solidFill>
                  <a:schemeClr val="tx1"/>
                </a:solidFill>
              </a:rPr>
              <a:t>and shape parameter </a:t>
            </a:r>
            <a:r>
              <a:rPr lang="el-GR" altLang="ja-JP" sz="1800" b="1" i="1" dirty="0">
                <a:solidFill>
                  <a:schemeClr val="tx1"/>
                </a:solidFill>
              </a:rPr>
              <a:t>α</a:t>
            </a:r>
            <a:r>
              <a:rPr lang="en-NZ" altLang="ja-JP" sz="1800" dirty="0">
                <a:solidFill>
                  <a:schemeClr val="tx1"/>
                </a:solidFill>
              </a:rPr>
              <a:t>, i.e.</a:t>
            </a:r>
            <a:endParaRPr lang="ja-JP" altLang="en-NZ" sz="1800" dirty="0">
              <a:solidFill>
                <a:schemeClr val="bg2">
                  <a:lumMod val="50000"/>
                </a:schemeClr>
              </a:solidFill>
            </a:endParaRP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483B26EE-C562-465A-9784-020717A91A91}"/>
                  </a:ext>
                </a:extLst>
              </p:cNvPr>
              <p:cNvSpPr txBox="1">
                <a:spLocks/>
              </p:cNvSpPr>
              <p:nvPr/>
            </p:nvSpPr>
            <p:spPr>
              <a:xfrm>
                <a:off x="319463" y="1552424"/>
                <a:ext cx="11390316"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𝑮𝒂𝒎𝒎𝒂</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m:t>
                      </m:r>
                    </m:oMath>
                  </m:oMathPara>
                </a14:m>
                <a:endParaRPr lang="ja-JP" altLang="en-NZ" sz="1800" b="1" dirty="0">
                  <a:solidFill>
                    <a:schemeClr val="bg2">
                      <a:lumMod val="50000"/>
                    </a:schemeClr>
                  </a:solidFill>
                </a:endParaRPr>
              </a:p>
            </p:txBody>
          </p:sp>
        </mc:Choice>
        <mc:Fallback xmlns="">
          <p:sp>
            <p:nvSpPr>
              <p:cNvPr id="15" name="Text Placeholder 5">
                <a:extLst>
                  <a:ext uri="{FF2B5EF4-FFF2-40B4-BE49-F238E27FC236}">
                    <a16:creationId xmlns:a16="http://schemas.microsoft.com/office/drawing/2014/main" id="{483B26EE-C562-465A-9784-020717A91A91}"/>
                  </a:ext>
                </a:extLst>
              </p:cNvPr>
              <p:cNvSpPr txBox="1">
                <a:spLocks noRot="1" noChangeAspect="1" noMove="1" noResize="1" noEditPoints="1" noAdjustHandles="1" noChangeArrowheads="1" noChangeShapeType="1" noTextEdit="1"/>
              </p:cNvSpPr>
              <p:nvPr/>
            </p:nvSpPr>
            <p:spPr>
              <a:xfrm>
                <a:off x="319463" y="1552424"/>
                <a:ext cx="11390316" cy="428625"/>
              </a:xfrm>
              <a:prstGeom prst="rect">
                <a:avLst/>
              </a:prstGeom>
              <a:blipFill>
                <a:blip r:embed="rId3"/>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57A1A454-61B2-4D20-BB70-2D3700794D0F}"/>
              </a:ext>
            </a:extLst>
          </p:cNvPr>
          <p:cNvSpPr txBox="1">
            <a:spLocks/>
          </p:cNvSpPr>
          <p:nvPr/>
        </p:nvSpPr>
        <p:spPr>
          <a:xfrm>
            <a:off x="319462" y="4500766"/>
            <a:ext cx="11471696"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It can be shown that the expectation and variance of </a:t>
            </a:r>
            <a:r>
              <a:rPr lang="en-NZ" altLang="ja-JP" sz="1800" b="1" i="1" dirty="0">
                <a:solidFill>
                  <a:schemeClr val="tx1"/>
                </a:solidFill>
              </a:rPr>
              <a:t>X</a:t>
            </a:r>
            <a:r>
              <a:rPr lang="en-NZ" altLang="ja-JP" sz="1800" dirty="0">
                <a:solidFill>
                  <a:schemeClr val="tx1"/>
                </a:solidFill>
              </a:rPr>
              <a:t> are given by</a:t>
            </a:r>
            <a:endParaRPr lang="ja-JP" altLang="en-NZ" sz="1800" b="1" dirty="0">
              <a:solidFill>
                <a:schemeClr val="bg2">
                  <a:lumMod val="50000"/>
                </a:schemeClr>
              </a:solidFill>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8A1D91FD-694E-4349-94FE-EC7D310F88EF}"/>
                  </a:ext>
                </a:extLst>
              </p:cNvPr>
              <p:cNvSpPr txBox="1">
                <a:spLocks/>
              </p:cNvSpPr>
              <p:nvPr/>
            </p:nvSpPr>
            <p:spPr>
              <a:xfrm>
                <a:off x="523672" y="2616224"/>
                <a:ext cx="6286562" cy="8065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𝒇</m:t>
                          </m:r>
                        </m:e>
                        <m:sub>
                          <m:r>
                            <a:rPr lang="en-NZ" altLang="ja-JP" sz="1800" b="1" i="1" smtClean="0">
                              <a:solidFill>
                                <a:schemeClr val="tx1"/>
                              </a:solidFill>
                              <a:latin typeface="Cambria Math" panose="02040503050406030204" pitchFamily="18" charset="0"/>
                            </a:rPr>
                            <m:t>𝑿</m:t>
                          </m:r>
                        </m:sub>
                      </m:sSub>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𝒙</m:t>
                          </m:r>
                        </m:e>
                      </m:d>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𝝀</m:t>
                              </m:r>
                            </m:e>
                            <m:sup>
                              <m:r>
                                <a:rPr lang="en-NZ" altLang="ja-JP" sz="1800" b="1" i="1">
                                  <a:solidFill>
                                    <a:schemeClr val="tx1"/>
                                  </a:solidFill>
                                  <a:latin typeface="Cambria Math" panose="02040503050406030204" pitchFamily="18" charset="0"/>
                                </a:rPr>
                                <m:t>𝜶</m:t>
                              </m:r>
                            </m:sup>
                          </m:sSup>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𝒙</m:t>
                              </m:r>
                            </m:e>
                            <m:sup>
                              <m:r>
                                <a:rPr lang="en-NZ" altLang="ja-JP" sz="1800" b="1" i="1">
                                  <a:solidFill>
                                    <a:schemeClr val="tx1"/>
                                  </a:solidFill>
                                  <a:latin typeface="Cambria Math" panose="02040503050406030204" pitchFamily="18" charset="0"/>
                                </a:rPr>
                                <m:t>𝜶</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p>
                          </m:sSup>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𝒆</m:t>
                              </m:r>
                            </m:e>
                            <m:sup>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𝝀</m:t>
                              </m:r>
                              <m:r>
                                <a:rPr lang="en-NZ" altLang="ja-JP" sz="1800" b="1" i="1">
                                  <a:solidFill>
                                    <a:schemeClr val="tx1"/>
                                  </a:solidFill>
                                  <a:latin typeface="Cambria Math" panose="02040503050406030204" pitchFamily="18" charset="0"/>
                                </a:rPr>
                                <m:t>𝒙</m:t>
                              </m:r>
                            </m:sup>
                          </m:sSup>
                        </m:num>
                        <m:den>
                          <m:r>
                            <a:rPr lang="el-GR" altLang="ja-JP" sz="1800" b="1" i="1" smtClean="0">
                              <a:solidFill>
                                <a:schemeClr val="tx1"/>
                              </a:solidFill>
                              <a:latin typeface="Cambria Math" panose="02040503050406030204" pitchFamily="18" charset="0"/>
                              <a:ea typeface="Cambria Math" panose="02040503050406030204" pitchFamily="18" charset="0"/>
                            </a:rPr>
                            <m:t>𝜞</m:t>
                          </m:r>
                          <m:r>
                            <a:rPr lang="en-NZ" altLang="ja-JP" sz="1800" b="1" i="1" smtClean="0">
                              <a:solidFill>
                                <a:schemeClr val="tx1"/>
                              </a:solidFill>
                              <a:latin typeface="Cambria Math" panose="02040503050406030204" pitchFamily="18" charset="0"/>
                              <a:ea typeface="Cambria Math" panose="02040503050406030204" pitchFamily="18" charset="0"/>
                            </a:rPr>
                            <m:t>(</m:t>
                          </m:r>
                          <m:r>
                            <a:rPr lang="en-NZ" altLang="ja-JP" sz="1800" b="1" i="1" smtClean="0">
                              <a:solidFill>
                                <a:schemeClr val="tx1"/>
                              </a:solidFill>
                              <a:latin typeface="Cambria Math" panose="02040503050406030204" pitchFamily="18" charset="0"/>
                              <a:ea typeface="Cambria Math" panose="02040503050406030204" pitchFamily="18" charset="0"/>
                            </a:rPr>
                            <m:t>𝜶</m:t>
                          </m:r>
                          <m:r>
                            <a:rPr lang="en-NZ" altLang="ja-JP" sz="1800" b="1" i="1" smtClean="0">
                              <a:solidFill>
                                <a:schemeClr val="tx1"/>
                              </a:solidFill>
                              <a:latin typeface="Cambria Math" panose="02040503050406030204" pitchFamily="18" charset="0"/>
                              <a:ea typeface="Cambria Math" panose="02040503050406030204" pitchFamily="18" charset="0"/>
                            </a:rPr>
                            <m:t>)</m:t>
                          </m:r>
                        </m:den>
                      </m:f>
                      <m:r>
                        <a:rPr lang="en-NZ" altLang="ja-JP" sz="1800" b="1" i="1" smtClean="0">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𝝀</m:t>
                              </m:r>
                            </m:e>
                            <m:sup>
                              <m:r>
                                <a:rPr lang="en-NZ" altLang="ja-JP" sz="1800" b="1" i="1">
                                  <a:solidFill>
                                    <a:schemeClr val="tx1"/>
                                  </a:solidFill>
                                  <a:latin typeface="Cambria Math" panose="02040503050406030204" pitchFamily="18" charset="0"/>
                                </a:rPr>
                                <m:t>𝜶</m:t>
                              </m:r>
                            </m:sup>
                          </m:sSup>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𝒙</m:t>
                              </m:r>
                            </m:e>
                            <m:sup>
                              <m:r>
                                <a:rPr lang="en-NZ" altLang="ja-JP" sz="1800" b="1" i="1">
                                  <a:solidFill>
                                    <a:schemeClr val="tx1"/>
                                  </a:solidFill>
                                  <a:latin typeface="Cambria Math" panose="02040503050406030204" pitchFamily="18" charset="0"/>
                                </a:rPr>
                                <m:t>𝜶</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p>
                          </m:sSup>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𝒆</m:t>
                              </m:r>
                            </m:e>
                            <m:sup>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𝝀</m:t>
                              </m:r>
                              <m:r>
                                <a:rPr lang="en-NZ" altLang="ja-JP" sz="1800" b="1" i="1">
                                  <a:solidFill>
                                    <a:schemeClr val="tx1"/>
                                  </a:solidFill>
                                  <a:latin typeface="Cambria Math" panose="02040503050406030204" pitchFamily="18" charset="0"/>
                                </a:rPr>
                                <m:t>𝒙</m:t>
                              </m:r>
                            </m:sup>
                          </m:sSup>
                        </m:num>
                        <m:den>
                          <m:nary>
                            <m:naryPr>
                              <m:limLoc m:val="undOvr"/>
                              <m:ctrlPr>
                                <a:rPr lang="en-NZ" altLang="ja-JP" sz="1800" b="1" i="1" smtClean="0">
                                  <a:solidFill>
                                    <a:schemeClr val="tx1"/>
                                  </a:solidFill>
                                  <a:latin typeface="Cambria Math" panose="02040503050406030204" pitchFamily="18" charset="0"/>
                                </a:rPr>
                              </m:ctrlPr>
                            </m:naryPr>
                            <m:sub>
                              <m:r>
                                <m:rPr>
                                  <m:brk m:alnAt="24"/>
                                </m:rPr>
                                <a:rPr lang="en-NZ" altLang="ja-JP" sz="1800" b="1" i="1" smtClean="0">
                                  <a:solidFill>
                                    <a:schemeClr val="tx1"/>
                                  </a:solidFill>
                                  <a:latin typeface="Cambria Math" panose="02040503050406030204" pitchFamily="18" charset="0"/>
                                </a:rPr>
                                <m:t>𝟎</m:t>
                              </m:r>
                            </m:sub>
                            <m:sup>
                              <m:r>
                                <a:rPr lang="en-NZ" altLang="ja-JP" sz="1800" b="1" i="1" smtClean="0">
                                  <a:solidFill>
                                    <a:schemeClr val="tx1"/>
                                  </a:solidFill>
                                  <a:latin typeface="Cambria Math" panose="02040503050406030204" pitchFamily="18" charset="0"/>
                                </a:rPr>
                                <m:t>∞</m:t>
                              </m:r>
                            </m:sup>
                            <m:e>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𝒙</m:t>
                                  </m:r>
                                </m:e>
                                <m:sup>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p>
                              </m:sSup>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𝒆</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𝒙</m:t>
                                  </m:r>
                                </m:sup>
                              </m:sSup>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𝒅𝒙</m:t>
                              </m:r>
                            </m:e>
                          </m:nary>
                        </m:den>
                      </m:f>
                    </m:oMath>
                  </m:oMathPara>
                </a14:m>
                <a:endParaRPr lang="ja-JP" altLang="en-NZ" sz="1800" b="1" dirty="0">
                  <a:solidFill>
                    <a:schemeClr val="tx1"/>
                  </a:solidFill>
                </a:endParaRPr>
              </a:p>
            </p:txBody>
          </p:sp>
        </mc:Choice>
        <mc:Fallback xmlns="">
          <p:sp>
            <p:nvSpPr>
              <p:cNvPr id="18" name="Text Placeholder 5">
                <a:extLst>
                  <a:ext uri="{FF2B5EF4-FFF2-40B4-BE49-F238E27FC236}">
                    <a16:creationId xmlns:a16="http://schemas.microsoft.com/office/drawing/2014/main" id="{8A1D91FD-694E-4349-94FE-EC7D310F88EF}"/>
                  </a:ext>
                </a:extLst>
              </p:cNvPr>
              <p:cNvSpPr txBox="1">
                <a:spLocks noRot="1" noChangeAspect="1" noMove="1" noResize="1" noEditPoints="1" noAdjustHandles="1" noChangeArrowheads="1" noChangeShapeType="1" noTextEdit="1"/>
              </p:cNvSpPr>
              <p:nvPr/>
            </p:nvSpPr>
            <p:spPr>
              <a:xfrm>
                <a:off x="523672" y="2616224"/>
                <a:ext cx="6286562" cy="806522"/>
              </a:xfrm>
              <a:prstGeom prst="rect">
                <a:avLst/>
              </a:prstGeom>
              <a:blipFill>
                <a:blip r:embed="rId4"/>
                <a:stretch>
                  <a:fillRect/>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053ED0DF-1AF7-4BF8-9D89-5B3733340764}"/>
              </a:ext>
            </a:extLst>
          </p:cNvPr>
          <p:cNvSpPr txBox="1">
            <a:spLocks/>
          </p:cNvSpPr>
          <p:nvPr/>
        </p:nvSpPr>
        <p:spPr>
          <a:xfrm>
            <a:off x="319462" y="2166357"/>
            <a:ext cx="11390316"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probability density function (</a:t>
            </a:r>
            <a:r>
              <a:rPr lang="en-NZ" altLang="ja-JP" sz="1800" dirty="0" err="1">
                <a:solidFill>
                  <a:schemeClr val="tx1"/>
                </a:solidFill>
              </a:rPr>
              <a:t>p.d.f</a:t>
            </a:r>
            <a:r>
              <a:rPr lang="en-NZ" altLang="ja-JP" sz="1800" dirty="0">
                <a:solidFill>
                  <a:schemeClr val="tx1"/>
                </a:solidFill>
              </a:rPr>
              <a:t>) of </a:t>
            </a:r>
            <a:r>
              <a:rPr lang="en-NZ" altLang="ja-JP" sz="1800" b="1" i="1" dirty="0">
                <a:solidFill>
                  <a:schemeClr val="tx1"/>
                </a:solidFill>
              </a:rPr>
              <a:t>X</a:t>
            </a:r>
            <a:r>
              <a:rPr lang="en-NZ" altLang="ja-JP" sz="1800" dirty="0">
                <a:solidFill>
                  <a:schemeClr val="tx1"/>
                </a:solidFill>
              </a:rPr>
              <a:t> is given by:</a:t>
            </a:r>
            <a:endParaRPr lang="ja-JP" altLang="en-NZ" sz="1800" b="1" dirty="0">
              <a:solidFill>
                <a:schemeClr val="bg2">
                  <a:lumMod val="50000"/>
                </a:schemeClr>
              </a:solidFill>
            </a:endParaRPr>
          </a:p>
        </p:txBody>
      </p:sp>
      <p:sp>
        <p:nvSpPr>
          <p:cNvPr id="21" name="Text Placeholder 5">
            <a:extLst>
              <a:ext uri="{FF2B5EF4-FFF2-40B4-BE49-F238E27FC236}">
                <a16:creationId xmlns:a16="http://schemas.microsoft.com/office/drawing/2014/main" id="{61B2D0AE-B16C-4387-8506-6F84737B300C}"/>
              </a:ext>
            </a:extLst>
          </p:cNvPr>
          <p:cNvSpPr txBox="1">
            <a:spLocks/>
          </p:cNvSpPr>
          <p:nvPr/>
        </p:nvSpPr>
        <p:spPr>
          <a:xfrm>
            <a:off x="319462" y="5554653"/>
            <a:ext cx="11594526"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See solution to Problem 8 </a:t>
            </a:r>
            <a:r>
              <a:rPr lang="en-NZ" altLang="ja-JP" sz="1800" dirty="0">
                <a:solidFill>
                  <a:schemeClr val="tx1"/>
                </a:solidFill>
                <a:hlinkClick r:id="rId5"/>
              </a:rPr>
              <a:t>here</a:t>
            </a:r>
            <a:r>
              <a:rPr lang="en-NZ" altLang="ja-JP" sz="1800" dirty="0">
                <a:solidFill>
                  <a:schemeClr val="tx1"/>
                </a:solidFill>
              </a:rPr>
              <a:t> for a proof.</a:t>
            </a:r>
            <a:endParaRPr lang="ja-JP" altLang="en-NZ" sz="1800" b="1" dirty="0">
              <a:solidFill>
                <a:schemeClr val="bg2">
                  <a:lumMod val="50000"/>
                </a:schemeClr>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337204FF-C55F-4800-8C4C-76DE81351832}"/>
                  </a:ext>
                </a:extLst>
              </p:cNvPr>
              <p:cNvSpPr txBox="1">
                <a:spLocks/>
              </p:cNvSpPr>
              <p:nvPr/>
            </p:nvSpPr>
            <p:spPr>
              <a:xfrm>
                <a:off x="2384316" y="4915842"/>
                <a:ext cx="3630305" cy="6270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𝜶</m:t>
                          </m:r>
                        </m:num>
                        <m:den>
                          <m:r>
                            <a:rPr lang="en-NZ" altLang="ja-JP" sz="1800" b="1" i="1" smtClean="0">
                              <a:solidFill>
                                <a:schemeClr val="tx1"/>
                              </a:solidFill>
                              <a:latin typeface="Cambria Math" panose="02040503050406030204" pitchFamily="18" charset="0"/>
                            </a:rPr>
                            <m:t>𝝀</m:t>
                          </m:r>
                        </m:den>
                      </m:f>
                    </m:oMath>
                  </m:oMathPara>
                </a14:m>
                <a:endParaRPr lang="ja-JP" altLang="en-NZ" sz="1800" b="1" dirty="0">
                  <a:solidFill>
                    <a:schemeClr val="tx1"/>
                  </a:solidFill>
                </a:endParaRPr>
              </a:p>
            </p:txBody>
          </p:sp>
        </mc:Choice>
        <mc:Fallback xmlns="">
          <p:sp>
            <p:nvSpPr>
              <p:cNvPr id="22" name="Text Placeholder 5">
                <a:extLst>
                  <a:ext uri="{FF2B5EF4-FFF2-40B4-BE49-F238E27FC236}">
                    <a16:creationId xmlns:a16="http://schemas.microsoft.com/office/drawing/2014/main" id="{337204FF-C55F-4800-8C4C-76DE81351832}"/>
                  </a:ext>
                </a:extLst>
              </p:cNvPr>
              <p:cNvSpPr txBox="1">
                <a:spLocks noRot="1" noChangeAspect="1" noMove="1" noResize="1" noEditPoints="1" noAdjustHandles="1" noChangeArrowheads="1" noChangeShapeType="1" noTextEdit="1"/>
              </p:cNvSpPr>
              <p:nvPr/>
            </p:nvSpPr>
            <p:spPr>
              <a:xfrm>
                <a:off x="2384316" y="4915842"/>
                <a:ext cx="3630305" cy="627036"/>
              </a:xfrm>
              <a:prstGeom prst="rect">
                <a:avLst/>
              </a:prstGeom>
              <a:blipFill>
                <a:blip r:embed="rId6"/>
                <a:stretch>
                  <a:fillRect/>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C26CD206-CA86-4DBD-A2E9-DE6D8A6226B7}"/>
              </a:ext>
            </a:extLst>
          </p:cNvPr>
          <p:cNvSpPr txBox="1">
            <a:spLocks/>
          </p:cNvSpPr>
          <p:nvPr/>
        </p:nvSpPr>
        <p:spPr>
          <a:xfrm>
            <a:off x="5584716" y="5044603"/>
            <a:ext cx="859809"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and</a:t>
            </a:r>
            <a:endParaRPr lang="ja-JP" altLang="en-NZ" sz="1800" b="1" dirty="0">
              <a:solidFill>
                <a:schemeClr val="bg2">
                  <a:lumMod val="50000"/>
                </a:schemeClr>
              </a:solidFill>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3D6F1630-ED22-48F0-9FCC-AF1F131B3B37}"/>
                  </a:ext>
                </a:extLst>
              </p:cNvPr>
              <p:cNvSpPr txBox="1">
                <a:spLocks/>
              </p:cNvSpPr>
              <p:nvPr/>
            </p:nvSpPr>
            <p:spPr>
              <a:xfrm>
                <a:off x="6014620" y="4915842"/>
                <a:ext cx="3630305" cy="6270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𝜶</m:t>
                          </m:r>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𝝀</m:t>
                              </m:r>
                            </m:e>
                            <m:sup>
                              <m:r>
                                <a:rPr lang="en-NZ" altLang="ja-JP" sz="1800" b="1" i="1" smtClean="0">
                                  <a:solidFill>
                                    <a:schemeClr val="tx1"/>
                                  </a:solidFill>
                                  <a:latin typeface="Cambria Math" panose="02040503050406030204" pitchFamily="18" charset="0"/>
                                </a:rPr>
                                <m:t>𝟐</m:t>
                              </m:r>
                            </m:sup>
                          </m:sSup>
                        </m:den>
                      </m:f>
                    </m:oMath>
                  </m:oMathPara>
                </a14:m>
                <a:endParaRPr lang="ja-JP" altLang="en-NZ" sz="1800" b="1" dirty="0">
                  <a:solidFill>
                    <a:schemeClr val="tx1"/>
                  </a:solidFill>
                </a:endParaRPr>
              </a:p>
            </p:txBody>
          </p:sp>
        </mc:Choice>
        <mc:Fallback xmlns="">
          <p:sp>
            <p:nvSpPr>
              <p:cNvPr id="24" name="Text Placeholder 5">
                <a:extLst>
                  <a:ext uri="{FF2B5EF4-FFF2-40B4-BE49-F238E27FC236}">
                    <a16:creationId xmlns:a16="http://schemas.microsoft.com/office/drawing/2014/main" id="{3D6F1630-ED22-48F0-9FCC-AF1F131B3B37}"/>
                  </a:ext>
                </a:extLst>
              </p:cNvPr>
              <p:cNvSpPr txBox="1">
                <a:spLocks noRot="1" noChangeAspect="1" noMove="1" noResize="1" noEditPoints="1" noAdjustHandles="1" noChangeArrowheads="1" noChangeShapeType="1" noTextEdit="1"/>
              </p:cNvSpPr>
              <p:nvPr/>
            </p:nvSpPr>
            <p:spPr>
              <a:xfrm>
                <a:off x="6014620" y="4915842"/>
                <a:ext cx="3630305" cy="627036"/>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6F1D32B6-952F-4EBA-8167-BDD9A8B3304F}"/>
                  </a:ext>
                </a:extLst>
              </p:cNvPr>
              <p:cNvSpPr txBox="1">
                <a:spLocks/>
              </p:cNvSpPr>
              <p:nvPr/>
            </p:nvSpPr>
            <p:spPr>
              <a:xfrm>
                <a:off x="6104531" y="2801598"/>
                <a:ext cx="1411406" cy="6270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𝒙</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m:oMathPara>
                </a14:m>
                <a:endParaRPr lang="ja-JP" altLang="en-NZ" sz="1800" b="1" dirty="0">
                  <a:solidFill>
                    <a:schemeClr val="tx1"/>
                  </a:solidFill>
                </a:endParaRPr>
              </a:p>
            </p:txBody>
          </p:sp>
        </mc:Choice>
        <mc:Fallback xmlns="">
          <p:sp>
            <p:nvSpPr>
              <p:cNvPr id="16" name="Text Placeholder 5">
                <a:extLst>
                  <a:ext uri="{FF2B5EF4-FFF2-40B4-BE49-F238E27FC236}">
                    <a16:creationId xmlns:a16="http://schemas.microsoft.com/office/drawing/2014/main" id="{6F1D32B6-952F-4EBA-8167-BDD9A8B3304F}"/>
                  </a:ext>
                </a:extLst>
              </p:cNvPr>
              <p:cNvSpPr txBox="1">
                <a:spLocks noRot="1" noChangeAspect="1" noMove="1" noResize="1" noEditPoints="1" noAdjustHandles="1" noChangeArrowheads="1" noChangeShapeType="1" noTextEdit="1"/>
              </p:cNvSpPr>
              <p:nvPr/>
            </p:nvSpPr>
            <p:spPr>
              <a:xfrm>
                <a:off x="6104531" y="2801598"/>
                <a:ext cx="1411406" cy="627036"/>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7E4CA570-BF10-4DDC-89AF-1DA99645C029}"/>
                  </a:ext>
                </a:extLst>
              </p:cNvPr>
              <p:cNvSpPr txBox="1">
                <a:spLocks/>
              </p:cNvSpPr>
              <p:nvPr/>
            </p:nvSpPr>
            <p:spPr>
              <a:xfrm>
                <a:off x="319462" y="3736935"/>
                <a:ext cx="11390316" cy="4286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If  </a:t>
                </a:r>
                <a14:m>
                  <m:oMath xmlns:m="http://schemas.openxmlformats.org/officeDocument/2006/math">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oMath>
                </a14:m>
                <a:r>
                  <a:rPr lang="ja-JP" altLang="en-NZ" sz="1800" b="1" dirty="0">
                    <a:solidFill>
                      <a:schemeClr val="bg2">
                        <a:lumMod val="50000"/>
                      </a:schemeClr>
                    </a:solidFill>
                  </a:rPr>
                  <a:t>  </a:t>
                </a:r>
                <a:r>
                  <a:rPr lang="en-NZ" altLang="ja-JP" sz="1800" dirty="0">
                    <a:solidFill>
                      <a:schemeClr val="tx1"/>
                    </a:solidFill>
                  </a:rPr>
                  <a:t>then </a:t>
                </a: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𝒇</m:t>
                        </m:r>
                      </m:e>
                      <m:sub>
                        <m:r>
                          <a:rPr lang="en-NZ" altLang="ja-JP" sz="1800" b="1" i="1">
                            <a:solidFill>
                              <a:schemeClr val="tx1"/>
                            </a:solidFill>
                            <a:latin typeface="Cambria Math" panose="02040503050406030204" pitchFamily="18" charset="0"/>
                          </a:rPr>
                          <m:t>𝑿</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e>
                    </m:d>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𝝀</m:t>
                    </m:r>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𝒆</m:t>
                        </m:r>
                      </m:e>
                      <m:sup>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𝝀</m:t>
                        </m:r>
                        <m:r>
                          <a:rPr lang="en-NZ" altLang="ja-JP" sz="1800" b="1" i="1">
                            <a:solidFill>
                              <a:schemeClr val="tx1"/>
                            </a:solidFill>
                            <a:latin typeface="Cambria Math" panose="02040503050406030204" pitchFamily="18" charset="0"/>
                          </a:rPr>
                          <m:t>𝒙</m:t>
                        </m:r>
                      </m:sup>
                    </m:sSup>
                  </m:oMath>
                </a14:m>
                <a:r>
                  <a:rPr lang="en-NZ" altLang="ja-JP" sz="1800" dirty="0">
                    <a:solidFill>
                      <a:schemeClr val="tx1"/>
                    </a:solidFill>
                  </a:rPr>
                  <a:t>  such that the exponential distribution is a special case of the gamma distribution. </a:t>
                </a:r>
                <a:endParaRPr lang="ja-JP" altLang="en-NZ" sz="1800" dirty="0">
                  <a:solidFill>
                    <a:schemeClr val="tx1"/>
                  </a:solidFill>
                </a:endParaRPr>
              </a:p>
            </p:txBody>
          </p:sp>
        </mc:Choice>
        <mc:Fallback xmlns="">
          <p:sp>
            <p:nvSpPr>
              <p:cNvPr id="25" name="Text Placeholder 5">
                <a:extLst>
                  <a:ext uri="{FF2B5EF4-FFF2-40B4-BE49-F238E27FC236}">
                    <a16:creationId xmlns:a16="http://schemas.microsoft.com/office/drawing/2014/main" id="{7E4CA570-BF10-4DDC-89AF-1DA99645C029}"/>
                  </a:ext>
                </a:extLst>
              </p:cNvPr>
              <p:cNvSpPr txBox="1">
                <a:spLocks noRot="1" noChangeAspect="1" noMove="1" noResize="1" noEditPoints="1" noAdjustHandles="1" noChangeArrowheads="1" noChangeShapeType="1" noTextEdit="1"/>
              </p:cNvSpPr>
              <p:nvPr/>
            </p:nvSpPr>
            <p:spPr>
              <a:xfrm>
                <a:off x="319462" y="3736935"/>
                <a:ext cx="11390316" cy="428625"/>
              </a:xfrm>
              <a:prstGeom prst="rect">
                <a:avLst/>
              </a:prstGeom>
              <a:blipFill>
                <a:blip r:embed="rId9"/>
                <a:stretch>
                  <a:fillRect l="-428" t="-4286" b="-11429"/>
                </a:stretch>
              </a:blipFill>
            </p:spPr>
            <p:txBody>
              <a:bodyPr/>
              <a:lstStyle/>
              <a:p>
                <a:r>
                  <a:rPr lang="en-NZ">
                    <a:noFill/>
                  </a:rPr>
                  <a:t> </a:t>
                </a:r>
              </a:p>
            </p:txBody>
          </p:sp>
        </mc:Fallback>
      </mc:AlternateContent>
    </p:spTree>
    <p:extLst>
      <p:ext uri="{BB962C8B-B14F-4D97-AF65-F5344CB8AC3E}">
        <p14:creationId xmlns:p14="http://schemas.microsoft.com/office/powerpoint/2010/main" val="384651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P spid="21" grpId="0"/>
      <p:bldP spid="22" grpId="0"/>
      <p:bldP spid="23" grpId="0"/>
      <p:bldP spid="24" grpId="0"/>
      <p:bldP spid="16" grpId="0"/>
      <p:bldP spid="2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1EA04003-994C-434B-9E8F-8ACE04D3B07A}"/>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7.5b</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itle 6">
            <a:extLst>
              <a:ext uri="{FF2B5EF4-FFF2-40B4-BE49-F238E27FC236}">
                <a16:creationId xmlns:a16="http://schemas.microsoft.com/office/drawing/2014/main" id="{7C0CE8D7-235C-4C1E-9D84-462BF3BDCF78}"/>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7.5b – Exponential</a:t>
            </a:r>
            <a:r>
              <a:rPr kumimoji="1" lang="en-US" altLang="ja-JP" sz="3600" b="1" i="0" u="sng" strike="noStrike" kern="1200" cap="none" spc="0" normalizeH="0" noProof="0" dirty="0">
                <a:ln>
                  <a:noFill/>
                </a:ln>
                <a:solidFill>
                  <a:prstClr val="black"/>
                </a:solidFill>
                <a:effectLst/>
                <a:uLnTx/>
                <a:uFillTx/>
                <a:latin typeface="Calibri" panose="020F0502020204030204"/>
                <a:ea typeface="游ゴシック Light" panose="020B0300000000000000" pitchFamily="34" charset="-128"/>
                <a:cs typeface="+mj-cs"/>
              </a:rPr>
              <a:t> &amp; Gamma Distributions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Text Placeholder 5">
            <a:extLst>
              <a:ext uri="{FF2B5EF4-FFF2-40B4-BE49-F238E27FC236}">
                <a16:creationId xmlns:a16="http://schemas.microsoft.com/office/drawing/2014/main" id="{95EF3768-75E4-4B05-BCB3-542BFCCB3548}"/>
              </a:ext>
            </a:extLst>
          </p:cNvPr>
          <p:cNvSpPr txBox="1">
            <a:spLocks/>
          </p:cNvSpPr>
          <p:nvPr/>
        </p:nvSpPr>
        <p:spPr>
          <a:xfrm>
            <a:off x="1046328" y="1752689"/>
            <a:ext cx="10099343" cy="10148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Arial" panose="020B0604020202020204" pitchFamily="34" charset="0"/>
              <a:buChar char="•"/>
            </a:pPr>
            <a:r>
              <a:rPr lang="en-NZ" altLang="ja-JP" sz="2400" dirty="0">
                <a:solidFill>
                  <a:schemeClr val="tx1"/>
                </a:solidFill>
              </a:rPr>
              <a:t>Suppose we are interested in whether or not certain events occur independently in time (or space).</a:t>
            </a:r>
          </a:p>
        </p:txBody>
      </p:sp>
      <p:sp>
        <p:nvSpPr>
          <p:cNvPr id="19" name="Text Placeholder 5">
            <a:extLst>
              <a:ext uri="{FF2B5EF4-FFF2-40B4-BE49-F238E27FC236}">
                <a16:creationId xmlns:a16="http://schemas.microsoft.com/office/drawing/2014/main" id="{8EF3B76D-6FAA-4ED1-845A-E0B8767E01EF}"/>
              </a:ext>
            </a:extLst>
          </p:cNvPr>
          <p:cNvSpPr txBox="1">
            <a:spLocks/>
          </p:cNvSpPr>
          <p:nvPr/>
        </p:nvSpPr>
        <p:spPr>
          <a:xfrm>
            <a:off x="1046328" y="2914733"/>
            <a:ext cx="10099344" cy="8014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gn="just">
              <a:lnSpc>
                <a:spcPct val="100000"/>
              </a:lnSpc>
              <a:buFont typeface="Arial" panose="020B0604020202020204" pitchFamily="34" charset="0"/>
              <a:buChar char="•"/>
            </a:pPr>
            <a:r>
              <a:rPr lang="en-NZ" altLang="ja-JP" sz="2400" dirty="0">
                <a:solidFill>
                  <a:schemeClr val="tx1"/>
                </a:solidFill>
              </a:rPr>
              <a:t>Essentially, this boils down to determining whether they are better modelled by a Gamma or an exponential distribution</a:t>
            </a:r>
            <a:endParaRPr lang="ja-JP" altLang="en-NZ" sz="2400" dirty="0">
              <a:solidFill>
                <a:schemeClr val="bg2">
                  <a:lumMod val="50000"/>
                </a:schemeClr>
              </a:solidFill>
            </a:endParaRPr>
          </a:p>
        </p:txBody>
      </p:sp>
      <p:sp>
        <p:nvSpPr>
          <p:cNvPr id="26" name="Text Placeholder 5">
            <a:extLst>
              <a:ext uri="{FF2B5EF4-FFF2-40B4-BE49-F238E27FC236}">
                <a16:creationId xmlns:a16="http://schemas.microsoft.com/office/drawing/2014/main" id="{C10CEB4D-4D05-4B40-8A1F-8D52FB406F2E}"/>
              </a:ext>
            </a:extLst>
          </p:cNvPr>
          <p:cNvSpPr txBox="1">
            <a:spLocks/>
          </p:cNvSpPr>
          <p:nvPr/>
        </p:nvSpPr>
        <p:spPr>
          <a:xfrm>
            <a:off x="1046328" y="4111874"/>
            <a:ext cx="10240371" cy="5142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gn="just">
              <a:lnSpc>
                <a:spcPct val="100000"/>
              </a:lnSpc>
              <a:buFont typeface="Arial" panose="020B0604020202020204" pitchFamily="34" charset="0"/>
              <a:buChar char="•"/>
            </a:pPr>
            <a:r>
              <a:rPr lang="en-NZ" altLang="ja-JP" sz="2400" dirty="0">
                <a:solidFill>
                  <a:schemeClr val="tx1"/>
                </a:solidFill>
              </a:rPr>
              <a:t>i.e. by assuming a </a:t>
            </a:r>
            <a:r>
              <a:rPr lang="en-NZ" altLang="ja-JP" sz="2400" b="1" i="1" dirty="0">
                <a:solidFill>
                  <a:schemeClr val="tx1"/>
                </a:solidFill>
              </a:rPr>
              <a:t>Gamma(α, </a:t>
            </a:r>
            <a:r>
              <a:rPr lang="el-GR" altLang="ja-JP" sz="2400" b="1" i="1" dirty="0">
                <a:solidFill>
                  <a:schemeClr val="tx1"/>
                </a:solidFill>
              </a:rPr>
              <a:t>λ</a:t>
            </a:r>
            <a:r>
              <a:rPr lang="en-NZ" altLang="ja-JP" sz="2400" b="1" i="1" dirty="0">
                <a:solidFill>
                  <a:schemeClr val="tx1"/>
                </a:solidFill>
              </a:rPr>
              <a:t>) </a:t>
            </a:r>
            <a:r>
              <a:rPr lang="en-NZ" altLang="ja-JP" sz="2400" dirty="0">
                <a:solidFill>
                  <a:schemeClr val="tx1"/>
                </a:solidFill>
              </a:rPr>
              <a:t>distribution and testing whether </a:t>
            </a:r>
            <a:r>
              <a:rPr lang="el-GR" altLang="ja-JP" sz="2400" b="1" i="1" dirty="0">
                <a:solidFill>
                  <a:schemeClr val="tx1"/>
                </a:solidFill>
              </a:rPr>
              <a:t>α</a:t>
            </a:r>
            <a:r>
              <a:rPr lang="en-NZ" altLang="ja-JP" sz="2400" b="1" i="1" dirty="0">
                <a:solidFill>
                  <a:schemeClr val="tx1"/>
                </a:solidFill>
              </a:rPr>
              <a:t> = 1 </a:t>
            </a:r>
            <a:r>
              <a:rPr lang="en-NZ" altLang="ja-JP" sz="2400" dirty="0">
                <a:solidFill>
                  <a:schemeClr val="tx1"/>
                </a:solidFill>
              </a:rPr>
              <a:t>or not.</a:t>
            </a:r>
            <a:endParaRPr lang="ja-JP" altLang="en-NZ" sz="2400" dirty="0">
              <a:solidFill>
                <a:schemeClr val="bg2">
                  <a:lumMod val="50000"/>
                </a:schemeClr>
              </a:solidFill>
            </a:endParaRPr>
          </a:p>
        </p:txBody>
      </p:sp>
    </p:spTree>
    <p:extLst>
      <p:ext uri="{BB962C8B-B14F-4D97-AF65-F5344CB8AC3E}">
        <p14:creationId xmlns:p14="http://schemas.microsoft.com/office/powerpoint/2010/main" val="3990408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1EA04003-994C-434B-9E8F-8ACE04D3B07A}"/>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7.5c</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itle 6">
            <a:extLst>
              <a:ext uri="{FF2B5EF4-FFF2-40B4-BE49-F238E27FC236}">
                <a16:creationId xmlns:a16="http://schemas.microsoft.com/office/drawing/2014/main" id="{7C0CE8D7-235C-4C1E-9D84-462BF3BDCF78}"/>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7.5c – Temporal Clustering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515B44DD-EFB8-4771-966A-A44D949D1072}"/>
              </a:ext>
            </a:extLst>
          </p:cNvPr>
          <p:cNvSpPr txBox="1">
            <a:spLocks/>
          </p:cNvSpPr>
          <p:nvPr/>
        </p:nvSpPr>
        <p:spPr>
          <a:xfrm>
            <a:off x="319463" y="1005528"/>
            <a:ext cx="1139031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accent1"/>
                </a:solidFill>
              </a:rPr>
              <a:t>The length of time in days between magnitude 2.5 (or above) earthquakes along a particular fault line is recorded over a period of 1,835 days. The results of this process are shown in the table below:</a:t>
            </a:r>
            <a:endParaRPr lang="ja-JP" altLang="en-NZ" sz="1800" dirty="0">
              <a:solidFill>
                <a:schemeClr val="accent1"/>
              </a:solidFill>
            </a:endParaRPr>
          </a:p>
        </p:txBody>
      </p:sp>
      <p:graphicFrame>
        <p:nvGraphicFramePr>
          <p:cNvPr id="2" name="Table 1">
            <a:extLst>
              <a:ext uri="{FF2B5EF4-FFF2-40B4-BE49-F238E27FC236}">
                <a16:creationId xmlns:a16="http://schemas.microsoft.com/office/drawing/2014/main" id="{B95D36C5-E5C0-4C9B-90B4-60F8617E801F}"/>
              </a:ext>
            </a:extLst>
          </p:cNvPr>
          <p:cNvGraphicFramePr>
            <a:graphicFrameLocks noGrp="1"/>
          </p:cNvGraphicFramePr>
          <p:nvPr>
            <p:extLst>
              <p:ext uri="{D42A27DB-BD31-4B8C-83A1-F6EECF244321}">
                <p14:modId xmlns:p14="http://schemas.microsoft.com/office/powerpoint/2010/main" val="1865122284"/>
              </p:ext>
            </p:extLst>
          </p:nvPr>
        </p:nvGraphicFramePr>
        <p:xfrm>
          <a:off x="2295098" y="1995616"/>
          <a:ext cx="7601803" cy="1597870"/>
        </p:xfrm>
        <a:graphic>
          <a:graphicData uri="http://schemas.openxmlformats.org/drawingml/2006/table">
            <a:tbl>
              <a:tblPr/>
              <a:tblGrid>
                <a:gridCol w="691073">
                  <a:extLst>
                    <a:ext uri="{9D8B030D-6E8A-4147-A177-3AD203B41FA5}">
                      <a16:colId xmlns:a16="http://schemas.microsoft.com/office/drawing/2014/main" val="2012431118"/>
                    </a:ext>
                  </a:extLst>
                </a:gridCol>
                <a:gridCol w="691073">
                  <a:extLst>
                    <a:ext uri="{9D8B030D-6E8A-4147-A177-3AD203B41FA5}">
                      <a16:colId xmlns:a16="http://schemas.microsoft.com/office/drawing/2014/main" val="4022439649"/>
                    </a:ext>
                  </a:extLst>
                </a:gridCol>
                <a:gridCol w="691073">
                  <a:extLst>
                    <a:ext uri="{9D8B030D-6E8A-4147-A177-3AD203B41FA5}">
                      <a16:colId xmlns:a16="http://schemas.microsoft.com/office/drawing/2014/main" val="2144129855"/>
                    </a:ext>
                  </a:extLst>
                </a:gridCol>
                <a:gridCol w="691073">
                  <a:extLst>
                    <a:ext uri="{9D8B030D-6E8A-4147-A177-3AD203B41FA5}">
                      <a16:colId xmlns:a16="http://schemas.microsoft.com/office/drawing/2014/main" val="1652301651"/>
                    </a:ext>
                  </a:extLst>
                </a:gridCol>
                <a:gridCol w="691073">
                  <a:extLst>
                    <a:ext uri="{9D8B030D-6E8A-4147-A177-3AD203B41FA5}">
                      <a16:colId xmlns:a16="http://schemas.microsoft.com/office/drawing/2014/main" val="168673294"/>
                    </a:ext>
                  </a:extLst>
                </a:gridCol>
                <a:gridCol w="691073">
                  <a:extLst>
                    <a:ext uri="{9D8B030D-6E8A-4147-A177-3AD203B41FA5}">
                      <a16:colId xmlns:a16="http://schemas.microsoft.com/office/drawing/2014/main" val="390921117"/>
                    </a:ext>
                  </a:extLst>
                </a:gridCol>
                <a:gridCol w="691073">
                  <a:extLst>
                    <a:ext uri="{9D8B030D-6E8A-4147-A177-3AD203B41FA5}">
                      <a16:colId xmlns:a16="http://schemas.microsoft.com/office/drawing/2014/main" val="3540013174"/>
                    </a:ext>
                  </a:extLst>
                </a:gridCol>
                <a:gridCol w="691073">
                  <a:extLst>
                    <a:ext uri="{9D8B030D-6E8A-4147-A177-3AD203B41FA5}">
                      <a16:colId xmlns:a16="http://schemas.microsoft.com/office/drawing/2014/main" val="2644222901"/>
                    </a:ext>
                  </a:extLst>
                </a:gridCol>
                <a:gridCol w="691073">
                  <a:extLst>
                    <a:ext uri="{9D8B030D-6E8A-4147-A177-3AD203B41FA5}">
                      <a16:colId xmlns:a16="http://schemas.microsoft.com/office/drawing/2014/main" val="1533269433"/>
                    </a:ext>
                  </a:extLst>
                </a:gridCol>
                <a:gridCol w="691073">
                  <a:extLst>
                    <a:ext uri="{9D8B030D-6E8A-4147-A177-3AD203B41FA5}">
                      <a16:colId xmlns:a16="http://schemas.microsoft.com/office/drawing/2014/main" val="771984964"/>
                    </a:ext>
                  </a:extLst>
                </a:gridCol>
                <a:gridCol w="691073">
                  <a:extLst>
                    <a:ext uri="{9D8B030D-6E8A-4147-A177-3AD203B41FA5}">
                      <a16:colId xmlns:a16="http://schemas.microsoft.com/office/drawing/2014/main" val="552696474"/>
                    </a:ext>
                  </a:extLst>
                </a:gridCol>
              </a:tblGrid>
              <a:tr h="319574">
                <a:tc rowSpan="5">
                  <a:txBody>
                    <a:bodyPr/>
                    <a:lstStyle/>
                    <a:p>
                      <a:pPr algn="ctr" fontAlgn="ctr"/>
                      <a:r>
                        <a:rPr lang="en-NZ" sz="1600" b="1" i="0" u="none" strike="noStrike">
                          <a:solidFill>
                            <a:srgbClr val="FFFFFF"/>
                          </a:solidFill>
                          <a:effectLst/>
                          <a:latin typeface="Calibri" panose="020F0502020204030204" pitchFamily="34" charset="0"/>
                        </a:rPr>
                        <a:t>Data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000000"/>
                          </a:solidFill>
                          <a:effectLst/>
                          <a:latin typeface="Calibri" panose="020F0502020204030204" pitchFamily="34" charset="0"/>
                        </a:rPr>
                        <a:t>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56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67663591"/>
                  </a:ext>
                </a:extLst>
              </a:tr>
              <a:tr h="319574">
                <a:tc vMerge="1">
                  <a:txBody>
                    <a:bodyPr/>
                    <a:lstStyle/>
                    <a:p>
                      <a:endParaRPr lang="en-NZ"/>
                    </a:p>
                  </a:txBody>
                  <a:tcPr/>
                </a:tc>
                <a:tc>
                  <a:txBody>
                    <a:bodyPr/>
                    <a:lstStyle/>
                    <a:p>
                      <a:pPr algn="ctr" fontAlgn="ctr"/>
                      <a:r>
                        <a:rPr lang="en-NZ" sz="1600" b="0" i="0" u="none" strike="noStrike" dirty="0">
                          <a:solidFill>
                            <a:srgbClr val="000000"/>
                          </a:solidFill>
                          <a:effectLst/>
                          <a:latin typeface="Calibri" panose="020F0502020204030204" pitchFamily="34" charset="0"/>
                        </a:rPr>
                        <a:t>28.5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14.8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81631403"/>
                  </a:ext>
                </a:extLst>
              </a:tr>
              <a:tr h="319574">
                <a:tc vMerge="1">
                  <a:txBody>
                    <a:bodyPr/>
                    <a:lstStyle/>
                    <a:p>
                      <a:endParaRPr lang="en-NZ"/>
                    </a:p>
                  </a:txBody>
                  <a:tcPr/>
                </a:tc>
                <a:tc>
                  <a:txBody>
                    <a:bodyPr/>
                    <a:lstStyle/>
                    <a:p>
                      <a:pPr algn="ctr" fontAlgn="ctr"/>
                      <a:r>
                        <a:rPr lang="en-NZ" sz="1600" b="0" i="0" u="none" strike="noStrike">
                          <a:solidFill>
                            <a:srgbClr val="000000"/>
                          </a:solidFill>
                          <a:effectLst/>
                          <a:latin typeface="Calibri" panose="020F0502020204030204" pitchFamily="34" charset="0"/>
                        </a:rPr>
                        <a:t>13.6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28.3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48.8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43.8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737748449"/>
                  </a:ext>
                </a:extLst>
              </a:tr>
              <a:tr h="319574">
                <a:tc vMerge="1">
                  <a:txBody>
                    <a:bodyPr/>
                    <a:lstStyle/>
                    <a:p>
                      <a:endParaRPr lang="en-NZ"/>
                    </a:p>
                  </a:txBody>
                  <a:tcPr/>
                </a:tc>
                <a:tc>
                  <a:txBody>
                    <a:bodyPr/>
                    <a:lstStyle/>
                    <a:p>
                      <a:pPr algn="ctr" fontAlgn="ctr"/>
                      <a:r>
                        <a:rPr lang="en-NZ" sz="1600" b="0" i="0" u="none" strike="noStrike">
                          <a:solidFill>
                            <a:srgbClr val="000000"/>
                          </a:solidFill>
                          <a:effectLst/>
                          <a:latin typeface="Calibri" panose="020F0502020204030204" pitchFamily="34" charset="0"/>
                        </a:rPr>
                        <a:t>47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100.1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74.4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48.4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571894593"/>
                  </a:ext>
                </a:extLst>
              </a:tr>
              <a:tr h="319574">
                <a:tc vMerge="1">
                  <a:txBody>
                    <a:bodyPr/>
                    <a:lstStyle/>
                    <a:p>
                      <a:endParaRPr lang="en-NZ"/>
                    </a:p>
                  </a:txBody>
                  <a:tcPr/>
                </a:tc>
                <a:tc>
                  <a:txBody>
                    <a:bodyPr/>
                    <a:lstStyle/>
                    <a:p>
                      <a:pPr algn="ctr" fontAlgn="ctr"/>
                      <a:r>
                        <a:rPr lang="en-NZ" sz="1600" b="0" i="0" u="none" strike="noStrike">
                          <a:solidFill>
                            <a:srgbClr val="000000"/>
                          </a:solidFill>
                          <a:effectLst/>
                          <a:latin typeface="Calibri" panose="020F0502020204030204" pitchFamily="34" charset="0"/>
                        </a:rPr>
                        <a:t>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132.6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97.6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51.4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61.8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45311592"/>
                  </a:ext>
                </a:extLst>
              </a:tr>
            </a:tbl>
          </a:graphicData>
        </a:graphic>
      </p:graphicFrame>
      <p:sp>
        <p:nvSpPr>
          <p:cNvPr id="14" name="Text Placeholder 5">
            <a:extLst>
              <a:ext uri="{FF2B5EF4-FFF2-40B4-BE49-F238E27FC236}">
                <a16:creationId xmlns:a16="http://schemas.microsoft.com/office/drawing/2014/main" id="{3F552A75-0C70-480A-89A8-1E13FF05F875}"/>
              </a:ext>
            </a:extLst>
          </p:cNvPr>
          <p:cNvSpPr txBox="1">
            <a:spLocks/>
          </p:cNvSpPr>
          <p:nvPr/>
        </p:nvSpPr>
        <p:spPr>
          <a:xfrm>
            <a:off x="319463" y="4132596"/>
            <a:ext cx="11390316" cy="3984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accent1"/>
                </a:solidFill>
              </a:rPr>
              <a:t>Are these events independent or do they exhibit temporal clustering?</a:t>
            </a:r>
            <a:endParaRPr lang="ja-JP" altLang="en-NZ" sz="1800" dirty="0">
              <a:solidFill>
                <a:schemeClr val="accent1"/>
              </a:solidFill>
            </a:endParaRPr>
          </a:p>
        </p:txBody>
      </p:sp>
      <p:sp>
        <p:nvSpPr>
          <p:cNvPr id="15" name="Text Placeholder 5">
            <a:extLst>
              <a:ext uri="{FF2B5EF4-FFF2-40B4-BE49-F238E27FC236}">
                <a16:creationId xmlns:a16="http://schemas.microsoft.com/office/drawing/2014/main" id="{6C4E1F1C-3A58-4C7C-B282-DDDA340BB87D}"/>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7.5 - Temporal Clustering (Parametric Bootstrapping Example)</a:t>
            </a:r>
            <a:r>
              <a:rPr lang="en-US" altLang="ja-JP" sz="1200" dirty="0">
                <a:solidFill>
                  <a:srgbClr val="C00000"/>
                </a:solidFill>
              </a:rPr>
              <a:t>.</a:t>
            </a:r>
            <a:endParaRPr lang="en-US" altLang="ja-JP" sz="1200" b="1" i="1" dirty="0">
              <a:solidFill>
                <a:srgbClr val="C00000"/>
              </a:solidFill>
            </a:endParaRPr>
          </a:p>
        </p:txBody>
      </p:sp>
    </p:spTree>
    <p:extLst>
      <p:ext uri="{BB962C8B-B14F-4D97-AF65-F5344CB8AC3E}">
        <p14:creationId xmlns:p14="http://schemas.microsoft.com/office/powerpoint/2010/main" val="2222434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1EA04003-994C-434B-9E8F-8ACE04D3B07A}"/>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7.5c</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itle 6">
            <a:extLst>
              <a:ext uri="{FF2B5EF4-FFF2-40B4-BE49-F238E27FC236}">
                <a16:creationId xmlns:a16="http://schemas.microsoft.com/office/drawing/2014/main" id="{7C0CE8D7-235C-4C1E-9D84-462BF3BDCF78}"/>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7.5c – Temporal Clustering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2850CF69-CE07-455C-BE23-CBA92B7F778D}"/>
                  </a:ext>
                </a:extLst>
              </p:cNvPr>
              <p:cNvSpPr txBox="1">
                <a:spLocks/>
              </p:cNvSpPr>
              <p:nvPr/>
            </p:nvSpPr>
            <p:spPr>
              <a:xfrm>
                <a:off x="436727" y="909448"/>
                <a:ext cx="9783867" cy="14652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Let </a:t>
                </a:r>
                <a:r>
                  <a:rPr lang="en-NZ" altLang="ja-JP" sz="1800" b="1" i="1" dirty="0">
                    <a:solidFill>
                      <a:schemeClr val="tx1"/>
                    </a:solidFill>
                  </a:rPr>
                  <a:t>X</a:t>
                </a:r>
                <a:r>
                  <a:rPr lang="en-NZ" altLang="ja-JP" sz="1800" dirty="0">
                    <a:solidFill>
                      <a:schemeClr val="tx1"/>
                    </a:solidFill>
                  </a:rPr>
                  <a:t> = Length of time between earthquakes</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r>
                  <a:rPr lang="en-NZ" altLang="ja-JP" sz="1800" dirty="0">
                    <a:solidFill>
                      <a:schemeClr val="tx1"/>
                    </a:solidFill>
                  </a:rPr>
                  <a:t>We assume that </a:t>
                </a:r>
                <a14:m>
                  <m:oMath xmlns:m="http://schemas.openxmlformats.org/officeDocument/2006/math">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𝑮𝒂𝒎𝒎𝒂</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 )</m:t>
                    </m:r>
                  </m:oMath>
                </a14:m>
                <a:r>
                  <a:rPr lang="en-NZ" altLang="ja-JP" sz="1800" b="1" dirty="0">
                    <a:solidFill>
                      <a:schemeClr val="tx1"/>
                    </a:solidFill>
                  </a:rPr>
                  <a:t> </a:t>
                </a: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r>
                  <a:rPr lang="en-NZ" altLang="ja-JP" sz="1800" dirty="0">
                    <a:solidFill>
                      <a:schemeClr val="tx1"/>
                    </a:solidFill>
                  </a:rPr>
                  <a:t>We are interested in the value of </a:t>
                </a:r>
                <a14:m>
                  <m:oMath xmlns:m="http://schemas.openxmlformats.org/officeDocument/2006/math">
                    <m:r>
                      <a:rPr lang="en-NZ" altLang="ja-JP" sz="1800" b="1" i="1" smtClean="0">
                        <a:solidFill>
                          <a:schemeClr val="tx1"/>
                        </a:solidFill>
                        <a:latin typeface="Cambria Math" panose="02040503050406030204" pitchFamily="18" charset="0"/>
                      </a:rPr>
                      <m:t>𝜶</m:t>
                    </m:r>
                  </m:oMath>
                </a14:m>
                <a:r>
                  <a:rPr lang="ja-JP" altLang="en-NZ" sz="1800" b="1" dirty="0">
                    <a:solidFill>
                      <a:schemeClr val="tx1"/>
                    </a:solidFill>
                  </a:rPr>
                  <a:t> </a:t>
                </a:r>
                <a:endParaRPr lang="en-NZ" altLang="ja-JP" sz="18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r>
                  <a:rPr lang="en-NZ" altLang="ja-JP" sz="1800" dirty="0">
                    <a:solidFill>
                      <a:schemeClr val="tx1"/>
                    </a:solidFill>
                  </a:rPr>
                  <a:t>i.e. if </a:t>
                </a:r>
                <a14:m>
                  <m:oMath xmlns:m="http://schemas.openxmlformats.org/officeDocument/2006/math">
                    <m:r>
                      <a:rPr lang="en-NZ" altLang="ja-JP" sz="1800" b="1" i="1">
                        <a:solidFill>
                          <a:schemeClr val="tx1"/>
                        </a:solidFill>
                        <a:latin typeface="Cambria Math" panose="02040503050406030204" pitchFamily="18" charset="0"/>
                      </a:rPr>
                      <m:t>𝜶</m:t>
                    </m:r>
                  </m:oMath>
                </a14:m>
                <a:r>
                  <a:rPr lang="ja-JP" altLang="en-NZ" sz="1800" b="1" dirty="0">
                    <a:solidFill>
                      <a:schemeClr val="tx1"/>
                    </a:solidFill>
                  </a:rPr>
                  <a:t> </a:t>
                </a:r>
                <a:r>
                  <a:rPr lang="en-NZ" altLang="ja-JP" sz="1800" b="1" dirty="0">
                    <a:solidFill>
                      <a:schemeClr val="tx1"/>
                    </a:solidFill>
                  </a:rPr>
                  <a:t>&gt; 1 </a:t>
                </a:r>
                <a:r>
                  <a:rPr lang="en-NZ" altLang="ja-JP" sz="1800" dirty="0">
                    <a:solidFill>
                      <a:schemeClr val="tx1"/>
                    </a:solidFill>
                  </a:rPr>
                  <a:t>then events do not occur independently and there is evidence for temporal clustering</a:t>
                </a:r>
                <a:endParaRPr lang="ja-JP" altLang="en-NZ" sz="1800" dirty="0">
                  <a:solidFill>
                    <a:schemeClr val="tx1"/>
                  </a:solidFill>
                </a:endParaRPr>
              </a:p>
            </p:txBody>
          </p:sp>
        </mc:Choice>
        <mc:Fallback xmlns="">
          <p:sp>
            <p:nvSpPr>
              <p:cNvPr id="10" name="Text Placeholder 5">
                <a:extLst>
                  <a:ext uri="{FF2B5EF4-FFF2-40B4-BE49-F238E27FC236}">
                    <a16:creationId xmlns:a16="http://schemas.microsoft.com/office/drawing/2014/main" id="{2850CF69-CE07-455C-BE23-CBA92B7F778D}"/>
                  </a:ext>
                </a:extLst>
              </p:cNvPr>
              <p:cNvSpPr txBox="1">
                <a:spLocks noRot="1" noChangeAspect="1" noMove="1" noResize="1" noEditPoints="1" noAdjustHandles="1" noChangeArrowheads="1" noChangeShapeType="1" noTextEdit="1"/>
              </p:cNvSpPr>
              <p:nvPr/>
            </p:nvSpPr>
            <p:spPr>
              <a:xfrm>
                <a:off x="436727" y="909448"/>
                <a:ext cx="9783867" cy="1465261"/>
              </a:xfrm>
              <a:prstGeom prst="rect">
                <a:avLst/>
              </a:prstGeom>
              <a:blipFill>
                <a:blip r:embed="rId3"/>
                <a:stretch>
                  <a:fillRect l="-561" t="-207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139FA902-291D-4730-95D3-713174AF72BB}"/>
                  </a:ext>
                </a:extLst>
              </p:cNvPr>
              <p:cNvSpPr txBox="1">
                <a:spLocks/>
              </p:cNvSpPr>
              <p:nvPr/>
            </p:nvSpPr>
            <p:spPr>
              <a:xfrm>
                <a:off x="436727" y="2583923"/>
                <a:ext cx="5049673" cy="5004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Since</a:t>
                </a:r>
                <a:r>
                  <a:rPr lang="en-NZ" altLang="ja-JP" sz="1800" b="1" dirty="0">
                    <a:solidFill>
                      <a:schemeClr val="tx1"/>
                    </a:solidFill>
                  </a:rPr>
                  <a:t> </a:t>
                </a:r>
                <a14:m>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𝜶</m:t>
                        </m:r>
                      </m:num>
                      <m:den>
                        <m:r>
                          <a:rPr lang="en-NZ" altLang="ja-JP" sz="1800" b="1" i="1" smtClean="0">
                            <a:solidFill>
                              <a:schemeClr val="tx1"/>
                            </a:solidFill>
                            <a:latin typeface="Cambria Math" panose="02040503050406030204" pitchFamily="18" charset="0"/>
                          </a:rPr>
                          <m:t>𝝀</m:t>
                        </m:r>
                      </m:den>
                    </m:f>
                  </m:oMath>
                </a14:m>
                <a:r>
                  <a:rPr lang="ja-JP" altLang="en-NZ" sz="1800" b="1" dirty="0">
                    <a:solidFill>
                      <a:schemeClr val="tx1"/>
                    </a:solidFill>
                  </a:rPr>
                  <a:t>          </a:t>
                </a:r>
                <a:r>
                  <a:rPr lang="en-NZ" altLang="ja-JP" sz="1800" dirty="0">
                    <a:solidFill>
                      <a:schemeClr val="tx1"/>
                    </a:solidFill>
                  </a:rPr>
                  <a:t>and</a:t>
                </a:r>
                <a:r>
                  <a:rPr lang="en-NZ" altLang="ja-JP" sz="1800" b="1" dirty="0">
                    <a:solidFill>
                      <a:schemeClr val="tx1"/>
                    </a:solidFill>
                  </a:rPr>
                  <a:t>      </a:t>
                </a:r>
                <a14:m>
                  <m:oMath xmlns:m="http://schemas.openxmlformats.org/officeDocument/2006/math">
                    <m:r>
                      <a:rPr lang="en-NZ" altLang="ja-JP" sz="1800" b="1" i="1">
                        <a:solidFill>
                          <a:schemeClr val="tx1"/>
                        </a:solidFill>
                        <a:latin typeface="Cambria Math" panose="02040503050406030204" pitchFamily="18" charset="0"/>
                      </a:rPr>
                      <m:t>𝑽𝒂𝒓</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 </m:t>
                        </m:r>
                      </m:e>
                    </m:d>
                    <m:r>
                      <a:rPr lang="en-NZ" altLang="ja-JP" sz="1800" b="1" i="1">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𝜶</m:t>
                        </m:r>
                      </m:num>
                      <m:den>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𝝀</m:t>
                            </m:r>
                          </m:e>
                          <m:sup>
                            <m:r>
                              <a:rPr lang="en-NZ" altLang="ja-JP" sz="1800" b="1" i="1">
                                <a:solidFill>
                                  <a:schemeClr val="tx1"/>
                                </a:solidFill>
                                <a:latin typeface="Cambria Math" panose="02040503050406030204" pitchFamily="18" charset="0"/>
                              </a:rPr>
                              <m:t>𝟐</m:t>
                            </m:r>
                          </m:sup>
                        </m:sSup>
                      </m:den>
                    </m:f>
                  </m:oMath>
                </a14:m>
                <a:endParaRPr lang="ja-JP" altLang="en-NZ" sz="1800" b="1" dirty="0">
                  <a:solidFill>
                    <a:schemeClr val="tx1"/>
                  </a:solidFill>
                </a:endParaRPr>
              </a:p>
              <a:p>
                <a:pPr algn="just">
                  <a:lnSpc>
                    <a:spcPct val="100000"/>
                  </a:lnSpc>
                </a:pPr>
                <a:r>
                  <a:rPr lang="en-NZ" altLang="ja-JP" sz="1800" b="1" dirty="0">
                    <a:solidFill>
                      <a:schemeClr val="tx1"/>
                    </a:solidFill>
                  </a:rPr>
                  <a:t>   </a:t>
                </a:r>
                <a:endParaRPr lang="ja-JP" altLang="en-NZ" sz="1800" b="1" dirty="0">
                  <a:solidFill>
                    <a:schemeClr val="tx1"/>
                  </a:solidFill>
                </a:endParaRPr>
              </a:p>
            </p:txBody>
          </p:sp>
        </mc:Choice>
        <mc:Fallback xmlns="">
          <p:sp>
            <p:nvSpPr>
              <p:cNvPr id="15" name="Text Placeholder 5">
                <a:extLst>
                  <a:ext uri="{FF2B5EF4-FFF2-40B4-BE49-F238E27FC236}">
                    <a16:creationId xmlns:a16="http://schemas.microsoft.com/office/drawing/2014/main" id="{139FA902-291D-4730-95D3-713174AF72BB}"/>
                  </a:ext>
                </a:extLst>
              </p:cNvPr>
              <p:cNvSpPr txBox="1">
                <a:spLocks noRot="1" noChangeAspect="1" noMove="1" noResize="1" noEditPoints="1" noAdjustHandles="1" noChangeArrowheads="1" noChangeShapeType="1" noTextEdit="1"/>
              </p:cNvSpPr>
              <p:nvPr/>
            </p:nvSpPr>
            <p:spPr>
              <a:xfrm>
                <a:off x="436727" y="2583923"/>
                <a:ext cx="5049673" cy="500471"/>
              </a:xfrm>
              <a:prstGeom prst="rect">
                <a:avLst/>
              </a:prstGeom>
              <a:blipFill>
                <a:blip r:embed="rId4"/>
                <a:stretch>
                  <a:fillRect l="-108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DD14C6E5-A42D-428E-A8E6-73C559417B5F}"/>
                  </a:ext>
                </a:extLst>
              </p:cNvPr>
              <p:cNvSpPr txBox="1">
                <a:spLocks/>
              </p:cNvSpPr>
              <p:nvPr/>
            </p:nvSpPr>
            <p:spPr>
              <a:xfrm>
                <a:off x="668739" y="3178764"/>
                <a:ext cx="5049673" cy="5004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=&gt;  </a:t>
                </a:r>
                <a:r>
                  <a:rPr lang="en-NZ" altLang="ja-JP" sz="1800" b="1" dirty="0">
                    <a:solidFill>
                      <a:schemeClr val="tx1"/>
                    </a:solidFill>
                  </a:rPr>
                  <a:t> </a:t>
                </a:r>
                <a14:m>
                  <m:oMath xmlns:m="http://schemas.openxmlformats.org/officeDocument/2006/math">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𝜶</m:t>
                        </m:r>
                      </m:num>
                      <m:den>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 </m:t>
                            </m:r>
                          </m:e>
                        </m:d>
                      </m:den>
                    </m:f>
                  </m:oMath>
                </a14:m>
                <a:r>
                  <a:rPr lang="ja-JP" altLang="en-NZ" sz="1800" b="1" dirty="0">
                    <a:solidFill>
                      <a:schemeClr val="tx1"/>
                    </a:solidFill>
                  </a:rPr>
                  <a:t>            </a:t>
                </a:r>
                <a:r>
                  <a:rPr lang="en-NZ" altLang="ja-JP" sz="1800" dirty="0">
                    <a:solidFill>
                      <a:schemeClr val="tx1"/>
                    </a:solidFill>
                  </a:rPr>
                  <a:t>and</a:t>
                </a:r>
                <a:r>
                  <a:rPr lang="en-NZ" altLang="ja-JP" sz="1800" b="1" dirty="0">
                    <a:solidFill>
                      <a:schemeClr val="tx1"/>
                    </a:solidFill>
                  </a:rPr>
                  <a:t>      </a:t>
                </a:r>
                <a14:m>
                  <m:oMath xmlns:m="http://schemas.openxmlformats.org/officeDocument/2006/math">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 =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𝝀</m:t>
                        </m:r>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𝑽𝒂𝒓</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 </m:t>
                        </m:r>
                      </m:e>
                    </m:d>
                  </m:oMath>
                </a14:m>
                <a:endParaRPr lang="ja-JP" altLang="en-NZ" sz="1800" b="1" dirty="0">
                  <a:solidFill>
                    <a:schemeClr val="tx1"/>
                  </a:solidFill>
                </a:endParaRPr>
              </a:p>
              <a:p>
                <a:pPr algn="just">
                  <a:lnSpc>
                    <a:spcPct val="100000"/>
                  </a:lnSpc>
                </a:pPr>
                <a:r>
                  <a:rPr lang="en-NZ" altLang="ja-JP" sz="1800" b="1" dirty="0">
                    <a:solidFill>
                      <a:schemeClr val="tx1"/>
                    </a:solidFill>
                  </a:rPr>
                  <a:t>   </a:t>
                </a:r>
                <a:endParaRPr lang="ja-JP" altLang="en-NZ" sz="1800" b="1" dirty="0">
                  <a:solidFill>
                    <a:schemeClr val="tx1"/>
                  </a:solidFill>
                </a:endParaRPr>
              </a:p>
            </p:txBody>
          </p:sp>
        </mc:Choice>
        <mc:Fallback xmlns="">
          <p:sp>
            <p:nvSpPr>
              <p:cNvPr id="16" name="Text Placeholder 5">
                <a:extLst>
                  <a:ext uri="{FF2B5EF4-FFF2-40B4-BE49-F238E27FC236}">
                    <a16:creationId xmlns:a16="http://schemas.microsoft.com/office/drawing/2014/main" id="{DD14C6E5-A42D-428E-A8E6-73C559417B5F}"/>
                  </a:ext>
                </a:extLst>
              </p:cNvPr>
              <p:cNvSpPr txBox="1">
                <a:spLocks noRot="1" noChangeAspect="1" noMove="1" noResize="1" noEditPoints="1" noAdjustHandles="1" noChangeArrowheads="1" noChangeShapeType="1" noTextEdit="1"/>
              </p:cNvSpPr>
              <p:nvPr/>
            </p:nvSpPr>
            <p:spPr>
              <a:xfrm>
                <a:off x="668739" y="3178764"/>
                <a:ext cx="5049673" cy="500471"/>
              </a:xfrm>
              <a:prstGeom prst="rect">
                <a:avLst/>
              </a:prstGeom>
              <a:blipFill>
                <a:blip r:embed="rId5"/>
                <a:stretch>
                  <a:fillRect l="-108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D7262C1F-00A7-491E-A287-69CAD64D5935}"/>
                  </a:ext>
                </a:extLst>
              </p:cNvPr>
              <p:cNvSpPr txBox="1">
                <a:spLocks/>
              </p:cNvSpPr>
              <p:nvPr/>
            </p:nvSpPr>
            <p:spPr>
              <a:xfrm>
                <a:off x="668739" y="3773605"/>
                <a:ext cx="4339989" cy="5004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=&gt;  </a:t>
                </a:r>
                <a:r>
                  <a:rPr lang="en-NZ" altLang="ja-JP" sz="1800" b="1" dirty="0">
                    <a:solidFill>
                      <a:schemeClr val="tx1"/>
                    </a:solidFill>
                  </a:rPr>
                  <a:t> </a:t>
                </a:r>
                <a14:m>
                  <m:oMath xmlns:m="http://schemas.openxmlformats.org/officeDocument/2006/math">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𝝀</m:t>
                            </m:r>
                          </m:e>
                          <m:sup>
                            <m:r>
                              <a:rPr lang="en-NZ" altLang="ja-JP" sz="1800" b="1" i="1">
                                <a:solidFill>
                                  <a:schemeClr val="tx1"/>
                                </a:solidFill>
                                <a:latin typeface="Cambria Math" panose="02040503050406030204" pitchFamily="18" charset="0"/>
                              </a:rPr>
                              <m:t>𝟐</m:t>
                            </m:r>
                          </m:sup>
                        </m:sSup>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𝑽𝒂𝒓</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 </m:t>
                            </m:r>
                          </m:e>
                        </m:d>
                      </m:num>
                      <m:den>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 </m:t>
                            </m:r>
                          </m:e>
                        </m:d>
                      </m:den>
                    </m:f>
                  </m:oMath>
                </a14:m>
                <a:r>
                  <a:rPr lang="ja-JP" altLang="en-NZ" sz="1800" b="1" dirty="0">
                    <a:solidFill>
                      <a:schemeClr val="tx1"/>
                    </a:solidFill>
                  </a:rPr>
                  <a:t>     </a:t>
                </a:r>
              </a:p>
              <a:p>
                <a:pPr algn="just">
                  <a:lnSpc>
                    <a:spcPct val="100000"/>
                  </a:lnSpc>
                </a:pPr>
                <a:r>
                  <a:rPr lang="en-NZ" altLang="ja-JP" sz="1800" b="1" dirty="0">
                    <a:solidFill>
                      <a:schemeClr val="tx1"/>
                    </a:solidFill>
                  </a:rPr>
                  <a:t>   </a:t>
                </a:r>
                <a:endParaRPr lang="ja-JP" altLang="en-NZ" sz="1800" b="1" dirty="0">
                  <a:solidFill>
                    <a:schemeClr val="tx1"/>
                  </a:solidFill>
                </a:endParaRPr>
              </a:p>
            </p:txBody>
          </p:sp>
        </mc:Choice>
        <mc:Fallback xmlns="">
          <p:sp>
            <p:nvSpPr>
              <p:cNvPr id="17" name="Text Placeholder 5">
                <a:extLst>
                  <a:ext uri="{FF2B5EF4-FFF2-40B4-BE49-F238E27FC236}">
                    <a16:creationId xmlns:a16="http://schemas.microsoft.com/office/drawing/2014/main" id="{D7262C1F-00A7-491E-A287-69CAD64D5935}"/>
                  </a:ext>
                </a:extLst>
              </p:cNvPr>
              <p:cNvSpPr txBox="1">
                <a:spLocks noRot="1" noChangeAspect="1" noMove="1" noResize="1" noEditPoints="1" noAdjustHandles="1" noChangeArrowheads="1" noChangeShapeType="1" noTextEdit="1"/>
              </p:cNvSpPr>
              <p:nvPr/>
            </p:nvSpPr>
            <p:spPr>
              <a:xfrm>
                <a:off x="668739" y="3773605"/>
                <a:ext cx="4339989" cy="500471"/>
              </a:xfrm>
              <a:prstGeom prst="rect">
                <a:avLst/>
              </a:prstGeom>
              <a:blipFill>
                <a:blip r:embed="rId6"/>
                <a:stretch>
                  <a:fillRect l="-1264" b="-1463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E487063D-B2A4-465B-96B1-11927F29BD76}"/>
                  </a:ext>
                </a:extLst>
              </p:cNvPr>
              <p:cNvSpPr txBox="1">
                <a:spLocks/>
              </p:cNvSpPr>
              <p:nvPr/>
            </p:nvSpPr>
            <p:spPr>
              <a:xfrm>
                <a:off x="668738" y="4439867"/>
                <a:ext cx="4339989" cy="5004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=&gt;  </a:t>
                </a:r>
                <a:r>
                  <a:rPr lang="en-NZ" altLang="ja-JP" sz="1800" b="1" dirty="0">
                    <a:solidFill>
                      <a:schemeClr val="tx1"/>
                    </a:solidFill>
                  </a:rPr>
                  <a:t> </a:t>
                </a:r>
                <a14:m>
                  <m:oMath xmlns:m="http://schemas.openxmlformats.org/officeDocument/2006/math">
                    <m:r>
                      <a:rPr lang="en-NZ" altLang="ja-JP" sz="1800" b="1" i="1" smtClean="0">
                        <a:solidFill>
                          <a:schemeClr val="tx1"/>
                        </a:solidFill>
                        <a:latin typeface="Cambria Math" panose="02040503050406030204" pitchFamily="18" charset="0"/>
                      </a:rPr>
                      <m:t>𝝀</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 </m:t>
                            </m:r>
                          </m:e>
                        </m:d>
                      </m:num>
                      <m:den>
                        <m:r>
                          <a:rPr lang="en-NZ" altLang="ja-JP" sz="1800" b="1" i="1" smtClean="0">
                            <a:solidFill>
                              <a:schemeClr val="tx1"/>
                            </a:solidFill>
                            <a:latin typeface="Cambria Math" panose="02040503050406030204" pitchFamily="18" charset="0"/>
                          </a:rPr>
                          <m:t>𝑽𝒂𝒓</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 </m:t>
                            </m:r>
                          </m:e>
                        </m:d>
                      </m:den>
                    </m:f>
                  </m:oMath>
                </a14:m>
                <a:r>
                  <a:rPr lang="ja-JP" altLang="en-NZ" sz="1800" b="1" dirty="0">
                    <a:solidFill>
                      <a:schemeClr val="tx1"/>
                    </a:solidFill>
                  </a:rPr>
                  <a:t>         </a:t>
                </a:r>
                <a:r>
                  <a:rPr lang="en-NZ" altLang="ja-JP" sz="1800" dirty="0">
                    <a:solidFill>
                      <a:schemeClr val="tx1"/>
                    </a:solidFill>
                  </a:rPr>
                  <a:t>and</a:t>
                </a:r>
                <a:r>
                  <a:rPr lang="en-NZ" altLang="ja-JP" sz="1800" b="1" dirty="0">
                    <a:solidFill>
                      <a:schemeClr val="tx1"/>
                    </a:solidFill>
                  </a:rPr>
                  <a:t>     </a:t>
                </a:r>
                <a14:m>
                  <m:oMath xmlns:m="http://schemas.openxmlformats.org/officeDocument/2006/math">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𝑬</m:t>
                        </m:r>
                        <m:sSup>
                          <m:sSupPr>
                            <m:ctrlPr>
                              <a:rPr lang="en-NZ" altLang="ja-JP" sz="1800" b="1" i="1" smtClean="0">
                                <a:solidFill>
                                  <a:schemeClr val="tx1"/>
                                </a:solidFill>
                                <a:latin typeface="Cambria Math" panose="02040503050406030204" pitchFamily="18" charset="0"/>
                              </a:rPr>
                            </m:ctrlPr>
                          </m:sSupPr>
                          <m:e>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𝑿</m:t>
                                </m:r>
                              </m:e>
                            </m:d>
                          </m:e>
                          <m:sup>
                            <m:r>
                              <a:rPr lang="en-NZ" altLang="ja-JP" sz="1800" b="1" i="1" smtClean="0">
                                <a:solidFill>
                                  <a:schemeClr val="tx1"/>
                                </a:solidFill>
                                <a:latin typeface="Cambria Math" panose="02040503050406030204" pitchFamily="18" charset="0"/>
                              </a:rPr>
                              <m:t>𝟐</m:t>
                            </m:r>
                          </m:sup>
                        </m:sSup>
                      </m:num>
                      <m:den>
                        <m:r>
                          <a:rPr lang="en-NZ" altLang="ja-JP" sz="1800" b="1" i="1" smtClean="0">
                            <a:solidFill>
                              <a:schemeClr val="tx1"/>
                            </a:solidFill>
                            <a:latin typeface="Cambria Math" panose="02040503050406030204" pitchFamily="18" charset="0"/>
                          </a:rPr>
                          <m:t>𝑽𝒂𝒓</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m:t>
                        </m:r>
                      </m:den>
                    </m:f>
                  </m:oMath>
                </a14:m>
                <a:r>
                  <a:rPr lang="ja-JP" altLang="en-NZ" sz="1800" b="1" dirty="0">
                    <a:solidFill>
                      <a:schemeClr val="tx1"/>
                    </a:solidFill>
                  </a:rPr>
                  <a:t>     </a:t>
                </a:r>
              </a:p>
              <a:p>
                <a:pPr algn="just">
                  <a:lnSpc>
                    <a:spcPct val="100000"/>
                  </a:lnSpc>
                </a:pPr>
                <a:r>
                  <a:rPr lang="en-NZ" altLang="ja-JP" sz="1800" b="1" dirty="0">
                    <a:solidFill>
                      <a:schemeClr val="tx1"/>
                    </a:solidFill>
                  </a:rPr>
                  <a:t>   </a:t>
                </a:r>
                <a:endParaRPr lang="ja-JP" altLang="en-NZ" sz="1800" b="1" dirty="0">
                  <a:solidFill>
                    <a:schemeClr val="tx1"/>
                  </a:solidFill>
                </a:endParaRPr>
              </a:p>
            </p:txBody>
          </p:sp>
        </mc:Choice>
        <mc:Fallback xmlns="">
          <p:sp>
            <p:nvSpPr>
              <p:cNvPr id="18" name="Text Placeholder 5">
                <a:extLst>
                  <a:ext uri="{FF2B5EF4-FFF2-40B4-BE49-F238E27FC236}">
                    <a16:creationId xmlns:a16="http://schemas.microsoft.com/office/drawing/2014/main" id="{E487063D-B2A4-465B-96B1-11927F29BD76}"/>
                  </a:ext>
                </a:extLst>
              </p:cNvPr>
              <p:cNvSpPr txBox="1">
                <a:spLocks noRot="1" noChangeAspect="1" noMove="1" noResize="1" noEditPoints="1" noAdjustHandles="1" noChangeArrowheads="1" noChangeShapeType="1" noTextEdit="1"/>
              </p:cNvSpPr>
              <p:nvPr/>
            </p:nvSpPr>
            <p:spPr>
              <a:xfrm>
                <a:off x="668738" y="4439867"/>
                <a:ext cx="4339989" cy="500471"/>
              </a:xfrm>
              <a:prstGeom prst="rect">
                <a:avLst/>
              </a:prstGeom>
              <a:blipFill>
                <a:blip r:embed="rId7"/>
                <a:stretch>
                  <a:fillRect l="-1264" b="-1463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DBE744E6-69F6-4901-B4EE-EF292A512268}"/>
                  </a:ext>
                </a:extLst>
              </p:cNvPr>
              <p:cNvSpPr txBox="1">
                <a:spLocks/>
              </p:cNvSpPr>
              <p:nvPr/>
            </p:nvSpPr>
            <p:spPr>
              <a:xfrm>
                <a:off x="6264322" y="2583923"/>
                <a:ext cx="4901031" cy="84507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From the sample of data we find that:</a:t>
                </a:r>
              </a:p>
              <a:p>
                <a:pPr algn="ctr">
                  <a:lnSpc>
                    <a:spcPct val="100000"/>
                  </a:lnSpc>
                </a:pPr>
                <a14:m>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𝒙</m:t>
                        </m:r>
                      </m:e>
                    </m:acc>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𝟑𝟔</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𝟔𝟗𝟖</m:t>
                    </m:r>
                  </m:oMath>
                </a14:m>
                <a:r>
                  <a:rPr lang="en-NZ" altLang="ja-JP" sz="1800" b="1" dirty="0">
                    <a:solidFill>
                      <a:schemeClr val="tx1"/>
                    </a:solidFill>
                  </a:rPr>
                  <a:t>  </a:t>
                </a:r>
                <a:r>
                  <a:rPr lang="en-NZ" altLang="ja-JP" sz="1800" dirty="0">
                    <a:solidFill>
                      <a:schemeClr val="tx1"/>
                    </a:solidFill>
                  </a:rPr>
                  <a:t>and  </a:t>
                </a:r>
                <a14:m>
                  <m:oMath xmlns:m="http://schemas.openxmlformats.org/officeDocument/2006/math">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𝒔</m:t>
                        </m:r>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𝟏𝟎𝟖𝟎</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𝟗𝟒𝟐</m:t>
                    </m:r>
                  </m:oMath>
                </a14:m>
                <a:r>
                  <a:rPr lang="en-NZ" altLang="ja-JP" sz="1800" b="1" dirty="0">
                    <a:solidFill>
                      <a:schemeClr val="tx1"/>
                    </a:solidFill>
                  </a:rPr>
                  <a:t> </a:t>
                </a:r>
                <a:endParaRPr lang="ja-JP" altLang="en-NZ" sz="1800" b="1" dirty="0">
                  <a:solidFill>
                    <a:schemeClr val="tx1"/>
                  </a:solidFill>
                </a:endParaRPr>
              </a:p>
            </p:txBody>
          </p:sp>
        </mc:Choice>
        <mc:Fallback xmlns="">
          <p:sp>
            <p:nvSpPr>
              <p:cNvPr id="19" name="Text Placeholder 5">
                <a:extLst>
                  <a:ext uri="{FF2B5EF4-FFF2-40B4-BE49-F238E27FC236}">
                    <a16:creationId xmlns:a16="http://schemas.microsoft.com/office/drawing/2014/main" id="{DBE744E6-69F6-4901-B4EE-EF292A512268}"/>
                  </a:ext>
                </a:extLst>
              </p:cNvPr>
              <p:cNvSpPr txBox="1">
                <a:spLocks noRot="1" noChangeAspect="1" noMove="1" noResize="1" noEditPoints="1" noAdjustHandles="1" noChangeArrowheads="1" noChangeShapeType="1" noTextEdit="1"/>
              </p:cNvSpPr>
              <p:nvPr/>
            </p:nvSpPr>
            <p:spPr>
              <a:xfrm>
                <a:off x="6264322" y="2583923"/>
                <a:ext cx="4901031" cy="845077"/>
              </a:xfrm>
              <a:prstGeom prst="rect">
                <a:avLst/>
              </a:prstGeom>
              <a:blipFill>
                <a:blip r:embed="rId8"/>
                <a:stretch>
                  <a:fillRect t="-431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365BACF0-2AF6-4573-9C26-CC2BFBB66DCD}"/>
                  </a:ext>
                </a:extLst>
              </p:cNvPr>
              <p:cNvSpPr txBox="1">
                <a:spLocks/>
              </p:cNvSpPr>
              <p:nvPr/>
            </p:nvSpPr>
            <p:spPr>
              <a:xfrm>
                <a:off x="6264322" y="3601300"/>
                <a:ext cx="4901031" cy="166673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002060"/>
                    </a:solidFill>
                  </a:rPr>
                  <a:t>So that our point estimates are:</a:t>
                </a:r>
              </a:p>
              <a:p>
                <a:pPr algn="ctr">
                  <a:lnSpc>
                    <a:spcPct val="100000"/>
                  </a:lnSpc>
                </a:pPr>
                <a14:m>
                  <m:oMathPara xmlns:m="http://schemas.openxmlformats.org/officeDocument/2006/math">
                    <m:oMathParaPr>
                      <m:jc m:val="centerGroup"/>
                    </m:oMathParaPr>
                    <m:oMath xmlns:m="http://schemas.openxmlformats.org/officeDocument/2006/math">
                      <m:acc>
                        <m:accPr>
                          <m:chr m:val="̂"/>
                          <m:ctrlPr>
                            <a:rPr lang="en-NZ" altLang="ja-JP" sz="1800" b="1" i="1" smtClean="0">
                              <a:solidFill>
                                <a:srgbClr val="002060"/>
                              </a:solidFill>
                              <a:latin typeface="Cambria Math" panose="02040503050406030204" pitchFamily="18" charset="0"/>
                            </a:rPr>
                          </m:ctrlPr>
                        </m:accPr>
                        <m:e>
                          <m:r>
                            <a:rPr lang="en-NZ" altLang="ja-JP" sz="1800" b="1" i="1" smtClean="0">
                              <a:solidFill>
                                <a:srgbClr val="002060"/>
                              </a:solidFill>
                              <a:latin typeface="Cambria Math" panose="02040503050406030204" pitchFamily="18" charset="0"/>
                            </a:rPr>
                            <m:t>𝝀</m:t>
                          </m:r>
                        </m:e>
                      </m:acc>
                      <m:r>
                        <a:rPr lang="en-NZ" altLang="ja-JP" sz="1800" b="1" i="1" smtClean="0">
                          <a:solidFill>
                            <a:srgbClr val="002060"/>
                          </a:solidFill>
                          <a:latin typeface="Cambria Math" panose="02040503050406030204" pitchFamily="18" charset="0"/>
                        </a:rPr>
                        <m:t> =  </m:t>
                      </m:r>
                      <m:f>
                        <m:fPr>
                          <m:ctrlPr>
                            <a:rPr lang="en-NZ" altLang="ja-JP" sz="1800" b="1" i="1" smtClean="0">
                              <a:solidFill>
                                <a:srgbClr val="002060"/>
                              </a:solidFill>
                              <a:latin typeface="Cambria Math" panose="02040503050406030204" pitchFamily="18" charset="0"/>
                            </a:rPr>
                          </m:ctrlPr>
                        </m:fPr>
                        <m:num>
                          <m:acc>
                            <m:accPr>
                              <m:chr m:val="̅"/>
                              <m:ctrlPr>
                                <a:rPr lang="en-NZ" altLang="ja-JP" sz="1800" b="1" i="1" smtClean="0">
                                  <a:solidFill>
                                    <a:srgbClr val="002060"/>
                                  </a:solidFill>
                                  <a:latin typeface="Cambria Math" panose="02040503050406030204" pitchFamily="18" charset="0"/>
                                </a:rPr>
                              </m:ctrlPr>
                            </m:accPr>
                            <m:e>
                              <m:r>
                                <a:rPr lang="en-NZ" altLang="ja-JP" sz="1800" b="1" i="1" smtClean="0">
                                  <a:solidFill>
                                    <a:srgbClr val="002060"/>
                                  </a:solidFill>
                                  <a:latin typeface="Cambria Math" panose="02040503050406030204" pitchFamily="18" charset="0"/>
                                </a:rPr>
                                <m:t>𝒙</m:t>
                              </m:r>
                            </m:e>
                          </m:acc>
                        </m:num>
                        <m:den>
                          <m:sSup>
                            <m:sSupPr>
                              <m:ctrlPr>
                                <a:rPr lang="en-NZ" altLang="ja-JP" sz="1800" b="1" i="1" smtClean="0">
                                  <a:solidFill>
                                    <a:srgbClr val="002060"/>
                                  </a:solidFill>
                                  <a:latin typeface="Cambria Math" panose="02040503050406030204" pitchFamily="18" charset="0"/>
                                </a:rPr>
                              </m:ctrlPr>
                            </m:sSupPr>
                            <m:e>
                              <m:r>
                                <a:rPr lang="en-NZ" altLang="ja-JP" sz="1800" b="1" i="1" smtClean="0">
                                  <a:solidFill>
                                    <a:srgbClr val="002060"/>
                                  </a:solidFill>
                                  <a:latin typeface="Cambria Math" panose="02040503050406030204" pitchFamily="18" charset="0"/>
                                </a:rPr>
                                <m:t>𝒔</m:t>
                              </m:r>
                            </m:e>
                            <m:sup>
                              <m:r>
                                <a:rPr lang="en-NZ" altLang="ja-JP" sz="1800" b="1" i="1" smtClean="0">
                                  <a:solidFill>
                                    <a:srgbClr val="002060"/>
                                  </a:solidFill>
                                  <a:latin typeface="Cambria Math" panose="02040503050406030204" pitchFamily="18" charset="0"/>
                                </a:rPr>
                                <m:t>𝟐</m:t>
                              </m:r>
                            </m:sup>
                          </m:sSup>
                        </m:den>
                      </m:f>
                      <m:r>
                        <a:rPr lang="en-NZ" altLang="ja-JP" sz="1800" b="1" i="1" smtClean="0">
                          <a:solidFill>
                            <a:srgbClr val="002060"/>
                          </a:solidFill>
                          <a:latin typeface="Cambria Math" panose="02040503050406030204" pitchFamily="18" charset="0"/>
                        </a:rPr>
                        <m:t>  =  </m:t>
                      </m:r>
                      <m:r>
                        <a:rPr lang="en-NZ" altLang="ja-JP" sz="1800" b="1" i="1" smtClean="0">
                          <a:solidFill>
                            <a:srgbClr val="002060"/>
                          </a:solidFill>
                          <a:latin typeface="Cambria Math" panose="02040503050406030204" pitchFamily="18" charset="0"/>
                        </a:rPr>
                        <m:t>𝟎</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𝟎𝟑𝟑𝟗</m:t>
                      </m:r>
                    </m:oMath>
                  </m:oMathPara>
                </a14:m>
                <a:endParaRPr lang="en-NZ" altLang="ja-JP" sz="1800" dirty="0">
                  <a:solidFill>
                    <a:srgbClr val="002060"/>
                  </a:solidFill>
                </a:endParaRPr>
              </a:p>
              <a:p>
                <a:pPr algn="ctr">
                  <a:lnSpc>
                    <a:spcPct val="100000"/>
                  </a:lnSpc>
                </a:pPr>
                <a:endParaRPr lang="en-NZ" altLang="ja-JP" sz="200" dirty="0">
                  <a:solidFill>
                    <a:srgbClr val="002060"/>
                  </a:solidFill>
                </a:endParaRPr>
              </a:p>
              <a:p>
                <a:pPr algn="ctr">
                  <a:lnSpc>
                    <a:spcPct val="100000"/>
                  </a:lnSpc>
                </a:pPr>
                <a:endParaRPr lang="en-NZ" altLang="ja-JP" sz="200" dirty="0">
                  <a:solidFill>
                    <a:srgbClr val="002060"/>
                  </a:solidFill>
                </a:endParaRPr>
              </a:p>
              <a:p>
                <a:pPr algn="ctr">
                  <a:lnSpc>
                    <a:spcPct val="100000"/>
                  </a:lnSpc>
                </a:pPr>
                <a:endParaRPr lang="en-NZ" altLang="ja-JP" sz="200" dirty="0">
                  <a:solidFill>
                    <a:srgbClr val="002060"/>
                  </a:solidFill>
                </a:endParaRPr>
              </a:p>
              <a:p>
                <a:pPr algn="ctr">
                  <a:lnSpc>
                    <a:spcPct val="100000"/>
                  </a:lnSpc>
                </a:pPr>
                <a:endParaRPr lang="en-NZ" altLang="ja-JP" sz="200" dirty="0">
                  <a:solidFill>
                    <a:srgbClr val="002060"/>
                  </a:solidFill>
                </a:endParaRPr>
              </a:p>
              <a:p>
                <a:pPr algn="ctr">
                  <a:lnSpc>
                    <a:spcPct val="100000"/>
                  </a:lnSpc>
                </a:pPr>
                <a14:m>
                  <m:oMathPara xmlns:m="http://schemas.openxmlformats.org/officeDocument/2006/math">
                    <m:oMathParaPr>
                      <m:jc m:val="centerGroup"/>
                    </m:oMathParaPr>
                    <m:oMath xmlns:m="http://schemas.openxmlformats.org/officeDocument/2006/math">
                      <m:acc>
                        <m:accPr>
                          <m:chr m:val="̂"/>
                          <m:ctrlPr>
                            <a:rPr lang="ja-JP" altLang="en-US" sz="1800" b="1" i="1" smtClean="0">
                              <a:solidFill>
                                <a:srgbClr val="002060"/>
                              </a:solidFill>
                              <a:latin typeface="Cambria Math" panose="02040503050406030204" pitchFamily="18" charset="0"/>
                            </a:rPr>
                          </m:ctrlPr>
                        </m:accPr>
                        <m:e>
                          <m:r>
                            <a:rPr lang="en-NZ" altLang="ja-JP" sz="1800" b="1" i="1" smtClean="0">
                              <a:solidFill>
                                <a:srgbClr val="002060"/>
                              </a:solidFill>
                              <a:latin typeface="Cambria Math" panose="02040503050406030204" pitchFamily="18" charset="0"/>
                            </a:rPr>
                            <m:t>𝜶</m:t>
                          </m:r>
                        </m:e>
                      </m:acc>
                      <m:r>
                        <a:rPr lang="en-NZ" altLang="ja-JP" sz="1800" b="1" i="1" smtClean="0">
                          <a:solidFill>
                            <a:srgbClr val="002060"/>
                          </a:solidFill>
                          <a:latin typeface="Cambria Math" panose="02040503050406030204" pitchFamily="18" charset="0"/>
                        </a:rPr>
                        <m:t> =  </m:t>
                      </m:r>
                      <m:f>
                        <m:fPr>
                          <m:ctrlPr>
                            <a:rPr lang="en-NZ" altLang="ja-JP" sz="1800" b="1" i="1" smtClean="0">
                              <a:solidFill>
                                <a:srgbClr val="002060"/>
                              </a:solidFill>
                              <a:latin typeface="Cambria Math" panose="02040503050406030204" pitchFamily="18" charset="0"/>
                            </a:rPr>
                          </m:ctrlPr>
                        </m:fPr>
                        <m:num>
                          <m:sSup>
                            <m:sSupPr>
                              <m:ctrlPr>
                                <a:rPr lang="en-NZ" altLang="ja-JP" sz="1800" b="1" i="1" smtClean="0">
                                  <a:solidFill>
                                    <a:srgbClr val="002060"/>
                                  </a:solidFill>
                                  <a:latin typeface="Cambria Math" panose="02040503050406030204" pitchFamily="18" charset="0"/>
                                </a:rPr>
                              </m:ctrlPr>
                            </m:sSupPr>
                            <m:e>
                              <m:acc>
                                <m:accPr>
                                  <m:chr m:val="̅"/>
                                  <m:ctrlPr>
                                    <a:rPr lang="en-NZ" altLang="ja-JP" sz="1800" b="1" i="1" smtClean="0">
                                      <a:solidFill>
                                        <a:srgbClr val="002060"/>
                                      </a:solidFill>
                                      <a:latin typeface="Cambria Math" panose="02040503050406030204" pitchFamily="18" charset="0"/>
                                    </a:rPr>
                                  </m:ctrlPr>
                                </m:accPr>
                                <m:e>
                                  <m:r>
                                    <a:rPr lang="en-NZ" altLang="ja-JP" sz="1800" b="1" i="1" smtClean="0">
                                      <a:solidFill>
                                        <a:srgbClr val="002060"/>
                                      </a:solidFill>
                                      <a:latin typeface="Cambria Math" panose="02040503050406030204" pitchFamily="18" charset="0"/>
                                    </a:rPr>
                                    <m:t>𝒙</m:t>
                                  </m:r>
                                </m:e>
                              </m:acc>
                            </m:e>
                            <m:sup>
                              <m:r>
                                <a:rPr lang="en-NZ" altLang="ja-JP" sz="1800" b="1" i="1" smtClean="0">
                                  <a:solidFill>
                                    <a:srgbClr val="002060"/>
                                  </a:solidFill>
                                  <a:latin typeface="Cambria Math" panose="02040503050406030204" pitchFamily="18" charset="0"/>
                                </a:rPr>
                                <m:t> </m:t>
                              </m:r>
                              <m:r>
                                <a:rPr lang="en-NZ" altLang="ja-JP" sz="1800" b="1" i="1" smtClean="0">
                                  <a:solidFill>
                                    <a:srgbClr val="002060"/>
                                  </a:solidFill>
                                  <a:latin typeface="Cambria Math" panose="02040503050406030204" pitchFamily="18" charset="0"/>
                                </a:rPr>
                                <m:t>𝟐</m:t>
                              </m:r>
                            </m:sup>
                          </m:sSup>
                        </m:num>
                        <m:den>
                          <m:sSup>
                            <m:sSupPr>
                              <m:ctrlPr>
                                <a:rPr lang="en-NZ" altLang="ja-JP" sz="1800" b="1" i="1" smtClean="0">
                                  <a:solidFill>
                                    <a:srgbClr val="002060"/>
                                  </a:solidFill>
                                  <a:latin typeface="Cambria Math" panose="02040503050406030204" pitchFamily="18" charset="0"/>
                                </a:rPr>
                              </m:ctrlPr>
                            </m:sSupPr>
                            <m:e>
                              <m:r>
                                <a:rPr lang="en-NZ" altLang="ja-JP" sz="1800" b="1" i="1" smtClean="0">
                                  <a:solidFill>
                                    <a:srgbClr val="002060"/>
                                  </a:solidFill>
                                  <a:latin typeface="Cambria Math" panose="02040503050406030204" pitchFamily="18" charset="0"/>
                                </a:rPr>
                                <m:t>𝒔</m:t>
                              </m:r>
                            </m:e>
                            <m:sup>
                              <m:r>
                                <a:rPr lang="en-NZ" altLang="ja-JP" sz="1800" b="1" i="1" smtClean="0">
                                  <a:solidFill>
                                    <a:srgbClr val="002060"/>
                                  </a:solidFill>
                                  <a:latin typeface="Cambria Math" panose="02040503050406030204" pitchFamily="18" charset="0"/>
                                </a:rPr>
                                <m:t>𝟐</m:t>
                              </m:r>
                            </m:sup>
                          </m:sSup>
                        </m:den>
                      </m:f>
                      <m:r>
                        <a:rPr lang="en-NZ" altLang="ja-JP" sz="1800" b="1" i="1" smtClean="0">
                          <a:solidFill>
                            <a:srgbClr val="002060"/>
                          </a:solidFill>
                          <a:latin typeface="Cambria Math" panose="02040503050406030204" pitchFamily="18" charset="0"/>
                        </a:rPr>
                        <m:t> =  </m:t>
                      </m:r>
                      <m:r>
                        <a:rPr lang="en-NZ" altLang="ja-JP" sz="1800" b="1" i="1" smtClean="0">
                          <a:solidFill>
                            <a:srgbClr val="002060"/>
                          </a:solidFill>
                          <a:latin typeface="Cambria Math" panose="02040503050406030204" pitchFamily="18" charset="0"/>
                        </a:rPr>
                        <m:t>𝟏</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𝟐𝟒𝟓𝟗</m:t>
                      </m:r>
                    </m:oMath>
                  </m:oMathPara>
                </a14:m>
                <a:endParaRPr lang="en-NZ" altLang="ja-JP" sz="1800" b="1" dirty="0">
                  <a:solidFill>
                    <a:srgbClr val="002060"/>
                  </a:solidFill>
                </a:endParaRPr>
              </a:p>
            </p:txBody>
          </p:sp>
        </mc:Choice>
        <mc:Fallback xmlns="">
          <p:sp>
            <p:nvSpPr>
              <p:cNvPr id="20" name="Text Placeholder 5">
                <a:extLst>
                  <a:ext uri="{FF2B5EF4-FFF2-40B4-BE49-F238E27FC236}">
                    <a16:creationId xmlns:a16="http://schemas.microsoft.com/office/drawing/2014/main" id="{365BACF0-2AF6-4573-9C26-CC2BFBB66DCD}"/>
                  </a:ext>
                </a:extLst>
              </p:cNvPr>
              <p:cNvSpPr txBox="1">
                <a:spLocks noRot="1" noChangeAspect="1" noMove="1" noResize="1" noEditPoints="1" noAdjustHandles="1" noChangeArrowheads="1" noChangeShapeType="1" noTextEdit="1"/>
              </p:cNvSpPr>
              <p:nvPr/>
            </p:nvSpPr>
            <p:spPr>
              <a:xfrm>
                <a:off x="6264322" y="3601300"/>
                <a:ext cx="4901031" cy="1666735"/>
              </a:xfrm>
              <a:prstGeom prst="rect">
                <a:avLst/>
              </a:prstGeom>
              <a:blipFill>
                <a:blip r:embed="rId9"/>
                <a:stretch>
                  <a:fillRect t="-219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A3D8877B-311A-44CB-8800-43F5AD455D10}"/>
                  </a:ext>
                </a:extLst>
              </p:cNvPr>
              <p:cNvSpPr txBox="1">
                <a:spLocks/>
              </p:cNvSpPr>
              <p:nvPr/>
            </p:nvSpPr>
            <p:spPr>
              <a:xfrm>
                <a:off x="436727" y="5450734"/>
                <a:ext cx="11068336" cy="84507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We are going to create estimates for the standard error of </a:t>
                </a:r>
                <a14:m>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𝜶</m:t>
                        </m:r>
                      </m:e>
                    </m:acc>
                  </m:oMath>
                </a14:m>
                <a:r>
                  <a:rPr lang="ja-JP" altLang="en-NZ" sz="1800" b="1" dirty="0">
                    <a:solidFill>
                      <a:schemeClr val="tx1"/>
                    </a:solidFill>
                  </a:rPr>
                  <a:t> </a:t>
                </a:r>
                <a:r>
                  <a:rPr lang="en-NZ" altLang="ja-JP" sz="1800" dirty="0">
                    <a:solidFill>
                      <a:schemeClr val="tx1"/>
                    </a:solidFill>
                  </a:rPr>
                  <a:t>by  sampling </a:t>
                </a:r>
              </a:p>
              <a:p>
                <a:pPr algn="ctr">
                  <a:lnSpc>
                    <a:spcPct val="100000"/>
                  </a:lnSpc>
                </a:pPr>
                <a:r>
                  <a:rPr lang="en-NZ" altLang="ja-JP" sz="1800" dirty="0">
                    <a:solidFill>
                      <a:schemeClr val="tx1"/>
                    </a:solidFill>
                  </a:rPr>
                  <a:t>from the </a:t>
                </a:r>
                <a14:m>
                  <m:oMath xmlns:m="http://schemas.openxmlformats.org/officeDocument/2006/math">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𝑮𝒂𝒎𝒎𝒂</m:t>
                    </m:r>
                    <m:r>
                      <a:rPr lang="en-NZ" altLang="ja-JP" sz="1800" b="1" i="1" smtClean="0">
                        <a:solidFill>
                          <a:schemeClr val="tx1"/>
                        </a:solidFill>
                        <a:latin typeface="Cambria Math" panose="02040503050406030204" pitchFamily="18" charset="0"/>
                      </a:rPr>
                      <m:t> </m:t>
                    </m:r>
                    <m:d>
                      <m:dPr>
                        <m:ctrlPr>
                          <a:rPr lang="en-NZ" altLang="ja-JP" sz="1800" b="1" i="1" smtClean="0">
                            <a:solidFill>
                              <a:schemeClr val="tx1"/>
                            </a:solidFill>
                            <a:latin typeface="Cambria Math" panose="02040503050406030204" pitchFamily="18" charset="0"/>
                          </a:rPr>
                        </m:ctrlPr>
                      </m:dPr>
                      <m:e>
                        <m:acc>
                          <m:accPr>
                            <m:chr m:val="̂"/>
                            <m:ctrlPr>
                              <a:rPr lang="ja-JP" altLang="en-US"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𝜶</m:t>
                            </m:r>
                          </m:e>
                        </m:acc>
                        <m:r>
                          <a:rPr lang="en-NZ" altLang="ja-JP" sz="1800" b="1" i="1" smtClean="0">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𝝀</m:t>
                            </m:r>
                          </m:e>
                        </m:acc>
                      </m:e>
                    </m:d>
                    <m:r>
                      <a:rPr lang="en-NZ" altLang="ja-JP" sz="1800" b="1" i="1" smtClean="0">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𝑮𝒂𝒎𝒎𝒂</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𝟐𝟒𝟓𝟗</m:t>
                    </m:r>
                    <m:r>
                      <a:rPr lang="en-NZ" altLang="ja-JP" sz="1800" b="1" i="1">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𝟎𝟑𝟑𝟗</m:t>
                    </m:r>
                    <m:r>
                      <a:rPr lang="en-NZ" altLang="ja-JP" sz="1800" b="1" i="1">
                        <a:solidFill>
                          <a:schemeClr val="tx1"/>
                        </a:solidFill>
                        <a:latin typeface="Cambria Math" panose="02040503050406030204" pitchFamily="18" charset="0"/>
                      </a:rPr>
                      <m:t> )</m:t>
                    </m:r>
                  </m:oMath>
                </a14:m>
                <a:r>
                  <a:rPr lang="en-NZ" altLang="ja-JP" sz="1800" b="1" dirty="0">
                    <a:solidFill>
                      <a:schemeClr val="tx1"/>
                    </a:solidFill>
                  </a:rPr>
                  <a:t> </a:t>
                </a:r>
                <a:r>
                  <a:rPr lang="en-NZ" altLang="ja-JP" sz="1800" dirty="0">
                    <a:solidFill>
                      <a:schemeClr val="tx1"/>
                    </a:solidFill>
                  </a:rPr>
                  <a:t>distribution  </a:t>
                </a:r>
                <a:endParaRPr lang="ja-JP" altLang="en-NZ" sz="1800" dirty="0">
                  <a:solidFill>
                    <a:schemeClr val="tx1"/>
                  </a:solidFill>
                </a:endParaRPr>
              </a:p>
            </p:txBody>
          </p:sp>
        </mc:Choice>
        <mc:Fallback xmlns="">
          <p:sp>
            <p:nvSpPr>
              <p:cNvPr id="21" name="Text Placeholder 5">
                <a:extLst>
                  <a:ext uri="{FF2B5EF4-FFF2-40B4-BE49-F238E27FC236}">
                    <a16:creationId xmlns:a16="http://schemas.microsoft.com/office/drawing/2014/main" id="{A3D8877B-311A-44CB-8800-43F5AD455D10}"/>
                  </a:ext>
                </a:extLst>
              </p:cNvPr>
              <p:cNvSpPr txBox="1">
                <a:spLocks noRot="1" noChangeAspect="1" noMove="1" noResize="1" noEditPoints="1" noAdjustHandles="1" noChangeArrowheads="1" noChangeShapeType="1" noTextEdit="1"/>
              </p:cNvSpPr>
              <p:nvPr/>
            </p:nvSpPr>
            <p:spPr>
              <a:xfrm>
                <a:off x="436727" y="5450734"/>
                <a:ext cx="11068336" cy="845077"/>
              </a:xfrm>
              <a:prstGeom prst="rect">
                <a:avLst/>
              </a:prstGeom>
              <a:blipFill>
                <a:blip r:embed="rId10"/>
                <a:stretch>
                  <a:fillRect t="-3597"/>
                </a:stretch>
              </a:blipFill>
            </p:spPr>
            <p:txBody>
              <a:bodyPr/>
              <a:lstStyle/>
              <a:p>
                <a:r>
                  <a:rPr lang="en-NZ">
                    <a:noFill/>
                  </a:rPr>
                  <a:t> </a:t>
                </a:r>
              </a:p>
            </p:txBody>
          </p:sp>
        </mc:Fallback>
      </mc:AlternateContent>
      <p:sp>
        <p:nvSpPr>
          <p:cNvPr id="22" name="Text Placeholder 5">
            <a:extLst>
              <a:ext uri="{FF2B5EF4-FFF2-40B4-BE49-F238E27FC236}">
                <a16:creationId xmlns:a16="http://schemas.microsoft.com/office/drawing/2014/main" id="{18182CDF-84B2-4613-8FE5-909098A33271}"/>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7.5 - Temporal Clustering (Parametric Bootstrapping Example)</a:t>
            </a:r>
            <a:r>
              <a:rPr lang="en-US" altLang="ja-JP" sz="1200" dirty="0">
                <a:solidFill>
                  <a:srgbClr val="C00000"/>
                </a:solidFill>
              </a:rPr>
              <a:t>.</a:t>
            </a:r>
            <a:endParaRPr lang="en-US" altLang="ja-JP" sz="1200" b="1" i="1" dirty="0">
              <a:solidFill>
                <a:srgbClr val="C00000"/>
              </a:solidFill>
            </a:endParaRPr>
          </a:p>
        </p:txBody>
      </p:sp>
    </p:spTree>
    <p:extLst>
      <p:ext uri="{BB962C8B-B14F-4D97-AF65-F5344CB8AC3E}">
        <p14:creationId xmlns:p14="http://schemas.microsoft.com/office/powerpoint/2010/main" val="878746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1EA04003-994C-434B-9E8F-8ACE04D3B07A}"/>
              </a:ext>
            </a:extLst>
          </p:cNvPr>
          <p:cNvSpPr txBox="1">
            <a:spLocks/>
          </p:cNvSpPr>
          <p:nvPr/>
        </p:nvSpPr>
        <p:spPr>
          <a:xfrm>
            <a:off x="9040505" y="86139"/>
            <a:ext cx="304886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7.5c</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Parametric Bootstrapping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itle 6">
            <a:extLst>
              <a:ext uri="{FF2B5EF4-FFF2-40B4-BE49-F238E27FC236}">
                <a16:creationId xmlns:a16="http://schemas.microsoft.com/office/drawing/2014/main" id="{7C0CE8D7-235C-4C1E-9D84-462BF3BDCF78}"/>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7.5c – Temporal Clustering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2" name="Text Placeholder 5">
            <a:extLst>
              <a:ext uri="{FF2B5EF4-FFF2-40B4-BE49-F238E27FC236}">
                <a16:creationId xmlns:a16="http://schemas.microsoft.com/office/drawing/2014/main" id="{18182CDF-84B2-4613-8FE5-909098A33271}"/>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7.5 - Temporal Clustering (Parametric Bootstrapping Example)</a:t>
            </a:r>
            <a:r>
              <a:rPr lang="en-US" altLang="ja-JP" sz="1200" dirty="0">
                <a:solidFill>
                  <a:srgbClr val="C00000"/>
                </a:solidFill>
              </a:rPr>
              <a:t>.</a:t>
            </a:r>
            <a:endParaRPr lang="en-US" altLang="ja-JP" sz="1200" b="1" i="1" dirty="0">
              <a:solidFill>
                <a:srgbClr val="C00000"/>
              </a:solidFill>
            </a:endParaRPr>
          </a:p>
        </p:txBody>
      </p:sp>
      <mc:AlternateContent xmlns:mc="http://schemas.openxmlformats.org/markup-compatibility/2006">
        <mc:Choice xmlns:a14="http://schemas.microsoft.com/office/drawing/2010/main" Requires="a14">
          <p:sp>
            <p:nvSpPr>
              <p:cNvPr id="24" name="Text Placeholder 5">
                <a:extLst>
                  <a:ext uri="{FF2B5EF4-FFF2-40B4-BE49-F238E27FC236}">
                    <a16:creationId xmlns:a16="http://schemas.microsoft.com/office/drawing/2014/main" id="{82A9D215-713D-41EF-8077-874B2E878928}"/>
                  </a:ext>
                </a:extLst>
              </p:cNvPr>
              <p:cNvSpPr txBox="1">
                <a:spLocks/>
              </p:cNvSpPr>
              <p:nvPr/>
            </p:nvSpPr>
            <p:spPr>
              <a:xfrm>
                <a:off x="211739" y="964791"/>
                <a:ext cx="5460491"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b="1" dirty="0">
                    <a:solidFill>
                      <a:srgbClr val="002060"/>
                    </a:solidFill>
                  </a:rPr>
                  <a:t>Histogram of the </a:t>
                </a:r>
                <a14:m>
                  <m:oMath xmlns:m="http://schemas.openxmlformats.org/officeDocument/2006/math">
                    <m:acc>
                      <m:accPr>
                        <m:chr m:val="̂"/>
                        <m:ctrlPr>
                          <a:rPr lang="ja-JP" altLang="en-US" sz="1600" b="1" i="1" smtClean="0">
                            <a:solidFill>
                              <a:srgbClr val="002060"/>
                            </a:solidFill>
                            <a:latin typeface="Cambria Math" panose="02040503050406030204" pitchFamily="18" charset="0"/>
                          </a:rPr>
                        </m:ctrlPr>
                      </m:accPr>
                      <m:e>
                        <m:r>
                          <a:rPr lang="en-NZ" altLang="ja-JP" sz="1600" b="1" i="1" smtClean="0">
                            <a:solidFill>
                              <a:srgbClr val="002060"/>
                            </a:solidFill>
                            <a:latin typeface="Cambria Math" panose="02040503050406030204" pitchFamily="18" charset="0"/>
                          </a:rPr>
                          <m:t>𝜶</m:t>
                        </m:r>
                      </m:e>
                    </m:acc>
                  </m:oMath>
                </a14:m>
                <a:r>
                  <a:rPr lang="en-NZ" altLang="ja-JP" sz="1600" b="1" baseline="30000" dirty="0">
                    <a:solidFill>
                      <a:srgbClr val="002060"/>
                    </a:solidFill>
                  </a:rPr>
                  <a:t>*</a:t>
                </a:r>
                <a:r>
                  <a:rPr lang="en-NZ" altLang="ja-JP" sz="1600" b="1" baseline="30000" dirty="0" err="1">
                    <a:solidFill>
                      <a:srgbClr val="002060"/>
                    </a:solidFill>
                  </a:rPr>
                  <a:t>i</a:t>
                </a:r>
                <a:r>
                  <a:rPr lang="en-NZ" altLang="ja-JP" sz="1600" b="1" dirty="0">
                    <a:solidFill>
                      <a:srgbClr val="002060"/>
                    </a:solidFill>
                  </a:rPr>
                  <a:t> Produced by Drawing 1,000 samples </a:t>
                </a:r>
                <a:br>
                  <a:rPr lang="en-NZ" altLang="ja-JP" sz="1600" b="1" dirty="0">
                    <a:solidFill>
                      <a:srgbClr val="002060"/>
                    </a:solidFill>
                  </a:rPr>
                </a:br>
                <a:r>
                  <a:rPr lang="en-NZ" altLang="ja-JP" sz="1600" b="1" dirty="0">
                    <a:solidFill>
                      <a:srgbClr val="002060"/>
                    </a:solidFill>
                  </a:rPr>
                  <a:t>of 50 observations from </a:t>
                </a:r>
                <a14:m>
                  <m:oMath xmlns:m="http://schemas.openxmlformats.org/officeDocument/2006/math">
                    <m:r>
                      <a:rPr lang="en-NZ" altLang="ja-JP" sz="1600" b="1" i="1">
                        <a:solidFill>
                          <a:srgbClr val="002060"/>
                        </a:solidFill>
                        <a:latin typeface="Cambria Math" panose="02040503050406030204" pitchFamily="18" charset="0"/>
                      </a:rPr>
                      <m:t>𝑮𝒂𝒎𝒎𝒂</m:t>
                    </m:r>
                    <m:r>
                      <a:rPr lang="en-NZ" altLang="ja-JP" sz="1600" b="1" i="1">
                        <a:solidFill>
                          <a:srgbClr val="002060"/>
                        </a:solidFill>
                        <a:latin typeface="Cambria Math" panose="02040503050406030204" pitchFamily="18" charset="0"/>
                      </a:rPr>
                      <m:t> </m:t>
                    </m:r>
                    <m:d>
                      <m:dPr>
                        <m:ctrlPr>
                          <a:rPr lang="en-NZ" altLang="ja-JP" sz="1600" b="1" i="1">
                            <a:solidFill>
                              <a:srgbClr val="002060"/>
                            </a:solidFill>
                            <a:latin typeface="Cambria Math" panose="02040503050406030204" pitchFamily="18" charset="0"/>
                          </a:rPr>
                        </m:ctrlPr>
                      </m:dPr>
                      <m:e>
                        <m:acc>
                          <m:accPr>
                            <m:chr m:val="̂"/>
                            <m:ctrlPr>
                              <a:rPr lang="ja-JP" altLang="en-US" sz="1600" b="1" i="1">
                                <a:solidFill>
                                  <a:srgbClr val="002060"/>
                                </a:solidFill>
                                <a:latin typeface="Cambria Math" panose="02040503050406030204" pitchFamily="18" charset="0"/>
                              </a:rPr>
                            </m:ctrlPr>
                          </m:accPr>
                          <m:e>
                            <m:r>
                              <a:rPr lang="en-NZ" altLang="ja-JP" sz="1600" b="1" i="1">
                                <a:solidFill>
                                  <a:srgbClr val="002060"/>
                                </a:solidFill>
                                <a:latin typeface="Cambria Math" panose="02040503050406030204" pitchFamily="18" charset="0"/>
                              </a:rPr>
                              <m:t>𝜶</m:t>
                            </m:r>
                          </m:e>
                        </m:acc>
                        <m:r>
                          <a:rPr lang="en-NZ" altLang="ja-JP" sz="1600" b="1" i="1">
                            <a:solidFill>
                              <a:srgbClr val="002060"/>
                            </a:solidFill>
                            <a:latin typeface="Cambria Math" panose="02040503050406030204" pitchFamily="18" charset="0"/>
                          </a:rPr>
                          <m:t> ,</m:t>
                        </m:r>
                        <m:acc>
                          <m:accPr>
                            <m:chr m:val="̂"/>
                            <m:ctrlPr>
                              <a:rPr lang="en-NZ" altLang="ja-JP" sz="1600" b="1" i="1">
                                <a:solidFill>
                                  <a:srgbClr val="002060"/>
                                </a:solidFill>
                                <a:latin typeface="Cambria Math" panose="02040503050406030204" pitchFamily="18" charset="0"/>
                              </a:rPr>
                            </m:ctrlPr>
                          </m:accPr>
                          <m:e>
                            <m:r>
                              <a:rPr lang="en-NZ" altLang="ja-JP" sz="1600" b="1" i="1">
                                <a:solidFill>
                                  <a:srgbClr val="002060"/>
                                </a:solidFill>
                                <a:latin typeface="Cambria Math" panose="02040503050406030204" pitchFamily="18" charset="0"/>
                              </a:rPr>
                              <m:t>𝝀</m:t>
                            </m:r>
                          </m:e>
                        </m:acc>
                      </m:e>
                    </m:d>
                  </m:oMath>
                </a14:m>
                <a:r>
                  <a:rPr lang="en-NZ" altLang="ja-JP" sz="1600" b="1" dirty="0">
                    <a:solidFill>
                      <a:srgbClr val="002060"/>
                    </a:solidFill>
                  </a:rPr>
                  <a:t> </a:t>
                </a:r>
                <a:endParaRPr lang="ja-JP" altLang="en-NZ" sz="1600" b="1" dirty="0">
                  <a:solidFill>
                    <a:srgbClr val="002060"/>
                  </a:solidFill>
                </a:endParaRPr>
              </a:p>
              <a:p>
                <a:pPr algn="ctr">
                  <a:lnSpc>
                    <a:spcPct val="100000"/>
                  </a:lnSpc>
                </a:pPr>
                <a:endParaRPr lang="ja-JP" altLang="en-NZ" sz="1600" b="1" dirty="0">
                  <a:solidFill>
                    <a:srgbClr val="002060"/>
                  </a:solidFill>
                </a:endParaRPr>
              </a:p>
            </p:txBody>
          </p:sp>
        </mc:Choice>
        <mc:Fallback>
          <p:sp>
            <p:nvSpPr>
              <p:cNvPr id="24" name="Text Placeholder 5">
                <a:extLst>
                  <a:ext uri="{FF2B5EF4-FFF2-40B4-BE49-F238E27FC236}">
                    <a16:creationId xmlns:a16="http://schemas.microsoft.com/office/drawing/2014/main" id="{82A9D215-713D-41EF-8077-874B2E878928}"/>
                  </a:ext>
                </a:extLst>
              </p:cNvPr>
              <p:cNvSpPr txBox="1">
                <a:spLocks noRot="1" noChangeAspect="1" noMove="1" noResize="1" noEditPoints="1" noAdjustHandles="1" noChangeArrowheads="1" noChangeShapeType="1" noTextEdit="1"/>
              </p:cNvSpPr>
              <p:nvPr/>
            </p:nvSpPr>
            <p:spPr>
              <a:xfrm>
                <a:off x="211739" y="964791"/>
                <a:ext cx="5460491" cy="607201"/>
              </a:xfrm>
              <a:prstGeom prst="rect">
                <a:avLst/>
              </a:prstGeom>
              <a:blipFill>
                <a:blip r:embed="rId3"/>
                <a:stretch>
                  <a:fillRect t="-3000" b="-12000"/>
                </a:stretch>
              </a:blipFill>
            </p:spPr>
            <p:txBody>
              <a:bodyPr/>
              <a:lstStyle/>
              <a:p>
                <a:r>
                  <a:rPr lang="en-NZ">
                    <a:noFill/>
                  </a:rPr>
                  <a:t> </a:t>
                </a:r>
              </a:p>
            </p:txBody>
          </p:sp>
        </mc:Fallback>
      </mc:AlternateContent>
      <p:pic>
        <p:nvPicPr>
          <p:cNvPr id="8" name="Picture 7">
            <a:extLst>
              <a:ext uri="{FF2B5EF4-FFF2-40B4-BE49-F238E27FC236}">
                <a16:creationId xmlns:a16="http://schemas.microsoft.com/office/drawing/2014/main" id="{0041C86C-0144-41F0-A48A-47B4D1DF552A}"/>
              </a:ext>
            </a:extLst>
          </p:cNvPr>
          <p:cNvPicPr>
            <a:picLocks noChangeAspect="1"/>
          </p:cNvPicPr>
          <p:nvPr/>
        </p:nvPicPr>
        <p:blipFill>
          <a:blip r:embed="rId4"/>
          <a:stretch>
            <a:fillRect/>
          </a:stretch>
        </p:blipFill>
        <p:spPr>
          <a:xfrm>
            <a:off x="934959" y="1700304"/>
            <a:ext cx="4014050" cy="3923809"/>
          </a:xfrm>
          <a:prstGeom prst="rect">
            <a:avLst/>
          </a:prstGeom>
        </p:spPr>
      </p:pic>
      <mc:AlternateContent xmlns:mc="http://schemas.openxmlformats.org/markup-compatibility/2006">
        <mc:Choice xmlns:a14="http://schemas.microsoft.com/office/drawing/2010/main" Requires="a14">
          <p:sp>
            <p:nvSpPr>
              <p:cNvPr id="25" name="Text Placeholder 5">
                <a:extLst>
                  <a:ext uri="{FF2B5EF4-FFF2-40B4-BE49-F238E27FC236}">
                    <a16:creationId xmlns:a16="http://schemas.microsoft.com/office/drawing/2014/main" id="{FEA4DD24-288E-4043-A539-1FEE731B112A}"/>
                  </a:ext>
                </a:extLst>
              </p:cNvPr>
              <p:cNvSpPr txBox="1">
                <a:spLocks/>
              </p:cNvSpPr>
              <p:nvPr/>
            </p:nvSpPr>
            <p:spPr>
              <a:xfrm>
                <a:off x="213081" y="5624113"/>
                <a:ext cx="5457807" cy="7670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dirty="0">
                    <a:solidFill>
                      <a:prstClr val="black"/>
                    </a:solidFill>
                    <a:latin typeface="Calibri" panose="020F0502020204030204"/>
                    <a:ea typeface="游ゴシック" panose="020B0400000000000000" pitchFamily="34" charset="-128"/>
                  </a:rPr>
                  <a:t>Distribution of the </a:t>
                </a:r>
                <a14:m>
                  <m:oMath xmlns:m="http://schemas.openxmlformats.org/officeDocument/2006/math">
                    <m:sSup>
                      <m:sSupPr>
                        <m:ctrlPr>
                          <a:rPr lang="en-NZ" altLang="ja-JP" sz="1400" b="1" i="1" smtClean="0">
                            <a:solidFill>
                              <a:prstClr val="black"/>
                            </a:solidFill>
                            <a:latin typeface="Cambria Math" panose="02040503050406030204" pitchFamily="18" charset="0"/>
                            <a:ea typeface="游ゴシック" panose="020B0400000000000000" pitchFamily="34" charset="-128"/>
                          </a:rPr>
                        </m:ctrlPr>
                      </m:sSupPr>
                      <m:e>
                        <m:acc>
                          <m:accPr>
                            <m:chr m:val="̂"/>
                            <m:ctrlPr>
                              <a:rPr lang="en-NZ" altLang="ja-JP" sz="1400" b="1" i="1" smtClean="0">
                                <a:solidFill>
                                  <a:prstClr val="black"/>
                                </a:solidFill>
                                <a:latin typeface="Cambria Math" panose="02040503050406030204" pitchFamily="18" charset="0"/>
                                <a:ea typeface="游ゴシック" panose="020B0400000000000000" pitchFamily="34" charset="-128"/>
                              </a:rPr>
                            </m:ctrlPr>
                          </m:accPr>
                          <m:e>
                            <m:r>
                              <a:rPr lang="en-NZ" altLang="ja-JP" sz="1400" b="1" i="1" smtClean="0">
                                <a:solidFill>
                                  <a:prstClr val="black"/>
                                </a:solidFill>
                                <a:latin typeface="Cambria Math" panose="02040503050406030204" pitchFamily="18" charset="0"/>
                                <a:ea typeface="游ゴシック" panose="020B0400000000000000" pitchFamily="34" charset="-128"/>
                              </a:rPr>
                              <m:t>𝜶</m:t>
                            </m:r>
                          </m:e>
                        </m:acc>
                      </m:e>
                      <m:sup>
                        <m:r>
                          <a:rPr lang="en-NZ" altLang="ja-JP" sz="1400" b="1" i="1" smtClean="0">
                            <a:solidFill>
                              <a:prstClr val="black"/>
                            </a:solidFill>
                            <a:latin typeface="Cambria Math" panose="02040503050406030204" pitchFamily="18" charset="0"/>
                            <a:ea typeface="游ゴシック" panose="020B0400000000000000" pitchFamily="34" charset="-128"/>
                          </a:rPr>
                          <m:t>∗</m:t>
                        </m:r>
                        <m:r>
                          <a:rPr lang="en-NZ" altLang="ja-JP" sz="1400" b="1" i="1" smtClean="0">
                            <a:solidFill>
                              <a:prstClr val="black"/>
                            </a:solidFill>
                            <a:latin typeface="Cambria Math" panose="02040503050406030204" pitchFamily="18" charset="0"/>
                            <a:ea typeface="游ゴシック" panose="020B0400000000000000" pitchFamily="34" charset="-128"/>
                          </a:rPr>
                          <m:t>𝒊</m:t>
                        </m:r>
                      </m:sup>
                    </m:sSup>
                  </m:oMath>
                </a14:m>
                <a:r>
                  <a:rPr lang="en-NZ" altLang="ja-JP" sz="1400" b="1" dirty="0">
                    <a:solidFill>
                      <a:prstClr val="black"/>
                    </a:solidFill>
                    <a:latin typeface="Calibri" panose="020F0502020204030204"/>
                    <a:ea typeface="游ゴシック" panose="020B0400000000000000" pitchFamily="34" charset="-128"/>
                  </a:rPr>
                  <a:t> look approximately normal.</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=&gt;</a:t>
                </a:r>
                <a:r>
                  <a:rPr kumimoji="1" lang="en-NZ" altLang="ja-JP" sz="14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95% </a:t>
                </a:r>
                <a:r>
                  <a:rPr kumimoji="1" lang="en-NZ" altLang="ja-JP" sz="1400" b="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C.I. can be obtained via standard bootstrap </a:t>
                </a:r>
                <a:br>
                  <a:rPr kumimoji="1" lang="en-NZ" altLang="ja-JP" sz="1400" b="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br>
                <a:r>
                  <a:rPr kumimoji="1" lang="en-NZ" altLang="ja-JP" sz="1400" b="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confidence interval.</a:t>
                </a: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p:sp>
            <p:nvSpPr>
              <p:cNvPr id="25" name="Text Placeholder 5">
                <a:extLst>
                  <a:ext uri="{FF2B5EF4-FFF2-40B4-BE49-F238E27FC236}">
                    <a16:creationId xmlns:a16="http://schemas.microsoft.com/office/drawing/2014/main" id="{FEA4DD24-288E-4043-A539-1FEE731B112A}"/>
                  </a:ext>
                </a:extLst>
              </p:cNvPr>
              <p:cNvSpPr txBox="1">
                <a:spLocks noRot="1" noChangeAspect="1" noMove="1" noResize="1" noEditPoints="1" noAdjustHandles="1" noChangeArrowheads="1" noChangeShapeType="1" noTextEdit="1"/>
              </p:cNvSpPr>
              <p:nvPr/>
            </p:nvSpPr>
            <p:spPr>
              <a:xfrm>
                <a:off x="213081" y="5624113"/>
                <a:ext cx="5457807" cy="767081"/>
              </a:xfrm>
              <a:prstGeom prst="rect">
                <a:avLst/>
              </a:prstGeom>
              <a:blipFill>
                <a:blip r:embed="rId5"/>
                <a:stretch>
                  <a:fillRect t="-800" b="-4800"/>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 name="Text Placeholder 5">
                <a:extLst>
                  <a:ext uri="{FF2B5EF4-FFF2-40B4-BE49-F238E27FC236}">
                    <a16:creationId xmlns:a16="http://schemas.microsoft.com/office/drawing/2014/main" id="{583F9C12-D04B-FAFF-20BF-2E3F0F955F9E}"/>
                  </a:ext>
                </a:extLst>
              </p:cNvPr>
              <p:cNvSpPr txBox="1">
                <a:spLocks/>
              </p:cNvSpPr>
              <p:nvPr/>
            </p:nvSpPr>
            <p:spPr>
              <a:xfrm>
                <a:off x="5394984" y="1654060"/>
                <a:ext cx="4901031" cy="2175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b="1" u="sng" dirty="0">
                    <a:solidFill>
                      <a:schemeClr val="tx1"/>
                    </a:solidFill>
                  </a:rPr>
                  <a:t>Results:</a:t>
                </a:r>
              </a:p>
              <a:p>
                <a:pPr>
                  <a:lnSpc>
                    <a:spcPct val="100000"/>
                  </a:lnSpc>
                </a:pPr>
                <a:endParaRPr lang="en-NZ" altLang="ja-JP" sz="200" b="1" u="sng" dirty="0">
                  <a:solidFill>
                    <a:schemeClr val="tx1"/>
                  </a:solidFill>
                </a:endParaRPr>
              </a:p>
              <a:p>
                <a:pPr>
                  <a:lnSpc>
                    <a:spcPct val="100000"/>
                  </a:lnSpc>
                </a:pPr>
                <a:endParaRPr lang="en-NZ" altLang="ja-JP" sz="200" b="1" u="sng" dirty="0">
                  <a:solidFill>
                    <a:schemeClr val="tx1"/>
                  </a:solidFill>
                </a:endParaRPr>
              </a:p>
              <a:p>
                <a:pPr>
                  <a:lnSpc>
                    <a:spcPct val="100000"/>
                  </a:lnSpc>
                </a:pPr>
                <a:endParaRPr lang="en-NZ" altLang="ja-JP" sz="200" b="1" dirty="0">
                  <a:solidFill>
                    <a:schemeClr val="tx1"/>
                  </a:solidFill>
                </a:endParaRPr>
              </a:p>
              <a:p>
                <a:pPr algn="ctr">
                  <a:lnSpc>
                    <a:spcPct val="100000"/>
                  </a:lnSpc>
                </a:pPr>
                <a14:m>
                  <m:oMathPara xmlns:m="http://schemas.openxmlformats.org/officeDocument/2006/math">
                    <m:oMathParaPr>
                      <m:jc m:val="left"/>
                    </m:oMathParaPr>
                    <m:oMath xmlns:m="http://schemas.openxmlformats.org/officeDocument/2006/math">
                      <m:acc>
                        <m:accPr>
                          <m:chr m:val="̂"/>
                          <m:ctrlPr>
                            <a:rPr lang="en-NZ" altLang="ja-JP" sz="1600" b="1" i="1" smtClean="0">
                              <a:solidFill>
                                <a:schemeClr val="tx1"/>
                              </a:solidFill>
                              <a:latin typeface="Cambria Math" panose="02040503050406030204" pitchFamily="18" charset="0"/>
                            </a:rPr>
                          </m:ctrlPr>
                        </m:accPr>
                        <m:e>
                          <m:r>
                            <a:rPr lang="en-NZ" altLang="ja-JP" sz="1600" b="1" i="1" smtClean="0">
                              <a:solidFill>
                                <a:schemeClr val="tx1"/>
                              </a:solidFill>
                              <a:latin typeface="Cambria Math" panose="02040503050406030204" pitchFamily="18" charset="0"/>
                            </a:rPr>
                            <m:t>𝝀</m:t>
                          </m:r>
                        </m:e>
                      </m:acc>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acc>
                            <m:accPr>
                              <m:chr m:val="̅"/>
                              <m:ctrlPr>
                                <a:rPr lang="en-NZ" altLang="ja-JP" sz="1600" b="1" i="1" smtClean="0">
                                  <a:solidFill>
                                    <a:schemeClr val="tx1"/>
                                  </a:solidFill>
                                  <a:latin typeface="Cambria Math" panose="02040503050406030204" pitchFamily="18" charset="0"/>
                                </a:rPr>
                              </m:ctrlPr>
                            </m:accPr>
                            <m:e>
                              <m:r>
                                <a:rPr lang="en-NZ" altLang="ja-JP" sz="1600" b="1" i="1" smtClean="0">
                                  <a:solidFill>
                                    <a:schemeClr val="tx1"/>
                                  </a:solidFill>
                                  <a:latin typeface="Cambria Math" panose="02040503050406030204" pitchFamily="18" charset="0"/>
                                </a:rPr>
                                <m:t>𝒙</m:t>
                              </m:r>
                            </m:e>
                          </m:acc>
                        </m:num>
                        <m:den>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𝒔</m:t>
                              </m:r>
                            </m:e>
                            <m:sup>
                              <m:r>
                                <a:rPr lang="en-NZ" altLang="ja-JP" sz="1600" b="1" i="1" smtClean="0">
                                  <a:solidFill>
                                    <a:schemeClr val="tx1"/>
                                  </a:solidFill>
                                  <a:latin typeface="Cambria Math" panose="02040503050406030204" pitchFamily="18" charset="0"/>
                                </a:rPr>
                                <m:t>𝟐</m:t>
                              </m:r>
                            </m:sup>
                          </m:sSup>
                        </m:den>
                      </m:f>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𝟎𝟑𝟑𝟗</m:t>
                      </m:r>
                      <m:r>
                        <a:rPr lang="en-NZ" altLang="ja-JP" sz="1600" b="0" i="0" smtClean="0">
                          <a:solidFill>
                            <a:schemeClr val="tx1"/>
                          </a:solidFill>
                          <a:latin typeface="Cambria Math" panose="02040503050406030204" pitchFamily="18" charset="0"/>
                        </a:rPr>
                        <m:t>              </m:t>
                      </m:r>
                      <m:acc>
                        <m:accPr>
                          <m:chr m:val="̂"/>
                          <m:ctrlPr>
                            <a:rPr lang="ja-JP" altLang="en-US" sz="1600" b="1" i="1" smtClean="0">
                              <a:solidFill>
                                <a:schemeClr val="tx1"/>
                              </a:solidFill>
                              <a:latin typeface="Cambria Math" panose="02040503050406030204" pitchFamily="18" charset="0"/>
                            </a:rPr>
                          </m:ctrlPr>
                        </m:accPr>
                        <m:e>
                          <m:r>
                            <a:rPr lang="en-NZ" altLang="ja-JP" sz="1600" b="1" i="1" smtClean="0">
                              <a:solidFill>
                                <a:schemeClr val="tx1"/>
                              </a:solidFill>
                              <a:latin typeface="Cambria Math" panose="02040503050406030204" pitchFamily="18" charset="0"/>
                            </a:rPr>
                            <m:t>𝜶</m:t>
                          </m:r>
                        </m:e>
                      </m:acc>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sSup>
                            <m:sSupPr>
                              <m:ctrlPr>
                                <a:rPr lang="en-NZ" altLang="ja-JP" sz="1600" b="1" i="1" smtClean="0">
                                  <a:solidFill>
                                    <a:schemeClr val="tx1"/>
                                  </a:solidFill>
                                  <a:latin typeface="Cambria Math" panose="02040503050406030204" pitchFamily="18" charset="0"/>
                                </a:rPr>
                              </m:ctrlPr>
                            </m:sSupPr>
                            <m:e>
                              <m:acc>
                                <m:accPr>
                                  <m:chr m:val="̅"/>
                                  <m:ctrlPr>
                                    <a:rPr lang="en-NZ" altLang="ja-JP" sz="1600" b="1" i="1" smtClean="0">
                                      <a:solidFill>
                                        <a:schemeClr val="tx1"/>
                                      </a:solidFill>
                                      <a:latin typeface="Cambria Math" panose="02040503050406030204" pitchFamily="18" charset="0"/>
                                    </a:rPr>
                                  </m:ctrlPr>
                                </m:accPr>
                                <m:e>
                                  <m:r>
                                    <a:rPr lang="en-NZ" altLang="ja-JP" sz="1600" b="1" i="1" smtClean="0">
                                      <a:solidFill>
                                        <a:schemeClr val="tx1"/>
                                      </a:solidFill>
                                      <a:latin typeface="Cambria Math" panose="02040503050406030204" pitchFamily="18" charset="0"/>
                                    </a:rPr>
                                    <m:t>𝒙</m:t>
                                  </m:r>
                                </m:e>
                              </m:acc>
                            </m:e>
                            <m:sup>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𝟐</m:t>
                              </m:r>
                            </m:sup>
                          </m:sSup>
                        </m:num>
                        <m:den>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𝒔</m:t>
                              </m:r>
                            </m:e>
                            <m:sup>
                              <m:r>
                                <a:rPr lang="en-NZ" altLang="ja-JP" sz="1600" b="1" i="1" smtClean="0">
                                  <a:solidFill>
                                    <a:schemeClr val="tx1"/>
                                  </a:solidFill>
                                  <a:latin typeface="Cambria Math" panose="02040503050406030204" pitchFamily="18" charset="0"/>
                                </a:rPr>
                                <m:t>𝟐</m:t>
                              </m:r>
                            </m:sup>
                          </m:sSup>
                        </m:den>
                      </m:f>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𝟐𝟒𝟓𝟗</m:t>
                      </m:r>
                    </m:oMath>
                  </m:oMathPara>
                </a14:m>
                <a:endParaRPr lang="en-NZ" altLang="ja-JP" sz="1600" b="1" dirty="0">
                  <a:solidFill>
                    <a:schemeClr val="tx1"/>
                  </a:solidFill>
                </a:endParaRPr>
              </a:p>
              <a:p>
                <a:pPr algn="ctr">
                  <a:lnSpc>
                    <a:spcPct val="100000"/>
                  </a:lnSpc>
                </a:pPr>
                <a:endParaRPr lang="en-NZ" altLang="ja-JP" sz="1800" b="1" dirty="0">
                  <a:solidFill>
                    <a:schemeClr val="tx1"/>
                  </a:solidFill>
                </a:endParaRPr>
              </a:p>
              <a:p>
                <a:pPr algn="ctr">
                  <a:lnSpc>
                    <a:spcPct val="100000"/>
                  </a:lnSpc>
                </a:pPr>
                <a14:m>
                  <m:oMathPara xmlns:m="http://schemas.openxmlformats.org/officeDocument/2006/math">
                    <m:oMathParaPr>
                      <m:jc m:val="left"/>
                    </m:oMathParaPr>
                    <m:oMath xmlns:m="http://schemas.openxmlformats.org/officeDocument/2006/math">
                      <m:r>
                        <a:rPr lang="en-NZ" altLang="ja-JP" sz="1600" b="1" i="1" smtClean="0">
                          <a:solidFill>
                            <a:schemeClr val="tx1"/>
                          </a:solidFill>
                          <a:latin typeface="Cambria Math" panose="02040503050406030204" pitchFamily="18" charset="0"/>
                        </a:rPr>
                        <m:t>𝒔</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𝒆</m:t>
                      </m:r>
                      <m:r>
                        <a:rPr lang="en-NZ" altLang="ja-JP" sz="1600" b="1" i="1" smtClean="0">
                          <a:solidFill>
                            <a:schemeClr val="tx1"/>
                          </a:solidFill>
                          <a:latin typeface="Cambria Math" panose="02040503050406030204" pitchFamily="18" charset="0"/>
                        </a:rPr>
                        <m:t>.</m:t>
                      </m:r>
                      <m:d>
                        <m:dPr>
                          <m:ctrlPr>
                            <a:rPr lang="en-NZ" altLang="ja-JP" sz="1600" b="1" i="1" smtClean="0">
                              <a:solidFill>
                                <a:schemeClr val="tx1"/>
                              </a:solidFill>
                              <a:latin typeface="Cambria Math" panose="02040503050406030204" pitchFamily="18" charset="0"/>
                            </a:rPr>
                          </m:ctrlPr>
                        </m:dPr>
                        <m:e>
                          <m:acc>
                            <m:accPr>
                              <m:chr m:val="̂"/>
                              <m:ctrlPr>
                                <a:rPr lang="ja-JP" altLang="en-US"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𝜶</m:t>
                              </m:r>
                            </m:e>
                          </m:acc>
                        </m:e>
                      </m:d>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𝟑𝟒𝟎𝟐</m:t>
                      </m:r>
                    </m:oMath>
                  </m:oMathPara>
                </a14:m>
                <a:endParaRPr lang="en-NZ" altLang="ja-JP" sz="1600" b="1" dirty="0">
                  <a:solidFill>
                    <a:schemeClr val="tx1"/>
                  </a:solidFill>
                </a:endParaRPr>
              </a:p>
              <a:p>
                <a:pPr algn="ctr">
                  <a:lnSpc>
                    <a:spcPct val="100000"/>
                  </a:lnSpc>
                </a:pPr>
                <a:endParaRPr lang="en-NZ" altLang="ja-JP" sz="1800" b="1" dirty="0">
                  <a:solidFill>
                    <a:schemeClr val="tx1"/>
                  </a:solidFill>
                </a:endParaRPr>
              </a:p>
              <a:p>
                <a:pPr>
                  <a:lnSpc>
                    <a:spcPct val="100000"/>
                  </a:lnSpc>
                </a:pPr>
                <a:r>
                  <a:rPr lang="en-NZ" altLang="ja-JP" sz="1600" b="1" dirty="0">
                    <a:solidFill>
                      <a:schemeClr val="tx1"/>
                    </a:solidFill>
                  </a:rPr>
                  <a:t>95% CI for </a:t>
                </a:r>
                <a14:m>
                  <m:oMath xmlns:m="http://schemas.openxmlformats.org/officeDocument/2006/math">
                    <m:r>
                      <a:rPr lang="en-NZ" altLang="ja-JP" sz="1600" b="1" i="1" smtClean="0">
                        <a:solidFill>
                          <a:schemeClr val="tx1"/>
                        </a:solidFill>
                        <a:latin typeface="Cambria Math" panose="02040503050406030204" pitchFamily="18" charset="0"/>
                      </a:rPr>
                      <m:t>𝜶</m:t>
                    </m:r>
                    <m:r>
                      <a:rPr lang="en-NZ" altLang="ja-JP" sz="1600" b="1" i="1" smtClean="0">
                        <a:solidFill>
                          <a:schemeClr val="tx1"/>
                        </a:solidFill>
                        <a:latin typeface="Cambria Math" panose="02040503050406030204" pitchFamily="18" charset="0"/>
                      </a:rPr>
                      <m:t>  :  [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𝟓𝟕𝟗𝟏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𝟗𝟏𝟐𝟕</m:t>
                    </m:r>
                    <m:r>
                      <a:rPr lang="en-NZ" altLang="ja-JP" sz="1600" b="1" i="1" smtClean="0">
                        <a:solidFill>
                          <a:schemeClr val="tx1"/>
                        </a:solidFill>
                        <a:latin typeface="Cambria Math" panose="02040503050406030204" pitchFamily="18" charset="0"/>
                      </a:rPr>
                      <m:t> ]</m:t>
                    </m:r>
                  </m:oMath>
                </a14:m>
                <a:endParaRPr lang="en-NZ" altLang="ja-JP" sz="1600" b="1" dirty="0">
                  <a:solidFill>
                    <a:schemeClr val="tx1"/>
                  </a:solidFill>
                </a:endParaRPr>
              </a:p>
            </p:txBody>
          </p:sp>
        </mc:Choice>
        <mc:Fallback>
          <p:sp>
            <p:nvSpPr>
              <p:cNvPr id="2" name="Text Placeholder 5">
                <a:extLst>
                  <a:ext uri="{FF2B5EF4-FFF2-40B4-BE49-F238E27FC236}">
                    <a16:creationId xmlns:a16="http://schemas.microsoft.com/office/drawing/2014/main" id="{583F9C12-D04B-FAFF-20BF-2E3F0F955F9E}"/>
                  </a:ext>
                </a:extLst>
              </p:cNvPr>
              <p:cNvSpPr txBox="1">
                <a:spLocks noRot="1" noChangeAspect="1" noMove="1" noResize="1" noEditPoints="1" noAdjustHandles="1" noChangeArrowheads="1" noChangeShapeType="1" noTextEdit="1"/>
              </p:cNvSpPr>
              <p:nvPr/>
            </p:nvSpPr>
            <p:spPr>
              <a:xfrm>
                <a:off x="5394984" y="1654060"/>
                <a:ext cx="4901031" cy="2175016"/>
              </a:xfrm>
              <a:prstGeom prst="rect">
                <a:avLst/>
              </a:prstGeom>
              <a:blipFill>
                <a:blip r:embed="rId6"/>
                <a:stretch>
                  <a:fillRect l="-622" t="-840"/>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5" name="Text Placeholder 5">
                <a:extLst>
                  <a:ext uri="{FF2B5EF4-FFF2-40B4-BE49-F238E27FC236}">
                    <a16:creationId xmlns:a16="http://schemas.microsoft.com/office/drawing/2014/main" id="{4AE30ED2-A88F-0158-46AD-4801CC7DB69F}"/>
                  </a:ext>
                </a:extLst>
              </p:cNvPr>
              <p:cNvSpPr txBox="1">
                <a:spLocks/>
              </p:cNvSpPr>
              <p:nvPr/>
            </p:nvSpPr>
            <p:spPr>
              <a:xfrm>
                <a:off x="5394984" y="4042334"/>
                <a:ext cx="5460491" cy="20582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500" dirty="0">
                    <a:solidFill>
                      <a:schemeClr val="tx1"/>
                    </a:solidFill>
                  </a:rPr>
                  <a:t>Since the 95% confidence interval for </a:t>
                </a:r>
                <a:r>
                  <a:rPr lang="el-GR" altLang="ja-JP" sz="1500" b="1" i="1" dirty="0">
                    <a:solidFill>
                      <a:schemeClr val="tx1"/>
                    </a:solidFill>
                  </a:rPr>
                  <a:t>α</a:t>
                </a:r>
                <a:r>
                  <a:rPr lang="en-NZ" altLang="ja-JP" sz="1500" dirty="0">
                    <a:solidFill>
                      <a:schemeClr val="tx1"/>
                    </a:solidFill>
                  </a:rPr>
                  <a:t> includes the value 1</a:t>
                </a:r>
              </a:p>
              <a:p>
                <a:pPr marL="285750" indent="-285750" algn="just">
                  <a:lnSpc>
                    <a:spcPct val="100000"/>
                  </a:lnSpc>
                  <a:buFont typeface="Symbol" panose="05050102010706020507" pitchFamily="18" charset="2"/>
                  <a:buChar char="Þ"/>
                </a:pPr>
                <a:r>
                  <a:rPr lang="en-NZ" altLang="ja-JP" sz="1500" dirty="0">
                    <a:solidFill>
                      <a:schemeClr val="tx1"/>
                    </a:solidFill>
                  </a:rPr>
                  <a:t>No evidence against assumption that </a:t>
                </a:r>
                <a14:m>
                  <m:oMath xmlns:m="http://schemas.openxmlformats.org/officeDocument/2006/math">
                    <m:r>
                      <a:rPr lang="en-NZ" altLang="ja-JP" sz="1500" b="1" i="1" smtClean="0">
                        <a:solidFill>
                          <a:schemeClr val="tx1"/>
                        </a:solidFill>
                        <a:latin typeface="Cambria Math" panose="02040503050406030204" pitchFamily="18" charset="0"/>
                      </a:rPr>
                      <m:t>𝜶</m:t>
                    </m:r>
                    <m:r>
                      <a:rPr lang="en-NZ" altLang="ja-JP" sz="1500" b="1" i="1" smtClean="0">
                        <a:solidFill>
                          <a:schemeClr val="tx1"/>
                        </a:solidFill>
                        <a:latin typeface="Cambria Math" panose="02040503050406030204" pitchFamily="18" charset="0"/>
                      </a:rPr>
                      <m:t>=</m:t>
                    </m:r>
                    <m:r>
                      <a:rPr lang="en-NZ" altLang="ja-JP" sz="1500" b="1" i="1" smtClean="0">
                        <a:solidFill>
                          <a:schemeClr val="tx1"/>
                        </a:solidFill>
                        <a:latin typeface="Cambria Math" panose="02040503050406030204" pitchFamily="18" charset="0"/>
                      </a:rPr>
                      <m:t>𝟏</m:t>
                    </m:r>
                  </m:oMath>
                </a14:m>
                <a:r>
                  <a:rPr lang="en-NZ" altLang="ja-JP" sz="1500" b="1" dirty="0">
                    <a:solidFill>
                      <a:schemeClr val="tx1"/>
                    </a:solidFill>
                  </a:rPr>
                  <a:t>.</a:t>
                </a:r>
              </a:p>
              <a:p>
                <a:pPr algn="just">
                  <a:lnSpc>
                    <a:spcPct val="100000"/>
                  </a:lnSpc>
                </a:pPr>
                <a:endParaRPr lang="en-NZ" altLang="ja-JP" sz="1500" b="1" dirty="0">
                  <a:solidFill>
                    <a:schemeClr val="tx1"/>
                  </a:solidFill>
                </a:endParaRPr>
              </a:p>
              <a:p>
                <a:pPr marL="285750" indent="-285750" algn="just">
                  <a:lnSpc>
                    <a:spcPct val="100000"/>
                  </a:lnSpc>
                  <a:buFont typeface="Symbol" panose="05050102010706020507" pitchFamily="18" charset="2"/>
                  <a:buChar char="Þ"/>
                </a:pPr>
                <a:r>
                  <a:rPr lang="en-NZ" altLang="ja-JP" sz="1500" dirty="0">
                    <a:solidFill>
                      <a:schemeClr val="tx1"/>
                    </a:solidFill>
                  </a:rPr>
                  <a:t>No evidence against assumption that the data are drawn a </a:t>
                </a:r>
                <a14:m>
                  <m:oMath xmlns:m="http://schemas.openxmlformats.org/officeDocument/2006/math">
                    <m:r>
                      <a:rPr lang="en-NZ" altLang="ja-JP" sz="1500" b="1" i="1" smtClean="0">
                        <a:solidFill>
                          <a:schemeClr val="tx1"/>
                        </a:solidFill>
                        <a:latin typeface="Cambria Math" panose="02040503050406030204" pitchFamily="18" charset="0"/>
                      </a:rPr>
                      <m:t>𝑮𝒂𝒎𝒎𝒂</m:t>
                    </m:r>
                    <m:d>
                      <m:dPr>
                        <m:ctrlPr>
                          <a:rPr lang="en-NZ" altLang="ja-JP" sz="1500" b="1" i="1" smtClean="0">
                            <a:solidFill>
                              <a:schemeClr val="tx1"/>
                            </a:solidFill>
                            <a:latin typeface="Cambria Math" panose="02040503050406030204" pitchFamily="18" charset="0"/>
                          </a:rPr>
                        </m:ctrlPr>
                      </m:dPr>
                      <m:e>
                        <m:r>
                          <a:rPr lang="en-NZ" altLang="ja-JP" sz="1500" b="1" i="1" smtClean="0">
                            <a:solidFill>
                              <a:schemeClr val="tx1"/>
                            </a:solidFill>
                            <a:latin typeface="Cambria Math" panose="02040503050406030204" pitchFamily="18" charset="0"/>
                          </a:rPr>
                          <m:t>𝟏</m:t>
                        </m:r>
                        <m:r>
                          <a:rPr lang="en-NZ" altLang="ja-JP" sz="1500" b="1" i="1" smtClean="0">
                            <a:solidFill>
                              <a:schemeClr val="tx1"/>
                            </a:solidFill>
                            <a:latin typeface="Cambria Math" panose="02040503050406030204" pitchFamily="18" charset="0"/>
                          </a:rPr>
                          <m:t> ,  </m:t>
                        </m:r>
                        <m:r>
                          <a:rPr lang="en-NZ" altLang="ja-JP" sz="1500" b="1" i="1" smtClean="0">
                            <a:solidFill>
                              <a:schemeClr val="tx1"/>
                            </a:solidFill>
                            <a:latin typeface="Cambria Math" panose="02040503050406030204" pitchFamily="18" charset="0"/>
                          </a:rPr>
                          <m:t>𝝀</m:t>
                        </m:r>
                      </m:e>
                    </m:d>
                    <m:r>
                      <a:rPr lang="en-NZ" altLang="ja-JP" sz="1500" b="1" i="1" smtClean="0">
                        <a:solidFill>
                          <a:schemeClr val="tx1"/>
                        </a:solidFill>
                        <a:latin typeface="Cambria Math" panose="02040503050406030204" pitchFamily="18" charset="0"/>
                      </a:rPr>
                      <m:t>=</m:t>
                    </m:r>
                    <m:r>
                      <a:rPr lang="en-NZ" altLang="ja-JP" sz="1500" b="1" i="0" smtClean="0">
                        <a:solidFill>
                          <a:schemeClr val="tx1"/>
                        </a:solidFill>
                        <a:latin typeface="Cambria Math" panose="02040503050406030204" pitchFamily="18" charset="0"/>
                      </a:rPr>
                      <m:t>𝐞𝐱𝐩</m:t>
                    </m:r>
                    <m:r>
                      <a:rPr lang="en-NZ" altLang="ja-JP" sz="1500" b="1" i="1" smtClean="0">
                        <a:solidFill>
                          <a:schemeClr val="tx1"/>
                        </a:solidFill>
                        <a:latin typeface="Cambria Math" panose="02040503050406030204" pitchFamily="18" charset="0"/>
                      </a:rPr>
                      <m:t>⁡(</m:t>
                    </m:r>
                    <m:r>
                      <a:rPr lang="en-NZ" altLang="ja-JP" sz="1500" b="1" i="1" smtClean="0">
                        <a:solidFill>
                          <a:schemeClr val="tx1"/>
                        </a:solidFill>
                        <a:latin typeface="Cambria Math" panose="02040503050406030204" pitchFamily="18" charset="0"/>
                      </a:rPr>
                      <m:t>𝝀</m:t>
                    </m:r>
                    <m:r>
                      <a:rPr lang="en-NZ" altLang="ja-JP" sz="1500" b="1" i="1" smtClean="0">
                        <a:solidFill>
                          <a:schemeClr val="tx1"/>
                        </a:solidFill>
                        <a:latin typeface="Cambria Math" panose="02040503050406030204" pitchFamily="18" charset="0"/>
                      </a:rPr>
                      <m:t>)</m:t>
                    </m:r>
                  </m:oMath>
                </a14:m>
                <a:r>
                  <a:rPr lang="en-NZ" altLang="ja-JP" sz="1500" b="1" dirty="0">
                    <a:solidFill>
                      <a:schemeClr val="tx1"/>
                    </a:solidFill>
                  </a:rPr>
                  <a:t> </a:t>
                </a:r>
                <a:r>
                  <a:rPr lang="en-NZ" altLang="ja-JP" sz="1500" dirty="0">
                    <a:solidFill>
                      <a:schemeClr val="tx1"/>
                    </a:solidFill>
                  </a:rPr>
                  <a:t>distribution.</a:t>
                </a:r>
              </a:p>
              <a:p>
                <a:pPr marL="285750" indent="-285750" algn="just">
                  <a:lnSpc>
                    <a:spcPct val="100000"/>
                  </a:lnSpc>
                  <a:buFont typeface="Symbol" panose="05050102010706020507" pitchFamily="18" charset="2"/>
                  <a:buChar char="Þ"/>
                </a:pPr>
                <a:endParaRPr lang="en-NZ" altLang="ja-JP" sz="1500" b="1" dirty="0">
                  <a:solidFill>
                    <a:schemeClr val="tx1"/>
                  </a:solidFill>
                </a:endParaRPr>
              </a:p>
              <a:p>
                <a:pPr marL="285750" indent="-285750" algn="just">
                  <a:lnSpc>
                    <a:spcPct val="100000"/>
                  </a:lnSpc>
                  <a:buFont typeface="Symbol" panose="05050102010706020507" pitchFamily="18" charset="2"/>
                  <a:buChar char="Þ"/>
                </a:pPr>
                <a:r>
                  <a:rPr lang="en-NZ" altLang="ja-JP" sz="1500" dirty="0">
                    <a:solidFill>
                      <a:schemeClr val="tx1"/>
                    </a:solidFill>
                  </a:rPr>
                  <a:t>No evidence against assumption that earthquakes along fault line do not exhibit temporal clustering. </a:t>
                </a:r>
                <a:endParaRPr lang="ja-JP" altLang="en-NZ" sz="1500" dirty="0">
                  <a:solidFill>
                    <a:schemeClr val="tx1"/>
                  </a:solidFill>
                </a:endParaRPr>
              </a:p>
            </p:txBody>
          </p:sp>
        </mc:Choice>
        <mc:Fallback>
          <p:sp>
            <p:nvSpPr>
              <p:cNvPr id="5" name="Text Placeholder 5">
                <a:extLst>
                  <a:ext uri="{FF2B5EF4-FFF2-40B4-BE49-F238E27FC236}">
                    <a16:creationId xmlns:a16="http://schemas.microsoft.com/office/drawing/2014/main" id="{4AE30ED2-A88F-0158-46AD-4801CC7DB69F}"/>
                  </a:ext>
                </a:extLst>
              </p:cNvPr>
              <p:cNvSpPr txBox="1">
                <a:spLocks noRot="1" noChangeAspect="1" noMove="1" noResize="1" noEditPoints="1" noAdjustHandles="1" noChangeArrowheads="1" noChangeShapeType="1" noTextEdit="1"/>
              </p:cNvSpPr>
              <p:nvPr/>
            </p:nvSpPr>
            <p:spPr>
              <a:xfrm>
                <a:off x="5394984" y="4042334"/>
                <a:ext cx="5460491" cy="2058255"/>
              </a:xfrm>
              <a:prstGeom prst="rect">
                <a:avLst/>
              </a:prstGeom>
              <a:blipFill>
                <a:blip r:embed="rId7"/>
                <a:stretch>
                  <a:fillRect l="-446" t="-592" r="-446"/>
                </a:stretch>
              </a:blipFill>
            </p:spPr>
            <p:txBody>
              <a:bodyPr/>
              <a:lstStyle/>
              <a:p>
                <a:r>
                  <a:rPr lang="en-NZ">
                    <a:noFill/>
                  </a:rPr>
                  <a:t> </a:t>
                </a:r>
              </a:p>
            </p:txBody>
          </p:sp>
        </mc:Fallback>
      </mc:AlternateContent>
    </p:spTree>
    <p:extLst>
      <p:ext uri="{BB962C8B-B14F-4D97-AF65-F5344CB8AC3E}">
        <p14:creationId xmlns:p14="http://schemas.microsoft.com/office/powerpoint/2010/main" val="387408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2098</TotalTime>
  <Words>5658</Words>
  <Application>Microsoft Office PowerPoint</Application>
  <PresentationFormat>Widescreen</PresentationFormat>
  <Paragraphs>904</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Calibri Light</vt:lpstr>
      <vt:lpstr>Cambria Math</vt:lpstr>
      <vt:lpstr>Coo Hew</vt:lpstr>
      <vt:lpstr>Gidole</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42</cp:revision>
  <dcterms:created xsi:type="dcterms:W3CDTF">2022-04-14T21:34:16Z</dcterms:created>
  <dcterms:modified xsi:type="dcterms:W3CDTF">2022-09-22T14:05:12Z</dcterms:modified>
</cp:coreProperties>
</file>