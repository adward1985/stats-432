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98" r:id="rId4"/>
    <p:sldId id="299" r:id="rId5"/>
    <p:sldId id="300" r:id="rId6"/>
    <p:sldId id="285" r:id="rId7"/>
    <p:sldId id="301" r:id="rId8"/>
    <p:sldId id="310" r:id="rId9"/>
    <p:sldId id="302" r:id="rId10"/>
    <p:sldId id="303" r:id="rId11"/>
    <p:sldId id="304" r:id="rId12"/>
    <p:sldId id="305" r:id="rId13"/>
    <p:sldId id="311" r:id="rId14"/>
    <p:sldId id="30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70" d="100"/>
          <a:sy n="70" d="100"/>
        </p:scale>
        <p:origin x="73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88E7A-606D-C29C-8C86-70C72554CE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7C960E-B662-6AEE-2060-91A38B6A1E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2651FA-2746-E1E4-06FA-D3E59BF28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3CC08-00B5-4BA0-86CB-D2B6EA135BE1}" type="datetimeFigureOut">
              <a:rPr lang="en-NZ" smtClean="0"/>
              <a:t>8/10/2022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5758B3-D584-E620-3459-39EC709E3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4E5F6A-1491-70DB-BAF9-FCB69CB2B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956D9-8D0E-4CE7-B9FE-EAEF17222B42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9133751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A6307-A3AA-28BC-438C-71BC6868F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C9E01F-F600-849F-68F9-066B517697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6C1502-2A83-9272-CAA2-331D15D0C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3CC08-00B5-4BA0-86CB-D2B6EA135BE1}" type="datetimeFigureOut">
              <a:rPr lang="en-NZ" smtClean="0"/>
              <a:t>8/10/2022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539D26-1DEE-2BD8-F4CA-F897D0F6A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F2397-EF8A-1B9B-7481-09600F19B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956D9-8D0E-4CE7-B9FE-EAEF17222B42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2310155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645EB-01DE-1972-1070-1E20F7738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0C4E71-EE7B-8167-5A6B-86A650A466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9AF812-56D4-69B5-F17D-6F5C12367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3CC08-00B5-4BA0-86CB-D2B6EA135BE1}" type="datetimeFigureOut">
              <a:rPr lang="en-NZ" smtClean="0"/>
              <a:t>8/10/2022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4207D7-C8C9-5855-F65D-93C9CAAB6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BB34CF-70EC-276F-84DA-A96783654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956D9-8D0E-4CE7-B9FE-EAEF17222B42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2223453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B2AD9-CC90-961F-779B-A9EFCA972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D8CD07-892D-0D1F-A6B1-8E7F20CC66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719BF4-0DCC-48D6-5B23-1C65EC526B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14B1CD-46A3-52A0-5E3A-A24A9D497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3CC08-00B5-4BA0-86CB-D2B6EA135BE1}" type="datetimeFigureOut">
              <a:rPr lang="en-NZ" smtClean="0"/>
              <a:t>8/10/2022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D56374-0DF6-9FF1-62B2-33CCB14CD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BF205A-F349-F008-29F9-28B48A1E4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956D9-8D0E-4CE7-B9FE-EAEF17222B42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3848248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D6088-5081-E12E-B3AF-E6D442C7F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94EF48-CF89-8C16-7AE0-3DDDFBB6AE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42EDAA-74B5-73E1-A055-5E889B4112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3D9A76-3FD0-90D3-502C-F97DACBC3C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193DAA-742A-3B51-8CB0-4F8A0868E9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D022EC-5029-7646-1065-FE57F72CF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3CC08-00B5-4BA0-86CB-D2B6EA135BE1}" type="datetimeFigureOut">
              <a:rPr lang="en-NZ" smtClean="0"/>
              <a:t>8/10/2022</a:t>
            </a:fld>
            <a:endParaRPr lang="en-N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F15807-247F-8380-9FCF-A4F2B4919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5B25E2-079B-FF99-F394-7C44D3C13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956D9-8D0E-4CE7-B9FE-EAEF17222B42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494299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5F023-B836-D0B1-AA22-4CE89524F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6C4404-817A-8F52-44BF-3960293CB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3CC08-00B5-4BA0-86CB-D2B6EA135BE1}" type="datetimeFigureOut">
              <a:rPr lang="en-NZ" smtClean="0"/>
              <a:t>8/10/2022</a:t>
            </a:fld>
            <a:endParaRPr lang="en-N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7FC5A8-3A81-00C6-C0A8-F0E2E42AC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51FEA0-9E97-1C84-D557-2A31C2CB0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956D9-8D0E-4CE7-B9FE-EAEF17222B42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2020828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B94BCC-007F-DECE-DCB9-43E3C251E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3CC08-00B5-4BA0-86CB-D2B6EA135BE1}" type="datetimeFigureOut">
              <a:rPr lang="en-NZ" smtClean="0"/>
              <a:t>8/10/2022</a:t>
            </a:fld>
            <a:endParaRPr lang="en-N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1B59DE-DBDD-F201-1286-108198663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E6AA5B-A42E-CDB0-4CDD-56BA3994F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956D9-8D0E-4CE7-B9FE-EAEF17222B42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067500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86C8E-BA65-63DB-3E60-856FC4834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2A004A-DFA1-4D6F-D7E0-46B0EB95BC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EFC0F4-C854-40F4-D14A-8294960172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46FC3D-89A3-A9BA-C477-FC1725E6C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3CC08-00B5-4BA0-86CB-D2B6EA135BE1}" type="datetimeFigureOut">
              <a:rPr lang="en-NZ" smtClean="0"/>
              <a:t>8/10/2022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C252E9-DD3D-8F7C-1F09-737F85E03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FF26CC-11AB-748B-26CA-23B2A30AF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956D9-8D0E-4CE7-B9FE-EAEF17222B42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0238182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71D9F-4224-F5B8-4F12-4CA55F572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29761B-6C0B-63DA-1C2C-6ACC7998DE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4BFEB9-89A7-D7A2-B7E4-B8276B2146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409EA7-A83D-EF8A-0C82-8BBE59815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3CC08-00B5-4BA0-86CB-D2B6EA135BE1}" type="datetimeFigureOut">
              <a:rPr lang="en-NZ" smtClean="0"/>
              <a:t>8/10/2022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CF74A8-C71D-C75E-AEB5-C74849DE1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E2E1C0-6806-D501-C7BC-13D9E0DE4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956D9-8D0E-4CE7-B9FE-EAEF17222B42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8695151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E31B1-A240-DAD8-F709-25A0252CD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1BF2A1-02DE-62D7-870C-AF3BB9663E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DCFD0F-6A1A-88CE-E721-1B6863AA1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3CC08-00B5-4BA0-86CB-D2B6EA135BE1}" type="datetimeFigureOut">
              <a:rPr lang="en-NZ" smtClean="0"/>
              <a:t>8/10/2022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782B12-F846-CB91-F212-05DF3FA46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2A65A-B7BB-EC5A-93A3-C044D8484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956D9-8D0E-4CE7-B9FE-EAEF17222B42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048036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0B4B28-CEF5-BDF2-CE8F-37EE8FD788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BEC245-8D85-D58D-F97E-16002ADFFF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C3B1F7-290C-7841-F175-5AC93E8EB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3CC08-00B5-4BA0-86CB-D2B6EA135BE1}" type="datetimeFigureOut">
              <a:rPr lang="en-NZ" smtClean="0"/>
              <a:t>8/10/2022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285A33-B8D8-766E-AB02-DC64B3EA1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3DF7F9-9071-192A-3C95-CCF95CF43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956D9-8D0E-4CE7-B9FE-EAEF17222B42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5927695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402307-1E48-88BC-825A-D9370F1DC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07CE67-7F59-19ED-2A6D-47CA9B7F66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7A83BF-7EE0-5213-EAAA-F9FA4AE1BC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93CC08-00B5-4BA0-86CB-D2B6EA135BE1}" type="datetimeFigureOut">
              <a:rPr lang="en-NZ" smtClean="0"/>
              <a:t>8/10/2022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8A388D-59A1-973B-023B-DF838C2F24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C1668-FD38-D9D5-2E7E-FAACF42825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0956D9-8D0E-4CE7-B9FE-EAEF17222B42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535375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25.png"/><Relationship Id="rId2" Type="http://schemas.openxmlformats.org/officeDocument/2006/relationships/image" Target="../media/image2.png"/><Relationship Id="rId16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5" Type="http://schemas.openxmlformats.org/officeDocument/2006/relationships/image" Target="../media/image2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3.png"/><Relationship Id="rId7" Type="http://schemas.openxmlformats.org/officeDocument/2006/relationships/image" Target="../media/image2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31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2.png"/><Relationship Id="rId7" Type="http://schemas.openxmlformats.org/officeDocument/2006/relationships/image" Target="../media/image37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Relationship Id="rId9" Type="http://schemas.openxmlformats.org/officeDocument/2006/relationships/image" Target="../media/image4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4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7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0" name="Rectangle 72">
            <a:extLst>
              <a:ext uri="{FF2B5EF4-FFF2-40B4-BE49-F238E27FC236}">
                <a16:creationId xmlns:a16="http://schemas.microsoft.com/office/drawing/2014/main" id="{FD073016-B734-483B-8953-5BADEE145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8600" y="0"/>
            <a:ext cx="8157458" cy="6858000"/>
          </a:xfrm>
          <a:prstGeom prst="rect">
            <a:avLst/>
          </a:prstGeom>
          <a:gradFill>
            <a:gsLst>
              <a:gs pos="2000">
                <a:schemeClr val="accent1"/>
              </a:gs>
              <a:gs pos="78000">
                <a:schemeClr val="accent1">
                  <a:lumMod val="50000"/>
                </a:schemeClr>
              </a:gs>
              <a:gs pos="100000">
                <a:srgbClr val="000000">
                  <a:alpha val="85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1" name="Rectangle 74">
            <a:extLst>
              <a:ext uri="{FF2B5EF4-FFF2-40B4-BE49-F238E27FC236}">
                <a16:creationId xmlns:a16="http://schemas.microsoft.com/office/drawing/2014/main" id="{90A7EAB6-59D3-4325-8DE6-E0CA4009C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4537" y="1839884"/>
            <a:ext cx="8157460" cy="5017687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30000"/>
                </a:schemeClr>
              </a:gs>
              <a:gs pos="100000">
                <a:srgbClr val="000000">
                  <a:alpha val="44000"/>
                </a:srgb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2" name="Rectangle 76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063179" y="-33131"/>
            <a:ext cx="6857999" cy="6923403"/>
          </a:xfrm>
          <a:prstGeom prst="rect">
            <a:avLst/>
          </a:prstGeom>
          <a:gradFill>
            <a:gsLst>
              <a:gs pos="56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26" name="Picture 2" descr="Programmes and courses | Study at Wellington | Victoria University of  Wellington">
            <a:extLst>
              <a:ext uri="{FF2B5EF4-FFF2-40B4-BE49-F238E27FC236}">
                <a16:creationId xmlns:a16="http://schemas.microsoft.com/office/drawing/2014/main" id="{087F352A-9067-4A20-840B-9F57464891D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5" r="1" b="1"/>
          <a:stretch/>
        </p:blipFill>
        <p:spPr bwMode="auto">
          <a:xfrm>
            <a:off x="457200" y="457200"/>
            <a:ext cx="11277600" cy="594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F6EF4C4-5CC1-4D9D-A4EE-9A6C2CC6D81C}"/>
              </a:ext>
            </a:extLst>
          </p:cNvPr>
          <p:cNvSpPr txBox="1"/>
          <p:nvPr/>
        </p:nvSpPr>
        <p:spPr>
          <a:xfrm>
            <a:off x="3858329" y="913501"/>
            <a:ext cx="692340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NZ" sz="3500" b="1" i="0" u="sng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STATS 432 </a:t>
            </a:r>
            <a:br>
              <a:rPr kumimoji="0" lang="en-NZ" sz="3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NZ" sz="3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Computational Statistics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EE56936-A4AA-8EC2-C5FA-0716046CB41F}"/>
              </a:ext>
            </a:extLst>
          </p:cNvPr>
          <p:cNvSpPr txBox="1"/>
          <p:nvPr/>
        </p:nvSpPr>
        <p:spPr>
          <a:xfrm>
            <a:off x="4038600" y="4646474"/>
            <a:ext cx="692340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NZ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Chapter 9 – Metropolis Hastings Algorithm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NZ" sz="2800" dirty="0">
                <a:solidFill>
                  <a:srgbClr val="FFC000"/>
                </a:solidFill>
                <a:latin typeface="Calibri" panose="020F0502020204030204"/>
              </a:rPr>
              <a:t>Additional Slides</a:t>
            </a:r>
            <a:endParaRPr kumimoji="0" lang="en-NZ" sz="28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7869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0" name="Rectangle 72">
            <a:extLst>
              <a:ext uri="{FF2B5EF4-FFF2-40B4-BE49-F238E27FC236}">
                <a16:creationId xmlns:a16="http://schemas.microsoft.com/office/drawing/2014/main" id="{FD073016-B734-483B-8953-5BADEE145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8600" y="0"/>
            <a:ext cx="8157458" cy="6858000"/>
          </a:xfrm>
          <a:prstGeom prst="rect">
            <a:avLst/>
          </a:prstGeom>
          <a:gradFill>
            <a:gsLst>
              <a:gs pos="2000">
                <a:schemeClr val="accent1"/>
              </a:gs>
              <a:gs pos="78000">
                <a:schemeClr val="accent1">
                  <a:lumMod val="50000"/>
                </a:schemeClr>
              </a:gs>
              <a:gs pos="100000">
                <a:srgbClr val="000000">
                  <a:alpha val="85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1" name="Rectangle 74">
            <a:extLst>
              <a:ext uri="{FF2B5EF4-FFF2-40B4-BE49-F238E27FC236}">
                <a16:creationId xmlns:a16="http://schemas.microsoft.com/office/drawing/2014/main" id="{90A7EAB6-59D3-4325-8DE6-E0CA4009C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4537" y="1839884"/>
            <a:ext cx="8157460" cy="5017687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30000"/>
                </a:schemeClr>
              </a:gs>
              <a:gs pos="100000">
                <a:srgbClr val="000000">
                  <a:alpha val="44000"/>
                </a:srgb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2" name="Rectangle 76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063179" y="-33131"/>
            <a:ext cx="6857999" cy="6923403"/>
          </a:xfrm>
          <a:prstGeom prst="rect">
            <a:avLst/>
          </a:prstGeom>
          <a:gradFill>
            <a:gsLst>
              <a:gs pos="56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14062D-E1C1-4F63-B0FD-D013BDA5782B}"/>
              </a:ext>
            </a:extLst>
          </p:cNvPr>
          <p:cNvSpPr txBox="1"/>
          <p:nvPr/>
        </p:nvSpPr>
        <p:spPr>
          <a:xfrm>
            <a:off x="43707" y="2690336"/>
            <a:ext cx="1210458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NZ" sz="45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Overview of the Metropolis </a:t>
            </a:r>
            <a:br>
              <a:rPr kumimoji="0" lang="en-NZ" sz="45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NZ" sz="45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Hastings Algorithm</a:t>
            </a:r>
          </a:p>
        </p:txBody>
      </p:sp>
      <p:pic>
        <p:nvPicPr>
          <p:cNvPr id="1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078A8151-9BD3-4B62-8210-A87BCD0941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16733"/>
            <a:ext cx="2185386" cy="741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13263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13" name="Title 6">
            <a:extLst>
              <a:ext uri="{FF2B5EF4-FFF2-40B4-BE49-F238E27FC236}">
                <a16:creationId xmlns:a16="http://schemas.microsoft.com/office/drawing/2014/main" id="{FD2C4CF4-30F1-9DA9-D749-20B09F41A56D}"/>
              </a:ext>
            </a:extLst>
          </p:cNvPr>
          <p:cNvSpPr txBox="1">
            <a:spLocks/>
          </p:cNvSpPr>
          <p:nvPr/>
        </p:nvSpPr>
        <p:spPr>
          <a:xfrm>
            <a:off x="319463" y="196889"/>
            <a:ext cx="8168429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Overview of MH Algorithm:</a:t>
            </a:r>
            <a:endParaRPr kumimoji="1" lang="ja-JP" altLang="en-US" sz="3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 Light" panose="020B0300000000000000" pitchFamily="34" charset="-128"/>
              <a:cs typeface="+mj-cs"/>
            </a:endParaRPr>
          </a:p>
        </p:txBody>
      </p:sp>
      <p:sp>
        <p:nvSpPr>
          <p:cNvPr id="14" name="Footer Placeholder 2">
            <a:extLst>
              <a:ext uri="{FF2B5EF4-FFF2-40B4-BE49-F238E27FC236}">
                <a16:creationId xmlns:a16="http://schemas.microsoft.com/office/drawing/2014/main" id="{F23D8DA0-8D1C-7514-B036-BE52E81A1B5D}"/>
              </a:ext>
            </a:extLst>
          </p:cNvPr>
          <p:cNvSpPr txBox="1">
            <a:spLocks/>
          </p:cNvSpPr>
          <p:nvPr/>
        </p:nvSpPr>
        <p:spPr>
          <a:xfrm>
            <a:off x="8993875" y="86139"/>
            <a:ext cx="30954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Overview of MH Algorithm</a:t>
            </a: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EDDDD"/>
              </a:solidFill>
              <a:effectLst/>
              <a:uLnTx/>
              <a:uFillTx/>
              <a:latin typeface="Gidole"/>
              <a:ea typeface="游ゴシック" panose="020B0400000000000000" pitchFamily="34" charset="-128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Placeholder 5">
                <a:extLst>
                  <a:ext uri="{FF2B5EF4-FFF2-40B4-BE49-F238E27FC236}">
                    <a16:creationId xmlns:a16="http://schemas.microsoft.com/office/drawing/2014/main" id="{CB0D66C3-7ACA-92D1-2B70-5AE19B8D1E1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2" y="851853"/>
                <a:ext cx="11608680" cy="365125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lang="en-NZ" altLang="ja-JP" sz="1800" dirty="0">
                    <a:solidFill>
                      <a:schemeClr val="tx1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Consider</a:t>
                </a:r>
                <a:r>
                  <a:rPr kumimoji="1" lang="en-NZ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the random variable </a:t>
                </a:r>
                <a14:m>
                  <m:oMath xmlns:m="http://schemas.openxmlformats.org/officeDocument/2006/math"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  <a:cs typeface="+mn-cs"/>
                      </a:rPr>
                      <m:t>𝑿</m:t>
                    </m:r>
                  </m:oMath>
                </a14:m>
                <a:r>
                  <a:rPr kumimoji="1" lang="en-NZ" altLang="ja-JP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</a:t>
                </a:r>
                <a:r>
                  <a:rPr kumimoji="1" lang="en-NZ" altLang="ja-JP" sz="180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defined by the probability</a:t>
                </a:r>
                <a:r>
                  <a:rPr kumimoji="1" lang="en-NZ" altLang="ja-JP" sz="1800" i="0" u="none" strike="noStrike" kern="1200" cap="none" spc="0" normalizeH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density function…</a:t>
                </a:r>
                <a:endParaRPr kumimoji="1" lang="en-US" altLang="ja-JP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5" name="Text Placeholder 5">
                <a:extLst>
                  <a:ext uri="{FF2B5EF4-FFF2-40B4-BE49-F238E27FC236}">
                    <a16:creationId xmlns:a16="http://schemas.microsoft.com/office/drawing/2014/main" id="{CB0D66C3-7ACA-92D1-2B70-5AE19B8D1E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2" y="851853"/>
                <a:ext cx="11608680" cy="365125"/>
              </a:xfrm>
              <a:prstGeom prst="rect">
                <a:avLst/>
              </a:prstGeom>
              <a:blipFill>
                <a:blip r:embed="rId3"/>
                <a:stretch>
                  <a:fillRect l="-420" t="-10000" b="-26667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Placeholder 5">
                <a:extLst>
                  <a:ext uri="{FF2B5EF4-FFF2-40B4-BE49-F238E27FC236}">
                    <a16:creationId xmlns:a16="http://schemas.microsoft.com/office/drawing/2014/main" id="{DBE0F8DF-7F79-CE23-F326-8C414904950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43713" y="1216978"/>
                <a:ext cx="7904572" cy="729863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  <m:t>𝒇</m:t>
                          </m:r>
                        </m:e>
                        <m:sub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  <m:t>𝑿</m:t>
                          </m:r>
                        </m:sub>
                      </m:sSub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(</m:t>
                      </m:r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𝒙</m:t>
                      </m:r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) =  </m:t>
                      </m:r>
                      <m:d>
                        <m:dPr>
                          <m:begChr m:val="{"/>
                          <m:endChr m:val=""/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  <a:cs typeface="+mn-cs"/>
                                </a:rPr>
                              </m:ctrlPr>
                            </m:mPr>
                            <m:mr>
                              <m:e>
                                <m:r>
                                  <a:rPr kumimoji="1" lang="en-NZ" altLang="ja-JP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  <a:cs typeface="+mn-cs"/>
                                  </a:rPr>
                                  <m:t>𝑨</m:t>
                                </m:r>
                                <m:r>
                                  <a:rPr kumimoji="1" lang="en-NZ" altLang="ja-JP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  <a:cs typeface="+mn-cs"/>
                                  </a:rPr>
                                  <m:t> </m:t>
                                </m:r>
                                <m:r>
                                  <a:rPr kumimoji="1" lang="en-NZ" altLang="ja-JP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  <a:cs typeface="+mn-cs"/>
                                  </a:rPr>
                                  <m:t>𝒙</m:t>
                                </m:r>
                                <m:r>
                                  <a:rPr kumimoji="1" lang="en-NZ" altLang="ja-JP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  <a:cs typeface="+mn-cs"/>
                                  </a:rPr>
                                  <m:t> </m:t>
                                </m:r>
                                <m:sSup>
                                  <m:sSupPr>
                                    <m:ctrlPr>
                                      <a:rPr kumimoji="1" lang="en-NZ" altLang="ja-JP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1" lang="en-NZ" altLang="ja-JP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  <a:cs typeface="+mn-cs"/>
                                      </a:rPr>
                                      <m:t>𝒆</m:t>
                                    </m:r>
                                  </m:e>
                                  <m:sup>
                                    <m:r>
                                      <a:rPr kumimoji="1" lang="en-NZ" altLang="ja-JP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  <a:cs typeface="+mn-cs"/>
                                      </a:rPr>
                                      <m:t>−</m:t>
                                    </m:r>
                                    <m:r>
                                      <a:rPr kumimoji="1" lang="en-NZ" altLang="ja-JP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  <a:cs typeface="+mn-cs"/>
                                      </a:rPr>
                                      <m:t>𝒙</m:t>
                                    </m:r>
                                  </m:sup>
                                </m:sSup>
                              </m:e>
                              <m:e>
                                <m:r>
                                  <a:rPr kumimoji="1" lang="en-NZ" altLang="ja-JP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  <a:cs typeface="+mn-cs"/>
                                  </a:rPr>
                                  <m:t>𝒊𝒇</m:t>
                                </m:r>
                                <m:r>
                                  <a:rPr kumimoji="1" lang="en-NZ" altLang="ja-JP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  <a:cs typeface="+mn-cs"/>
                                  </a:rPr>
                                  <m:t> </m:t>
                                </m:r>
                                <m:r>
                                  <a:rPr kumimoji="1" lang="en-NZ" altLang="ja-JP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  <a:cs typeface="+mn-cs"/>
                                  </a:rPr>
                                  <m:t>𝒙</m:t>
                                </m:r>
                                <m:r>
                                  <a:rPr kumimoji="1" lang="en-NZ" altLang="ja-JP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  <a:cs typeface="+mn-cs"/>
                                  </a:rPr>
                                  <m:t>∈[</m:t>
                                </m:r>
                                <m:r>
                                  <a:rPr kumimoji="1" lang="en-NZ" altLang="ja-JP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  <a:cs typeface="+mn-cs"/>
                                  </a:rPr>
                                  <m:t>𝟎</m:t>
                                </m:r>
                                <m:r>
                                  <a:rPr kumimoji="1" lang="en-NZ" altLang="ja-JP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  <a:cs typeface="+mn-cs"/>
                                  </a:rPr>
                                  <m:t>,</m:t>
                                </m:r>
                                <m:r>
                                  <a:rPr kumimoji="1" lang="en-NZ" altLang="ja-JP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  <a:cs typeface="+mn-cs"/>
                                  </a:rPr>
                                  <m:t>𝟏𝟎𝟎</m:t>
                                </m:r>
                                <m:r>
                                  <a:rPr kumimoji="1" lang="en-NZ" altLang="ja-JP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  <a:cs typeface="+mn-cs"/>
                                  </a:rPr>
                                  <m:t>]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en-NZ" altLang="ja-JP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  <a:cs typeface="+mn-cs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kumimoji="1" lang="en-NZ" altLang="ja-JP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  <a:cs typeface="+mn-cs"/>
                                  </a:rPr>
                                  <m:t>𝒐𝒕𝒉𝒆𝒓𝒘𝒊𝒔𝒆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1" lang="en-NZ" altLang="ja-JP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1" lang="en-US" altLang="ja-JP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</a:t>
                </a:r>
              </a:p>
            </p:txBody>
          </p:sp>
        </mc:Choice>
        <mc:Fallback xmlns="">
          <p:sp>
            <p:nvSpPr>
              <p:cNvPr id="6" name="Text Placeholder 5">
                <a:extLst>
                  <a:ext uri="{FF2B5EF4-FFF2-40B4-BE49-F238E27FC236}">
                    <a16:creationId xmlns:a16="http://schemas.microsoft.com/office/drawing/2014/main" id="{DBE0F8DF-7F79-CE23-F326-8C41490495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3713" y="1216978"/>
                <a:ext cx="7904572" cy="72986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Placeholder 5">
                <a:extLst>
                  <a:ext uri="{FF2B5EF4-FFF2-40B4-BE49-F238E27FC236}">
                    <a16:creationId xmlns:a16="http://schemas.microsoft.com/office/drawing/2014/main" id="{3A1C3725-4266-5A44-7363-7F56561D6D4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960164" y="1358987"/>
                <a:ext cx="3599996" cy="549813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NZ" altLang="ja-JP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𝑨</m:t>
                      </m:r>
                      <m:r>
                        <a:rPr lang="en-NZ" altLang="ja-JP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=</m:t>
                      </m:r>
                      <m:d>
                        <m:dPr>
                          <m:ctrlPr>
                            <a:rPr lang="en-NZ" altLang="ja-JP" sz="1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</m:ctrlPr>
                        </m:dPr>
                        <m:e>
                          <m:r>
                            <a:rPr lang="en-NZ" altLang="ja-JP" sz="1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𝟏</m:t>
                          </m:r>
                          <m:r>
                            <a:rPr lang="en-NZ" altLang="ja-JP" sz="1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 −</m:t>
                          </m:r>
                          <m:r>
                            <a:rPr lang="en-NZ" altLang="ja-JP" sz="1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𝟏𝟎𝟏</m:t>
                          </m:r>
                          <m:sSup>
                            <m:sSupPr>
                              <m:ctrlPr>
                                <a:rPr lang="en-NZ" altLang="ja-JP" sz="12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</a:rPr>
                              </m:ctrlPr>
                            </m:sSupPr>
                            <m:e>
                              <m:r>
                                <a:rPr lang="en-NZ" altLang="ja-JP" sz="12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en-NZ" altLang="ja-JP" sz="12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</a:rPr>
                                <m:t>−</m:t>
                              </m:r>
                              <m:r>
                                <a:rPr lang="en-NZ" altLang="ja-JP" sz="12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</a:rPr>
                                <m:t>𝟏𝟎𝟎</m:t>
                              </m:r>
                            </m:sup>
                          </m:sSup>
                        </m:e>
                      </m:d>
                      <m:r>
                        <a:rPr lang="en-NZ" altLang="ja-JP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 </m:t>
                      </m:r>
                      <m:r>
                        <a:rPr lang="en-NZ" altLang="ja-JP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NZ" altLang="ja-JP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kumimoji="1" lang="en-US" altLang="ja-JP" sz="12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  <a:p>
                <a:pPr marL="0" marR="0" lvl="0" indent="0" algn="ctr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1" lang="en-US" altLang="ja-JP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is a normalizing constant</a:t>
                </a:r>
              </a:p>
            </p:txBody>
          </p:sp>
        </mc:Choice>
        <mc:Fallback xmlns="">
          <p:sp>
            <p:nvSpPr>
              <p:cNvPr id="7" name="Text Placeholder 5">
                <a:extLst>
                  <a:ext uri="{FF2B5EF4-FFF2-40B4-BE49-F238E27FC236}">
                    <a16:creationId xmlns:a16="http://schemas.microsoft.com/office/drawing/2014/main" id="{3A1C3725-4266-5A44-7363-7F56561D6D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0164" y="1358987"/>
                <a:ext cx="3599996" cy="54981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Placeholder 5">
                <a:extLst>
                  <a:ext uri="{FF2B5EF4-FFF2-40B4-BE49-F238E27FC236}">
                    <a16:creationId xmlns:a16="http://schemas.microsoft.com/office/drawing/2014/main" id="{7F228EB7-31EE-57D6-02D3-89F2B5F8522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2" y="1849792"/>
                <a:ext cx="11608680" cy="579865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lang="en-NZ" altLang="ja-JP" sz="1800" dirty="0">
                    <a:solidFill>
                      <a:schemeClr val="tx1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… and the function </a:t>
                </a:r>
                <a14:m>
                  <m:oMath xmlns:m="http://schemas.openxmlformats.org/officeDocument/2006/math">
                    <m:r>
                      <a:rPr lang="en-NZ" altLang="ja-JP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𝒈</m:t>
                    </m:r>
                    <m:d>
                      <m:dPr>
                        <m:ctrlPr>
                          <a:rPr lang="en-NZ" altLang="ja-JP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</m:ctrlPr>
                      </m:dPr>
                      <m:e>
                        <m:r>
                          <a:rPr lang="en-NZ" altLang="ja-JP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𝒙</m:t>
                        </m:r>
                      </m:e>
                    </m:d>
                    <m:r>
                      <a:rPr lang="en-NZ" altLang="ja-JP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=</m:t>
                    </m:r>
                    <m:f>
                      <m:fPr>
                        <m:ctrlPr>
                          <a:rPr lang="en-NZ" altLang="ja-JP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n-NZ" altLang="ja-JP" sz="1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</m:ctrlPr>
                          </m:funcPr>
                          <m:fName>
                            <m:r>
                              <a:rPr lang="en-NZ" altLang="ja-JP" sz="1800" b="1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  <m:t>𝐥𝐧</m:t>
                            </m:r>
                          </m:fName>
                          <m:e>
                            <m:d>
                              <m:dPr>
                                <m:ctrlPr>
                                  <a:rPr lang="en-NZ" altLang="ja-JP" sz="1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</m:ctrlPr>
                              </m:dPr>
                              <m:e>
                                <m:r>
                                  <a:rPr lang="en-NZ" altLang="ja-JP" sz="1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𝒙</m:t>
                                </m:r>
                                <m:r>
                                  <a:rPr lang="en-NZ" altLang="ja-JP" sz="1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+</m:t>
                                </m:r>
                                <m:r>
                                  <a:rPr lang="en-NZ" altLang="ja-JP" sz="1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𝟐</m:t>
                                </m:r>
                              </m:e>
                            </m:d>
                          </m:e>
                        </m:func>
                      </m:num>
                      <m:den>
                        <m:func>
                          <m:funcPr>
                            <m:ctrlPr>
                              <a:rPr lang="en-NZ" altLang="ja-JP" sz="1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</m:ctrlPr>
                          </m:funcPr>
                          <m:fName>
                            <m:r>
                              <a:rPr lang="en-NZ" altLang="ja-JP" sz="1800" b="1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  <m:t>𝐜𝐨𝐬</m:t>
                            </m:r>
                          </m:fName>
                          <m:e>
                            <m:r>
                              <a:rPr lang="en-NZ" altLang="ja-JP" sz="1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  <m:t>(√</m:t>
                            </m:r>
                            <m:r>
                              <a:rPr lang="en-NZ" altLang="ja-JP" sz="1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  <m:t>𝒙</m:t>
                            </m:r>
                          </m:e>
                        </m:func>
                        <m:r>
                          <a:rPr lang="en-NZ" altLang="ja-JP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)+</m:t>
                        </m:r>
                        <m:r>
                          <a:rPr lang="en-NZ" altLang="ja-JP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𝟏</m:t>
                        </m:r>
                      </m:den>
                    </m:f>
                  </m:oMath>
                </a14:m>
                <a:endParaRPr kumimoji="1" lang="en-US" altLang="ja-JP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8" name="Text Placeholder 5">
                <a:extLst>
                  <a:ext uri="{FF2B5EF4-FFF2-40B4-BE49-F238E27FC236}">
                    <a16:creationId xmlns:a16="http://schemas.microsoft.com/office/drawing/2014/main" id="{7F228EB7-31EE-57D6-02D3-89F2B5F852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2" y="1849792"/>
                <a:ext cx="11608680" cy="579865"/>
              </a:xfrm>
              <a:prstGeom prst="rect">
                <a:avLst/>
              </a:prstGeom>
              <a:blipFill>
                <a:blip r:embed="rId6"/>
                <a:stretch>
                  <a:fillRect l="-420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Placeholder 5">
                <a:extLst>
                  <a:ext uri="{FF2B5EF4-FFF2-40B4-BE49-F238E27FC236}">
                    <a16:creationId xmlns:a16="http://schemas.microsoft.com/office/drawing/2014/main" id="{EE0ACB83-B8FD-7B82-2804-6FD79DEB7F8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2" y="2666800"/>
                <a:ext cx="11608680" cy="126335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1" lang="en-NZ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Suppose that we want</a:t>
                </a:r>
                <a:r>
                  <a:rPr kumimoji="1" lang="en-NZ" altLang="ja-JP" sz="1800" b="0" i="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to evaluate the integral</a:t>
                </a:r>
              </a:p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lang="en-NZ" altLang="ja-JP" sz="200" baseline="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200" b="0" i="0" u="none" strike="noStrike" kern="1200" cap="none" spc="0" normalizeH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lvl="0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𝑬</m:t>
                          </m:r>
                        </m:e>
                        <m:sub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𝒇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𝒈</m:t>
                          </m:r>
                          <m:d>
                            <m:dPr>
                              <m:ctrlP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𝑿</m:t>
                              </m:r>
                            </m:e>
                          </m:d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</m:e>
                      </m:d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 ≡  </m:t>
                      </m:r>
                      <m:nary>
                        <m:naryPr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naryPr>
                        <m:sub>
                          <m:r>
                            <a:rPr kumimoji="1" lang="en-NZ" altLang="ja-JP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𝛀</m:t>
                          </m:r>
                        </m:sub>
                        <m:sup/>
                        <m:e>
                          <m:r>
                            <a:rPr lang="en-NZ" altLang="ja-JP" sz="1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𝒈</m:t>
                          </m:r>
                          <m:d>
                            <m:dPr>
                              <m:ctrlPr>
                                <a:rPr lang="en-NZ" altLang="ja-JP" sz="18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NZ" altLang="ja-JP" sz="18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  <m:r>
                            <a:rPr lang="en-NZ" altLang="ja-JP" sz="1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NZ" altLang="ja-JP" sz="18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altLang="ja-JP" sz="18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𝒇</m:t>
                              </m:r>
                            </m:e>
                            <m:sub>
                              <m:r>
                                <a:rPr lang="en-NZ" altLang="ja-JP" sz="18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  <m:d>
                            <m:dPr>
                              <m:ctrlPr>
                                <a:rPr lang="en-NZ" altLang="ja-JP" sz="18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NZ" altLang="ja-JP" sz="18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  <m:r>
                            <a:rPr lang="en-NZ" altLang="ja-JP" sz="1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NZ" altLang="ja-JP" sz="1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𝒅𝒙</m:t>
                          </m:r>
                        </m:e>
                      </m:nary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=  </m:t>
                      </m:r>
                      <m:nary>
                        <m:naryPr>
                          <m:ctrlPr>
                            <a:rPr lang="en-NZ" altLang="ja-JP" sz="1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NZ" altLang="ja-JP" sz="1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NZ" altLang="ja-JP" sz="1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𝟏𝟎𝟎</m:t>
                          </m:r>
                        </m:sup>
                        <m:e>
                          <m:f>
                            <m:fPr>
                              <m:ctrlPr>
                                <a:rPr lang="en-NZ" altLang="ja-JP" sz="1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func>
                                <m:funcPr>
                                  <m:ctrlPr>
                                    <a:rPr lang="en-NZ" altLang="ja-JP" sz="18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a:rPr lang="en-NZ" altLang="ja-JP" sz="18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𝒍𝒏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NZ" altLang="ja-JP" sz="18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NZ" altLang="ja-JP" sz="18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  <m:r>
                                        <a:rPr lang="en-NZ" altLang="ja-JP" sz="18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NZ" altLang="ja-JP" sz="18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e>
                                  </m:d>
                                </m:e>
                              </m:func>
                            </m:num>
                            <m:den>
                              <m:func>
                                <m:funcPr>
                                  <m:ctrlPr>
                                    <a:rPr lang="en-NZ" altLang="ja-JP" sz="18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a:rPr lang="en-NZ" altLang="ja-JP" sz="18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𝒄𝒐𝒔</m:t>
                                  </m:r>
                                </m:fName>
                                <m:e>
                                  <m:r>
                                    <a:rPr lang="en-NZ" altLang="ja-JP" sz="18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en-NZ" altLang="ja-JP" sz="18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NZ" altLang="ja-JP" sz="18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rad>
                                </m:e>
                              </m:func>
                              <m:r>
                                <a:rPr lang="en-NZ" altLang="ja-JP" sz="1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)+</m:t>
                              </m:r>
                              <m:r>
                                <a:rPr lang="en-NZ" altLang="ja-JP" sz="1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den>
                          </m:f>
                          <m:r>
                            <a:rPr lang="en-NZ" altLang="ja-JP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NZ" altLang="ja-JP" sz="1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  <m:r>
                            <a:rPr lang="en-NZ" altLang="ja-JP" sz="1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NZ" altLang="ja-JP" sz="1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NZ" altLang="ja-JP" sz="1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NZ" altLang="ja-JP" sz="1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NZ" altLang="ja-JP" sz="1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en-NZ" altLang="ja-JP" sz="1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NZ" altLang="ja-JP" sz="1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sup>
                          </m:sSup>
                          <m:r>
                            <a:rPr lang="en-NZ" altLang="ja-JP" sz="1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𝒅𝒙</m:t>
                          </m:r>
                        </m:e>
                      </m:nary>
                    </m:oMath>
                  </m:oMathPara>
                </a14:m>
                <a:endParaRPr lang="en-NZ" altLang="ja-JP" sz="1800" b="1" i="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9" name="Text Placeholder 5">
                <a:extLst>
                  <a:ext uri="{FF2B5EF4-FFF2-40B4-BE49-F238E27FC236}">
                    <a16:creationId xmlns:a16="http://schemas.microsoft.com/office/drawing/2014/main" id="{EE0ACB83-B8FD-7B82-2804-6FD79DEB7F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2" y="2666800"/>
                <a:ext cx="11608680" cy="1263359"/>
              </a:xfrm>
              <a:prstGeom prst="rect">
                <a:avLst/>
              </a:prstGeom>
              <a:blipFill>
                <a:blip r:embed="rId7"/>
                <a:stretch>
                  <a:fillRect l="-420" t="-2404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Placeholder 5">
                <a:extLst>
                  <a:ext uri="{FF2B5EF4-FFF2-40B4-BE49-F238E27FC236}">
                    <a16:creationId xmlns:a16="http://schemas.microsoft.com/office/drawing/2014/main" id="{0DBD6342-40D0-45DE-67EB-7F036E30ECF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91659" y="4132153"/>
                <a:ext cx="11608680" cy="773074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:r>
                  <a:rPr kumimoji="1" lang="en-NZ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This integral is </a:t>
                </a:r>
                <a:r>
                  <a:rPr kumimoji="1" lang="en-NZ" altLang="ja-JP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intractable</a:t>
                </a:r>
                <a:r>
                  <a:rPr kumimoji="1" lang="en-NZ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(too hard to be solved analytically). However, from the </a:t>
                </a:r>
                <a:r>
                  <a:rPr lang="en-NZ" altLang="ja-JP" sz="1800" b="1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Ergodic</a:t>
                </a:r>
                <a:r>
                  <a:rPr kumimoji="1" lang="en-NZ" altLang="ja-JP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Theorem, </a:t>
                </a:r>
                <a:r>
                  <a:rPr kumimoji="1" lang="en-NZ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we know</a:t>
                </a:r>
                <a:r>
                  <a:rPr kumimoji="1" lang="en-NZ" altLang="ja-JP" sz="1800" b="0" i="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we can approximate this integral by taking a large number of observations of </a:t>
                </a:r>
                <a14:m>
                  <m:oMath xmlns:m="http://schemas.openxmlformats.org/officeDocument/2006/math">
                    <m:r>
                      <a:rPr kumimoji="1" lang="en-NZ" altLang="ja-JP" sz="1800" b="1" i="1" u="none" strike="noStrike" kern="1200" cap="none" spc="0" normalizeH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𝑿</m:t>
                    </m:r>
                  </m:oMath>
                </a14:m>
                <a:r>
                  <a:rPr lang="en-NZ" altLang="ja-JP" sz="1800" b="1" i="0" dirty="0">
                    <a:solidFill>
                      <a:prstClr val="black"/>
                    </a:solidFill>
                    <a:latin typeface="Calibri" panose="020F0502020204030204"/>
                  </a:rPr>
                  <a:t> </a:t>
                </a:r>
                <a:r>
                  <a:rPr lang="en-NZ" altLang="ja-JP" sz="1800" i="0" dirty="0">
                    <a:solidFill>
                      <a:prstClr val="black"/>
                    </a:solidFill>
                    <a:latin typeface="Calibri" panose="020F0502020204030204"/>
                  </a:rPr>
                  <a:t>distributed according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sub>
                    </m:sSub>
                    <m:r>
                      <a:rPr lang="en-NZ" altLang="ja-JP" sz="1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NZ" altLang="ja-JP" sz="1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NZ" altLang="ja-JP" sz="1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NZ" altLang="ja-JP" sz="1800" i="0" dirty="0">
                    <a:solidFill>
                      <a:prstClr val="black"/>
                    </a:solidFill>
                    <a:latin typeface="Calibri" panose="020F0502020204030204"/>
                  </a:rPr>
                  <a:t>and calculating </a:t>
                </a:r>
              </a:p>
            </p:txBody>
          </p:sp>
        </mc:Choice>
        <mc:Fallback xmlns="">
          <p:sp>
            <p:nvSpPr>
              <p:cNvPr id="11" name="Text Placeholder 5">
                <a:extLst>
                  <a:ext uri="{FF2B5EF4-FFF2-40B4-BE49-F238E27FC236}">
                    <a16:creationId xmlns:a16="http://schemas.microsoft.com/office/drawing/2014/main" id="{0DBD6342-40D0-45DE-67EB-7F036E30EC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659" y="4132153"/>
                <a:ext cx="11608680" cy="773074"/>
              </a:xfrm>
              <a:prstGeom prst="rect">
                <a:avLst/>
              </a:prstGeom>
              <a:blipFill>
                <a:blip r:embed="rId8"/>
                <a:stretch>
                  <a:fillRect l="-473" t="-4724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 Placeholder 5">
                <a:extLst>
                  <a:ext uri="{FF2B5EF4-FFF2-40B4-BE49-F238E27FC236}">
                    <a16:creationId xmlns:a16="http://schemas.microsoft.com/office/drawing/2014/main" id="{BE801180-7E1B-5955-AD14-145130C04A4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91659" y="4705950"/>
                <a:ext cx="11608680" cy="926705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𝒈</m:t>
                              </m:r>
                            </m:e>
                          </m:acc>
                        </m:e>
                        <m:sub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𝒏</m:t>
                          </m:r>
                        </m:sub>
                      </m:sSub>
                      <m:d>
                        <m:dPr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𝑿</m:t>
                          </m:r>
                        </m:e>
                      </m:d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≡  </m:t>
                      </m:r>
                      <m:f>
                        <m:fPr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𝟏</m:t>
                          </m:r>
                        </m:num>
                        <m:den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𝒏</m:t>
                          </m:r>
                        </m:den>
                      </m:f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</m:t>
                      </m:r>
                      <m:nary>
                        <m:naryPr>
                          <m:chr m:val="∑"/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𝒊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=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𝟏</m:t>
                          </m:r>
                        </m:sub>
                        <m:sup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𝒏</m:t>
                          </m:r>
                        </m:sup>
                        <m:e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𝒈</m:t>
                          </m:r>
                          <m:d>
                            <m:dPr>
                              <m:ctrlP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1" lang="en-NZ" altLang="ja-JP" sz="18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NZ" altLang="ja-JP" sz="18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𝑿</m:t>
                                  </m:r>
                                </m:e>
                                <m:sub>
                                  <m:r>
                                    <a:rPr kumimoji="1" lang="en-NZ" altLang="ja-JP" sz="18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kumimoji="1" lang="en-NZ" altLang="ja-JP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1" lang="en-US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</a:t>
                </a:r>
              </a:p>
            </p:txBody>
          </p:sp>
        </mc:Choice>
        <mc:Fallback xmlns="">
          <p:sp>
            <p:nvSpPr>
              <p:cNvPr id="19" name="Text Placeholder 5">
                <a:extLst>
                  <a:ext uri="{FF2B5EF4-FFF2-40B4-BE49-F238E27FC236}">
                    <a16:creationId xmlns:a16="http://schemas.microsoft.com/office/drawing/2014/main" id="{BE801180-7E1B-5955-AD14-145130C04A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659" y="4705950"/>
                <a:ext cx="11608680" cy="92670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 Placeholder 5">
                <a:extLst>
                  <a:ext uri="{FF2B5EF4-FFF2-40B4-BE49-F238E27FC236}">
                    <a16:creationId xmlns:a16="http://schemas.microsoft.com/office/drawing/2014/main" id="{7D962EC7-75AE-89D4-372D-A3B8C6847C1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91659" y="5661800"/>
                <a:ext cx="11608680" cy="675343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:r>
                  <a:rPr lang="en-NZ" altLang="ja-JP" sz="1800" dirty="0">
                    <a:solidFill>
                      <a:prstClr val="black"/>
                    </a:solidFill>
                  </a:rPr>
                  <a:t>In order to produce a large number of observations of </a:t>
                </a:r>
                <a14:m>
                  <m:oMath xmlns:m="http://schemas.openxmlformats.org/officeDocument/2006/math">
                    <m:r>
                      <a:rPr lang="en-NZ" altLang="ja-JP" sz="18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NZ" altLang="ja-JP" sz="1800" b="1" dirty="0">
                    <a:solidFill>
                      <a:prstClr val="black"/>
                    </a:solidFill>
                  </a:rPr>
                  <a:t> </a:t>
                </a:r>
                <a:r>
                  <a:rPr lang="en-NZ" altLang="ja-JP" sz="1800" dirty="0">
                    <a:solidFill>
                      <a:prstClr val="black"/>
                    </a:solidFill>
                  </a:rPr>
                  <a:t>distributed according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sub>
                    </m:sSub>
                    <m:d>
                      <m:dPr>
                        <m:ctrlP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n-NZ" altLang="ja-JP" sz="1800" i="0" dirty="0">
                    <a:solidFill>
                      <a:prstClr val="black"/>
                    </a:solidFill>
                    <a:latin typeface="Calibri" panose="020F0502020204030204"/>
                  </a:rPr>
                  <a:t>, </a:t>
                </a:r>
                <a:br>
                  <a:rPr lang="en-NZ" altLang="ja-JP" sz="1800" i="0" dirty="0">
                    <a:solidFill>
                      <a:prstClr val="black"/>
                    </a:solidFill>
                    <a:latin typeface="Calibri" panose="020F0502020204030204"/>
                  </a:rPr>
                </a:br>
                <a:r>
                  <a:rPr lang="en-NZ" altLang="ja-JP" sz="1800" i="0" dirty="0">
                    <a:solidFill>
                      <a:prstClr val="black"/>
                    </a:solidFill>
                    <a:latin typeface="Calibri" panose="020F0502020204030204"/>
                  </a:rPr>
                  <a:t>we can use the Metropolis-Hastings algorithm which works as follows…</a:t>
                </a:r>
              </a:p>
            </p:txBody>
          </p:sp>
        </mc:Choice>
        <mc:Fallback xmlns="">
          <p:sp>
            <p:nvSpPr>
              <p:cNvPr id="20" name="Text Placeholder 5">
                <a:extLst>
                  <a:ext uri="{FF2B5EF4-FFF2-40B4-BE49-F238E27FC236}">
                    <a16:creationId xmlns:a16="http://schemas.microsoft.com/office/drawing/2014/main" id="{7D962EC7-75AE-89D4-372D-A3B8C6847C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659" y="5661800"/>
                <a:ext cx="11608680" cy="675343"/>
              </a:xfrm>
              <a:prstGeom prst="rect">
                <a:avLst/>
              </a:prstGeom>
              <a:blipFill>
                <a:blip r:embed="rId10"/>
                <a:stretch>
                  <a:fillRect l="-473" t="-5405" b="-9009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339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9" grpId="0"/>
      <p:bldP spid="2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011D634-069D-B8FB-9750-1DA698E434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6462" y="95250"/>
            <a:ext cx="7839075" cy="3333750"/>
          </a:xfrm>
          <a:prstGeom prst="rect">
            <a:avLst/>
          </a:prstGeom>
        </p:spPr>
      </p:pic>
      <p:sp>
        <p:nvSpPr>
          <p:cNvPr id="14" name="Footer Placeholder 2">
            <a:extLst>
              <a:ext uri="{FF2B5EF4-FFF2-40B4-BE49-F238E27FC236}">
                <a16:creationId xmlns:a16="http://schemas.microsoft.com/office/drawing/2014/main" id="{F23D8DA0-8D1C-7514-B036-BE52E81A1B5D}"/>
              </a:ext>
            </a:extLst>
          </p:cNvPr>
          <p:cNvSpPr txBox="1">
            <a:spLocks/>
          </p:cNvSpPr>
          <p:nvPr/>
        </p:nvSpPr>
        <p:spPr>
          <a:xfrm>
            <a:off x="8993875" y="86139"/>
            <a:ext cx="30954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Overview of MH Algorithm</a:t>
            </a: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EDDDD"/>
              </a:solidFill>
              <a:effectLst/>
              <a:uLnTx/>
              <a:uFillTx/>
              <a:latin typeface="Gidole"/>
              <a:ea typeface="游ゴシック" panose="020B0400000000000000" pitchFamily="34" charset="-128"/>
              <a:cs typeface="+mn-cs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654B09D-0FFF-C26D-8181-9B73B6F09372}"/>
              </a:ext>
            </a:extLst>
          </p:cNvPr>
          <p:cNvCxnSpPr/>
          <p:nvPr/>
        </p:nvCxnSpPr>
        <p:spPr>
          <a:xfrm>
            <a:off x="2606722" y="3302758"/>
            <a:ext cx="7287905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E1FCA93-EEAF-42AB-7D11-DB39E8FAB9E8}"/>
              </a:ext>
            </a:extLst>
          </p:cNvPr>
          <p:cNvCxnSpPr>
            <a:cxnSpLocks/>
          </p:cNvCxnSpPr>
          <p:nvPr/>
        </p:nvCxnSpPr>
        <p:spPr>
          <a:xfrm flipV="1">
            <a:off x="2606722" y="268701"/>
            <a:ext cx="0" cy="3013006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 Placeholder 5">
                <a:extLst>
                  <a:ext uri="{FF2B5EF4-FFF2-40B4-BE49-F238E27FC236}">
                    <a16:creationId xmlns:a16="http://schemas.microsoft.com/office/drawing/2014/main" id="{D0636FF2-AD52-7D3F-94EA-08BD8CC6D6E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31159" y="3372679"/>
                <a:ext cx="747563" cy="365125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</m:ctrlPr>
                        </m:sSupPr>
                        <m:e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  <m:t>𝑿</m:t>
                          </m:r>
                        </m:e>
                        <m:sup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  <m:t>(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  <m:t>𝟎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kumimoji="1" lang="en-US" altLang="ja-JP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24" name="Text Placeholder 5">
                <a:extLst>
                  <a:ext uri="{FF2B5EF4-FFF2-40B4-BE49-F238E27FC236}">
                    <a16:creationId xmlns:a16="http://schemas.microsoft.com/office/drawing/2014/main" id="{D0636FF2-AD52-7D3F-94EA-08BD8CC6D6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1159" y="3372679"/>
                <a:ext cx="747563" cy="36512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Oval 24">
            <a:extLst>
              <a:ext uri="{FF2B5EF4-FFF2-40B4-BE49-F238E27FC236}">
                <a16:creationId xmlns:a16="http://schemas.microsoft.com/office/drawing/2014/main" id="{5470DADC-B97E-4966-294F-8F421E3D1DF9}"/>
              </a:ext>
            </a:extLst>
          </p:cNvPr>
          <p:cNvSpPr/>
          <p:nvPr/>
        </p:nvSpPr>
        <p:spPr>
          <a:xfrm>
            <a:off x="6750349" y="3248167"/>
            <a:ext cx="109182" cy="10918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952F44C-FAF2-0F41-CC41-56BCCCA5AD96}"/>
              </a:ext>
            </a:extLst>
          </p:cNvPr>
          <p:cNvCxnSpPr/>
          <p:nvPr/>
        </p:nvCxnSpPr>
        <p:spPr>
          <a:xfrm>
            <a:off x="6804940" y="3737804"/>
            <a:ext cx="112938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 Placeholder 5">
                <a:extLst>
                  <a:ext uri="{FF2B5EF4-FFF2-40B4-BE49-F238E27FC236}">
                    <a16:creationId xmlns:a16="http://schemas.microsoft.com/office/drawing/2014/main" id="{7C271A51-5851-9651-04F4-CD7ABF8CF1C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766965" y="3555241"/>
                <a:ext cx="747563" cy="365125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𝒚</m:t>
                      </m:r>
                    </m:oMath>
                  </m:oMathPara>
                </a14:m>
                <a:endParaRPr kumimoji="1" lang="en-US" altLang="ja-JP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28" name="Text Placeholder 5">
                <a:extLst>
                  <a:ext uri="{FF2B5EF4-FFF2-40B4-BE49-F238E27FC236}">
                    <a16:creationId xmlns:a16="http://schemas.microsoft.com/office/drawing/2014/main" id="{7C271A51-5851-9651-04F4-CD7ABF8CF1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6965" y="3555241"/>
                <a:ext cx="747563" cy="365125"/>
              </a:xfrm>
              <a:prstGeom prst="rect">
                <a:avLst/>
              </a:prstGeom>
              <a:blipFill>
                <a:blip r:embed="rId5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9B3D1140-6F52-541C-3A10-A9AB423F588A}"/>
              </a:ext>
            </a:extLst>
          </p:cNvPr>
          <p:cNvSpPr txBox="1">
            <a:spLocks/>
          </p:cNvSpPr>
          <p:nvPr/>
        </p:nvSpPr>
        <p:spPr>
          <a:xfrm>
            <a:off x="8140746" y="3497663"/>
            <a:ext cx="667161" cy="48028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25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  <a:sym typeface="Wingdings" panose="05000000000000000000" pitchFamily="2" charset="2"/>
              </a:rPr>
              <a:t></a:t>
            </a:r>
            <a:endParaRPr kumimoji="1" lang="en-NZ" altLang="ja-JP" sz="25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 Placeholder 5">
                <a:extLst>
                  <a:ext uri="{FF2B5EF4-FFF2-40B4-BE49-F238E27FC236}">
                    <a16:creationId xmlns:a16="http://schemas.microsoft.com/office/drawing/2014/main" id="{50B69402-80A8-D6A7-0C12-25E344076C9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766965" y="3931644"/>
                <a:ext cx="747563" cy="365125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</m:ctrlPr>
                        </m:sSupPr>
                        <m:e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  <m:t>𝑿</m:t>
                          </m:r>
                        </m:e>
                        <m:sup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  <m:t>(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  <m:t>𝟏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kumimoji="1" lang="en-US" altLang="ja-JP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31" name="Text Placeholder 5">
                <a:extLst>
                  <a:ext uri="{FF2B5EF4-FFF2-40B4-BE49-F238E27FC236}">
                    <a16:creationId xmlns:a16="http://schemas.microsoft.com/office/drawing/2014/main" id="{50B69402-80A8-D6A7-0C12-25E344076C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6965" y="3931644"/>
                <a:ext cx="747563" cy="36512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Oval 31">
            <a:extLst>
              <a:ext uri="{FF2B5EF4-FFF2-40B4-BE49-F238E27FC236}">
                <a16:creationId xmlns:a16="http://schemas.microsoft.com/office/drawing/2014/main" id="{23EBF575-5A18-7100-DF23-F5EECE8B9A69}"/>
              </a:ext>
            </a:extLst>
          </p:cNvPr>
          <p:cNvSpPr/>
          <p:nvPr/>
        </p:nvSpPr>
        <p:spPr>
          <a:xfrm>
            <a:off x="8086155" y="3248167"/>
            <a:ext cx="109182" cy="10918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532A4EA-CFEC-2422-B19D-EE37BDA99C1C}"/>
              </a:ext>
            </a:extLst>
          </p:cNvPr>
          <p:cNvCxnSpPr>
            <a:cxnSpLocks/>
          </p:cNvCxnSpPr>
          <p:nvPr/>
        </p:nvCxnSpPr>
        <p:spPr>
          <a:xfrm>
            <a:off x="8429182" y="4118045"/>
            <a:ext cx="6862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 Placeholder 5">
                <a:extLst>
                  <a:ext uri="{FF2B5EF4-FFF2-40B4-BE49-F238E27FC236}">
                    <a16:creationId xmlns:a16="http://schemas.microsoft.com/office/drawing/2014/main" id="{E466D8ED-2D29-B8A6-8A5C-34D96213B35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888309" y="3920366"/>
                <a:ext cx="747563" cy="365125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𝒚</m:t>
                      </m:r>
                    </m:oMath>
                  </m:oMathPara>
                </a14:m>
                <a:endParaRPr kumimoji="1" lang="en-US" altLang="ja-JP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34" name="Text Placeholder 5">
                <a:extLst>
                  <a:ext uri="{FF2B5EF4-FFF2-40B4-BE49-F238E27FC236}">
                    <a16:creationId xmlns:a16="http://schemas.microsoft.com/office/drawing/2014/main" id="{E466D8ED-2D29-B8A6-8A5C-34D96213B3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8309" y="3920366"/>
                <a:ext cx="747563" cy="365125"/>
              </a:xfrm>
              <a:prstGeom prst="rect">
                <a:avLst/>
              </a:prstGeom>
              <a:blipFill>
                <a:blip r:embed="rId7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 Placeholder 5">
            <a:extLst>
              <a:ext uri="{FF2B5EF4-FFF2-40B4-BE49-F238E27FC236}">
                <a16:creationId xmlns:a16="http://schemas.microsoft.com/office/drawing/2014/main" id="{F5BF2D8E-6F64-9EE6-8F75-DDC7E7B427B0}"/>
              </a:ext>
            </a:extLst>
          </p:cNvPr>
          <p:cNvSpPr txBox="1">
            <a:spLocks/>
          </p:cNvSpPr>
          <p:nvPr/>
        </p:nvSpPr>
        <p:spPr>
          <a:xfrm>
            <a:off x="9302291" y="3874066"/>
            <a:ext cx="667161" cy="48028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25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  <a:sym typeface="Wingdings" panose="05000000000000000000" pitchFamily="2" charset="2"/>
              </a:rPr>
              <a:t></a:t>
            </a:r>
            <a:endParaRPr kumimoji="1" lang="en-NZ" altLang="ja-JP" sz="25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 Placeholder 5">
                <a:extLst>
                  <a:ext uri="{FF2B5EF4-FFF2-40B4-BE49-F238E27FC236}">
                    <a16:creationId xmlns:a16="http://schemas.microsoft.com/office/drawing/2014/main" id="{4EF9A93A-E2D9-2CED-B1A5-EA16ACBA134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766965" y="4426850"/>
                <a:ext cx="747563" cy="365125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</m:ctrlPr>
                        </m:sSupPr>
                        <m:e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  <m:t>𝑿</m:t>
                          </m:r>
                        </m:e>
                        <m:sup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  <m:t>(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  <m:t>𝟐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kumimoji="1" lang="en-US" altLang="ja-JP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37" name="Text Placeholder 5">
                <a:extLst>
                  <a:ext uri="{FF2B5EF4-FFF2-40B4-BE49-F238E27FC236}">
                    <a16:creationId xmlns:a16="http://schemas.microsoft.com/office/drawing/2014/main" id="{4EF9A93A-E2D9-2CED-B1A5-EA16ACBA13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6965" y="4426850"/>
                <a:ext cx="747563" cy="36512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Oval 37">
            <a:extLst>
              <a:ext uri="{FF2B5EF4-FFF2-40B4-BE49-F238E27FC236}">
                <a16:creationId xmlns:a16="http://schemas.microsoft.com/office/drawing/2014/main" id="{878556D9-4B92-5070-0124-98B8BA3343E6}"/>
              </a:ext>
            </a:extLst>
          </p:cNvPr>
          <p:cNvSpPr/>
          <p:nvPr/>
        </p:nvSpPr>
        <p:spPr>
          <a:xfrm>
            <a:off x="8086155" y="3078755"/>
            <a:ext cx="109182" cy="10918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EC173B3-5AB9-AD22-258C-ECF0158F3619}"/>
              </a:ext>
            </a:extLst>
          </p:cNvPr>
          <p:cNvCxnSpPr>
            <a:cxnSpLocks/>
          </p:cNvCxnSpPr>
          <p:nvPr/>
        </p:nvCxnSpPr>
        <p:spPr>
          <a:xfrm flipH="1">
            <a:off x="6029325" y="4613345"/>
            <a:ext cx="185814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 Placeholder 5">
                <a:extLst>
                  <a:ext uri="{FF2B5EF4-FFF2-40B4-BE49-F238E27FC236}">
                    <a16:creationId xmlns:a16="http://schemas.microsoft.com/office/drawing/2014/main" id="{78958EFA-1D20-3A01-0091-FB495D57F3A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503111" y="4395691"/>
                <a:ext cx="747563" cy="365125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𝒚</m:t>
                      </m:r>
                    </m:oMath>
                  </m:oMathPara>
                </a14:m>
                <a:endParaRPr kumimoji="1" lang="en-US" altLang="ja-JP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43" name="Text Placeholder 5">
                <a:extLst>
                  <a:ext uri="{FF2B5EF4-FFF2-40B4-BE49-F238E27FC236}">
                    <a16:creationId xmlns:a16="http://schemas.microsoft.com/office/drawing/2014/main" id="{78958EFA-1D20-3A01-0091-FB495D57F3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3111" y="4395691"/>
                <a:ext cx="747563" cy="365125"/>
              </a:xfrm>
              <a:prstGeom prst="rect">
                <a:avLst/>
              </a:prstGeom>
              <a:blipFill>
                <a:blip r:embed="rId9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Text Placeholder 5">
            <a:extLst>
              <a:ext uri="{FF2B5EF4-FFF2-40B4-BE49-F238E27FC236}">
                <a16:creationId xmlns:a16="http://schemas.microsoft.com/office/drawing/2014/main" id="{D6E3B41D-A4CD-27C8-1D49-699FEA181EC8}"/>
              </a:ext>
            </a:extLst>
          </p:cNvPr>
          <p:cNvSpPr txBox="1">
            <a:spLocks/>
          </p:cNvSpPr>
          <p:nvPr/>
        </p:nvSpPr>
        <p:spPr>
          <a:xfrm>
            <a:off x="5602312" y="4155551"/>
            <a:ext cx="667161" cy="48028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25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  <a:sym typeface="Wingdings" panose="05000000000000000000" pitchFamily="2" charset="2"/>
              </a:rPr>
              <a:t></a:t>
            </a:r>
            <a:endParaRPr kumimoji="1" lang="en-NZ" altLang="ja-JP" sz="25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 Placeholder 5">
                <a:extLst>
                  <a:ext uri="{FF2B5EF4-FFF2-40B4-BE49-F238E27FC236}">
                    <a16:creationId xmlns:a16="http://schemas.microsoft.com/office/drawing/2014/main" id="{6F98C7A3-544D-8A48-16A2-E0953756EAE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562110" y="4854552"/>
                <a:ext cx="747563" cy="365125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</m:ctrlPr>
                        </m:sSupPr>
                        <m:e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  <m:t>𝑿</m:t>
                          </m:r>
                        </m:e>
                        <m:sup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  <m:t>(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  <m:t>𝟑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kumimoji="1" lang="en-US" altLang="ja-JP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46" name="Text Placeholder 5">
                <a:extLst>
                  <a:ext uri="{FF2B5EF4-FFF2-40B4-BE49-F238E27FC236}">
                    <a16:creationId xmlns:a16="http://schemas.microsoft.com/office/drawing/2014/main" id="{6F98C7A3-544D-8A48-16A2-E0953756EA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2110" y="4854552"/>
                <a:ext cx="747563" cy="36512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Oval 46">
            <a:extLst>
              <a:ext uri="{FF2B5EF4-FFF2-40B4-BE49-F238E27FC236}">
                <a16:creationId xmlns:a16="http://schemas.microsoft.com/office/drawing/2014/main" id="{817EC172-997E-6AEA-D030-FB6A2E8F9B85}"/>
              </a:ext>
            </a:extLst>
          </p:cNvPr>
          <p:cNvSpPr/>
          <p:nvPr/>
        </p:nvSpPr>
        <p:spPr>
          <a:xfrm>
            <a:off x="5881300" y="3248167"/>
            <a:ext cx="109182" cy="10918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5E734899-7ADB-3690-BAE2-9102935474D9}"/>
              </a:ext>
            </a:extLst>
          </p:cNvPr>
          <p:cNvCxnSpPr>
            <a:cxnSpLocks/>
          </p:cNvCxnSpPr>
          <p:nvPr/>
        </p:nvCxnSpPr>
        <p:spPr>
          <a:xfrm flipH="1">
            <a:off x="4886325" y="4992000"/>
            <a:ext cx="7372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 Placeholder 5">
                <a:extLst>
                  <a:ext uri="{FF2B5EF4-FFF2-40B4-BE49-F238E27FC236}">
                    <a16:creationId xmlns:a16="http://schemas.microsoft.com/office/drawing/2014/main" id="{5A3CBE27-7F5D-7A6B-0C13-40DF3ACFB04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322767" y="4809437"/>
                <a:ext cx="747563" cy="365125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𝒚</m:t>
                      </m:r>
                    </m:oMath>
                  </m:oMathPara>
                </a14:m>
                <a:endParaRPr kumimoji="1" lang="en-US" altLang="ja-JP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49" name="Text Placeholder 5">
                <a:extLst>
                  <a:ext uri="{FF2B5EF4-FFF2-40B4-BE49-F238E27FC236}">
                    <a16:creationId xmlns:a16="http://schemas.microsoft.com/office/drawing/2014/main" id="{5A3CBE27-7F5D-7A6B-0C13-40DF3ACFB0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2767" y="4809437"/>
                <a:ext cx="747563" cy="365125"/>
              </a:xfrm>
              <a:prstGeom prst="rect">
                <a:avLst/>
              </a:prstGeom>
              <a:blipFill>
                <a:blip r:embed="rId11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Text Placeholder 5">
            <a:extLst>
              <a:ext uri="{FF2B5EF4-FFF2-40B4-BE49-F238E27FC236}">
                <a16:creationId xmlns:a16="http://schemas.microsoft.com/office/drawing/2014/main" id="{FA06B1F5-0EED-D650-F202-C24FA5B00007}"/>
              </a:ext>
            </a:extLst>
          </p:cNvPr>
          <p:cNvSpPr txBox="1">
            <a:spLocks/>
          </p:cNvSpPr>
          <p:nvPr/>
        </p:nvSpPr>
        <p:spPr>
          <a:xfrm>
            <a:off x="4421968" y="4569297"/>
            <a:ext cx="667161" cy="48028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25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  <a:sym typeface="Wingdings" panose="05000000000000000000" pitchFamily="2" charset="2"/>
              </a:rPr>
              <a:t></a:t>
            </a:r>
            <a:endParaRPr kumimoji="1" lang="en-NZ" altLang="ja-JP" sz="25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BEB23E1D-B713-4BC2-03C3-A62E8BA6A8BA}"/>
              </a:ext>
            </a:extLst>
          </p:cNvPr>
          <p:cNvSpPr/>
          <p:nvPr/>
        </p:nvSpPr>
        <p:spPr>
          <a:xfrm>
            <a:off x="4706073" y="3248167"/>
            <a:ext cx="109182" cy="10918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 Placeholder 5">
                <a:extLst>
                  <a:ext uri="{FF2B5EF4-FFF2-40B4-BE49-F238E27FC236}">
                    <a16:creationId xmlns:a16="http://schemas.microsoft.com/office/drawing/2014/main" id="{E1ADAED8-3B83-CFA6-8419-B524DFD9BFE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397516" y="5292767"/>
                <a:ext cx="747563" cy="365125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</m:ctrlPr>
                        </m:sSupPr>
                        <m:e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  <m:t>𝑿</m:t>
                          </m:r>
                        </m:e>
                        <m:sup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  <m:t>(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  <m:t>𝟒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kumimoji="1" lang="en-US" altLang="ja-JP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53" name="Text Placeholder 5">
                <a:extLst>
                  <a:ext uri="{FF2B5EF4-FFF2-40B4-BE49-F238E27FC236}">
                    <a16:creationId xmlns:a16="http://schemas.microsoft.com/office/drawing/2014/main" id="{E1ADAED8-3B83-CFA6-8419-B524DFD9BF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7516" y="5292767"/>
                <a:ext cx="747563" cy="36512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6F5EB755-F222-5404-347E-0AE7C1557366}"/>
              </a:ext>
            </a:extLst>
          </p:cNvPr>
          <p:cNvCxnSpPr>
            <a:cxnSpLocks/>
          </p:cNvCxnSpPr>
          <p:nvPr/>
        </p:nvCxnSpPr>
        <p:spPr>
          <a:xfrm>
            <a:off x="5070330" y="5460883"/>
            <a:ext cx="21083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 Placeholder 5">
                <a:extLst>
                  <a:ext uri="{FF2B5EF4-FFF2-40B4-BE49-F238E27FC236}">
                    <a16:creationId xmlns:a16="http://schemas.microsoft.com/office/drawing/2014/main" id="{6DC5AA48-B23B-B4E9-8AB3-24C04A3ED88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005012" y="5267337"/>
                <a:ext cx="747563" cy="365125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𝒚</m:t>
                      </m:r>
                    </m:oMath>
                  </m:oMathPara>
                </a14:m>
                <a:endParaRPr kumimoji="1" lang="en-US" altLang="ja-JP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55" name="Text Placeholder 5">
                <a:extLst>
                  <a:ext uri="{FF2B5EF4-FFF2-40B4-BE49-F238E27FC236}">
                    <a16:creationId xmlns:a16="http://schemas.microsoft.com/office/drawing/2014/main" id="{6DC5AA48-B23B-B4E9-8AB3-24C04A3ED8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5012" y="5267337"/>
                <a:ext cx="747563" cy="365125"/>
              </a:xfrm>
              <a:prstGeom prst="rect">
                <a:avLst/>
              </a:prstGeom>
              <a:blipFill>
                <a:blip r:embed="rId13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Text Placeholder 5">
            <a:extLst>
              <a:ext uri="{FF2B5EF4-FFF2-40B4-BE49-F238E27FC236}">
                <a16:creationId xmlns:a16="http://schemas.microsoft.com/office/drawing/2014/main" id="{0FE3EB19-3971-76D2-6FC7-6132CA75D68B}"/>
              </a:ext>
            </a:extLst>
          </p:cNvPr>
          <p:cNvSpPr txBox="1">
            <a:spLocks/>
          </p:cNvSpPr>
          <p:nvPr/>
        </p:nvSpPr>
        <p:spPr>
          <a:xfrm>
            <a:off x="7418994" y="5221037"/>
            <a:ext cx="667161" cy="48028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25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  <a:sym typeface="Wingdings" panose="05000000000000000000" pitchFamily="2" charset="2"/>
              </a:rPr>
              <a:t></a:t>
            </a:r>
            <a:endParaRPr kumimoji="1" lang="en-NZ" altLang="ja-JP" sz="25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EB53C1B7-53AF-8827-2832-FFA1364A8565}"/>
              </a:ext>
            </a:extLst>
          </p:cNvPr>
          <p:cNvSpPr/>
          <p:nvPr/>
        </p:nvSpPr>
        <p:spPr>
          <a:xfrm>
            <a:off x="4706073" y="3078755"/>
            <a:ext cx="109182" cy="10918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 Placeholder 5">
                <a:extLst>
                  <a:ext uri="{FF2B5EF4-FFF2-40B4-BE49-F238E27FC236}">
                    <a16:creationId xmlns:a16="http://schemas.microsoft.com/office/drawing/2014/main" id="{3E0B9F6A-9EAB-04A0-247E-74891F9943F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381766" y="5668875"/>
                <a:ext cx="747563" cy="365125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</m:ctrlPr>
                        </m:sSupPr>
                        <m:e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  <m:t>𝑿</m:t>
                          </m:r>
                        </m:e>
                        <m:sup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  <m:t>(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  <m:t>𝟓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kumimoji="1" lang="en-US" altLang="ja-JP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61" name="Text Placeholder 5">
                <a:extLst>
                  <a:ext uri="{FF2B5EF4-FFF2-40B4-BE49-F238E27FC236}">
                    <a16:creationId xmlns:a16="http://schemas.microsoft.com/office/drawing/2014/main" id="{3E0B9F6A-9EAB-04A0-247E-74891F9943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1766" y="5668875"/>
                <a:ext cx="747563" cy="36512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B79C5340-D9DA-4368-027B-0E0DE3D8CEE2}"/>
              </a:ext>
            </a:extLst>
          </p:cNvPr>
          <p:cNvCxnSpPr>
            <a:cxnSpLocks/>
          </p:cNvCxnSpPr>
          <p:nvPr/>
        </p:nvCxnSpPr>
        <p:spPr>
          <a:xfrm flipH="1">
            <a:off x="3763843" y="5872975"/>
            <a:ext cx="7372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 Placeholder 5">
                <a:extLst>
                  <a:ext uri="{FF2B5EF4-FFF2-40B4-BE49-F238E27FC236}">
                    <a16:creationId xmlns:a16="http://schemas.microsoft.com/office/drawing/2014/main" id="{7F74E41B-B13B-1075-7873-970628A1D1D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200285" y="5690412"/>
                <a:ext cx="747563" cy="365125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𝒚</m:t>
                      </m:r>
                    </m:oMath>
                  </m:oMathPara>
                </a14:m>
                <a:endParaRPr kumimoji="1" lang="en-US" altLang="ja-JP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63" name="Text Placeholder 5">
                <a:extLst>
                  <a:ext uri="{FF2B5EF4-FFF2-40B4-BE49-F238E27FC236}">
                    <a16:creationId xmlns:a16="http://schemas.microsoft.com/office/drawing/2014/main" id="{7F74E41B-B13B-1075-7873-970628A1D1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285" y="5690412"/>
                <a:ext cx="747563" cy="365125"/>
              </a:xfrm>
              <a:prstGeom prst="rect">
                <a:avLst/>
              </a:prstGeom>
              <a:blipFill>
                <a:blip r:embed="rId15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48" name="Text Placeholder 5">
            <a:extLst>
              <a:ext uri="{FF2B5EF4-FFF2-40B4-BE49-F238E27FC236}">
                <a16:creationId xmlns:a16="http://schemas.microsoft.com/office/drawing/2014/main" id="{E0121333-F47D-BDFE-D0DC-417A9E5C17F4}"/>
              </a:ext>
            </a:extLst>
          </p:cNvPr>
          <p:cNvSpPr txBox="1">
            <a:spLocks/>
          </p:cNvSpPr>
          <p:nvPr/>
        </p:nvSpPr>
        <p:spPr>
          <a:xfrm>
            <a:off x="3299486" y="5450272"/>
            <a:ext cx="667161" cy="48028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25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  <a:sym typeface="Wingdings" panose="05000000000000000000" pitchFamily="2" charset="2"/>
              </a:rPr>
              <a:t></a:t>
            </a:r>
            <a:endParaRPr kumimoji="1" lang="en-NZ" altLang="ja-JP" sz="25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2049" name="Oval 2048">
            <a:extLst>
              <a:ext uri="{FF2B5EF4-FFF2-40B4-BE49-F238E27FC236}">
                <a16:creationId xmlns:a16="http://schemas.microsoft.com/office/drawing/2014/main" id="{579EAD79-5E31-04FD-9EBD-420C6F1DC7CA}"/>
              </a:ext>
            </a:extLst>
          </p:cNvPr>
          <p:cNvSpPr/>
          <p:nvPr/>
        </p:nvSpPr>
        <p:spPr>
          <a:xfrm>
            <a:off x="3572332" y="3250583"/>
            <a:ext cx="109182" cy="10918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51" name="Text Placeholder 5">
                <a:extLst>
                  <a:ext uri="{FF2B5EF4-FFF2-40B4-BE49-F238E27FC236}">
                    <a16:creationId xmlns:a16="http://schemas.microsoft.com/office/drawing/2014/main" id="{E2E9B165-D915-A5DF-F862-8936501118C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200284" y="6128646"/>
                <a:ext cx="747563" cy="365125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</m:ctrlPr>
                        </m:sSupPr>
                        <m:e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  <m:t>𝑿</m:t>
                          </m:r>
                        </m:e>
                        <m:sup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  <m:t>(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  <m:t>𝟔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kumimoji="1" lang="en-US" altLang="ja-JP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2051" name="Text Placeholder 5">
                <a:extLst>
                  <a:ext uri="{FF2B5EF4-FFF2-40B4-BE49-F238E27FC236}">
                    <a16:creationId xmlns:a16="http://schemas.microsoft.com/office/drawing/2014/main" id="{E2E9B165-D915-A5DF-F862-8936501118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284" y="6128646"/>
                <a:ext cx="747563" cy="365125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52" name="Text Placeholder 5">
                <a:extLst>
                  <a:ext uri="{FF2B5EF4-FFF2-40B4-BE49-F238E27FC236}">
                    <a16:creationId xmlns:a16="http://schemas.microsoft.com/office/drawing/2014/main" id="{22476C35-1FEE-FC65-248B-6934DBC74E7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1197" y="2690029"/>
                <a:ext cx="1014340" cy="417954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NZ" altLang="ja-JP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NZ" altLang="ja-JP" sz="1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sub>
                    </m:sSub>
                    <m:d>
                      <m:dPr>
                        <m:ctrlPr>
                          <a:rPr lang="en-NZ" altLang="ja-JP" sz="1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altLang="ja-JP" sz="1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kumimoji="1" lang="en-NZ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</a:t>
                </a:r>
              </a:p>
            </p:txBody>
          </p:sp>
        </mc:Choice>
        <mc:Fallback xmlns="">
          <p:sp>
            <p:nvSpPr>
              <p:cNvPr id="2052" name="Text Placeholder 5">
                <a:extLst>
                  <a:ext uri="{FF2B5EF4-FFF2-40B4-BE49-F238E27FC236}">
                    <a16:creationId xmlns:a16="http://schemas.microsoft.com/office/drawing/2014/main" id="{22476C35-1FEE-FC65-248B-6934DBC74E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1197" y="2690029"/>
                <a:ext cx="1014340" cy="417954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9975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 animBg="1"/>
      <p:bldP spid="28" grpId="0"/>
      <p:bldP spid="30" grpId="0"/>
      <p:bldP spid="31" grpId="0"/>
      <p:bldP spid="32" grpId="0" animBg="1"/>
      <p:bldP spid="34" grpId="0"/>
      <p:bldP spid="36" grpId="0"/>
      <p:bldP spid="37" grpId="0"/>
      <p:bldP spid="38" grpId="0" animBg="1"/>
      <p:bldP spid="43" grpId="0"/>
      <p:bldP spid="45" grpId="0"/>
      <p:bldP spid="46" grpId="0"/>
      <p:bldP spid="47" grpId="0" animBg="1"/>
      <p:bldP spid="49" grpId="0"/>
      <p:bldP spid="50" grpId="0"/>
      <p:bldP spid="52" grpId="0" animBg="1"/>
      <p:bldP spid="53" grpId="0"/>
      <p:bldP spid="55" grpId="0"/>
      <p:bldP spid="56" grpId="0"/>
      <p:bldP spid="60" grpId="0" animBg="1"/>
      <p:bldP spid="61" grpId="0"/>
      <p:bldP spid="63" grpId="0"/>
      <p:bldP spid="2048" grpId="0"/>
      <p:bldP spid="2049" grpId="0" animBg="1"/>
      <p:bldP spid="205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011D634-069D-B8FB-9750-1DA698E434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6462" y="95250"/>
            <a:ext cx="7839075" cy="3333750"/>
          </a:xfrm>
          <a:prstGeom prst="rect">
            <a:avLst/>
          </a:prstGeom>
        </p:spPr>
      </p:pic>
      <p:sp>
        <p:nvSpPr>
          <p:cNvPr id="14" name="Footer Placeholder 2">
            <a:extLst>
              <a:ext uri="{FF2B5EF4-FFF2-40B4-BE49-F238E27FC236}">
                <a16:creationId xmlns:a16="http://schemas.microsoft.com/office/drawing/2014/main" id="{F23D8DA0-8D1C-7514-B036-BE52E81A1B5D}"/>
              </a:ext>
            </a:extLst>
          </p:cNvPr>
          <p:cNvSpPr txBox="1">
            <a:spLocks/>
          </p:cNvSpPr>
          <p:nvPr/>
        </p:nvSpPr>
        <p:spPr>
          <a:xfrm>
            <a:off x="8993875" y="86139"/>
            <a:ext cx="30954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Overview of MH Algorithm</a:t>
            </a: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EDDDD"/>
              </a:solidFill>
              <a:effectLst/>
              <a:uLnTx/>
              <a:uFillTx/>
              <a:latin typeface="Gidole"/>
              <a:ea typeface="游ゴシック" panose="020B0400000000000000" pitchFamily="34" charset="-128"/>
              <a:cs typeface="+mn-cs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654B09D-0FFF-C26D-8181-9B73B6F09372}"/>
              </a:ext>
            </a:extLst>
          </p:cNvPr>
          <p:cNvCxnSpPr/>
          <p:nvPr/>
        </p:nvCxnSpPr>
        <p:spPr>
          <a:xfrm>
            <a:off x="2606722" y="3302758"/>
            <a:ext cx="7287905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E1FCA93-EEAF-42AB-7D11-DB39E8FAB9E8}"/>
              </a:ext>
            </a:extLst>
          </p:cNvPr>
          <p:cNvCxnSpPr>
            <a:cxnSpLocks/>
          </p:cNvCxnSpPr>
          <p:nvPr/>
        </p:nvCxnSpPr>
        <p:spPr>
          <a:xfrm flipV="1">
            <a:off x="2606722" y="268701"/>
            <a:ext cx="0" cy="3013006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5470DADC-B97E-4966-294F-8F421E3D1DF9}"/>
              </a:ext>
            </a:extLst>
          </p:cNvPr>
          <p:cNvSpPr/>
          <p:nvPr/>
        </p:nvSpPr>
        <p:spPr>
          <a:xfrm>
            <a:off x="6750349" y="3248167"/>
            <a:ext cx="109182" cy="10918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23EBF575-5A18-7100-DF23-F5EECE8B9A69}"/>
              </a:ext>
            </a:extLst>
          </p:cNvPr>
          <p:cNvSpPr/>
          <p:nvPr/>
        </p:nvSpPr>
        <p:spPr>
          <a:xfrm>
            <a:off x="8086155" y="3248167"/>
            <a:ext cx="109182" cy="10918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878556D9-4B92-5070-0124-98B8BA3343E6}"/>
              </a:ext>
            </a:extLst>
          </p:cNvPr>
          <p:cNvSpPr/>
          <p:nvPr/>
        </p:nvSpPr>
        <p:spPr>
          <a:xfrm>
            <a:off x="8086155" y="3078755"/>
            <a:ext cx="109182" cy="10918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817EC172-997E-6AEA-D030-FB6A2E8F9B85}"/>
              </a:ext>
            </a:extLst>
          </p:cNvPr>
          <p:cNvSpPr/>
          <p:nvPr/>
        </p:nvSpPr>
        <p:spPr>
          <a:xfrm>
            <a:off x="5881300" y="3248167"/>
            <a:ext cx="109182" cy="10918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BEB23E1D-B713-4BC2-03C3-A62E8BA6A8BA}"/>
              </a:ext>
            </a:extLst>
          </p:cNvPr>
          <p:cNvSpPr/>
          <p:nvPr/>
        </p:nvSpPr>
        <p:spPr>
          <a:xfrm>
            <a:off x="4706073" y="3248167"/>
            <a:ext cx="109182" cy="10918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EB53C1B7-53AF-8827-2832-FFA1364A8565}"/>
              </a:ext>
            </a:extLst>
          </p:cNvPr>
          <p:cNvSpPr/>
          <p:nvPr/>
        </p:nvSpPr>
        <p:spPr>
          <a:xfrm>
            <a:off x="4706073" y="3078755"/>
            <a:ext cx="109182" cy="10918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049" name="Oval 2048">
            <a:extLst>
              <a:ext uri="{FF2B5EF4-FFF2-40B4-BE49-F238E27FC236}">
                <a16:creationId xmlns:a16="http://schemas.microsoft.com/office/drawing/2014/main" id="{579EAD79-5E31-04FD-9EBD-420C6F1DC7CA}"/>
              </a:ext>
            </a:extLst>
          </p:cNvPr>
          <p:cNvSpPr/>
          <p:nvPr/>
        </p:nvSpPr>
        <p:spPr>
          <a:xfrm>
            <a:off x="3572332" y="3250583"/>
            <a:ext cx="109182" cy="10918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6B7A280F-8D38-0B4A-524C-0A358AD30D1A}"/>
              </a:ext>
            </a:extLst>
          </p:cNvPr>
          <p:cNvSpPr/>
          <p:nvPr/>
        </p:nvSpPr>
        <p:spPr>
          <a:xfrm>
            <a:off x="3778756" y="3248167"/>
            <a:ext cx="109182" cy="10918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869920B-CE34-2E87-527B-398EF8C5B9E6}"/>
              </a:ext>
            </a:extLst>
          </p:cNvPr>
          <p:cNvSpPr/>
          <p:nvPr/>
        </p:nvSpPr>
        <p:spPr>
          <a:xfrm>
            <a:off x="4281073" y="3247171"/>
            <a:ext cx="109182" cy="10918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CA764D4-DFAF-EF4D-C903-95884E320AA2}"/>
              </a:ext>
            </a:extLst>
          </p:cNvPr>
          <p:cNvSpPr/>
          <p:nvPr/>
        </p:nvSpPr>
        <p:spPr>
          <a:xfrm>
            <a:off x="2722235" y="3227116"/>
            <a:ext cx="109182" cy="10918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09E399F-A178-B9A1-D017-23DA7A641ECF}"/>
              </a:ext>
            </a:extLst>
          </p:cNvPr>
          <p:cNvSpPr/>
          <p:nvPr/>
        </p:nvSpPr>
        <p:spPr>
          <a:xfrm>
            <a:off x="2899679" y="3227116"/>
            <a:ext cx="109182" cy="10918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1F36B9C-DAF1-E598-13EE-E500C5E22A4B}"/>
              </a:ext>
            </a:extLst>
          </p:cNvPr>
          <p:cNvSpPr/>
          <p:nvPr/>
        </p:nvSpPr>
        <p:spPr>
          <a:xfrm>
            <a:off x="2899679" y="3075003"/>
            <a:ext cx="109182" cy="10918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A2FE001-DB34-C5D9-0EDD-F6525C3F8E11}"/>
              </a:ext>
            </a:extLst>
          </p:cNvPr>
          <p:cNvSpPr/>
          <p:nvPr/>
        </p:nvSpPr>
        <p:spPr>
          <a:xfrm>
            <a:off x="3147235" y="3247171"/>
            <a:ext cx="109182" cy="10918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AF30EA1-04B6-D505-52EB-D00B9AE93C99}"/>
              </a:ext>
            </a:extLst>
          </p:cNvPr>
          <p:cNvSpPr/>
          <p:nvPr/>
        </p:nvSpPr>
        <p:spPr>
          <a:xfrm>
            <a:off x="4958500" y="3247171"/>
            <a:ext cx="109182" cy="10918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839E179-2B74-6B4B-5986-7CF6F469C516}"/>
              </a:ext>
            </a:extLst>
          </p:cNvPr>
          <p:cNvSpPr/>
          <p:nvPr/>
        </p:nvSpPr>
        <p:spPr>
          <a:xfrm>
            <a:off x="4013982" y="3249172"/>
            <a:ext cx="109182" cy="10918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EC952CA-9508-DEB1-7EC3-72DF2FAB99B9}"/>
              </a:ext>
            </a:extLst>
          </p:cNvPr>
          <p:cNvSpPr/>
          <p:nvPr/>
        </p:nvSpPr>
        <p:spPr>
          <a:xfrm>
            <a:off x="4281073" y="3079699"/>
            <a:ext cx="109182" cy="10918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941B876-78C9-C781-D59D-0E4509478D19}"/>
              </a:ext>
            </a:extLst>
          </p:cNvPr>
          <p:cNvSpPr/>
          <p:nvPr/>
        </p:nvSpPr>
        <p:spPr>
          <a:xfrm>
            <a:off x="3393465" y="3247171"/>
            <a:ext cx="109182" cy="10918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98F0DD7-8F88-39D0-C1E5-3ECEDE49B8FF}"/>
              </a:ext>
            </a:extLst>
          </p:cNvPr>
          <p:cNvSpPr/>
          <p:nvPr/>
        </p:nvSpPr>
        <p:spPr>
          <a:xfrm>
            <a:off x="5233401" y="3249172"/>
            <a:ext cx="109182" cy="10918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9534A93-9A15-C36F-3FC6-24242AB133D0}"/>
              </a:ext>
            </a:extLst>
          </p:cNvPr>
          <p:cNvSpPr/>
          <p:nvPr/>
        </p:nvSpPr>
        <p:spPr>
          <a:xfrm>
            <a:off x="4440541" y="3249172"/>
            <a:ext cx="109182" cy="10918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697AB4B-BAE1-B101-1CEC-6141E61CA02A}"/>
              </a:ext>
            </a:extLst>
          </p:cNvPr>
          <p:cNvSpPr/>
          <p:nvPr/>
        </p:nvSpPr>
        <p:spPr>
          <a:xfrm>
            <a:off x="5471488" y="3247171"/>
            <a:ext cx="109182" cy="10918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E366648-64CC-2CE7-B66F-E3B797536C24}"/>
              </a:ext>
            </a:extLst>
          </p:cNvPr>
          <p:cNvSpPr/>
          <p:nvPr/>
        </p:nvSpPr>
        <p:spPr>
          <a:xfrm>
            <a:off x="3266583" y="3247171"/>
            <a:ext cx="109182" cy="10918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D19ADBC-C389-4DF9-1E87-144932BDBB22}"/>
              </a:ext>
            </a:extLst>
          </p:cNvPr>
          <p:cNvSpPr/>
          <p:nvPr/>
        </p:nvSpPr>
        <p:spPr>
          <a:xfrm>
            <a:off x="3256417" y="3072873"/>
            <a:ext cx="109182" cy="10918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4C7847B-0192-A92C-0656-9F3217808332}"/>
              </a:ext>
            </a:extLst>
          </p:cNvPr>
          <p:cNvSpPr/>
          <p:nvPr/>
        </p:nvSpPr>
        <p:spPr>
          <a:xfrm>
            <a:off x="3256417" y="2898575"/>
            <a:ext cx="109182" cy="10918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72CB89B-D78A-D2E9-7D6A-3E3D59B7FD50}"/>
              </a:ext>
            </a:extLst>
          </p:cNvPr>
          <p:cNvSpPr/>
          <p:nvPr/>
        </p:nvSpPr>
        <p:spPr>
          <a:xfrm>
            <a:off x="3901355" y="3258283"/>
            <a:ext cx="109182" cy="10918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 Placeholder 5">
                <a:extLst>
                  <a:ext uri="{FF2B5EF4-FFF2-40B4-BE49-F238E27FC236}">
                    <a16:creationId xmlns:a16="http://schemas.microsoft.com/office/drawing/2014/main" id="{8F1C5139-6982-5BA2-EAF1-64CFB41D896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91659" y="4320839"/>
                <a:ext cx="11608680" cy="1020418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:r>
                  <a:rPr kumimoji="1" lang="en-NZ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Although the first few observations (the burn-in) may not fit the desired pattern</a:t>
                </a:r>
                <a:r>
                  <a:rPr lang="en-NZ" altLang="ja-JP" sz="18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,</a:t>
                </a:r>
              </a:p>
              <a:p>
                <a:pPr lvl="0">
                  <a:lnSpc>
                    <a:spcPct val="100000"/>
                  </a:lnSpc>
                  <a:defRPr/>
                </a:pPr>
                <a:r>
                  <a:rPr kumimoji="1" lang="en-NZ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if we keep repeating this process </a:t>
                </a:r>
                <a:r>
                  <a:rPr lang="en-NZ" altLang="ja-JP" sz="1800" dirty="0">
                    <a:solidFill>
                      <a:prstClr val="black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over and over again, we will obtain a sequence of observations distributed according to the target distribution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sub>
                    </m:sSub>
                    <m:d>
                      <m:dPr>
                        <m:ctrlP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NZ" altLang="ja-JP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NZ" altLang="ja-JP" sz="180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26" name="Text Placeholder 5">
                <a:extLst>
                  <a:ext uri="{FF2B5EF4-FFF2-40B4-BE49-F238E27FC236}">
                    <a16:creationId xmlns:a16="http://schemas.microsoft.com/office/drawing/2014/main" id="{8F1C5139-6982-5BA2-EAF1-64CFB41D89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659" y="4320839"/>
                <a:ext cx="11608680" cy="1020418"/>
              </a:xfrm>
              <a:prstGeom prst="rect">
                <a:avLst/>
              </a:prstGeom>
              <a:blipFill>
                <a:blip r:embed="rId4"/>
                <a:stretch>
                  <a:fillRect l="-473" t="-3593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 Placeholder 5">
                <a:extLst>
                  <a:ext uri="{FF2B5EF4-FFF2-40B4-BE49-F238E27FC236}">
                    <a16:creationId xmlns:a16="http://schemas.microsoft.com/office/drawing/2014/main" id="{D88FEFB2-AF87-346C-C4C7-4DD1622252C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1197" y="2690029"/>
                <a:ext cx="1014340" cy="417954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NZ" altLang="ja-JP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NZ" altLang="ja-JP" sz="1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sub>
                    </m:sSub>
                    <m:d>
                      <m:dPr>
                        <m:ctrlPr>
                          <a:rPr lang="en-NZ" altLang="ja-JP" sz="1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altLang="ja-JP" sz="1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kumimoji="1" lang="en-NZ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</a:t>
                </a:r>
              </a:p>
            </p:txBody>
          </p:sp>
        </mc:Choice>
        <mc:Fallback xmlns="">
          <p:sp>
            <p:nvSpPr>
              <p:cNvPr id="35" name="Text Placeholder 5">
                <a:extLst>
                  <a:ext uri="{FF2B5EF4-FFF2-40B4-BE49-F238E27FC236}">
                    <a16:creationId xmlns:a16="http://schemas.microsoft.com/office/drawing/2014/main" id="{D88FEFB2-AF87-346C-C4C7-4DD1622252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1197" y="2690029"/>
                <a:ext cx="1014340" cy="4179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3162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5" grpId="0" animBg="1"/>
      <p:bldP spid="17" grpId="0" animBg="1"/>
      <p:bldP spid="19" grpId="0" animBg="1"/>
      <p:bldP spid="20" grpId="0" animBg="1"/>
      <p:bldP spid="22" grpId="0" animBg="1"/>
      <p:bldP spid="23" grpId="0" animBg="1"/>
      <p:bldP spid="2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5F0D1D-E19F-DACA-B7EC-3C7F0D9734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463" y="1360660"/>
            <a:ext cx="8541118" cy="5073229"/>
          </a:xfrm>
          <a:prstGeom prst="rect">
            <a:avLst/>
          </a:prstGeom>
        </p:spPr>
      </p:pic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 Placeholder 5">
                <a:extLst>
                  <a:ext uri="{FF2B5EF4-FFF2-40B4-BE49-F238E27FC236}">
                    <a16:creationId xmlns:a16="http://schemas.microsoft.com/office/drawing/2014/main" id="{8A88894E-47FE-784B-EE7F-90AA2B5FB9E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810959" y="2706081"/>
                <a:ext cx="3656157" cy="1445837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1" lang="en-NZ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The histogram of the observations produced by the Metropolis-Hastings algorithm should look very much like the target distribution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NZ" altLang="ja-JP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sub>
                    </m:sSub>
                    <m:d>
                      <m:dPr>
                        <m:ctrlP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NZ" altLang="ja-JP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kumimoji="1" lang="en-NZ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</a:t>
                </a:r>
              </a:p>
            </p:txBody>
          </p:sp>
        </mc:Choice>
        <mc:Fallback xmlns="">
          <p:sp>
            <p:nvSpPr>
              <p:cNvPr id="38" name="Text Placeholder 5">
                <a:extLst>
                  <a:ext uri="{FF2B5EF4-FFF2-40B4-BE49-F238E27FC236}">
                    <a16:creationId xmlns:a16="http://schemas.microsoft.com/office/drawing/2014/main" id="{8A88894E-47FE-784B-EE7F-90AA2B5FB9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0959" y="2706081"/>
                <a:ext cx="3656157" cy="1445837"/>
              </a:xfrm>
              <a:prstGeom prst="rect">
                <a:avLst/>
              </a:prstGeom>
              <a:blipFill>
                <a:blip r:embed="rId4"/>
                <a:stretch>
                  <a:fillRect l="-1333" t="-2532" r="-1500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6">
            <a:extLst>
              <a:ext uri="{FF2B5EF4-FFF2-40B4-BE49-F238E27FC236}">
                <a16:creationId xmlns:a16="http://schemas.microsoft.com/office/drawing/2014/main" id="{CAB1391C-7B5F-DD00-4229-AC480DE976F9}"/>
              </a:ext>
            </a:extLst>
          </p:cNvPr>
          <p:cNvSpPr txBox="1">
            <a:spLocks/>
          </p:cNvSpPr>
          <p:nvPr/>
        </p:nvSpPr>
        <p:spPr>
          <a:xfrm>
            <a:off x="319463" y="196889"/>
            <a:ext cx="8168429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Overview of MH Algorithm:</a:t>
            </a:r>
            <a:endParaRPr kumimoji="1" lang="ja-JP" altLang="en-US" sz="3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 Light" panose="020B0300000000000000" pitchFamily="34" charset="-128"/>
              <a:cs typeface="+mj-cs"/>
            </a:endParaRP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8C89FBA7-4D53-B6D1-907A-CBB601F96F46}"/>
              </a:ext>
            </a:extLst>
          </p:cNvPr>
          <p:cNvSpPr txBox="1">
            <a:spLocks/>
          </p:cNvSpPr>
          <p:nvPr/>
        </p:nvSpPr>
        <p:spPr>
          <a:xfrm>
            <a:off x="8993875" y="86139"/>
            <a:ext cx="30954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Overview of MH Algorithm</a:t>
            </a: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EDDDD"/>
              </a:solidFill>
              <a:effectLst/>
              <a:uLnTx/>
              <a:uFillTx/>
              <a:latin typeface="Gidole"/>
              <a:ea typeface="游ゴシック" panose="020B04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87903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13" name="Title 6">
            <a:extLst>
              <a:ext uri="{FF2B5EF4-FFF2-40B4-BE49-F238E27FC236}">
                <a16:creationId xmlns:a16="http://schemas.microsoft.com/office/drawing/2014/main" id="{FD2C4CF4-30F1-9DA9-D749-20B09F41A56D}"/>
              </a:ext>
            </a:extLst>
          </p:cNvPr>
          <p:cNvSpPr txBox="1">
            <a:spLocks/>
          </p:cNvSpPr>
          <p:nvPr/>
        </p:nvSpPr>
        <p:spPr>
          <a:xfrm>
            <a:off x="319463" y="196889"/>
            <a:ext cx="8168429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Overview of MH Algorithm:</a:t>
            </a:r>
            <a:endParaRPr kumimoji="1" lang="ja-JP" altLang="en-US" sz="3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 Light" panose="020B0300000000000000" pitchFamily="34" charset="-128"/>
              <a:cs typeface="+mj-cs"/>
            </a:endParaRPr>
          </a:p>
        </p:txBody>
      </p:sp>
      <p:sp>
        <p:nvSpPr>
          <p:cNvPr id="14" name="Footer Placeholder 2">
            <a:extLst>
              <a:ext uri="{FF2B5EF4-FFF2-40B4-BE49-F238E27FC236}">
                <a16:creationId xmlns:a16="http://schemas.microsoft.com/office/drawing/2014/main" id="{F23D8DA0-8D1C-7514-B036-BE52E81A1B5D}"/>
              </a:ext>
            </a:extLst>
          </p:cNvPr>
          <p:cNvSpPr txBox="1">
            <a:spLocks/>
          </p:cNvSpPr>
          <p:nvPr/>
        </p:nvSpPr>
        <p:spPr>
          <a:xfrm>
            <a:off x="8993875" y="86139"/>
            <a:ext cx="30954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Overview of MH Algorithm</a:t>
            </a: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EDDDD"/>
              </a:solidFill>
              <a:effectLst/>
              <a:uLnTx/>
              <a:uFillTx/>
              <a:latin typeface="Gidole"/>
              <a:ea typeface="游ゴシック" panose="020B0400000000000000" pitchFamily="34" charset="-128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Placeholder 5">
                <a:extLst>
                  <a:ext uri="{FF2B5EF4-FFF2-40B4-BE49-F238E27FC236}">
                    <a16:creationId xmlns:a16="http://schemas.microsoft.com/office/drawing/2014/main" id="{CB0D66C3-7ACA-92D1-2B70-5AE19B8D1E1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2" y="851853"/>
                <a:ext cx="11608680" cy="365125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lang="en-NZ" altLang="ja-JP" sz="1800" dirty="0">
                    <a:solidFill>
                      <a:schemeClr val="tx1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Consider</a:t>
                </a:r>
                <a:r>
                  <a:rPr kumimoji="1" lang="en-NZ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the random variable </a:t>
                </a:r>
                <a14:m>
                  <m:oMath xmlns:m="http://schemas.openxmlformats.org/officeDocument/2006/math"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  <a:cs typeface="+mn-cs"/>
                      </a:rPr>
                      <m:t>𝑿</m:t>
                    </m:r>
                  </m:oMath>
                </a14:m>
                <a:r>
                  <a:rPr kumimoji="1" lang="en-NZ" altLang="ja-JP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</a:t>
                </a:r>
                <a:r>
                  <a:rPr kumimoji="1" lang="en-NZ" altLang="ja-JP" sz="180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defined by the probability</a:t>
                </a:r>
                <a:r>
                  <a:rPr kumimoji="1" lang="en-NZ" altLang="ja-JP" sz="1800" i="0" u="none" strike="noStrike" kern="1200" cap="none" spc="0" normalizeH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density function…</a:t>
                </a:r>
                <a:endParaRPr kumimoji="1" lang="en-US" altLang="ja-JP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5" name="Text Placeholder 5">
                <a:extLst>
                  <a:ext uri="{FF2B5EF4-FFF2-40B4-BE49-F238E27FC236}">
                    <a16:creationId xmlns:a16="http://schemas.microsoft.com/office/drawing/2014/main" id="{CB0D66C3-7ACA-92D1-2B70-5AE19B8D1E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2" y="851853"/>
                <a:ext cx="11608680" cy="365125"/>
              </a:xfrm>
              <a:prstGeom prst="rect">
                <a:avLst/>
              </a:prstGeom>
              <a:blipFill>
                <a:blip r:embed="rId3"/>
                <a:stretch>
                  <a:fillRect l="-420" t="-10000" b="-26667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Placeholder 5">
                <a:extLst>
                  <a:ext uri="{FF2B5EF4-FFF2-40B4-BE49-F238E27FC236}">
                    <a16:creationId xmlns:a16="http://schemas.microsoft.com/office/drawing/2014/main" id="{DBE0F8DF-7F79-CE23-F326-8C414904950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43713" y="1216978"/>
                <a:ext cx="7904572" cy="729863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  <m:t>𝒇</m:t>
                          </m:r>
                        </m:e>
                        <m:sub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  <m:t>𝑿</m:t>
                          </m:r>
                        </m:sub>
                      </m:sSub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(</m:t>
                      </m:r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𝒙</m:t>
                      </m:r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) =  </m:t>
                      </m:r>
                      <m:d>
                        <m:dPr>
                          <m:begChr m:val="{"/>
                          <m:endChr m:val=""/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  <a:cs typeface="+mn-cs"/>
                                </a:rPr>
                              </m:ctrlPr>
                            </m:mPr>
                            <m:mr>
                              <m:e>
                                <m:r>
                                  <a:rPr kumimoji="1" lang="en-NZ" altLang="ja-JP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  <a:cs typeface="+mn-cs"/>
                                  </a:rPr>
                                  <m:t>𝑨</m:t>
                                </m:r>
                                <m:r>
                                  <a:rPr kumimoji="1" lang="en-NZ" altLang="ja-JP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  <a:cs typeface="+mn-cs"/>
                                  </a:rPr>
                                  <m:t> </m:t>
                                </m:r>
                                <m:r>
                                  <a:rPr kumimoji="1" lang="en-NZ" altLang="ja-JP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  <a:cs typeface="+mn-cs"/>
                                  </a:rPr>
                                  <m:t>𝒙</m:t>
                                </m:r>
                                <m:r>
                                  <a:rPr kumimoji="1" lang="en-NZ" altLang="ja-JP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  <a:cs typeface="+mn-cs"/>
                                  </a:rPr>
                                  <m:t> </m:t>
                                </m:r>
                                <m:sSup>
                                  <m:sSupPr>
                                    <m:ctrlPr>
                                      <a:rPr kumimoji="1" lang="en-NZ" altLang="ja-JP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1" lang="en-NZ" altLang="ja-JP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  <a:cs typeface="+mn-cs"/>
                                      </a:rPr>
                                      <m:t>𝒆</m:t>
                                    </m:r>
                                  </m:e>
                                  <m:sup>
                                    <m:r>
                                      <a:rPr kumimoji="1" lang="en-NZ" altLang="ja-JP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  <a:cs typeface="+mn-cs"/>
                                      </a:rPr>
                                      <m:t>−</m:t>
                                    </m:r>
                                    <m:r>
                                      <a:rPr kumimoji="1" lang="en-NZ" altLang="ja-JP" sz="18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  <a:cs typeface="+mn-cs"/>
                                      </a:rPr>
                                      <m:t>𝒙</m:t>
                                    </m:r>
                                  </m:sup>
                                </m:sSup>
                              </m:e>
                              <m:e>
                                <m:r>
                                  <a:rPr kumimoji="1" lang="en-NZ" altLang="ja-JP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  <a:cs typeface="+mn-cs"/>
                                  </a:rPr>
                                  <m:t>𝒊𝒇</m:t>
                                </m:r>
                                <m:r>
                                  <a:rPr kumimoji="1" lang="en-NZ" altLang="ja-JP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  <a:cs typeface="+mn-cs"/>
                                  </a:rPr>
                                  <m:t> </m:t>
                                </m:r>
                                <m:r>
                                  <a:rPr kumimoji="1" lang="en-NZ" altLang="ja-JP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  <a:cs typeface="+mn-cs"/>
                                  </a:rPr>
                                  <m:t>𝒙</m:t>
                                </m:r>
                                <m:r>
                                  <a:rPr kumimoji="1" lang="en-NZ" altLang="ja-JP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  <a:cs typeface="+mn-cs"/>
                                  </a:rPr>
                                  <m:t>∈[</m:t>
                                </m:r>
                                <m:r>
                                  <a:rPr kumimoji="1" lang="en-NZ" altLang="ja-JP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  <a:cs typeface="+mn-cs"/>
                                  </a:rPr>
                                  <m:t>𝟎</m:t>
                                </m:r>
                                <m:r>
                                  <a:rPr kumimoji="1" lang="en-NZ" altLang="ja-JP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  <a:cs typeface="+mn-cs"/>
                                  </a:rPr>
                                  <m:t>,</m:t>
                                </m:r>
                                <m:r>
                                  <a:rPr kumimoji="1" lang="en-NZ" altLang="ja-JP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  <a:cs typeface="+mn-cs"/>
                                  </a:rPr>
                                  <m:t>𝟏𝟎𝟎</m:t>
                                </m:r>
                                <m:r>
                                  <a:rPr kumimoji="1" lang="en-NZ" altLang="ja-JP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  <a:cs typeface="+mn-cs"/>
                                  </a:rPr>
                                  <m:t>]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en-NZ" altLang="ja-JP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  <a:cs typeface="+mn-cs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kumimoji="1" lang="en-NZ" altLang="ja-JP" sz="1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  <a:cs typeface="+mn-cs"/>
                                  </a:rPr>
                                  <m:t>𝒐𝒕𝒉𝒆𝒓𝒘𝒊𝒔𝒆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1" lang="en-NZ" altLang="ja-JP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1" lang="en-US" altLang="ja-JP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</a:t>
                </a:r>
              </a:p>
            </p:txBody>
          </p:sp>
        </mc:Choice>
        <mc:Fallback xmlns="">
          <p:sp>
            <p:nvSpPr>
              <p:cNvPr id="6" name="Text Placeholder 5">
                <a:extLst>
                  <a:ext uri="{FF2B5EF4-FFF2-40B4-BE49-F238E27FC236}">
                    <a16:creationId xmlns:a16="http://schemas.microsoft.com/office/drawing/2014/main" id="{DBE0F8DF-7F79-CE23-F326-8C41490495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3713" y="1216978"/>
                <a:ext cx="7904572" cy="72986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Placeholder 5">
                <a:extLst>
                  <a:ext uri="{FF2B5EF4-FFF2-40B4-BE49-F238E27FC236}">
                    <a16:creationId xmlns:a16="http://schemas.microsoft.com/office/drawing/2014/main" id="{3A1C3725-4266-5A44-7363-7F56561D6D4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960164" y="1358987"/>
                <a:ext cx="3599996" cy="549813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NZ" altLang="ja-JP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𝑨</m:t>
                      </m:r>
                      <m:r>
                        <a:rPr lang="en-NZ" altLang="ja-JP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=</m:t>
                      </m:r>
                      <m:d>
                        <m:dPr>
                          <m:ctrlPr>
                            <a:rPr lang="en-NZ" altLang="ja-JP" sz="1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</m:ctrlPr>
                        </m:dPr>
                        <m:e>
                          <m:r>
                            <a:rPr lang="en-NZ" altLang="ja-JP" sz="1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𝟏</m:t>
                          </m:r>
                          <m:r>
                            <a:rPr lang="en-NZ" altLang="ja-JP" sz="1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 −</m:t>
                          </m:r>
                          <m:r>
                            <a:rPr lang="en-NZ" altLang="ja-JP" sz="1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𝟏𝟎𝟏</m:t>
                          </m:r>
                          <m:sSup>
                            <m:sSupPr>
                              <m:ctrlPr>
                                <a:rPr lang="en-NZ" altLang="ja-JP" sz="12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</a:rPr>
                              </m:ctrlPr>
                            </m:sSupPr>
                            <m:e>
                              <m:r>
                                <a:rPr lang="en-NZ" altLang="ja-JP" sz="12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en-NZ" altLang="ja-JP" sz="12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</a:rPr>
                                <m:t>−</m:t>
                              </m:r>
                              <m:r>
                                <a:rPr lang="en-NZ" altLang="ja-JP" sz="12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</a:rPr>
                                <m:t>𝟏𝟎𝟎</m:t>
                              </m:r>
                            </m:sup>
                          </m:sSup>
                        </m:e>
                      </m:d>
                      <m:r>
                        <a:rPr lang="en-NZ" altLang="ja-JP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游ゴシック" panose="020B0400000000000000" pitchFamily="34" charset="-128"/>
                        </a:rPr>
                        <m:t> </m:t>
                      </m:r>
                      <m:r>
                        <a:rPr lang="en-NZ" altLang="ja-JP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NZ" altLang="ja-JP" sz="1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kumimoji="1" lang="en-US" altLang="ja-JP" sz="12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  <a:p>
                <a:pPr marL="0" marR="0" lvl="0" indent="0" algn="ctr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1" lang="en-US" altLang="ja-JP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</a:rPr>
                  <a:t> is a normalizing constant</a:t>
                </a:r>
              </a:p>
            </p:txBody>
          </p:sp>
        </mc:Choice>
        <mc:Fallback xmlns="">
          <p:sp>
            <p:nvSpPr>
              <p:cNvPr id="7" name="Text Placeholder 5">
                <a:extLst>
                  <a:ext uri="{FF2B5EF4-FFF2-40B4-BE49-F238E27FC236}">
                    <a16:creationId xmlns:a16="http://schemas.microsoft.com/office/drawing/2014/main" id="{3A1C3725-4266-5A44-7363-7F56561D6D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0164" y="1358987"/>
                <a:ext cx="3599996" cy="54981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Placeholder 5">
                <a:extLst>
                  <a:ext uri="{FF2B5EF4-FFF2-40B4-BE49-F238E27FC236}">
                    <a16:creationId xmlns:a16="http://schemas.microsoft.com/office/drawing/2014/main" id="{7F228EB7-31EE-57D6-02D3-89F2B5F8522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2" y="1849792"/>
                <a:ext cx="11608680" cy="579865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lang="en-NZ" altLang="ja-JP" sz="1800" dirty="0">
                    <a:solidFill>
                      <a:schemeClr val="tx1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… and the function </a:t>
                </a:r>
                <a14:m>
                  <m:oMath xmlns:m="http://schemas.openxmlformats.org/officeDocument/2006/math">
                    <m:r>
                      <a:rPr lang="en-NZ" altLang="ja-JP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𝒈</m:t>
                    </m:r>
                    <m:d>
                      <m:dPr>
                        <m:ctrlPr>
                          <a:rPr lang="en-NZ" altLang="ja-JP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</m:ctrlPr>
                      </m:dPr>
                      <m:e>
                        <m:r>
                          <a:rPr lang="en-NZ" altLang="ja-JP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𝒙</m:t>
                        </m:r>
                      </m:e>
                    </m:d>
                    <m:r>
                      <a:rPr lang="en-NZ" altLang="ja-JP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=</m:t>
                    </m:r>
                    <m:f>
                      <m:fPr>
                        <m:ctrlPr>
                          <a:rPr lang="en-NZ" altLang="ja-JP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n-NZ" altLang="ja-JP" sz="1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</m:ctrlPr>
                          </m:funcPr>
                          <m:fName>
                            <m:r>
                              <a:rPr lang="en-NZ" altLang="ja-JP" sz="1800" b="1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  <m:t>𝐥𝐧</m:t>
                            </m:r>
                          </m:fName>
                          <m:e>
                            <m:d>
                              <m:dPr>
                                <m:ctrlPr>
                                  <a:rPr lang="en-NZ" altLang="ja-JP" sz="1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</m:ctrlPr>
                              </m:dPr>
                              <m:e>
                                <m:r>
                                  <a:rPr lang="en-NZ" altLang="ja-JP" sz="1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𝒙</m:t>
                                </m:r>
                                <m:r>
                                  <a:rPr lang="en-NZ" altLang="ja-JP" sz="1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+</m:t>
                                </m:r>
                                <m:r>
                                  <a:rPr lang="en-NZ" altLang="ja-JP" sz="18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</a:rPr>
                                  <m:t>𝟐</m:t>
                                </m:r>
                              </m:e>
                            </m:d>
                          </m:e>
                        </m:func>
                      </m:num>
                      <m:den>
                        <m:func>
                          <m:funcPr>
                            <m:ctrlPr>
                              <a:rPr lang="en-NZ" altLang="ja-JP" sz="1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</m:ctrlPr>
                          </m:funcPr>
                          <m:fName>
                            <m:r>
                              <a:rPr lang="en-NZ" altLang="ja-JP" sz="1800" b="1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  <m:t>𝐜𝐨𝐬</m:t>
                            </m:r>
                          </m:fName>
                          <m:e>
                            <m:r>
                              <a:rPr lang="en-NZ" altLang="ja-JP" sz="1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  <m:t>(√</m:t>
                            </m:r>
                            <m:r>
                              <a:rPr lang="en-NZ" altLang="ja-JP" sz="1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  <m:t>𝒙</m:t>
                            </m:r>
                          </m:e>
                        </m:func>
                        <m:r>
                          <a:rPr lang="en-NZ" altLang="ja-JP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)+</m:t>
                        </m:r>
                        <m:r>
                          <a:rPr lang="en-NZ" altLang="ja-JP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𝟏</m:t>
                        </m:r>
                      </m:den>
                    </m:f>
                  </m:oMath>
                </a14:m>
                <a:endParaRPr kumimoji="1" lang="en-US" altLang="ja-JP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8" name="Text Placeholder 5">
                <a:extLst>
                  <a:ext uri="{FF2B5EF4-FFF2-40B4-BE49-F238E27FC236}">
                    <a16:creationId xmlns:a16="http://schemas.microsoft.com/office/drawing/2014/main" id="{7F228EB7-31EE-57D6-02D3-89F2B5F852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2" y="1849792"/>
                <a:ext cx="11608680" cy="579865"/>
              </a:xfrm>
              <a:prstGeom prst="rect">
                <a:avLst/>
              </a:prstGeom>
              <a:blipFill>
                <a:blip r:embed="rId6"/>
                <a:stretch>
                  <a:fillRect l="-420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Placeholder 5">
                <a:extLst>
                  <a:ext uri="{FF2B5EF4-FFF2-40B4-BE49-F238E27FC236}">
                    <a16:creationId xmlns:a16="http://schemas.microsoft.com/office/drawing/2014/main" id="{EE0ACB83-B8FD-7B82-2804-6FD79DEB7F8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2" y="2666800"/>
                <a:ext cx="11608680" cy="126335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1" lang="en-NZ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Suppose that we want</a:t>
                </a:r>
                <a:r>
                  <a:rPr kumimoji="1" lang="en-NZ" altLang="ja-JP" sz="1800" b="0" i="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to evaluate the integral</a:t>
                </a:r>
              </a:p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lang="en-NZ" altLang="ja-JP" sz="200" baseline="0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200" b="0" i="0" u="none" strike="noStrike" kern="1200" cap="none" spc="0" normalizeH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lvl="0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𝑬</m:t>
                          </m:r>
                        </m:e>
                        <m:sub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𝒇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𝒈</m:t>
                          </m:r>
                          <m:d>
                            <m:dPr>
                              <m:ctrlP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𝑿</m:t>
                              </m:r>
                            </m:e>
                          </m:d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</m:e>
                      </m:d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≡ </m:t>
                      </m:r>
                      <m:nary>
                        <m:naryPr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𝟎</m:t>
                          </m:r>
                        </m:sub>
                        <m:sup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𝟏𝟎𝟎</m:t>
                          </m:r>
                        </m:sup>
                        <m:e>
                          <m:r>
                            <a:rPr lang="en-NZ" altLang="ja-JP" sz="1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𝒈</m:t>
                          </m:r>
                          <m:d>
                            <m:dPr>
                              <m:ctrlPr>
                                <a:rPr lang="en-NZ" altLang="ja-JP" sz="18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NZ" altLang="ja-JP" sz="18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  <m:r>
                            <a:rPr lang="en-NZ" altLang="ja-JP" sz="1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NZ" altLang="ja-JP" sz="18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altLang="ja-JP" sz="18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𝒇</m:t>
                              </m:r>
                            </m:e>
                            <m:sub>
                              <m:r>
                                <a:rPr lang="en-NZ" altLang="ja-JP" sz="18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  <m:d>
                            <m:dPr>
                              <m:ctrlPr>
                                <a:rPr lang="en-NZ" altLang="ja-JP" sz="18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NZ" altLang="ja-JP" sz="18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  <m:r>
                            <a:rPr lang="en-NZ" altLang="ja-JP" sz="1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NZ" altLang="ja-JP" sz="1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𝒅𝒙</m:t>
                          </m:r>
                        </m:e>
                      </m:nary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nary>
                        <m:naryPr>
                          <m:ctrlPr>
                            <a:rPr lang="en-NZ" altLang="ja-JP" sz="1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NZ" altLang="ja-JP" sz="1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NZ" altLang="ja-JP" sz="1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𝟏𝟎𝟎</m:t>
                          </m:r>
                        </m:sup>
                        <m:e>
                          <m:f>
                            <m:fPr>
                              <m:ctrlPr>
                                <a:rPr lang="en-NZ" altLang="ja-JP" sz="1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func>
                                <m:funcPr>
                                  <m:ctrlPr>
                                    <a:rPr lang="en-NZ" altLang="ja-JP" sz="18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a:rPr lang="en-NZ" altLang="ja-JP" sz="18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𝒍𝒏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NZ" altLang="ja-JP" sz="18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NZ" altLang="ja-JP" sz="18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  <m:r>
                                        <a:rPr lang="en-NZ" altLang="ja-JP" sz="18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NZ" altLang="ja-JP" sz="18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e>
                                  </m:d>
                                </m:e>
                              </m:func>
                            </m:num>
                            <m:den>
                              <m:func>
                                <m:funcPr>
                                  <m:ctrlPr>
                                    <a:rPr lang="en-NZ" altLang="ja-JP" sz="18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a:rPr lang="en-NZ" altLang="ja-JP" sz="18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𝒄𝒐𝒔</m:t>
                                  </m:r>
                                </m:fName>
                                <m:e>
                                  <m:r>
                                    <a:rPr lang="en-NZ" altLang="ja-JP" sz="18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en-NZ" altLang="ja-JP" sz="18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NZ" altLang="ja-JP" sz="18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rad>
                                </m:e>
                              </m:func>
                              <m:r>
                                <a:rPr lang="en-NZ" altLang="ja-JP" sz="1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)+</m:t>
                              </m:r>
                              <m:r>
                                <a:rPr lang="en-NZ" altLang="ja-JP" sz="1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den>
                          </m:f>
                          <m:r>
                            <a:rPr lang="en-NZ" altLang="ja-JP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NZ" altLang="ja-JP" sz="1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  <m:r>
                            <a:rPr lang="en-NZ" altLang="ja-JP" sz="1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NZ" altLang="ja-JP" sz="1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NZ" altLang="ja-JP" sz="1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NZ" altLang="ja-JP" sz="1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NZ" altLang="ja-JP" sz="1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en-NZ" altLang="ja-JP" sz="1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NZ" altLang="ja-JP" sz="1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sup>
                          </m:sSup>
                          <m:r>
                            <a:rPr lang="en-NZ" altLang="ja-JP" sz="1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𝒅𝒙</m:t>
                          </m:r>
                        </m:e>
                      </m:nary>
                    </m:oMath>
                  </m:oMathPara>
                </a14:m>
                <a:endParaRPr lang="en-NZ" altLang="ja-JP" sz="1800" b="1" i="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9" name="Text Placeholder 5">
                <a:extLst>
                  <a:ext uri="{FF2B5EF4-FFF2-40B4-BE49-F238E27FC236}">
                    <a16:creationId xmlns:a16="http://schemas.microsoft.com/office/drawing/2014/main" id="{EE0ACB83-B8FD-7B82-2804-6FD79DEB7F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2" y="2666800"/>
                <a:ext cx="11608680" cy="1263359"/>
              </a:xfrm>
              <a:prstGeom prst="rect">
                <a:avLst/>
              </a:prstGeom>
              <a:blipFill>
                <a:blip r:embed="rId7"/>
                <a:stretch>
                  <a:fillRect l="-420" t="-2404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Placeholder 5">
                <a:extLst>
                  <a:ext uri="{FF2B5EF4-FFF2-40B4-BE49-F238E27FC236}">
                    <a16:creationId xmlns:a16="http://schemas.microsoft.com/office/drawing/2014/main" id="{0DBD6342-40D0-45DE-67EB-7F036E30ECF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91659" y="4132153"/>
                <a:ext cx="11608680" cy="773074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:r>
                  <a:rPr kumimoji="1" lang="en-NZ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This integral is intractable (too hard to be solved analytically). However, we know</a:t>
                </a:r>
                <a:r>
                  <a:rPr kumimoji="1" lang="en-NZ" altLang="ja-JP" sz="1800" b="0" i="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we can approximate this integral by taking a large number of observations of </a:t>
                </a:r>
                <a14:m>
                  <m:oMath xmlns:m="http://schemas.openxmlformats.org/officeDocument/2006/math">
                    <m:r>
                      <a:rPr kumimoji="1" lang="en-NZ" altLang="ja-JP" sz="1800" b="1" i="1" u="none" strike="noStrike" kern="1200" cap="none" spc="0" normalizeH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游ゴシック" panose="020B0400000000000000" pitchFamily="34" charset="-128"/>
                      </a:rPr>
                      <m:t>𝑿</m:t>
                    </m:r>
                  </m:oMath>
                </a14:m>
                <a:r>
                  <a:rPr lang="en-NZ" altLang="ja-JP" sz="1800" b="1" i="0" dirty="0">
                    <a:solidFill>
                      <a:prstClr val="black"/>
                    </a:solidFill>
                    <a:latin typeface="Calibri" panose="020F0502020204030204"/>
                  </a:rPr>
                  <a:t> </a:t>
                </a:r>
                <a:r>
                  <a:rPr lang="en-NZ" altLang="ja-JP" sz="1800" i="0" dirty="0">
                    <a:solidFill>
                      <a:prstClr val="black"/>
                    </a:solidFill>
                    <a:latin typeface="Calibri" panose="020F0502020204030204"/>
                  </a:rPr>
                  <a:t>distributed according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NZ" altLang="ja-JP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sub>
                    </m:sSub>
                    <m:r>
                      <a:rPr lang="en-NZ" altLang="ja-JP" sz="1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NZ" altLang="ja-JP" sz="1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NZ" altLang="ja-JP" sz="18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NZ" altLang="ja-JP" sz="1800" i="0" dirty="0">
                    <a:solidFill>
                      <a:prstClr val="black"/>
                    </a:solidFill>
                    <a:latin typeface="Calibri" panose="020F0502020204030204"/>
                  </a:rPr>
                  <a:t>and calculating </a:t>
                </a:r>
              </a:p>
            </p:txBody>
          </p:sp>
        </mc:Choice>
        <mc:Fallback xmlns="">
          <p:sp>
            <p:nvSpPr>
              <p:cNvPr id="11" name="Text Placeholder 5">
                <a:extLst>
                  <a:ext uri="{FF2B5EF4-FFF2-40B4-BE49-F238E27FC236}">
                    <a16:creationId xmlns:a16="http://schemas.microsoft.com/office/drawing/2014/main" id="{0DBD6342-40D0-45DE-67EB-7F036E30EC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659" y="4132153"/>
                <a:ext cx="11608680" cy="773074"/>
              </a:xfrm>
              <a:prstGeom prst="rect">
                <a:avLst/>
              </a:prstGeom>
              <a:blipFill>
                <a:blip r:embed="rId8"/>
                <a:stretch>
                  <a:fillRect l="-473" t="-4724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 Placeholder 5">
                <a:extLst>
                  <a:ext uri="{FF2B5EF4-FFF2-40B4-BE49-F238E27FC236}">
                    <a16:creationId xmlns:a16="http://schemas.microsoft.com/office/drawing/2014/main" id="{BE801180-7E1B-5955-AD14-145130C04A4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91659" y="4705950"/>
                <a:ext cx="11608680" cy="926705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𝒈</m:t>
                              </m:r>
                            </m:e>
                          </m:acc>
                        </m:e>
                        <m:sub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𝒏</m:t>
                          </m:r>
                        </m:sub>
                      </m:sSub>
                      <m:d>
                        <m:dPr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𝑿</m:t>
                          </m:r>
                        </m:e>
                      </m:d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≡  </m:t>
                      </m:r>
                      <m:f>
                        <m:fPr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𝟏</m:t>
                          </m:r>
                        </m:num>
                        <m:den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𝒏</m:t>
                          </m:r>
                        </m:den>
                      </m:f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</m:t>
                      </m:r>
                      <m:nary>
                        <m:naryPr>
                          <m:chr m:val="∑"/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𝒊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=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𝟏</m:t>
                          </m:r>
                        </m:sub>
                        <m:sup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𝒏</m:t>
                          </m:r>
                        </m:sup>
                        <m:e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𝒈</m:t>
                          </m:r>
                          <m:d>
                            <m:dPr>
                              <m:ctrlP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1" lang="en-NZ" altLang="ja-JP" sz="18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NZ" altLang="ja-JP" sz="18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𝑿</m:t>
                                  </m:r>
                                </m:e>
                                <m:sub>
                                  <m:r>
                                    <a:rPr kumimoji="1" lang="en-NZ" altLang="ja-JP" sz="18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kumimoji="1" lang="en-NZ" altLang="ja-JP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1" lang="en-US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</a:t>
                </a:r>
              </a:p>
            </p:txBody>
          </p:sp>
        </mc:Choice>
        <mc:Fallback xmlns="">
          <p:sp>
            <p:nvSpPr>
              <p:cNvPr id="19" name="Text Placeholder 5">
                <a:extLst>
                  <a:ext uri="{FF2B5EF4-FFF2-40B4-BE49-F238E27FC236}">
                    <a16:creationId xmlns:a16="http://schemas.microsoft.com/office/drawing/2014/main" id="{BE801180-7E1B-5955-AD14-145130C04A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659" y="4705950"/>
                <a:ext cx="11608680" cy="92670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5">
                <a:extLst>
                  <a:ext uri="{FF2B5EF4-FFF2-40B4-BE49-F238E27FC236}">
                    <a16:creationId xmlns:a16="http://schemas.microsoft.com/office/drawing/2014/main" id="{A739DE8A-4479-C71E-3184-3B01A659CC1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91660" y="5490227"/>
                <a:ext cx="11608680" cy="1263359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lang="en-NZ" altLang="ja-JP" sz="200" baseline="0" dirty="0">
                  <a:solidFill>
                    <a:srgbClr val="C00000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200" b="0" i="0" u="none" strike="noStrike" kern="1200" cap="none" spc="0" normalizeH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1" lang="en-NZ" altLang="ja-JP" sz="2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lvl="0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𝑬</m:t>
                          </m:r>
                        </m:e>
                        <m:sub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𝒇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𝒈</m:t>
                          </m:r>
                          <m:d>
                            <m:dPr>
                              <m:ctrlP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C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1" lang="en-NZ" altLang="ja-JP" sz="18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C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𝑿</m:t>
                              </m:r>
                            </m:e>
                          </m:d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</m:t>
                          </m:r>
                        </m:e>
                      </m:d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 ≡ </m:t>
                      </m:r>
                      <m:nary>
                        <m:naryPr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𝟎</m:t>
                          </m:r>
                        </m:sub>
                        <m:sup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𝟏𝟎𝟎</m:t>
                          </m:r>
                        </m:sup>
                        <m:e>
                          <m:r>
                            <a:rPr lang="en-NZ" altLang="ja-JP" sz="18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𝒈</m:t>
                          </m:r>
                          <m:d>
                            <m:dPr>
                              <m:ctrlPr>
                                <a:rPr lang="en-NZ" altLang="ja-JP" sz="18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NZ" altLang="ja-JP" sz="18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  <m:r>
                            <a:rPr lang="en-NZ" altLang="ja-JP" sz="18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NZ" altLang="ja-JP" sz="18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altLang="ja-JP" sz="18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𝒇</m:t>
                              </m:r>
                            </m:e>
                            <m:sub>
                              <m:r>
                                <a:rPr lang="en-NZ" altLang="ja-JP" sz="18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  <m:d>
                            <m:dPr>
                              <m:ctrlPr>
                                <a:rPr lang="en-NZ" altLang="ja-JP" sz="18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NZ" altLang="ja-JP" sz="18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  <m:r>
                            <a:rPr lang="en-NZ" altLang="ja-JP" sz="18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NZ" altLang="ja-JP" sz="18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𝒅𝒙</m:t>
                          </m:r>
                        </m:e>
                      </m:nary>
                      <m:r>
                        <a:rPr kumimoji="1" lang="en-NZ" altLang="ja-JP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nary>
                        <m:naryPr>
                          <m:ctrlPr>
                            <a:rPr lang="en-NZ" altLang="ja-JP" sz="18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NZ" altLang="ja-JP" sz="18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NZ" altLang="ja-JP" sz="18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𝟏𝟎𝟎</m:t>
                          </m:r>
                        </m:sup>
                        <m:e>
                          <m:f>
                            <m:fPr>
                              <m:ctrlPr>
                                <a:rPr lang="en-NZ" altLang="ja-JP" sz="18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func>
                                <m:funcPr>
                                  <m:ctrlPr>
                                    <a:rPr lang="en-NZ" altLang="ja-JP" sz="18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NZ" altLang="ja-JP" sz="180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ln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NZ" altLang="ja-JP" sz="18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NZ" altLang="ja-JP" sz="18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NZ" altLang="ja-JP" sz="18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+2</m:t>
                                      </m:r>
                                    </m:e>
                                  </m:d>
                                </m:e>
                              </m:func>
                            </m:num>
                            <m:den>
                              <m:func>
                                <m:funcPr>
                                  <m:ctrlPr>
                                    <a:rPr lang="en-NZ" altLang="ja-JP" sz="18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NZ" altLang="ja-JP" sz="180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en-NZ" altLang="ja-JP" sz="18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en-NZ" altLang="ja-JP" sz="18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NZ" altLang="ja-JP" sz="18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rad>
                                </m:e>
                              </m:func>
                              <m:r>
                                <a:rPr lang="en-NZ" altLang="ja-JP" sz="18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)+1</m:t>
                              </m:r>
                            </m:den>
                          </m:f>
                          <m:r>
                            <a:rPr lang="en-NZ" altLang="ja-JP" sz="1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NZ" altLang="ja-JP" sz="18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  <m:r>
                            <a:rPr lang="en-NZ" altLang="ja-JP" sz="18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NZ" altLang="ja-JP" sz="18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NZ" altLang="ja-JP" sz="18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NZ" altLang="ja-JP" sz="18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NZ" altLang="ja-JP" sz="18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en-NZ" altLang="ja-JP" sz="18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NZ" altLang="ja-JP" sz="18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sup>
                          </m:sSup>
                          <m:r>
                            <a:rPr lang="en-NZ" altLang="ja-JP" sz="18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𝒅𝒙</m:t>
                          </m:r>
                        </m:e>
                      </m:nary>
                      <m:r>
                        <a:rPr lang="en-NZ" altLang="ja-JP" sz="1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NZ" altLang="ja-JP" sz="1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   </m:t>
                      </m:r>
                      <m:f>
                        <m:fPr>
                          <m:ctrlPr>
                            <a:rPr lang="en-NZ" altLang="ja-JP" sz="18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NZ" altLang="ja-JP" sz="18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NZ" altLang="ja-JP" sz="18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den>
                      </m:f>
                      <m:r>
                        <a:rPr lang="en-NZ" altLang="ja-JP" sz="18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ctrlPr>
                            <a:rPr lang="en-NZ" altLang="ja-JP" sz="18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NZ" altLang="ja-JP" sz="18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NZ" altLang="ja-JP" sz="18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NZ" altLang="ja-JP" sz="18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NZ" altLang="ja-JP" sz="18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r>
                            <a:rPr lang="en-NZ" altLang="ja-JP" sz="18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𝒈</m:t>
                          </m:r>
                          <m:d>
                            <m:dPr>
                              <m:ctrlPr>
                                <a:rPr lang="en-NZ" altLang="ja-JP" sz="18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NZ" altLang="ja-JP" sz="18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NZ" altLang="ja-JP" sz="18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b>
                                  <m:r>
                                    <a:rPr lang="en-NZ" altLang="ja-JP" sz="18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NZ" altLang="ja-JP" sz="1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 =   </m:t>
                      </m:r>
                      <m:r>
                        <a:rPr lang="en-NZ" altLang="ja-JP" sz="1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NZ" altLang="ja-JP" sz="1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NZ" altLang="ja-JP" sz="1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𝟖𝟓𝟕𝟗𝟏</m:t>
                      </m:r>
                    </m:oMath>
                  </m:oMathPara>
                </a14:m>
                <a:endParaRPr lang="en-NZ" altLang="ja-JP" sz="1800" b="1" i="0" dirty="0">
                  <a:solidFill>
                    <a:srgbClr val="C00000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3" name="Text Placeholder 5">
                <a:extLst>
                  <a:ext uri="{FF2B5EF4-FFF2-40B4-BE49-F238E27FC236}">
                    <a16:creationId xmlns:a16="http://schemas.microsoft.com/office/drawing/2014/main" id="{A739DE8A-4479-C71E-3184-3B01A659CC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660" y="5490227"/>
                <a:ext cx="11608680" cy="126335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8036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0" name="Rectangle 72">
            <a:extLst>
              <a:ext uri="{FF2B5EF4-FFF2-40B4-BE49-F238E27FC236}">
                <a16:creationId xmlns:a16="http://schemas.microsoft.com/office/drawing/2014/main" id="{FD073016-B734-483B-8953-5BADEE145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8600" y="0"/>
            <a:ext cx="8157458" cy="6858000"/>
          </a:xfrm>
          <a:prstGeom prst="rect">
            <a:avLst/>
          </a:prstGeom>
          <a:gradFill>
            <a:gsLst>
              <a:gs pos="2000">
                <a:schemeClr val="accent1"/>
              </a:gs>
              <a:gs pos="78000">
                <a:schemeClr val="accent1">
                  <a:lumMod val="50000"/>
                </a:schemeClr>
              </a:gs>
              <a:gs pos="100000">
                <a:srgbClr val="000000">
                  <a:alpha val="85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1" name="Rectangle 74">
            <a:extLst>
              <a:ext uri="{FF2B5EF4-FFF2-40B4-BE49-F238E27FC236}">
                <a16:creationId xmlns:a16="http://schemas.microsoft.com/office/drawing/2014/main" id="{90A7EAB6-59D3-4325-8DE6-E0CA4009C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4537" y="1839884"/>
            <a:ext cx="8157460" cy="5017687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30000"/>
                </a:schemeClr>
              </a:gs>
              <a:gs pos="100000">
                <a:srgbClr val="000000">
                  <a:alpha val="44000"/>
                </a:srgb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2" name="Rectangle 76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063179" y="-33131"/>
            <a:ext cx="6857999" cy="6923403"/>
          </a:xfrm>
          <a:prstGeom prst="rect">
            <a:avLst/>
          </a:prstGeom>
          <a:gradFill>
            <a:gsLst>
              <a:gs pos="56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14062D-E1C1-4F63-B0FD-D013BDA5782B}"/>
              </a:ext>
            </a:extLst>
          </p:cNvPr>
          <p:cNvSpPr txBox="1"/>
          <p:nvPr/>
        </p:nvSpPr>
        <p:spPr>
          <a:xfrm>
            <a:off x="43707" y="3036585"/>
            <a:ext cx="1210458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NZ" sz="45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Choice of Proposal </a:t>
            </a:r>
            <a:r>
              <a:rPr kumimoji="0" lang="en-NZ" sz="4500" b="1" i="0" u="none" strike="noStrike" kern="1200" cap="none" spc="0" normalizeH="0" baseline="0" noProof="0" dirty="0" err="1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Denisty</a:t>
            </a:r>
            <a:endParaRPr kumimoji="0" lang="en-NZ" sz="45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078A8151-9BD3-4B62-8210-A87BCD0941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16733"/>
            <a:ext cx="2185386" cy="741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29718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8011D634-069D-B8FB-9750-1DA698E434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6462" y="1125764"/>
            <a:ext cx="7839075" cy="3333750"/>
          </a:xfrm>
          <a:prstGeom prst="rect">
            <a:avLst/>
          </a:prstGeom>
        </p:spPr>
      </p:pic>
      <p:pic>
        <p:nvPicPr>
          <p:cNvPr id="1026" name="Picture 2" descr="3.1: Normal Distribution - Statistics LibreTexts">
            <a:extLst>
              <a:ext uri="{FF2B5EF4-FFF2-40B4-BE49-F238E27FC236}">
                <a16:creationId xmlns:a16="http://schemas.microsoft.com/office/drawing/2014/main" id="{3DC9CC8C-2495-74CF-A1E1-E9D98AE0F9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6701" y="3428999"/>
            <a:ext cx="1983742" cy="913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14" name="Footer Placeholder 2">
            <a:extLst>
              <a:ext uri="{FF2B5EF4-FFF2-40B4-BE49-F238E27FC236}">
                <a16:creationId xmlns:a16="http://schemas.microsoft.com/office/drawing/2014/main" id="{F23D8DA0-8D1C-7514-B036-BE52E81A1B5D}"/>
              </a:ext>
            </a:extLst>
          </p:cNvPr>
          <p:cNvSpPr txBox="1">
            <a:spLocks/>
          </p:cNvSpPr>
          <p:nvPr/>
        </p:nvSpPr>
        <p:spPr>
          <a:xfrm>
            <a:off x="8993875" y="86139"/>
            <a:ext cx="30954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Choice of Proposal Density</a:t>
            </a: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EDDDD"/>
              </a:solidFill>
              <a:effectLst/>
              <a:uLnTx/>
              <a:uFillTx/>
              <a:latin typeface="Gidole"/>
              <a:ea typeface="游ゴシック" panose="020B0400000000000000" pitchFamily="34" charset="-128"/>
              <a:cs typeface="+mn-cs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654B09D-0FFF-C26D-8181-9B73B6F09372}"/>
              </a:ext>
            </a:extLst>
          </p:cNvPr>
          <p:cNvCxnSpPr/>
          <p:nvPr/>
        </p:nvCxnSpPr>
        <p:spPr>
          <a:xfrm>
            <a:off x="2606722" y="4333272"/>
            <a:ext cx="7287905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E1FCA93-EEAF-42AB-7D11-DB39E8FAB9E8}"/>
              </a:ext>
            </a:extLst>
          </p:cNvPr>
          <p:cNvCxnSpPr>
            <a:cxnSpLocks/>
          </p:cNvCxnSpPr>
          <p:nvPr/>
        </p:nvCxnSpPr>
        <p:spPr>
          <a:xfrm flipV="1">
            <a:off x="2606722" y="1299215"/>
            <a:ext cx="0" cy="3013006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2839E179-2B74-6B4B-5986-7CF6F469C516}"/>
              </a:ext>
            </a:extLst>
          </p:cNvPr>
          <p:cNvSpPr/>
          <p:nvPr/>
        </p:nvSpPr>
        <p:spPr>
          <a:xfrm>
            <a:off x="4013982" y="4279686"/>
            <a:ext cx="109182" cy="10918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 Placeholder 5">
                <a:extLst>
                  <a:ext uri="{FF2B5EF4-FFF2-40B4-BE49-F238E27FC236}">
                    <a16:creationId xmlns:a16="http://schemas.microsoft.com/office/drawing/2014/main" id="{8F1C5139-6982-5BA2-EAF1-64CFB41D896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667796" y="1458974"/>
                <a:ext cx="3917482" cy="417953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:r>
                  <a:rPr kumimoji="1" lang="en-NZ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Suppose that the chain is in state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</m:ctrlPr>
                      </m:sSupPr>
                      <m:e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𝑿</m:t>
                        </m:r>
                      </m:e>
                      <m:sup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(</m:t>
                        </m:r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𝒕</m:t>
                        </m:r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)</m:t>
                        </m:r>
                      </m:sup>
                    </m:sSup>
                  </m:oMath>
                </a14:m>
                <a:endParaRPr lang="en-NZ" altLang="ja-JP" sz="1800" b="1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26" name="Text Placeholder 5">
                <a:extLst>
                  <a:ext uri="{FF2B5EF4-FFF2-40B4-BE49-F238E27FC236}">
                    <a16:creationId xmlns:a16="http://schemas.microsoft.com/office/drawing/2014/main" id="{8F1C5139-6982-5BA2-EAF1-64CFB41D89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7796" y="1458974"/>
                <a:ext cx="3917482" cy="417953"/>
              </a:xfrm>
              <a:prstGeom prst="rect">
                <a:avLst/>
              </a:prstGeom>
              <a:blipFill>
                <a:blip r:embed="rId5"/>
                <a:stretch>
                  <a:fillRect l="-1402" t="-4348" b="-13043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 Placeholder 5">
                <a:extLst>
                  <a:ext uri="{FF2B5EF4-FFF2-40B4-BE49-F238E27FC236}">
                    <a16:creationId xmlns:a16="http://schemas.microsoft.com/office/drawing/2014/main" id="{D88FEFB2-AF87-346C-C4C7-4DD1622252C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1197" y="3720543"/>
                <a:ext cx="1014340" cy="417954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NZ" altLang="ja-JP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NZ" altLang="ja-JP" sz="1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sub>
                    </m:sSub>
                    <m:d>
                      <m:dPr>
                        <m:ctrlPr>
                          <a:rPr lang="en-NZ" altLang="ja-JP" sz="1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altLang="ja-JP" sz="1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kumimoji="1" lang="en-NZ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</a:t>
                </a:r>
              </a:p>
            </p:txBody>
          </p:sp>
        </mc:Choice>
        <mc:Fallback xmlns="">
          <p:sp>
            <p:nvSpPr>
              <p:cNvPr id="35" name="Text Placeholder 5">
                <a:extLst>
                  <a:ext uri="{FF2B5EF4-FFF2-40B4-BE49-F238E27FC236}">
                    <a16:creationId xmlns:a16="http://schemas.microsoft.com/office/drawing/2014/main" id="{D88FEFB2-AF87-346C-C4C7-4DD1622252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1197" y="3720543"/>
                <a:ext cx="1014340" cy="4179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itle 6">
            <a:extLst>
              <a:ext uri="{FF2B5EF4-FFF2-40B4-BE49-F238E27FC236}">
                <a16:creationId xmlns:a16="http://schemas.microsoft.com/office/drawing/2014/main" id="{990C8DA4-9255-26D4-5B57-C446656012CC}"/>
              </a:ext>
            </a:extLst>
          </p:cNvPr>
          <p:cNvSpPr txBox="1">
            <a:spLocks/>
          </p:cNvSpPr>
          <p:nvPr/>
        </p:nvSpPr>
        <p:spPr>
          <a:xfrm>
            <a:off x="319463" y="196889"/>
            <a:ext cx="8168429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Normal Random Walk Sampler:</a:t>
            </a:r>
            <a:endParaRPr kumimoji="1" lang="ja-JP" altLang="en-US" sz="3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 Light" panose="020B0300000000000000" pitchFamily="34" charset="-128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 Placeholder 5">
                <a:extLst>
                  <a:ext uri="{FF2B5EF4-FFF2-40B4-BE49-F238E27FC236}">
                    <a16:creationId xmlns:a16="http://schemas.microsoft.com/office/drawing/2014/main" id="{037EE874-12FE-5227-E981-167E7A2F345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667796" y="1996703"/>
                <a:ext cx="5184560" cy="809015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1" lang="en-NZ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The proposed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1" lang="en-NZ" altLang="ja-JP" sz="18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𝒚</m:t>
                        </m:r>
                      </m:e>
                      <m:sub>
                        <m:r>
                          <a:rPr kumimoji="1" lang="en-NZ" altLang="ja-JP" sz="18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𝒕</m:t>
                        </m:r>
                        <m:r>
                          <a:rPr kumimoji="1" lang="en-NZ" altLang="ja-JP" sz="18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+</m:t>
                        </m:r>
                        <m:r>
                          <a:rPr kumimoji="1" lang="en-NZ" altLang="ja-JP" sz="18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𝟏</m:t>
                        </m:r>
                      </m:sub>
                    </m:sSub>
                  </m:oMath>
                </a14:m>
                <a:r>
                  <a:rPr kumimoji="1" lang="en-NZ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is given by</a:t>
                </a:r>
              </a:p>
              <a:p>
                <a:pPr marL="0" marR="0" lvl="0" indent="0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NZ" altLang="ja-JP" sz="18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1" lang="en-NZ" altLang="ja-JP" sz="18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𝒚</m:t>
                        </m:r>
                      </m:e>
                      <m:sub>
                        <m:r>
                          <a:rPr kumimoji="1" lang="en-NZ" altLang="ja-JP" sz="18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𝒕</m:t>
                        </m:r>
                        <m:r>
                          <a:rPr kumimoji="1" lang="en-NZ" altLang="ja-JP" sz="18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+</m:t>
                        </m:r>
                        <m:r>
                          <a:rPr kumimoji="1" lang="en-NZ" altLang="ja-JP" sz="18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𝟏</m:t>
                        </m:r>
                      </m:sub>
                    </m:sSub>
                    <m:r>
                      <a:rPr kumimoji="1" lang="en-NZ" altLang="ja-JP" sz="18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sSup>
                      <m:sSupPr>
                        <m:ctrlPr>
                          <a:rPr kumimoji="1" lang="en-NZ" altLang="ja-JP" sz="18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1" lang="en-NZ" altLang="ja-JP" sz="18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𝑿</m:t>
                        </m:r>
                      </m:e>
                      <m:sup>
                        <m:r>
                          <a:rPr kumimoji="1" lang="en-NZ" altLang="ja-JP" sz="18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(</m:t>
                        </m:r>
                        <m:r>
                          <a:rPr kumimoji="1" lang="en-NZ" altLang="ja-JP" sz="18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𝒕</m:t>
                        </m:r>
                        <m:r>
                          <a:rPr kumimoji="1" lang="en-NZ" altLang="ja-JP" sz="18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)</m:t>
                        </m:r>
                      </m:sup>
                    </m:sSup>
                    <m:r>
                      <a:rPr kumimoji="1" lang="en-NZ" altLang="ja-JP" sz="18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+  </m:t>
                    </m:r>
                    <m:sSub>
                      <m:sSubPr>
                        <m:ctrlPr>
                          <a:rPr kumimoji="1" lang="en-NZ" altLang="ja-JP" sz="18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1" lang="en-NZ" altLang="ja-JP" sz="18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𝝐</m:t>
                        </m:r>
                      </m:e>
                      <m:sub>
                        <m:r>
                          <a:rPr kumimoji="1" lang="en-NZ" altLang="ja-JP" sz="18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𝒕</m:t>
                        </m:r>
                      </m:sub>
                    </m:sSub>
                  </m:oMath>
                </a14:m>
                <a:r>
                  <a:rPr kumimoji="1" lang="en-NZ" altLang="ja-JP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    </a:t>
                </a:r>
                <a:r>
                  <a:rPr kumimoji="1" lang="en-NZ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where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NZ" altLang="ja-JP" sz="18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1" lang="en-NZ" altLang="ja-JP" sz="18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𝝐</m:t>
                        </m:r>
                      </m:e>
                      <m:sub>
                        <m:r>
                          <a:rPr kumimoji="1" lang="en-NZ" altLang="ja-JP" sz="18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𝒕</m:t>
                        </m:r>
                      </m:sub>
                    </m:sSub>
                    <m:r>
                      <a:rPr kumimoji="1" lang="en-NZ" altLang="ja-JP" sz="18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~ </m:t>
                    </m:r>
                    <m:r>
                      <a:rPr kumimoji="1" lang="en-NZ" altLang="ja-JP" sz="18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𝑵</m:t>
                    </m:r>
                    <m:r>
                      <a:rPr kumimoji="1" lang="en-NZ" altLang="ja-JP" sz="18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(</m:t>
                    </m:r>
                    <m:r>
                      <a:rPr kumimoji="1" lang="en-NZ" altLang="ja-JP" sz="18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𝟎</m:t>
                    </m:r>
                    <m:r>
                      <a:rPr kumimoji="1" lang="en-NZ" altLang="ja-JP" sz="18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, </m:t>
                    </m:r>
                    <m:sSup>
                      <m:sSupPr>
                        <m:ctrlPr>
                          <a:rPr kumimoji="1" lang="en-NZ" altLang="ja-JP" sz="18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1" lang="en-NZ" altLang="ja-JP" sz="18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𝝈</m:t>
                        </m:r>
                      </m:e>
                      <m:sup>
                        <m:r>
                          <a:rPr kumimoji="1" lang="en-NZ" altLang="ja-JP" sz="18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𝟐</m:t>
                        </m:r>
                      </m:sup>
                    </m:sSup>
                    <m:r>
                      <a:rPr kumimoji="1" lang="en-NZ" altLang="ja-JP" sz="18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)</m:t>
                    </m:r>
                  </m:oMath>
                </a14:m>
                <a:endParaRPr kumimoji="1" lang="en-NZ" altLang="ja-JP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27" name="Text Placeholder 5">
                <a:extLst>
                  <a:ext uri="{FF2B5EF4-FFF2-40B4-BE49-F238E27FC236}">
                    <a16:creationId xmlns:a16="http://schemas.microsoft.com/office/drawing/2014/main" id="{037EE874-12FE-5227-E981-167E7A2F34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7796" y="1996703"/>
                <a:ext cx="5184560" cy="809015"/>
              </a:xfrm>
              <a:prstGeom prst="rect">
                <a:avLst/>
              </a:prstGeom>
              <a:blipFill>
                <a:blip r:embed="rId7"/>
                <a:stretch>
                  <a:fillRect l="-1059" t="-4545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 Placeholder 5">
                <a:extLst>
                  <a:ext uri="{FF2B5EF4-FFF2-40B4-BE49-F238E27FC236}">
                    <a16:creationId xmlns:a16="http://schemas.microsoft.com/office/drawing/2014/main" id="{0467119C-0DB4-2A91-C097-40474923FE1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641299" y="4415603"/>
                <a:ext cx="854547" cy="417953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</m:ctrlPr>
                        </m:sSupPr>
                        <m:e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𝑿</m:t>
                          </m:r>
                        </m:e>
                        <m:sup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(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𝒕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NZ" altLang="ja-JP" sz="1800" b="1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28" name="Text Placeholder 5">
                <a:extLst>
                  <a:ext uri="{FF2B5EF4-FFF2-40B4-BE49-F238E27FC236}">
                    <a16:creationId xmlns:a16="http://schemas.microsoft.com/office/drawing/2014/main" id="{0467119C-0DB4-2A91-C097-40474923FE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1299" y="4415603"/>
                <a:ext cx="854547" cy="41795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C2DDED2-9321-D871-B145-E874F5C3F386}"/>
              </a:ext>
            </a:extLst>
          </p:cNvPr>
          <p:cNvCxnSpPr>
            <a:cxnSpLocks/>
            <a:stCxn id="10" idx="0"/>
            <a:endCxn id="1026" idx="0"/>
          </p:cNvCxnSpPr>
          <p:nvPr/>
        </p:nvCxnSpPr>
        <p:spPr>
          <a:xfrm flipH="1" flipV="1">
            <a:off x="4068572" y="3428999"/>
            <a:ext cx="1" cy="850687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1106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8011D634-069D-B8FB-9750-1DA698E434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6462" y="1125764"/>
            <a:ext cx="7839075" cy="3333750"/>
          </a:xfrm>
          <a:prstGeom prst="rect">
            <a:avLst/>
          </a:prstGeom>
        </p:spPr>
      </p:pic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654B09D-0FFF-C26D-8181-9B73B6F09372}"/>
              </a:ext>
            </a:extLst>
          </p:cNvPr>
          <p:cNvCxnSpPr/>
          <p:nvPr/>
        </p:nvCxnSpPr>
        <p:spPr>
          <a:xfrm>
            <a:off x="2606722" y="4333272"/>
            <a:ext cx="7287905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E1FCA93-EEAF-42AB-7D11-DB39E8FAB9E8}"/>
              </a:ext>
            </a:extLst>
          </p:cNvPr>
          <p:cNvCxnSpPr>
            <a:cxnSpLocks/>
          </p:cNvCxnSpPr>
          <p:nvPr/>
        </p:nvCxnSpPr>
        <p:spPr>
          <a:xfrm flipV="1">
            <a:off x="2606722" y="1299215"/>
            <a:ext cx="0" cy="3013006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2839E179-2B74-6B4B-5986-7CF6F469C516}"/>
              </a:ext>
            </a:extLst>
          </p:cNvPr>
          <p:cNvSpPr/>
          <p:nvPr/>
        </p:nvSpPr>
        <p:spPr>
          <a:xfrm>
            <a:off x="4013982" y="4279686"/>
            <a:ext cx="109182" cy="10918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 Placeholder 5">
                <a:extLst>
                  <a:ext uri="{FF2B5EF4-FFF2-40B4-BE49-F238E27FC236}">
                    <a16:creationId xmlns:a16="http://schemas.microsoft.com/office/drawing/2014/main" id="{8F1C5139-6982-5BA2-EAF1-64CFB41D896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667796" y="1458974"/>
                <a:ext cx="3917482" cy="417953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:r>
                  <a:rPr kumimoji="1" lang="en-NZ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Suppose that the chain is in state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</m:ctrlPr>
                      </m:sSupPr>
                      <m:e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𝑿</m:t>
                        </m:r>
                      </m:e>
                      <m:sup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(</m:t>
                        </m:r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𝒕</m:t>
                        </m:r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)</m:t>
                        </m:r>
                      </m:sup>
                    </m:sSup>
                  </m:oMath>
                </a14:m>
                <a:endParaRPr lang="en-NZ" altLang="ja-JP" sz="1800" b="1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26" name="Text Placeholder 5">
                <a:extLst>
                  <a:ext uri="{FF2B5EF4-FFF2-40B4-BE49-F238E27FC236}">
                    <a16:creationId xmlns:a16="http://schemas.microsoft.com/office/drawing/2014/main" id="{8F1C5139-6982-5BA2-EAF1-64CFB41D89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7796" y="1458974"/>
                <a:ext cx="3917482" cy="417953"/>
              </a:xfrm>
              <a:prstGeom prst="rect">
                <a:avLst/>
              </a:prstGeom>
              <a:blipFill>
                <a:blip r:embed="rId4"/>
                <a:stretch>
                  <a:fillRect l="-1402" t="-4348" b="-13043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 Placeholder 5">
                <a:extLst>
                  <a:ext uri="{FF2B5EF4-FFF2-40B4-BE49-F238E27FC236}">
                    <a16:creationId xmlns:a16="http://schemas.microsoft.com/office/drawing/2014/main" id="{D88FEFB2-AF87-346C-C4C7-4DD1622252C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1197" y="3720543"/>
                <a:ext cx="1014340" cy="417954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NZ" altLang="ja-JP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NZ" altLang="ja-JP" sz="1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sub>
                    </m:sSub>
                    <m:d>
                      <m:dPr>
                        <m:ctrlPr>
                          <a:rPr lang="en-NZ" altLang="ja-JP" sz="1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altLang="ja-JP" sz="1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kumimoji="1" lang="en-NZ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</a:t>
                </a:r>
              </a:p>
            </p:txBody>
          </p:sp>
        </mc:Choice>
        <mc:Fallback xmlns="">
          <p:sp>
            <p:nvSpPr>
              <p:cNvPr id="35" name="Text Placeholder 5">
                <a:extLst>
                  <a:ext uri="{FF2B5EF4-FFF2-40B4-BE49-F238E27FC236}">
                    <a16:creationId xmlns:a16="http://schemas.microsoft.com/office/drawing/2014/main" id="{D88FEFB2-AF87-346C-C4C7-4DD1622252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1197" y="3720543"/>
                <a:ext cx="1014340" cy="4179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itle 6">
            <a:extLst>
              <a:ext uri="{FF2B5EF4-FFF2-40B4-BE49-F238E27FC236}">
                <a16:creationId xmlns:a16="http://schemas.microsoft.com/office/drawing/2014/main" id="{990C8DA4-9255-26D4-5B57-C446656012CC}"/>
              </a:ext>
            </a:extLst>
          </p:cNvPr>
          <p:cNvSpPr txBox="1">
            <a:spLocks/>
          </p:cNvSpPr>
          <p:nvPr/>
        </p:nvSpPr>
        <p:spPr>
          <a:xfrm>
            <a:off x="319463" y="196889"/>
            <a:ext cx="8168429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Uniform Random Walk Sampler:</a:t>
            </a:r>
            <a:endParaRPr kumimoji="1" lang="ja-JP" altLang="en-US" sz="3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 Light" panose="020B0300000000000000" pitchFamily="34" charset="-128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 Placeholder 5">
                <a:extLst>
                  <a:ext uri="{FF2B5EF4-FFF2-40B4-BE49-F238E27FC236}">
                    <a16:creationId xmlns:a16="http://schemas.microsoft.com/office/drawing/2014/main" id="{037EE874-12FE-5227-E981-167E7A2F345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667796" y="1996703"/>
                <a:ext cx="5184560" cy="809015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1" lang="en-NZ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The proposed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1" lang="en-NZ" altLang="ja-JP" sz="18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𝒚</m:t>
                        </m:r>
                      </m:e>
                      <m:sub>
                        <m:r>
                          <a:rPr kumimoji="1" lang="en-NZ" altLang="ja-JP" sz="18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𝒕</m:t>
                        </m:r>
                        <m:r>
                          <a:rPr kumimoji="1" lang="en-NZ" altLang="ja-JP" sz="18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+</m:t>
                        </m:r>
                        <m:r>
                          <a:rPr kumimoji="1" lang="en-NZ" altLang="ja-JP" sz="18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𝟏</m:t>
                        </m:r>
                      </m:sub>
                    </m:sSub>
                  </m:oMath>
                </a14:m>
                <a:r>
                  <a:rPr kumimoji="1" lang="en-NZ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is given by</a:t>
                </a:r>
              </a:p>
              <a:p>
                <a:pPr lvl="0">
                  <a:lnSpc>
                    <a:spcPct val="100000"/>
                  </a:lnSpc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NZ" altLang="ja-JP" sz="18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NZ" altLang="ja-JP" sz="18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+  </m:t>
                    </m:r>
                    <m:sSub>
                      <m:sSubPr>
                        <m:ctrlP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𝝐</m:t>
                        </m:r>
                      </m:e>
                      <m:sub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</m:oMath>
                </a14:m>
                <a:r>
                  <a:rPr lang="en-NZ" altLang="ja-JP" sz="1800" b="1" dirty="0">
                    <a:solidFill>
                      <a:prstClr val="black"/>
                    </a:solidFill>
                  </a:rPr>
                  <a:t>     </a:t>
                </a:r>
                <a:r>
                  <a:rPr lang="en-NZ" altLang="ja-JP" sz="1800" dirty="0">
                    <a:solidFill>
                      <a:prstClr val="black"/>
                    </a:solidFill>
                  </a:rPr>
                  <a:t> where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𝝐</m:t>
                        </m:r>
                      </m:e>
                      <m:sub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  <m:r>
                      <a:rPr lang="en-NZ" altLang="ja-JP" sz="18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~ </m:t>
                    </m:r>
                    <m:r>
                      <a:rPr lang="en-NZ" altLang="ja-JP" sz="18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𝑼</m:t>
                    </m:r>
                    <m:r>
                      <a:rPr lang="en-NZ" altLang="ja-JP" sz="18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(−</m:t>
                    </m:r>
                    <m:r>
                      <a:rPr lang="en-NZ" altLang="ja-JP" sz="18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𝜹</m:t>
                    </m:r>
                    <m:r>
                      <a:rPr lang="en-NZ" altLang="ja-JP" sz="18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NZ" altLang="ja-JP" sz="18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𝜹</m:t>
                    </m:r>
                    <m:r>
                      <a:rPr lang="en-NZ" altLang="ja-JP" sz="18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en-NZ" altLang="ja-JP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27" name="Text Placeholder 5">
                <a:extLst>
                  <a:ext uri="{FF2B5EF4-FFF2-40B4-BE49-F238E27FC236}">
                    <a16:creationId xmlns:a16="http://schemas.microsoft.com/office/drawing/2014/main" id="{037EE874-12FE-5227-E981-167E7A2F34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7796" y="1996703"/>
                <a:ext cx="5184560" cy="809015"/>
              </a:xfrm>
              <a:prstGeom prst="rect">
                <a:avLst/>
              </a:prstGeom>
              <a:blipFill>
                <a:blip r:embed="rId6"/>
                <a:stretch>
                  <a:fillRect l="-1059" t="-4545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 Placeholder 5">
                <a:extLst>
                  <a:ext uri="{FF2B5EF4-FFF2-40B4-BE49-F238E27FC236}">
                    <a16:creationId xmlns:a16="http://schemas.microsoft.com/office/drawing/2014/main" id="{0467119C-0DB4-2A91-C097-40474923FE1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641299" y="4415603"/>
                <a:ext cx="854547" cy="417953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</m:ctrlPr>
                        </m:sSupPr>
                        <m:e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𝑿</m:t>
                          </m:r>
                        </m:e>
                        <m:sup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(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𝒕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NZ" altLang="ja-JP" sz="1800" b="1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28" name="Text Placeholder 5">
                <a:extLst>
                  <a:ext uri="{FF2B5EF4-FFF2-40B4-BE49-F238E27FC236}">
                    <a16:creationId xmlns:a16="http://schemas.microsoft.com/office/drawing/2014/main" id="{0467119C-0DB4-2A91-C097-40474923FE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1299" y="4415603"/>
                <a:ext cx="854547" cy="41795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DB183728-69D2-4B8B-6F6B-34E1317B0066}"/>
              </a:ext>
            </a:extLst>
          </p:cNvPr>
          <p:cNvCxnSpPr>
            <a:cxnSpLocks/>
          </p:cNvCxnSpPr>
          <p:nvPr/>
        </p:nvCxnSpPr>
        <p:spPr>
          <a:xfrm>
            <a:off x="3572704" y="3997846"/>
            <a:ext cx="1019246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70D6CE6-5AB3-DDD6-C3B9-F8494E978AEF}"/>
              </a:ext>
            </a:extLst>
          </p:cNvPr>
          <p:cNvCxnSpPr>
            <a:cxnSpLocks/>
          </p:cNvCxnSpPr>
          <p:nvPr/>
        </p:nvCxnSpPr>
        <p:spPr>
          <a:xfrm flipV="1">
            <a:off x="3572704" y="3997846"/>
            <a:ext cx="0" cy="335426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A22BBF6-4FA7-13A6-9DC5-F243D9EF6BD9}"/>
              </a:ext>
            </a:extLst>
          </p:cNvPr>
          <p:cNvCxnSpPr>
            <a:cxnSpLocks/>
          </p:cNvCxnSpPr>
          <p:nvPr/>
        </p:nvCxnSpPr>
        <p:spPr>
          <a:xfrm flipV="1">
            <a:off x="4591950" y="3997846"/>
            <a:ext cx="0" cy="335426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Placeholder 5">
                <a:extLst>
                  <a:ext uri="{FF2B5EF4-FFF2-40B4-BE49-F238E27FC236}">
                    <a16:creationId xmlns:a16="http://schemas.microsoft.com/office/drawing/2014/main" id="{1F8F588C-5D08-5DAE-1817-04C1AD0170E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03677" y="3704142"/>
                <a:ext cx="1014337" cy="404508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NZ" altLang="ja-JP" sz="14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NZ" altLang="ja-JP" sz="14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NZ" altLang="ja-JP" sz="14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NZ" altLang="ja-JP" sz="14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NZ" altLang="ja-JP" sz="14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NZ" altLang="ja-JP" sz="14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NZ" altLang="ja-JP" sz="14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𝜹</m:t>
                      </m:r>
                    </m:oMath>
                  </m:oMathPara>
                </a14:m>
                <a:endParaRPr kumimoji="1" lang="en-NZ" altLang="ja-JP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9" name="Text Placeholder 5">
                <a:extLst>
                  <a:ext uri="{FF2B5EF4-FFF2-40B4-BE49-F238E27FC236}">
                    <a16:creationId xmlns:a16="http://schemas.microsoft.com/office/drawing/2014/main" id="{1F8F588C-5D08-5DAE-1817-04C1AD0170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3677" y="3704142"/>
                <a:ext cx="1014337" cy="40450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Placeholder 5">
                <a:extLst>
                  <a:ext uri="{FF2B5EF4-FFF2-40B4-BE49-F238E27FC236}">
                    <a16:creationId xmlns:a16="http://schemas.microsoft.com/office/drawing/2014/main" id="{278DD810-3040-19C4-F8E3-594FA530A82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740794" y="3699717"/>
                <a:ext cx="1014337" cy="404508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NZ" altLang="ja-JP" sz="14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NZ" altLang="ja-JP" sz="14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NZ" altLang="ja-JP" sz="14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NZ" altLang="ja-JP" sz="14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  <m:r>
                            <a:rPr lang="en-NZ" altLang="ja-JP" sz="14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NZ" altLang="ja-JP" sz="14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NZ" altLang="ja-JP" sz="14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𝜹</m:t>
                      </m:r>
                    </m:oMath>
                  </m:oMathPara>
                </a14:m>
                <a:endParaRPr kumimoji="1" lang="en-NZ" altLang="ja-JP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11" name="Text Placeholder 5">
                <a:extLst>
                  <a:ext uri="{FF2B5EF4-FFF2-40B4-BE49-F238E27FC236}">
                    <a16:creationId xmlns:a16="http://schemas.microsoft.com/office/drawing/2014/main" id="{278DD810-3040-19C4-F8E3-594FA530A8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0794" y="3699717"/>
                <a:ext cx="1014337" cy="40450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3F0A9DFD-4818-657C-536B-97BE5C7CD976}"/>
              </a:ext>
            </a:extLst>
          </p:cNvPr>
          <p:cNvSpPr txBox="1">
            <a:spLocks/>
          </p:cNvSpPr>
          <p:nvPr/>
        </p:nvSpPr>
        <p:spPr>
          <a:xfrm>
            <a:off x="8993875" y="86139"/>
            <a:ext cx="30954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Choice of Proposal Density</a:t>
            </a: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EDDDD"/>
              </a:solidFill>
              <a:effectLst/>
              <a:uLnTx/>
              <a:uFillTx/>
              <a:latin typeface="Gidole"/>
              <a:ea typeface="游ゴシック" panose="020B04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283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9" grpId="0"/>
      <p:bldP spid="1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8011D634-069D-B8FB-9750-1DA698E434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6462" y="1125764"/>
            <a:ext cx="7839075" cy="3333750"/>
          </a:xfrm>
          <a:prstGeom prst="rect">
            <a:avLst/>
          </a:prstGeom>
        </p:spPr>
      </p:pic>
      <p:pic>
        <p:nvPicPr>
          <p:cNvPr id="1026" name="Picture 2" descr="3.1: Normal Distribution - Statistics LibreTexts">
            <a:extLst>
              <a:ext uri="{FF2B5EF4-FFF2-40B4-BE49-F238E27FC236}">
                <a16:creationId xmlns:a16="http://schemas.microsoft.com/office/drawing/2014/main" id="{3DC9CC8C-2495-74CF-A1E1-E9D98AE0F9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2606722" y="4365807"/>
            <a:ext cx="7287905" cy="913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654B09D-0FFF-C26D-8181-9B73B6F09372}"/>
              </a:ext>
            </a:extLst>
          </p:cNvPr>
          <p:cNvCxnSpPr/>
          <p:nvPr/>
        </p:nvCxnSpPr>
        <p:spPr>
          <a:xfrm>
            <a:off x="2606722" y="4333272"/>
            <a:ext cx="7287905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E1FCA93-EEAF-42AB-7D11-DB39E8FAB9E8}"/>
              </a:ext>
            </a:extLst>
          </p:cNvPr>
          <p:cNvCxnSpPr>
            <a:cxnSpLocks/>
          </p:cNvCxnSpPr>
          <p:nvPr/>
        </p:nvCxnSpPr>
        <p:spPr>
          <a:xfrm flipV="1">
            <a:off x="2606722" y="1299215"/>
            <a:ext cx="0" cy="3013006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2839E179-2B74-6B4B-5986-7CF6F469C516}"/>
              </a:ext>
            </a:extLst>
          </p:cNvPr>
          <p:cNvSpPr/>
          <p:nvPr/>
        </p:nvSpPr>
        <p:spPr>
          <a:xfrm>
            <a:off x="4013982" y="4279686"/>
            <a:ext cx="109182" cy="10918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 Placeholder 5">
                <a:extLst>
                  <a:ext uri="{FF2B5EF4-FFF2-40B4-BE49-F238E27FC236}">
                    <a16:creationId xmlns:a16="http://schemas.microsoft.com/office/drawing/2014/main" id="{8F1C5139-6982-5BA2-EAF1-64CFB41D896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667796" y="1458974"/>
                <a:ext cx="3917482" cy="417953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:r>
                  <a:rPr kumimoji="1" lang="en-NZ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Suppose that the chain is in state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</m:ctrlPr>
                      </m:sSupPr>
                      <m:e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𝑿</m:t>
                        </m:r>
                      </m:e>
                      <m:sup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(</m:t>
                        </m:r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𝒕</m:t>
                        </m:r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)</m:t>
                        </m:r>
                      </m:sup>
                    </m:sSup>
                  </m:oMath>
                </a14:m>
                <a:endParaRPr lang="en-NZ" altLang="ja-JP" sz="1800" b="1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26" name="Text Placeholder 5">
                <a:extLst>
                  <a:ext uri="{FF2B5EF4-FFF2-40B4-BE49-F238E27FC236}">
                    <a16:creationId xmlns:a16="http://schemas.microsoft.com/office/drawing/2014/main" id="{8F1C5139-6982-5BA2-EAF1-64CFB41D89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7796" y="1458974"/>
                <a:ext cx="3917482" cy="417953"/>
              </a:xfrm>
              <a:prstGeom prst="rect">
                <a:avLst/>
              </a:prstGeom>
              <a:blipFill>
                <a:blip r:embed="rId5"/>
                <a:stretch>
                  <a:fillRect l="-1402" t="-4348" b="-13043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 Placeholder 5">
                <a:extLst>
                  <a:ext uri="{FF2B5EF4-FFF2-40B4-BE49-F238E27FC236}">
                    <a16:creationId xmlns:a16="http://schemas.microsoft.com/office/drawing/2014/main" id="{D88FEFB2-AF87-346C-C4C7-4DD1622252C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1197" y="3720543"/>
                <a:ext cx="1014340" cy="417954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NZ" altLang="ja-JP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NZ" altLang="ja-JP" sz="1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sub>
                    </m:sSub>
                    <m:d>
                      <m:dPr>
                        <m:ctrlPr>
                          <a:rPr lang="en-NZ" altLang="ja-JP" sz="1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altLang="ja-JP" sz="1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kumimoji="1" lang="en-NZ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</a:t>
                </a:r>
              </a:p>
            </p:txBody>
          </p:sp>
        </mc:Choice>
        <mc:Fallback xmlns="">
          <p:sp>
            <p:nvSpPr>
              <p:cNvPr id="35" name="Text Placeholder 5">
                <a:extLst>
                  <a:ext uri="{FF2B5EF4-FFF2-40B4-BE49-F238E27FC236}">
                    <a16:creationId xmlns:a16="http://schemas.microsoft.com/office/drawing/2014/main" id="{D88FEFB2-AF87-346C-C4C7-4DD1622252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1197" y="3720543"/>
                <a:ext cx="1014340" cy="4179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itle 6">
            <a:extLst>
              <a:ext uri="{FF2B5EF4-FFF2-40B4-BE49-F238E27FC236}">
                <a16:creationId xmlns:a16="http://schemas.microsoft.com/office/drawing/2014/main" id="{990C8DA4-9255-26D4-5B57-C446656012CC}"/>
              </a:ext>
            </a:extLst>
          </p:cNvPr>
          <p:cNvSpPr txBox="1">
            <a:spLocks/>
          </p:cNvSpPr>
          <p:nvPr/>
        </p:nvSpPr>
        <p:spPr>
          <a:xfrm>
            <a:off x="319463" y="196889"/>
            <a:ext cx="8168429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Normal Independence Sampler:</a:t>
            </a:r>
            <a:endParaRPr kumimoji="1" lang="ja-JP" altLang="en-US" sz="3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 Light" panose="020B0300000000000000" pitchFamily="34" charset="-128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 Placeholder 5">
                <a:extLst>
                  <a:ext uri="{FF2B5EF4-FFF2-40B4-BE49-F238E27FC236}">
                    <a16:creationId xmlns:a16="http://schemas.microsoft.com/office/drawing/2014/main" id="{037EE874-12FE-5227-E981-167E7A2F345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667796" y="1996703"/>
                <a:ext cx="5184560" cy="809015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1" lang="en-NZ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The proposed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1" lang="en-NZ" altLang="ja-JP" sz="18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𝒚</m:t>
                        </m:r>
                      </m:e>
                      <m:sub>
                        <m:r>
                          <a:rPr kumimoji="1" lang="en-NZ" altLang="ja-JP" sz="18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𝒕</m:t>
                        </m:r>
                        <m:r>
                          <a:rPr kumimoji="1" lang="en-NZ" altLang="ja-JP" sz="18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+</m:t>
                        </m:r>
                        <m:r>
                          <a:rPr kumimoji="1" lang="en-NZ" altLang="ja-JP" sz="18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𝟏</m:t>
                        </m:r>
                      </m:sub>
                    </m:sSub>
                  </m:oMath>
                </a14:m>
                <a:r>
                  <a:rPr kumimoji="1" lang="en-NZ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is given by</a:t>
                </a:r>
              </a:p>
              <a:p>
                <a:pPr marL="0" marR="0" lvl="0" indent="0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NZ" altLang="ja-JP" sz="18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1" lang="en-NZ" altLang="ja-JP" sz="18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𝒚</m:t>
                        </m:r>
                      </m:e>
                      <m:sub>
                        <m:r>
                          <a:rPr kumimoji="1" lang="en-NZ" altLang="ja-JP" sz="18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𝒕</m:t>
                        </m:r>
                        <m:r>
                          <a:rPr kumimoji="1" lang="en-NZ" altLang="ja-JP" sz="18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+</m:t>
                        </m:r>
                        <m:r>
                          <a:rPr kumimoji="1" lang="en-NZ" altLang="ja-JP" sz="18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𝟏</m:t>
                        </m:r>
                      </m:sub>
                    </m:sSub>
                    <m:r>
                      <a:rPr kumimoji="1" lang="en-NZ" altLang="ja-JP" sz="18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sSub>
                      <m:sSubPr>
                        <m:ctrlPr>
                          <a:rPr kumimoji="1" lang="en-NZ" altLang="ja-JP" sz="18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1" lang="en-NZ" altLang="ja-JP" sz="18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𝝐</m:t>
                        </m:r>
                      </m:e>
                      <m:sub>
                        <m:r>
                          <a:rPr kumimoji="1" lang="en-NZ" altLang="ja-JP" sz="18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𝒕</m:t>
                        </m:r>
                      </m:sub>
                    </m:sSub>
                  </m:oMath>
                </a14:m>
                <a:r>
                  <a:rPr kumimoji="1" lang="en-NZ" altLang="ja-JP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    </a:t>
                </a:r>
                <a:r>
                  <a:rPr kumimoji="1" lang="en-NZ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where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NZ" altLang="ja-JP" sz="18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1" lang="en-NZ" altLang="ja-JP" sz="18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𝝐</m:t>
                        </m:r>
                      </m:e>
                      <m:sub>
                        <m:r>
                          <a:rPr kumimoji="1" lang="en-NZ" altLang="ja-JP" sz="18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𝒕</m:t>
                        </m:r>
                      </m:sub>
                    </m:sSub>
                    <m:r>
                      <a:rPr kumimoji="1" lang="en-NZ" altLang="ja-JP" sz="18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~ </m:t>
                    </m:r>
                    <m:r>
                      <a:rPr kumimoji="1" lang="en-NZ" altLang="ja-JP" sz="18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𝑵</m:t>
                    </m:r>
                    <m:r>
                      <a:rPr kumimoji="1" lang="en-NZ" altLang="ja-JP" sz="18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(</m:t>
                    </m:r>
                    <m:r>
                      <a:rPr kumimoji="1" lang="en-NZ" altLang="ja-JP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𝒄</m:t>
                    </m:r>
                    <m:r>
                      <a:rPr kumimoji="1" lang="en-NZ" altLang="ja-JP" sz="18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, </m:t>
                    </m:r>
                    <m:sSup>
                      <m:sSupPr>
                        <m:ctrlPr>
                          <a:rPr kumimoji="1" lang="en-NZ" altLang="ja-JP" sz="18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1" lang="en-NZ" altLang="ja-JP" sz="18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𝝈</m:t>
                        </m:r>
                      </m:e>
                      <m:sup>
                        <m:r>
                          <a:rPr kumimoji="1" lang="en-NZ" altLang="ja-JP" sz="18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𝟐</m:t>
                        </m:r>
                      </m:sup>
                    </m:sSup>
                    <m:r>
                      <a:rPr kumimoji="1" lang="en-NZ" altLang="ja-JP" sz="18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)</m:t>
                    </m:r>
                  </m:oMath>
                </a14:m>
                <a:endParaRPr kumimoji="1" lang="en-NZ" altLang="ja-JP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27" name="Text Placeholder 5">
                <a:extLst>
                  <a:ext uri="{FF2B5EF4-FFF2-40B4-BE49-F238E27FC236}">
                    <a16:creationId xmlns:a16="http://schemas.microsoft.com/office/drawing/2014/main" id="{037EE874-12FE-5227-E981-167E7A2F34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7796" y="1996703"/>
                <a:ext cx="5184560" cy="809015"/>
              </a:xfrm>
              <a:prstGeom prst="rect">
                <a:avLst/>
              </a:prstGeom>
              <a:blipFill>
                <a:blip r:embed="rId7"/>
                <a:stretch>
                  <a:fillRect l="-1059" t="-4545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 Placeholder 5">
                <a:extLst>
                  <a:ext uri="{FF2B5EF4-FFF2-40B4-BE49-F238E27FC236}">
                    <a16:creationId xmlns:a16="http://schemas.microsoft.com/office/drawing/2014/main" id="{0467119C-0DB4-2A91-C097-40474923FE1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641299" y="4415603"/>
                <a:ext cx="854547" cy="417953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</m:ctrlPr>
                        </m:sSupPr>
                        <m:e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𝑿</m:t>
                          </m:r>
                        </m:e>
                        <m:sup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(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𝒕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NZ" altLang="ja-JP" sz="1800" b="1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28" name="Text Placeholder 5">
                <a:extLst>
                  <a:ext uri="{FF2B5EF4-FFF2-40B4-BE49-F238E27FC236}">
                    <a16:creationId xmlns:a16="http://schemas.microsoft.com/office/drawing/2014/main" id="{0467119C-0DB4-2A91-C097-40474923FE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1299" y="4415603"/>
                <a:ext cx="854547" cy="41795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C2DDED2-9321-D871-B145-E874F5C3F386}"/>
              </a:ext>
            </a:extLst>
          </p:cNvPr>
          <p:cNvCxnSpPr>
            <a:cxnSpLocks/>
            <a:endCxn id="1026" idx="0"/>
          </p:cNvCxnSpPr>
          <p:nvPr/>
        </p:nvCxnSpPr>
        <p:spPr>
          <a:xfrm>
            <a:off x="6250674" y="4365807"/>
            <a:ext cx="0" cy="913629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C38EDB50-21CB-F146-A475-F417A1316006}"/>
              </a:ext>
            </a:extLst>
          </p:cNvPr>
          <p:cNvSpPr txBox="1">
            <a:spLocks/>
          </p:cNvSpPr>
          <p:nvPr/>
        </p:nvSpPr>
        <p:spPr>
          <a:xfrm>
            <a:off x="5989814" y="4041560"/>
            <a:ext cx="521719" cy="41795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NZ" altLang="ja-JP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c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A3FB41BB-D032-1769-E36A-DFBF6978E686}"/>
              </a:ext>
            </a:extLst>
          </p:cNvPr>
          <p:cNvSpPr txBox="1">
            <a:spLocks/>
          </p:cNvSpPr>
          <p:nvPr/>
        </p:nvSpPr>
        <p:spPr>
          <a:xfrm>
            <a:off x="8993875" y="86139"/>
            <a:ext cx="30954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Choice of Proposal Density</a:t>
            </a: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EDDDD"/>
              </a:solidFill>
              <a:effectLst/>
              <a:uLnTx/>
              <a:uFillTx/>
              <a:latin typeface="Gidole"/>
              <a:ea typeface="游ゴシック" panose="020B04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31732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1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8011D634-069D-B8FB-9750-1DA698E434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6462" y="1125764"/>
            <a:ext cx="7839075" cy="3333750"/>
          </a:xfrm>
          <a:prstGeom prst="rect">
            <a:avLst/>
          </a:prstGeom>
        </p:spPr>
      </p:pic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654B09D-0FFF-C26D-8181-9B73B6F09372}"/>
              </a:ext>
            </a:extLst>
          </p:cNvPr>
          <p:cNvCxnSpPr/>
          <p:nvPr/>
        </p:nvCxnSpPr>
        <p:spPr>
          <a:xfrm>
            <a:off x="2606722" y="4333272"/>
            <a:ext cx="7287905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E1FCA93-EEAF-42AB-7D11-DB39E8FAB9E8}"/>
              </a:ext>
            </a:extLst>
          </p:cNvPr>
          <p:cNvCxnSpPr>
            <a:cxnSpLocks/>
          </p:cNvCxnSpPr>
          <p:nvPr/>
        </p:nvCxnSpPr>
        <p:spPr>
          <a:xfrm flipV="1">
            <a:off x="2606722" y="1299215"/>
            <a:ext cx="0" cy="3013006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2839E179-2B74-6B4B-5986-7CF6F469C516}"/>
              </a:ext>
            </a:extLst>
          </p:cNvPr>
          <p:cNvSpPr/>
          <p:nvPr/>
        </p:nvSpPr>
        <p:spPr>
          <a:xfrm>
            <a:off x="4013982" y="4279686"/>
            <a:ext cx="109182" cy="10918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 Placeholder 5">
                <a:extLst>
                  <a:ext uri="{FF2B5EF4-FFF2-40B4-BE49-F238E27FC236}">
                    <a16:creationId xmlns:a16="http://schemas.microsoft.com/office/drawing/2014/main" id="{8F1C5139-6982-5BA2-EAF1-64CFB41D896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667796" y="1458974"/>
                <a:ext cx="3917482" cy="417953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:r>
                  <a:rPr kumimoji="1" lang="en-NZ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Suppose that the chain is in state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</m:ctrlPr>
                      </m:sSupPr>
                      <m:e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𝑿</m:t>
                        </m:r>
                      </m:e>
                      <m:sup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(</m:t>
                        </m:r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𝒕</m:t>
                        </m:r>
                        <m: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)</m:t>
                        </m:r>
                      </m:sup>
                    </m:sSup>
                  </m:oMath>
                </a14:m>
                <a:endParaRPr lang="en-NZ" altLang="ja-JP" sz="1800" b="1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26" name="Text Placeholder 5">
                <a:extLst>
                  <a:ext uri="{FF2B5EF4-FFF2-40B4-BE49-F238E27FC236}">
                    <a16:creationId xmlns:a16="http://schemas.microsoft.com/office/drawing/2014/main" id="{8F1C5139-6982-5BA2-EAF1-64CFB41D89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7796" y="1458974"/>
                <a:ext cx="3917482" cy="417953"/>
              </a:xfrm>
              <a:prstGeom prst="rect">
                <a:avLst/>
              </a:prstGeom>
              <a:blipFill>
                <a:blip r:embed="rId4"/>
                <a:stretch>
                  <a:fillRect l="-1402" t="-4348" b="-13043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 Placeholder 5">
                <a:extLst>
                  <a:ext uri="{FF2B5EF4-FFF2-40B4-BE49-F238E27FC236}">
                    <a16:creationId xmlns:a16="http://schemas.microsoft.com/office/drawing/2014/main" id="{D88FEFB2-AF87-346C-C4C7-4DD1622252C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1197" y="3720543"/>
                <a:ext cx="1014340" cy="417954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NZ" altLang="ja-JP" sz="1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NZ" altLang="ja-JP" sz="1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sub>
                    </m:sSub>
                    <m:d>
                      <m:dPr>
                        <m:ctrlPr>
                          <a:rPr lang="en-NZ" altLang="ja-JP" sz="1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NZ" altLang="ja-JP" sz="18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kumimoji="1" lang="en-NZ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</a:t>
                </a:r>
              </a:p>
            </p:txBody>
          </p:sp>
        </mc:Choice>
        <mc:Fallback xmlns="">
          <p:sp>
            <p:nvSpPr>
              <p:cNvPr id="35" name="Text Placeholder 5">
                <a:extLst>
                  <a:ext uri="{FF2B5EF4-FFF2-40B4-BE49-F238E27FC236}">
                    <a16:creationId xmlns:a16="http://schemas.microsoft.com/office/drawing/2014/main" id="{D88FEFB2-AF87-346C-C4C7-4DD1622252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1197" y="3720543"/>
                <a:ext cx="1014340" cy="4179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itle 6">
            <a:extLst>
              <a:ext uri="{FF2B5EF4-FFF2-40B4-BE49-F238E27FC236}">
                <a16:creationId xmlns:a16="http://schemas.microsoft.com/office/drawing/2014/main" id="{990C8DA4-9255-26D4-5B57-C446656012CC}"/>
              </a:ext>
            </a:extLst>
          </p:cNvPr>
          <p:cNvSpPr txBox="1">
            <a:spLocks/>
          </p:cNvSpPr>
          <p:nvPr/>
        </p:nvSpPr>
        <p:spPr>
          <a:xfrm>
            <a:off x="319463" y="196889"/>
            <a:ext cx="8168429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Uniform Independence Sampler:</a:t>
            </a:r>
            <a:endParaRPr kumimoji="1" lang="ja-JP" altLang="en-US" sz="3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 Light" panose="020B0300000000000000" pitchFamily="34" charset="-128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 Placeholder 5">
                <a:extLst>
                  <a:ext uri="{FF2B5EF4-FFF2-40B4-BE49-F238E27FC236}">
                    <a16:creationId xmlns:a16="http://schemas.microsoft.com/office/drawing/2014/main" id="{037EE874-12FE-5227-E981-167E7A2F345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667796" y="1996703"/>
                <a:ext cx="5184560" cy="809015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1" lang="en-NZ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The proposed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1" lang="en-NZ" altLang="ja-JP" sz="18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𝒚</m:t>
                        </m:r>
                      </m:e>
                      <m:sub>
                        <m:r>
                          <a:rPr kumimoji="1" lang="en-NZ" altLang="ja-JP" sz="18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𝒕</m:t>
                        </m:r>
                        <m:r>
                          <a:rPr kumimoji="1" lang="en-NZ" altLang="ja-JP" sz="18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+</m:t>
                        </m:r>
                        <m:r>
                          <a:rPr kumimoji="1" lang="en-NZ" altLang="ja-JP" sz="18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𝟏</m:t>
                        </m:r>
                      </m:sub>
                    </m:sSub>
                  </m:oMath>
                </a14:m>
                <a:r>
                  <a:rPr kumimoji="1" lang="en-NZ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is given by</a:t>
                </a:r>
              </a:p>
              <a:p>
                <a:pPr lvl="0">
                  <a:lnSpc>
                    <a:spcPct val="100000"/>
                  </a:lnSpc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NZ" altLang="ja-JP" sz="18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𝝐</m:t>
                        </m:r>
                      </m:e>
                      <m:sub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</m:oMath>
                </a14:m>
                <a:r>
                  <a:rPr lang="en-NZ" altLang="ja-JP" sz="1800" b="1" dirty="0">
                    <a:solidFill>
                      <a:prstClr val="black"/>
                    </a:solidFill>
                  </a:rPr>
                  <a:t>     </a:t>
                </a:r>
                <a:r>
                  <a:rPr lang="en-NZ" altLang="ja-JP" sz="1800" dirty="0">
                    <a:solidFill>
                      <a:prstClr val="black"/>
                    </a:solidFill>
                  </a:rPr>
                  <a:t> where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𝝐</m:t>
                        </m:r>
                      </m:e>
                      <m:sub>
                        <m:r>
                          <a:rPr lang="en-NZ" altLang="ja-JP" sz="1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  <m:r>
                      <a:rPr lang="en-NZ" altLang="ja-JP" sz="18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~ </m:t>
                    </m:r>
                    <m:r>
                      <a:rPr lang="en-NZ" altLang="ja-JP" sz="18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𝑼</m:t>
                    </m:r>
                    <m:r>
                      <a:rPr lang="en-NZ" altLang="ja-JP" sz="18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NZ" altLang="ja-JP" sz="18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NZ" altLang="ja-JP" sz="18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NZ" altLang="ja-JP" sz="18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NZ" altLang="ja-JP" sz="18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en-NZ" altLang="ja-JP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27" name="Text Placeholder 5">
                <a:extLst>
                  <a:ext uri="{FF2B5EF4-FFF2-40B4-BE49-F238E27FC236}">
                    <a16:creationId xmlns:a16="http://schemas.microsoft.com/office/drawing/2014/main" id="{037EE874-12FE-5227-E981-167E7A2F34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7796" y="1996703"/>
                <a:ext cx="5184560" cy="809015"/>
              </a:xfrm>
              <a:prstGeom prst="rect">
                <a:avLst/>
              </a:prstGeom>
              <a:blipFill>
                <a:blip r:embed="rId6"/>
                <a:stretch>
                  <a:fillRect l="-1059" t="-4545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 Placeholder 5">
                <a:extLst>
                  <a:ext uri="{FF2B5EF4-FFF2-40B4-BE49-F238E27FC236}">
                    <a16:creationId xmlns:a16="http://schemas.microsoft.com/office/drawing/2014/main" id="{0467119C-0DB4-2A91-C097-40474923FE1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641299" y="4415603"/>
                <a:ext cx="854547" cy="417953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</m:ctrlPr>
                        </m:sSupPr>
                        <m:e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𝑿</m:t>
                          </m:r>
                        </m:e>
                        <m:sup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(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𝒕</m:t>
                          </m:r>
                          <m:r>
                            <a:rPr kumimoji="1" lang="en-NZ" altLang="ja-JP" sz="18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NZ" altLang="ja-JP" sz="1800" b="1" dirty="0">
                  <a:solidFill>
                    <a:prstClr val="black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</p:txBody>
          </p:sp>
        </mc:Choice>
        <mc:Fallback xmlns="">
          <p:sp>
            <p:nvSpPr>
              <p:cNvPr id="28" name="Text Placeholder 5">
                <a:extLst>
                  <a:ext uri="{FF2B5EF4-FFF2-40B4-BE49-F238E27FC236}">
                    <a16:creationId xmlns:a16="http://schemas.microsoft.com/office/drawing/2014/main" id="{0467119C-0DB4-2A91-C097-40474923FE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1299" y="4415603"/>
                <a:ext cx="854547" cy="41795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DB183728-69D2-4B8B-6F6B-34E1317B0066}"/>
              </a:ext>
            </a:extLst>
          </p:cNvPr>
          <p:cNvCxnSpPr>
            <a:cxnSpLocks/>
          </p:cNvCxnSpPr>
          <p:nvPr/>
        </p:nvCxnSpPr>
        <p:spPr>
          <a:xfrm>
            <a:off x="2606722" y="5057389"/>
            <a:ext cx="728790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932E3489-1C33-AD11-50B6-9CE2A7734958}"/>
              </a:ext>
            </a:extLst>
          </p:cNvPr>
          <p:cNvSpPr txBox="1">
            <a:spLocks/>
          </p:cNvSpPr>
          <p:nvPr/>
        </p:nvSpPr>
        <p:spPr>
          <a:xfrm>
            <a:off x="8993875" y="86139"/>
            <a:ext cx="30954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Choice of Proposal Density</a:t>
            </a: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EDDDD"/>
              </a:solidFill>
              <a:effectLst/>
              <a:uLnTx/>
              <a:uFillTx/>
              <a:latin typeface="Gidole"/>
              <a:ea typeface="游ゴシック" panose="020B04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0193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0" name="Rectangle 72">
            <a:extLst>
              <a:ext uri="{FF2B5EF4-FFF2-40B4-BE49-F238E27FC236}">
                <a16:creationId xmlns:a16="http://schemas.microsoft.com/office/drawing/2014/main" id="{FD073016-B734-483B-8953-5BADEE145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8600" y="0"/>
            <a:ext cx="8157458" cy="6858000"/>
          </a:xfrm>
          <a:prstGeom prst="rect">
            <a:avLst/>
          </a:prstGeom>
          <a:gradFill>
            <a:gsLst>
              <a:gs pos="2000">
                <a:schemeClr val="accent1"/>
              </a:gs>
              <a:gs pos="78000">
                <a:schemeClr val="accent1">
                  <a:lumMod val="50000"/>
                </a:schemeClr>
              </a:gs>
              <a:gs pos="100000">
                <a:srgbClr val="000000">
                  <a:alpha val="85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1" name="Rectangle 74">
            <a:extLst>
              <a:ext uri="{FF2B5EF4-FFF2-40B4-BE49-F238E27FC236}">
                <a16:creationId xmlns:a16="http://schemas.microsoft.com/office/drawing/2014/main" id="{90A7EAB6-59D3-4325-8DE6-E0CA4009C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4537" y="1839884"/>
            <a:ext cx="8157460" cy="5017687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30000"/>
                </a:schemeClr>
              </a:gs>
              <a:gs pos="100000">
                <a:srgbClr val="000000">
                  <a:alpha val="44000"/>
                </a:srgb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2" name="Rectangle 76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063179" y="-33131"/>
            <a:ext cx="6857999" cy="6923403"/>
          </a:xfrm>
          <a:prstGeom prst="rect">
            <a:avLst/>
          </a:prstGeom>
          <a:gradFill>
            <a:gsLst>
              <a:gs pos="56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14062D-E1C1-4F63-B0FD-D013BDA5782B}"/>
              </a:ext>
            </a:extLst>
          </p:cNvPr>
          <p:cNvSpPr txBox="1"/>
          <p:nvPr/>
        </p:nvSpPr>
        <p:spPr>
          <a:xfrm>
            <a:off x="43707" y="3036585"/>
            <a:ext cx="1210458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NZ" sz="45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Width / SD of Proposal Density</a:t>
            </a:r>
          </a:p>
        </p:txBody>
      </p:sp>
      <p:pic>
        <p:nvPicPr>
          <p:cNvPr id="1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078A8151-9BD3-4B62-8210-A87BCD0941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16733"/>
            <a:ext cx="2185386" cy="741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58661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DC72266E-1C32-FD7E-C8C4-25D579208286}"/>
              </a:ext>
            </a:extLst>
          </p:cNvPr>
          <p:cNvSpPr txBox="1">
            <a:spLocks/>
          </p:cNvSpPr>
          <p:nvPr/>
        </p:nvSpPr>
        <p:spPr>
          <a:xfrm>
            <a:off x="907142" y="2425300"/>
            <a:ext cx="10377715" cy="81211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NZ" altLang="ja-JP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Smaller</a:t>
            </a:r>
            <a:r>
              <a:rPr kumimoji="1" lang="en-NZ" altLang="ja-JP" sz="2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changes are more likely to be accepted,</a:t>
            </a:r>
            <a:br>
              <a:rPr kumimoji="1" lang="en-NZ" altLang="ja-JP" sz="2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</a:br>
            <a:r>
              <a:rPr kumimoji="1" lang="en-NZ" altLang="ja-JP" sz="2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but mean that the chain is more likely to mix slowly.</a:t>
            </a:r>
            <a:endParaRPr kumimoji="1" lang="en-NZ" altLang="ja-JP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Placeholder 5">
                <a:extLst>
                  <a:ext uri="{FF2B5EF4-FFF2-40B4-BE49-F238E27FC236}">
                    <a16:creationId xmlns:a16="http://schemas.microsoft.com/office/drawing/2014/main" id="{DF3637D8-BE40-FC7D-B178-DC6A8B1DC49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53770" y="1193072"/>
                <a:ext cx="5884460" cy="812114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NZ" altLang="ja-JP" sz="2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𝜶</m:t>
                      </m:r>
                      <m:d>
                        <m:dPr>
                          <m:ctrlPr>
                            <a:rPr kumimoji="1" lang="en-NZ" altLang="ja-JP" sz="22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1" lang="en-NZ" altLang="ja-JP" sz="22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𝒙</m:t>
                          </m:r>
                          <m:r>
                            <a:rPr kumimoji="1" lang="en-NZ" altLang="ja-JP" sz="22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,</m:t>
                          </m:r>
                          <m:r>
                            <a:rPr kumimoji="1" lang="en-NZ" altLang="ja-JP" sz="22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𝒚</m:t>
                          </m:r>
                        </m:e>
                      </m:d>
                      <m:r>
                        <a:rPr kumimoji="1" lang="en-NZ" altLang="ja-JP" sz="2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r>
                        <a:rPr kumimoji="1" lang="en-NZ" altLang="ja-JP" sz="2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𝒎𝒊𝒏</m:t>
                      </m:r>
                      <m:r>
                        <a:rPr kumimoji="1" lang="en-NZ" altLang="ja-JP" sz="22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 </m:t>
                      </m:r>
                      <m:d>
                        <m:dPr>
                          <m:ctrlPr>
                            <a:rPr kumimoji="1" lang="en-NZ" altLang="ja-JP" sz="22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1" lang="en-NZ" altLang="ja-JP" sz="22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  </m:t>
                          </m:r>
                          <m:r>
                            <a:rPr kumimoji="1" lang="en-NZ" altLang="ja-JP" sz="22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𝟏</m:t>
                          </m:r>
                          <m:r>
                            <a:rPr kumimoji="1" lang="en-NZ" altLang="ja-JP" sz="22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,  </m:t>
                          </m:r>
                          <m:f>
                            <m:fPr>
                              <m:ctrlPr>
                                <a:rPr kumimoji="1" lang="en-NZ" altLang="ja-JP" sz="22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fPr>
                            <m:num>
                              <m:r>
                                <a:rPr kumimoji="1" lang="en-NZ" altLang="ja-JP" sz="22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𝒇</m:t>
                              </m:r>
                              <m:d>
                                <m:dPr>
                                  <m:ctrlPr>
                                    <a:rPr kumimoji="1" lang="en-NZ" altLang="ja-JP" sz="22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kumimoji="1" lang="en-NZ" altLang="ja-JP" sz="22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𝒚</m:t>
                                  </m:r>
                                </m:e>
                              </m:d>
                              <m:r>
                                <a:rPr kumimoji="1" lang="en-NZ" altLang="ja-JP" sz="22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 </m:t>
                              </m:r>
                              <m:r>
                                <a:rPr kumimoji="1" lang="en-NZ" altLang="ja-JP" sz="22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𝒒</m:t>
                              </m:r>
                              <m:r>
                                <a:rPr kumimoji="1" lang="en-NZ" altLang="ja-JP" sz="22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(</m:t>
                              </m:r>
                              <m:r>
                                <a:rPr kumimoji="1" lang="en-NZ" altLang="ja-JP" sz="22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𝒚</m:t>
                              </m:r>
                              <m:r>
                                <a:rPr kumimoji="1" lang="en-NZ" altLang="ja-JP" sz="22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,</m:t>
                              </m:r>
                              <m:r>
                                <a:rPr kumimoji="1" lang="en-NZ" altLang="ja-JP" sz="22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𝒙</m:t>
                              </m:r>
                              <m:r>
                                <a:rPr kumimoji="1" lang="en-NZ" altLang="ja-JP" sz="22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)</m:t>
                              </m:r>
                            </m:num>
                            <m:den>
                              <m:r>
                                <a:rPr kumimoji="1" lang="en-NZ" altLang="ja-JP" sz="22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𝒇</m:t>
                              </m:r>
                              <m:d>
                                <m:dPr>
                                  <m:ctrlPr>
                                    <a:rPr kumimoji="1" lang="en-NZ" altLang="ja-JP" sz="22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kumimoji="1" lang="en-NZ" altLang="ja-JP" sz="22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𝒙</m:t>
                                  </m:r>
                                </m:e>
                              </m:d>
                              <m:r>
                                <a:rPr kumimoji="1" lang="en-NZ" altLang="ja-JP" sz="22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 </m:t>
                              </m:r>
                              <m:r>
                                <a:rPr kumimoji="1" lang="en-NZ" altLang="ja-JP" sz="22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𝒒</m:t>
                              </m:r>
                              <m:r>
                                <a:rPr kumimoji="1" lang="en-NZ" altLang="ja-JP" sz="22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(</m:t>
                              </m:r>
                              <m:r>
                                <a:rPr kumimoji="1" lang="en-NZ" altLang="ja-JP" sz="22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𝒙</m:t>
                              </m:r>
                              <m:r>
                                <a:rPr kumimoji="1" lang="en-NZ" altLang="ja-JP" sz="22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,</m:t>
                              </m:r>
                              <m:r>
                                <a:rPr kumimoji="1" lang="en-NZ" altLang="ja-JP" sz="22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𝒚</m:t>
                              </m:r>
                              <m:r>
                                <a:rPr kumimoji="1" lang="en-NZ" altLang="ja-JP" sz="22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)</m:t>
                              </m:r>
                            </m:den>
                          </m:f>
                          <m:r>
                            <a:rPr kumimoji="1" lang="en-NZ" altLang="ja-JP" sz="22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   </m:t>
                          </m:r>
                        </m:e>
                      </m:d>
                    </m:oMath>
                  </m:oMathPara>
                </a14:m>
                <a:endParaRPr kumimoji="1" lang="en-NZ" altLang="ja-JP" sz="2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16" name="Text Placeholder 5">
                <a:extLst>
                  <a:ext uri="{FF2B5EF4-FFF2-40B4-BE49-F238E27FC236}">
                    <a16:creationId xmlns:a16="http://schemas.microsoft.com/office/drawing/2014/main" id="{DF3637D8-BE40-FC7D-B178-DC6A8B1DC4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3770" y="1193072"/>
                <a:ext cx="5884460" cy="8121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8B626C0C-5944-28DA-41F2-2A682B1790D2}"/>
              </a:ext>
            </a:extLst>
          </p:cNvPr>
          <p:cNvSpPr txBox="1">
            <a:spLocks/>
          </p:cNvSpPr>
          <p:nvPr/>
        </p:nvSpPr>
        <p:spPr>
          <a:xfrm>
            <a:off x="907142" y="3429000"/>
            <a:ext cx="10377715" cy="101172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NZ" altLang="ja-JP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Larger</a:t>
            </a:r>
            <a:r>
              <a:rPr kumimoji="1" lang="en-NZ" altLang="ja-JP" sz="2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 changes are less likely to be accepted,</a:t>
            </a:r>
            <a:br>
              <a:rPr kumimoji="1" lang="en-NZ" altLang="ja-JP" sz="2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</a:br>
            <a:r>
              <a:rPr kumimoji="1" lang="en-NZ" altLang="ja-JP" sz="2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but mean that the chain will exhibit less auto-correlation when it does move.</a:t>
            </a:r>
            <a:br>
              <a:rPr kumimoji="1" lang="en-NZ" altLang="ja-JP" sz="2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</a:br>
            <a:r>
              <a:rPr kumimoji="1" lang="en-NZ" altLang="ja-JP" sz="2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However, if acceptance rate is too low, the chain will remain stationary for large periods of time also leading to slow mixing.</a:t>
            </a:r>
            <a:endParaRPr kumimoji="1" lang="en-NZ" altLang="ja-JP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A9662C71-3423-37C6-D18E-3D8CDE9E6074}"/>
              </a:ext>
            </a:extLst>
          </p:cNvPr>
          <p:cNvSpPr txBox="1">
            <a:spLocks/>
          </p:cNvSpPr>
          <p:nvPr/>
        </p:nvSpPr>
        <p:spPr>
          <a:xfrm>
            <a:off x="8993875" y="86139"/>
            <a:ext cx="30954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Width / SD of Proposal Density</a:t>
            </a: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EDDDD"/>
              </a:solidFill>
              <a:effectLst/>
              <a:uLnTx/>
              <a:uFillTx/>
              <a:latin typeface="Gidole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9" name="Title 6">
            <a:extLst>
              <a:ext uri="{FF2B5EF4-FFF2-40B4-BE49-F238E27FC236}">
                <a16:creationId xmlns:a16="http://schemas.microsoft.com/office/drawing/2014/main" id="{FFDDD5E4-A8F5-1D55-826E-F1F882698109}"/>
              </a:ext>
            </a:extLst>
          </p:cNvPr>
          <p:cNvSpPr txBox="1">
            <a:spLocks/>
          </p:cNvSpPr>
          <p:nvPr/>
        </p:nvSpPr>
        <p:spPr>
          <a:xfrm>
            <a:off x="319463" y="196889"/>
            <a:ext cx="9233970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NZ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Width / SD of Proposal Density</a:t>
            </a: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:</a:t>
            </a:r>
            <a:endParaRPr kumimoji="1" lang="ja-JP" altLang="en-US" sz="3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 Light" panose="020B0300000000000000" pitchFamily="34" charset="-128"/>
              <a:cs typeface="+mj-cs"/>
            </a:endParaRP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4B944619-226B-BE16-5D3B-96E131068F15}"/>
              </a:ext>
            </a:extLst>
          </p:cNvPr>
          <p:cNvSpPr txBox="1">
            <a:spLocks/>
          </p:cNvSpPr>
          <p:nvPr/>
        </p:nvSpPr>
        <p:spPr>
          <a:xfrm>
            <a:off x="903816" y="5020913"/>
            <a:ext cx="10191814" cy="81211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NZ" altLang="ja-JP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Need to tune the width / standard deviation of the proposal density so that the chain traverses the support of the target distribution quickly (i.e. so that the chain </a:t>
            </a:r>
            <a:r>
              <a:rPr kumimoji="1" lang="en-NZ" altLang="ja-JP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mixes well).</a:t>
            </a:r>
            <a:endParaRPr kumimoji="1" lang="en-NZ" altLang="ja-JP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74659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610</TotalTime>
  <Words>693</Words>
  <Application>Microsoft Office PowerPoint</Application>
  <PresentationFormat>Widescreen</PresentationFormat>
  <Paragraphs>118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Calibri Light</vt:lpstr>
      <vt:lpstr>Cambria Math</vt:lpstr>
      <vt:lpstr>Coo Hew</vt:lpstr>
      <vt:lpstr>Gidole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Adam Ward</dc:creator>
  <cp:lastModifiedBy>Adam Ward</cp:lastModifiedBy>
  <cp:revision>16</cp:revision>
  <dcterms:created xsi:type="dcterms:W3CDTF">2022-10-02T01:12:07Z</dcterms:created>
  <dcterms:modified xsi:type="dcterms:W3CDTF">2022-10-07T23:32:50Z</dcterms:modified>
</cp:coreProperties>
</file>