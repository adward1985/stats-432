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3" r:id="rId5"/>
    <p:sldId id="260" r:id="rId6"/>
    <p:sldId id="262" r:id="rId7"/>
    <p:sldId id="264" r:id="rId8"/>
    <p:sldId id="265" r:id="rId9"/>
    <p:sldId id="266" r:id="rId10"/>
    <p:sldId id="267" r:id="rId11"/>
    <p:sldId id="335" r:id="rId12"/>
    <p:sldId id="269" r:id="rId13"/>
    <p:sldId id="270" r:id="rId14"/>
    <p:sldId id="271" r:id="rId15"/>
    <p:sldId id="304" r:id="rId16"/>
    <p:sldId id="279" r:id="rId17"/>
    <p:sldId id="272" r:id="rId18"/>
    <p:sldId id="276" r:id="rId19"/>
    <p:sldId id="352" r:id="rId20"/>
    <p:sldId id="353" r:id="rId21"/>
    <p:sldId id="280" r:id="rId22"/>
    <p:sldId id="281" r:id="rId23"/>
    <p:sldId id="355" r:id="rId24"/>
    <p:sldId id="354" r:id="rId25"/>
    <p:sldId id="283" r:id="rId26"/>
    <p:sldId id="286" r:id="rId27"/>
    <p:sldId id="285" r:id="rId28"/>
    <p:sldId id="287" r:id="rId29"/>
    <p:sldId id="296" r:id="rId30"/>
    <p:sldId id="338" r:id="rId31"/>
    <p:sldId id="336" r:id="rId32"/>
    <p:sldId id="339" r:id="rId33"/>
    <p:sldId id="340" r:id="rId34"/>
    <p:sldId id="337" r:id="rId35"/>
    <p:sldId id="303" r:id="rId36"/>
    <p:sldId id="349" r:id="rId37"/>
    <p:sldId id="341" r:id="rId38"/>
    <p:sldId id="342" r:id="rId39"/>
    <p:sldId id="343" r:id="rId40"/>
    <p:sldId id="350" r:id="rId41"/>
    <p:sldId id="305" r:id="rId42"/>
    <p:sldId id="306" r:id="rId43"/>
    <p:sldId id="307" r:id="rId44"/>
    <p:sldId id="308" r:id="rId45"/>
    <p:sldId id="309" r:id="rId46"/>
    <p:sldId id="35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CC"/>
    <a:srgbClr val="DE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87" d="100"/>
          <a:sy n="87" d="100"/>
        </p:scale>
        <p:origin x="72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9/09/2022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9/09/2022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image" Target="../media/image281.png"/><Relationship Id="rId3" Type="http://schemas.openxmlformats.org/officeDocument/2006/relationships/image" Target="../media/image261.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1.png"/><Relationship Id="rId9" Type="http://schemas.openxmlformats.org/officeDocument/2006/relationships/image" Target="../media/image29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8.png"/><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00.png"/><Relationship Id="rId4" Type="http://schemas.openxmlformats.org/officeDocument/2006/relationships/image" Target="../media/image390.png"/></Relationships>
</file>

<file path=ppt/slides/_rels/slide27.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00.png"/><Relationship Id="rId4" Type="http://schemas.openxmlformats.org/officeDocument/2006/relationships/image" Target="../media/image390.png"/></Relationships>
</file>

<file path=ppt/slides/_rels/slide28.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00.png"/><Relationship Id="rId4" Type="http://schemas.openxmlformats.org/officeDocument/2006/relationships/image" Target="../media/image390.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image" Target="../media/image420.png"/><Relationship Id="rId12" Type="http://schemas.openxmlformats.org/officeDocument/2006/relationships/image" Target="../media/image2.png"/><Relationship Id="rId2" Type="http://schemas.openxmlformats.org/officeDocument/2006/relationships/image" Target="../media/image410.png"/><Relationship Id="rId1" Type="http://schemas.openxmlformats.org/officeDocument/2006/relationships/slideLayout" Target="../slideLayouts/slideLayout7.xml"/><Relationship Id="rId11" Type="http://schemas.openxmlformats.org/officeDocument/2006/relationships/image" Target="../media/image500.png"/></Relationships>
</file>

<file path=ppt/slides/_rels/slide32.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3" Type="http://schemas.openxmlformats.org/officeDocument/2006/relationships/image" Target="../media/image170.png"/><Relationship Id="rId7" Type="http://schemas.openxmlformats.org/officeDocument/2006/relationships/image" Target="../media/image210.png"/><Relationship Id="rId12" Type="http://schemas.openxmlformats.org/officeDocument/2006/relationships/image" Target="../media/image260.png"/><Relationship Id="rId2" Type="http://schemas.openxmlformats.org/officeDocument/2006/relationships/image" Target="../media/image53.png"/><Relationship Id="rId16"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0.png"/><Relationship Id="rId11" Type="http://schemas.openxmlformats.org/officeDocument/2006/relationships/image" Target="../media/image250.png"/><Relationship Id="rId5" Type="http://schemas.openxmlformats.org/officeDocument/2006/relationships/image" Target="../media/image190.png"/><Relationship Id="rId15" Type="http://schemas.openxmlformats.org/officeDocument/2006/relationships/image" Target="../media/image440.png"/><Relationship Id="rId10" Type="http://schemas.openxmlformats.org/officeDocument/2006/relationships/image" Target="../media/image24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33.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60.png"/><Relationship Id="rId7" Type="http://schemas.openxmlformats.org/officeDocument/2006/relationships/image" Target="../media/image511.png"/><Relationship Id="rId12" Type="http://schemas.openxmlformats.org/officeDocument/2006/relationships/image" Target="../media/image2.png"/><Relationship Id="rId2" Type="http://schemas.openxmlformats.org/officeDocument/2006/relationships/image" Target="../media/image450.png"/><Relationship Id="rId1" Type="http://schemas.openxmlformats.org/officeDocument/2006/relationships/slideLayout" Target="../slideLayouts/slideLayout7.xml"/><Relationship Id="rId6" Type="http://schemas.openxmlformats.org/officeDocument/2006/relationships/image" Target="../media/image490.png"/><Relationship Id="rId11" Type="http://schemas.openxmlformats.org/officeDocument/2006/relationships/image" Target="../media/image55.png"/><Relationship Id="rId5" Type="http://schemas.openxmlformats.org/officeDocument/2006/relationships/image" Target="../media/image481.png"/><Relationship Id="rId10" Type="http://schemas.openxmlformats.org/officeDocument/2006/relationships/image" Target="../media/image54.png"/><Relationship Id="rId4" Type="http://schemas.openxmlformats.org/officeDocument/2006/relationships/image" Target="../media/image470.png"/><Relationship Id="rId9" Type="http://schemas.openxmlformats.org/officeDocument/2006/relationships/image" Target="../media/image530.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2.png"/><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2.png"/></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0.pn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3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480.png"/><Relationship Id="rId7" Type="http://schemas.openxmlformats.org/officeDocument/2006/relationships/image" Target="../media/image75.png"/><Relationship Id="rId12" Type="http://schemas.openxmlformats.org/officeDocument/2006/relationships/image" Target="../media/image2.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1.png"/><Relationship Id="rId7" Type="http://schemas.openxmlformats.org/officeDocument/2006/relationships/image" Target="../media/image84.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510.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8.png"/><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4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6.png"/></Relationships>
</file>

<file path=ppt/slides/_rels/slide4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98.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0.png"/><Relationship Id="rId1" Type="http://schemas.openxmlformats.org/officeDocument/2006/relationships/slideLayout" Target="../slideLayouts/slideLayout7.xml"/><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Chapter 6 – </a:t>
            </a:r>
            <a:r>
              <a:rPr lang="en-NZ" sz="2800">
                <a:solidFill>
                  <a:schemeClr val="bg1"/>
                </a:solidFill>
              </a:rPr>
              <a:t>Permutation Testing (Part I)</a:t>
            </a:r>
            <a:endParaRPr lang="en-NZ" sz="2800" dirty="0">
              <a:solidFill>
                <a:schemeClr val="bg1"/>
              </a:solidFill>
            </a:endParaRP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algn="ctr"/>
            <a:r>
              <a:rPr lang="en-NZ" sz="4500" b="1" dirty="0">
                <a:solidFill>
                  <a:srgbClr val="FFC000"/>
                </a:solidFill>
              </a:rPr>
              <a:t>6.1 – The Power of a Test</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32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6.1 – The Power of a Test</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6.1 – The Power of a Test:</a:t>
            </a:r>
            <a:endParaRPr lang="ja-JP" altLang="en-US" b="1" u="sng" dirty="0">
              <a:latin typeface="+mn-lt"/>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194619" y="968513"/>
            <a:ext cx="11802762"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In a hypothesis test we test a null hypothesis </a:t>
            </a:r>
            <a:r>
              <a:rPr lang="en-US" altLang="ja-JP" sz="1600" b="1" dirty="0">
                <a:solidFill>
                  <a:schemeClr val="tx1"/>
                </a:solidFill>
              </a:rPr>
              <a:t>H</a:t>
            </a:r>
            <a:r>
              <a:rPr lang="en-US" altLang="ja-JP" sz="1600" b="1" baseline="-25000" dirty="0">
                <a:solidFill>
                  <a:schemeClr val="tx1"/>
                </a:solidFill>
              </a:rPr>
              <a:t>0</a:t>
            </a:r>
            <a:r>
              <a:rPr lang="en-US" altLang="ja-JP" sz="1600" dirty="0">
                <a:solidFill>
                  <a:schemeClr val="tx1"/>
                </a:solidFill>
              </a:rPr>
              <a:t> against an alternative hypothesis </a:t>
            </a:r>
            <a:r>
              <a:rPr lang="en-US" altLang="ja-JP" sz="1600" b="1" dirty="0">
                <a:solidFill>
                  <a:schemeClr val="tx1"/>
                </a:solidFill>
              </a:rPr>
              <a:t>H</a:t>
            </a:r>
            <a:r>
              <a:rPr lang="en-US" altLang="ja-JP" sz="1600" b="1" baseline="-25000" dirty="0">
                <a:solidFill>
                  <a:schemeClr val="tx1"/>
                </a:solidFill>
              </a:rPr>
              <a:t>1</a:t>
            </a:r>
            <a:r>
              <a:rPr lang="en-US" altLang="ja-JP" sz="1600" dirty="0">
                <a:solidFill>
                  <a:schemeClr val="tx1"/>
                </a:solidFill>
              </a:rPr>
              <a:t>. There are two types of error that it is possible to make.</a:t>
            </a:r>
            <a:endParaRPr lang="en-US" altLang="ja-JP" sz="1600" b="1" i="1" dirty="0">
              <a:solidFill>
                <a:schemeClr val="tx1"/>
              </a:solidFill>
            </a:endParaRPr>
          </a:p>
        </p:txBody>
      </p:sp>
      <p:graphicFrame>
        <p:nvGraphicFramePr>
          <p:cNvPr id="3" name="Table 2">
            <a:extLst>
              <a:ext uri="{FF2B5EF4-FFF2-40B4-BE49-F238E27FC236}">
                <a16:creationId xmlns:a16="http://schemas.microsoft.com/office/drawing/2014/main" id="{62D57CA0-CC9C-4C59-91E5-FF24B7DBA403}"/>
              </a:ext>
            </a:extLst>
          </p:cNvPr>
          <p:cNvGraphicFramePr>
            <a:graphicFrameLocks noGrp="1"/>
          </p:cNvGraphicFramePr>
          <p:nvPr>
            <p:extLst>
              <p:ext uri="{D42A27DB-BD31-4B8C-83A1-F6EECF244321}">
                <p14:modId xmlns:p14="http://schemas.microsoft.com/office/powerpoint/2010/main" val="1330989048"/>
              </p:ext>
            </p:extLst>
          </p:nvPr>
        </p:nvGraphicFramePr>
        <p:xfrm>
          <a:off x="532262" y="1638381"/>
          <a:ext cx="4024384" cy="2156572"/>
        </p:xfrm>
        <a:graphic>
          <a:graphicData uri="http://schemas.openxmlformats.org/drawingml/2006/table">
            <a:tbl>
              <a:tblPr/>
              <a:tblGrid>
                <a:gridCol w="685002">
                  <a:extLst>
                    <a:ext uri="{9D8B030D-6E8A-4147-A177-3AD203B41FA5}">
                      <a16:colId xmlns:a16="http://schemas.microsoft.com/office/drawing/2014/main" val="387658841"/>
                    </a:ext>
                  </a:extLst>
                </a:gridCol>
                <a:gridCol w="685002">
                  <a:extLst>
                    <a:ext uri="{9D8B030D-6E8A-4147-A177-3AD203B41FA5}">
                      <a16:colId xmlns:a16="http://schemas.microsoft.com/office/drawing/2014/main" val="250833883"/>
                    </a:ext>
                  </a:extLst>
                </a:gridCol>
                <a:gridCol w="1327190">
                  <a:extLst>
                    <a:ext uri="{9D8B030D-6E8A-4147-A177-3AD203B41FA5}">
                      <a16:colId xmlns:a16="http://schemas.microsoft.com/office/drawing/2014/main" val="1008641355"/>
                    </a:ext>
                  </a:extLst>
                </a:gridCol>
                <a:gridCol w="1327190">
                  <a:extLst>
                    <a:ext uri="{9D8B030D-6E8A-4147-A177-3AD203B41FA5}">
                      <a16:colId xmlns:a16="http://schemas.microsoft.com/office/drawing/2014/main" val="3865772694"/>
                    </a:ext>
                  </a:extLst>
                </a:gridCol>
              </a:tblGrid>
              <a:tr h="269571">
                <a:tc rowSpan="2" gridSpan="2">
                  <a:txBody>
                    <a:bodyPr/>
                    <a:lstStyle/>
                    <a:p>
                      <a:pPr algn="ctr" fontAlgn="ctr"/>
                      <a:r>
                        <a:rPr lang="en-NZ" sz="1600" b="0" i="0" u="none" strike="noStrike" dirty="0">
                          <a:solidFill>
                            <a:srgbClr val="000000"/>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rowSpan="2" hMerge="1">
                  <a:txBody>
                    <a:bodyPr/>
                    <a:lstStyle/>
                    <a:p>
                      <a:endParaRPr lang="en-NZ"/>
                    </a:p>
                  </a:txBody>
                  <a:tcPr/>
                </a:tc>
                <a:tc gridSpan="2">
                  <a:txBody>
                    <a:bodyPr/>
                    <a:lstStyle/>
                    <a:p>
                      <a:pPr algn="ctr" fontAlgn="ctr"/>
                      <a:r>
                        <a:rPr lang="en-NZ" sz="1600" b="1" i="0" u="none" strike="noStrike" dirty="0">
                          <a:solidFill>
                            <a:srgbClr val="FFFFFF"/>
                          </a:solidFill>
                          <a:effectLst/>
                          <a:latin typeface="Calibri" panose="020F0502020204030204" pitchFamily="34" charset="0"/>
                        </a:rPr>
                        <a:t>What We Conclude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extLst>
                  <a:ext uri="{0D108BD9-81ED-4DB2-BD59-A6C34878D82A}">
                    <a16:rowId xmlns:a16="http://schemas.microsoft.com/office/drawing/2014/main" val="3478046960"/>
                  </a:ext>
                </a:extLst>
              </a:tr>
              <a:tr h="269571">
                <a:tc gridSpan="2" vMerge="1">
                  <a:txBody>
                    <a:bodyPr/>
                    <a:lstStyle/>
                    <a:p>
                      <a:endParaRPr lang="en-NZ"/>
                    </a:p>
                  </a:txBody>
                  <a:tcPr/>
                </a:tc>
                <a:tc hMerge="1" vMerge="1">
                  <a:txBody>
                    <a:bodyPr/>
                    <a:lstStyle/>
                    <a:p>
                      <a:endParaRPr lang="en-NZ"/>
                    </a:p>
                  </a:txBody>
                  <a:tcPr/>
                </a:tc>
                <a:tc>
                  <a:txBody>
                    <a:bodyPr/>
                    <a:lstStyle/>
                    <a:p>
                      <a:pPr algn="ctr" fontAlgn="ctr"/>
                      <a:r>
                        <a:rPr lang="en-NZ" sz="1600" b="1" i="0" u="none" strike="noStrike" dirty="0">
                          <a:solidFill>
                            <a:srgbClr val="FFFFFF"/>
                          </a:solidFill>
                          <a:effectLst/>
                          <a:latin typeface="Calibri" panose="020F0502020204030204" pitchFamily="34" charset="0"/>
                        </a:rPr>
                        <a:t>H</a:t>
                      </a:r>
                      <a:r>
                        <a:rPr lang="en-NZ" sz="1600" b="1" i="0" u="none" strike="noStrike" baseline="-25000" dirty="0">
                          <a:solidFill>
                            <a:srgbClr val="FFFFFF"/>
                          </a:solidFill>
                          <a:effectLst/>
                          <a:latin typeface="Calibri" panose="020F0502020204030204" pitchFamily="34" charset="0"/>
                        </a:rPr>
                        <a:t>0</a:t>
                      </a:r>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dirty="0">
                          <a:solidFill>
                            <a:srgbClr val="FFFFFF"/>
                          </a:solidFill>
                          <a:effectLst/>
                          <a:latin typeface="Calibri" panose="020F0502020204030204" pitchFamily="34" charset="0"/>
                        </a:rPr>
                        <a:t>H</a:t>
                      </a:r>
                      <a:r>
                        <a:rPr lang="en-NZ" sz="1600" b="1" i="0" u="none" strike="noStrike" baseline="-25000" dirty="0">
                          <a:solidFill>
                            <a:srgbClr val="FFFFFF"/>
                          </a:solidFill>
                          <a:effectLst/>
                          <a:latin typeface="Calibri" panose="020F0502020204030204" pitchFamily="34" charset="0"/>
                        </a:rPr>
                        <a:t>1</a:t>
                      </a:r>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298270351"/>
                  </a:ext>
                </a:extLst>
              </a:tr>
              <a:tr h="808715">
                <a:tc rowSpan="2">
                  <a:txBody>
                    <a:bodyPr/>
                    <a:lstStyle/>
                    <a:p>
                      <a:pPr algn="ctr" fontAlgn="ctr"/>
                      <a:r>
                        <a:rPr lang="en-NZ" sz="1600" b="1" i="0" u="none" strike="noStrike" dirty="0">
                          <a:solidFill>
                            <a:srgbClr val="FFFFFF"/>
                          </a:solidFill>
                          <a:effectLst/>
                          <a:latin typeface="Calibri" panose="020F0502020204030204" pitchFamily="34" charset="0"/>
                        </a:rPr>
                        <a:t>What is True</a:t>
                      </a:r>
                    </a:p>
                  </a:txBody>
                  <a:tcPr marL="9525" marR="9525" marT="9525"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dirty="0">
                          <a:solidFill>
                            <a:srgbClr val="FFFFFF"/>
                          </a:solidFill>
                          <a:effectLst/>
                          <a:latin typeface="Calibri" panose="020F0502020204030204" pitchFamily="34" charset="0"/>
                        </a:rPr>
                        <a:t>H</a:t>
                      </a:r>
                      <a:r>
                        <a:rPr lang="en-NZ" sz="1600" b="1" i="0" u="none" strike="noStrike" baseline="-25000" dirty="0">
                          <a:solidFill>
                            <a:srgbClr val="FFFFFF"/>
                          </a:solidFill>
                          <a:effectLst/>
                          <a:latin typeface="Calibri" panose="020F0502020204030204" pitchFamily="34" charset="0"/>
                        </a:rPr>
                        <a:t>0</a:t>
                      </a:r>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No Error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FF0000"/>
                          </a:solidFill>
                          <a:effectLst/>
                          <a:latin typeface="Calibri" panose="020F0502020204030204" pitchFamily="34" charset="0"/>
                        </a:rPr>
                        <a:t>Type I Error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33065397"/>
                  </a:ext>
                </a:extLst>
              </a:tr>
              <a:tr h="808715">
                <a:tc vMerge="1">
                  <a:txBody>
                    <a:bodyPr/>
                    <a:lstStyle/>
                    <a:p>
                      <a:endParaRPr lang="en-NZ"/>
                    </a:p>
                  </a:txBody>
                  <a:tcPr/>
                </a:tc>
                <a:tc>
                  <a:txBody>
                    <a:bodyPr/>
                    <a:lstStyle/>
                    <a:p>
                      <a:pPr algn="ctr" fontAlgn="ctr"/>
                      <a:r>
                        <a:rPr lang="en-NZ" sz="1600" b="1" i="0" u="none" strike="noStrike" dirty="0">
                          <a:solidFill>
                            <a:srgbClr val="FFFFFF"/>
                          </a:solidFill>
                          <a:effectLst/>
                          <a:latin typeface="Calibri" panose="020F0502020204030204" pitchFamily="34" charset="0"/>
                        </a:rPr>
                        <a:t>H</a:t>
                      </a:r>
                      <a:r>
                        <a:rPr lang="en-NZ" sz="1600" b="1" i="0" u="none" strike="noStrike" baseline="-25000" dirty="0">
                          <a:solidFill>
                            <a:srgbClr val="FFFFFF"/>
                          </a:solidFill>
                          <a:effectLst/>
                          <a:latin typeface="Calibri" panose="020F0502020204030204" pitchFamily="34" charset="0"/>
                        </a:rPr>
                        <a:t>1</a:t>
                      </a:r>
                      <a:endParaRPr lang="en-NZ" sz="16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FF0000"/>
                          </a:solidFill>
                          <a:effectLst/>
                          <a:latin typeface="Calibri" panose="020F0502020204030204" pitchFamily="34" charset="0"/>
                        </a:rPr>
                        <a:t>Type II Error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No Error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69862367"/>
                  </a:ext>
                </a:extLst>
              </a:tr>
            </a:tbl>
          </a:graphicData>
        </a:graphic>
      </p:graphicFrame>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F2C33A3A-864A-41F9-8A3F-8A622AAB2AA4}"/>
                  </a:ext>
                </a:extLst>
              </p:cNvPr>
              <p:cNvSpPr txBox="1">
                <a:spLocks/>
              </p:cNvSpPr>
              <p:nvPr/>
            </p:nvSpPr>
            <p:spPr>
              <a:xfrm>
                <a:off x="4899546" y="2360015"/>
                <a:ext cx="6760192"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r>
                        <a:rPr lang="en-NZ" altLang="ja-JP" sz="1800" b="0" i="1" smtClean="0">
                          <a:solidFill>
                            <a:schemeClr val="tx1"/>
                          </a:solidFill>
                          <a:latin typeface="Cambria Math" panose="02040503050406030204" pitchFamily="18" charset="0"/>
                        </a:rPr>
                        <m:t>𝑃</m:t>
                      </m:r>
                      <m:d>
                        <m:dPr>
                          <m:ctrlPr>
                            <a:rPr lang="en-NZ" altLang="ja-JP" sz="1800" b="0" i="1" smtClean="0">
                              <a:solidFill>
                                <a:schemeClr val="tx1"/>
                              </a:solidFill>
                              <a:latin typeface="Cambria Math" panose="02040503050406030204" pitchFamily="18" charset="0"/>
                            </a:rPr>
                          </m:ctrlPr>
                        </m:dPr>
                        <m:e>
                          <m:r>
                            <a:rPr lang="en-NZ" altLang="ja-JP" sz="1800" b="0" i="1" smtClean="0">
                              <a:solidFill>
                                <a:schemeClr val="tx1"/>
                              </a:solidFill>
                              <a:latin typeface="Cambria Math" panose="02040503050406030204" pitchFamily="18" charset="0"/>
                            </a:rPr>
                            <m:t>𝑇𝑦𝑝𝑒</m:t>
                          </m:r>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𝐼</m:t>
                          </m:r>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𝐸𝑟𝑟𝑜𝑟</m:t>
                          </m:r>
                        </m:e>
                      </m:d>
                      <m:r>
                        <a:rPr lang="en-NZ" altLang="ja-JP" sz="1800" b="0" i="1" smtClean="0">
                          <a:solidFill>
                            <a:schemeClr val="tx1"/>
                          </a:solidFill>
                          <a:latin typeface="Cambria Math" panose="02040503050406030204" pitchFamily="18" charset="0"/>
                        </a:rPr>
                        <m:t> =  </m:t>
                      </m:r>
                      <m:r>
                        <a:rPr lang="en-NZ" altLang="ja-JP" sz="1800" b="0" i="1" smtClean="0">
                          <a:solidFill>
                            <a:schemeClr val="tx1"/>
                          </a:solidFill>
                          <a:latin typeface="Cambria Math" panose="02040503050406030204" pitchFamily="18" charset="0"/>
                        </a:rPr>
                        <m:t>𝑃</m:t>
                      </m:r>
                      <m:d>
                        <m:dPr>
                          <m:ctrlPr>
                            <a:rPr lang="en-NZ" altLang="ja-JP" sz="1800" b="0" i="1" smtClean="0">
                              <a:solidFill>
                                <a:schemeClr val="tx1"/>
                              </a:solidFill>
                              <a:latin typeface="Cambria Math" panose="02040503050406030204" pitchFamily="18" charset="0"/>
                            </a:rPr>
                          </m:ctrlPr>
                        </m:dPr>
                        <m:e>
                          <m:r>
                            <a:rPr lang="en-NZ" altLang="ja-JP" sz="1800" b="0" i="1" smtClean="0">
                              <a:solidFill>
                                <a:schemeClr val="tx1"/>
                              </a:solidFill>
                              <a:latin typeface="Cambria Math" panose="02040503050406030204" pitchFamily="18" charset="0"/>
                            </a:rPr>
                            <m:t>𝑅𝑒𝑗𝑒𝑐𝑡</m:t>
                          </m:r>
                          <m:r>
                            <a:rPr lang="en-NZ" altLang="ja-JP" sz="1800" b="0" i="1" smtClean="0">
                              <a:solidFill>
                                <a:schemeClr val="tx1"/>
                              </a:solidFill>
                              <a:latin typeface="Cambria Math" panose="02040503050406030204" pitchFamily="18" charset="0"/>
                            </a:rPr>
                            <m:t> </m:t>
                          </m:r>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𝐻</m:t>
                              </m:r>
                            </m:e>
                            <m:sub>
                              <m:r>
                                <a:rPr lang="en-NZ" altLang="ja-JP" sz="1800" b="0" i="1" smtClean="0">
                                  <a:solidFill>
                                    <a:schemeClr val="tx1"/>
                                  </a:solidFill>
                                  <a:latin typeface="Cambria Math" panose="02040503050406030204" pitchFamily="18" charset="0"/>
                                </a:rPr>
                                <m:t>0</m:t>
                              </m:r>
                            </m:sub>
                          </m:sSub>
                          <m:r>
                            <a:rPr lang="en-NZ" altLang="ja-JP" sz="1800" b="0" i="1" smtClean="0">
                              <a:solidFill>
                                <a:schemeClr val="tx1"/>
                              </a:solidFill>
                              <a:latin typeface="Cambria Math" panose="02040503050406030204" pitchFamily="18" charset="0"/>
                            </a:rPr>
                            <m:t> |  </m:t>
                          </m:r>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𝐻</m:t>
                              </m:r>
                            </m:e>
                            <m:sub>
                              <m:r>
                                <a:rPr lang="en-NZ" altLang="ja-JP" sz="1800" b="0" i="1" smtClean="0">
                                  <a:solidFill>
                                    <a:schemeClr val="tx1"/>
                                  </a:solidFill>
                                  <a:latin typeface="Cambria Math" panose="02040503050406030204" pitchFamily="18" charset="0"/>
                                </a:rPr>
                                <m:t>0</m:t>
                              </m:r>
                            </m:sub>
                          </m:sSub>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𝑖𝑠</m:t>
                          </m:r>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𝑡𝑟𝑢𝑒</m:t>
                          </m:r>
                        </m:e>
                      </m:d>
                      <m:r>
                        <a:rPr lang="en-NZ" altLang="ja-JP" sz="1800" b="0" i="1" smtClean="0">
                          <a:solidFill>
                            <a:schemeClr val="tx1"/>
                          </a:solidFill>
                          <a:latin typeface="Cambria Math" panose="02040503050406030204" pitchFamily="18" charset="0"/>
                        </a:rPr>
                        <m:t> =  </m:t>
                      </m:r>
                      <m:r>
                        <a:rPr lang="en-NZ" altLang="ja-JP" sz="1800" b="0" i="1" smtClean="0">
                          <a:solidFill>
                            <a:schemeClr val="tx1"/>
                          </a:solidFill>
                          <a:latin typeface="Cambria Math" panose="02040503050406030204" pitchFamily="18" charset="0"/>
                        </a:rPr>
                        <m:t>𝛼</m:t>
                      </m:r>
                    </m:oMath>
                  </m:oMathPara>
                </a14:m>
                <a:endParaRPr lang="en-US" altLang="ja-JP" sz="1800" dirty="0">
                  <a:solidFill>
                    <a:schemeClr val="tx1"/>
                  </a:solidFill>
                </a:endParaRPr>
              </a:p>
            </p:txBody>
          </p:sp>
        </mc:Choice>
        <mc:Fallback xmlns="">
          <p:sp>
            <p:nvSpPr>
              <p:cNvPr id="12" name="Text Placeholder 5">
                <a:extLst>
                  <a:ext uri="{FF2B5EF4-FFF2-40B4-BE49-F238E27FC236}">
                    <a16:creationId xmlns:a16="http://schemas.microsoft.com/office/drawing/2014/main" id="{F2C33A3A-864A-41F9-8A3F-8A622AAB2AA4}"/>
                  </a:ext>
                </a:extLst>
              </p:cNvPr>
              <p:cNvSpPr txBox="1">
                <a:spLocks noRot="1" noChangeAspect="1" noMove="1" noResize="1" noEditPoints="1" noAdjustHandles="1" noChangeArrowheads="1" noChangeShapeType="1" noTextEdit="1"/>
              </p:cNvSpPr>
              <p:nvPr/>
            </p:nvSpPr>
            <p:spPr>
              <a:xfrm>
                <a:off x="4899546" y="2360015"/>
                <a:ext cx="6760192" cy="505445"/>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FFD9CD8A-6456-452C-9C2F-217940D36638}"/>
                  </a:ext>
                </a:extLst>
              </p:cNvPr>
              <p:cNvSpPr txBox="1">
                <a:spLocks/>
              </p:cNvSpPr>
              <p:nvPr/>
            </p:nvSpPr>
            <p:spPr>
              <a:xfrm>
                <a:off x="4899546" y="2878799"/>
                <a:ext cx="6760192"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r>
                        <a:rPr lang="en-NZ" altLang="ja-JP" sz="1800" b="0" i="1" smtClean="0">
                          <a:solidFill>
                            <a:schemeClr val="tx1"/>
                          </a:solidFill>
                          <a:latin typeface="Cambria Math" panose="02040503050406030204" pitchFamily="18" charset="0"/>
                        </a:rPr>
                        <m:t>𝑃</m:t>
                      </m:r>
                      <m:d>
                        <m:dPr>
                          <m:ctrlPr>
                            <a:rPr lang="en-NZ" altLang="ja-JP" sz="1800" b="0" i="1" smtClean="0">
                              <a:solidFill>
                                <a:schemeClr val="tx1"/>
                              </a:solidFill>
                              <a:latin typeface="Cambria Math" panose="02040503050406030204" pitchFamily="18" charset="0"/>
                            </a:rPr>
                          </m:ctrlPr>
                        </m:dPr>
                        <m:e>
                          <m:r>
                            <a:rPr lang="en-NZ" altLang="ja-JP" sz="1800" b="0" i="1" smtClean="0">
                              <a:solidFill>
                                <a:schemeClr val="tx1"/>
                              </a:solidFill>
                              <a:latin typeface="Cambria Math" panose="02040503050406030204" pitchFamily="18" charset="0"/>
                            </a:rPr>
                            <m:t>𝑇𝑦𝑝𝑒</m:t>
                          </m:r>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𝐼𝐼</m:t>
                          </m:r>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𝐸𝑟𝑟𝑜𝑟</m:t>
                          </m:r>
                        </m:e>
                      </m:d>
                      <m:r>
                        <a:rPr lang="en-NZ" altLang="ja-JP" sz="1800" b="0" i="1" smtClean="0">
                          <a:solidFill>
                            <a:schemeClr val="tx1"/>
                          </a:solidFill>
                          <a:latin typeface="Cambria Math" panose="02040503050406030204" pitchFamily="18" charset="0"/>
                        </a:rPr>
                        <m:t> =  </m:t>
                      </m:r>
                      <m:r>
                        <a:rPr lang="en-NZ" altLang="ja-JP" sz="1800" b="0" i="1" smtClean="0">
                          <a:solidFill>
                            <a:schemeClr val="tx1"/>
                          </a:solidFill>
                          <a:latin typeface="Cambria Math" panose="02040503050406030204" pitchFamily="18" charset="0"/>
                        </a:rPr>
                        <m:t>𝑃</m:t>
                      </m:r>
                      <m:d>
                        <m:dPr>
                          <m:ctrlPr>
                            <a:rPr lang="en-NZ" altLang="ja-JP" sz="1800" b="0" i="1" smtClean="0">
                              <a:solidFill>
                                <a:schemeClr val="tx1"/>
                              </a:solidFill>
                              <a:latin typeface="Cambria Math" panose="02040503050406030204" pitchFamily="18" charset="0"/>
                            </a:rPr>
                          </m:ctrlPr>
                        </m:dPr>
                        <m:e>
                          <m:r>
                            <a:rPr lang="en-NZ" altLang="ja-JP" sz="1800" b="0" i="1" smtClean="0">
                              <a:solidFill>
                                <a:schemeClr val="tx1"/>
                              </a:solidFill>
                              <a:latin typeface="Cambria Math" panose="02040503050406030204" pitchFamily="18" charset="0"/>
                            </a:rPr>
                            <m:t>𝐴𝑐𝑐𝑒𝑝𝑡</m:t>
                          </m:r>
                          <m:r>
                            <a:rPr lang="en-NZ" altLang="ja-JP" sz="1800" b="0" i="1" smtClean="0">
                              <a:solidFill>
                                <a:schemeClr val="tx1"/>
                              </a:solidFill>
                              <a:latin typeface="Cambria Math" panose="02040503050406030204" pitchFamily="18" charset="0"/>
                            </a:rPr>
                            <m:t> </m:t>
                          </m:r>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𝐻</m:t>
                              </m:r>
                            </m:e>
                            <m:sub>
                              <m:r>
                                <a:rPr lang="en-NZ" altLang="ja-JP" sz="1800" b="0" i="1" smtClean="0">
                                  <a:solidFill>
                                    <a:schemeClr val="tx1"/>
                                  </a:solidFill>
                                  <a:latin typeface="Cambria Math" panose="02040503050406030204" pitchFamily="18" charset="0"/>
                                </a:rPr>
                                <m:t>0</m:t>
                              </m:r>
                            </m:sub>
                          </m:sSub>
                          <m:r>
                            <a:rPr lang="en-NZ" altLang="ja-JP" sz="1800" b="0" i="1" smtClean="0">
                              <a:solidFill>
                                <a:schemeClr val="tx1"/>
                              </a:solidFill>
                              <a:latin typeface="Cambria Math" panose="02040503050406030204" pitchFamily="18" charset="0"/>
                            </a:rPr>
                            <m:t> |  </m:t>
                          </m:r>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𝐻</m:t>
                              </m:r>
                            </m:e>
                            <m:sub>
                              <m:r>
                                <a:rPr lang="en-NZ" altLang="ja-JP" sz="1800" b="0" i="1" smtClean="0">
                                  <a:solidFill>
                                    <a:schemeClr val="tx1"/>
                                  </a:solidFill>
                                  <a:latin typeface="Cambria Math" panose="02040503050406030204" pitchFamily="18" charset="0"/>
                                </a:rPr>
                                <m:t>0</m:t>
                              </m:r>
                            </m:sub>
                          </m:sSub>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𝑖𝑠</m:t>
                          </m:r>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𝑓𝑎𝑙𝑠𝑒</m:t>
                          </m:r>
                        </m:e>
                      </m:d>
                      <m:r>
                        <a:rPr lang="en-NZ" altLang="ja-JP" sz="1800" b="0" i="1" smtClean="0">
                          <a:solidFill>
                            <a:schemeClr val="tx1"/>
                          </a:solidFill>
                          <a:latin typeface="Cambria Math" panose="02040503050406030204" pitchFamily="18" charset="0"/>
                        </a:rPr>
                        <m:t> =  </m:t>
                      </m:r>
                      <m:r>
                        <a:rPr lang="en-NZ" altLang="ja-JP" sz="1800" b="0" i="1" smtClean="0">
                          <a:solidFill>
                            <a:schemeClr val="tx1"/>
                          </a:solidFill>
                          <a:latin typeface="Cambria Math" panose="02040503050406030204" pitchFamily="18" charset="0"/>
                        </a:rPr>
                        <m:t>𝛽</m:t>
                      </m:r>
                    </m:oMath>
                  </m:oMathPara>
                </a14:m>
                <a:endParaRPr lang="en-US" altLang="ja-JP" sz="1800" dirty="0">
                  <a:solidFill>
                    <a:schemeClr val="tx1"/>
                  </a:solidFill>
                </a:endParaRPr>
              </a:p>
            </p:txBody>
          </p:sp>
        </mc:Choice>
        <mc:Fallback xmlns="">
          <p:sp>
            <p:nvSpPr>
              <p:cNvPr id="13" name="Text Placeholder 5">
                <a:extLst>
                  <a:ext uri="{FF2B5EF4-FFF2-40B4-BE49-F238E27FC236}">
                    <a16:creationId xmlns:a16="http://schemas.microsoft.com/office/drawing/2014/main" id="{FFD9CD8A-6456-452C-9C2F-217940D36638}"/>
                  </a:ext>
                </a:extLst>
              </p:cNvPr>
              <p:cNvSpPr txBox="1">
                <a:spLocks noRot="1" noChangeAspect="1" noMove="1" noResize="1" noEditPoints="1" noAdjustHandles="1" noChangeArrowheads="1" noChangeShapeType="1" noTextEdit="1"/>
              </p:cNvSpPr>
              <p:nvPr/>
            </p:nvSpPr>
            <p:spPr>
              <a:xfrm>
                <a:off x="4899546" y="2878799"/>
                <a:ext cx="6760192" cy="505445"/>
              </a:xfrm>
              <a:prstGeom prst="rect">
                <a:avLst/>
              </a:prstGeom>
              <a:blipFill>
                <a:blip r:embed="rId4"/>
                <a:stretch>
                  <a:fillRect/>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AC4E72DD-688A-4598-9A25-1D6BD3251DDB}"/>
              </a:ext>
            </a:extLst>
          </p:cNvPr>
          <p:cNvSpPr txBox="1">
            <a:spLocks/>
          </p:cNvSpPr>
          <p:nvPr/>
        </p:nvSpPr>
        <p:spPr>
          <a:xfrm>
            <a:off x="194619" y="4128835"/>
            <a:ext cx="11802762"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The </a:t>
            </a:r>
            <a:r>
              <a:rPr lang="en-US" altLang="ja-JP" sz="1600" b="1" dirty="0">
                <a:solidFill>
                  <a:schemeClr val="tx1"/>
                </a:solidFill>
              </a:rPr>
              <a:t>power</a:t>
            </a:r>
            <a:r>
              <a:rPr lang="en-US" altLang="ja-JP" sz="1600" dirty="0">
                <a:solidFill>
                  <a:schemeClr val="tx1"/>
                </a:solidFill>
              </a:rPr>
              <a:t> of a test is defined as:</a:t>
            </a:r>
            <a:endParaRPr lang="en-US" altLang="ja-JP" sz="1600" b="1" i="1" dirty="0">
              <a:solidFill>
                <a:schemeClr val="tx1"/>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64A4EFD7-C9B4-4D43-B2A8-7AD6F83FDAFB}"/>
                  </a:ext>
                </a:extLst>
              </p:cNvPr>
              <p:cNvSpPr txBox="1">
                <a:spLocks/>
              </p:cNvSpPr>
              <p:nvPr/>
            </p:nvSpPr>
            <p:spPr>
              <a:xfrm>
                <a:off x="319463" y="4517824"/>
                <a:ext cx="6760192"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r>
                        <a:rPr lang="en-NZ" altLang="ja-JP" sz="1800" b="0" i="1" smtClean="0">
                          <a:solidFill>
                            <a:schemeClr val="tx1"/>
                          </a:solidFill>
                          <a:latin typeface="Cambria Math" panose="02040503050406030204" pitchFamily="18" charset="0"/>
                        </a:rPr>
                        <m:t>𝑃𝑜𝑤𝑒𝑟</m:t>
                      </m:r>
                      <m:r>
                        <a:rPr lang="en-NZ" altLang="ja-JP" sz="1800" b="0" i="1" smtClean="0">
                          <a:solidFill>
                            <a:schemeClr val="tx1"/>
                          </a:solidFill>
                          <a:latin typeface="Cambria Math" panose="02040503050406030204" pitchFamily="18" charset="0"/>
                        </a:rPr>
                        <m:t>=1 −</m:t>
                      </m:r>
                      <m:r>
                        <a:rPr lang="en-NZ" altLang="ja-JP" sz="1800" b="0" i="1" smtClean="0">
                          <a:solidFill>
                            <a:schemeClr val="tx1"/>
                          </a:solidFill>
                          <a:latin typeface="Cambria Math" panose="02040503050406030204" pitchFamily="18" charset="0"/>
                        </a:rPr>
                        <m:t>𝛽</m:t>
                      </m:r>
                    </m:oMath>
                  </m:oMathPara>
                </a14:m>
                <a:endParaRPr lang="en-US" altLang="ja-JP" sz="1800" dirty="0">
                  <a:solidFill>
                    <a:schemeClr val="tx1"/>
                  </a:solidFill>
                </a:endParaRPr>
              </a:p>
            </p:txBody>
          </p:sp>
        </mc:Choice>
        <mc:Fallback xmlns="">
          <p:sp>
            <p:nvSpPr>
              <p:cNvPr id="16" name="Text Placeholder 5">
                <a:extLst>
                  <a:ext uri="{FF2B5EF4-FFF2-40B4-BE49-F238E27FC236}">
                    <a16:creationId xmlns:a16="http://schemas.microsoft.com/office/drawing/2014/main" id="{64A4EFD7-C9B4-4D43-B2A8-7AD6F83FDAFB}"/>
                  </a:ext>
                </a:extLst>
              </p:cNvPr>
              <p:cNvSpPr txBox="1">
                <a:spLocks noRot="1" noChangeAspect="1" noMove="1" noResize="1" noEditPoints="1" noAdjustHandles="1" noChangeArrowheads="1" noChangeShapeType="1" noTextEdit="1"/>
              </p:cNvSpPr>
              <p:nvPr/>
            </p:nvSpPr>
            <p:spPr>
              <a:xfrm>
                <a:off x="319463" y="4517824"/>
                <a:ext cx="6760192" cy="505445"/>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15B4DE06-B981-4EF9-B836-A45C7497F4B4}"/>
                  </a:ext>
                </a:extLst>
              </p:cNvPr>
              <p:cNvSpPr txBox="1">
                <a:spLocks/>
              </p:cNvSpPr>
              <p:nvPr/>
            </p:nvSpPr>
            <p:spPr>
              <a:xfrm>
                <a:off x="3562065" y="4903023"/>
                <a:ext cx="3517589"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𝑃</m:t>
                      </m:r>
                      <m:d>
                        <m:dPr>
                          <m:ctrlPr>
                            <a:rPr lang="en-NZ" altLang="ja-JP" sz="1800" i="1">
                              <a:solidFill>
                                <a:schemeClr val="tx1"/>
                              </a:solidFill>
                              <a:latin typeface="Cambria Math" panose="02040503050406030204" pitchFamily="18" charset="0"/>
                            </a:rPr>
                          </m:ctrlPr>
                        </m:dPr>
                        <m:e>
                          <m:r>
                            <a:rPr lang="en-NZ" altLang="ja-JP" sz="1800" i="1">
                              <a:solidFill>
                                <a:schemeClr val="tx1"/>
                              </a:solidFill>
                              <a:latin typeface="Cambria Math" panose="02040503050406030204" pitchFamily="18" charset="0"/>
                            </a:rPr>
                            <m:t>𝐴𝑐𝑐𝑒𝑝𝑡</m:t>
                          </m:r>
                          <m:r>
                            <a:rPr lang="en-NZ" altLang="ja-JP" sz="1800" i="1">
                              <a:solidFill>
                                <a:schemeClr val="tx1"/>
                              </a:solidFill>
                              <a:latin typeface="Cambria Math" panose="02040503050406030204" pitchFamily="18" charset="0"/>
                            </a:rPr>
                            <m:t> </m:t>
                          </m:r>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𝐻</m:t>
                              </m:r>
                            </m:e>
                            <m:sub>
                              <m:r>
                                <a:rPr lang="en-NZ" altLang="ja-JP" sz="1800" i="1">
                                  <a:solidFill>
                                    <a:schemeClr val="tx1"/>
                                  </a:solidFill>
                                  <a:latin typeface="Cambria Math" panose="02040503050406030204" pitchFamily="18" charset="0"/>
                                </a:rPr>
                                <m:t>0</m:t>
                              </m:r>
                            </m:sub>
                          </m:sSub>
                          <m:r>
                            <a:rPr lang="en-NZ" altLang="ja-JP" sz="1800" i="1">
                              <a:solidFill>
                                <a:schemeClr val="tx1"/>
                              </a:solidFill>
                              <a:latin typeface="Cambria Math" panose="02040503050406030204" pitchFamily="18" charset="0"/>
                            </a:rPr>
                            <m:t> |  </m:t>
                          </m:r>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𝐻</m:t>
                              </m:r>
                            </m:e>
                            <m:sub>
                              <m:r>
                                <a:rPr lang="en-NZ" altLang="ja-JP" sz="1800" i="1">
                                  <a:solidFill>
                                    <a:schemeClr val="tx1"/>
                                  </a:solidFill>
                                  <a:latin typeface="Cambria Math" panose="02040503050406030204" pitchFamily="18" charset="0"/>
                                </a:rPr>
                                <m:t>0</m:t>
                              </m:r>
                            </m:sub>
                          </m:sSub>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𝑖𝑠</m:t>
                          </m:r>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𝑓𝑎𝑙𝑠𝑒</m:t>
                          </m:r>
                        </m:e>
                      </m:d>
                    </m:oMath>
                  </m:oMathPara>
                </a14:m>
                <a:endParaRPr lang="en-US" altLang="ja-JP" sz="1800" dirty="0">
                  <a:solidFill>
                    <a:schemeClr val="tx1"/>
                  </a:solidFill>
                </a:endParaRPr>
              </a:p>
            </p:txBody>
          </p:sp>
        </mc:Choice>
        <mc:Fallback xmlns="">
          <p:sp>
            <p:nvSpPr>
              <p:cNvPr id="17" name="Text Placeholder 5">
                <a:extLst>
                  <a:ext uri="{FF2B5EF4-FFF2-40B4-BE49-F238E27FC236}">
                    <a16:creationId xmlns:a16="http://schemas.microsoft.com/office/drawing/2014/main" id="{15B4DE06-B981-4EF9-B836-A45C7497F4B4}"/>
                  </a:ext>
                </a:extLst>
              </p:cNvPr>
              <p:cNvSpPr txBox="1">
                <a:spLocks noRot="1" noChangeAspect="1" noMove="1" noResize="1" noEditPoints="1" noAdjustHandles="1" noChangeArrowheads="1" noChangeShapeType="1" noTextEdit="1"/>
              </p:cNvSpPr>
              <p:nvPr/>
            </p:nvSpPr>
            <p:spPr>
              <a:xfrm>
                <a:off x="3562065" y="4903023"/>
                <a:ext cx="3517589" cy="505445"/>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74D08DCC-AF97-4664-A22D-56C0251C3122}"/>
                  </a:ext>
                </a:extLst>
              </p:cNvPr>
              <p:cNvSpPr txBox="1">
                <a:spLocks/>
              </p:cNvSpPr>
              <p:nvPr/>
            </p:nvSpPr>
            <p:spPr>
              <a:xfrm>
                <a:off x="3562064" y="5344184"/>
                <a:ext cx="3517589"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i="1" smtClean="0">
                          <a:solidFill>
                            <a:schemeClr val="tx1"/>
                          </a:solidFill>
                          <a:latin typeface="Cambria Math" panose="02040503050406030204" pitchFamily="18" charset="0"/>
                        </a:rPr>
                        <m:t>=</m:t>
                      </m:r>
                      <m:r>
                        <a:rPr lang="en-NZ" altLang="ja-JP" sz="1800" i="1">
                          <a:solidFill>
                            <a:schemeClr val="tx1"/>
                          </a:solidFill>
                          <a:latin typeface="Cambria Math" panose="02040503050406030204" pitchFamily="18" charset="0"/>
                        </a:rPr>
                        <m:t>𝑃</m:t>
                      </m:r>
                      <m:d>
                        <m:dPr>
                          <m:ctrlPr>
                            <a:rPr lang="en-NZ" altLang="ja-JP" sz="1800" i="1">
                              <a:solidFill>
                                <a:schemeClr val="tx1"/>
                              </a:solidFill>
                              <a:latin typeface="Cambria Math" panose="02040503050406030204" pitchFamily="18" charset="0"/>
                            </a:rPr>
                          </m:ctrlPr>
                        </m:dPr>
                        <m:e>
                          <m:r>
                            <a:rPr lang="en-NZ" altLang="ja-JP" sz="1800" b="0" i="1" smtClean="0">
                              <a:solidFill>
                                <a:schemeClr val="tx1"/>
                              </a:solidFill>
                              <a:latin typeface="Cambria Math" panose="02040503050406030204" pitchFamily="18" charset="0"/>
                            </a:rPr>
                            <m:t>𝑅𝑒𝑗𝑒𝑐𝑡</m:t>
                          </m:r>
                          <m:r>
                            <a:rPr lang="en-NZ" altLang="ja-JP" sz="1800" i="1">
                              <a:solidFill>
                                <a:schemeClr val="tx1"/>
                              </a:solidFill>
                              <a:latin typeface="Cambria Math" panose="02040503050406030204" pitchFamily="18" charset="0"/>
                            </a:rPr>
                            <m:t> </m:t>
                          </m:r>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𝐻</m:t>
                              </m:r>
                            </m:e>
                            <m:sub>
                              <m:r>
                                <a:rPr lang="en-NZ" altLang="ja-JP" sz="1800" i="1">
                                  <a:solidFill>
                                    <a:schemeClr val="tx1"/>
                                  </a:solidFill>
                                  <a:latin typeface="Cambria Math" panose="02040503050406030204" pitchFamily="18" charset="0"/>
                                </a:rPr>
                                <m:t>0</m:t>
                              </m:r>
                            </m:sub>
                          </m:sSub>
                          <m:r>
                            <a:rPr lang="en-NZ" altLang="ja-JP" sz="1800" i="1">
                              <a:solidFill>
                                <a:schemeClr val="tx1"/>
                              </a:solidFill>
                              <a:latin typeface="Cambria Math" panose="02040503050406030204" pitchFamily="18" charset="0"/>
                            </a:rPr>
                            <m:t> |  </m:t>
                          </m:r>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𝐻</m:t>
                              </m:r>
                            </m:e>
                            <m:sub>
                              <m:r>
                                <a:rPr lang="en-NZ" altLang="ja-JP" sz="1800" i="1">
                                  <a:solidFill>
                                    <a:schemeClr val="tx1"/>
                                  </a:solidFill>
                                  <a:latin typeface="Cambria Math" panose="02040503050406030204" pitchFamily="18" charset="0"/>
                                </a:rPr>
                                <m:t>0</m:t>
                              </m:r>
                            </m:sub>
                          </m:sSub>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𝑖𝑠</m:t>
                          </m:r>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𝑓𝑎𝑙𝑠𝑒</m:t>
                          </m:r>
                        </m:e>
                      </m:d>
                    </m:oMath>
                  </m:oMathPara>
                </a14:m>
                <a:endParaRPr lang="en-US" altLang="ja-JP" sz="1800" dirty="0">
                  <a:solidFill>
                    <a:schemeClr val="tx1"/>
                  </a:solidFill>
                </a:endParaRPr>
              </a:p>
            </p:txBody>
          </p:sp>
        </mc:Choice>
        <mc:Fallback xmlns="">
          <p:sp>
            <p:nvSpPr>
              <p:cNvPr id="18" name="Text Placeholder 5">
                <a:extLst>
                  <a:ext uri="{FF2B5EF4-FFF2-40B4-BE49-F238E27FC236}">
                    <a16:creationId xmlns:a16="http://schemas.microsoft.com/office/drawing/2014/main" id="{74D08DCC-AF97-4664-A22D-56C0251C3122}"/>
                  </a:ext>
                </a:extLst>
              </p:cNvPr>
              <p:cNvSpPr txBox="1">
                <a:spLocks noRot="1" noChangeAspect="1" noMove="1" noResize="1" noEditPoints="1" noAdjustHandles="1" noChangeArrowheads="1" noChangeShapeType="1" noTextEdit="1"/>
              </p:cNvSpPr>
              <p:nvPr/>
            </p:nvSpPr>
            <p:spPr>
              <a:xfrm>
                <a:off x="3562064" y="5344184"/>
                <a:ext cx="3517589" cy="505445"/>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18C9C534-49F7-440A-98A3-A194F4EB066C}"/>
                  </a:ext>
                </a:extLst>
              </p:cNvPr>
              <p:cNvSpPr txBox="1">
                <a:spLocks/>
              </p:cNvSpPr>
              <p:nvPr/>
            </p:nvSpPr>
            <p:spPr>
              <a:xfrm>
                <a:off x="3562064" y="5801255"/>
                <a:ext cx="3517589"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i="1" smtClean="0">
                          <a:solidFill>
                            <a:schemeClr val="tx1"/>
                          </a:solidFill>
                          <a:latin typeface="Cambria Math" panose="02040503050406030204" pitchFamily="18" charset="0"/>
                        </a:rPr>
                        <m:t>=</m:t>
                      </m:r>
                      <m:r>
                        <a:rPr lang="en-NZ" altLang="ja-JP" sz="1800" i="1">
                          <a:solidFill>
                            <a:schemeClr val="tx1"/>
                          </a:solidFill>
                          <a:latin typeface="Cambria Math" panose="02040503050406030204" pitchFamily="18" charset="0"/>
                        </a:rPr>
                        <m:t>𝑃</m:t>
                      </m:r>
                      <m:d>
                        <m:dPr>
                          <m:ctrlPr>
                            <a:rPr lang="en-NZ" altLang="ja-JP" sz="1800" i="1">
                              <a:solidFill>
                                <a:schemeClr val="tx1"/>
                              </a:solidFill>
                              <a:latin typeface="Cambria Math" panose="02040503050406030204" pitchFamily="18" charset="0"/>
                            </a:rPr>
                          </m:ctrlPr>
                        </m:dPr>
                        <m:e>
                          <m:r>
                            <a:rPr lang="en-NZ" altLang="ja-JP" sz="1800" b="0" i="1" smtClean="0">
                              <a:solidFill>
                                <a:schemeClr val="tx1"/>
                              </a:solidFill>
                              <a:latin typeface="Cambria Math" panose="02040503050406030204" pitchFamily="18" charset="0"/>
                            </a:rPr>
                            <m:t>𝐴𝑐𝑐𝑒𝑝𝑡</m:t>
                          </m:r>
                          <m:r>
                            <a:rPr lang="en-NZ" altLang="ja-JP" sz="1800" i="1">
                              <a:solidFill>
                                <a:schemeClr val="tx1"/>
                              </a:solidFill>
                              <a:latin typeface="Cambria Math" panose="02040503050406030204" pitchFamily="18" charset="0"/>
                            </a:rPr>
                            <m:t> </m:t>
                          </m:r>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𝐻</m:t>
                              </m:r>
                            </m:e>
                            <m:sub>
                              <m:r>
                                <a:rPr lang="en-NZ" altLang="ja-JP" sz="1800" b="0" i="1" smtClean="0">
                                  <a:solidFill>
                                    <a:schemeClr val="tx1"/>
                                  </a:solidFill>
                                  <a:latin typeface="Cambria Math" panose="02040503050406030204" pitchFamily="18" charset="0"/>
                                </a:rPr>
                                <m:t>1</m:t>
                              </m:r>
                            </m:sub>
                          </m:sSub>
                          <m:r>
                            <a:rPr lang="en-NZ" altLang="ja-JP" sz="1800" i="1">
                              <a:solidFill>
                                <a:schemeClr val="tx1"/>
                              </a:solidFill>
                              <a:latin typeface="Cambria Math" panose="02040503050406030204" pitchFamily="18" charset="0"/>
                            </a:rPr>
                            <m:t> |  </m:t>
                          </m:r>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𝐻</m:t>
                              </m:r>
                            </m:e>
                            <m:sub>
                              <m:r>
                                <a:rPr lang="en-NZ" altLang="ja-JP" sz="1800" b="0" i="1" smtClean="0">
                                  <a:solidFill>
                                    <a:schemeClr val="tx1"/>
                                  </a:solidFill>
                                  <a:latin typeface="Cambria Math" panose="02040503050406030204" pitchFamily="18" charset="0"/>
                                </a:rPr>
                                <m:t>1</m:t>
                              </m:r>
                            </m:sub>
                          </m:sSub>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𝑖𝑠</m:t>
                          </m:r>
                          <m:r>
                            <a:rPr lang="en-NZ" altLang="ja-JP" sz="1800" i="1">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𝑡𝑟𝑢𝑒</m:t>
                          </m:r>
                        </m:e>
                      </m:d>
                    </m:oMath>
                  </m:oMathPara>
                </a14:m>
                <a:endParaRPr lang="en-US" altLang="ja-JP" sz="1800" dirty="0">
                  <a:solidFill>
                    <a:schemeClr val="tx1"/>
                  </a:solidFill>
                </a:endParaRPr>
              </a:p>
            </p:txBody>
          </p:sp>
        </mc:Choice>
        <mc:Fallback xmlns="">
          <p:sp>
            <p:nvSpPr>
              <p:cNvPr id="19" name="Text Placeholder 5">
                <a:extLst>
                  <a:ext uri="{FF2B5EF4-FFF2-40B4-BE49-F238E27FC236}">
                    <a16:creationId xmlns:a16="http://schemas.microsoft.com/office/drawing/2014/main" id="{18C9C534-49F7-440A-98A3-A194F4EB066C}"/>
                  </a:ext>
                </a:extLst>
              </p:cNvPr>
              <p:cNvSpPr txBox="1">
                <a:spLocks noRot="1" noChangeAspect="1" noMove="1" noResize="1" noEditPoints="1" noAdjustHandles="1" noChangeArrowheads="1" noChangeShapeType="1" noTextEdit="1"/>
              </p:cNvSpPr>
              <p:nvPr/>
            </p:nvSpPr>
            <p:spPr>
              <a:xfrm>
                <a:off x="3562064" y="5801255"/>
                <a:ext cx="3517589" cy="505445"/>
              </a:xfrm>
              <a:prstGeom prst="rect">
                <a:avLst/>
              </a:prstGeom>
              <a:blipFill>
                <a:blip r:embed="rId8"/>
                <a:stretch>
                  <a:fillRect/>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62A319A5-1EE1-4D68-82B9-ED2606742F01}"/>
              </a:ext>
            </a:extLst>
          </p:cNvPr>
          <p:cNvSpPr txBox="1">
            <a:spLocks/>
          </p:cNvSpPr>
          <p:nvPr/>
        </p:nvSpPr>
        <p:spPr>
          <a:xfrm>
            <a:off x="2033516" y="6318923"/>
            <a:ext cx="9851132"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The greater the power of a test, the better that test is.</a:t>
            </a:r>
            <a:endParaRPr lang="en-US" altLang="ja-JP" sz="1600" b="1" i="1" dirty="0">
              <a:solidFill>
                <a:schemeClr val="tx1"/>
              </a:solidFill>
            </a:endParaRPr>
          </a:p>
        </p:txBody>
      </p:sp>
    </p:spTree>
    <p:extLst>
      <p:ext uri="{BB962C8B-B14F-4D97-AF65-F5344CB8AC3E}">
        <p14:creationId xmlns:p14="http://schemas.microsoft.com/office/powerpoint/2010/main" val="383591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7" grpId="0"/>
      <p:bldP spid="18" grpId="0"/>
      <p:bldP spid="19"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algn="ctr"/>
            <a:r>
              <a:rPr lang="en-NZ" sz="4500" b="1" dirty="0">
                <a:solidFill>
                  <a:srgbClr val="FFC000"/>
                </a:solidFill>
              </a:rPr>
              <a:t>6.2 – Motivating Example</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47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5</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6.2a – Motivating Example:</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6.2 – Motivating Example</a:t>
            </a:r>
            <a:endParaRPr kumimoji="1" lang="ja-JP" altLang="en-US" sz="1600" dirty="0">
              <a:solidFill>
                <a:srgbClr val="DEDDDD"/>
              </a:solidFill>
              <a:latin typeface="Gidole"/>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625523" y="1194405"/>
            <a:ext cx="10931856"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Consider the following data set which specifies the length (in cm) of a particular species of fish inside (A) and outside (B) of a marine reserve.</a:t>
            </a:r>
            <a:endParaRPr lang="en-US" altLang="ja-JP" sz="2000" b="1" i="1" dirty="0">
              <a:solidFill>
                <a:schemeClr val="tx1"/>
              </a:solidFill>
            </a:endParaRPr>
          </a:p>
        </p:txBody>
      </p:sp>
      <p:graphicFrame>
        <p:nvGraphicFramePr>
          <p:cNvPr id="2" name="Table 1">
            <a:extLst>
              <a:ext uri="{FF2B5EF4-FFF2-40B4-BE49-F238E27FC236}">
                <a16:creationId xmlns:a16="http://schemas.microsoft.com/office/drawing/2014/main" id="{0C5C7799-AE7C-4DB9-B7C5-5D54DADAA41C}"/>
              </a:ext>
            </a:extLst>
          </p:cNvPr>
          <p:cNvGraphicFramePr>
            <a:graphicFrameLocks noGrp="1"/>
          </p:cNvGraphicFramePr>
          <p:nvPr>
            <p:extLst>
              <p:ext uri="{D42A27DB-BD31-4B8C-83A1-F6EECF244321}">
                <p14:modId xmlns:p14="http://schemas.microsoft.com/office/powerpoint/2010/main" val="1006151223"/>
              </p:ext>
            </p:extLst>
          </p:nvPr>
        </p:nvGraphicFramePr>
        <p:xfrm>
          <a:off x="1992573" y="2226148"/>
          <a:ext cx="6705600" cy="628650"/>
        </p:xfrm>
        <a:graphic>
          <a:graphicData uri="http://schemas.openxmlformats.org/drawingml/2006/table">
            <a:tbl>
              <a:tblPr/>
              <a:tblGrid>
                <a:gridCol w="609600">
                  <a:extLst>
                    <a:ext uri="{9D8B030D-6E8A-4147-A177-3AD203B41FA5}">
                      <a16:colId xmlns:a16="http://schemas.microsoft.com/office/drawing/2014/main" val="4037610628"/>
                    </a:ext>
                  </a:extLst>
                </a:gridCol>
                <a:gridCol w="609600">
                  <a:extLst>
                    <a:ext uri="{9D8B030D-6E8A-4147-A177-3AD203B41FA5}">
                      <a16:colId xmlns:a16="http://schemas.microsoft.com/office/drawing/2014/main" val="590370213"/>
                    </a:ext>
                  </a:extLst>
                </a:gridCol>
                <a:gridCol w="609600">
                  <a:extLst>
                    <a:ext uri="{9D8B030D-6E8A-4147-A177-3AD203B41FA5}">
                      <a16:colId xmlns:a16="http://schemas.microsoft.com/office/drawing/2014/main" val="3452557641"/>
                    </a:ext>
                  </a:extLst>
                </a:gridCol>
                <a:gridCol w="609600">
                  <a:extLst>
                    <a:ext uri="{9D8B030D-6E8A-4147-A177-3AD203B41FA5}">
                      <a16:colId xmlns:a16="http://schemas.microsoft.com/office/drawing/2014/main" val="3162769819"/>
                    </a:ext>
                  </a:extLst>
                </a:gridCol>
                <a:gridCol w="609600">
                  <a:extLst>
                    <a:ext uri="{9D8B030D-6E8A-4147-A177-3AD203B41FA5}">
                      <a16:colId xmlns:a16="http://schemas.microsoft.com/office/drawing/2014/main" val="3968378480"/>
                    </a:ext>
                  </a:extLst>
                </a:gridCol>
                <a:gridCol w="609600">
                  <a:extLst>
                    <a:ext uri="{9D8B030D-6E8A-4147-A177-3AD203B41FA5}">
                      <a16:colId xmlns:a16="http://schemas.microsoft.com/office/drawing/2014/main" val="2641096747"/>
                    </a:ext>
                  </a:extLst>
                </a:gridCol>
                <a:gridCol w="609600">
                  <a:extLst>
                    <a:ext uri="{9D8B030D-6E8A-4147-A177-3AD203B41FA5}">
                      <a16:colId xmlns:a16="http://schemas.microsoft.com/office/drawing/2014/main" val="2998617417"/>
                    </a:ext>
                  </a:extLst>
                </a:gridCol>
                <a:gridCol w="609600">
                  <a:extLst>
                    <a:ext uri="{9D8B030D-6E8A-4147-A177-3AD203B41FA5}">
                      <a16:colId xmlns:a16="http://schemas.microsoft.com/office/drawing/2014/main" val="2672304242"/>
                    </a:ext>
                  </a:extLst>
                </a:gridCol>
                <a:gridCol w="609600">
                  <a:extLst>
                    <a:ext uri="{9D8B030D-6E8A-4147-A177-3AD203B41FA5}">
                      <a16:colId xmlns:a16="http://schemas.microsoft.com/office/drawing/2014/main" val="684859242"/>
                    </a:ext>
                  </a:extLst>
                </a:gridCol>
                <a:gridCol w="609600">
                  <a:extLst>
                    <a:ext uri="{9D8B030D-6E8A-4147-A177-3AD203B41FA5}">
                      <a16:colId xmlns:a16="http://schemas.microsoft.com/office/drawing/2014/main" val="3591260737"/>
                    </a:ext>
                  </a:extLst>
                </a:gridCol>
                <a:gridCol w="609600">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C0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dirty="0">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23" name="Text Placeholder 5">
            <a:extLst>
              <a:ext uri="{FF2B5EF4-FFF2-40B4-BE49-F238E27FC236}">
                <a16:creationId xmlns:a16="http://schemas.microsoft.com/office/drawing/2014/main" id="{2C143A60-C496-44B0-A55B-3584A1A49D44}"/>
              </a:ext>
            </a:extLst>
          </p:cNvPr>
          <p:cNvSpPr txBox="1">
            <a:spLocks/>
          </p:cNvSpPr>
          <p:nvPr/>
        </p:nvSpPr>
        <p:spPr>
          <a:xfrm>
            <a:off x="625523" y="3260341"/>
            <a:ext cx="10931856"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We are interested in whether the mean length of the fish differs between the two groups, </a:t>
            </a:r>
          </a:p>
          <a:p>
            <a:pPr algn="just">
              <a:lnSpc>
                <a:spcPct val="100000"/>
              </a:lnSpc>
            </a:pPr>
            <a:r>
              <a:rPr lang="en-US" altLang="ja-JP" sz="2000" dirty="0">
                <a:solidFill>
                  <a:schemeClr val="tx1"/>
                </a:solidFill>
              </a:rPr>
              <a:t>i.e. we wish to test between the hypotheses: </a:t>
            </a:r>
          </a:p>
        </p:txBody>
      </p:sp>
      <p:sp>
        <p:nvSpPr>
          <p:cNvPr id="24" name="Text Placeholder 5">
            <a:extLst>
              <a:ext uri="{FF2B5EF4-FFF2-40B4-BE49-F238E27FC236}">
                <a16:creationId xmlns:a16="http://schemas.microsoft.com/office/drawing/2014/main" id="{6DCC25E8-7B4B-4E56-9BBB-CBF52D7E37F9}"/>
              </a:ext>
            </a:extLst>
          </p:cNvPr>
          <p:cNvSpPr txBox="1">
            <a:spLocks/>
          </p:cNvSpPr>
          <p:nvPr/>
        </p:nvSpPr>
        <p:spPr>
          <a:xfrm>
            <a:off x="625523" y="5304760"/>
            <a:ext cx="10931856"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How may we attack this problem? </a:t>
            </a: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BEB3E68-9B22-41B6-9B26-692BD2042DDD}"/>
                  </a:ext>
                </a:extLst>
              </p:cNvPr>
              <p:cNvSpPr txBox="1">
                <a:spLocks/>
              </p:cNvSpPr>
              <p:nvPr/>
            </p:nvSpPr>
            <p:spPr>
              <a:xfrm>
                <a:off x="1937981" y="4171329"/>
                <a:ext cx="6760192"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𝑨</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𝑩</m:t>
                          </m:r>
                        </m:sub>
                      </m:sSub>
                    </m:oMath>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a:solidFill>
                                <a:schemeClr val="tx1"/>
                              </a:solidFill>
                              <a:latin typeface="Cambria Math" panose="02040503050406030204" pitchFamily="18" charset="0"/>
                            </a:rPr>
                            <m:t>𝑨</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a:solidFill>
                                <a:schemeClr val="tx1"/>
                              </a:solidFill>
                              <a:latin typeface="Cambria Math" panose="02040503050406030204" pitchFamily="18" charset="0"/>
                            </a:rPr>
                            <m:t>𝑩</m:t>
                          </m:r>
                        </m:sub>
                      </m:sSub>
                    </m:oMath>
                  </m:oMathPara>
                </a14:m>
                <a:endParaRPr lang="en-NZ" altLang="ja-JP" sz="2000" b="1" dirty="0">
                  <a:solidFill>
                    <a:schemeClr val="tx1"/>
                  </a:solidFill>
                </a:endParaRPr>
              </a:p>
            </p:txBody>
          </p:sp>
        </mc:Choice>
        <mc:Fallback xmlns="">
          <p:sp>
            <p:nvSpPr>
              <p:cNvPr id="26" name="Text Placeholder 5">
                <a:extLst>
                  <a:ext uri="{FF2B5EF4-FFF2-40B4-BE49-F238E27FC236}">
                    <a16:creationId xmlns:a16="http://schemas.microsoft.com/office/drawing/2014/main" id="{DBEB3E68-9B22-41B6-9B26-692BD2042DDD}"/>
                  </a:ext>
                </a:extLst>
              </p:cNvPr>
              <p:cNvSpPr txBox="1">
                <a:spLocks noRot="1" noChangeAspect="1" noMove="1" noResize="1" noEditPoints="1" noAdjustHandles="1" noChangeArrowheads="1" noChangeShapeType="1" noTextEdit="1"/>
              </p:cNvSpPr>
              <p:nvPr/>
            </p:nvSpPr>
            <p:spPr>
              <a:xfrm>
                <a:off x="1937981" y="4171329"/>
                <a:ext cx="6760192" cy="695961"/>
              </a:xfrm>
              <a:prstGeom prst="rect">
                <a:avLst/>
              </a:prstGeom>
              <a:blipFill>
                <a:blip r:embed="rId3"/>
                <a:stretch>
                  <a:fillRect b="-5263"/>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911B491C-FF86-414B-9A7C-67AEF51D098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6.2 – Motivating Example.</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AFC44167-32BF-4C9D-B88C-E740F6E9DE05}"/>
                  </a:ext>
                </a:extLst>
              </p:cNvPr>
              <p:cNvSpPr txBox="1">
                <a:spLocks/>
              </p:cNvSpPr>
              <p:nvPr/>
            </p:nvSpPr>
            <p:spPr>
              <a:xfrm>
                <a:off x="8804820" y="2226148"/>
                <a:ext cx="1394607" cy="3630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acc>
                          <m:accPr>
                            <m:chr m:val="̅"/>
                            <m:ctrlPr>
                              <a:rPr lang="en-NZ" altLang="ja-JP" sz="1600" b="1" i="1" smtClean="0">
                                <a:solidFill>
                                  <a:srgbClr val="C00000"/>
                                </a:solidFill>
                                <a:latin typeface="Cambria Math" panose="02040503050406030204" pitchFamily="18" charset="0"/>
                              </a:rPr>
                            </m:ctrlPr>
                          </m:accPr>
                          <m:e>
                            <m:r>
                              <a:rPr lang="en-NZ" altLang="ja-JP" sz="1600" b="1" i="1" smtClean="0">
                                <a:solidFill>
                                  <a:srgbClr val="C00000"/>
                                </a:solidFill>
                                <a:latin typeface="Cambria Math" panose="02040503050406030204" pitchFamily="18" charset="0"/>
                              </a:rPr>
                              <m:t>𝒚</m:t>
                            </m:r>
                          </m:e>
                        </m:acc>
                      </m:e>
                      <m:sub>
                        <m:r>
                          <a:rPr lang="en-NZ" altLang="ja-JP" sz="1600" b="1" i="1" smtClean="0">
                            <a:solidFill>
                              <a:srgbClr val="C00000"/>
                            </a:solidFill>
                            <a:latin typeface="Cambria Math" panose="02040503050406030204" pitchFamily="18" charset="0"/>
                          </a:rPr>
                          <m:t>𝑨</m:t>
                        </m:r>
                      </m:sub>
                    </m:sSub>
                    <m:r>
                      <a:rPr lang="en-NZ" altLang="ja-JP" sz="1600" b="1" i="1" smtClean="0">
                        <a:solidFill>
                          <a:srgbClr val="C00000"/>
                        </a:solidFill>
                        <a:latin typeface="Cambria Math" panose="02040503050406030204" pitchFamily="18" charset="0"/>
                      </a:rPr>
                      <m:t>=</m:t>
                    </m:r>
                  </m:oMath>
                </a14:m>
                <a:r>
                  <a:rPr lang="en-NZ" altLang="ja-JP" sz="1600" b="1" i="1" dirty="0">
                    <a:solidFill>
                      <a:srgbClr val="C00000"/>
                    </a:solidFill>
                  </a:rPr>
                  <a:t>  </a:t>
                </a:r>
                <a:r>
                  <a:rPr lang="en-NZ" altLang="ja-JP" sz="1600" dirty="0">
                    <a:solidFill>
                      <a:srgbClr val="C00000"/>
                    </a:solidFill>
                  </a:rPr>
                  <a:t>42.8</a:t>
                </a:r>
              </a:p>
            </p:txBody>
          </p:sp>
        </mc:Choice>
        <mc:Fallback xmlns="">
          <p:sp>
            <p:nvSpPr>
              <p:cNvPr id="12" name="Text Placeholder 5">
                <a:extLst>
                  <a:ext uri="{FF2B5EF4-FFF2-40B4-BE49-F238E27FC236}">
                    <a16:creationId xmlns:a16="http://schemas.microsoft.com/office/drawing/2014/main" id="{AFC44167-32BF-4C9D-B88C-E740F6E9DE05}"/>
                  </a:ext>
                </a:extLst>
              </p:cNvPr>
              <p:cNvSpPr txBox="1">
                <a:spLocks noRot="1" noChangeAspect="1" noMove="1" noResize="1" noEditPoints="1" noAdjustHandles="1" noChangeArrowheads="1" noChangeShapeType="1" noTextEdit="1"/>
              </p:cNvSpPr>
              <p:nvPr/>
            </p:nvSpPr>
            <p:spPr>
              <a:xfrm>
                <a:off x="8804820" y="2226148"/>
                <a:ext cx="1394607" cy="363044"/>
              </a:xfrm>
              <a:prstGeom prst="rect">
                <a:avLst/>
              </a:prstGeom>
              <a:blipFill>
                <a:blip r:embed="rId4"/>
                <a:stretch>
                  <a:fillRect t="-5000" b="-1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13E1F103-2C37-A65B-100E-B966442DA0CF}"/>
                  </a:ext>
                </a:extLst>
              </p:cNvPr>
              <p:cNvSpPr txBox="1">
                <a:spLocks/>
              </p:cNvSpPr>
              <p:nvPr/>
            </p:nvSpPr>
            <p:spPr>
              <a:xfrm>
                <a:off x="8804820" y="2535080"/>
                <a:ext cx="2002932" cy="3593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rgbClr val="0070C0"/>
                            </a:solidFill>
                            <a:latin typeface="Cambria Math" panose="02040503050406030204" pitchFamily="18" charset="0"/>
                          </a:rPr>
                        </m:ctrlPr>
                      </m:sSubPr>
                      <m:e>
                        <m:acc>
                          <m:accPr>
                            <m:chr m:val="̅"/>
                            <m:ctrlPr>
                              <a:rPr lang="en-NZ" altLang="ja-JP" sz="1600" b="1" i="1" smtClean="0">
                                <a:solidFill>
                                  <a:srgbClr val="0070C0"/>
                                </a:solidFill>
                                <a:latin typeface="Cambria Math" panose="02040503050406030204" pitchFamily="18" charset="0"/>
                              </a:rPr>
                            </m:ctrlPr>
                          </m:accPr>
                          <m:e>
                            <m:r>
                              <a:rPr lang="en-NZ" altLang="ja-JP" sz="1600" b="1" i="1" smtClean="0">
                                <a:solidFill>
                                  <a:srgbClr val="0070C0"/>
                                </a:solidFill>
                                <a:latin typeface="Cambria Math" panose="02040503050406030204" pitchFamily="18" charset="0"/>
                              </a:rPr>
                              <m:t>𝒚</m:t>
                            </m:r>
                          </m:e>
                        </m:acc>
                      </m:e>
                      <m:sub>
                        <m:r>
                          <a:rPr lang="en-NZ" altLang="ja-JP" sz="1600" b="1" i="1">
                            <a:solidFill>
                              <a:srgbClr val="0070C0"/>
                            </a:solidFill>
                            <a:latin typeface="Cambria Math" panose="02040503050406030204" pitchFamily="18" charset="0"/>
                          </a:rPr>
                          <m:t>𝑩</m:t>
                        </m:r>
                      </m:sub>
                    </m:sSub>
                    <m:r>
                      <a:rPr lang="en-NZ" altLang="ja-JP" sz="1600" b="1" i="1" smtClean="0">
                        <a:solidFill>
                          <a:srgbClr val="0070C0"/>
                        </a:solidFill>
                        <a:latin typeface="Cambria Math" panose="02040503050406030204" pitchFamily="18" charset="0"/>
                      </a:rPr>
                      <m:t>= </m:t>
                    </m:r>
                  </m:oMath>
                </a14:m>
                <a:r>
                  <a:rPr lang="en-NZ" altLang="ja-JP" sz="1600" b="1" dirty="0">
                    <a:solidFill>
                      <a:srgbClr val="0070C0"/>
                    </a:solidFill>
                  </a:rPr>
                  <a:t> </a:t>
                </a:r>
                <a:r>
                  <a:rPr lang="en-NZ" altLang="ja-JP" sz="1600" dirty="0">
                    <a:solidFill>
                      <a:srgbClr val="0070C0"/>
                    </a:solidFill>
                  </a:rPr>
                  <a:t>55.8</a:t>
                </a:r>
              </a:p>
            </p:txBody>
          </p:sp>
        </mc:Choice>
        <mc:Fallback xmlns="">
          <p:sp>
            <p:nvSpPr>
              <p:cNvPr id="3" name="Text Placeholder 5">
                <a:extLst>
                  <a:ext uri="{FF2B5EF4-FFF2-40B4-BE49-F238E27FC236}">
                    <a16:creationId xmlns:a16="http://schemas.microsoft.com/office/drawing/2014/main" id="{13E1F103-2C37-A65B-100E-B966442DA0CF}"/>
                  </a:ext>
                </a:extLst>
              </p:cNvPr>
              <p:cNvSpPr txBox="1">
                <a:spLocks noRot="1" noChangeAspect="1" noMove="1" noResize="1" noEditPoints="1" noAdjustHandles="1" noChangeArrowheads="1" noChangeShapeType="1" noTextEdit="1"/>
              </p:cNvSpPr>
              <p:nvPr/>
            </p:nvSpPr>
            <p:spPr>
              <a:xfrm>
                <a:off x="8804820" y="2535080"/>
                <a:ext cx="2002932" cy="359357"/>
              </a:xfrm>
              <a:prstGeom prst="rect">
                <a:avLst/>
              </a:prstGeom>
              <a:blipFill>
                <a:blip r:embed="rId5"/>
                <a:stretch>
                  <a:fillRect t="-5085" b="-15254"/>
                </a:stretch>
              </a:blipFill>
            </p:spPr>
            <p:txBody>
              <a:bodyPr/>
              <a:lstStyle/>
              <a:p>
                <a:r>
                  <a:rPr lang="en-NZ">
                    <a:noFill/>
                  </a:rPr>
                  <a:t> </a:t>
                </a:r>
              </a:p>
            </p:txBody>
          </p:sp>
        </mc:Fallback>
      </mc:AlternateContent>
    </p:spTree>
    <p:extLst>
      <p:ext uri="{BB962C8B-B14F-4D97-AF65-F5344CB8AC3E}">
        <p14:creationId xmlns:p14="http://schemas.microsoft.com/office/powerpoint/2010/main" val="80318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510312D-1305-0439-0779-822F75732E35}"/>
              </a:ext>
            </a:extLst>
          </p:cNvPr>
          <p:cNvPicPr>
            <a:picLocks noChangeAspect="1"/>
          </p:cNvPicPr>
          <p:nvPr/>
        </p:nvPicPr>
        <p:blipFill>
          <a:blip r:embed="rId2"/>
          <a:stretch>
            <a:fillRect/>
          </a:stretch>
        </p:blipFill>
        <p:spPr>
          <a:xfrm>
            <a:off x="630071" y="3088990"/>
            <a:ext cx="4658389" cy="2447782"/>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6</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6.2b – T-test (Parametric):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6.2 – Motivating Example</a:t>
            </a:r>
            <a:endParaRPr kumimoji="1" lang="ja-JP" altLang="en-US" sz="1600" dirty="0">
              <a:solidFill>
                <a:srgbClr val="DEDDDD"/>
              </a:solidFill>
              <a:latin typeface="Gidole"/>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319463" y="867383"/>
            <a:ext cx="10931856" cy="14826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b="1" u="sng" dirty="0">
                <a:solidFill>
                  <a:srgbClr val="C00000"/>
                </a:solidFill>
              </a:rPr>
              <a:t>If</a:t>
            </a:r>
            <a:r>
              <a:rPr lang="en-US" altLang="ja-JP" sz="1600" dirty="0">
                <a:solidFill>
                  <a:schemeClr val="tx1"/>
                </a:solidFill>
              </a:rPr>
              <a:t> the data are drawn from two </a:t>
            </a:r>
            <a:r>
              <a:rPr lang="en-US" altLang="ja-JP" sz="1600" b="1" dirty="0">
                <a:solidFill>
                  <a:schemeClr val="tx1"/>
                </a:solidFill>
              </a:rPr>
              <a:t>independent, normally distributed </a:t>
            </a:r>
            <a:r>
              <a:rPr lang="en-US" altLang="ja-JP" sz="1600" dirty="0">
                <a:solidFill>
                  <a:schemeClr val="tx1"/>
                </a:solidFill>
              </a:rPr>
              <a:t>populations with equal </a:t>
            </a:r>
            <a:r>
              <a:rPr lang="en-US" altLang="ja-JP" sz="1600" b="1" dirty="0">
                <a:solidFill>
                  <a:schemeClr val="tx1"/>
                </a:solidFill>
              </a:rPr>
              <a:t>variance </a:t>
            </a:r>
            <a:r>
              <a:rPr lang="en-US" altLang="ja-JP" sz="1600" dirty="0">
                <a:solidFill>
                  <a:schemeClr val="tx1"/>
                </a:solidFill>
              </a:rPr>
              <a:t>then the test statistic:</a:t>
            </a:r>
            <a:endParaRPr lang="en-US" altLang="ja-JP" sz="1600" b="1" i="1" dirty="0">
              <a:solidFill>
                <a:schemeClr val="tx1"/>
              </a:solidFill>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A727FF75-1B6C-45FF-8002-13F75D0BE10B}"/>
                  </a:ext>
                </a:extLst>
              </p:cNvPr>
              <p:cNvSpPr txBox="1">
                <a:spLocks/>
              </p:cNvSpPr>
              <p:nvPr/>
            </p:nvSpPr>
            <p:spPr>
              <a:xfrm>
                <a:off x="764274" y="1223881"/>
                <a:ext cx="4885900"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𝒕</m:t>
                      </m:r>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acc>
                            <m:accPr>
                              <m:chr m:val="̅"/>
                              <m:ctrlPr>
                                <a:rPr lang="en-NZ" altLang="ja-JP" sz="2000" b="1" i="1" smtClean="0">
                                  <a:solidFill>
                                    <a:schemeClr val="tx1"/>
                                  </a:solidFill>
                                  <a:latin typeface="Cambria Math" panose="02040503050406030204" pitchFamily="18" charset="0"/>
                                </a:rPr>
                              </m:ctrlPr>
                            </m:accPr>
                            <m:e>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𝒚</m:t>
                                  </m:r>
                                </m:e>
                                <m:sub>
                                  <m:r>
                                    <a:rPr lang="en-NZ" altLang="ja-JP" sz="2000" b="1" i="1" smtClean="0">
                                      <a:solidFill>
                                        <a:schemeClr val="tx1"/>
                                      </a:solidFill>
                                      <a:latin typeface="Cambria Math" panose="02040503050406030204" pitchFamily="18" charset="0"/>
                                    </a:rPr>
                                    <m:t>𝑨</m:t>
                                  </m:r>
                                </m:sub>
                              </m:sSub>
                            </m:e>
                          </m:acc>
                          <m:r>
                            <a:rPr lang="en-NZ" altLang="ja-JP" sz="2000" b="1" i="1" smtClean="0">
                              <a:solidFill>
                                <a:schemeClr val="tx1"/>
                              </a:solidFill>
                              <a:latin typeface="Cambria Math" panose="02040503050406030204" pitchFamily="18" charset="0"/>
                            </a:rPr>
                            <m:t>  −</m:t>
                          </m:r>
                          <m:acc>
                            <m:accPr>
                              <m:chr m:val="̅"/>
                              <m:ctrlPr>
                                <a:rPr lang="en-NZ" altLang="ja-JP" sz="2000" b="1" i="1">
                                  <a:solidFill>
                                    <a:schemeClr val="tx1"/>
                                  </a:solidFill>
                                  <a:latin typeface="Cambria Math" panose="02040503050406030204" pitchFamily="18" charset="0"/>
                                </a:rPr>
                              </m:ctrlPr>
                            </m:accPr>
                            <m:e>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𝒚</m:t>
                                  </m:r>
                                </m:e>
                                <m:sub>
                                  <m:r>
                                    <a:rPr lang="en-NZ" altLang="ja-JP" sz="2000" b="1" i="1" smtClean="0">
                                      <a:solidFill>
                                        <a:schemeClr val="tx1"/>
                                      </a:solidFill>
                                      <a:latin typeface="Cambria Math" panose="02040503050406030204" pitchFamily="18" charset="0"/>
                                    </a:rPr>
                                    <m:t>𝑩</m:t>
                                  </m:r>
                                </m:sub>
                              </m:sSub>
                            </m:e>
                          </m:acc>
                        </m:num>
                        <m:den>
                          <m:r>
                            <a:rPr lang="en-NZ" altLang="ja-JP" sz="2000" b="1" i="1" smtClean="0">
                              <a:solidFill>
                                <a:schemeClr val="tx1"/>
                              </a:solidFill>
                              <a:latin typeface="Cambria Math" panose="02040503050406030204" pitchFamily="18" charset="0"/>
                            </a:rPr>
                            <m:t>𝒔</m:t>
                          </m:r>
                          <m:r>
                            <a:rPr lang="en-NZ" altLang="ja-JP" sz="2000" b="1" i="1" smtClean="0">
                              <a:solidFill>
                                <a:schemeClr val="tx1"/>
                              </a:solidFill>
                              <a:latin typeface="Cambria Math" panose="02040503050406030204" pitchFamily="18" charset="0"/>
                            </a:rPr>
                            <m:t> </m:t>
                          </m:r>
                          <m:rad>
                            <m:radPr>
                              <m:degHide m:val="on"/>
                              <m:ctrlPr>
                                <a:rPr lang="en-NZ" altLang="ja-JP" sz="2000" b="1" i="1" smtClean="0">
                                  <a:solidFill>
                                    <a:schemeClr val="tx1"/>
                                  </a:solidFill>
                                  <a:latin typeface="Cambria Math" panose="02040503050406030204" pitchFamily="18" charset="0"/>
                                </a:rPr>
                              </m:ctrlPr>
                            </m:radPr>
                            <m:deg/>
                            <m:e>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𝟏</m:t>
                                  </m:r>
                                </m:num>
                                <m:den>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𝑨</m:t>
                                      </m:r>
                                    </m:sub>
                                  </m:sSub>
                                </m:den>
                              </m:f>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𝟏</m:t>
                                  </m:r>
                                </m:num>
                                <m:den>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𝑩</m:t>
                                      </m:r>
                                    </m:sub>
                                  </m:sSub>
                                </m:den>
                              </m:f>
                            </m:e>
                          </m:rad>
                          <m:r>
                            <a:rPr lang="en-NZ" altLang="ja-JP" sz="2000" b="1" i="1" smtClean="0">
                              <a:solidFill>
                                <a:schemeClr val="tx1"/>
                              </a:solidFill>
                              <a:latin typeface="Cambria Math" panose="02040503050406030204" pitchFamily="18" charset="0"/>
                            </a:rPr>
                            <m:t> </m:t>
                          </m:r>
                        </m:den>
                      </m:f>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ea typeface="Cambria Math" panose="02040503050406030204" pitchFamily="18" charset="0"/>
                        </a:rPr>
                        <m:t>~   </m:t>
                      </m:r>
                      <m:sSub>
                        <m:sSubPr>
                          <m:ctrlPr>
                            <a:rPr lang="en-NZ" altLang="ja-JP" sz="2000" b="1" i="1" smtClean="0">
                              <a:solidFill>
                                <a:schemeClr val="tx1"/>
                              </a:solidFill>
                              <a:latin typeface="Cambria Math" panose="02040503050406030204" pitchFamily="18" charset="0"/>
                              <a:ea typeface="Cambria Math" panose="02040503050406030204" pitchFamily="18" charset="0"/>
                            </a:rPr>
                          </m:ctrlPr>
                        </m:sSubPr>
                        <m:e>
                          <m:r>
                            <a:rPr lang="en-NZ" altLang="ja-JP" sz="2000" b="1" i="1" smtClean="0">
                              <a:solidFill>
                                <a:schemeClr val="tx1"/>
                              </a:solidFill>
                              <a:latin typeface="Cambria Math" panose="02040503050406030204" pitchFamily="18" charset="0"/>
                              <a:ea typeface="Cambria Math" panose="02040503050406030204" pitchFamily="18" charset="0"/>
                            </a:rPr>
                            <m:t>𝑻</m:t>
                          </m:r>
                        </m:e>
                        <m:sub>
                          <m:sSub>
                            <m:sSubPr>
                              <m:ctrlPr>
                                <a:rPr lang="en-NZ" altLang="ja-JP" sz="2000" b="1" i="1" smtClean="0">
                                  <a:solidFill>
                                    <a:schemeClr val="tx1"/>
                                  </a:solidFill>
                                  <a:latin typeface="Cambria Math" panose="02040503050406030204" pitchFamily="18" charset="0"/>
                                  <a:ea typeface="Cambria Math" panose="02040503050406030204" pitchFamily="18" charset="0"/>
                                </a:rPr>
                              </m:ctrlPr>
                            </m:sSubPr>
                            <m:e>
                              <m:r>
                                <a:rPr lang="en-NZ" altLang="ja-JP" sz="2000" b="1" i="1" smtClean="0">
                                  <a:solidFill>
                                    <a:schemeClr val="tx1"/>
                                  </a:solidFill>
                                  <a:latin typeface="Cambria Math" panose="02040503050406030204" pitchFamily="18" charset="0"/>
                                  <a:ea typeface="Cambria Math" panose="02040503050406030204" pitchFamily="18" charset="0"/>
                                </a:rPr>
                                <m:t>𝒏</m:t>
                              </m:r>
                            </m:e>
                            <m:sub>
                              <m:r>
                                <a:rPr lang="en-NZ" altLang="ja-JP" sz="2000" b="1" i="1" smtClean="0">
                                  <a:solidFill>
                                    <a:schemeClr val="tx1"/>
                                  </a:solidFill>
                                  <a:latin typeface="Cambria Math" panose="02040503050406030204" pitchFamily="18" charset="0"/>
                                  <a:ea typeface="Cambria Math" panose="02040503050406030204" pitchFamily="18" charset="0"/>
                                </a:rPr>
                                <m:t>𝑨</m:t>
                              </m:r>
                            </m:sub>
                          </m:sSub>
                          <m:r>
                            <a:rPr lang="en-NZ" altLang="ja-JP" sz="2000" b="1" i="1" smtClean="0">
                              <a:solidFill>
                                <a:schemeClr val="tx1"/>
                              </a:solidFill>
                              <a:latin typeface="Cambria Math" panose="02040503050406030204" pitchFamily="18" charset="0"/>
                              <a:ea typeface="Cambria Math" panose="02040503050406030204" pitchFamily="18" charset="0"/>
                            </a:rPr>
                            <m:t>  +  </m:t>
                          </m:r>
                          <m:sSub>
                            <m:sSubPr>
                              <m:ctrlPr>
                                <a:rPr lang="en-NZ" altLang="ja-JP" sz="2000" b="1" i="1" smtClean="0">
                                  <a:solidFill>
                                    <a:schemeClr val="tx1"/>
                                  </a:solidFill>
                                  <a:latin typeface="Cambria Math" panose="02040503050406030204" pitchFamily="18" charset="0"/>
                                  <a:ea typeface="Cambria Math" panose="02040503050406030204" pitchFamily="18" charset="0"/>
                                </a:rPr>
                              </m:ctrlPr>
                            </m:sSubPr>
                            <m:e>
                              <m:r>
                                <a:rPr lang="en-NZ" altLang="ja-JP" sz="2000" b="1" i="1" smtClean="0">
                                  <a:solidFill>
                                    <a:schemeClr val="tx1"/>
                                  </a:solidFill>
                                  <a:latin typeface="Cambria Math" panose="02040503050406030204" pitchFamily="18" charset="0"/>
                                  <a:ea typeface="Cambria Math" panose="02040503050406030204" pitchFamily="18" charset="0"/>
                                </a:rPr>
                                <m:t>𝒏</m:t>
                              </m:r>
                            </m:e>
                            <m:sub>
                              <m:r>
                                <a:rPr lang="en-NZ" altLang="ja-JP" sz="2000" b="1" i="1" smtClean="0">
                                  <a:solidFill>
                                    <a:schemeClr val="tx1"/>
                                  </a:solidFill>
                                  <a:latin typeface="Cambria Math" panose="02040503050406030204" pitchFamily="18" charset="0"/>
                                  <a:ea typeface="Cambria Math" panose="02040503050406030204" pitchFamily="18" charset="0"/>
                                </a:rPr>
                                <m:t>𝑩</m:t>
                              </m:r>
                            </m:sub>
                          </m:sSub>
                          <m:r>
                            <a:rPr lang="en-NZ" altLang="ja-JP" sz="2000" b="1" i="1" smtClean="0">
                              <a:solidFill>
                                <a:schemeClr val="tx1"/>
                              </a:solidFill>
                              <a:latin typeface="Cambria Math" panose="02040503050406030204" pitchFamily="18" charset="0"/>
                              <a:ea typeface="Cambria Math" panose="02040503050406030204" pitchFamily="18" charset="0"/>
                            </a:rPr>
                            <m:t>  −  </m:t>
                          </m:r>
                          <m:r>
                            <a:rPr lang="en-NZ" altLang="ja-JP" sz="2000" b="1" i="1" smtClean="0">
                              <a:solidFill>
                                <a:schemeClr val="tx1"/>
                              </a:solidFill>
                              <a:latin typeface="Cambria Math" panose="02040503050406030204" pitchFamily="18" charset="0"/>
                              <a:ea typeface="Cambria Math" panose="02040503050406030204" pitchFamily="18" charset="0"/>
                            </a:rPr>
                            <m:t>𝟐</m:t>
                          </m:r>
                        </m:sub>
                      </m:sSub>
                    </m:oMath>
                  </m:oMathPara>
                </a14:m>
                <a:endParaRPr lang="en-NZ" altLang="ja-JP" sz="2000" b="1" dirty="0">
                  <a:solidFill>
                    <a:schemeClr val="tx1"/>
                  </a:solidFill>
                </a:endParaRPr>
              </a:p>
            </p:txBody>
          </p:sp>
        </mc:Choice>
        <mc:Fallback xmlns="">
          <p:sp>
            <p:nvSpPr>
              <p:cNvPr id="10" name="Text Placeholder 5">
                <a:extLst>
                  <a:ext uri="{FF2B5EF4-FFF2-40B4-BE49-F238E27FC236}">
                    <a16:creationId xmlns:a16="http://schemas.microsoft.com/office/drawing/2014/main" id="{A727FF75-1B6C-45FF-8002-13F75D0BE10B}"/>
                  </a:ext>
                </a:extLst>
              </p:cNvPr>
              <p:cNvSpPr txBox="1">
                <a:spLocks noRot="1" noChangeAspect="1" noMove="1" noResize="1" noEditPoints="1" noAdjustHandles="1" noChangeArrowheads="1" noChangeShapeType="1" noTextEdit="1"/>
              </p:cNvSpPr>
              <p:nvPr/>
            </p:nvSpPr>
            <p:spPr>
              <a:xfrm>
                <a:off x="764274" y="1223881"/>
                <a:ext cx="4885900" cy="695961"/>
              </a:xfrm>
              <a:prstGeom prst="rect">
                <a:avLst/>
              </a:prstGeom>
              <a:blipFill>
                <a:blip r:embed="rId4"/>
                <a:stretch>
                  <a:fillRect b="-41228"/>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CCC01BDA-37A8-47CF-B945-A5FCB93CAE47}"/>
              </a:ext>
            </a:extLst>
          </p:cNvPr>
          <p:cNvSpPr txBox="1">
            <a:spLocks/>
          </p:cNvSpPr>
          <p:nvPr/>
        </p:nvSpPr>
        <p:spPr>
          <a:xfrm>
            <a:off x="5288461" y="1454041"/>
            <a:ext cx="1615078"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600" dirty="0">
                <a:solidFill>
                  <a:schemeClr val="tx1"/>
                </a:solidFill>
              </a:rPr>
              <a:t>where</a:t>
            </a:r>
            <a:endParaRPr lang="en-US" altLang="ja-JP" sz="1600" b="1" i="1" dirty="0">
              <a:solidFill>
                <a:schemeClr val="tx1"/>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996FC6F2-3B2B-46EC-9452-9368A8C548EB}"/>
                  </a:ext>
                </a:extLst>
              </p:cNvPr>
              <p:cNvSpPr txBox="1">
                <a:spLocks/>
              </p:cNvSpPr>
              <p:nvPr/>
            </p:nvSpPr>
            <p:spPr>
              <a:xfrm>
                <a:off x="6541826" y="1223881"/>
                <a:ext cx="4885900"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p>
                        <m:sSupPr>
                          <m:ctrlPr>
                            <a:rPr lang="en-NZ" altLang="ja-JP" sz="2000" b="1" i="1" smtClean="0">
                              <a:solidFill>
                                <a:schemeClr val="tx1"/>
                              </a:solidFill>
                              <a:latin typeface="Cambria Math" panose="02040503050406030204" pitchFamily="18" charset="0"/>
                            </a:rPr>
                          </m:ctrlPr>
                        </m:sSupPr>
                        <m:e>
                          <m:r>
                            <a:rPr lang="en-NZ" altLang="ja-JP" sz="2000" b="1" i="1" smtClean="0">
                              <a:solidFill>
                                <a:schemeClr val="tx1"/>
                              </a:solidFill>
                              <a:latin typeface="Cambria Math" panose="02040503050406030204" pitchFamily="18" charset="0"/>
                            </a:rPr>
                            <m:t>𝒔</m:t>
                          </m:r>
                        </m:e>
                        <m:sup>
                          <m:r>
                            <a:rPr lang="en-NZ" altLang="ja-JP" sz="2000" b="1" i="1" smtClean="0">
                              <a:solidFill>
                                <a:schemeClr val="tx1"/>
                              </a:solidFill>
                              <a:latin typeface="Cambria Math" panose="02040503050406030204" pitchFamily="18" charset="0"/>
                            </a:rPr>
                            <m:t>𝟐</m:t>
                          </m:r>
                        </m:sup>
                      </m:sSup>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d>
                            <m:dPr>
                              <m:ctrlPr>
                                <a:rPr lang="en-NZ" altLang="ja-JP" sz="2000" b="1" i="1" smtClean="0">
                                  <a:solidFill>
                                    <a:schemeClr val="tx1"/>
                                  </a:solidFill>
                                  <a:latin typeface="Cambria Math" panose="02040503050406030204" pitchFamily="18" charset="0"/>
                                </a:rPr>
                              </m:ctrlPr>
                            </m:dPr>
                            <m:e>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𝑨</m:t>
                                  </m:r>
                                </m:sub>
                              </m:sSub>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𝟏</m:t>
                              </m:r>
                            </m:e>
                          </m:d>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𝒔</m:t>
                              </m:r>
                            </m:e>
                            <m:sub>
                              <m:r>
                                <a:rPr lang="en-NZ" altLang="ja-JP" sz="2000" b="1" i="1" smtClean="0">
                                  <a:solidFill>
                                    <a:schemeClr val="tx1"/>
                                  </a:solidFill>
                                  <a:latin typeface="Cambria Math" panose="02040503050406030204" pitchFamily="18" charset="0"/>
                                </a:rPr>
                                <m:t>𝑨</m:t>
                              </m:r>
                            </m:sub>
                            <m:sup>
                              <m:r>
                                <a:rPr lang="en-NZ" altLang="ja-JP" sz="2000" b="1" i="1" smtClean="0">
                                  <a:solidFill>
                                    <a:schemeClr val="tx1"/>
                                  </a:solidFill>
                                  <a:latin typeface="Cambria Math" panose="02040503050406030204" pitchFamily="18" charset="0"/>
                                </a:rPr>
                                <m:t>𝟐</m:t>
                              </m:r>
                            </m:sup>
                          </m:sSubSup>
                          <m:r>
                            <a:rPr lang="en-NZ" altLang="ja-JP" sz="2000" b="1" i="1" smtClean="0">
                              <a:solidFill>
                                <a:schemeClr val="tx1"/>
                              </a:solidFill>
                              <a:latin typeface="Cambria Math" panose="02040503050406030204" pitchFamily="18" charset="0"/>
                            </a:rPr>
                            <m:t> +</m:t>
                          </m:r>
                          <m:d>
                            <m:dPr>
                              <m:ctrlPr>
                                <a:rPr lang="en-NZ" altLang="ja-JP" sz="2000" b="1" i="1">
                                  <a:solidFill>
                                    <a:schemeClr val="tx1"/>
                                  </a:solidFill>
                                  <a:latin typeface="Cambria Math" panose="02040503050406030204" pitchFamily="18" charset="0"/>
                                </a:rPr>
                              </m:ctrlPr>
                            </m:dPr>
                            <m:e>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𝑩</m:t>
                                  </m:r>
                                </m:sub>
                              </m:sSub>
                              <m:r>
                                <a:rPr lang="en-NZ" altLang="ja-JP" sz="2000" b="1" i="1">
                                  <a:solidFill>
                                    <a:schemeClr val="tx1"/>
                                  </a:solidFill>
                                  <a:latin typeface="Cambria Math" panose="02040503050406030204" pitchFamily="18" charset="0"/>
                                </a:rPr>
                                <m:t> −</m:t>
                              </m:r>
                              <m:r>
                                <a:rPr lang="en-NZ" altLang="ja-JP" sz="2000" b="1" i="1">
                                  <a:solidFill>
                                    <a:schemeClr val="tx1"/>
                                  </a:solidFill>
                                  <a:latin typeface="Cambria Math" panose="02040503050406030204" pitchFamily="18" charset="0"/>
                                </a:rPr>
                                <m:t>𝟏</m:t>
                              </m:r>
                            </m:e>
                          </m:d>
                          <m:sSubSup>
                            <m:sSubSupPr>
                              <m:ctrlPr>
                                <a:rPr lang="en-NZ" altLang="ja-JP" sz="2000" b="1" i="1">
                                  <a:solidFill>
                                    <a:schemeClr val="tx1"/>
                                  </a:solidFill>
                                  <a:latin typeface="Cambria Math" panose="02040503050406030204" pitchFamily="18" charset="0"/>
                                </a:rPr>
                              </m:ctrlPr>
                            </m:sSubSupPr>
                            <m:e>
                              <m:r>
                                <a:rPr lang="en-NZ" altLang="ja-JP" sz="2000" b="1" i="1">
                                  <a:solidFill>
                                    <a:schemeClr val="tx1"/>
                                  </a:solidFill>
                                  <a:latin typeface="Cambria Math" panose="02040503050406030204" pitchFamily="18" charset="0"/>
                                </a:rPr>
                                <m:t>𝒔</m:t>
                              </m:r>
                            </m:e>
                            <m:sub>
                              <m:r>
                                <a:rPr lang="en-NZ" altLang="ja-JP" sz="2000" b="1" i="1" smtClean="0">
                                  <a:solidFill>
                                    <a:schemeClr val="tx1"/>
                                  </a:solidFill>
                                  <a:latin typeface="Cambria Math" panose="02040503050406030204" pitchFamily="18" charset="0"/>
                                </a:rPr>
                                <m:t>𝑩</m:t>
                              </m:r>
                            </m:sub>
                            <m:sup>
                              <m:r>
                                <a:rPr lang="en-NZ" altLang="ja-JP" sz="2000" b="1" i="1">
                                  <a:solidFill>
                                    <a:schemeClr val="tx1"/>
                                  </a:solidFill>
                                  <a:latin typeface="Cambria Math" panose="02040503050406030204" pitchFamily="18" charset="0"/>
                                </a:rPr>
                                <m:t>𝟐</m:t>
                              </m:r>
                            </m:sup>
                          </m:sSubSup>
                        </m:num>
                        <m:den>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𝑨</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𝑩</m:t>
                              </m:r>
                            </m:sub>
                          </m:sSub>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𝟐</m:t>
                          </m:r>
                        </m:den>
                      </m:f>
                    </m:oMath>
                  </m:oMathPara>
                </a14:m>
                <a:endParaRPr lang="en-NZ" altLang="ja-JP" sz="2000" b="1" dirty="0">
                  <a:solidFill>
                    <a:schemeClr val="tx1"/>
                  </a:solidFill>
                </a:endParaRPr>
              </a:p>
            </p:txBody>
          </p:sp>
        </mc:Choice>
        <mc:Fallback xmlns="">
          <p:sp>
            <p:nvSpPr>
              <p:cNvPr id="14" name="Text Placeholder 5">
                <a:extLst>
                  <a:ext uri="{FF2B5EF4-FFF2-40B4-BE49-F238E27FC236}">
                    <a16:creationId xmlns:a16="http://schemas.microsoft.com/office/drawing/2014/main" id="{996FC6F2-3B2B-46EC-9452-9368A8C548EB}"/>
                  </a:ext>
                </a:extLst>
              </p:cNvPr>
              <p:cNvSpPr txBox="1">
                <a:spLocks noRot="1" noChangeAspect="1" noMove="1" noResize="1" noEditPoints="1" noAdjustHandles="1" noChangeArrowheads="1" noChangeShapeType="1" noTextEdit="1"/>
              </p:cNvSpPr>
              <p:nvPr/>
            </p:nvSpPr>
            <p:spPr>
              <a:xfrm>
                <a:off x="6541826" y="1223881"/>
                <a:ext cx="4885900" cy="695961"/>
              </a:xfrm>
              <a:prstGeom prst="rect">
                <a:avLst/>
              </a:prstGeom>
              <a:blipFill>
                <a:blip r:embed="rId5"/>
                <a:stretch>
                  <a:fillRect b="-526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46F8A50C-92A2-41A6-ABFB-5A87F0BD8AAA}"/>
                  </a:ext>
                </a:extLst>
              </p:cNvPr>
              <p:cNvSpPr txBox="1">
                <a:spLocks/>
              </p:cNvSpPr>
              <p:nvPr/>
            </p:nvSpPr>
            <p:spPr>
              <a:xfrm>
                <a:off x="319463" y="2284495"/>
                <a:ext cx="10206250" cy="7817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We calculate </a:t>
                </a:r>
                <a:r>
                  <a:rPr lang="en-US" altLang="ja-JP" sz="1600" b="1" i="1" dirty="0" err="1">
                    <a:solidFill>
                      <a:schemeClr val="tx1"/>
                    </a:solidFill>
                  </a:rPr>
                  <a:t>t</a:t>
                </a:r>
                <a:r>
                  <a:rPr lang="en-US" altLang="ja-JP" sz="1600" b="1" i="1" baseline="-25000" dirty="0" err="1">
                    <a:solidFill>
                      <a:schemeClr val="tx1"/>
                    </a:solidFill>
                  </a:rPr>
                  <a:t>obs</a:t>
                </a:r>
                <a:r>
                  <a:rPr lang="en-US" altLang="ja-JP" sz="1600" dirty="0">
                    <a:solidFill>
                      <a:schemeClr val="tx1"/>
                    </a:solidFill>
                  </a:rPr>
                  <a:t> and look at where this lies in terms of the </a:t>
                </a:r>
                <a14:m>
                  <m:oMath xmlns:m="http://schemas.openxmlformats.org/officeDocument/2006/math">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𝑻</m:t>
                        </m:r>
                      </m:e>
                      <m:sub>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𝑨</m:t>
                            </m:r>
                          </m:sub>
                        </m:sSub>
                        <m:r>
                          <a:rPr lang="en-NZ" altLang="ja-JP" sz="1600" b="1" i="1" smtClean="0">
                            <a:solidFill>
                              <a:schemeClr val="tx1"/>
                            </a:solidFill>
                            <a:latin typeface="Cambria Math" panose="02040503050406030204" pitchFamily="18" charset="0"/>
                            <a:ea typeface="Cambria Math" panose="02040503050406030204" pitchFamily="18" charset="0"/>
                          </a:rPr>
                          <m:t>+  </m:t>
                        </m:r>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𝑩</m:t>
                            </m:r>
                          </m:sub>
                        </m:sSub>
                        <m:r>
                          <a:rPr lang="en-NZ" altLang="ja-JP" sz="1600" b="1" i="1" smtClean="0">
                            <a:solidFill>
                              <a:schemeClr val="tx1"/>
                            </a:solidFill>
                            <a:latin typeface="Cambria Math" panose="02040503050406030204" pitchFamily="18" charset="0"/>
                            <a:ea typeface="Cambria Math" panose="02040503050406030204" pitchFamily="18" charset="0"/>
                          </a:rPr>
                          <m:t>  −  </m:t>
                        </m:r>
                        <m:r>
                          <a:rPr lang="en-NZ" altLang="ja-JP" sz="1600" b="1" i="1" smtClean="0">
                            <a:solidFill>
                              <a:schemeClr val="tx1"/>
                            </a:solidFill>
                            <a:latin typeface="Cambria Math" panose="02040503050406030204" pitchFamily="18" charset="0"/>
                            <a:ea typeface="Cambria Math" panose="02040503050406030204" pitchFamily="18" charset="0"/>
                          </a:rPr>
                          <m:t>𝟐</m:t>
                        </m:r>
                      </m:sub>
                    </m:sSub>
                  </m:oMath>
                </a14:m>
                <a:r>
                  <a:rPr lang="en-US" altLang="ja-JP" sz="1600" dirty="0">
                    <a:solidFill>
                      <a:schemeClr val="tx1"/>
                    </a:solidFill>
                  </a:rPr>
                  <a:t> distribution. </a:t>
                </a:r>
              </a:p>
              <a:p>
                <a:pPr algn="just">
                  <a:lnSpc>
                    <a:spcPct val="100000"/>
                  </a:lnSpc>
                </a:pPr>
                <a:r>
                  <a:rPr lang="en-US" altLang="ja-JP" sz="1600" dirty="0">
                    <a:solidFill>
                      <a:schemeClr val="tx1"/>
                    </a:solidFill>
                  </a:rPr>
                  <a:t>If the p-value of the test is less than </a:t>
                </a:r>
                <a:r>
                  <a:rPr lang="el-GR" altLang="ja-JP" sz="1600" b="1" i="1" dirty="0">
                    <a:solidFill>
                      <a:schemeClr val="tx1"/>
                    </a:solidFill>
                  </a:rPr>
                  <a:t>α</a:t>
                </a:r>
                <a:r>
                  <a:rPr lang="en-NZ" altLang="ja-JP" sz="1600" dirty="0">
                    <a:solidFill>
                      <a:schemeClr val="tx1"/>
                    </a:solidFill>
                  </a:rPr>
                  <a:t>, then we would reject the null hypothesis at the </a:t>
                </a:r>
                <a:r>
                  <a:rPr lang="el-GR" altLang="ja-JP" sz="1600" b="1" i="1" dirty="0">
                    <a:solidFill>
                      <a:schemeClr val="tx1"/>
                    </a:solidFill>
                  </a:rPr>
                  <a:t>α</a:t>
                </a:r>
                <a:r>
                  <a:rPr lang="en-NZ" altLang="ja-JP" sz="1600" b="1" i="1" dirty="0">
                    <a:solidFill>
                      <a:schemeClr val="tx1"/>
                    </a:solidFill>
                  </a:rPr>
                  <a:t>% </a:t>
                </a:r>
                <a:r>
                  <a:rPr lang="en-NZ" altLang="ja-JP" sz="1600" dirty="0">
                    <a:solidFill>
                      <a:schemeClr val="tx1"/>
                    </a:solidFill>
                  </a:rPr>
                  <a:t>level.</a:t>
                </a:r>
                <a:endParaRPr lang="en-US" altLang="ja-JP" sz="1600" b="1" i="1" dirty="0">
                  <a:solidFill>
                    <a:schemeClr val="tx1"/>
                  </a:solidFill>
                </a:endParaRPr>
              </a:p>
            </p:txBody>
          </p:sp>
        </mc:Choice>
        <mc:Fallback xmlns="">
          <p:sp>
            <p:nvSpPr>
              <p:cNvPr id="15" name="Text Placeholder 5">
                <a:extLst>
                  <a:ext uri="{FF2B5EF4-FFF2-40B4-BE49-F238E27FC236}">
                    <a16:creationId xmlns:a16="http://schemas.microsoft.com/office/drawing/2014/main" id="{46F8A50C-92A2-41A6-ABFB-5A87F0BD8AAA}"/>
                  </a:ext>
                </a:extLst>
              </p:cNvPr>
              <p:cNvSpPr txBox="1">
                <a:spLocks noRot="1" noChangeAspect="1" noMove="1" noResize="1" noEditPoints="1" noAdjustHandles="1" noChangeArrowheads="1" noChangeShapeType="1" noTextEdit="1"/>
              </p:cNvSpPr>
              <p:nvPr/>
            </p:nvSpPr>
            <p:spPr>
              <a:xfrm>
                <a:off x="319463" y="2284495"/>
                <a:ext cx="10206250" cy="781758"/>
              </a:xfrm>
              <a:prstGeom prst="rect">
                <a:avLst/>
              </a:prstGeom>
              <a:blipFill>
                <a:blip r:embed="rId6"/>
                <a:stretch>
                  <a:fillRect l="-299" t="-1563"/>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969D12FA-34BF-4690-9293-687CBFD776F3}"/>
              </a:ext>
            </a:extLst>
          </p:cNvPr>
          <p:cNvSpPr txBox="1">
            <a:spLocks/>
          </p:cNvSpPr>
          <p:nvPr/>
        </p:nvSpPr>
        <p:spPr>
          <a:xfrm>
            <a:off x="5566059" y="4705174"/>
            <a:ext cx="5804848" cy="608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The p-value of this t-test is equal to </a:t>
            </a:r>
            <a:r>
              <a:rPr lang="en-US" altLang="ja-JP" sz="1800" b="1" dirty="0">
                <a:solidFill>
                  <a:schemeClr val="tx1"/>
                </a:solidFill>
              </a:rPr>
              <a:t>0.03549</a:t>
            </a:r>
            <a:r>
              <a:rPr lang="en-US" altLang="ja-JP" sz="1800" dirty="0">
                <a:solidFill>
                  <a:schemeClr val="tx1"/>
                </a:solidFill>
              </a:rPr>
              <a:t>.</a:t>
            </a:r>
          </a:p>
          <a:p>
            <a:pPr algn="just">
              <a:lnSpc>
                <a:spcPct val="100000"/>
              </a:lnSpc>
            </a:pPr>
            <a:r>
              <a:rPr lang="en-US" altLang="ja-JP" sz="1800" dirty="0">
                <a:solidFill>
                  <a:schemeClr val="tx1"/>
                </a:solidFill>
              </a:rPr>
              <a:t>This provides some evidence against the null hypothesis.</a:t>
            </a:r>
          </a:p>
        </p:txBody>
      </p:sp>
      <p:sp>
        <p:nvSpPr>
          <p:cNvPr id="25" name="Text Placeholder 5">
            <a:extLst>
              <a:ext uri="{FF2B5EF4-FFF2-40B4-BE49-F238E27FC236}">
                <a16:creationId xmlns:a16="http://schemas.microsoft.com/office/drawing/2014/main" id="{61B341D1-9825-4594-A9DA-B5204FC48008}"/>
              </a:ext>
            </a:extLst>
          </p:cNvPr>
          <p:cNvSpPr txBox="1">
            <a:spLocks/>
          </p:cNvSpPr>
          <p:nvPr/>
        </p:nvSpPr>
        <p:spPr>
          <a:xfrm>
            <a:off x="319463" y="5743842"/>
            <a:ext cx="11411925" cy="4289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b="1" dirty="0">
                <a:solidFill>
                  <a:srgbClr val="C00000"/>
                </a:solidFill>
              </a:rPr>
              <a:t>However, are the assumptions of the t-test (i.e. independence, normal distributions &amp; equal variance) satisfied?</a:t>
            </a:r>
          </a:p>
        </p:txBody>
      </p:sp>
      <p:sp>
        <p:nvSpPr>
          <p:cNvPr id="26" name="Text Placeholder 5">
            <a:extLst>
              <a:ext uri="{FF2B5EF4-FFF2-40B4-BE49-F238E27FC236}">
                <a16:creationId xmlns:a16="http://schemas.microsoft.com/office/drawing/2014/main" id="{A68FDFDF-A87D-42A3-B3CD-5A3D7B7DB9F7}"/>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6.2 – Motivating Example.</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AB107740-D90A-4862-805D-5A8A6BF4C4A6}"/>
                  </a:ext>
                </a:extLst>
              </p:cNvPr>
              <p:cNvSpPr txBox="1">
                <a:spLocks/>
              </p:cNvSpPr>
              <p:nvPr/>
            </p:nvSpPr>
            <p:spPr>
              <a:xfrm>
                <a:off x="5566059" y="3055938"/>
                <a:ext cx="2129052"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𝑯</m:t>
                          </m:r>
                        </m:e>
                        <m:sub>
                          <m:r>
                            <a:rPr lang="en-NZ" altLang="ja-JP" sz="1800" b="1" i="1" smtClean="0">
                              <a:solidFill>
                                <a:srgbClr val="0070C0"/>
                              </a:solidFill>
                              <a:latin typeface="Cambria Math" panose="02040503050406030204" pitchFamily="18" charset="0"/>
                            </a:rPr>
                            <m:t>𝟎</m:t>
                          </m:r>
                        </m:sub>
                      </m:sSub>
                      <m:r>
                        <a:rPr lang="en-NZ" altLang="ja-JP" sz="1800" b="1" i="1" smtClean="0">
                          <a:solidFill>
                            <a:srgbClr val="0070C0"/>
                          </a:solidFill>
                          <a:latin typeface="Cambria Math" panose="02040503050406030204" pitchFamily="18" charset="0"/>
                        </a:rPr>
                        <m:t> :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𝝁</m:t>
                          </m:r>
                        </m:e>
                        <m:sub>
                          <m:r>
                            <a:rPr lang="en-NZ" altLang="ja-JP" sz="1800" b="1" i="1" smtClean="0">
                              <a:solidFill>
                                <a:srgbClr val="0070C0"/>
                              </a:solidFill>
                              <a:latin typeface="Cambria Math" panose="02040503050406030204" pitchFamily="18" charset="0"/>
                            </a:rPr>
                            <m:t>𝑨</m:t>
                          </m:r>
                        </m:sub>
                      </m:sSub>
                      <m:r>
                        <a:rPr lang="en-NZ" altLang="ja-JP" sz="1800" b="1" i="1" smtClean="0">
                          <a:solidFill>
                            <a:srgbClr val="0070C0"/>
                          </a:solidFill>
                          <a:latin typeface="Cambria Math" panose="02040503050406030204" pitchFamily="18" charset="0"/>
                        </a:rPr>
                        <m:t>=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𝝁</m:t>
                          </m:r>
                        </m:e>
                        <m:sub>
                          <m:r>
                            <a:rPr lang="en-NZ" altLang="ja-JP" sz="1800" b="1" i="1" smtClean="0">
                              <a:solidFill>
                                <a:srgbClr val="0070C0"/>
                              </a:solidFill>
                              <a:latin typeface="Cambria Math" panose="02040503050406030204" pitchFamily="18" charset="0"/>
                            </a:rPr>
                            <m:t>𝑩</m:t>
                          </m:r>
                        </m:sub>
                      </m:sSub>
                    </m:oMath>
                    <m:oMath xmlns:m="http://schemas.openxmlformats.org/officeDocument/2006/math">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𝑯</m:t>
                          </m:r>
                        </m:e>
                        <m:sub>
                          <m:r>
                            <a:rPr lang="en-NZ" altLang="ja-JP" sz="1800" b="1" i="1" smtClean="0">
                              <a:solidFill>
                                <a:srgbClr val="0070C0"/>
                              </a:solidFill>
                              <a:latin typeface="Cambria Math" panose="02040503050406030204" pitchFamily="18" charset="0"/>
                            </a:rPr>
                            <m:t>𝟏</m:t>
                          </m:r>
                        </m:sub>
                      </m:sSub>
                      <m:r>
                        <a:rPr lang="en-NZ" altLang="ja-JP" sz="1800" b="1" i="1">
                          <a:solidFill>
                            <a:srgbClr val="0070C0"/>
                          </a:solidFill>
                          <a:latin typeface="Cambria Math" panose="02040503050406030204" pitchFamily="18" charset="0"/>
                        </a:rPr>
                        <m:t> :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𝝁</m:t>
                          </m:r>
                        </m:e>
                        <m:sub>
                          <m:r>
                            <a:rPr lang="en-NZ" altLang="ja-JP" sz="1800" b="1" i="1">
                              <a:solidFill>
                                <a:srgbClr val="0070C0"/>
                              </a:solidFill>
                              <a:latin typeface="Cambria Math" panose="02040503050406030204" pitchFamily="18" charset="0"/>
                            </a:rPr>
                            <m:t>𝑨</m:t>
                          </m:r>
                        </m:sub>
                      </m:sSub>
                      <m:r>
                        <a:rPr lang="en-NZ" altLang="ja-JP" sz="1800" b="1" i="1" smtClean="0">
                          <a:solidFill>
                            <a:srgbClr val="0070C0"/>
                          </a:solidFill>
                          <a:latin typeface="Cambria Math" panose="02040503050406030204" pitchFamily="18" charset="0"/>
                        </a:rPr>
                        <m:t>≠</m:t>
                      </m:r>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𝝁</m:t>
                          </m:r>
                        </m:e>
                        <m:sub>
                          <m:r>
                            <a:rPr lang="en-NZ" altLang="ja-JP" sz="1800" b="1" i="1">
                              <a:solidFill>
                                <a:srgbClr val="0070C0"/>
                              </a:solidFill>
                              <a:latin typeface="Cambria Math" panose="02040503050406030204" pitchFamily="18" charset="0"/>
                            </a:rPr>
                            <m:t>𝑩</m:t>
                          </m:r>
                        </m:sub>
                      </m:sSub>
                    </m:oMath>
                  </m:oMathPara>
                </a14:m>
                <a:endParaRPr lang="en-NZ" altLang="ja-JP" sz="1800" b="1" dirty="0">
                  <a:solidFill>
                    <a:srgbClr val="0070C0"/>
                  </a:solidFill>
                </a:endParaRPr>
              </a:p>
            </p:txBody>
          </p:sp>
        </mc:Choice>
        <mc:Fallback xmlns="">
          <p:sp>
            <p:nvSpPr>
              <p:cNvPr id="2" name="Text Placeholder 5">
                <a:extLst>
                  <a:ext uri="{FF2B5EF4-FFF2-40B4-BE49-F238E27FC236}">
                    <a16:creationId xmlns:a16="http://schemas.microsoft.com/office/drawing/2014/main" id="{AB107740-D90A-4862-805D-5A8A6BF4C4A6}"/>
                  </a:ext>
                </a:extLst>
              </p:cNvPr>
              <p:cNvSpPr txBox="1">
                <a:spLocks noRot="1" noChangeAspect="1" noMove="1" noResize="1" noEditPoints="1" noAdjustHandles="1" noChangeArrowheads="1" noChangeShapeType="1" noTextEdit="1"/>
              </p:cNvSpPr>
              <p:nvPr/>
            </p:nvSpPr>
            <p:spPr>
              <a:xfrm>
                <a:off x="5566059" y="3055938"/>
                <a:ext cx="2129052" cy="695961"/>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2A3F9D00-93F0-544A-B7F0-B8F5B24AEA26}"/>
                  </a:ext>
                </a:extLst>
              </p:cNvPr>
              <p:cNvSpPr txBox="1">
                <a:spLocks/>
              </p:cNvSpPr>
              <p:nvPr/>
            </p:nvSpPr>
            <p:spPr>
              <a:xfrm>
                <a:off x="5288460" y="3810494"/>
                <a:ext cx="3690750" cy="4049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0070C0"/>
                          </a:solidFill>
                          <a:latin typeface="Cambria Math" panose="02040503050406030204" pitchFamily="18" charset="0"/>
                        </a:rPr>
                        <m:t>𝒑</m:t>
                      </m:r>
                      <m:r>
                        <a:rPr lang="en-NZ" altLang="ja-JP" sz="1800" b="1" i="1" smtClean="0">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𝒗𝒂𝒍𝒖𝒆</m:t>
                      </m:r>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𝟐</m:t>
                      </m:r>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𝑷</m:t>
                      </m:r>
                      <m:d>
                        <m:dPr>
                          <m:endChr m:val="|"/>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𝒕</m:t>
                          </m:r>
                          <m:r>
                            <a:rPr lang="en-NZ" altLang="ja-JP" sz="1800" b="1" i="1" smtClean="0">
                              <a:solidFill>
                                <a:srgbClr val="0070C0"/>
                              </a:solidFill>
                              <a:latin typeface="Cambria Math" panose="02040503050406030204" pitchFamily="18" charset="0"/>
                            </a:rPr>
                            <m:t>≥ </m:t>
                          </m:r>
                        </m:e>
                      </m:d>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𝒕</m:t>
                          </m:r>
                        </m:e>
                        <m:sub>
                          <m:r>
                            <a:rPr lang="en-NZ" altLang="ja-JP" sz="1800" b="1" i="1" smtClean="0">
                              <a:solidFill>
                                <a:srgbClr val="0070C0"/>
                              </a:solidFill>
                              <a:latin typeface="Cambria Math" panose="02040503050406030204" pitchFamily="18" charset="0"/>
                            </a:rPr>
                            <m:t>𝒐𝒃𝒔</m:t>
                          </m:r>
                        </m:sub>
                      </m:sSub>
                      <m:r>
                        <a:rPr lang="en-NZ" altLang="ja-JP" sz="1800" b="1" i="1" smtClean="0">
                          <a:solidFill>
                            <a:srgbClr val="0070C0"/>
                          </a:solidFill>
                          <a:latin typeface="Cambria Math" panose="02040503050406030204" pitchFamily="18" charset="0"/>
                        </a:rPr>
                        <m:t>| )</m:t>
                      </m:r>
                    </m:oMath>
                  </m:oMathPara>
                </a14:m>
                <a:endParaRPr lang="en-US" altLang="ja-JP" sz="1800" b="1" i="1" dirty="0">
                  <a:solidFill>
                    <a:srgbClr val="0070C0"/>
                  </a:solidFill>
                </a:endParaRPr>
              </a:p>
            </p:txBody>
          </p:sp>
        </mc:Choice>
        <mc:Fallback xmlns="">
          <p:sp>
            <p:nvSpPr>
              <p:cNvPr id="3" name="Text Placeholder 5">
                <a:extLst>
                  <a:ext uri="{FF2B5EF4-FFF2-40B4-BE49-F238E27FC236}">
                    <a16:creationId xmlns:a16="http://schemas.microsoft.com/office/drawing/2014/main" id="{2A3F9D00-93F0-544A-B7F0-B8F5B24AEA26}"/>
                  </a:ext>
                </a:extLst>
              </p:cNvPr>
              <p:cNvSpPr txBox="1">
                <a:spLocks noRot="1" noChangeAspect="1" noMove="1" noResize="1" noEditPoints="1" noAdjustHandles="1" noChangeArrowheads="1" noChangeShapeType="1" noTextEdit="1"/>
              </p:cNvSpPr>
              <p:nvPr/>
            </p:nvSpPr>
            <p:spPr>
              <a:xfrm>
                <a:off x="5288460" y="3810494"/>
                <a:ext cx="3690750" cy="404959"/>
              </a:xfrm>
              <a:prstGeom prst="rect">
                <a:avLst/>
              </a:prstGeom>
              <a:blipFill>
                <a:blip r:embed="rId8"/>
                <a:stretch>
                  <a:fillRect b="-2985"/>
                </a:stretch>
              </a:blipFill>
            </p:spPr>
            <p:txBody>
              <a:bodyPr/>
              <a:lstStyle/>
              <a:p>
                <a:r>
                  <a:rPr lang="en-NZ">
                    <a:noFill/>
                  </a:rPr>
                  <a:t> </a:t>
                </a:r>
              </a:p>
            </p:txBody>
          </p:sp>
        </mc:Fallback>
      </mc:AlternateContent>
    </p:spTree>
    <p:extLst>
      <p:ext uri="{BB962C8B-B14F-4D97-AF65-F5344CB8AC3E}">
        <p14:creationId xmlns:p14="http://schemas.microsoft.com/office/powerpoint/2010/main" val="132946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p:bldP spid="25" grpId="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5154FE8-0BC1-6FDC-2BF1-356259A5DCB1}"/>
              </a:ext>
            </a:extLst>
          </p:cNvPr>
          <p:cNvPicPr>
            <a:picLocks noChangeAspect="1"/>
          </p:cNvPicPr>
          <p:nvPr/>
        </p:nvPicPr>
        <p:blipFill>
          <a:blip r:embed="rId2"/>
          <a:stretch>
            <a:fillRect/>
          </a:stretch>
        </p:blipFill>
        <p:spPr>
          <a:xfrm>
            <a:off x="192554" y="1381993"/>
            <a:ext cx="8168429" cy="4262231"/>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7</a:t>
            </a:fld>
            <a:endParaRPr kumimoji="1" lang="ja-JP" altLang="en-US" dirty="0">
              <a:solidFill>
                <a:srgbClr val="575454">
                  <a:lumMod val="20000"/>
                  <a:lumOff val="80000"/>
                </a:srgbClr>
              </a:solidFill>
              <a:latin typeface="Coo Hew"/>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6.2 – Motivating Example</a:t>
            </a:r>
            <a:endParaRPr kumimoji="1" lang="ja-JP" altLang="en-US" sz="1600" dirty="0">
              <a:solidFill>
                <a:srgbClr val="DEDDDD"/>
              </a:solidFill>
              <a:latin typeface="Gidole"/>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8498520" y="1381993"/>
            <a:ext cx="3562065" cy="9472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Asymmetry:</a:t>
            </a:r>
          </a:p>
          <a:p>
            <a:pPr algn="just">
              <a:lnSpc>
                <a:spcPct val="100000"/>
              </a:lnSpc>
            </a:pPr>
            <a:r>
              <a:rPr lang="en-NZ" altLang="ja-JP" sz="1600" dirty="0">
                <a:solidFill>
                  <a:schemeClr val="tx1"/>
                </a:solidFill>
              </a:rPr>
              <a:t>Suggests underlying populations are not normally distributed.</a:t>
            </a:r>
          </a:p>
        </p:txBody>
      </p:sp>
      <p:sp>
        <p:nvSpPr>
          <p:cNvPr id="26" name="Text Placeholder 5">
            <a:extLst>
              <a:ext uri="{FF2B5EF4-FFF2-40B4-BE49-F238E27FC236}">
                <a16:creationId xmlns:a16="http://schemas.microsoft.com/office/drawing/2014/main" id="{A68FDFDF-A87D-42A3-B3CD-5A3D7B7DB9F7}"/>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6.2 – Motivating Example.</a:t>
            </a:r>
            <a:endParaRPr lang="en-US" altLang="ja-JP" sz="1200" b="1" i="1" dirty="0">
              <a:solidFill>
                <a:srgbClr val="C00000"/>
              </a:solidFill>
            </a:endParaRPr>
          </a:p>
        </p:txBody>
      </p:sp>
      <p:sp>
        <p:nvSpPr>
          <p:cNvPr id="23" name="Title 6">
            <a:extLst>
              <a:ext uri="{FF2B5EF4-FFF2-40B4-BE49-F238E27FC236}">
                <a16:creationId xmlns:a16="http://schemas.microsoft.com/office/drawing/2014/main" id="{892FA9D2-9B2F-4258-AB8B-9E789B593CAB}"/>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6.2b – T-test (Parametric):</a:t>
            </a:r>
            <a:endParaRPr lang="ja-JP" altLang="en-US" b="1" u="sng" dirty="0">
              <a:latin typeface="+mn-lt"/>
            </a:endParaRPr>
          </a:p>
        </p:txBody>
      </p:sp>
      <p:sp>
        <p:nvSpPr>
          <p:cNvPr id="11" name="Text Placeholder 5">
            <a:extLst>
              <a:ext uri="{FF2B5EF4-FFF2-40B4-BE49-F238E27FC236}">
                <a16:creationId xmlns:a16="http://schemas.microsoft.com/office/drawing/2014/main" id="{0A213AD3-1CB0-5F33-C2B5-76EACE3354C4}"/>
              </a:ext>
            </a:extLst>
          </p:cNvPr>
          <p:cNvSpPr txBox="1">
            <a:spLocks/>
          </p:cNvSpPr>
          <p:nvPr/>
        </p:nvSpPr>
        <p:spPr>
          <a:xfrm>
            <a:off x="390846" y="1006014"/>
            <a:ext cx="6044473"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Box-plots of Fish Length in Group A and Group B</a:t>
            </a:r>
          </a:p>
        </p:txBody>
      </p:sp>
      <p:sp>
        <p:nvSpPr>
          <p:cNvPr id="12" name="Text Placeholder 5">
            <a:extLst>
              <a:ext uri="{FF2B5EF4-FFF2-40B4-BE49-F238E27FC236}">
                <a16:creationId xmlns:a16="http://schemas.microsoft.com/office/drawing/2014/main" id="{2DB4867F-7062-EBA8-E0A4-7168CF01DED9}"/>
              </a:ext>
            </a:extLst>
          </p:cNvPr>
          <p:cNvSpPr txBox="1">
            <a:spLocks/>
          </p:cNvSpPr>
          <p:nvPr/>
        </p:nvSpPr>
        <p:spPr>
          <a:xfrm>
            <a:off x="8498520" y="4019216"/>
            <a:ext cx="3500926" cy="15986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rgbClr val="C00000"/>
                </a:solidFill>
              </a:rPr>
              <a:t>Assumptions of T-test likely to be violated. If so, test statistic does not follow a T-distribution. </a:t>
            </a:r>
          </a:p>
          <a:p>
            <a:pPr algn="just">
              <a:lnSpc>
                <a:spcPct val="100000"/>
              </a:lnSpc>
            </a:pPr>
            <a:endParaRPr lang="en-NZ" altLang="ja-JP" sz="1600" b="1" dirty="0">
              <a:solidFill>
                <a:srgbClr val="C00000"/>
              </a:solidFill>
            </a:endParaRPr>
          </a:p>
          <a:p>
            <a:pPr algn="just">
              <a:lnSpc>
                <a:spcPct val="100000"/>
              </a:lnSpc>
            </a:pPr>
            <a:r>
              <a:rPr lang="en-NZ" altLang="ja-JP" sz="1600" b="1" dirty="0">
                <a:solidFill>
                  <a:srgbClr val="C00000"/>
                </a:solidFill>
              </a:rPr>
              <a:t>We must regard the p-value produced with extreme caution.</a:t>
            </a:r>
            <a:endParaRPr lang="en-US" altLang="ja-JP" sz="1600" b="1" i="1" dirty="0">
              <a:solidFill>
                <a:srgbClr val="C00000"/>
              </a:solidFill>
            </a:endParaRPr>
          </a:p>
        </p:txBody>
      </p:sp>
      <p:sp>
        <p:nvSpPr>
          <p:cNvPr id="13" name="Text Placeholder 5">
            <a:extLst>
              <a:ext uri="{FF2B5EF4-FFF2-40B4-BE49-F238E27FC236}">
                <a16:creationId xmlns:a16="http://schemas.microsoft.com/office/drawing/2014/main" id="{AC369C72-D905-CAFE-53F3-E85BEBD57714}"/>
              </a:ext>
            </a:extLst>
          </p:cNvPr>
          <p:cNvSpPr txBox="1">
            <a:spLocks/>
          </p:cNvSpPr>
          <p:nvPr/>
        </p:nvSpPr>
        <p:spPr>
          <a:xfrm>
            <a:off x="8487892" y="2706618"/>
            <a:ext cx="3562065" cy="12358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Range &amp; IQR:</a:t>
            </a:r>
          </a:p>
          <a:p>
            <a:pPr algn="just">
              <a:lnSpc>
                <a:spcPct val="100000"/>
              </a:lnSpc>
            </a:pPr>
            <a:r>
              <a:rPr lang="en-NZ" altLang="ja-JP" sz="1600" dirty="0">
                <a:solidFill>
                  <a:schemeClr val="tx1"/>
                </a:solidFill>
              </a:rPr>
              <a:t>The differing range and IQR of the data suggests that the underlying populations do not have equal variance.</a:t>
            </a:r>
          </a:p>
        </p:txBody>
      </p:sp>
    </p:spTree>
    <p:extLst>
      <p:ext uri="{BB962C8B-B14F-4D97-AF65-F5344CB8AC3E}">
        <p14:creationId xmlns:p14="http://schemas.microsoft.com/office/powerpoint/2010/main" val="672457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8</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6.2c – Mann-Whitney U-Test (Non-parametric):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6.2 – Motivating Example</a:t>
            </a:r>
            <a:endParaRPr kumimoji="1" lang="ja-JP" altLang="en-US" sz="1600" dirty="0">
              <a:solidFill>
                <a:srgbClr val="DEDDDD"/>
              </a:solidFill>
              <a:latin typeface="Gidole"/>
            </a:endParaRPr>
          </a:p>
        </p:txBody>
      </p:sp>
      <p:sp>
        <p:nvSpPr>
          <p:cNvPr id="26" name="Text Placeholder 5">
            <a:extLst>
              <a:ext uri="{FF2B5EF4-FFF2-40B4-BE49-F238E27FC236}">
                <a16:creationId xmlns:a16="http://schemas.microsoft.com/office/drawing/2014/main" id="{A68FDFDF-A87D-42A3-B3CD-5A3D7B7DB9F7}"/>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6.2 – Motivating Example.</a:t>
            </a:r>
            <a:endParaRPr lang="en-US" altLang="ja-JP" sz="1200" b="1" i="1" dirty="0">
              <a:solidFill>
                <a:srgbClr val="C00000"/>
              </a:solidFill>
            </a:endParaRPr>
          </a:p>
        </p:txBody>
      </p:sp>
      <p:sp>
        <p:nvSpPr>
          <p:cNvPr id="10" name="Text Placeholder 5">
            <a:extLst>
              <a:ext uri="{FF2B5EF4-FFF2-40B4-BE49-F238E27FC236}">
                <a16:creationId xmlns:a16="http://schemas.microsoft.com/office/drawing/2014/main" id="{3910455C-11D1-4B70-8BF5-1978FA554783}"/>
              </a:ext>
            </a:extLst>
          </p:cNvPr>
          <p:cNvSpPr txBox="1">
            <a:spLocks/>
          </p:cNvSpPr>
          <p:nvPr/>
        </p:nvSpPr>
        <p:spPr>
          <a:xfrm>
            <a:off x="425356" y="804091"/>
            <a:ext cx="11134298"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The Mann-Whitney U-test (a special case of the Kruskal-Wallis test) is a non-parametric test of the hypotheses:</a:t>
            </a:r>
            <a:endParaRPr lang="en-US" altLang="ja-JP" sz="1600" i="1" dirty="0">
              <a:solidFill>
                <a:schemeClr val="tx1"/>
              </a:solidFill>
            </a:endParaRPr>
          </a:p>
        </p:txBody>
      </p:sp>
      <p:sp>
        <p:nvSpPr>
          <p:cNvPr id="11" name="Text Placeholder 5">
            <a:extLst>
              <a:ext uri="{FF2B5EF4-FFF2-40B4-BE49-F238E27FC236}">
                <a16:creationId xmlns:a16="http://schemas.microsoft.com/office/drawing/2014/main" id="{9ADB87AB-2FE9-4EED-AFF3-EFBF9662BC90}"/>
              </a:ext>
            </a:extLst>
          </p:cNvPr>
          <p:cNvSpPr txBox="1">
            <a:spLocks/>
          </p:cNvSpPr>
          <p:nvPr/>
        </p:nvSpPr>
        <p:spPr>
          <a:xfrm>
            <a:off x="952326" y="1156918"/>
            <a:ext cx="10287348"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600" b="1" dirty="0">
                <a:solidFill>
                  <a:schemeClr val="tx1"/>
                </a:solidFill>
              </a:rPr>
              <a:t>H</a:t>
            </a:r>
            <a:r>
              <a:rPr lang="en-US" altLang="ja-JP" sz="1600" b="1" baseline="-25000" dirty="0">
                <a:solidFill>
                  <a:schemeClr val="tx1"/>
                </a:solidFill>
              </a:rPr>
              <a:t>0</a:t>
            </a:r>
            <a:r>
              <a:rPr lang="en-US" altLang="ja-JP" sz="1600" dirty="0">
                <a:solidFill>
                  <a:schemeClr val="tx1"/>
                </a:solidFill>
              </a:rPr>
              <a:t>: </a:t>
            </a:r>
            <a:r>
              <a:rPr lang="en-US" altLang="ja-JP" sz="1600" b="1" dirty="0">
                <a:solidFill>
                  <a:schemeClr val="tx1"/>
                </a:solidFill>
              </a:rPr>
              <a:t>The data are drawn from populations with the same distribution</a:t>
            </a:r>
            <a:br>
              <a:rPr lang="en-US" altLang="ja-JP" sz="1600" b="1" dirty="0">
                <a:solidFill>
                  <a:schemeClr val="tx1"/>
                </a:solidFill>
              </a:rPr>
            </a:br>
            <a:r>
              <a:rPr lang="en-US" altLang="ja-JP" sz="1600" b="1" dirty="0">
                <a:solidFill>
                  <a:schemeClr val="tx1"/>
                </a:solidFill>
              </a:rPr>
              <a:t> H</a:t>
            </a:r>
            <a:r>
              <a:rPr lang="en-US" altLang="ja-JP" sz="1600" b="1" baseline="-25000" dirty="0">
                <a:solidFill>
                  <a:schemeClr val="tx1"/>
                </a:solidFill>
              </a:rPr>
              <a:t>1</a:t>
            </a:r>
            <a:r>
              <a:rPr lang="en-US" altLang="ja-JP" sz="1600" dirty="0">
                <a:solidFill>
                  <a:schemeClr val="tx1"/>
                </a:solidFill>
              </a:rPr>
              <a:t>: </a:t>
            </a:r>
            <a:r>
              <a:rPr lang="en-US" altLang="ja-JP" sz="1600" b="1" dirty="0">
                <a:solidFill>
                  <a:schemeClr val="tx1"/>
                </a:solidFill>
              </a:rPr>
              <a:t>The data are drawn from populations with different distributions</a:t>
            </a:r>
            <a:endParaRPr lang="en-US" altLang="ja-JP" sz="1600" i="1" dirty="0">
              <a:solidFill>
                <a:schemeClr val="tx1"/>
              </a:solidFill>
            </a:endParaRPr>
          </a:p>
          <a:p>
            <a:pPr algn="ctr">
              <a:lnSpc>
                <a:spcPct val="100000"/>
              </a:lnSpc>
            </a:pPr>
            <a:endParaRPr lang="en-US" altLang="ja-JP" sz="1600" i="1" dirty="0">
              <a:solidFill>
                <a:schemeClr val="tx1"/>
              </a:solidFill>
            </a:endParaRPr>
          </a:p>
        </p:txBody>
      </p:sp>
      <p:sp>
        <p:nvSpPr>
          <p:cNvPr id="13" name="Text Placeholder 5">
            <a:extLst>
              <a:ext uri="{FF2B5EF4-FFF2-40B4-BE49-F238E27FC236}">
                <a16:creationId xmlns:a16="http://schemas.microsoft.com/office/drawing/2014/main" id="{E10374BD-7F23-4E80-9836-541545A4D7E5}"/>
              </a:ext>
            </a:extLst>
          </p:cNvPr>
          <p:cNvSpPr txBox="1">
            <a:spLocks/>
          </p:cNvSpPr>
          <p:nvPr/>
        </p:nvSpPr>
        <p:spPr>
          <a:xfrm>
            <a:off x="425356" y="1813443"/>
            <a:ext cx="11134298"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The general idea of the MW U-test is that if the data are drawn from two populations with the same distribution, </a:t>
            </a:r>
          </a:p>
          <a:p>
            <a:pPr algn="just">
              <a:lnSpc>
                <a:spcPct val="100000"/>
              </a:lnSpc>
            </a:pPr>
            <a:r>
              <a:rPr lang="en-US" altLang="ja-JP" sz="1600" dirty="0">
                <a:solidFill>
                  <a:schemeClr val="tx1"/>
                </a:solidFill>
              </a:rPr>
              <a:t>then the ranks of the data will be equally dispersed amongst the two groups</a:t>
            </a:r>
            <a:endParaRPr lang="en-US" altLang="ja-JP" sz="1600" i="1" dirty="0">
              <a:solidFill>
                <a:schemeClr val="tx1"/>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2799021E-6D87-4D02-A254-F77F46533EDD}"/>
                  </a:ext>
                </a:extLst>
              </p:cNvPr>
              <p:cNvSpPr txBox="1">
                <a:spLocks/>
              </p:cNvSpPr>
              <p:nvPr/>
            </p:nvSpPr>
            <p:spPr>
              <a:xfrm>
                <a:off x="700585" y="3206502"/>
                <a:ext cx="4949587" cy="23359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rabicPeriod"/>
                </a:pPr>
                <a:r>
                  <a:rPr lang="en-US" altLang="ja-JP" sz="1600" dirty="0">
                    <a:solidFill>
                      <a:schemeClr val="tx1"/>
                    </a:solidFill>
                  </a:rPr>
                  <a:t> Rank all observations in ascending order.</a:t>
                </a:r>
              </a:p>
              <a:p>
                <a:pPr marL="342900" indent="-342900" algn="just">
                  <a:lnSpc>
                    <a:spcPct val="100000"/>
                  </a:lnSpc>
                  <a:buFont typeface="+mj-lt"/>
                  <a:buAutoNum type="arabicPeriod"/>
                </a:pPr>
                <a:r>
                  <a:rPr lang="en-US" altLang="ja-JP" sz="1600" dirty="0">
                    <a:solidFill>
                      <a:schemeClr val="tx1"/>
                    </a:solidFill>
                  </a:rPr>
                  <a:t> </a:t>
                </a:r>
                <a:r>
                  <a:rPr lang="en-US" altLang="ja-JP" sz="1600" b="1" i="1" dirty="0">
                    <a:solidFill>
                      <a:schemeClr val="tx1"/>
                    </a:solidFill>
                  </a:rPr>
                  <a:t>R</a:t>
                </a:r>
                <a:r>
                  <a:rPr lang="en-US" altLang="ja-JP" sz="1600" b="1" i="1" baseline="-25000" dirty="0">
                    <a:solidFill>
                      <a:schemeClr val="tx1"/>
                    </a:solidFill>
                  </a:rPr>
                  <a:t>A</a:t>
                </a:r>
                <a:r>
                  <a:rPr lang="en-US" altLang="ja-JP" sz="1600" dirty="0">
                    <a:solidFill>
                      <a:schemeClr val="tx1"/>
                    </a:solidFill>
                  </a:rPr>
                  <a:t> = sum of the ranks of observations in group A.</a:t>
                </a:r>
              </a:p>
              <a:p>
                <a:pPr marL="342900" indent="-342900" algn="just">
                  <a:lnSpc>
                    <a:spcPct val="100000"/>
                  </a:lnSpc>
                  <a:buFont typeface="+mj-lt"/>
                  <a:buAutoNum type="arabicPeriod"/>
                </a:pPr>
                <a:r>
                  <a:rPr lang="en-US" altLang="ja-JP" sz="1600" dirty="0">
                    <a:solidFill>
                      <a:schemeClr val="tx1"/>
                    </a:solidFill>
                  </a:rPr>
                  <a:t> </a:t>
                </a:r>
                <a:r>
                  <a:rPr lang="en-US" altLang="ja-JP" sz="1600" b="1" i="1" dirty="0">
                    <a:solidFill>
                      <a:schemeClr val="tx1"/>
                    </a:solidFill>
                  </a:rPr>
                  <a:t>R</a:t>
                </a:r>
                <a:r>
                  <a:rPr lang="en-US" altLang="ja-JP" sz="1600" b="1" i="1" baseline="-25000" dirty="0">
                    <a:solidFill>
                      <a:schemeClr val="tx1"/>
                    </a:solidFill>
                  </a:rPr>
                  <a:t>B</a:t>
                </a:r>
                <a:r>
                  <a:rPr lang="en-US" altLang="ja-JP" sz="1600" dirty="0">
                    <a:solidFill>
                      <a:schemeClr val="tx1"/>
                    </a:solidFill>
                  </a:rPr>
                  <a:t> = sum of the ranks of observations in group B.</a:t>
                </a:r>
              </a:p>
              <a:p>
                <a:pPr marL="342900" indent="-342900" algn="just">
                  <a:lnSpc>
                    <a:spcPct val="100000"/>
                  </a:lnSpc>
                  <a:buFont typeface="+mj-lt"/>
                  <a:buAutoNum type="arabicPeriod"/>
                </a:pPr>
                <a:r>
                  <a:rPr lang="en-NZ" altLang="ja-JP" sz="1600" b="0"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𝑼</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𝑩</m:t>
                        </m:r>
                      </m:sub>
                    </m:sSub>
                    <m:r>
                      <a:rPr lang="en-NZ" altLang="ja-JP" sz="1600" b="1" i="1" smtClean="0">
                        <a:solidFill>
                          <a:schemeClr val="tx1"/>
                        </a:solidFill>
                        <a:latin typeface="Cambria Math" panose="02040503050406030204" pitchFamily="18" charset="0"/>
                      </a:rPr>
                      <m:t> +</m:t>
                    </m:r>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𝟏</m:t>
                        </m:r>
                      </m:num>
                      <m:den>
                        <m:r>
                          <a:rPr lang="en-NZ" altLang="ja-JP" sz="1600" b="1" i="1" smtClean="0">
                            <a:solidFill>
                              <a:schemeClr val="tx1"/>
                            </a:solidFill>
                            <a:latin typeface="Cambria Math" panose="02040503050406030204" pitchFamily="18" charset="0"/>
                          </a:rPr>
                          <m:t>𝟐</m:t>
                        </m:r>
                      </m:den>
                    </m:f>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d>
                      <m:dPr>
                        <m:ctrlPr>
                          <a:rPr lang="en-NZ" altLang="ja-JP" sz="1600" b="1" i="1" smtClean="0">
                            <a:solidFill>
                              <a:schemeClr val="tx1"/>
                            </a:solidFill>
                            <a:latin typeface="Cambria Math" panose="02040503050406030204" pitchFamily="18" charset="0"/>
                          </a:rPr>
                        </m:ctrlPr>
                      </m:dPr>
                      <m:e>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𝑹</m:t>
                        </m:r>
                      </m:e>
                      <m:sub>
                        <m:r>
                          <a:rPr lang="en-NZ" altLang="ja-JP" sz="1600" b="1" i="1" smtClean="0">
                            <a:solidFill>
                              <a:schemeClr val="tx1"/>
                            </a:solidFill>
                            <a:latin typeface="Cambria Math" panose="02040503050406030204" pitchFamily="18" charset="0"/>
                          </a:rPr>
                          <m:t>𝑨</m:t>
                        </m:r>
                      </m:sub>
                    </m:sSub>
                  </m:oMath>
                </a14:m>
                <a:endParaRPr lang="en-NZ" altLang="ja-JP" sz="1600" b="1" i="1" dirty="0">
                  <a:solidFill>
                    <a:schemeClr val="tx1"/>
                  </a:solidFill>
                  <a:latin typeface="Cambria Math" panose="02040503050406030204" pitchFamily="18" charset="0"/>
                </a:endParaRPr>
              </a:p>
              <a:p>
                <a:pPr marL="342900" indent="-342900" algn="just">
                  <a:lnSpc>
                    <a:spcPct val="100000"/>
                  </a:lnSpc>
                  <a:buFont typeface="+mj-lt"/>
                  <a:buAutoNum type="arabicPeriod"/>
                </a:pPr>
                <a:r>
                  <a:rPr lang="en-NZ" altLang="ja-JP" sz="1600" i="1" dirty="0">
                    <a:solidFill>
                      <a:schemeClr val="tx1"/>
                    </a:solidFill>
                  </a:rPr>
                  <a:t>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𝑼</m:t>
                        </m:r>
                      </m:e>
                      <m:sub>
                        <m:r>
                          <a:rPr lang="en-NZ" altLang="ja-JP" sz="1600" b="1" i="1" smtClean="0">
                            <a:solidFill>
                              <a:schemeClr val="tx1"/>
                            </a:solidFill>
                            <a:latin typeface="Cambria Math" panose="02040503050406030204" pitchFamily="18" charset="0"/>
                          </a:rPr>
                          <m:t>𝑩</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a:solidFill>
                              <a:schemeClr val="tx1"/>
                            </a:solidFill>
                            <a:latin typeface="Cambria Math" panose="02040503050406030204" pitchFamily="18" charset="0"/>
                          </a:rPr>
                          <m:t>𝑨</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a:solidFill>
                              <a:schemeClr val="tx1"/>
                            </a:solidFill>
                            <a:latin typeface="Cambria Math" panose="02040503050406030204" pitchFamily="18" charset="0"/>
                          </a:rPr>
                          <m:t>𝑩</m:t>
                        </m:r>
                      </m:sub>
                    </m:sSub>
                    <m:r>
                      <a:rPr lang="en-NZ" altLang="ja-JP" sz="1600" b="1" i="1">
                        <a:solidFill>
                          <a:schemeClr val="tx1"/>
                        </a:solidFill>
                        <a:latin typeface="Cambria Math" panose="02040503050406030204" pitchFamily="18" charset="0"/>
                      </a:rPr>
                      <m:t> +</m:t>
                    </m:r>
                    <m:f>
                      <m:fPr>
                        <m:ctrlPr>
                          <a:rPr lang="en-NZ" altLang="ja-JP" sz="1600" b="1" i="1">
                            <a:solidFill>
                              <a:schemeClr val="tx1"/>
                            </a:solidFill>
                            <a:latin typeface="Cambria Math" panose="02040503050406030204" pitchFamily="18" charset="0"/>
                          </a:rPr>
                        </m:ctrlPr>
                      </m:fPr>
                      <m:num>
                        <m:r>
                          <a:rPr lang="en-NZ" altLang="ja-JP" sz="1600" b="1" i="1">
                            <a:solidFill>
                              <a:schemeClr val="tx1"/>
                            </a:solidFill>
                            <a:latin typeface="Cambria Math" panose="02040503050406030204" pitchFamily="18" charset="0"/>
                          </a:rPr>
                          <m:t>𝟏</m:t>
                        </m:r>
                      </m:num>
                      <m:den>
                        <m:r>
                          <a:rPr lang="en-NZ" altLang="ja-JP" sz="1600" b="1" i="1">
                            <a:solidFill>
                              <a:schemeClr val="tx1"/>
                            </a:solidFill>
                            <a:latin typeface="Cambria Math" panose="02040503050406030204" pitchFamily="18" charset="0"/>
                          </a:rPr>
                          <m:t>𝟐</m:t>
                        </m:r>
                      </m:den>
                    </m:f>
                    <m:r>
                      <a:rPr lang="en-NZ" altLang="ja-JP" sz="1600" b="1" i="1">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𝑩</m:t>
                        </m:r>
                      </m:sub>
                    </m:sSub>
                    <m:r>
                      <a:rPr lang="en-NZ" altLang="ja-JP" sz="1600" b="1" i="1">
                        <a:solidFill>
                          <a:schemeClr val="tx1"/>
                        </a:solidFill>
                        <a:latin typeface="Cambria Math" panose="02040503050406030204" pitchFamily="18" charset="0"/>
                      </a:rPr>
                      <m:t> </m:t>
                    </m:r>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𝑩</m:t>
                            </m:r>
                          </m:sub>
                        </m:sSub>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e>
                    </m:d>
                    <m:r>
                      <a:rPr lang="en-NZ" altLang="ja-JP" sz="1600" b="1" i="1">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𝑹</m:t>
                        </m:r>
                      </m:e>
                      <m:sub>
                        <m:r>
                          <a:rPr lang="en-NZ" altLang="ja-JP" sz="1600" b="1" i="1" smtClean="0">
                            <a:solidFill>
                              <a:schemeClr val="tx1"/>
                            </a:solidFill>
                            <a:latin typeface="Cambria Math" panose="02040503050406030204" pitchFamily="18" charset="0"/>
                          </a:rPr>
                          <m:t>𝑩</m:t>
                        </m:r>
                      </m:sub>
                    </m:sSub>
                  </m:oMath>
                </a14:m>
                <a:endParaRPr lang="en-US" altLang="ja-JP" sz="1600" b="1" i="1" dirty="0">
                  <a:solidFill>
                    <a:schemeClr val="tx1"/>
                  </a:solidFill>
                </a:endParaRPr>
              </a:p>
              <a:p>
                <a:pPr marL="342900" indent="-342900" algn="just">
                  <a:lnSpc>
                    <a:spcPct val="100000"/>
                  </a:lnSpc>
                  <a:buFont typeface="+mj-lt"/>
                  <a:buAutoNum type="arabicPeriod"/>
                </a:pPr>
                <a:r>
                  <a:rPr lang="en-NZ" altLang="ja-JP" sz="1600" b="0" dirty="0">
                    <a:solidFill>
                      <a:schemeClr val="tx1"/>
                    </a:solidFill>
                  </a:rPr>
                  <a:t> </a:t>
                </a:r>
                <a14:m>
                  <m:oMath xmlns:m="http://schemas.openxmlformats.org/officeDocument/2006/math">
                    <m:r>
                      <a:rPr lang="en-NZ" altLang="ja-JP" sz="1600" b="1" i="1" smtClean="0">
                        <a:solidFill>
                          <a:schemeClr val="tx1"/>
                        </a:solidFill>
                        <a:latin typeface="Cambria Math" panose="02040503050406030204" pitchFamily="18" charset="0"/>
                      </a:rPr>
                      <m:t>𝑼</m:t>
                    </m:r>
                    <m:r>
                      <a:rPr lang="en-NZ" altLang="ja-JP" sz="1600" b="1" i="1" smtClean="0">
                        <a:solidFill>
                          <a:schemeClr val="tx1"/>
                        </a:solidFill>
                        <a:latin typeface="Cambria Math" panose="02040503050406030204" pitchFamily="18" charset="0"/>
                      </a:rPr>
                      <m:t>≡</m:t>
                    </m:r>
                    <m:func>
                      <m:funcPr>
                        <m:ctrlPr>
                          <a:rPr lang="en-NZ" altLang="ja-JP" sz="1600" b="1" i="1" smtClean="0">
                            <a:solidFill>
                              <a:schemeClr val="tx1"/>
                            </a:solidFill>
                            <a:latin typeface="Cambria Math" panose="02040503050406030204" pitchFamily="18" charset="0"/>
                          </a:rPr>
                        </m:ctrlPr>
                      </m:funcPr>
                      <m:fName>
                        <m:r>
                          <a:rPr lang="en-NZ" altLang="ja-JP" sz="1600" b="1" i="1" smtClean="0">
                            <a:solidFill>
                              <a:schemeClr val="tx1"/>
                            </a:solidFill>
                            <a:latin typeface="Cambria Math" panose="02040503050406030204" pitchFamily="18" charset="0"/>
                          </a:rPr>
                          <m:t>𝒎𝒊𝒏</m:t>
                        </m:r>
                      </m:fName>
                      <m:e>
                        <m:d>
                          <m:dPr>
                            <m:ctrlPr>
                              <a:rPr lang="en-NZ" altLang="ja-JP" sz="1600" b="1" i="1" smtClean="0">
                                <a:solidFill>
                                  <a:schemeClr val="tx1"/>
                                </a:solidFill>
                                <a:latin typeface="Cambria Math" panose="02040503050406030204" pitchFamily="18" charset="0"/>
                              </a:rPr>
                            </m:ctrlPr>
                          </m:dPr>
                          <m:e>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𝑼</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𝑼</m:t>
                                </m:r>
                              </m:e>
                              <m:sub>
                                <m:r>
                                  <a:rPr lang="en-NZ" altLang="ja-JP" sz="1600" b="1" i="1" smtClean="0">
                                    <a:solidFill>
                                      <a:schemeClr val="tx1"/>
                                    </a:solidFill>
                                    <a:latin typeface="Cambria Math" panose="02040503050406030204" pitchFamily="18" charset="0"/>
                                  </a:rPr>
                                  <m:t>𝑩</m:t>
                                </m:r>
                              </m:sub>
                            </m:sSub>
                          </m:e>
                        </m:d>
                      </m:e>
                    </m:func>
                    <m:r>
                      <a:rPr lang="en-NZ" altLang="ja-JP" sz="1600" b="1" i="1">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d>
                      <m:dPr>
                        <m:ctrlPr>
                          <a:rPr lang="en-NZ" altLang="ja-JP" sz="1600" b="1" i="1" smtClean="0">
                            <a:solidFill>
                              <a:schemeClr val="tx1"/>
                            </a:solidFill>
                            <a:latin typeface="Cambria Math" panose="02040503050406030204" pitchFamily="18" charset="0"/>
                            <a:ea typeface="Cambria Math" panose="02040503050406030204" pitchFamily="18" charset="0"/>
                          </a:rPr>
                        </m:ctrlPr>
                      </m:dPr>
                      <m:e>
                        <m:f>
                          <m:fPr>
                            <m:ctrlPr>
                              <a:rPr lang="en-NZ" altLang="ja-JP" sz="1600" b="1" i="1" smtClean="0">
                                <a:solidFill>
                                  <a:schemeClr val="tx1"/>
                                </a:solidFill>
                                <a:latin typeface="Cambria Math" panose="02040503050406030204" pitchFamily="18" charset="0"/>
                                <a:ea typeface="Cambria Math" panose="02040503050406030204" pitchFamily="18" charset="0"/>
                              </a:rPr>
                            </m:ctrlPr>
                          </m:fPr>
                          <m:num>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𝑨</m:t>
                                </m:r>
                              </m:sub>
                            </m:sSub>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𝑩</m:t>
                                </m:r>
                              </m:sub>
                            </m:sSub>
                          </m:num>
                          <m:den>
                            <m:r>
                              <a:rPr lang="en-NZ" altLang="ja-JP" sz="1600" b="1" i="1" smtClean="0">
                                <a:solidFill>
                                  <a:schemeClr val="tx1"/>
                                </a:solidFill>
                                <a:latin typeface="Cambria Math" panose="02040503050406030204" pitchFamily="18" charset="0"/>
                                <a:ea typeface="Cambria Math" panose="02040503050406030204" pitchFamily="18" charset="0"/>
                              </a:rPr>
                              <m:t>𝟐</m:t>
                            </m:r>
                          </m:den>
                        </m:f>
                        <m:r>
                          <a:rPr lang="en-NZ" altLang="ja-JP" sz="1600" b="1" i="1" smtClean="0">
                            <a:solidFill>
                              <a:schemeClr val="tx1"/>
                            </a:solidFill>
                            <a:latin typeface="Cambria Math" panose="02040503050406030204" pitchFamily="18" charset="0"/>
                            <a:ea typeface="Cambria Math" panose="02040503050406030204" pitchFamily="18" charset="0"/>
                          </a:rPr>
                          <m:t> ,   </m:t>
                        </m:r>
                        <m:f>
                          <m:fPr>
                            <m:ctrlPr>
                              <a:rPr lang="en-NZ" altLang="ja-JP" sz="1600" b="1" i="1" smtClean="0">
                                <a:solidFill>
                                  <a:schemeClr val="tx1"/>
                                </a:solidFill>
                                <a:latin typeface="Cambria Math" panose="02040503050406030204" pitchFamily="18" charset="0"/>
                                <a:ea typeface="Cambria Math" panose="02040503050406030204" pitchFamily="18" charset="0"/>
                              </a:rPr>
                            </m:ctrlPr>
                          </m:fPr>
                          <m:num>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𝑨</m:t>
                                </m:r>
                              </m:sub>
                            </m:sSub>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𝑩</m:t>
                                </m:r>
                              </m:sub>
                            </m:sSub>
                            <m:r>
                              <a:rPr lang="en-NZ" altLang="ja-JP" sz="1600" b="1" i="1" smtClean="0">
                                <a:solidFill>
                                  <a:schemeClr val="tx1"/>
                                </a:solidFill>
                                <a:latin typeface="Cambria Math" panose="02040503050406030204" pitchFamily="18" charset="0"/>
                                <a:ea typeface="Cambria Math" panose="02040503050406030204" pitchFamily="18" charset="0"/>
                              </a:rPr>
                              <m:t> (</m:t>
                            </m:r>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𝑨</m:t>
                                </m:r>
                              </m:sub>
                            </m:sSub>
                            <m:r>
                              <a:rPr lang="en-NZ" altLang="ja-JP" sz="1600" b="1" i="1" smtClean="0">
                                <a:solidFill>
                                  <a:schemeClr val="tx1"/>
                                </a:solidFill>
                                <a:latin typeface="Cambria Math" panose="02040503050406030204" pitchFamily="18" charset="0"/>
                                <a:ea typeface="Cambria Math" panose="02040503050406030204" pitchFamily="18" charset="0"/>
                              </a:rPr>
                              <m:t>+</m:t>
                            </m:r>
                            <m:sSub>
                              <m:sSubPr>
                                <m:ctrlPr>
                                  <a:rPr lang="en-NZ" altLang="ja-JP" sz="1600" b="1" i="1" smtClean="0">
                                    <a:solidFill>
                                      <a:schemeClr val="tx1"/>
                                    </a:solidFill>
                                    <a:latin typeface="Cambria Math" panose="02040503050406030204" pitchFamily="18" charset="0"/>
                                    <a:ea typeface="Cambria Math" panose="02040503050406030204" pitchFamily="18" charset="0"/>
                                  </a:rPr>
                                </m:ctrlPr>
                              </m:sSubPr>
                              <m:e>
                                <m:r>
                                  <a:rPr lang="en-NZ" altLang="ja-JP" sz="1600" b="1" i="1" smtClean="0">
                                    <a:solidFill>
                                      <a:schemeClr val="tx1"/>
                                    </a:solidFill>
                                    <a:latin typeface="Cambria Math" panose="02040503050406030204" pitchFamily="18" charset="0"/>
                                    <a:ea typeface="Cambria Math" panose="02040503050406030204" pitchFamily="18" charset="0"/>
                                  </a:rPr>
                                  <m:t>𝒏</m:t>
                                </m:r>
                              </m:e>
                              <m:sub>
                                <m:r>
                                  <a:rPr lang="en-NZ" altLang="ja-JP" sz="1600" b="1" i="1" smtClean="0">
                                    <a:solidFill>
                                      <a:schemeClr val="tx1"/>
                                    </a:solidFill>
                                    <a:latin typeface="Cambria Math" panose="02040503050406030204" pitchFamily="18" charset="0"/>
                                    <a:ea typeface="Cambria Math" panose="02040503050406030204" pitchFamily="18" charset="0"/>
                                  </a:rPr>
                                  <m:t>𝑩</m:t>
                                </m:r>
                              </m:sub>
                            </m:sSub>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𝟏</m:t>
                            </m:r>
                            <m:r>
                              <a:rPr lang="en-NZ" altLang="ja-JP" sz="1600" b="1" i="1" smtClean="0">
                                <a:solidFill>
                                  <a:schemeClr val="tx1"/>
                                </a:solidFill>
                                <a:latin typeface="Cambria Math" panose="02040503050406030204" pitchFamily="18" charset="0"/>
                                <a:ea typeface="Cambria Math" panose="02040503050406030204" pitchFamily="18" charset="0"/>
                              </a:rPr>
                              <m:t>)</m:t>
                            </m:r>
                          </m:num>
                          <m:den>
                            <m:r>
                              <a:rPr lang="en-NZ" altLang="ja-JP" sz="1600" b="1" i="1" smtClean="0">
                                <a:solidFill>
                                  <a:schemeClr val="tx1"/>
                                </a:solidFill>
                                <a:latin typeface="Cambria Math" panose="02040503050406030204" pitchFamily="18" charset="0"/>
                                <a:ea typeface="Cambria Math" panose="02040503050406030204" pitchFamily="18" charset="0"/>
                              </a:rPr>
                              <m:t>𝟏𝟐</m:t>
                            </m:r>
                          </m:den>
                        </m:f>
                      </m:e>
                    </m:d>
                  </m:oMath>
                </a14:m>
                <a:endParaRPr lang="en-NZ" altLang="ja-JP" sz="1600" b="1" i="1" dirty="0">
                  <a:solidFill>
                    <a:schemeClr val="tx1"/>
                  </a:solidFill>
                </a:endParaRPr>
              </a:p>
              <a:p>
                <a:pPr marL="342900" indent="-342900" algn="just">
                  <a:lnSpc>
                    <a:spcPct val="100000"/>
                  </a:lnSpc>
                  <a:buFont typeface="+mj-lt"/>
                  <a:buAutoNum type="arabicPeriod"/>
                </a:pPr>
                <a:r>
                  <a:rPr lang="en-NZ" altLang="ja-JP" sz="1600" dirty="0">
                    <a:solidFill>
                      <a:schemeClr val="tx1"/>
                    </a:solidFill>
                  </a:rPr>
                  <a:t> Find </a:t>
                </a:r>
                <a:r>
                  <a:rPr lang="en-NZ" altLang="ja-JP" sz="1600" b="1" i="1" dirty="0" err="1">
                    <a:solidFill>
                      <a:schemeClr val="tx1"/>
                    </a:solidFill>
                  </a:rPr>
                  <a:t>U</a:t>
                </a:r>
                <a:r>
                  <a:rPr lang="en-NZ" altLang="ja-JP" sz="1600" b="1" i="1" baseline="-25000" dirty="0" err="1">
                    <a:solidFill>
                      <a:schemeClr val="tx1"/>
                    </a:solidFill>
                  </a:rPr>
                  <a:t>obs</a:t>
                </a:r>
                <a:r>
                  <a:rPr lang="en-NZ" altLang="ja-JP" sz="1600" dirty="0">
                    <a:solidFill>
                      <a:schemeClr val="tx1"/>
                    </a:solidFill>
                  </a:rPr>
                  <a:t> and calculate p-value</a:t>
                </a:r>
                <a:endParaRPr lang="en-NZ" altLang="ja-JP" sz="1600" b="0" dirty="0">
                  <a:solidFill>
                    <a:schemeClr val="tx1"/>
                  </a:solidFill>
                </a:endParaRPr>
              </a:p>
              <a:p>
                <a:pPr marL="342900" indent="-342900" algn="just">
                  <a:lnSpc>
                    <a:spcPct val="100000"/>
                  </a:lnSpc>
                  <a:buFont typeface="+mj-lt"/>
                  <a:buAutoNum type="arabicPeriod"/>
                </a:pPr>
                <a:endParaRPr lang="en-US" altLang="ja-JP" sz="1600" dirty="0">
                  <a:solidFill>
                    <a:schemeClr val="tx1"/>
                  </a:solidFill>
                </a:endParaRPr>
              </a:p>
              <a:p>
                <a:pPr marL="342900" indent="-342900" algn="just">
                  <a:lnSpc>
                    <a:spcPct val="100000"/>
                  </a:lnSpc>
                  <a:buFont typeface="+mj-lt"/>
                  <a:buAutoNum type="arabicPeriod"/>
                </a:pPr>
                <a:endParaRPr lang="en-US" altLang="ja-JP" sz="1600" dirty="0">
                  <a:solidFill>
                    <a:schemeClr val="tx1"/>
                  </a:solidFill>
                </a:endParaRPr>
              </a:p>
            </p:txBody>
          </p:sp>
        </mc:Choice>
        <mc:Fallback xmlns="">
          <p:sp>
            <p:nvSpPr>
              <p:cNvPr id="17" name="Text Placeholder 5">
                <a:extLst>
                  <a:ext uri="{FF2B5EF4-FFF2-40B4-BE49-F238E27FC236}">
                    <a16:creationId xmlns:a16="http://schemas.microsoft.com/office/drawing/2014/main" id="{2799021E-6D87-4D02-A254-F77F46533EDD}"/>
                  </a:ext>
                </a:extLst>
              </p:cNvPr>
              <p:cNvSpPr txBox="1">
                <a:spLocks noRot="1" noChangeAspect="1" noMove="1" noResize="1" noEditPoints="1" noAdjustHandles="1" noChangeArrowheads="1" noChangeShapeType="1" noTextEdit="1"/>
              </p:cNvSpPr>
              <p:nvPr/>
            </p:nvSpPr>
            <p:spPr>
              <a:xfrm>
                <a:off x="700585" y="3206502"/>
                <a:ext cx="4949587" cy="2335995"/>
              </a:xfrm>
              <a:prstGeom prst="rect">
                <a:avLst/>
              </a:prstGeom>
              <a:blipFill>
                <a:blip r:embed="rId3"/>
                <a:stretch>
                  <a:fillRect l="-739" t="-783"/>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A859E955-C226-40BB-A1B5-A1E2661A1D0B}"/>
              </a:ext>
            </a:extLst>
          </p:cNvPr>
          <p:cNvSpPr txBox="1">
            <a:spLocks/>
          </p:cNvSpPr>
          <p:nvPr/>
        </p:nvSpPr>
        <p:spPr>
          <a:xfrm>
            <a:off x="6675240" y="3206045"/>
            <a:ext cx="4449170" cy="8840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The p-value of the MW U-test is </a:t>
            </a:r>
            <a:r>
              <a:rPr lang="en-US" altLang="ja-JP" sz="1600" b="1" dirty="0">
                <a:solidFill>
                  <a:schemeClr val="tx1"/>
                </a:solidFill>
              </a:rPr>
              <a:t>0.1123</a:t>
            </a:r>
            <a:r>
              <a:rPr lang="en-US" altLang="ja-JP" sz="1600" dirty="0">
                <a:solidFill>
                  <a:schemeClr val="tx1"/>
                </a:solidFill>
              </a:rPr>
              <a:t>. </a:t>
            </a:r>
          </a:p>
          <a:p>
            <a:pPr algn="just">
              <a:lnSpc>
                <a:spcPct val="100000"/>
              </a:lnSpc>
            </a:pPr>
            <a:r>
              <a:rPr lang="en-US" altLang="ja-JP" sz="1600" dirty="0">
                <a:solidFill>
                  <a:schemeClr val="tx1"/>
                </a:solidFill>
              </a:rPr>
              <a:t>This is much larger than the p-value for the corresponding t-test. </a:t>
            </a:r>
          </a:p>
        </p:txBody>
      </p:sp>
      <p:sp>
        <p:nvSpPr>
          <p:cNvPr id="2" name="Text Placeholder 5">
            <a:extLst>
              <a:ext uri="{FF2B5EF4-FFF2-40B4-BE49-F238E27FC236}">
                <a16:creationId xmlns:a16="http://schemas.microsoft.com/office/drawing/2014/main" id="{1BDC1D84-0CA9-AF3D-2236-FF714CD8F79E}"/>
              </a:ext>
            </a:extLst>
          </p:cNvPr>
          <p:cNvSpPr txBox="1">
            <a:spLocks/>
          </p:cNvSpPr>
          <p:nvPr/>
        </p:nvSpPr>
        <p:spPr>
          <a:xfrm>
            <a:off x="6675240" y="4326339"/>
            <a:ext cx="4449170" cy="11375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b="1" dirty="0">
                <a:solidFill>
                  <a:srgbClr val="C00000"/>
                </a:solidFill>
              </a:rPr>
              <a:t>Non-parametric tests make fewer assumptions (and are therefore more likely to be valid) but tend to have much less power than parametric counterparts.</a:t>
            </a:r>
          </a:p>
          <a:p>
            <a:pPr algn="just">
              <a:lnSpc>
                <a:spcPct val="100000"/>
              </a:lnSpc>
            </a:pPr>
            <a:endParaRPr lang="en-US" altLang="ja-JP" sz="1600" dirty="0">
              <a:solidFill>
                <a:schemeClr val="tx1"/>
              </a:solidFill>
            </a:endParaRPr>
          </a:p>
        </p:txBody>
      </p:sp>
      <p:sp>
        <p:nvSpPr>
          <p:cNvPr id="3" name="Text Placeholder 5">
            <a:extLst>
              <a:ext uri="{FF2B5EF4-FFF2-40B4-BE49-F238E27FC236}">
                <a16:creationId xmlns:a16="http://schemas.microsoft.com/office/drawing/2014/main" id="{168A2D8C-5E23-4189-B44B-1EF4F2D4D53C}"/>
              </a:ext>
            </a:extLst>
          </p:cNvPr>
          <p:cNvSpPr txBox="1">
            <a:spLocks/>
          </p:cNvSpPr>
          <p:nvPr/>
        </p:nvSpPr>
        <p:spPr>
          <a:xfrm>
            <a:off x="1067591" y="2848577"/>
            <a:ext cx="4582582"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u="sng" dirty="0">
                <a:solidFill>
                  <a:schemeClr val="tx1"/>
                </a:solidFill>
              </a:rPr>
              <a:t>General Process:</a:t>
            </a:r>
          </a:p>
        </p:txBody>
      </p:sp>
    </p:spTree>
    <p:extLst>
      <p:ext uri="{BB962C8B-B14F-4D97-AF65-F5344CB8AC3E}">
        <p14:creationId xmlns:p14="http://schemas.microsoft.com/office/powerpoint/2010/main" val="33348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9</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6.2d – Conclusion:</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6.2 – Motivating Example</a:t>
            </a:r>
            <a:endParaRPr kumimoji="1" lang="ja-JP" altLang="en-US" sz="1600" dirty="0">
              <a:solidFill>
                <a:srgbClr val="DEDDDD"/>
              </a:solidFill>
              <a:latin typeface="Gidole"/>
            </a:endParaRPr>
          </a:p>
        </p:txBody>
      </p:sp>
      <p:sp>
        <p:nvSpPr>
          <p:cNvPr id="10" name="Text Placeholder 5">
            <a:extLst>
              <a:ext uri="{FF2B5EF4-FFF2-40B4-BE49-F238E27FC236}">
                <a16:creationId xmlns:a16="http://schemas.microsoft.com/office/drawing/2014/main" id="{3910455C-11D1-4B70-8BF5-1978FA554783}"/>
              </a:ext>
            </a:extLst>
          </p:cNvPr>
          <p:cNvSpPr txBox="1">
            <a:spLocks/>
          </p:cNvSpPr>
          <p:nvPr/>
        </p:nvSpPr>
        <p:spPr>
          <a:xfrm>
            <a:off x="528851" y="2969813"/>
            <a:ext cx="11134298" cy="9183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2400" dirty="0">
                <a:solidFill>
                  <a:schemeClr val="tx1"/>
                </a:solidFill>
              </a:rPr>
              <a:t>Ultimately, we want a test that makes as few assumptions as a non-parametric test</a:t>
            </a:r>
            <a:br>
              <a:rPr lang="en-US" altLang="ja-JP" sz="2400" dirty="0">
                <a:solidFill>
                  <a:schemeClr val="tx1"/>
                </a:solidFill>
              </a:rPr>
            </a:br>
            <a:r>
              <a:rPr lang="en-US" altLang="ja-JP" sz="2400" dirty="0">
                <a:solidFill>
                  <a:schemeClr val="tx1"/>
                </a:solidFill>
              </a:rPr>
              <a:t>but whose power is similar to that of a parametric test.</a:t>
            </a:r>
          </a:p>
        </p:txBody>
      </p:sp>
    </p:spTree>
    <p:extLst>
      <p:ext uri="{BB962C8B-B14F-4D97-AF65-F5344CB8AC3E}">
        <p14:creationId xmlns:p14="http://schemas.microsoft.com/office/powerpoint/2010/main" val="3528406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algn="ctr"/>
            <a:r>
              <a:rPr lang="en-NZ" sz="4500" b="1" dirty="0">
                <a:solidFill>
                  <a:srgbClr val="FFC000"/>
                </a:solidFill>
              </a:rPr>
              <a:t>6.3 – Basic Idea of Permutation Tests</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856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6.3a – The Basic Idea of 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1AEF10BA-5BD2-4504-BC15-860439B0C9D4}"/>
              </a:ext>
            </a:extLst>
          </p:cNvPr>
          <p:cNvSpPr txBox="1">
            <a:spLocks/>
          </p:cNvSpPr>
          <p:nvPr/>
        </p:nvSpPr>
        <p:spPr>
          <a:xfrm>
            <a:off x="319463" y="4502863"/>
            <a:ext cx="11134298" cy="8973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2A188036-2A54-4BDE-B30A-9D9B727B2170}"/>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6.3a – Basic Idea</a:t>
            </a:r>
            <a:endParaRPr kumimoji="1" lang="ja-JP" altLang="en-US" sz="1600" dirty="0">
              <a:solidFill>
                <a:srgbClr val="DEDDDD"/>
              </a:solidFill>
              <a:latin typeface="Gidole"/>
            </a:endParaRPr>
          </a:p>
        </p:txBody>
      </p:sp>
      <p:sp>
        <p:nvSpPr>
          <p:cNvPr id="2" name="Text Placeholder 5">
            <a:extLst>
              <a:ext uri="{FF2B5EF4-FFF2-40B4-BE49-F238E27FC236}">
                <a16:creationId xmlns:a16="http://schemas.microsoft.com/office/drawing/2014/main" id="{0DDDF3F4-6740-8DB8-858A-1DB8452B9193}"/>
              </a:ext>
            </a:extLst>
          </p:cNvPr>
          <p:cNvSpPr txBox="1">
            <a:spLocks/>
          </p:cNvSpPr>
          <p:nvPr/>
        </p:nvSpPr>
        <p:spPr>
          <a:xfrm>
            <a:off x="323148" y="1002601"/>
            <a:ext cx="11545703" cy="7192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Permutation tests are a method of testing whether a particular property (e.g. the mean) is constant amongst </a:t>
            </a:r>
            <a:b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US" altLang="ja-JP" sz="17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k</a:t>
            </a: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a:t>
            </a:r>
            <a:r>
              <a:rPr kumimoji="1" lang="en-US"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US" altLang="ja-JP" sz="1700" b="1" i="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US" altLang="ja-JP" sz="17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or whether this property differs between at least two of them (</a:t>
            </a:r>
            <a:r>
              <a:rPr kumimoji="1" lang="en-US"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lang="en-US" altLang="ja-JP" sz="1700" b="1" baseline="-25000" dirty="0">
                <a:solidFill>
                  <a:prstClr val="black"/>
                </a:solidFill>
                <a:latin typeface="Calibri" panose="020F0502020204030204"/>
                <a:ea typeface="游ゴシック" panose="020B0400000000000000" pitchFamily="34" charset="-128"/>
              </a:rPr>
              <a:t>1</a:t>
            </a:r>
            <a:r>
              <a:rPr kumimoji="1" lang="en-US" altLang="ja-JP" sz="17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general premise is as follows: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C07FEDF2-71AD-DE52-F389-111F564E58A6}"/>
              </a:ext>
            </a:extLst>
          </p:cNvPr>
          <p:cNvSpPr txBox="1">
            <a:spLocks/>
          </p:cNvSpPr>
          <p:nvPr/>
        </p:nvSpPr>
        <p:spPr>
          <a:xfrm>
            <a:off x="903816" y="1711028"/>
            <a:ext cx="10549945" cy="40081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We</a:t>
            </a:r>
            <a:r>
              <a:rPr kumimoji="1" lang="en-US" altLang="ja-JP" sz="165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have</a:t>
            </a:r>
            <a:r>
              <a:rPr lang="en-US" altLang="ja-JP" sz="1650" dirty="0">
                <a:solidFill>
                  <a:prstClr val="black"/>
                </a:solidFill>
                <a:latin typeface="Calibri" panose="020F0502020204030204"/>
                <a:ea typeface="游ゴシック" panose="020B0400000000000000" pitchFamily="34" charset="-128"/>
              </a:rPr>
              <a:t> a test statistic </a:t>
            </a:r>
            <a:r>
              <a:rPr lang="en-US" altLang="ja-JP" sz="1650" b="1" i="1" dirty="0">
                <a:solidFill>
                  <a:prstClr val="black"/>
                </a:solidFill>
                <a:latin typeface="Calibri" panose="020F0502020204030204"/>
                <a:ea typeface="游ゴシック" panose="020B0400000000000000" pitchFamily="34" charset="-128"/>
              </a:rPr>
              <a:t>F</a:t>
            </a:r>
            <a:r>
              <a:rPr lang="en-US" altLang="ja-JP" sz="1650" dirty="0">
                <a:solidFill>
                  <a:prstClr val="black"/>
                </a:solidFill>
                <a:latin typeface="Calibri" panose="020F0502020204030204"/>
                <a:ea typeface="游ゴシック" panose="020B0400000000000000" pitchFamily="34" charset="-128"/>
              </a:rPr>
              <a:t> which measures whether the property of interest is the same across all groups or not. </a:t>
            </a:r>
            <a:br>
              <a:rPr lang="en-US" altLang="ja-JP" sz="1650" dirty="0">
                <a:solidFill>
                  <a:prstClr val="black"/>
                </a:solidFill>
                <a:latin typeface="Calibri" panose="020F0502020204030204"/>
                <a:ea typeface="游ゴシック" panose="020B0400000000000000" pitchFamily="34" charset="-128"/>
              </a:rPr>
            </a:br>
            <a:r>
              <a:rPr lang="en-US" altLang="ja-JP" sz="1650" dirty="0">
                <a:solidFill>
                  <a:prstClr val="black"/>
                </a:solidFill>
                <a:latin typeface="Calibri" panose="020F0502020204030204"/>
                <a:ea typeface="游ゴシック" panose="020B0400000000000000" pitchFamily="34" charset="-128"/>
              </a:rPr>
              <a:t>We calculate the value of this test statistic for our initial sample and call this </a:t>
            </a:r>
            <a:r>
              <a:rPr lang="en-US" altLang="ja-JP" sz="1650" b="1" i="1" dirty="0">
                <a:solidFill>
                  <a:prstClr val="black"/>
                </a:solidFill>
                <a:latin typeface="Calibri" panose="020F0502020204030204"/>
                <a:ea typeface="游ゴシック" panose="020B0400000000000000" pitchFamily="34" charset="-128"/>
              </a:rPr>
              <a:t>F</a:t>
            </a:r>
            <a:r>
              <a:rPr lang="en-US" altLang="ja-JP" sz="1650" b="1" i="1" baseline="-25000" dirty="0">
                <a:solidFill>
                  <a:prstClr val="black"/>
                </a:solidFill>
                <a:latin typeface="Calibri" panose="020F0502020204030204"/>
                <a:ea typeface="游ゴシック" panose="020B0400000000000000" pitchFamily="34" charset="-128"/>
              </a:rPr>
              <a:t>obs</a:t>
            </a:r>
            <a:r>
              <a:rPr lang="en-US" altLang="ja-JP" sz="1650" dirty="0">
                <a:solidFill>
                  <a:prstClr val="black"/>
                </a:solidFill>
                <a:latin typeface="Calibri" panose="020F0502020204030204"/>
                <a:ea typeface="游ゴシック" panose="020B0400000000000000" pitchFamily="34" charset="-128"/>
              </a:rPr>
              <a:t>.</a:t>
            </a:r>
          </a:p>
          <a:p>
            <a:pPr marR="0" lvl="0" algn="just" defTabSz="914324" rtl="0" eaLnBrk="1" fontAlgn="auto" latinLnBrk="0" hangingPunct="1">
              <a:lnSpc>
                <a:spcPct val="100000"/>
              </a:lnSpc>
              <a:spcBef>
                <a:spcPts val="0"/>
              </a:spcBef>
              <a:spcAft>
                <a:spcPts val="0"/>
              </a:spcAft>
              <a:buClrTx/>
              <a:buSzTx/>
              <a:tabLst/>
              <a:defRPr/>
            </a:pPr>
            <a:endPar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indent="-285750" algn="just">
              <a:lnSpc>
                <a:spcPct val="100000"/>
              </a:lnSpc>
              <a:buFont typeface="Arial" panose="020B0604020202020204" pitchFamily="34" charset="0"/>
              <a:buChar char="•"/>
            </a:pP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If the property of interest </a:t>
            </a:r>
            <a:r>
              <a:rPr kumimoji="1" lang="en-US" altLang="ja-JP" sz="165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is the same across all groups (H</a:t>
            </a:r>
            <a:r>
              <a:rPr kumimoji="1" lang="en-US" altLang="ja-JP" sz="1650" b="1" i="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rPr>
              <a:t>0</a:t>
            </a:r>
            <a:r>
              <a:rPr kumimoji="1" lang="en-US" altLang="ja-JP" sz="165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is true)</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then the data are </a:t>
            </a:r>
            <a:r>
              <a:rPr kumimoji="1" lang="en-US" altLang="ja-JP" sz="165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exchangeable</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i.e. randomly switching observations of the response variable between groups should not have too much of an effect on the value of test statistic. </a:t>
            </a:r>
          </a:p>
          <a:p>
            <a:pPr algn="just">
              <a:lnSpc>
                <a:spcPct val="100000"/>
              </a:lnSpc>
            </a:pPr>
            <a:endPar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indent="-285750" algn="just">
              <a:lnSpc>
                <a:spcPct val="100000"/>
              </a:lnSpc>
              <a:buFont typeface="Arial" panose="020B0604020202020204" pitchFamily="34" charset="0"/>
              <a:buChar char="•"/>
            </a:pP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In which case, </a:t>
            </a:r>
            <a:r>
              <a:rPr lang="en-US" altLang="ja-JP" sz="1650" b="1" i="1" dirty="0">
                <a:solidFill>
                  <a:prstClr val="black"/>
                </a:solidFill>
              </a:rPr>
              <a:t>F</a:t>
            </a:r>
            <a:r>
              <a:rPr lang="en-US" altLang="ja-JP" sz="1650" b="1" i="1" baseline="-25000" dirty="0">
                <a:solidFill>
                  <a:prstClr val="black"/>
                </a:solidFill>
              </a:rPr>
              <a:t>obs</a:t>
            </a:r>
            <a:r>
              <a:rPr lang="en-US" altLang="ja-JP" sz="1650" dirty="0">
                <a:solidFill>
                  <a:prstClr val="black"/>
                </a:solidFill>
              </a:rPr>
              <a:t> </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is likely to be just a </a:t>
            </a:r>
            <a:r>
              <a:rPr kumimoji="1" lang="en-US" altLang="ja-JP" sz="165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typical value </a:t>
            </a:r>
            <a:r>
              <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from the distribution of test statistics produced from our re-ordered samples.</a:t>
            </a:r>
          </a:p>
          <a:p>
            <a:pPr marR="0" lvl="0" algn="just" defTabSz="914324" rtl="0" eaLnBrk="1" fontAlgn="auto" latinLnBrk="0" hangingPunct="1">
              <a:lnSpc>
                <a:spcPct val="100000"/>
              </a:lnSpc>
              <a:spcBef>
                <a:spcPts val="0"/>
              </a:spcBef>
              <a:spcAft>
                <a:spcPts val="0"/>
              </a:spcAft>
              <a:buClrTx/>
              <a:buSzTx/>
              <a:tabLst/>
              <a:defRPr/>
            </a:pPr>
            <a:endParaRPr kumimoji="1" lang="en-US" altLang="ja-JP" sz="165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50" noProof="0" dirty="0">
                <a:solidFill>
                  <a:prstClr val="black"/>
                </a:solidFill>
                <a:latin typeface="Calibri" panose="020F0502020204030204"/>
                <a:ea typeface="游ゴシック" panose="020B0400000000000000" pitchFamily="34" charset="-128"/>
              </a:rPr>
              <a:t>If the property of interest </a:t>
            </a:r>
            <a:r>
              <a:rPr lang="en-US" altLang="ja-JP" sz="1650" b="1" noProof="0" dirty="0">
                <a:solidFill>
                  <a:prstClr val="black"/>
                </a:solidFill>
                <a:latin typeface="Calibri" panose="020F0502020204030204"/>
                <a:ea typeface="游ゴシック" panose="020B0400000000000000" pitchFamily="34" charset="-128"/>
              </a:rPr>
              <a:t>is different across groups (H</a:t>
            </a:r>
            <a:r>
              <a:rPr lang="en-US" altLang="ja-JP" sz="1650" b="1" baseline="-25000" dirty="0">
                <a:solidFill>
                  <a:prstClr val="black"/>
                </a:solidFill>
                <a:latin typeface="Calibri" panose="020F0502020204030204"/>
                <a:ea typeface="游ゴシック" panose="020B0400000000000000" pitchFamily="34" charset="-128"/>
              </a:rPr>
              <a:t>1</a:t>
            </a:r>
            <a:r>
              <a:rPr lang="en-US" altLang="ja-JP" sz="1650" b="1" dirty="0">
                <a:solidFill>
                  <a:prstClr val="black"/>
                </a:solidFill>
                <a:latin typeface="Calibri" panose="020F0502020204030204"/>
                <a:ea typeface="游ゴシック" panose="020B0400000000000000" pitchFamily="34" charset="-128"/>
              </a:rPr>
              <a:t> is true)</a:t>
            </a:r>
            <a:r>
              <a:rPr lang="en-US" altLang="ja-JP" sz="1650" noProof="0" dirty="0">
                <a:solidFill>
                  <a:prstClr val="black"/>
                </a:solidFill>
                <a:latin typeface="Calibri" panose="020F0502020204030204"/>
                <a:ea typeface="游ゴシック" panose="020B0400000000000000" pitchFamily="34" charset="-128"/>
              </a:rPr>
              <a:t>, then the data are </a:t>
            </a:r>
            <a:r>
              <a:rPr lang="en-US" altLang="ja-JP" sz="1650" b="1" noProof="0" dirty="0">
                <a:solidFill>
                  <a:prstClr val="black"/>
                </a:solidFill>
                <a:latin typeface="Calibri" panose="020F0502020204030204"/>
                <a:ea typeface="游ゴシック" panose="020B0400000000000000" pitchFamily="34" charset="-128"/>
              </a:rPr>
              <a:t>not exchangeable</a:t>
            </a:r>
            <a:r>
              <a:rPr lang="en-US" altLang="ja-JP" sz="1650" noProof="0" dirty="0">
                <a:solidFill>
                  <a:prstClr val="black"/>
                </a:solidFill>
                <a:latin typeface="Calibri" panose="020F0502020204030204"/>
                <a:ea typeface="游ゴシック" panose="020B0400000000000000" pitchFamily="34" charset="-128"/>
              </a:rPr>
              <a:t>, i.e. randomly switching observations of the response variable between groups is likely to have a big effect on the test statistic.</a:t>
            </a:r>
          </a:p>
          <a:p>
            <a:pPr marL="285750" marR="0" lvl="0" indent="-28575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650" noProof="0" dirty="0">
              <a:solidFill>
                <a:prstClr val="black"/>
              </a:solidFill>
              <a:latin typeface="Calibri" panose="020F0502020204030204"/>
              <a:ea typeface="游ゴシック" panose="020B0400000000000000" pitchFamily="34" charset="-128"/>
            </a:endParaRPr>
          </a:p>
          <a:p>
            <a:pPr marL="285750" indent="-285750" algn="just">
              <a:lnSpc>
                <a:spcPct val="100000"/>
              </a:lnSpc>
              <a:buFont typeface="Arial" panose="020B0604020202020204" pitchFamily="34" charset="0"/>
              <a:buChar char="•"/>
            </a:pPr>
            <a:r>
              <a:rPr lang="en-US" altLang="ja-JP" sz="1650" dirty="0">
                <a:solidFill>
                  <a:prstClr val="black"/>
                </a:solidFill>
              </a:rPr>
              <a:t>In which case, </a:t>
            </a:r>
            <a:r>
              <a:rPr lang="en-US" altLang="ja-JP" sz="1650" b="1" i="1" dirty="0">
                <a:solidFill>
                  <a:prstClr val="black"/>
                </a:solidFill>
              </a:rPr>
              <a:t>F</a:t>
            </a:r>
            <a:r>
              <a:rPr lang="en-US" altLang="ja-JP" sz="1650" b="1" i="1" baseline="-25000" dirty="0">
                <a:solidFill>
                  <a:prstClr val="black"/>
                </a:solidFill>
              </a:rPr>
              <a:t>obs</a:t>
            </a:r>
            <a:r>
              <a:rPr lang="en-US" altLang="ja-JP" sz="1650" dirty="0">
                <a:solidFill>
                  <a:prstClr val="black"/>
                </a:solidFill>
              </a:rPr>
              <a:t>  is likely to be an </a:t>
            </a:r>
            <a:r>
              <a:rPr lang="en-US" altLang="ja-JP" sz="1650" b="1" dirty="0">
                <a:solidFill>
                  <a:prstClr val="black"/>
                </a:solidFill>
              </a:rPr>
              <a:t>extremal value </a:t>
            </a:r>
            <a:r>
              <a:rPr lang="en-US" altLang="ja-JP" sz="1650" dirty="0">
                <a:solidFill>
                  <a:prstClr val="black"/>
                </a:solidFill>
              </a:rPr>
              <a:t>from the distribution of test statistics produced from our re-ordered samples.</a:t>
            </a:r>
          </a:p>
          <a:p>
            <a:pPr marL="285750" indent="-285750" algn="just">
              <a:lnSpc>
                <a:spcPct val="100000"/>
              </a:lnSpc>
              <a:buFont typeface="Arial" panose="020B0604020202020204" pitchFamily="34" charset="0"/>
              <a:buChar char="•"/>
            </a:pPr>
            <a:endParaRPr lang="en-US" altLang="ja-JP" sz="1650" dirty="0">
              <a:solidFill>
                <a:prstClr val="black"/>
              </a:solidFill>
            </a:endParaRPr>
          </a:p>
          <a:p>
            <a:pPr marL="285750" indent="-285750" algn="just">
              <a:lnSpc>
                <a:spcPct val="100000"/>
              </a:lnSpc>
              <a:buFont typeface="Arial" panose="020B0604020202020204" pitchFamily="34" charset="0"/>
              <a:buChar char="•"/>
            </a:pPr>
            <a:r>
              <a:rPr lang="en-US" altLang="ja-JP" sz="1650" dirty="0">
                <a:solidFill>
                  <a:prstClr val="black"/>
                </a:solidFill>
              </a:rPr>
              <a:t>Thus, we calculate </a:t>
            </a:r>
            <a:r>
              <a:rPr lang="en-US" altLang="ja-JP" sz="1650" b="1" i="1" dirty="0">
                <a:solidFill>
                  <a:prstClr val="black"/>
                </a:solidFill>
              </a:rPr>
              <a:t>F</a:t>
            </a:r>
            <a:r>
              <a:rPr lang="en-US" altLang="ja-JP" sz="1650" b="1" i="1" baseline="-25000" dirty="0">
                <a:solidFill>
                  <a:prstClr val="black"/>
                </a:solidFill>
              </a:rPr>
              <a:t>obs</a:t>
            </a:r>
            <a:r>
              <a:rPr lang="en-US" altLang="ja-JP" sz="1650" baseline="-25000" dirty="0">
                <a:solidFill>
                  <a:prstClr val="black"/>
                </a:solidFill>
              </a:rPr>
              <a:t> </a:t>
            </a:r>
            <a:r>
              <a:rPr lang="en-US" altLang="ja-JP" sz="1650" dirty="0">
                <a:solidFill>
                  <a:prstClr val="black"/>
                </a:solidFill>
              </a:rPr>
              <a:t>and see where it lies in the distribution of test statistics produced from our re-ordered samples. Based on this information we decide whether to accept or reject the null hypothesis.</a:t>
            </a:r>
          </a:p>
        </p:txBody>
      </p:sp>
    </p:spTree>
    <p:extLst>
      <p:ext uri="{BB962C8B-B14F-4D97-AF65-F5344CB8AC3E}">
        <p14:creationId xmlns:p14="http://schemas.microsoft.com/office/powerpoint/2010/main" val="73390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12</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6.3a – The Basic Idea of Permutation Tests:</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6.3a – Basic Idea</a:t>
            </a:r>
            <a:endParaRPr kumimoji="1" lang="ja-JP" altLang="en-US" sz="1600" dirty="0">
              <a:solidFill>
                <a:srgbClr val="DEDDDD"/>
              </a:solidFill>
              <a:latin typeface="Gidole"/>
            </a:endParaRPr>
          </a:p>
        </p:txBody>
      </p:sp>
      <p:sp>
        <p:nvSpPr>
          <p:cNvPr id="7" name="Text Placeholder 5">
            <a:extLst>
              <a:ext uri="{FF2B5EF4-FFF2-40B4-BE49-F238E27FC236}">
                <a16:creationId xmlns:a16="http://schemas.microsoft.com/office/drawing/2014/main" id="{F9002F38-2735-4709-890C-427E83254016}"/>
              </a:ext>
            </a:extLst>
          </p:cNvPr>
          <p:cNvSpPr txBox="1">
            <a:spLocks/>
          </p:cNvSpPr>
          <p:nvPr/>
        </p:nvSpPr>
        <p:spPr>
          <a:xfrm>
            <a:off x="326043" y="1177992"/>
            <a:ext cx="1113429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Permutation tests typically progress according to the following steps…</a:t>
            </a:r>
            <a:endParaRPr lang="en-US" altLang="ja-JP" sz="1800" i="1" dirty="0">
              <a:solidFill>
                <a:schemeClr val="tx1"/>
              </a:solidFill>
            </a:endParaRPr>
          </a:p>
        </p:txBody>
      </p:sp>
      <p:sp>
        <p:nvSpPr>
          <p:cNvPr id="9" name="Text Placeholder 5">
            <a:extLst>
              <a:ext uri="{FF2B5EF4-FFF2-40B4-BE49-F238E27FC236}">
                <a16:creationId xmlns:a16="http://schemas.microsoft.com/office/drawing/2014/main" id="{70533F96-01DD-40E6-ADC8-CB953290681D}"/>
              </a:ext>
            </a:extLst>
          </p:cNvPr>
          <p:cNvSpPr txBox="1">
            <a:spLocks/>
          </p:cNvSpPr>
          <p:nvPr/>
        </p:nvSpPr>
        <p:spPr>
          <a:xfrm>
            <a:off x="319463" y="1787274"/>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1:</a:t>
            </a:r>
            <a:endParaRPr lang="en-US" altLang="ja-JP" sz="1800" b="1" i="1" dirty="0">
              <a:solidFill>
                <a:schemeClr val="tx1"/>
              </a:solidFill>
            </a:endParaRPr>
          </a:p>
        </p:txBody>
      </p:sp>
      <p:sp>
        <p:nvSpPr>
          <p:cNvPr id="10" name="Text Placeholder 5">
            <a:extLst>
              <a:ext uri="{FF2B5EF4-FFF2-40B4-BE49-F238E27FC236}">
                <a16:creationId xmlns:a16="http://schemas.microsoft.com/office/drawing/2014/main" id="{85324476-BB38-4AC7-B0F2-4F0284DA7502}"/>
              </a:ext>
            </a:extLst>
          </p:cNvPr>
          <p:cNvSpPr txBox="1">
            <a:spLocks/>
          </p:cNvSpPr>
          <p:nvPr/>
        </p:nvSpPr>
        <p:spPr>
          <a:xfrm>
            <a:off x="1214651" y="1787274"/>
            <a:ext cx="10657886" cy="706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We are interested in whether some property is constant across </a:t>
            </a:r>
            <a:r>
              <a:rPr lang="en-US" altLang="ja-JP" sz="1800" b="1" i="1" dirty="0">
                <a:solidFill>
                  <a:schemeClr val="tx1"/>
                </a:solidFill>
              </a:rPr>
              <a:t>k</a:t>
            </a:r>
            <a:r>
              <a:rPr lang="en-US" altLang="ja-JP" sz="1800" dirty="0">
                <a:solidFill>
                  <a:schemeClr val="tx1"/>
                </a:solidFill>
              </a:rPr>
              <a:t> population groups or whether this property differs between at least two of them. We assume that no suitable</a:t>
            </a:r>
            <a:r>
              <a:rPr lang="en-US" altLang="ja-JP" sz="1800" b="1" dirty="0">
                <a:solidFill>
                  <a:schemeClr val="tx1"/>
                </a:solidFill>
              </a:rPr>
              <a:t> </a:t>
            </a:r>
            <a:r>
              <a:rPr lang="en-US" altLang="ja-JP" sz="1800" dirty="0">
                <a:solidFill>
                  <a:schemeClr val="tx1"/>
                </a:solidFill>
              </a:rPr>
              <a:t>parametric test exists.</a:t>
            </a:r>
            <a:endParaRPr lang="en-US" altLang="ja-JP" sz="1800" i="1" dirty="0">
              <a:solidFill>
                <a:schemeClr val="tx1"/>
              </a:solidFill>
            </a:endParaRPr>
          </a:p>
        </p:txBody>
      </p:sp>
      <p:sp>
        <p:nvSpPr>
          <p:cNvPr id="11" name="Text Placeholder 5">
            <a:extLst>
              <a:ext uri="{FF2B5EF4-FFF2-40B4-BE49-F238E27FC236}">
                <a16:creationId xmlns:a16="http://schemas.microsoft.com/office/drawing/2014/main" id="{1F2E7130-4A33-4D84-8685-5F960489060A}"/>
              </a:ext>
            </a:extLst>
          </p:cNvPr>
          <p:cNvSpPr txBox="1">
            <a:spLocks/>
          </p:cNvSpPr>
          <p:nvPr/>
        </p:nvSpPr>
        <p:spPr>
          <a:xfrm>
            <a:off x="326043" y="276500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2:</a:t>
            </a:r>
            <a:endParaRPr lang="en-US" altLang="ja-JP" sz="1800" b="1" i="1" dirty="0">
              <a:solidFill>
                <a:schemeClr val="tx1"/>
              </a:solidFill>
            </a:endParaRPr>
          </a:p>
        </p:txBody>
      </p:sp>
      <p:sp>
        <p:nvSpPr>
          <p:cNvPr id="12" name="Text Placeholder 5">
            <a:extLst>
              <a:ext uri="{FF2B5EF4-FFF2-40B4-BE49-F238E27FC236}">
                <a16:creationId xmlns:a16="http://schemas.microsoft.com/office/drawing/2014/main" id="{1060B7A5-F41C-4C53-BEB6-375D797ED404}"/>
              </a:ext>
            </a:extLst>
          </p:cNvPr>
          <p:cNvSpPr txBox="1">
            <a:spLocks/>
          </p:cNvSpPr>
          <p:nvPr/>
        </p:nvSpPr>
        <p:spPr>
          <a:xfrm>
            <a:off x="1208071" y="2749625"/>
            <a:ext cx="3077326" cy="4861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We consider the hypotheses:</a:t>
            </a:r>
            <a:endParaRPr lang="en-US" altLang="ja-JP" sz="1800" i="1" dirty="0">
              <a:solidFill>
                <a:schemeClr val="tx1"/>
              </a:solidFill>
            </a:endParaRPr>
          </a:p>
        </p:txBody>
      </p:sp>
      <p:sp>
        <p:nvSpPr>
          <p:cNvPr id="14" name="Text Placeholder 5">
            <a:extLst>
              <a:ext uri="{FF2B5EF4-FFF2-40B4-BE49-F238E27FC236}">
                <a16:creationId xmlns:a16="http://schemas.microsoft.com/office/drawing/2014/main" id="{7D904603-01D7-40D4-8CAA-48B1B302D06F}"/>
              </a:ext>
            </a:extLst>
          </p:cNvPr>
          <p:cNvSpPr txBox="1">
            <a:spLocks/>
          </p:cNvSpPr>
          <p:nvPr/>
        </p:nvSpPr>
        <p:spPr>
          <a:xfrm>
            <a:off x="1221231" y="3136090"/>
            <a:ext cx="4524476" cy="4861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400" b="1" dirty="0">
                <a:solidFill>
                  <a:schemeClr val="tx1"/>
                </a:solidFill>
              </a:rPr>
              <a:t>H</a:t>
            </a:r>
            <a:r>
              <a:rPr lang="en-US" altLang="ja-JP" sz="1400" b="1" baseline="-25000" dirty="0">
                <a:solidFill>
                  <a:schemeClr val="tx1"/>
                </a:solidFill>
              </a:rPr>
              <a:t>0</a:t>
            </a:r>
            <a:r>
              <a:rPr lang="en-US" altLang="ja-JP" sz="1400" b="1" dirty="0">
                <a:solidFill>
                  <a:schemeClr val="tx1"/>
                </a:solidFill>
              </a:rPr>
              <a:t>: The property is constant across all groups</a:t>
            </a:r>
          </a:p>
          <a:p>
            <a:pPr algn="just">
              <a:lnSpc>
                <a:spcPct val="100000"/>
              </a:lnSpc>
            </a:pPr>
            <a:r>
              <a:rPr lang="en-US" altLang="ja-JP" sz="1400" b="1" dirty="0">
                <a:solidFill>
                  <a:schemeClr val="tx1"/>
                </a:solidFill>
              </a:rPr>
              <a:t>H</a:t>
            </a:r>
            <a:r>
              <a:rPr lang="en-US" altLang="ja-JP" sz="1400" b="1" baseline="-25000" dirty="0">
                <a:solidFill>
                  <a:schemeClr val="tx1"/>
                </a:solidFill>
              </a:rPr>
              <a:t>1</a:t>
            </a:r>
            <a:r>
              <a:rPr lang="en-US" altLang="ja-JP" sz="1400" b="1" dirty="0">
                <a:solidFill>
                  <a:schemeClr val="tx1"/>
                </a:solidFill>
              </a:rPr>
              <a:t>: The property differs amongst at least two of the groups</a:t>
            </a:r>
          </a:p>
          <a:p>
            <a:pPr algn="just">
              <a:lnSpc>
                <a:spcPct val="100000"/>
              </a:lnSpc>
            </a:pPr>
            <a:endParaRPr lang="en-US" altLang="ja-JP" sz="1400" b="1" i="1" dirty="0">
              <a:solidFill>
                <a:schemeClr val="tx1"/>
              </a:solidFill>
            </a:endParaRPr>
          </a:p>
        </p:txBody>
      </p:sp>
      <p:sp>
        <p:nvSpPr>
          <p:cNvPr id="18" name="Text Placeholder 5">
            <a:extLst>
              <a:ext uri="{FF2B5EF4-FFF2-40B4-BE49-F238E27FC236}">
                <a16:creationId xmlns:a16="http://schemas.microsoft.com/office/drawing/2014/main" id="{1525F3E6-CEA6-4BA7-97F6-4FB9D6396E48}"/>
              </a:ext>
            </a:extLst>
          </p:cNvPr>
          <p:cNvSpPr txBox="1">
            <a:spLocks/>
          </p:cNvSpPr>
          <p:nvPr/>
        </p:nvSpPr>
        <p:spPr>
          <a:xfrm>
            <a:off x="326043" y="4029529"/>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3:</a:t>
            </a:r>
            <a:endParaRPr lang="en-US" altLang="ja-JP" sz="1800" b="1" i="1" dirty="0">
              <a:solidFill>
                <a:schemeClr val="tx1"/>
              </a:solidFill>
            </a:endParaRPr>
          </a:p>
        </p:txBody>
      </p:sp>
      <p:sp>
        <p:nvSpPr>
          <p:cNvPr id="19" name="Text Placeholder 5">
            <a:extLst>
              <a:ext uri="{FF2B5EF4-FFF2-40B4-BE49-F238E27FC236}">
                <a16:creationId xmlns:a16="http://schemas.microsoft.com/office/drawing/2014/main" id="{1F239E4E-0311-4D2E-80FF-A470CDFED1AC}"/>
              </a:ext>
            </a:extLst>
          </p:cNvPr>
          <p:cNvSpPr txBox="1">
            <a:spLocks/>
          </p:cNvSpPr>
          <p:nvPr/>
        </p:nvSpPr>
        <p:spPr>
          <a:xfrm>
            <a:off x="1214651" y="4014175"/>
            <a:ext cx="10657886" cy="706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We take a sample of size </a:t>
            </a:r>
            <a:r>
              <a:rPr lang="en-US" altLang="ja-JP" sz="1800" b="1" i="1" dirty="0">
                <a:solidFill>
                  <a:schemeClr val="tx1"/>
                </a:solidFill>
              </a:rPr>
              <a:t>n</a:t>
            </a:r>
            <a:r>
              <a:rPr lang="en-US" altLang="ja-JP" sz="1800" dirty="0">
                <a:solidFill>
                  <a:schemeClr val="tx1"/>
                </a:solidFill>
              </a:rPr>
              <a:t> containing…</a:t>
            </a:r>
          </a:p>
          <a:p>
            <a:pPr algn="just">
              <a:lnSpc>
                <a:spcPct val="100000"/>
              </a:lnSpc>
            </a:pPr>
            <a:endParaRPr lang="en-US" altLang="ja-JP" sz="1600" dirty="0">
              <a:solidFill>
                <a:schemeClr val="tx1"/>
              </a:solidFill>
            </a:endParaRPr>
          </a:p>
          <a:p>
            <a:pPr algn="just">
              <a:lnSpc>
                <a:spcPct val="100000"/>
              </a:lnSpc>
            </a:pPr>
            <a:r>
              <a:rPr lang="en-US" altLang="ja-JP" sz="1600" dirty="0">
                <a:solidFill>
                  <a:schemeClr val="tx1"/>
                </a:solidFill>
              </a:rPr>
              <a:t>	</a:t>
            </a:r>
            <a:r>
              <a:rPr lang="en-US" altLang="ja-JP" sz="1600" i="1" dirty="0">
                <a:solidFill>
                  <a:schemeClr val="accent1">
                    <a:lumMod val="75000"/>
                  </a:schemeClr>
                </a:solidFill>
              </a:rPr>
              <a:t>k</a:t>
            </a:r>
            <a:r>
              <a:rPr lang="en-US" altLang="ja-JP" sz="1600" i="1" baseline="-25000" dirty="0">
                <a:solidFill>
                  <a:schemeClr val="accent1">
                    <a:lumMod val="75000"/>
                  </a:schemeClr>
                </a:solidFill>
              </a:rPr>
              <a:t>1</a:t>
            </a:r>
            <a:r>
              <a:rPr lang="en-US" altLang="ja-JP" sz="1600" i="1" dirty="0">
                <a:solidFill>
                  <a:schemeClr val="accent1">
                    <a:lumMod val="75000"/>
                  </a:schemeClr>
                </a:solidFill>
              </a:rPr>
              <a:t> </a:t>
            </a:r>
            <a:r>
              <a:rPr lang="en-US" altLang="ja-JP" sz="1600" dirty="0">
                <a:solidFill>
                  <a:schemeClr val="accent1">
                    <a:lumMod val="75000"/>
                  </a:schemeClr>
                </a:solidFill>
              </a:rPr>
              <a:t>observations in the first group, </a:t>
            </a:r>
          </a:p>
          <a:p>
            <a:pPr algn="just">
              <a:lnSpc>
                <a:spcPct val="100000"/>
              </a:lnSpc>
            </a:pPr>
            <a:r>
              <a:rPr lang="en-US" altLang="ja-JP" sz="1600" i="1" dirty="0">
                <a:solidFill>
                  <a:schemeClr val="accent1">
                    <a:lumMod val="75000"/>
                  </a:schemeClr>
                </a:solidFill>
              </a:rPr>
              <a:t>	k</a:t>
            </a:r>
            <a:r>
              <a:rPr lang="en-US" altLang="ja-JP" sz="1600" i="1" baseline="-25000" dirty="0">
                <a:solidFill>
                  <a:schemeClr val="accent1">
                    <a:lumMod val="75000"/>
                  </a:schemeClr>
                </a:solidFill>
              </a:rPr>
              <a:t>2</a:t>
            </a:r>
            <a:r>
              <a:rPr lang="en-US" altLang="ja-JP" sz="1600" i="1" dirty="0">
                <a:solidFill>
                  <a:schemeClr val="accent1">
                    <a:lumMod val="75000"/>
                  </a:schemeClr>
                </a:solidFill>
              </a:rPr>
              <a:t> </a:t>
            </a:r>
            <a:r>
              <a:rPr lang="en-US" altLang="ja-JP" sz="1600" dirty="0">
                <a:solidFill>
                  <a:schemeClr val="accent1">
                    <a:lumMod val="75000"/>
                  </a:schemeClr>
                </a:solidFill>
              </a:rPr>
              <a:t>observations in the observations from the second group, </a:t>
            </a:r>
          </a:p>
          <a:p>
            <a:pPr algn="just">
              <a:lnSpc>
                <a:spcPct val="100000"/>
              </a:lnSpc>
            </a:pPr>
            <a:r>
              <a:rPr lang="en-US" altLang="ja-JP" sz="1600" dirty="0">
                <a:solidFill>
                  <a:schemeClr val="accent1">
                    <a:lumMod val="75000"/>
                  </a:schemeClr>
                </a:solidFill>
              </a:rPr>
              <a:t>	…..</a:t>
            </a:r>
          </a:p>
          <a:p>
            <a:pPr algn="just">
              <a:lnSpc>
                <a:spcPct val="100000"/>
              </a:lnSpc>
            </a:pPr>
            <a:r>
              <a:rPr lang="en-US" altLang="ja-JP" sz="1600" i="1" dirty="0">
                <a:solidFill>
                  <a:schemeClr val="accent1">
                    <a:lumMod val="75000"/>
                  </a:schemeClr>
                </a:solidFill>
              </a:rPr>
              <a:t>	k</a:t>
            </a:r>
            <a:r>
              <a:rPr lang="en-US" altLang="ja-JP" sz="1600" i="1" baseline="-25000" dirty="0">
                <a:solidFill>
                  <a:schemeClr val="accent1">
                    <a:lumMod val="75000"/>
                  </a:schemeClr>
                </a:solidFill>
              </a:rPr>
              <a:t>k</a:t>
            </a:r>
            <a:r>
              <a:rPr lang="en-US" altLang="ja-JP" sz="1600" i="1" dirty="0">
                <a:solidFill>
                  <a:schemeClr val="accent1">
                    <a:lumMod val="75000"/>
                  </a:schemeClr>
                </a:solidFill>
              </a:rPr>
              <a:t> </a:t>
            </a:r>
            <a:r>
              <a:rPr lang="en-US" altLang="ja-JP" sz="1600" dirty="0">
                <a:solidFill>
                  <a:schemeClr val="accent1">
                    <a:lumMod val="75000"/>
                  </a:schemeClr>
                </a:solidFill>
              </a:rPr>
              <a:t>observations from the </a:t>
            </a:r>
            <a:r>
              <a:rPr lang="en-US" altLang="ja-JP" sz="1600" i="1" dirty="0">
                <a:solidFill>
                  <a:schemeClr val="accent1">
                    <a:lumMod val="75000"/>
                  </a:schemeClr>
                </a:solidFill>
              </a:rPr>
              <a:t>k</a:t>
            </a:r>
            <a:r>
              <a:rPr lang="en-US" altLang="ja-JP" sz="1600" i="1" baseline="30000" dirty="0">
                <a:solidFill>
                  <a:schemeClr val="accent1">
                    <a:lumMod val="75000"/>
                  </a:schemeClr>
                </a:solidFill>
              </a:rPr>
              <a:t>th</a:t>
            </a:r>
            <a:r>
              <a:rPr lang="en-US" altLang="ja-JP" sz="1600" dirty="0">
                <a:solidFill>
                  <a:schemeClr val="accent1">
                    <a:lumMod val="75000"/>
                  </a:schemeClr>
                </a:solidFill>
              </a:rPr>
              <a:t> group. </a:t>
            </a:r>
          </a:p>
          <a:p>
            <a:pPr algn="just">
              <a:lnSpc>
                <a:spcPct val="100000"/>
              </a:lnSpc>
            </a:pPr>
            <a:endParaRPr lang="en-US" altLang="ja-JP" sz="1600" dirty="0">
              <a:solidFill>
                <a:schemeClr val="tx1"/>
              </a:solidFill>
            </a:endParaRPr>
          </a:p>
          <a:p>
            <a:pPr algn="just">
              <a:lnSpc>
                <a:spcPct val="100000"/>
              </a:lnSpc>
            </a:pPr>
            <a:r>
              <a:rPr lang="en-US" altLang="ja-JP" sz="1800" dirty="0">
                <a:solidFill>
                  <a:schemeClr val="tx1"/>
                </a:solidFill>
              </a:rPr>
              <a:t>We then calculate the value of an appropriate test statistic </a:t>
            </a:r>
            <a:r>
              <a:rPr lang="en-US" altLang="ja-JP" sz="1800" b="1" i="1" dirty="0">
                <a:solidFill>
                  <a:schemeClr val="tx1"/>
                </a:solidFill>
              </a:rPr>
              <a:t>F</a:t>
            </a:r>
            <a:r>
              <a:rPr lang="en-US" altLang="ja-JP" sz="1800" b="1" i="1" baseline="-25000" dirty="0">
                <a:solidFill>
                  <a:schemeClr val="tx1"/>
                </a:solidFill>
              </a:rPr>
              <a:t>obs</a:t>
            </a:r>
            <a:r>
              <a:rPr lang="en-US" altLang="ja-JP" sz="1800" i="1" baseline="-25000" dirty="0">
                <a:solidFill>
                  <a:schemeClr val="tx1"/>
                </a:solidFill>
              </a:rPr>
              <a:t> </a:t>
            </a:r>
            <a:r>
              <a:rPr lang="en-US" altLang="ja-JP" sz="1800" dirty="0">
                <a:solidFill>
                  <a:schemeClr val="tx1"/>
                </a:solidFill>
              </a:rPr>
              <a:t>which measures whether the property is constant across each of the groups.</a:t>
            </a:r>
          </a:p>
        </p:txBody>
      </p:sp>
      <p:sp>
        <p:nvSpPr>
          <p:cNvPr id="2" name="Text Placeholder 5">
            <a:extLst>
              <a:ext uri="{FF2B5EF4-FFF2-40B4-BE49-F238E27FC236}">
                <a16:creationId xmlns:a16="http://schemas.microsoft.com/office/drawing/2014/main" id="{683F30E6-3DC0-FEB7-056C-03C78D254327}"/>
              </a:ext>
            </a:extLst>
          </p:cNvPr>
          <p:cNvSpPr txBox="1">
            <a:spLocks/>
          </p:cNvSpPr>
          <p:nvPr/>
        </p:nvSpPr>
        <p:spPr>
          <a:xfrm>
            <a:off x="6251690" y="3111094"/>
            <a:ext cx="5776537" cy="8867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Since permutation</a:t>
            </a:r>
            <a:r>
              <a:rPr kumimoji="1" lang="en-US" altLang="ja-JP" sz="1400" b="0" i="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tests are non-parametric, </a:t>
            </a:r>
            <a:r>
              <a:rPr kumimoji="1" lang="en-US" altLang="ja-JP" sz="1400" b="1" i="1"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H</a:t>
            </a:r>
            <a:r>
              <a:rPr kumimoji="1" lang="en-US" altLang="ja-JP" sz="1400" b="1" i="1" u="none" strike="noStrike" kern="1200" cap="none" spc="0" normalizeH="0" baseline="-2500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0</a:t>
            </a:r>
            <a:r>
              <a:rPr kumimoji="1" lang="en-US" altLang="ja-JP" sz="140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and </a:t>
            </a:r>
            <a:r>
              <a:rPr kumimoji="1" lang="en-US" altLang="ja-JP" sz="1400" b="1" i="1"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H</a:t>
            </a:r>
            <a:r>
              <a:rPr kumimoji="1" lang="en-US" altLang="ja-JP" sz="1400" b="1" i="1" u="none" strike="noStrike" kern="1200" cap="none" spc="0" normalizeH="0" baseline="-2500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1</a:t>
            </a:r>
            <a:r>
              <a:rPr kumimoji="1" lang="en-US" altLang="ja-JP" sz="1400"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often cannot be written in terms of a parameter distribution. They tend to be more general statements compared to when conducting parametric tests.</a:t>
            </a:r>
            <a:endParaRPr kumimoji="1" lang="en-US" altLang="ja-JP" sz="14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3" name="Right Brace 2">
            <a:extLst>
              <a:ext uri="{FF2B5EF4-FFF2-40B4-BE49-F238E27FC236}">
                <a16:creationId xmlns:a16="http://schemas.microsoft.com/office/drawing/2014/main" id="{D77C4E60-71C1-1D8E-B3B2-6D5A78B296C9}"/>
              </a:ext>
            </a:extLst>
          </p:cNvPr>
          <p:cNvSpPr/>
          <p:nvPr/>
        </p:nvSpPr>
        <p:spPr>
          <a:xfrm>
            <a:off x="5758867" y="3111094"/>
            <a:ext cx="337133" cy="7061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Tree>
    <p:extLst>
      <p:ext uri="{BB962C8B-B14F-4D97-AF65-F5344CB8AC3E}">
        <p14:creationId xmlns:p14="http://schemas.microsoft.com/office/powerpoint/2010/main" val="168263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4" grpId="0"/>
      <p:bldP spid="18" grpId="0"/>
      <p:bldP spid="19" grpId="0"/>
      <p:bldP spid="2" grpId="0"/>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13</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6.3a – The Basic Idea of Permutation Tests:</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6.3a – Basic Idea</a:t>
            </a:r>
            <a:endParaRPr kumimoji="1" lang="ja-JP" altLang="en-US" sz="1600" dirty="0">
              <a:solidFill>
                <a:srgbClr val="DEDDDD"/>
              </a:solidFill>
              <a:latin typeface="Gidole"/>
            </a:endParaRPr>
          </a:p>
        </p:txBody>
      </p:sp>
      <p:sp>
        <p:nvSpPr>
          <p:cNvPr id="9" name="Text Placeholder 5">
            <a:extLst>
              <a:ext uri="{FF2B5EF4-FFF2-40B4-BE49-F238E27FC236}">
                <a16:creationId xmlns:a16="http://schemas.microsoft.com/office/drawing/2014/main" id="{70533F96-01DD-40E6-ADC8-CB953290681D}"/>
              </a:ext>
            </a:extLst>
          </p:cNvPr>
          <p:cNvSpPr txBox="1">
            <a:spLocks/>
          </p:cNvSpPr>
          <p:nvPr/>
        </p:nvSpPr>
        <p:spPr>
          <a:xfrm>
            <a:off x="319463" y="109123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4:</a:t>
            </a:r>
            <a:endParaRPr lang="en-US" altLang="ja-JP" sz="1800" b="1" i="1" dirty="0">
              <a:solidFill>
                <a:schemeClr val="tx1"/>
              </a:solidFill>
            </a:endParaRPr>
          </a:p>
        </p:txBody>
      </p:sp>
      <p:sp>
        <p:nvSpPr>
          <p:cNvPr id="10" name="Text Placeholder 5">
            <a:extLst>
              <a:ext uri="{FF2B5EF4-FFF2-40B4-BE49-F238E27FC236}">
                <a16:creationId xmlns:a16="http://schemas.microsoft.com/office/drawing/2014/main" id="{85324476-BB38-4AC7-B0F2-4F0284DA7502}"/>
              </a:ext>
            </a:extLst>
          </p:cNvPr>
          <p:cNvSpPr txBox="1">
            <a:spLocks/>
          </p:cNvSpPr>
          <p:nvPr/>
        </p:nvSpPr>
        <p:spPr>
          <a:xfrm>
            <a:off x="1214651" y="1091238"/>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We then create multiple re-ordered samples of the data by one of two methods.</a:t>
            </a:r>
            <a:endParaRPr lang="en-US" altLang="ja-JP" sz="1800" i="1" dirty="0">
              <a:solidFill>
                <a:schemeClr val="tx1"/>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03B7155-9FF0-40ED-BFD5-57CE8CDB407C}"/>
                  </a:ext>
                </a:extLst>
              </p:cNvPr>
              <p:cNvSpPr txBox="1">
                <a:spLocks/>
              </p:cNvSpPr>
              <p:nvPr/>
            </p:nvSpPr>
            <p:spPr>
              <a:xfrm>
                <a:off x="1214651" y="1613766"/>
                <a:ext cx="10657886" cy="22894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i="1" dirty="0">
                    <a:solidFill>
                      <a:srgbClr val="C00000"/>
                    </a:solidFill>
                  </a:rPr>
                  <a:t>Method I – Exact Permutations</a:t>
                </a:r>
              </a:p>
              <a:p>
                <a:pPr algn="just">
                  <a:lnSpc>
                    <a:spcPct val="100000"/>
                  </a:lnSpc>
                </a:pPr>
                <a:r>
                  <a:rPr lang="en-US" altLang="ja-JP" sz="1600" dirty="0">
                    <a:solidFill>
                      <a:schemeClr val="tx1"/>
                    </a:solidFill>
                  </a:rPr>
                  <a:t>Here we create </a:t>
                </a:r>
                <a:r>
                  <a:rPr lang="en-US" altLang="ja-JP" sz="1600" b="1" u="sng" dirty="0">
                    <a:solidFill>
                      <a:schemeClr val="tx1"/>
                    </a:solidFill>
                  </a:rPr>
                  <a:t>all</a:t>
                </a:r>
                <a:r>
                  <a:rPr lang="en-US" altLang="ja-JP" sz="1600" dirty="0">
                    <a:solidFill>
                      <a:schemeClr val="tx1"/>
                    </a:solidFill>
                  </a:rPr>
                  <a:t> possible re-ordered samples that can be obtained by switching observations of the response variable between groups. If there are </a:t>
                </a:r>
                <a:r>
                  <a:rPr lang="en-US" altLang="ja-JP" sz="1600" b="1" i="1" dirty="0">
                    <a:solidFill>
                      <a:schemeClr val="tx1"/>
                    </a:solidFill>
                  </a:rPr>
                  <a:t>n</a:t>
                </a:r>
                <a:r>
                  <a:rPr lang="en-US" altLang="ja-JP" sz="1600" dirty="0">
                    <a:solidFill>
                      <a:schemeClr val="tx1"/>
                    </a:solidFill>
                  </a:rPr>
                  <a:t> observations in our original sample spanning </a:t>
                </a:r>
                <a:r>
                  <a:rPr lang="en-US" altLang="ja-JP" sz="1600" b="1" i="1" dirty="0">
                    <a:solidFill>
                      <a:schemeClr val="tx1"/>
                    </a:solidFill>
                  </a:rPr>
                  <a:t>k</a:t>
                </a:r>
                <a:r>
                  <a:rPr lang="en-US" altLang="ja-JP" sz="1600" i="1" dirty="0">
                    <a:solidFill>
                      <a:schemeClr val="tx1"/>
                    </a:solidFill>
                  </a:rPr>
                  <a:t> </a:t>
                </a:r>
                <a:r>
                  <a:rPr lang="en-US" altLang="ja-JP" sz="1600" dirty="0">
                    <a:solidFill>
                      <a:schemeClr val="tx1"/>
                    </a:solidFill>
                  </a:rPr>
                  <a:t>groups with </a:t>
                </a:r>
                <a:r>
                  <a:rPr lang="en-US" altLang="ja-JP" sz="1600" b="1" i="1" dirty="0">
                    <a:solidFill>
                      <a:schemeClr val="tx1"/>
                    </a:solidFill>
                  </a:rPr>
                  <a:t>k</a:t>
                </a:r>
                <a:r>
                  <a:rPr lang="en-US" altLang="ja-JP" sz="1600" b="1" i="1" baseline="-25000" dirty="0">
                    <a:solidFill>
                      <a:schemeClr val="tx1"/>
                    </a:solidFill>
                  </a:rPr>
                  <a:t>1</a:t>
                </a:r>
                <a:r>
                  <a:rPr lang="en-US" altLang="ja-JP" sz="1600" i="1" dirty="0">
                    <a:solidFill>
                      <a:schemeClr val="tx1"/>
                    </a:solidFill>
                  </a:rPr>
                  <a:t> </a:t>
                </a:r>
                <a:r>
                  <a:rPr lang="en-US" altLang="ja-JP" sz="1600" dirty="0">
                    <a:solidFill>
                      <a:schemeClr val="tx1"/>
                    </a:solidFill>
                  </a:rPr>
                  <a:t>observations in the first group, </a:t>
                </a:r>
                <a:br>
                  <a:rPr lang="en-US" altLang="ja-JP" sz="1600" dirty="0">
                    <a:solidFill>
                      <a:schemeClr val="tx1"/>
                    </a:solidFill>
                  </a:rPr>
                </a:br>
                <a:r>
                  <a:rPr lang="en-US" altLang="ja-JP" sz="1600" b="1" i="1" dirty="0">
                    <a:solidFill>
                      <a:schemeClr val="tx1"/>
                    </a:solidFill>
                  </a:rPr>
                  <a:t>k</a:t>
                </a:r>
                <a:r>
                  <a:rPr lang="en-US" altLang="ja-JP" sz="1600" b="1" i="1" baseline="-25000" dirty="0">
                    <a:solidFill>
                      <a:schemeClr val="tx1"/>
                    </a:solidFill>
                  </a:rPr>
                  <a:t>2</a:t>
                </a:r>
                <a:r>
                  <a:rPr lang="en-US" altLang="ja-JP" sz="1600" i="1" dirty="0">
                    <a:solidFill>
                      <a:schemeClr val="tx1"/>
                    </a:solidFill>
                  </a:rPr>
                  <a:t> </a:t>
                </a:r>
                <a:r>
                  <a:rPr lang="en-US" altLang="ja-JP" sz="1600" dirty="0">
                    <a:solidFill>
                      <a:schemeClr val="tx1"/>
                    </a:solidFill>
                  </a:rPr>
                  <a:t>observations in the second group, </a:t>
                </a:r>
                <a:r>
                  <a:rPr lang="en-US" altLang="ja-JP" sz="1600" dirty="0" err="1">
                    <a:solidFill>
                      <a:schemeClr val="tx1"/>
                    </a:solidFill>
                  </a:rPr>
                  <a:t>etc</a:t>
                </a:r>
                <a:r>
                  <a:rPr lang="en-US" altLang="ja-JP" sz="1600" dirty="0">
                    <a:solidFill>
                      <a:schemeClr val="tx1"/>
                    </a:solidFill>
                  </a:rPr>
                  <a:t>… then</a:t>
                </a:r>
              </a:p>
              <a:p>
                <a:pPr algn="just">
                  <a:lnSpc>
                    <a:spcPct val="100000"/>
                  </a:lnSpc>
                </a:pPr>
                <a:endParaRPr lang="en-US"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0" i="1" smtClean="0">
                          <a:solidFill>
                            <a:schemeClr val="tx1"/>
                          </a:solidFill>
                          <a:latin typeface="Cambria Math" panose="02040503050406030204" pitchFamily="18" charset="0"/>
                        </a:rPr>
                        <m:t>𝑃𝑜𝑠𝑠𝑖𝑏𝑙𝑒</m:t>
                      </m:r>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𝑅𝑒𝑜𝑟𝑑𝑒𝑟</m:t>
                      </m:r>
                      <m:r>
                        <a:rPr lang="en-NZ" altLang="ja-JP" sz="1600" b="0" i="1" smtClean="0">
                          <a:solidFill>
                            <a:schemeClr val="tx1"/>
                          </a:solidFill>
                          <a:latin typeface="Cambria Math" panose="02040503050406030204" pitchFamily="18" charset="0"/>
                        </a:rPr>
                        <m:t> </m:t>
                      </m:r>
                      <m:r>
                        <a:rPr lang="en-NZ" altLang="ja-JP" sz="1600" b="0" i="1" smtClean="0">
                          <a:solidFill>
                            <a:schemeClr val="tx1"/>
                          </a:solidFill>
                          <a:latin typeface="Cambria Math" panose="02040503050406030204" pitchFamily="18" charset="0"/>
                        </a:rPr>
                        <m:t>𝑆𝑎𝑚𝑝𝑙𝑒𝑠</m:t>
                      </m:r>
                      <m:r>
                        <a:rPr lang="en-NZ" altLang="ja-JP" sz="1600" b="0" i="1" smtClean="0">
                          <a:solidFill>
                            <a:schemeClr val="tx1"/>
                          </a:solidFill>
                          <a:latin typeface="Cambria Math" panose="02040503050406030204" pitchFamily="18" charset="0"/>
                        </a:rPr>
                        <m:t> =  </m:t>
                      </m:r>
                      <m:d>
                        <m:dPr>
                          <m:ctrlPr>
                            <a:rPr lang="en-NZ" altLang="ja-JP" sz="1600" b="0" i="1" smtClean="0">
                              <a:solidFill>
                                <a:schemeClr val="tx1"/>
                              </a:solidFill>
                              <a:latin typeface="Cambria Math" panose="02040503050406030204" pitchFamily="18" charset="0"/>
                            </a:rPr>
                          </m:ctrlPr>
                        </m:dPr>
                        <m:e>
                          <m:m>
                            <m:mPr>
                              <m:mcs>
                                <m:mc>
                                  <m:mcPr>
                                    <m:count m:val="1"/>
                                    <m:mcJc m:val="center"/>
                                  </m:mcPr>
                                </m:mc>
                              </m:mcs>
                              <m:ctrlPr>
                                <a:rPr lang="en-NZ" altLang="ja-JP" sz="1600" b="0" i="1" smtClean="0">
                                  <a:solidFill>
                                    <a:schemeClr val="tx1"/>
                                  </a:solidFill>
                                  <a:latin typeface="Cambria Math" panose="02040503050406030204" pitchFamily="18" charset="0"/>
                                </a:rPr>
                              </m:ctrlPr>
                            </m:mPr>
                            <m:mr>
                              <m:e>
                                <m:r>
                                  <m:rPr>
                                    <m:brk m:alnAt="7"/>
                                  </m:rPr>
                                  <a:rPr lang="en-NZ" altLang="ja-JP" sz="1600" b="0" i="1" smtClean="0">
                                    <a:solidFill>
                                      <a:schemeClr val="tx1"/>
                                    </a:solidFill>
                                    <a:latin typeface="Cambria Math" panose="02040503050406030204" pitchFamily="18" charset="0"/>
                                  </a:rPr>
                                  <m:t>𝑛</m:t>
                                </m:r>
                              </m:e>
                            </m:mr>
                            <m:mr>
                              <m:e>
                                <m:r>
                                  <a:rPr lang="en-NZ" altLang="ja-JP" sz="1600" b="0" i="1" smtClean="0">
                                    <a:solidFill>
                                      <a:schemeClr val="tx1"/>
                                    </a:solidFill>
                                    <a:latin typeface="Cambria Math" panose="02040503050406030204" pitchFamily="18" charset="0"/>
                                  </a:rPr>
                                  <m:t>𝐶</m:t>
                                </m:r>
                              </m:e>
                            </m:mr>
                            <m:m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𝑘</m:t>
                                    </m:r>
                                  </m:e>
                                  <m:sub>
                                    <m:r>
                                      <a:rPr lang="en-NZ" altLang="ja-JP" sz="1600" b="0" i="1" smtClean="0">
                                        <a:solidFill>
                                          <a:schemeClr val="tx1"/>
                                        </a:solidFill>
                                        <a:latin typeface="Cambria Math" panose="02040503050406030204" pitchFamily="18" charset="0"/>
                                      </a:rPr>
                                      <m:t>1</m:t>
                                    </m:r>
                                  </m:sub>
                                </m:sSub>
                              </m:e>
                            </m:mr>
                          </m:m>
                        </m:e>
                      </m:d>
                      <m:r>
                        <a:rPr lang="en-NZ" altLang="ja-JP" sz="1600" b="0" i="1" smtClean="0">
                          <a:solidFill>
                            <a:schemeClr val="tx1"/>
                          </a:solidFill>
                          <a:latin typeface="Cambria Math" panose="02040503050406030204" pitchFamily="18" charset="0"/>
                        </a:rPr>
                        <m:t> </m:t>
                      </m:r>
                      <m:r>
                        <a:rPr lang="en-NZ" altLang="ja-JP" sz="1600" b="0" i="1" smtClean="0">
                          <a:solidFill>
                            <a:schemeClr val="tx1"/>
                          </a:solidFill>
                          <a:latin typeface="Cambria Math" panose="02040503050406030204" pitchFamily="18" charset="0"/>
                          <a:ea typeface="Cambria Math" panose="02040503050406030204" pitchFamily="18" charset="0"/>
                        </a:rPr>
                        <m:t>∙</m:t>
                      </m:r>
                      <m:d>
                        <m:dPr>
                          <m:ctrlPr>
                            <a:rPr lang="en-NZ" altLang="ja-JP" sz="1600" i="1">
                              <a:solidFill>
                                <a:schemeClr val="tx1"/>
                              </a:solidFill>
                              <a:latin typeface="Cambria Math" panose="02040503050406030204" pitchFamily="18" charset="0"/>
                            </a:rPr>
                          </m:ctrlPr>
                        </m:dPr>
                        <m:e>
                          <m:m>
                            <m:mPr>
                              <m:mcs>
                                <m:mc>
                                  <m:mcPr>
                                    <m:count m:val="1"/>
                                    <m:mcJc m:val="center"/>
                                  </m:mcPr>
                                </m:mc>
                              </m:mcs>
                              <m:ctrlPr>
                                <a:rPr lang="en-NZ" altLang="ja-JP" sz="1600" i="1">
                                  <a:solidFill>
                                    <a:schemeClr val="tx1"/>
                                  </a:solidFill>
                                  <a:latin typeface="Cambria Math" panose="02040503050406030204" pitchFamily="18" charset="0"/>
                                </a:rPr>
                              </m:ctrlPr>
                            </m:mPr>
                            <m:mr>
                              <m:e>
                                <m:r>
                                  <m:rPr>
                                    <m:brk m:alnAt="7"/>
                                  </m:rPr>
                                  <a:rPr lang="en-NZ" altLang="ja-JP" sz="1600" i="1">
                                    <a:solidFill>
                                      <a:schemeClr val="tx1"/>
                                    </a:solidFill>
                                    <a:latin typeface="Cambria Math" panose="02040503050406030204" pitchFamily="18" charset="0"/>
                                  </a:rPr>
                                  <m:t>𝑛</m:t>
                                </m:r>
                                <m:r>
                                  <a:rPr lang="en-NZ" altLang="ja-JP" sz="1600" b="0" i="1" smtClean="0">
                                    <a:solidFill>
                                      <a:schemeClr val="tx1"/>
                                    </a:solidFill>
                                    <a:latin typeface="Cambria Math" panose="02040503050406030204" pitchFamily="18" charset="0"/>
                                  </a:rPr>
                                  <m:t> −</m:t>
                                </m:r>
                                <m:sSub>
                                  <m:sSubPr>
                                    <m:ctrlPr>
                                      <a:rPr lang="en-NZ" altLang="ja-JP" sz="1600" b="0" i="1" smtClean="0">
                                        <a:solidFill>
                                          <a:schemeClr val="tx1"/>
                                        </a:solidFill>
                                        <a:latin typeface="Cambria Math" panose="02040503050406030204" pitchFamily="18" charset="0"/>
                                      </a:rPr>
                                    </m:ctrlPr>
                                  </m:sSubPr>
                                  <m:e>
                                    <m:r>
                                      <m:rPr>
                                        <m:brk m:alnAt="7"/>
                                      </m:rPr>
                                      <a:rPr lang="en-NZ" altLang="ja-JP" sz="1600" b="0" i="1" smtClean="0">
                                        <a:solidFill>
                                          <a:schemeClr val="tx1"/>
                                        </a:solidFill>
                                        <a:latin typeface="Cambria Math" panose="02040503050406030204" pitchFamily="18" charset="0"/>
                                      </a:rPr>
                                      <m:t>𝑘</m:t>
                                    </m:r>
                                  </m:e>
                                  <m:sub>
                                    <m:r>
                                      <m:rPr>
                                        <m:brk m:alnAt="7"/>
                                      </m:rPr>
                                      <a:rPr lang="en-NZ" altLang="ja-JP" sz="1600" b="0" i="1" smtClean="0">
                                        <a:solidFill>
                                          <a:schemeClr val="tx1"/>
                                        </a:solidFill>
                                        <a:latin typeface="Cambria Math" panose="02040503050406030204" pitchFamily="18" charset="0"/>
                                      </a:rPr>
                                      <m:t>1</m:t>
                                    </m:r>
                                  </m:sub>
                                </m:sSub>
                              </m:e>
                            </m:mr>
                            <m:mr>
                              <m:e>
                                <m:r>
                                  <a:rPr lang="en-NZ" altLang="ja-JP" sz="1600" i="1">
                                    <a:solidFill>
                                      <a:schemeClr val="tx1"/>
                                    </a:solidFill>
                                    <a:latin typeface="Cambria Math" panose="02040503050406030204" pitchFamily="18" charset="0"/>
                                  </a:rPr>
                                  <m:t>𝐶</m:t>
                                </m:r>
                              </m:e>
                            </m:mr>
                            <m:m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𝑘</m:t>
                                    </m:r>
                                  </m:e>
                                  <m:sub>
                                    <m:r>
                                      <a:rPr lang="en-NZ" altLang="ja-JP" sz="1600" b="0" i="1" smtClean="0">
                                        <a:solidFill>
                                          <a:schemeClr val="tx1"/>
                                        </a:solidFill>
                                        <a:latin typeface="Cambria Math" panose="02040503050406030204" pitchFamily="18" charset="0"/>
                                      </a:rPr>
                                      <m:t>2</m:t>
                                    </m:r>
                                  </m:sub>
                                </m:sSub>
                              </m:e>
                            </m:mr>
                          </m:m>
                        </m:e>
                      </m:d>
                      <m:r>
                        <a:rPr lang="en-NZ" altLang="ja-JP" sz="1600" i="1">
                          <a:solidFill>
                            <a:schemeClr val="tx1"/>
                          </a:solidFill>
                          <a:latin typeface="Cambria Math" panose="02040503050406030204" pitchFamily="18" charset="0"/>
                        </a:rPr>
                        <m:t> </m:t>
                      </m:r>
                      <m:r>
                        <a:rPr lang="en-NZ" altLang="ja-JP" sz="1600" i="1">
                          <a:solidFill>
                            <a:schemeClr val="tx1"/>
                          </a:solidFill>
                          <a:latin typeface="Cambria Math" panose="02040503050406030204" pitchFamily="18" charset="0"/>
                          <a:ea typeface="Cambria Math" panose="02040503050406030204" pitchFamily="18" charset="0"/>
                        </a:rPr>
                        <m:t>∙</m:t>
                      </m:r>
                      <m:r>
                        <a:rPr lang="en-NZ" altLang="ja-JP" sz="1600" b="0" i="1" smtClean="0">
                          <a:solidFill>
                            <a:schemeClr val="tx1"/>
                          </a:solidFill>
                          <a:latin typeface="Cambria Math" panose="02040503050406030204" pitchFamily="18" charset="0"/>
                          <a:ea typeface="Cambria Math" panose="02040503050406030204" pitchFamily="18" charset="0"/>
                        </a:rPr>
                        <m:t> … ∙</m:t>
                      </m:r>
                      <m:d>
                        <m:dPr>
                          <m:ctrlPr>
                            <a:rPr lang="en-NZ" altLang="ja-JP" sz="1600" i="1">
                              <a:solidFill>
                                <a:schemeClr val="tx1"/>
                              </a:solidFill>
                              <a:latin typeface="Cambria Math" panose="02040503050406030204" pitchFamily="18" charset="0"/>
                            </a:rPr>
                          </m:ctrlPr>
                        </m:dPr>
                        <m:e>
                          <m:m>
                            <m:mPr>
                              <m:mcs>
                                <m:mc>
                                  <m:mcPr>
                                    <m:count m:val="1"/>
                                    <m:mcJc m:val="center"/>
                                  </m:mcPr>
                                </m:mc>
                              </m:mcs>
                              <m:ctrlPr>
                                <a:rPr lang="en-NZ" altLang="ja-JP" sz="1600" i="1">
                                  <a:solidFill>
                                    <a:schemeClr val="tx1"/>
                                  </a:solidFill>
                                  <a:latin typeface="Cambria Math" panose="02040503050406030204" pitchFamily="18" charset="0"/>
                                </a:rPr>
                              </m:ctrlPr>
                            </m:mPr>
                            <m:mr>
                              <m:e>
                                <m:r>
                                  <m:rPr>
                                    <m:brk m:alnAt="7"/>
                                  </m:rPr>
                                  <a:rPr lang="en-NZ" altLang="ja-JP" sz="1600" i="1">
                                    <a:solidFill>
                                      <a:schemeClr val="tx1"/>
                                    </a:solidFill>
                                    <a:latin typeface="Cambria Math" panose="02040503050406030204" pitchFamily="18" charset="0"/>
                                  </a:rPr>
                                  <m:t>𝑛</m:t>
                                </m:r>
                                <m:r>
                                  <a:rPr lang="en-NZ" altLang="ja-JP" sz="1600" b="0" i="1" smtClean="0">
                                    <a:solidFill>
                                      <a:schemeClr val="tx1"/>
                                    </a:solidFill>
                                    <a:latin typeface="Cambria Math" panose="02040503050406030204" pitchFamily="18" charset="0"/>
                                  </a:rPr>
                                  <m:t> −</m:t>
                                </m:r>
                                <m:sSub>
                                  <m:sSubPr>
                                    <m:ctrlPr>
                                      <a:rPr lang="en-NZ" altLang="ja-JP" sz="1600" b="0" i="1" smtClean="0">
                                        <a:solidFill>
                                          <a:schemeClr val="tx1"/>
                                        </a:solidFill>
                                        <a:latin typeface="Cambria Math" panose="02040503050406030204" pitchFamily="18" charset="0"/>
                                      </a:rPr>
                                    </m:ctrlPr>
                                  </m:sSubPr>
                                  <m:e>
                                    <m:r>
                                      <m:rPr>
                                        <m:brk m:alnAt="7"/>
                                      </m:rPr>
                                      <a:rPr lang="en-NZ" altLang="ja-JP" sz="1600" b="0" i="1" smtClean="0">
                                        <a:solidFill>
                                          <a:schemeClr val="tx1"/>
                                        </a:solidFill>
                                        <a:latin typeface="Cambria Math" panose="02040503050406030204" pitchFamily="18" charset="0"/>
                                      </a:rPr>
                                      <m:t>𝑘</m:t>
                                    </m:r>
                                  </m:e>
                                  <m:sub>
                                    <m:r>
                                      <m:rPr>
                                        <m:brk m:alnAt="7"/>
                                      </m:rPr>
                                      <a:rPr lang="en-NZ" altLang="ja-JP" sz="1600" b="0" i="1" smtClean="0">
                                        <a:solidFill>
                                          <a:schemeClr val="tx1"/>
                                        </a:solidFill>
                                        <a:latin typeface="Cambria Math" panose="02040503050406030204" pitchFamily="18" charset="0"/>
                                      </a:rPr>
                                      <m:t>1</m:t>
                                    </m:r>
                                  </m:sub>
                                </m:sSub>
                                <m:r>
                                  <m:rPr>
                                    <m:brk m:alnAt="7"/>
                                  </m:rPr>
                                  <a:rPr lang="en-NZ" altLang="ja-JP" sz="1600" b="0" i="1" smtClean="0">
                                    <a:solidFill>
                                      <a:schemeClr val="tx1"/>
                                    </a:solidFill>
                                    <a:latin typeface="Cambria Math" panose="02040503050406030204" pitchFamily="18" charset="0"/>
                                  </a:rPr>
                                  <m:t> </m:t>
                                </m:r>
                                <m:r>
                                  <a:rPr lang="en-NZ" altLang="ja-JP" sz="1600" b="0" i="1" smtClean="0">
                                    <a:solidFill>
                                      <a:schemeClr val="tx1"/>
                                    </a:solidFill>
                                    <a:latin typeface="Cambria Math" panose="02040503050406030204" pitchFamily="18" charset="0"/>
                                  </a:rPr>
                                  <m:t>−</m:t>
                                </m:r>
                                <m:sSub>
                                  <m:sSubPr>
                                    <m:ctrlPr>
                                      <a:rPr lang="en-NZ" altLang="ja-JP" sz="1600" b="0" i="1" smtClean="0">
                                        <a:solidFill>
                                          <a:schemeClr val="tx1"/>
                                        </a:solidFill>
                                        <a:latin typeface="Cambria Math" panose="02040503050406030204" pitchFamily="18" charset="0"/>
                                      </a:rPr>
                                    </m:ctrlPr>
                                  </m:sSubPr>
                                  <m:e>
                                    <m:r>
                                      <m:rPr>
                                        <m:brk m:alnAt="7"/>
                                      </m:rPr>
                                      <a:rPr lang="en-NZ" altLang="ja-JP" sz="1600" b="0" i="1" smtClean="0">
                                        <a:solidFill>
                                          <a:schemeClr val="tx1"/>
                                        </a:solidFill>
                                        <a:latin typeface="Cambria Math" panose="02040503050406030204" pitchFamily="18" charset="0"/>
                                      </a:rPr>
                                      <m:t>𝑘</m:t>
                                    </m:r>
                                  </m:e>
                                  <m:sub>
                                    <m:r>
                                      <m:rPr>
                                        <m:brk m:alnAt="7"/>
                                      </m:rPr>
                                      <a:rPr lang="en-NZ" altLang="ja-JP" sz="1600" b="0" i="1" smtClean="0">
                                        <a:solidFill>
                                          <a:schemeClr val="tx1"/>
                                        </a:solidFill>
                                        <a:latin typeface="Cambria Math" panose="02040503050406030204" pitchFamily="18" charset="0"/>
                                      </a:rPr>
                                      <m:t>2</m:t>
                                    </m:r>
                                  </m:sub>
                                </m:sSub>
                                <m:r>
                                  <m:rPr>
                                    <m:brk m:alnAt="7"/>
                                  </m:rPr>
                                  <a:rPr lang="en-NZ" altLang="ja-JP" sz="1600" b="0" i="1" smtClean="0">
                                    <a:solidFill>
                                      <a:schemeClr val="tx1"/>
                                    </a:solidFill>
                                    <a:latin typeface="Cambria Math" panose="02040503050406030204" pitchFamily="18" charset="0"/>
                                  </a:rPr>
                                  <m:t> </m:t>
                                </m:r>
                                <m:r>
                                  <a:rPr lang="en-NZ" altLang="ja-JP" sz="1600" b="0" i="1" smtClean="0">
                                    <a:solidFill>
                                      <a:schemeClr val="tx1"/>
                                    </a:solidFill>
                                    <a:latin typeface="Cambria Math" panose="02040503050406030204" pitchFamily="18" charset="0"/>
                                  </a:rPr>
                                  <m:t>…−</m:t>
                                </m:r>
                                <m:sSub>
                                  <m:sSubPr>
                                    <m:ctrlPr>
                                      <a:rPr lang="en-NZ" altLang="ja-JP" sz="1600" b="0" i="1" smtClean="0">
                                        <a:solidFill>
                                          <a:schemeClr val="tx1"/>
                                        </a:solidFill>
                                        <a:latin typeface="Cambria Math" panose="02040503050406030204" pitchFamily="18" charset="0"/>
                                      </a:rPr>
                                    </m:ctrlPr>
                                  </m:sSubPr>
                                  <m:e>
                                    <m:r>
                                      <m:rPr>
                                        <m:brk m:alnAt="7"/>
                                      </m:rPr>
                                      <a:rPr lang="en-NZ" altLang="ja-JP" sz="1600" b="0" i="1" smtClean="0">
                                        <a:solidFill>
                                          <a:schemeClr val="tx1"/>
                                        </a:solidFill>
                                        <a:latin typeface="Cambria Math" panose="02040503050406030204" pitchFamily="18" charset="0"/>
                                      </a:rPr>
                                      <m:t>𝑘</m:t>
                                    </m:r>
                                  </m:e>
                                  <m:sub>
                                    <m:r>
                                      <m:rPr>
                                        <m:brk m:alnAt="7"/>
                                      </m:rPr>
                                      <a:rPr lang="en-NZ" altLang="ja-JP" sz="1600" b="0" i="1" smtClean="0">
                                        <a:solidFill>
                                          <a:schemeClr val="tx1"/>
                                        </a:solidFill>
                                        <a:latin typeface="Cambria Math" panose="02040503050406030204" pitchFamily="18" charset="0"/>
                                      </a:rPr>
                                      <m:t>𝑘</m:t>
                                    </m:r>
                                    <m:r>
                                      <a:rPr lang="en-NZ" altLang="ja-JP" sz="1600" b="0" i="1" smtClean="0">
                                        <a:solidFill>
                                          <a:schemeClr val="tx1"/>
                                        </a:solidFill>
                                        <a:latin typeface="Cambria Math" panose="02040503050406030204" pitchFamily="18" charset="0"/>
                                      </a:rPr>
                                      <m:t>−1</m:t>
                                    </m:r>
                                  </m:sub>
                                </m:sSub>
                              </m:e>
                            </m:mr>
                            <m:mr>
                              <m:e>
                                <m:r>
                                  <a:rPr lang="en-NZ" altLang="ja-JP" sz="1600" i="1">
                                    <a:solidFill>
                                      <a:schemeClr val="tx1"/>
                                    </a:solidFill>
                                    <a:latin typeface="Cambria Math" panose="02040503050406030204" pitchFamily="18" charset="0"/>
                                  </a:rPr>
                                  <m:t>𝐶</m:t>
                                </m:r>
                              </m:e>
                            </m:mr>
                            <m:m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𝑘</m:t>
                                    </m:r>
                                  </m:e>
                                  <m:sub>
                                    <m:r>
                                      <a:rPr lang="en-NZ" altLang="ja-JP" sz="1600" b="0" i="1" smtClean="0">
                                        <a:solidFill>
                                          <a:schemeClr val="tx1"/>
                                        </a:solidFill>
                                        <a:latin typeface="Cambria Math" panose="02040503050406030204" pitchFamily="18" charset="0"/>
                                      </a:rPr>
                                      <m:t>𝑘</m:t>
                                    </m:r>
                                  </m:sub>
                                </m:sSub>
                              </m:e>
                            </m:mr>
                          </m:m>
                        </m:e>
                      </m:d>
                      <m:r>
                        <a:rPr lang="en-NZ" altLang="ja-JP" sz="1600" i="1">
                          <a:solidFill>
                            <a:schemeClr val="tx1"/>
                          </a:solidFill>
                          <a:latin typeface="Cambria Math" panose="02040503050406030204" pitchFamily="18" charset="0"/>
                        </a:rPr>
                        <m:t> </m:t>
                      </m:r>
                    </m:oMath>
                  </m:oMathPara>
                </a14:m>
                <a:endParaRPr lang="en-US" altLang="ja-JP" sz="1600" dirty="0">
                  <a:solidFill>
                    <a:schemeClr val="tx1"/>
                  </a:solidFill>
                </a:endParaRPr>
              </a:p>
              <a:p>
                <a:pPr algn="just">
                  <a:lnSpc>
                    <a:spcPct val="100000"/>
                  </a:lnSpc>
                </a:pPr>
                <a:endParaRPr lang="en-US" altLang="ja-JP" sz="200" dirty="0">
                  <a:solidFill>
                    <a:schemeClr val="tx1"/>
                  </a:solidFill>
                </a:endParaRPr>
              </a:p>
              <a:p>
                <a:pPr algn="just">
                  <a:lnSpc>
                    <a:spcPct val="100000"/>
                  </a:lnSpc>
                </a:pPr>
                <a:endParaRPr lang="en-US" altLang="ja-JP" sz="200" dirty="0">
                  <a:solidFill>
                    <a:schemeClr val="tx1"/>
                  </a:solidFill>
                </a:endParaRPr>
              </a:p>
              <a:p>
                <a:pPr algn="just">
                  <a:lnSpc>
                    <a:spcPct val="100000"/>
                  </a:lnSpc>
                </a:pPr>
                <a:endParaRPr lang="en-US" altLang="ja-JP" sz="200" dirty="0">
                  <a:solidFill>
                    <a:schemeClr val="tx1"/>
                  </a:solidFill>
                </a:endParaRPr>
              </a:p>
              <a:p>
                <a:pPr algn="just">
                  <a:lnSpc>
                    <a:spcPct val="100000"/>
                  </a:lnSpc>
                </a:pPr>
                <a:r>
                  <a:rPr lang="en-US" altLang="ja-JP" sz="1600" dirty="0">
                    <a:solidFill>
                      <a:schemeClr val="tx1"/>
                    </a:solidFill>
                  </a:rPr>
                  <a:t>Note that the possible number of reordered samples tends to infinity quickly as </a:t>
                </a:r>
                <a:r>
                  <a:rPr lang="en-US" altLang="ja-JP" sz="1600" b="1" i="1" dirty="0">
                    <a:solidFill>
                      <a:schemeClr val="tx1"/>
                    </a:solidFill>
                  </a:rPr>
                  <a:t>n</a:t>
                </a:r>
                <a:r>
                  <a:rPr lang="en-US" altLang="ja-JP" sz="1600" dirty="0">
                    <a:solidFill>
                      <a:schemeClr val="tx1"/>
                    </a:solidFill>
                  </a:rPr>
                  <a:t> becomes large.</a:t>
                </a:r>
              </a:p>
            </p:txBody>
          </p:sp>
        </mc:Choice>
        <mc:Fallback xmlns="">
          <p:sp>
            <p:nvSpPr>
              <p:cNvPr id="16" name="Text Placeholder 5">
                <a:extLst>
                  <a:ext uri="{FF2B5EF4-FFF2-40B4-BE49-F238E27FC236}">
                    <a16:creationId xmlns:a16="http://schemas.microsoft.com/office/drawing/2014/main" id="{C03B7155-9FF0-40ED-BFD5-57CE8CDB407C}"/>
                  </a:ext>
                </a:extLst>
              </p:cNvPr>
              <p:cNvSpPr txBox="1">
                <a:spLocks noRot="1" noChangeAspect="1" noMove="1" noResize="1" noEditPoints="1" noAdjustHandles="1" noChangeArrowheads="1" noChangeShapeType="1" noTextEdit="1"/>
              </p:cNvSpPr>
              <p:nvPr/>
            </p:nvSpPr>
            <p:spPr>
              <a:xfrm>
                <a:off x="1214651" y="1613766"/>
                <a:ext cx="10657886" cy="2289494"/>
              </a:xfrm>
              <a:prstGeom prst="rect">
                <a:avLst/>
              </a:prstGeom>
              <a:blipFill>
                <a:blip r:embed="rId3"/>
                <a:stretch>
                  <a:fillRect l="-286" t="-800" r="-286" b="-533"/>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EB52A280-959C-40F4-BD40-BEDF03795613}"/>
              </a:ext>
            </a:extLst>
          </p:cNvPr>
          <p:cNvSpPr txBox="1">
            <a:spLocks/>
          </p:cNvSpPr>
          <p:nvPr/>
        </p:nvSpPr>
        <p:spPr>
          <a:xfrm>
            <a:off x="1214651" y="4231040"/>
            <a:ext cx="10657886" cy="1035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i="1" dirty="0">
                <a:solidFill>
                  <a:srgbClr val="C00000"/>
                </a:solidFill>
              </a:rPr>
              <a:t>Method II – Random Permutations</a:t>
            </a:r>
          </a:p>
          <a:p>
            <a:pPr algn="just">
              <a:lnSpc>
                <a:spcPct val="100000"/>
              </a:lnSpc>
            </a:pPr>
            <a:r>
              <a:rPr lang="en-US" altLang="ja-JP" sz="1600" dirty="0">
                <a:solidFill>
                  <a:schemeClr val="tx1"/>
                </a:solidFill>
              </a:rPr>
              <a:t>Since it is often not computationally practical to create all possible reordered samples, we simply create a large number </a:t>
            </a:r>
            <a:br>
              <a:rPr lang="en-US" altLang="ja-JP" sz="1600" dirty="0">
                <a:solidFill>
                  <a:schemeClr val="tx1"/>
                </a:solidFill>
              </a:rPr>
            </a:br>
            <a:r>
              <a:rPr lang="en-US" altLang="ja-JP" sz="1600" b="1" i="1" dirty="0">
                <a:solidFill>
                  <a:schemeClr val="tx1"/>
                </a:solidFill>
              </a:rPr>
              <a:t>i = 1, … , L </a:t>
            </a:r>
            <a:r>
              <a:rPr lang="en-US" altLang="ja-JP" sz="1600" dirty="0">
                <a:solidFill>
                  <a:schemeClr val="tx1"/>
                </a:solidFill>
              </a:rPr>
              <a:t>(≈1,000) reordered samples</a:t>
            </a:r>
          </a:p>
        </p:txBody>
      </p:sp>
    </p:spTree>
    <p:extLst>
      <p:ext uri="{BB962C8B-B14F-4D97-AF65-F5344CB8AC3E}">
        <p14:creationId xmlns:p14="http://schemas.microsoft.com/office/powerpoint/2010/main" val="47163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14</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6.3a – The Basic Idea of Permutation Tests:</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6.3a – Basic Idea</a:t>
            </a:r>
            <a:endParaRPr kumimoji="1" lang="ja-JP" altLang="en-US" sz="1600" dirty="0">
              <a:solidFill>
                <a:srgbClr val="DEDDDD"/>
              </a:solidFill>
              <a:latin typeface="Gidole"/>
            </a:endParaRPr>
          </a:p>
        </p:txBody>
      </p:sp>
      <p:sp>
        <p:nvSpPr>
          <p:cNvPr id="9" name="Text Placeholder 5">
            <a:extLst>
              <a:ext uri="{FF2B5EF4-FFF2-40B4-BE49-F238E27FC236}">
                <a16:creationId xmlns:a16="http://schemas.microsoft.com/office/drawing/2014/main" id="{70533F96-01DD-40E6-ADC8-CB953290681D}"/>
              </a:ext>
            </a:extLst>
          </p:cNvPr>
          <p:cNvSpPr txBox="1">
            <a:spLocks/>
          </p:cNvSpPr>
          <p:nvPr/>
        </p:nvSpPr>
        <p:spPr>
          <a:xfrm>
            <a:off x="319463" y="1091238"/>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5:</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85324476-BB38-4AC7-B0F2-4F0284DA7502}"/>
                  </a:ext>
                </a:extLst>
              </p:cNvPr>
              <p:cNvSpPr txBox="1">
                <a:spLocks/>
              </p:cNvSpPr>
              <p:nvPr/>
            </p:nvSpPr>
            <p:spPr>
              <a:xfrm>
                <a:off x="1214650" y="1091237"/>
                <a:ext cx="1097734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For each reordered sample from </a:t>
                </a:r>
                <a:r>
                  <a:rPr lang="en-US" altLang="ja-JP" sz="1800" b="1" i="1" dirty="0" err="1">
                    <a:solidFill>
                      <a:schemeClr val="tx1"/>
                    </a:solidFill>
                  </a:rPr>
                  <a:t>i</a:t>
                </a:r>
                <a:r>
                  <a:rPr lang="en-US" altLang="ja-JP" sz="1800" b="1" i="1" dirty="0">
                    <a:solidFill>
                      <a:schemeClr val="tx1"/>
                    </a:solidFill>
                  </a:rPr>
                  <a:t> = 1, … , L </a:t>
                </a:r>
                <a:r>
                  <a:rPr lang="en-US" altLang="ja-JP" sz="1800" dirty="0">
                    <a:solidFill>
                      <a:schemeClr val="tx1"/>
                    </a:solidFill>
                  </a:rPr>
                  <a:t>we calculate the value of the test statistic </a:t>
                </a:r>
                <a:r>
                  <a:rPr lang="en-US" altLang="ja-JP" sz="1800" b="1" i="1" dirty="0">
                    <a:solidFill>
                      <a:schemeClr val="tx1"/>
                    </a:solidFill>
                  </a:rPr>
                  <a:t>F</a:t>
                </a:r>
                <a:r>
                  <a:rPr lang="en-US" altLang="ja-JP" sz="1800" b="1" i="1" baseline="-25000" dirty="0">
                    <a:solidFill>
                      <a:schemeClr val="tx1"/>
                    </a:solidFill>
                  </a:rPr>
                  <a:t>i </a:t>
                </a:r>
                <a:r>
                  <a:rPr lang="en-US" altLang="ja-JP" sz="1800" dirty="0">
                    <a:solidFill>
                      <a:schemeClr val="tx1"/>
                    </a:solidFill>
                  </a:rPr>
                  <a:t>. </a:t>
                </a:r>
              </a:p>
              <a:p>
                <a:pPr algn="just">
                  <a:lnSpc>
                    <a:spcPct val="100000"/>
                  </a:lnSpc>
                </a:pPr>
                <a:r>
                  <a:rPr lang="en-US" altLang="ja-JP" sz="1800" dirty="0">
                    <a:solidFill>
                      <a:schemeClr val="tx1"/>
                    </a:solidFill>
                  </a:rPr>
                  <a:t>The empirical distribution of the </a:t>
                </a:r>
                <a14:m>
                  <m:oMath xmlns:m="http://schemas.openxmlformats.org/officeDocument/2006/math">
                    <m:sSubSup>
                      <m:sSubSupPr>
                        <m:ctrlPr>
                          <a:rPr lang="en-NZ" altLang="ja-JP" sz="1800" b="1" i="1" smtClean="0">
                            <a:solidFill>
                              <a:schemeClr val="tx1"/>
                            </a:solidFill>
                            <a:latin typeface="Cambria Math" panose="02040503050406030204" pitchFamily="18" charset="0"/>
                          </a:rPr>
                        </m:ctrlPr>
                      </m:sSubSupPr>
                      <m:e>
                        <m:d>
                          <m:dPr>
                            <m:begChr m:val="{"/>
                            <m:endChr m:val="}"/>
                            <m:ctrlPr>
                              <a:rPr lang="en-US" altLang="ja-JP" sz="1800" b="1" i="1" smtClean="0">
                                <a:solidFill>
                                  <a:schemeClr val="tx1"/>
                                </a:solidFill>
                                <a:latin typeface="Cambria Math" panose="02040503050406030204" pitchFamily="18" charset="0"/>
                              </a:rPr>
                            </m:ctrlPr>
                          </m:d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𝑭</m:t>
                                </m:r>
                              </m:e>
                              <m:sub>
                                <m:r>
                                  <a:rPr lang="en-NZ" altLang="ja-JP" sz="1800" b="1" i="1" smtClean="0">
                                    <a:solidFill>
                                      <a:schemeClr val="tx1"/>
                                    </a:solidFill>
                                    <a:latin typeface="Cambria Math" panose="02040503050406030204" pitchFamily="18" charset="0"/>
                                  </a:rPr>
                                  <m:t>𝒊</m:t>
                                </m:r>
                              </m:sub>
                            </m:sSub>
                          </m:e>
                        </m:d>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𝑳</m:t>
                        </m:r>
                      </m:sup>
                    </m:sSubSup>
                  </m:oMath>
                </a14:m>
                <a:r>
                  <a:rPr lang="en-US" altLang="ja-JP" sz="1800" i="1" dirty="0">
                    <a:solidFill>
                      <a:schemeClr val="tx1"/>
                    </a:solidFill>
                  </a:rPr>
                  <a:t> </a:t>
                </a:r>
                <a:r>
                  <a:rPr lang="en-US" altLang="ja-JP" sz="1800" dirty="0">
                    <a:solidFill>
                      <a:schemeClr val="tx1"/>
                    </a:solidFill>
                  </a:rPr>
                  <a:t>approximates the distribution of the test statistic that can occur under </a:t>
                </a:r>
                <a:r>
                  <a:rPr lang="en-US" altLang="ja-JP" sz="1800" b="1" i="1" dirty="0">
                    <a:solidFill>
                      <a:schemeClr val="tx1"/>
                    </a:solidFill>
                  </a:rPr>
                  <a:t>H</a:t>
                </a:r>
                <a:r>
                  <a:rPr lang="en-US" altLang="ja-JP" sz="1800" b="1" i="1" baseline="-25000" dirty="0">
                    <a:solidFill>
                      <a:schemeClr val="tx1"/>
                    </a:solidFill>
                  </a:rPr>
                  <a:t>0</a:t>
                </a:r>
                <a:endParaRPr lang="en-US" altLang="ja-JP" sz="1800" dirty="0">
                  <a:solidFill>
                    <a:schemeClr val="tx1"/>
                  </a:solidFill>
                </a:endParaRPr>
              </a:p>
            </p:txBody>
          </p:sp>
        </mc:Choice>
        <mc:Fallback xmlns="">
          <p:sp>
            <p:nvSpPr>
              <p:cNvPr id="10" name="Text Placeholder 5">
                <a:extLst>
                  <a:ext uri="{FF2B5EF4-FFF2-40B4-BE49-F238E27FC236}">
                    <a16:creationId xmlns:a16="http://schemas.microsoft.com/office/drawing/2014/main" id="{85324476-BB38-4AC7-B0F2-4F0284DA7502}"/>
                  </a:ext>
                </a:extLst>
              </p:cNvPr>
              <p:cNvSpPr txBox="1">
                <a:spLocks noRot="1" noChangeAspect="1" noMove="1" noResize="1" noEditPoints="1" noAdjustHandles="1" noChangeArrowheads="1" noChangeShapeType="1" noTextEdit="1"/>
              </p:cNvSpPr>
              <p:nvPr/>
            </p:nvSpPr>
            <p:spPr>
              <a:xfrm>
                <a:off x="1214650" y="1091237"/>
                <a:ext cx="10977349" cy="675343"/>
              </a:xfrm>
              <a:prstGeom prst="rect">
                <a:avLst/>
              </a:prstGeom>
              <a:blipFill>
                <a:blip r:embed="rId3"/>
                <a:stretch>
                  <a:fillRect l="-444" t="-4505" b="-11712"/>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5954DC3D-7B68-4760-929F-A2D9130E5B6A}"/>
              </a:ext>
            </a:extLst>
          </p:cNvPr>
          <p:cNvSpPr txBox="1">
            <a:spLocks/>
          </p:cNvSpPr>
          <p:nvPr/>
        </p:nvSpPr>
        <p:spPr>
          <a:xfrm>
            <a:off x="319463" y="2086557"/>
            <a:ext cx="89518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b="1" dirty="0">
                <a:solidFill>
                  <a:schemeClr val="tx1"/>
                </a:solidFill>
              </a:rPr>
              <a:t>Step 6:</a:t>
            </a:r>
            <a:endParaRPr lang="en-US" altLang="ja-JP" sz="1800" b="1" i="1" dirty="0">
              <a:solidFill>
                <a:schemeClr val="tx1"/>
              </a:solidFill>
            </a:endParaRPr>
          </a:p>
        </p:txBody>
      </p:sp>
      <p:sp>
        <p:nvSpPr>
          <p:cNvPr id="12" name="Text Placeholder 5">
            <a:extLst>
              <a:ext uri="{FF2B5EF4-FFF2-40B4-BE49-F238E27FC236}">
                <a16:creationId xmlns:a16="http://schemas.microsoft.com/office/drawing/2014/main" id="{0988556F-A473-4D2F-928D-B1279C900B6C}"/>
              </a:ext>
            </a:extLst>
          </p:cNvPr>
          <p:cNvSpPr txBox="1">
            <a:spLocks/>
          </p:cNvSpPr>
          <p:nvPr/>
        </p:nvSpPr>
        <p:spPr>
          <a:xfrm>
            <a:off x="1214651" y="2086556"/>
            <a:ext cx="1065788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Finally, we rank the test statistics from lowest to highest and see where </a:t>
            </a:r>
            <a:r>
              <a:rPr lang="en-NZ" altLang="ja-JP" sz="1800" b="1" i="1" dirty="0">
                <a:solidFill>
                  <a:schemeClr val="tx1"/>
                </a:solidFill>
              </a:rPr>
              <a:t>F</a:t>
            </a:r>
            <a:r>
              <a:rPr lang="en-NZ" altLang="ja-JP" sz="1800" b="1" i="1" baseline="-25000" dirty="0">
                <a:solidFill>
                  <a:schemeClr val="tx1"/>
                </a:solidFill>
              </a:rPr>
              <a:t>obs</a:t>
            </a:r>
            <a:r>
              <a:rPr lang="en-NZ" altLang="ja-JP" sz="1800" dirty="0">
                <a:solidFill>
                  <a:schemeClr val="tx1"/>
                </a:solidFill>
              </a:rPr>
              <a:t> lies within this distribution.</a:t>
            </a: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C86A4BA8-88F2-4DA0-B6FE-BACDB7EC05DF}"/>
                  </a:ext>
                </a:extLst>
              </p:cNvPr>
              <p:cNvSpPr txBox="1">
                <a:spLocks/>
              </p:cNvSpPr>
              <p:nvPr/>
            </p:nvSpPr>
            <p:spPr>
              <a:xfrm>
                <a:off x="1214651" y="2613553"/>
                <a:ext cx="10657886" cy="27783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If the alternative hypothesis is true and there really is a difference in the value of the property between groups, then </a:t>
                </a:r>
                <a:r>
                  <a:rPr lang="en-NZ" altLang="ja-JP" sz="1800" b="1" i="1" dirty="0">
                    <a:solidFill>
                      <a:srgbClr val="0070C0"/>
                    </a:solidFill>
                  </a:rPr>
                  <a:t>F</a:t>
                </a:r>
                <a:r>
                  <a:rPr lang="en-NZ" altLang="ja-JP" sz="1800" b="1" i="1" baseline="-25000" dirty="0">
                    <a:solidFill>
                      <a:srgbClr val="0070C0"/>
                    </a:solidFill>
                  </a:rPr>
                  <a:t>obs</a:t>
                </a:r>
                <a:r>
                  <a:rPr lang="en-NZ" altLang="ja-JP" sz="1800" dirty="0">
                    <a:solidFill>
                      <a:srgbClr val="0070C0"/>
                    </a:solidFill>
                  </a:rPr>
                  <a:t> is likely to be be extremal, </a:t>
                </a:r>
              </a:p>
              <a:p>
                <a:pPr algn="just">
                  <a:lnSpc>
                    <a:spcPct val="100000"/>
                  </a:lnSpc>
                </a:pPr>
                <a:r>
                  <a:rPr lang="en-NZ" altLang="ja-JP" sz="1800" dirty="0">
                    <a:solidFill>
                      <a:srgbClr val="0070C0"/>
                    </a:solidFill>
                  </a:rPr>
                  <a:t>i.e. in most cases </a:t>
                </a:r>
                <a14:m>
                  <m:oMath xmlns:m="http://schemas.openxmlformats.org/officeDocument/2006/math">
                    <m:d>
                      <m:dPr>
                        <m:begChr m:val="|"/>
                        <m:endChr m:val="|"/>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𝑭</m:t>
                            </m:r>
                          </m:e>
                          <m:sub>
                            <m:r>
                              <a:rPr lang="en-NZ" altLang="ja-JP" sz="1800" b="1" i="1" smtClean="0">
                                <a:solidFill>
                                  <a:srgbClr val="0070C0"/>
                                </a:solidFill>
                                <a:latin typeface="Cambria Math" panose="02040503050406030204" pitchFamily="18" charset="0"/>
                              </a:rPr>
                              <m:t>𝒐𝒃𝒔</m:t>
                            </m:r>
                          </m:sub>
                        </m:sSub>
                        <m:r>
                          <a:rPr lang="en-NZ" altLang="ja-JP" sz="1800" b="1" i="1" smtClean="0">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𝑭</m:t>
                        </m:r>
                      </m:e>
                      <m:sub>
                        <m:r>
                          <a:rPr lang="en-NZ" altLang="ja-JP" sz="1800" b="1" i="1" smtClean="0">
                            <a:solidFill>
                              <a:srgbClr val="0070C0"/>
                            </a:solidFill>
                            <a:latin typeface="Cambria Math" panose="02040503050406030204" pitchFamily="18" charset="0"/>
                          </a:rPr>
                          <m:t>𝒊</m:t>
                        </m:r>
                      </m:sub>
                    </m:sSub>
                    <m:r>
                      <a:rPr lang="en-NZ" altLang="ja-JP" sz="1800" b="1" i="1" smtClean="0">
                        <a:solidFill>
                          <a:srgbClr val="0070C0"/>
                        </a:solidFill>
                        <a:latin typeface="Cambria Math" panose="02040503050406030204" pitchFamily="18" charset="0"/>
                      </a:rPr>
                      <m:t> |</m:t>
                    </m:r>
                  </m:oMath>
                </a14:m>
                <a:r>
                  <a:rPr lang="en-NZ" altLang="ja-JP" sz="1800" b="1" dirty="0">
                    <a:solidFill>
                      <a:srgbClr val="0070C0"/>
                    </a:solidFill>
                  </a:rPr>
                  <a:t> </a:t>
                </a:r>
                <a:r>
                  <a:rPr lang="en-NZ" altLang="ja-JP" sz="1800" dirty="0">
                    <a:solidFill>
                      <a:srgbClr val="0070C0"/>
                    </a:solidFill>
                  </a:rPr>
                  <a:t>where </a:t>
                </a:r>
                <a:r>
                  <a:rPr lang="en-NZ" altLang="ja-JP" sz="1800" b="1" i="1" dirty="0">
                    <a:solidFill>
                      <a:srgbClr val="0070C0"/>
                    </a:solidFill>
                  </a:rPr>
                  <a:t>F</a:t>
                </a:r>
                <a:r>
                  <a:rPr lang="en-NZ" altLang="ja-JP" sz="1800" b="1" i="1" baseline="-25000" dirty="0">
                    <a:solidFill>
                      <a:srgbClr val="0070C0"/>
                    </a:solidFill>
                  </a:rPr>
                  <a:t>i</a:t>
                </a:r>
                <a:r>
                  <a:rPr lang="en-NZ" altLang="ja-JP" sz="1800" dirty="0">
                    <a:solidFill>
                      <a:srgbClr val="0070C0"/>
                    </a:solidFill>
                  </a:rPr>
                  <a:t> is a test statistic constructed from a reordered sample.</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If </a:t>
                </a:r>
                <a:r>
                  <a:rPr lang="en-NZ" altLang="ja-JP" sz="1800" b="1" i="1" dirty="0">
                    <a:solidFill>
                      <a:schemeClr val="tx1"/>
                    </a:solidFill>
                  </a:rPr>
                  <a:t>F</a:t>
                </a:r>
                <a:r>
                  <a:rPr lang="en-NZ" altLang="ja-JP" sz="1800" b="1" i="1" baseline="-25000" dirty="0">
                    <a:solidFill>
                      <a:schemeClr val="tx1"/>
                    </a:solidFill>
                  </a:rPr>
                  <a:t>obs</a:t>
                </a:r>
                <a:r>
                  <a:rPr lang="en-NZ" altLang="ja-JP" sz="1800" dirty="0">
                    <a:solidFill>
                      <a:schemeClr val="tx1"/>
                    </a:solidFill>
                  </a:rPr>
                  <a:t> lies in the most extremal </a:t>
                </a:r>
                <a:r>
                  <a:rPr lang="el-GR" altLang="ja-JP" sz="1800" b="1" dirty="0">
                    <a:solidFill>
                      <a:schemeClr val="tx1"/>
                    </a:solidFill>
                  </a:rPr>
                  <a:t>α</a:t>
                </a:r>
                <a:r>
                  <a:rPr lang="en-NZ" altLang="ja-JP" sz="1800" b="1" dirty="0">
                    <a:solidFill>
                      <a:schemeClr val="tx1"/>
                    </a:solidFill>
                  </a:rPr>
                  <a:t>% </a:t>
                </a:r>
                <a:r>
                  <a:rPr lang="en-NZ" altLang="ja-JP" sz="1800" dirty="0">
                    <a:solidFill>
                      <a:schemeClr val="tx1"/>
                    </a:solidFill>
                  </a:rPr>
                  <a:t>of values, then we would reject the null hypothesis at the </a:t>
                </a:r>
                <a:r>
                  <a:rPr lang="el-GR" altLang="ja-JP" sz="1800" dirty="0">
                    <a:solidFill>
                      <a:schemeClr val="tx1"/>
                    </a:solidFill>
                  </a:rPr>
                  <a:t>α</a:t>
                </a:r>
                <a:r>
                  <a:rPr lang="en-NZ" altLang="ja-JP" sz="1800" dirty="0">
                    <a:solidFill>
                      <a:schemeClr val="tx1"/>
                    </a:solidFill>
                  </a:rPr>
                  <a:t>%  level. </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The associated p-value provides a measure of evidence against the null hypothesis.</a:t>
                </a:r>
              </a:p>
              <a:p>
                <a:pPr algn="just">
                  <a:lnSpc>
                    <a:spcPct val="100000"/>
                  </a:lnSpc>
                </a:pPr>
                <a:endParaRPr lang="en-NZ" altLang="ja-JP" sz="8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800" b="0" i="1" smtClean="0">
                          <a:solidFill>
                            <a:srgbClr val="C00000"/>
                          </a:solidFill>
                          <a:latin typeface="Cambria Math" panose="02040503050406030204" pitchFamily="18" charset="0"/>
                        </a:rPr>
                        <m:t>𝑃</m:t>
                      </m:r>
                      <m:d>
                        <m:dPr>
                          <m:endChr m:val="|"/>
                          <m:ctrlPr>
                            <a:rPr lang="en-NZ" altLang="ja-JP" sz="1800" i="1" smtClean="0">
                              <a:solidFill>
                                <a:srgbClr val="C00000"/>
                              </a:solidFill>
                              <a:latin typeface="Cambria Math" panose="02040503050406030204" pitchFamily="18" charset="0"/>
                            </a:rPr>
                          </m:ctrlPr>
                        </m:dPr>
                        <m:e>
                          <m:r>
                            <a:rPr lang="en-NZ" altLang="ja-JP" sz="1800" b="0" i="1" smtClean="0">
                              <a:solidFill>
                                <a:srgbClr val="C00000"/>
                              </a:solidFill>
                              <a:latin typeface="Cambria Math" panose="02040503050406030204" pitchFamily="18" charset="0"/>
                            </a:rPr>
                            <m:t>𝑂𝑏𝑡𝑎𝑖𝑛𝑖𝑛𝑔</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𝑡𝑒𝑠𝑡</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𝑠𝑡𝑎𝑡𝑖𝑠𝑡𝑖𝑐</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𝑎𝑡</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𝑙𝑒𝑎𝑠𝑡</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𝑎𝑠</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𝑒𝑥𝑡𝑟𝑒𝑚𝑒</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𝑎𝑠</m:t>
                          </m:r>
                          <m:r>
                            <a:rPr lang="en-NZ" altLang="ja-JP" sz="1800" b="0" i="1" smtClean="0">
                              <a:solidFill>
                                <a:srgbClr val="C00000"/>
                              </a:solidFill>
                              <a:latin typeface="Cambria Math" panose="02040503050406030204" pitchFamily="18" charset="0"/>
                            </a:rPr>
                            <m:t> </m:t>
                          </m:r>
                          <m:sSub>
                            <m:sSubPr>
                              <m:ctrlPr>
                                <a:rPr lang="en-NZ" altLang="ja-JP" sz="1800" i="1">
                                  <a:solidFill>
                                    <a:srgbClr val="C00000"/>
                                  </a:solidFill>
                                  <a:latin typeface="Cambria Math" panose="02040503050406030204" pitchFamily="18" charset="0"/>
                                </a:rPr>
                              </m:ctrlPr>
                            </m:sSubPr>
                            <m:e>
                              <m:r>
                                <a:rPr lang="en-NZ" altLang="ja-JP" sz="1800" b="0" i="1">
                                  <a:solidFill>
                                    <a:srgbClr val="C00000"/>
                                  </a:solidFill>
                                  <a:latin typeface="Cambria Math" panose="02040503050406030204" pitchFamily="18" charset="0"/>
                                </a:rPr>
                                <m:t>𝐹</m:t>
                              </m:r>
                            </m:e>
                            <m:sub>
                              <m:r>
                                <a:rPr lang="en-NZ" altLang="ja-JP" sz="1800" b="0" i="1">
                                  <a:solidFill>
                                    <a:srgbClr val="C00000"/>
                                  </a:solidFill>
                                  <a:latin typeface="Cambria Math" panose="02040503050406030204" pitchFamily="18" charset="0"/>
                                </a:rPr>
                                <m:t>𝑜𝑏𝑠</m:t>
                              </m:r>
                            </m:sub>
                          </m:sSub>
                          <m:r>
                            <a:rPr lang="en-NZ" altLang="ja-JP" sz="1800" b="0" i="1" smtClean="0">
                              <a:solidFill>
                                <a:srgbClr val="C00000"/>
                              </a:solidFill>
                              <a:latin typeface="Cambria Math" panose="02040503050406030204" pitchFamily="18" charset="0"/>
                            </a:rPr>
                            <m:t>  </m:t>
                          </m:r>
                        </m:e>
                      </m:d>
                      <m:sSub>
                        <m:sSubPr>
                          <m:ctrlPr>
                            <a:rPr lang="en-NZ" altLang="ja-JP" sz="1800" i="1" smtClean="0">
                              <a:solidFill>
                                <a:srgbClr val="C00000"/>
                              </a:solidFill>
                              <a:latin typeface="Cambria Math" panose="02040503050406030204" pitchFamily="18" charset="0"/>
                            </a:rPr>
                          </m:ctrlPr>
                        </m:sSubPr>
                        <m:e>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𝐻</m:t>
                          </m:r>
                        </m:e>
                        <m:sub>
                          <m:r>
                            <a:rPr lang="en-NZ" altLang="ja-JP" sz="1800" b="0" i="1" smtClean="0">
                              <a:solidFill>
                                <a:srgbClr val="C00000"/>
                              </a:solidFill>
                              <a:latin typeface="Cambria Math" panose="02040503050406030204" pitchFamily="18" charset="0"/>
                            </a:rPr>
                            <m:t>0</m:t>
                          </m:r>
                        </m:sub>
                      </m:sSub>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𝑖𝑠</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𝑡𝑟𝑢𝑒</m:t>
                      </m:r>
                      <m:r>
                        <a:rPr lang="en-NZ" altLang="ja-JP" sz="1800" b="0" i="1" smtClean="0">
                          <a:solidFill>
                            <a:srgbClr val="C00000"/>
                          </a:solidFill>
                          <a:latin typeface="Cambria Math" panose="02040503050406030204" pitchFamily="18" charset="0"/>
                        </a:rPr>
                        <m:t>)</m:t>
                      </m:r>
                    </m:oMath>
                  </m:oMathPara>
                </a14:m>
                <a:endParaRPr lang="en-NZ" altLang="ja-JP" sz="1800" dirty="0">
                  <a:solidFill>
                    <a:srgbClr val="C0000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800" b="0" i="1" smtClean="0">
                          <a:solidFill>
                            <a:srgbClr val="C00000"/>
                          </a:solidFill>
                          <a:latin typeface="Cambria Math" panose="02040503050406030204" pitchFamily="18" charset="0"/>
                        </a:rPr>
                        <m:t>=( # </m:t>
                      </m:r>
                      <m:sSub>
                        <m:sSubPr>
                          <m:ctrlPr>
                            <a:rPr lang="en-NZ" altLang="ja-JP" sz="1800" i="1" smtClean="0">
                              <a:solidFill>
                                <a:srgbClr val="C00000"/>
                              </a:solidFill>
                              <a:latin typeface="Cambria Math" panose="02040503050406030204" pitchFamily="18" charset="0"/>
                            </a:rPr>
                          </m:ctrlPr>
                        </m:sSubPr>
                        <m:e>
                          <m:r>
                            <a:rPr lang="en-NZ" altLang="ja-JP" sz="1800" b="0" i="1" smtClean="0">
                              <a:solidFill>
                                <a:srgbClr val="C00000"/>
                              </a:solidFill>
                              <a:latin typeface="Cambria Math" panose="02040503050406030204" pitchFamily="18" charset="0"/>
                            </a:rPr>
                            <m:t>𝐹</m:t>
                          </m:r>
                        </m:e>
                        <m:sub>
                          <m:r>
                            <a:rPr lang="en-NZ" altLang="ja-JP" sz="1800" b="0" i="1" smtClean="0">
                              <a:solidFill>
                                <a:srgbClr val="C00000"/>
                              </a:solidFill>
                              <a:latin typeface="Cambria Math" panose="02040503050406030204" pitchFamily="18" charset="0"/>
                            </a:rPr>
                            <m:t>𝑖</m:t>
                          </m:r>
                        </m:sub>
                      </m:sSub>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𝑎𝑡</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𝑙𝑒𝑎𝑠𝑡</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𝑎𝑠</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𝑒𝑥𝑡𝑟𝑒𝑚𝑒</m:t>
                      </m:r>
                      <m:r>
                        <a:rPr lang="en-NZ" altLang="ja-JP" sz="1800" b="0" i="1" smtClean="0">
                          <a:solidFill>
                            <a:srgbClr val="C00000"/>
                          </a:solidFill>
                          <a:latin typeface="Cambria Math" panose="02040503050406030204" pitchFamily="18" charset="0"/>
                        </a:rPr>
                        <m:t> </m:t>
                      </m:r>
                      <m:r>
                        <a:rPr lang="en-NZ" altLang="ja-JP" sz="1800" b="0" i="1" smtClean="0">
                          <a:solidFill>
                            <a:srgbClr val="C00000"/>
                          </a:solidFill>
                          <a:latin typeface="Cambria Math" panose="02040503050406030204" pitchFamily="18" charset="0"/>
                        </a:rPr>
                        <m:t>𝑎𝑠</m:t>
                      </m:r>
                      <m:r>
                        <a:rPr lang="en-NZ" altLang="ja-JP" sz="1800" b="0" i="1" smtClean="0">
                          <a:solidFill>
                            <a:srgbClr val="C00000"/>
                          </a:solidFill>
                          <a:latin typeface="Cambria Math" panose="02040503050406030204" pitchFamily="18" charset="0"/>
                        </a:rPr>
                        <m:t> </m:t>
                      </m:r>
                      <m:sSub>
                        <m:sSubPr>
                          <m:ctrlPr>
                            <a:rPr lang="en-NZ" altLang="ja-JP" sz="1800" i="1" smtClean="0">
                              <a:solidFill>
                                <a:srgbClr val="C00000"/>
                              </a:solidFill>
                              <a:latin typeface="Cambria Math" panose="02040503050406030204" pitchFamily="18" charset="0"/>
                            </a:rPr>
                          </m:ctrlPr>
                        </m:sSubPr>
                        <m:e>
                          <m:r>
                            <a:rPr lang="en-NZ" altLang="ja-JP" sz="1800" b="0" i="1" smtClean="0">
                              <a:solidFill>
                                <a:srgbClr val="C00000"/>
                              </a:solidFill>
                              <a:latin typeface="Cambria Math" panose="02040503050406030204" pitchFamily="18" charset="0"/>
                            </a:rPr>
                            <m:t>𝐹</m:t>
                          </m:r>
                        </m:e>
                        <m:sub>
                          <m:r>
                            <a:rPr lang="en-NZ" altLang="ja-JP" sz="1800" b="0" i="1" smtClean="0">
                              <a:solidFill>
                                <a:srgbClr val="C00000"/>
                              </a:solidFill>
                              <a:latin typeface="Cambria Math" panose="02040503050406030204" pitchFamily="18" charset="0"/>
                            </a:rPr>
                            <m:t>𝑜𝑏𝑠</m:t>
                          </m:r>
                        </m:sub>
                      </m:sSub>
                      <m:r>
                        <a:rPr lang="en-NZ" altLang="ja-JP" sz="1800" b="0" i="1" smtClean="0">
                          <a:solidFill>
                            <a:srgbClr val="C00000"/>
                          </a:solidFill>
                          <a:latin typeface="Cambria Math" panose="02040503050406030204" pitchFamily="18" charset="0"/>
                        </a:rPr>
                        <m:t> ) / </m:t>
                      </m:r>
                      <m:r>
                        <a:rPr lang="en-NZ" altLang="ja-JP" sz="1800" b="0" i="1" smtClean="0">
                          <a:solidFill>
                            <a:srgbClr val="C00000"/>
                          </a:solidFill>
                          <a:latin typeface="Cambria Math" panose="02040503050406030204" pitchFamily="18" charset="0"/>
                        </a:rPr>
                        <m:t>𝐿</m:t>
                      </m:r>
                    </m:oMath>
                  </m:oMathPara>
                </a14:m>
                <a:endParaRPr lang="en-US" altLang="ja-JP" sz="1800" dirty="0">
                  <a:solidFill>
                    <a:srgbClr val="C00000"/>
                  </a:solidFill>
                </a:endParaRPr>
              </a:p>
            </p:txBody>
          </p:sp>
        </mc:Choice>
        <mc:Fallback xmlns="">
          <p:sp>
            <p:nvSpPr>
              <p:cNvPr id="13" name="Text Placeholder 5">
                <a:extLst>
                  <a:ext uri="{FF2B5EF4-FFF2-40B4-BE49-F238E27FC236}">
                    <a16:creationId xmlns:a16="http://schemas.microsoft.com/office/drawing/2014/main" id="{C86A4BA8-88F2-4DA0-B6FE-BACDB7EC05DF}"/>
                  </a:ext>
                </a:extLst>
              </p:cNvPr>
              <p:cNvSpPr txBox="1">
                <a:spLocks noRot="1" noChangeAspect="1" noMove="1" noResize="1" noEditPoints="1" noAdjustHandles="1" noChangeArrowheads="1" noChangeShapeType="1" noTextEdit="1"/>
              </p:cNvSpPr>
              <p:nvPr/>
            </p:nvSpPr>
            <p:spPr>
              <a:xfrm>
                <a:off x="1214651" y="2613553"/>
                <a:ext cx="10657886" cy="2778368"/>
              </a:xfrm>
              <a:prstGeom prst="rect">
                <a:avLst/>
              </a:prstGeom>
              <a:blipFill>
                <a:blip r:embed="rId4"/>
                <a:stretch>
                  <a:fillRect l="-457" t="-1316" r="-457"/>
                </a:stretch>
              </a:blipFill>
            </p:spPr>
            <p:txBody>
              <a:bodyPr/>
              <a:lstStyle/>
              <a:p>
                <a:r>
                  <a:rPr lang="en-NZ">
                    <a:noFill/>
                  </a:rPr>
                  <a:t> </a:t>
                </a:r>
              </a:p>
            </p:txBody>
          </p:sp>
        </mc:Fallback>
      </mc:AlternateContent>
      <p:sp>
        <p:nvSpPr>
          <p:cNvPr id="2" name="Text Placeholder 5">
            <a:extLst>
              <a:ext uri="{FF2B5EF4-FFF2-40B4-BE49-F238E27FC236}">
                <a16:creationId xmlns:a16="http://schemas.microsoft.com/office/drawing/2014/main" id="{12E92844-044A-F489-4E7D-6BCAD356D273}"/>
              </a:ext>
            </a:extLst>
          </p:cNvPr>
          <p:cNvSpPr txBox="1">
            <a:spLocks/>
          </p:cNvSpPr>
          <p:nvPr/>
        </p:nvSpPr>
        <p:spPr>
          <a:xfrm>
            <a:off x="319463" y="5448157"/>
            <a:ext cx="11553074" cy="8529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i="1" u="sng" noProof="0" dirty="0">
                <a:solidFill>
                  <a:schemeClr val="tx1"/>
                </a:solidFill>
                <a:latin typeface="Calibri" panose="020F0502020204030204"/>
                <a:ea typeface="游ゴシック" panose="020B0400000000000000" pitchFamily="34" charset="-128"/>
              </a:rPr>
              <a:t>Note: </a:t>
            </a:r>
            <a:endParaRPr lang="en-NZ" altLang="ja-JP" sz="1400" b="1" i="1" u="sng" dirty="0">
              <a:solidFill>
                <a:schemeClr val="tx1"/>
              </a:solidFill>
              <a:latin typeface="Calibri" panose="020F0502020204030204"/>
              <a:ea typeface="游ゴシック" panose="020B0400000000000000" pitchFamily="34" charset="-128"/>
            </a:endParaRPr>
          </a:p>
          <a:p>
            <a:pPr lvl="0">
              <a:lnSpc>
                <a:spcPct val="100000"/>
              </a:lnSpc>
              <a:defRPr/>
            </a:pPr>
            <a:r>
              <a:rPr lang="en-NZ" altLang="ja-JP" sz="1400" i="1" dirty="0">
                <a:solidFill>
                  <a:schemeClr val="tx1"/>
                </a:solidFill>
              </a:rPr>
              <a:t>If we use the method of Exact Permutations in Step 4 we will get an ‘exact’ p-value.</a:t>
            </a:r>
          </a:p>
          <a:p>
            <a:pPr lvl="0">
              <a:lnSpc>
                <a:spcPct val="100000"/>
              </a:lnSpc>
              <a:defRPr/>
            </a:pPr>
            <a:r>
              <a:rPr lang="en-NZ" altLang="ja-JP" sz="1400" i="1" dirty="0">
                <a:solidFill>
                  <a:schemeClr val="tx1"/>
                </a:solidFill>
              </a:rPr>
              <a:t>If we use the method of Random Permutations in Step 4 we will get an estimate of the ‘true’ p-value.</a:t>
            </a:r>
            <a:endParaRPr lang="en-US" altLang="ja-JP" sz="1400" i="1" dirty="0">
              <a:solidFill>
                <a:schemeClr val="tx1"/>
              </a:solidFill>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1400" i="1" noProof="0" dirty="0">
              <a:solidFill>
                <a:schemeClr val="tx1"/>
              </a:solidFill>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65779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F9002F38-2735-4709-890C-427E83254016}"/>
              </a:ext>
            </a:extLst>
          </p:cNvPr>
          <p:cNvSpPr txBox="1">
            <a:spLocks/>
          </p:cNvSpPr>
          <p:nvPr/>
        </p:nvSpPr>
        <p:spPr>
          <a:xfrm>
            <a:off x="319463" y="913787"/>
            <a:ext cx="11553074" cy="203412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just"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Permutation tests are particularly useful when:</a:t>
            </a:r>
          </a:p>
          <a:p>
            <a:pPr marL="1085793" lvl="1" indent="-400050" algn="just">
              <a:lnSpc>
                <a:spcPct val="100000"/>
              </a:lnSpc>
              <a:buFont typeface="+mj-lt"/>
              <a:buAutoNum type="romanUcPeriod"/>
              <a:defRPr/>
            </a:pPr>
            <a:r>
              <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conditions of parametric tests are violated, or no suitable parametric tests exist</a:t>
            </a:r>
          </a:p>
          <a:p>
            <a:pPr marL="1085793" lvl="1" indent="-400050" algn="just">
              <a:lnSpc>
                <a:spcPct val="100000"/>
              </a:lnSpc>
              <a:buFont typeface="+mj-lt"/>
              <a:buAutoNum type="romanUcPeriod"/>
              <a:defRPr/>
            </a:pPr>
            <a:r>
              <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Sample sizes are too small to determine whether the conditions of a parametric test are satisfied.</a:t>
            </a:r>
          </a:p>
          <a:p>
            <a:pPr marL="1085793" marR="0" lvl="1" indent="-400050" algn="just" defTabSz="914324" rtl="0" eaLnBrk="1" fontAlgn="auto" latinLnBrk="0" hangingPunct="1">
              <a:lnSpc>
                <a:spcPct val="100000"/>
              </a:lnSpc>
              <a:spcBef>
                <a:spcPts val="500"/>
              </a:spcBef>
              <a:spcAft>
                <a:spcPts val="0"/>
              </a:spcAft>
              <a:buClrTx/>
              <a:buSzTx/>
              <a:buFont typeface="+mj-lt"/>
              <a:buAutoNum type="romanUcPeriod"/>
              <a:tabLst/>
              <a:defRPr/>
            </a:pPr>
            <a:r>
              <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Data is sampled from an unknown distribution</a:t>
            </a:r>
          </a:p>
          <a:p>
            <a:pPr marL="1085793" marR="0" lvl="1" indent="-400050" algn="just" defTabSz="914324" rtl="0" eaLnBrk="1" fontAlgn="auto" latinLnBrk="0" hangingPunct="1">
              <a:lnSpc>
                <a:spcPct val="100000"/>
              </a:lnSpc>
              <a:spcBef>
                <a:spcPts val="500"/>
              </a:spcBef>
              <a:spcAft>
                <a:spcPts val="0"/>
              </a:spcAft>
              <a:buClrTx/>
              <a:buSzTx/>
              <a:buFont typeface="+mj-lt"/>
              <a:buAutoNum type="romanUcPeriod"/>
              <a:tabLst/>
              <a:defRPr/>
            </a:pPr>
            <a:r>
              <a:rPr kumimoji="1" lang="en-US"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Outliers are present in the data</a:t>
            </a:r>
          </a:p>
        </p:txBody>
      </p:sp>
      <p:sp>
        <p:nvSpPr>
          <p:cNvPr id="8" name="Text Placeholder 5">
            <a:extLst>
              <a:ext uri="{FF2B5EF4-FFF2-40B4-BE49-F238E27FC236}">
                <a16:creationId xmlns:a16="http://schemas.microsoft.com/office/drawing/2014/main" id="{1AEF10BA-5BD2-4504-BC15-860439B0C9D4}"/>
              </a:ext>
            </a:extLst>
          </p:cNvPr>
          <p:cNvSpPr txBox="1">
            <a:spLocks/>
          </p:cNvSpPr>
          <p:nvPr/>
        </p:nvSpPr>
        <p:spPr>
          <a:xfrm>
            <a:off x="319463" y="4502863"/>
            <a:ext cx="11134298" cy="8973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9" name="Title 6">
            <a:extLst>
              <a:ext uri="{FF2B5EF4-FFF2-40B4-BE49-F238E27FC236}">
                <a16:creationId xmlns:a16="http://schemas.microsoft.com/office/drawing/2014/main" id="{84E5EEB2-8109-4196-8CCF-DC6027D549A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6.3a – The Basic Idea of Permutation Tests: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Footer Placeholder 2">
            <a:extLst>
              <a:ext uri="{FF2B5EF4-FFF2-40B4-BE49-F238E27FC236}">
                <a16:creationId xmlns:a16="http://schemas.microsoft.com/office/drawing/2014/main" id="{47056312-BE75-4ECE-9F2B-782CF67727A5}"/>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6.3a – Basic Idea</a:t>
            </a:r>
            <a:endParaRPr kumimoji="1" lang="ja-JP" altLang="en-US" sz="1600" dirty="0">
              <a:solidFill>
                <a:srgbClr val="DEDDDD"/>
              </a:solidFill>
              <a:latin typeface="Gidole"/>
            </a:endParaRPr>
          </a:p>
        </p:txBody>
      </p:sp>
      <p:sp>
        <p:nvSpPr>
          <p:cNvPr id="2" name="Text Placeholder 5">
            <a:extLst>
              <a:ext uri="{FF2B5EF4-FFF2-40B4-BE49-F238E27FC236}">
                <a16:creationId xmlns:a16="http://schemas.microsoft.com/office/drawing/2014/main" id="{253007F1-F157-4449-50F5-C78854947485}"/>
              </a:ext>
            </a:extLst>
          </p:cNvPr>
          <p:cNvSpPr txBox="1">
            <a:spLocks/>
          </p:cNvSpPr>
          <p:nvPr/>
        </p:nvSpPr>
        <p:spPr>
          <a:xfrm>
            <a:off x="319463" y="3650391"/>
            <a:ext cx="10657886" cy="852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en-NZ" altLang="ja-JP" sz="2000" dirty="0">
                <a:solidFill>
                  <a:schemeClr val="tx1"/>
                </a:solidFill>
              </a:rPr>
              <a:t>Permutation testing is not a silver bullet. If the original sample is a poor representation of the population, then the inferences gathered from permutation testing can be misleading.</a:t>
            </a:r>
          </a:p>
        </p:txBody>
      </p:sp>
      <p:sp>
        <p:nvSpPr>
          <p:cNvPr id="3" name="Text Placeholder 5">
            <a:extLst>
              <a:ext uri="{FF2B5EF4-FFF2-40B4-BE49-F238E27FC236}">
                <a16:creationId xmlns:a16="http://schemas.microsoft.com/office/drawing/2014/main" id="{A8083E3D-AB8F-F56E-2D92-2330EAA92019}"/>
              </a:ext>
            </a:extLst>
          </p:cNvPr>
          <p:cNvSpPr txBox="1">
            <a:spLocks/>
          </p:cNvSpPr>
          <p:nvPr/>
        </p:nvSpPr>
        <p:spPr>
          <a:xfrm>
            <a:off x="319463" y="4619297"/>
            <a:ext cx="10680632" cy="14385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en-NZ" altLang="ja-JP" sz="2000" dirty="0">
                <a:solidFill>
                  <a:schemeClr val="tx1"/>
                </a:solidFill>
              </a:rPr>
              <a:t>Whereas with parametric tests it is possible to go on to make estimates / construct confidence intervals for the property under consideration for each group, this is not always possible with permutation tests. Often the only conclusion we can draw is that the property in question differs across the groups.</a:t>
            </a:r>
          </a:p>
        </p:txBody>
      </p:sp>
      <p:sp>
        <p:nvSpPr>
          <p:cNvPr id="5" name="Text Placeholder 5">
            <a:extLst>
              <a:ext uri="{FF2B5EF4-FFF2-40B4-BE49-F238E27FC236}">
                <a16:creationId xmlns:a16="http://schemas.microsoft.com/office/drawing/2014/main" id="{97DB8844-138F-66A2-B292-5BF7E2C8B3CF}"/>
              </a:ext>
            </a:extLst>
          </p:cNvPr>
          <p:cNvSpPr txBox="1">
            <a:spLocks/>
          </p:cNvSpPr>
          <p:nvPr/>
        </p:nvSpPr>
        <p:spPr>
          <a:xfrm>
            <a:off x="625908" y="3119535"/>
            <a:ext cx="1789746" cy="359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just" defTabSz="914324" rtl="0" eaLnBrk="1" fontAlgn="auto" latinLnBrk="0" hangingPunct="1">
              <a:lnSpc>
                <a:spcPct val="100000"/>
              </a:lnSpc>
              <a:spcBef>
                <a:spcPts val="0"/>
              </a:spcBef>
              <a:spcAft>
                <a:spcPts val="0"/>
              </a:spcAft>
              <a:buClrTx/>
              <a:buSzTx/>
              <a:tabLst/>
              <a:defRPr/>
            </a:pPr>
            <a:r>
              <a:rPr kumimoji="1" lang="en-NZ" altLang="ja-JP" sz="22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Warnings:</a:t>
            </a:r>
          </a:p>
        </p:txBody>
      </p:sp>
    </p:spTree>
    <p:extLst>
      <p:ext uri="{BB962C8B-B14F-4D97-AF65-F5344CB8AC3E}">
        <p14:creationId xmlns:p14="http://schemas.microsoft.com/office/powerpoint/2010/main" val="421398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16</a:t>
            </a:fld>
            <a:endParaRPr kumimoji="1" lang="ja-JP" altLang="en-US" dirty="0">
              <a:solidFill>
                <a:srgbClr val="575454">
                  <a:lumMod val="20000"/>
                  <a:lumOff val="80000"/>
                </a:srgbClr>
              </a:solidFill>
              <a:latin typeface="Coo Hew"/>
            </a:endParaRPr>
          </a:p>
        </p:txBody>
      </p:sp>
      <p:sp>
        <p:nvSpPr>
          <p:cNvPr id="14" name="Title 6">
            <a:extLst>
              <a:ext uri="{FF2B5EF4-FFF2-40B4-BE49-F238E27FC236}">
                <a16:creationId xmlns:a16="http://schemas.microsoft.com/office/drawing/2014/main" id="{D196F1B5-B0D9-4119-B970-E101272CC75A}"/>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6.3b – Application to Motivating Example:</a:t>
            </a:r>
            <a:endParaRPr lang="ja-JP" altLang="en-US" b="1" u="sng" dirty="0">
              <a:latin typeface="+mn-lt"/>
            </a:endParaRPr>
          </a:p>
        </p:txBody>
      </p:sp>
      <p:sp>
        <p:nvSpPr>
          <p:cNvPr id="15" name="Footer Placeholder 2">
            <a:extLst>
              <a:ext uri="{FF2B5EF4-FFF2-40B4-BE49-F238E27FC236}">
                <a16:creationId xmlns:a16="http://schemas.microsoft.com/office/drawing/2014/main" id="{89B0A5C8-445C-484A-9355-64C9596AC680}"/>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6.3b – Motivating Example</a:t>
            </a:r>
            <a:endParaRPr kumimoji="1" lang="ja-JP" altLang="en-US" sz="1600" dirty="0">
              <a:solidFill>
                <a:srgbClr val="DEDDDD"/>
              </a:solidFill>
              <a:latin typeface="Gidole"/>
            </a:endParaRPr>
          </a:p>
        </p:txBody>
      </p:sp>
      <p:sp>
        <p:nvSpPr>
          <p:cNvPr id="16" name="Text Placeholder 5">
            <a:extLst>
              <a:ext uri="{FF2B5EF4-FFF2-40B4-BE49-F238E27FC236}">
                <a16:creationId xmlns:a16="http://schemas.microsoft.com/office/drawing/2014/main" id="{56915216-5E37-4D60-8A65-59F7ED30007E}"/>
              </a:ext>
            </a:extLst>
          </p:cNvPr>
          <p:cNvSpPr txBox="1">
            <a:spLocks/>
          </p:cNvSpPr>
          <p:nvPr/>
        </p:nvSpPr>
        <p:spPr>
          <a:xfrm>
            <a:off x="364956" y="948822"/>
            <a:ext cx="109318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2500" b="1" dirty="0">
                <a:solidFill>
                  <a:srgbClr val="C00000"/>
                </a:solidFill>
              </a:rPr>
              <a:t>To make these ideas concrete let’s apply them to our motivating example</a:t>
            </a:r>
            <a:endParaRPr lang="en-US" altLang="ja-JP" sz="2500" b="1" dirty="0">
              <a:solidFill>
                <a:srgbClr val="C00000"/>
              </a:solidFill>
            </a:endParaRPr>
          </a:p>
        </p:txBody>
      </p:sp>
      <p:sp>
        <p:nvSpPr>
          <p:cNvPr id="2" name="Text Placeholder 5">
            <a:extLst>
              <a:ext uri="{FF2B5EF4-FFF2-40B4-BE49-F238E27FC236}">
                <a16:creationId xmlns:a16="http://schemas.microsoft.com/office/drawing/2014/main" id="{623D0A7D-776A-7961-24CA-8EFEDC49AADD}"/>
              </a:ext>
            </a:extLst>
          </p:cNvPr>
          <p:cNvSpPr txBox="1">
            <a:spLocks/>
          </p:cNvSpPr>
          <p:nvPr/>
        </p:nvSpPr>
        <p:spPr>
          <a:xfrm>
            <a:off x="364956" y="1780928"/>
            <a:ext cx="10931856" cy="9298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Consider the following data set which specifies the length (in cm) of a particular species of fish inside (A) and outside (B) of a marine reserve.</a:t>
            </a:r>
            <a:endParaRPr lang="en-US" altLang="ja-JP" sz="2000" b="1" i="1" dirty="0">
              <a:solidFill>
                <a:schemeClr val="tx1"/>
              </a:solidFill>
            </a:endParaRPr>
          </a:p>
        </p:txBody>
      </p:sp>
      <p:graphicFrame>
        <p:nvGraphicFramePr>
          <p:cNvPr id="3" name="Table 2">
            <a:extLst>
              <a:ext uri="{FF2B5EF4-FFF2-40B4-BE49-F238E27FC236}">
                <a16:creationId xmlns:a16="http://schemas.microsoft.com/office/drawing/2014/main" id="{06B728CC-6E7B-4894-3606-0743B750413E}"/>
              </a:ext>
            </a:extLst>
          </p:cNvPr>
          <p:cNvGraphicFramePr>
            <a:graphicFrameLocks noGrp="1"/>
          </p:cNvGraphicFramePr>
          <p:nvPr>
            <p:extLst>
              <p:ext uri="{D42A27DB-BD31-4B8C-83A1-F6EECF244321}">
                <p14:modId xmlns:p14="http://schemas.microsoft.com/office/powerpoint/2010/main" val="1178822385"/>
              </p:ext>
            </p:extLst>
          </p:nvPr>
        </p:nvGraphicFramePr>
        <p:xfrm>
          <a:off x="2047163" y="2707356"/>
          <a:ext cx="6705600" cy="628650"/>
        </p:xfrm>
        <a:graphic>
          <a:graphicData uri="http://schemas.openxmlformats.org/drawingml/2006/table">
            <a:tbl>
              <a:tblPr/>
              <a:tblGrid>
                <a:gridCol w="609600">
                  <a:extLst>
                    <a:ext uri="{9D8B030D-6E8A-4147-A177-3AD203B41FA5}">
                      <a16:colId xmlns:a16="http://schemas.microsoft.com/office/drawing/2014/main" val="4037610628"/>
                    </a:ext>
                  </a:extLst>
                </a:gridCol>
                <a:gridCol w="609600">
                  <a:extLst>
                    <a:ext uri="{9D8B030D-6E8A-4147-A177-3AD203B41FA5}">
                      <a16:colId xmlns:a16="http://schemas.microsoft.com/office/drawing/2014/main" val="590370213"/>
                    </a:ext>
                  </a:extLst>
                </a:gridCol>
                <a:gridCol w="609600">
                  <a:extLst>
                    <a:ext uri="{9D8B030D-6E8A-4147-A177-3AD203B41FA5}">
                      <a16:colId xmlns:a16="http://schemas.microsoft.com/office/drawing/2014/main" val="3452557641"/>
                    </a:ext>
                  </a:extLst>
                </a:gridCol>
                <a:gridCol w="609600">
                  <a:extLst>
                    <a:ext uri="{9D8B030D-6E8A-4147-A177-3AD203B41FA5}">
                      <a16:colId xmlns:a16="http://schemas.microsoft.com/office/drawing/2014/main" val="3162769819"/>
                    </a:ext>
                  </a:extLst>
                </a:gridCol>
                <a:gridCol w="609600">
                  <a:extLst>
                    <a:ext uri="{9D8B030D-6E8A-4147-A177-3AD203B41FA5}">
                      <a16:colId xmlns:a16="http://schemas.microsoft.com/office/drawing/2014/main" val="3968378480"/>
                    </a:ext>
                  </a:extLst>
                </a:gridCol>
                <a:gridCol w="609600">
                  <a:extLst>
                    <a:ext uri="{9D8B030D-6E8A-4147-A177-3AD203B41FA5}">
                      <a16:colId xmlns:a16="http://schemas.microsoft.com/office/drawing/2014/main" val="2641096747"/>
                    </a:ext>
                  </a:extLst>
                </a:gridCol>
                <a:gridCol w="609600">
                  <a:extLst>
                    <a:ext uri="{9D8B030D-6E8A-4147-A177-3AD203B41FA5}">
                      <a16:colId xmlns:a16="http://schemas.microsoft.com/office/drawing/2014/main" val="2998617417"/>
                    </a:ext>
                  </a:extLst>
                </a:gridCol>
                <a:gridCol w="609600">
                  <a:extLst>
                    <a:ext uri="{9D8B030D-6E8A-4147-A177-3AD203B41FA5}">
                      <a16:colId xmlns:a16="http://schemas.microsoft.com/office/drawing/2014/main" val="2672304242"/>
                    </a:ext>
                  </a:extLst>
                </a:gridCol>
                <a:gridCol w="609600">
                  <a:extLst>
                    <a:ext uri="{9D8B030D-6E8A-4147-A177-3AD203B41FA5}">
                      <a16:colId xmlns:a16="http://schemas.microsoft.com/office/drawing/2014/main" val="684859242"/>
                    </a:ext>
                  </a:extLst>
                </a:gridCol>
                <a:gridCol w="609600">
                  <a:extLst>
                    <a:ext uri="{9D8B030D-6E8A-4147-A177-3AD203B41FA5}">
                      <a16:colId xmlns:a16="http://schemas.microsoft.com/office/drawing/2014/main" val="3591260737"/>
                    </a:ext>
                  </a:extLst>
                </a:gridCol>
                <a:gridCol w="609600">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C0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dirty="0">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5" name="Text Placeholder 5">
            <a:extLst>
              <a:ext uri="{FF2B5EF4-FFF2-40B4-BE49-F238E27FC236}">
                <a16:creationId xmlns:a16="http://schemas.microsoft.com/office/drawing/2014/main" id="{773DE011-453B-2A6C-0430-6038EFB563B4}"/>
              </a:ext>
            </a:extLst>
          </p:cNvPr>
          <p:cNvSpPr txBox="1">
            <a:spLocks/>
          </p:cNvSpPr>
          <p:nvPr/>
        </p:nvSpPr>
        <p:spPr>
          <a:xfrm>
            <a:off x="364956" y="3560476"/>
            <a:ext cx="109318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We are interested in whether the mean length of the fish differs between the two groups, </a:t>
            </a:r>
          </a:p>
          <a:p>
            <a:pPr algn="just">
              <a:lnSpc>
                <a:spcPct val="100000"/>
              </a:lnSpc>
            </a:pPr>
            <a:r>
              <a:rPr lang="en-US" altLang="ja-JP" sz="2000" dirty="0">
                <a:solidFill>
                  <a:schemeClr val="tx1"/>
                </a:solidFill>
              </a:rPr>
              <a:t>i.e. we wish to test between the hypotheses: </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A7AD47AF-D1B9-8BEE-7A48-B76230BDFDDE}"/>
                  </a:ext>
                </a:extLst>
              </p:cNvPr>
              <p:cNvSpPr txBox="1">
                <a:spLocks/>
              </p:cNvSpPr>
              <p:nvPr/>
            </p:nvSpPr>
            <p:spPr>
              <a:xfrm>
                <a:off x="957615" y="4462242"/>
                <a:ext cx="8884695"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m:t>
                    </m:r>
                  </m:oMath>
                </a14:m>
                <a:r>
                  <a:rPr lang="en-NZ" altLang="ja-JP" sz="2000" b="1" i="1" dirty="0">
                    <a:solidFill>
                      <a:schemeClr val="tx1"/>
                    </a:solidFill>
                    <a:latin typeface="Cambria Math" panose="02040503050406030204" pitchFamily="18" charset="0"/>
                  </a:rPr>
                  <a:t> </a:t>
                </a:r>
                <a:r>
                  <a:rPr lang="en-NZ" altLang="ja-JP" sz="2000" dirty="0">
                    <a:solidFill>
                      <a:schemeClr val="tx1"/>
                    </a:solidFill>
                    <a:latin typeface="Cambria Math" panose="02040503050406030204" pitchFamily="18" charset="0"/>
                  </a:rPr>
                  <a:t>No difference in mean length of fish inside (A) &amp; outside (B) reserve</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m:t>
                    </m:r>
                  </m:oMath>
                </a14:m>
                <a:r>
                  <a:rPr lang="en-NZ" altLang="ja-JP" sz="2000" b="1" dirty="0">
                    <a:solidFill>
                      <a:schemeClr val="tx1"/>
                    </a:solidFill>
                  </a:rPr>
                  <a:t> </a:t>
                </a:r>
                <a:r>
                  <a:rPr lang="en-NZ" altLang="ja-JP" sz="2000" dirty="0">
                    <a:solidFill>
                      <a:schemeClr val="tx1"/>
                    </a:solidFill>
                  </a:rPr>
                  <a:t>Mean length of fish differs inside (A) &amp; outside (B) reserve</a:t>
                </a:r>
              </a:p>
            </p:txBody>
          </p:sp>
        </mc:Choice>
        <mc:Fallback xmlns="">
          <p:sp>
            <p:nvSpPr>
              <p:cNvPr id="6" name="Text Placeholder 5">
                <a:extLst>
                  <a:ext uri="{FF2B5EF4-FFF2-40B4-BE49-F238E27FC236}">
                    <a16:creationId xmlns:a16="http://schemas.microsoft.com/office/drawing/2014/main" id="{A7AD47AF-D1B9-8BEE-7A48-B76230BDFDDE}"/>
                  </a:ext>
                </a:extLst>
              </p:cNvPr>
              <p:cNvSpPr txBox="1">
                <a:spLocks noRot="1" noChangeAspect="1" noMove="1" noResize="1" noEditPoints="1" noAdjustHandles="1" noChangeArrowheads="1" noChangeShapeType="1" noTextEdit="1"/>
              </p:cNvSpPr>
              <p:nvPr/>
            </p:nvSpPr>
            <p:spPr>
              <a:xfrm>
                <a:off x="957615" y="4462242"/>
                <a:ext cx="8884695" cy="695961"/>
              </a:xfrm>
              <a:prstGeom prst="rect">
                <a:avLst/>
              </a:prstGeom>
              <a:blipFill>
                <a:blip r:embed="rId3"/>
                <a:stretch>
                  <a:fillRect t="-5263" b="-16667"/>
                </a:stretch>
              </a:blipFill>
            </p:spPr>
            <p:txBody>
              <a:bodyPr/>
              <a:lstStyle/>
              <a:p>
                <a:r>
                  <a:rPr lang="en-NZ">
                    <a:noFill/>
                  </a:rPr>
                  <a:t> </a:t>
                </a:r>
              </a:p>
            </p:txBody>
          </p:sp>
        </mc:Fallback>
      </mc:AlternateContent>
      <p:sp>
        <p:nvSpPr>
          <p:cNvPr id="9" name="Text Placeholder 5">
            <a:extLst>
              <a:ext uri="{FF2B5EF4-FFF2-40B4-BE49-F238E27FC236}">
                <a16:creationId xmlns:a16="http://schemas.microsoft.com/office/drawing/2014/main" id="{D94A40DA-0AA6-DCCB-CD93-37EACA2E0A1F}"/>
              </a:ext>
            </a:extLst>
          </p:cNvPr>
          <p:cNvSpPr txBox="1">
            <a:spLocks/>
          </p:cNvSpPr>
          <p:nvPr/>
        </p:nvSpPr>
        <p:spPr>
          <a:xfrm>
            <a:off x="9502113" y="4639696"/>
            <a:ext cx="1264695" cy="5695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600" dirty="0">
                <a:solidFill>
                  <a:schemeClr val="bg2">
                    <a:lumMod val="25000"/>
                  </a:schemeClr>
                </a:solidFill>
              </a:rPr>
              <a:t>Two-sided test </a:t>
            </a:r>
          </a:p>
        </p:txBody>
      </p:sp>
      <p:sp>
        <p:nvSpPr>
          <p:cNvPr id="10" name="Right Brace 9">
            <a:extLst>
              <a:ext uri="{FF2B5EF4-FFF2-40B4-BE49-F238E27FC236}">
                <a16:creationId xmlns:a16="http://schemas.microsoft.com/office/drawing/2014/main" id="{E83F2485-8B6A-4C88-DB0E-E86C81F168FC}"/>
              </a:ext>
            </a:extLst>
          </p:cNvPr>
          <p:cNvSpPr/>
          <p:nvPr/>
        </p:nvSpPr>
        <p:spPr>
          <a:xfrm>
            <a:off x="9133632" y="4588662"/>
            <a:ext cx="423081" cy="56954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1" name="Text Placeholder 5">
            <a:extLst>
              <a:ext uri="{FF2B5EF4-FFF2-40B4-BE49-F238E27FC236}">
                <a16:creationId xmlns:a16="http://schemas.microsoft.com/office/drawing/2014/main" id="{7C9A4C26-EB00-857C-9357-76F0F0CFFD10}"/>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6.3 - Application of Permutation Testing to Motivating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E5D2D98C-D04A-F4A5-2495-73CD88AA4966}"/>
                  </a:ext>
                </a:extLst>
              </p:cNvPr>
              <p:cNvSpPr txBox="1">
                <a:spLocks/>
              </p:cNvSpPr>
              <p:nvPr/>
            </p:nvSpPr>
            <p:spPr>
              <a:xfrm>
                <a:off x="8840844" y="2689272"/>
                <a:ext cx="1394607" cy="3630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acc>
                          <m:accPr>
                            <m:chr m:val="̅"/>
                            <m:ctrlPr>
                              <a:rPr lang="en-NZ" altLang="ja-JP" sz="1600" b="1" i="1" smtClean="0">
                                <a:solidFill>
                                  <a:srgbClr val="C00000"/>
                                </a:solidFill>
                                <a:latin typeface="Cambria Math" panose="02040503050406030204" pitchFamily="18" charset="0"/>
                              </a:rPr>
                            </m:ctrlPr>
                          </m:accPr>
                          <m:e>
                            <m:r>
                              <a:rPr lang="en-NZ" altLang="ja-JP" sz="1600" b="1" i="1" smtClean="0">
                                <a:solidFill>
                                  <a:srgbClr val="C00000"/>
                                </a:solidFill>
                                <a:latin typeface="Cambria Math" panose="02040503050406030204" pitchFamily="18" charset="0"/>
                              </a:rPr>
                              <m:t>𝒚</m:t>
                            </m:r>
                          </m:e>
                        </m:acc>
                      </m:e>
                      <m:sub>
                        <m:r>
                          <a:rPr lang="en-NZ" altLang="ja-JP" sz="1600" b="1" i="1" smtClean="0">
                            <a:solidFill>
                              <a:srgbClr val="C00000"/>
                            </a:solidFill>
                            <a:latin typeface="Cambria Math" panose="02040503050406030204" pitchFamily="18" charset="0"/>
                          </a:rPr>
                          <m:t>𝑨</m:t>
                        </m:r>
                      </m:sub>
                    </m:sSub>
                    <m:r>
                      <a:rPr lang="en-NZ" altLang="ja-JP" sz="1600" b="1" i="1" smtClean="0">
                        <a:solidFill>
                          <a:srgbClr val="C00000"/>
                        </a:solidFill>
                        <a:latin typeface="Cambria Math" panose="02040503050406030204" pitchFamily="18" charset="0"/>
                      </a:rPr>
                      <m:t>=</m:t>
                    </m:r>
                  </m:oMath>
                </a14:m>
                <a:r>
                  <a:rPr lang="en-NZ" altLang="ja-JP" sz="1600" b="1" i="1" dirty="0">
                    <a:solidFill>
                      <a:srgbClr val="C00000"/>
                    </a:solidFill>
                  </a:rPr>
                  <a:t>  </a:t>
                </a:r>
                <a:r>
                  <a:rPr lang="en-NZ" altLang="ja-JP" sz="1600" dirty="0">
                    <a:solidFill>
                      <a:srgbClr val="C00000"/>
                    </a:solidFill>
                  </a:rPr>
                  <a:t>42.8</a:t>
                </a:r>
              </a:p>
            </p:txBody>
          </p:sp>
        </mc:Choice>
        <mc:Fallback xmlns="">
          <p:sp>
            <p:nvSpPr>
              <p:cNvPr id="13" name="Text Placeholder 5">
                <a:extLst>
                  <a:ext uri="{FF2B5EF4-FFF2-40B4-BE49-F238E27FC236}">
                    <a16:creationId xmlns:a16="http://schemas.microsoft.com/office/drawing/2014/main" id="{E5D2D98C-D04A-F4A5-2495-73CD88AA4966}"/>
                  </a:ext>
                </a:extLst>
              </p:cNvPr>
              <p:cNvSpPr txBox="1">
                <a:spLocks noRot="1" noChangeAspect="1" noMove="1" noResize="1" noEditPoints="1" noAdjustHandles="1" noChangeArrowheads="1" noChangeShapeType="1" noTextEdit="1"/>
              </p:cNvSpPr>
              <p:nvPr/>
            </p:nvSpPr>
            <p:spPr>
              <a:xfrm>
                <a:off x="8840844" y="2689272"/>
                <a:ext cx="1394607" cy="363044"/>
              </a:xfrm>
              <a:prstGeom prst="rect">
                <a:avLst/>
              </a:prstGeom>
              <a:blipFill>
                <a:blip r:embed="rId4"/>
                <a:stretch>
                  <a:fillRect t="-5000" b="-1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F9B4280A-BA4C-B4C0-C356-385D5EE41ABD}"/>
                  </a:ext>
                </a:extLst>
              </p:cNvPr>
              <p:cNvSpPr txBox="1">
                <a:spLocks/>
              </p:cNvSpPr>
              <p:nvPr/>
            </p:nvSpPr>
            <p:spPr>
              <a:xfrm>
                <a:off x="8840844" y="2998204"/>
                <a:ext cx="2002932" cy="3593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rgbClr val="0070C0"/>
                            </a:solidFill>
                            <a:latin typeface="Cambria Math" panose="02040503050406030204" pitchFamily="18" charset="0"/>
                          </a:rPr>
                        </m:ctrlPr>
                      </m:sSubPr>
                      <m:e>
                        <m:acc>
                          <m:accPr>
                            <m:chr m:val="̅"/>
                            <m:ctrlPr>
                              <a:rPr lang="en-NZ" altLang="ja-JP" sz="1600" b="1" i="1" smtClean="0">
                                <a:solidFill>
                                  <a:srgbClr val="0070C0"/>
                                </a:solidFill>
                                <a:latin typeface="Cambria Math" panose="02040503050406030204" pitchFamily="18" charset="0"/>
                              </a:rPr>
                            </m:ctrlPr>
                          </m:accPr>
                          <m:e>
                            <m:r>
                              <a:rPr lang="en-NZ" altLang="ja-JP" sz="1600" b="1" i="1" smtClean="0">
                                <a:solidFill>
                                  <a:srgbClr val="0070C0"/>
                                </a:solidFill>
                                <a:latin typeface="Cambria Math" panose="02040503050406030204" pitchFamily="18" charset="0"/>
                              </a:rPr>
                              <m:t>𝒚</m:t>
                            </m:r>
                          </m:e>
                        </m:acc>
                      </m:e>
                      <m:sub>
                        <m:r>
                          <a:rPr lang="en-NZ" altLang="ja-JP" sz="1600" b="1" i="1">
                            <a:solidFill>
                              <a:srgbClr val="0070C0"/>
                            </a:solidFill>
                            <a:latin typeface="Cambria Math" panose="02040503050406030204" pitchFamily="18" charset="0"/>
                          </a:rPr>
                          <m:t>𝑩</m:t>
                        </m:r>
                      </m:sub>
                    </m:sSub>
                    <m:r>
                      <a:rPr lang="en-NZ" altLang="ja-JP" sz="1600" b="1" i="1" smtClean="0">
                        <a:solidFill>
                          <a:srgbClr val="0070C0"/>
                        </a:solidFill>
                        <a:latin typeface="Cambria Math" panose="02040503050406030204" pitchFamily="18" charset="0"/>
                      </a:rPr>
                      <m:t>= </m:t>
                    </m:r>
                  </m:oMath>
                </a14:m>
                <a:r>
                  <a:rPr lang="en-NZ" altLang="ja-JP" sz="1600" b="1" dirty="0">
                    <a:solidFill>
                      <a:srgbClr val="0070C0"/>
                    </a:solidFill>
                  </a:rPr>
                  <a:t> </a:t>
                </a:r>
                <a:r>
                  <a:rPr lang="en-NZ" altLang="ja-JP" sz="1600" dirty="0">
                    <a:solidFill>
                      <a:srgbClr val="0070C0"/>
                    </a:solidFill>
                  </a:rPr>
                  <a:t>55.8</a:t>
                </a:r>
              </a:p>
            </p:txBody>
          </p:sp>
        </mc:Choice>
        <mc:Fallback xmlns="">
          <p:sp>
            <p:nvSpPr>
              <p:cNvPr id="18" name="Text Placeholder 5">
                <a:extLst>
                  <a:ext uri="{FF2B5EF4-FFF2-40B4-BE49-F238E27FC236}">
                    <a16:creationId xmlns:a16="http://schemas.microsoft.com/office/drawing/2014/main" id="{F9B4280A-BA4C-B4C0-C356-385D5EE41ABD}"/>
                  </a:ext>
                </a:extLst>
              </p:cNvPr>
              <p:cNvSpPr txBox="1">
                <a:spLocks noRot="1" noChangeAspect="1" noMove="1" noResize="1" noEditPoints="1" noAdjustHandles="1" noChangeArrowheads="1" noChangeShapeType="1" noTextEdit="1"/>
              </p:cNvSpPr>
              <p:nvPr/>
            </p:nvSpPr>
            <p:spPr>
              <a:xfrm>
                <a:off x="8840844" y="2998204"/>
                <a:ext cx="2002932" cy="359357"/>
              </a:xfrm>
              <a:prstGeom prst="rect">
                <a:avLst/>
              </a:prstGeom>
              <a:blipFill>
                <a:blip r:embed="rId5"/>
                <a:stretch>
                  <a:fillRect t="-5085" b="-152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616C0AD1-E1A7-D4C8-7424-0BD5F84A1DD1}"/>
                  </a:ext>
                </a:extLst>
              </p:cNvPr>
              <p:cNvSpPr txBox="1">
                <a:spLocks/>
              </p:cNvSpPr>
              <p:nvPr/>
            </p:nvSpPr>
            <p:spPr>
              <a:xfrm>
                <a:off x="3370995" y="5417287"/>
                <a:ext cx="2065363" cy="7895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d>
                        <m:dPr>
                          <m:begChr m:val="|"/>
                          <m:endChr m:val="|"/>
                          <m:ctrlPr>
                            <a:rPr lang="en-NZ" altLang="ja-JP" sz="1400" b="1" i="1" smtClean="0">
                              <a:solidFill>
                                <a:schemeClr val="tx1"/>
                              </a:solidFill>
                              <a:latin typeface="Cambria Math" panose="02040503050406030204" pitchFamily="18" charset="0"/>
                            </a:rPr>
                          </m:ctrlPr>
                        </m:dPr>
                        <m:e>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𝒕</m:t>
                          </m:r>
                          <m:r>
                            <a:rPr lang="en-NZ" altLang="ja-JP" sz="1400" b="1" i="1" smtClean="0">
                              <a:solidFill>
                                <a:schemeClr val="tx1"/>
                              </a:solidFill>
                              <a:latin typeface="Cambria Math" panose="02040503050406030204" pitchFamily="18" charset="0"/>
                            </a:rPr>
                            <m:t> </m:t>
                          </m:r>
                        </m:e>
                      </m:d>
                      <m:r>
                        <a:rPr lang="en-NZ" altLang="ja-JP" sz="1400" b="1" i="1" smtClean="0">
                          <a:solidFill>
                            <a:schemeClr val="tx1"/>
                          </a:solidFill>
                          <a:latin typeface="Cambria Math" panose="02040503050406030204" pitchFamily="18" charset="0"/>
                        </a:rPr>
                        <m:t>= </m:t>
                      </m:r>
                      <m:d>
                        <m:dPr>
                          <m:begChr m:val="|"/>
                          <m:endChr m:val="|"/>
                          <m:ctrlPr>
                            <a:rPr lang="en-NZ" altLang="ja-JP" sz="1400" b="1" i="1" smtClean="0">
                              <a:solidFill>
                                <a:schemeClr val="tx1"/>
                              </a:solidFill>
                              <a:latin typeface="Cambria Math" panose="02040503050406030204" pitchFamily="18" charset="0"/>
                            </a:rPr>
                          </m:ctrlPr>
                        </m:dPr>
                        <m:e>
                          <m:r>
                            <a:rPr lang="en-NZ" altLang="ja-JP" sz="1400" b="1" i="1" smtClean="0">
                              <a:solidFill>
                                <a:schemeClr val="tx1"/>
                              </a:solidFill>
                              <a:latin typeface="Cambria Math" panose="02040503050406030204" pitchFamily="18" charset="0"/>
                            </a:rPr>
                            <m:t> </m:t>
                          </m:r>
                          <m:f>
                            <m:fPr>
                              <m:ctrlPr>
                                <a:rPr lang="en-NZ" altLang="ja-JP" sz="1400" b="1" i="1">
                                  <a:solidFill>
                                    <a:schemeClr val="tx1"/>
                                  </a:solidFill>
                                  <a:latin typeface="Cambria Math" panose="02040503050406030204" pitchFamily="18" charset="0"/>
                                </a:rPr>
                              </m:ctrlPr>
                            </m:fPr>
                            <m:num>
                              <m:acc>
                                <m:accPr>
                                  <m:chr m:val="̅"/>
                                  <m:ctrlPr>
                                    <a:rPr lang="en-NZ" altLang="ja-JP" sz="1400" b="1" i="1">
                                      <a:solidFill>
                                        <a:schemeClr val="tx1"/>
                                      </a:solidFill>
                                      <a:latin typeface="Cambria Math" panose="02040503050406030204" pitchFamily="18" charset="0"/>
                                    </a:rPr>
                                  </m:ctrlPr>
                                </m:accPr>
                                <m:e>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𝒚</m:t>
                                      </m:r>
                                    </m:e>
                                    <m:sub>
                                      <m:r>
                                        <a:rPr lang="en-NZ" altLang="ja-JP" sz="1400" b="1" i="1">
                                          <a:solidFill>
                                            <a:schemeClr val="tx1"/>
                                          </a:solidFill>
                                          <a:latin typeface="Cambria Math" panose="02040503050406030204" pitchFamily="18" charset="0"/>
                                        </a:rPr>
                                        <m:t>𝑨</m:t>
                                      </m:r>
                                    </m:sub>
                                  </m:sSub>
                                </m:e>
                              </m:acc>
                              <m:r>
                                <a:rPr lang="en-NZ" altLang="ja-JP" sz="1400" b="1" i="1">
                                  <a:solidFill>
                                    <a:schemeClr val="tx1"/>
                                  </a:solidFill>
                                  <a:latin typeface="Cambria Math" panose="02040503050406030204" pitchFamily="18" charset="0"/>
                                </a:rPr>
                                <m:t>  −</m:t>
                              </m:r>
                              <m:acc>
                                <m:accPr>
                                  <m:chr m:val="̅"/>
                                  <m:ctrlPr>
                                    <a:rPr lang="en-NZ" altLang="ja-JP" sz="1400" b="1" i="1">
                                      <a:solidFill>
                                        <a:schemeClr val="tx1"/>
                                      </a:solidFill>
                                      <a:latin typeface="Cambria Math" panose="02040503050406030204" pitchFamily="18" charset="0"/>
                                    </a:rPr>
                                  </m:ctrlPr>
                                </m:accPr>
                                <m:e>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𝒚</m:t>
                                      </m:r>
                                    </m:e>
                                    <m:sub>
                                      <m:r>
                                        <a:rPr lang="en-NZ" altLang="ja-JP" sz="1400" b="1" i="1">
                                          <a:solidFill>
                                            <a:schemeClr val="tx1"/>
                                          </a:solidFill>
                                          <a:latin typeface="Cambria Math" panose="02040503050406030204" pitchFamily="18" charset="0"/>
                                        </a:rPr>
                                        <m:t>𝑩</m:t>
                                      </m:r>
                                    </m:sub>
                                  </m:sSub>
                                </m:e>
                              </m:acc>
                            </m:num>
                            <m:den>
                              <m:r>
                                <a:rPr lang="en-NZ" altLang="ja-JP" sz="1400" b="1" i="1">
                                  <a:solidFill>
                                    <a:schemeClr val="tx1"/>
                                  </a:solidFill>
                                  <a:latin typeface="Cambria Math" panose="02040503050406030204" pitchFamily="18" charset="0"/>
                                </a:rPr>
                                <m:t>𝒔</m:t>
                              </m:r>
                              <m:r>
                                <a:rPr lang="en-NZ" altLang="ja-JP" sz="1400" b="1" i="1">
                                  <a:solidFill>
                                    <a:schemeClr val="tx1"/>
                                  </a:solidFill>
                                  <a:latin typeface="Cambria Math" panose="02040503050406030204" pitchFamily="18" charset="0"/>
                                </a:rPr>
                                <m:t> </m:t>
                              </m:r>
                              <m:rad>
                                <m:radPr>
                                  <m:degHide m:val="on"/>
                                  <m:ctrlPr>
                                    <a:rPr lang="en-NZ" altLang="ja-JP" sz="1400" b="1" i="1">
                                      <a:solidFill>
                                        <a:schemeClr val="tx1"/>
                                      </a:solidFill>
                                      <a:latin typeface="Cambria Math" panose="02040503050406030204" pitchFamily="18" charset="0"/>
                                    </a:rPr>
                                  </m:ctrlPr>
                                </m:radPr>
                                <m:deg/>
                                <m:e>
                                  <m:f>
                                    <m:fPr>
                                      <m:ctrlPr>
                                        <a:rPr lang="en-NZ" altLang="ja-JP" sz="1400" b="1" i="1">
                                          <a:solidFill>
                                            <a:schemeClr val="tx1"/>
                                          </a:solidFill>
                                          <a:latin typeface="Cambria Math" panose="02040503050406030204" pitchFamily="18" charset="0"/>
                                        </a:rPr>
                                      </m:ctrlPr>
                                    </m:fPr>
                                    <m:num>
                                      <m:r>
                                        <a:rPr lang="en-NZ" altLang="ja-JP" sz="1400" b="1" i="1">
                                          <a:solidFill>
                                            <a:schemeClr val="tx1"/>
                                          </a:solidFill>
                                          <a:latin typeface="Cambria Math" panose="02040503050406030204" pitchFamily="18" charset="0"/>
                                        </a:rPr>
                                        <m:t>𝟏</m:t>
                                      </m:r>
                                    </m:num>
                                    <m:den>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𝒏</m:t>
                                          </m:r>
                                        </m:e>
                                        <m:sub>
                                          <m:r>
                                            <a:rPr lang="en-NZ" altLang="ja-JP" sz="1400" b="1" i="1">
                                              <a:solidFill>
                                                <a:schemeClr val="tx1"/>
                                              </a:solidFill>
                                              <a:latin typeface="Cambria Math" panose="02040503050406030204" pitchFamily="18" charset="0"/>
                                            </a:rPr>
                                            <m:t>𝑨</m:t>
                                          </m:r>
                                        </m:sub>
                                      </m:sSub>
                                    </m:den>
                                  </m:f>
                                  <m:r>
                                    <a:rPr lang="en-NZ" altLang="ja-JP" sz="1400" b="1" i="1">
                                      <a:solidFill>
                                        <a:schemeClr val="tx1"/>
                                      </a:solidFill>
                                      <a:latin typeface="Cambria Math" panose="02040503050406030204" pitchFamily="18" charset="0"/>
                                    </a:rPr>
                                    <m:t> +  </m:t>
                                  </m:r>
                                  <m:f>
                                    <m:fPr>
                                      <m:ctrlPr>
                                        <a:rPr lang="en-NZ" altLang="ja-JP" sz="1400" b="1" i="1">
                                          <a:solidFill>
                                            <a:schemeClr val="tx1"/>
                                          </a:solidFill>
                                          <a:latin typeface="Cambria Math" panose="02040503050406030204" pitchFamily="18" charset="0"/>
                                        </a:rPr>
                                      </m:ctrlPr>
                                    </m:fPr>
                                    <m:num>
                                      <m:r>
                                        <a:rPr lang="en-NZ" altLang="ja-JP" sz="1400" b="1" i="1">
                                          <a:solidFill>
                                            <a:schemeClr val="tx1"/>
                                          </a:solidFill>
                                          <a:latin typeface="Cambria Math" panose="02040503050406030204" pitchFamily="18" charset="0"/>
                                        </a:rPr>
                                        <m:t>𝟏</m:t>
                                      </m:r>
                                    </m:num>
                                    <m:den>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𝒏</m:t>
                                          </m:r>
                                        </m:e>
                                        <m:sub>
                                          <m:r>
                                            <a:rPr lang="en-NZ" altLang="ja-JP" sz="1400" b="1" i="1">
                                              <a:solidFill>
                                                <a:schemeClr val="tx1"/>
                                              </a:solidFill>
                                              <a:latin typeface="Cambria Math" panose="02040503050406030204" pitchFamily="18" charset="0"/>
                                            </a:rPr>
                                            <m:t>𝑩</m:t>
                                          </m:r>
                                        </m:sub>
                                      </m:sSub>
                                    </m:den>
                                  </m:f>
                                </m:e>
                              </m:rad>
                              <m:r>
                                <a:rPr lang="en-NZ" altLang="ja-JP" sz="1400" b="1" i="1">
                                  <a:solidFill>
                                    <a:schemeClr val="tx1"/>
                                  </a:solidFill>
                                  <a:latin typeface="Cambria Math" panose="02040503050406030204" pitchFamily="18" charset="0"/>
                                </a:rPr>
                                <m:t> </m:t>
                              </m:r>
                            </m:den>
                          </m:f>
                          <m:r>
                            <a:rPr lang="en-NZ" altLang="ja-JP" sz="1400" b="1" i="1" smtClean="0">
                              <a:solidFill>
                                <a:schemeClr val="tx1"/>
                              </a:solidFill>
                              <a:latin typeface="Cambria Math" panose="02040503050406030204" pitchFamily="18" charset="0"/>
                            </a:rPr>
                            <m:t> </m:t>
                          </m:r>
                        </m:e>
                      </m:d>
                    </m:oMath>
                  </m:oMathPara>
                </a14:m>
                <a:endParaRPr lang="en-NZ" altLang="ja-JP" sz="1400" b="1" dirty="0">
                  <a:solidFill>
                    <a:schemeClr val="tx1"/>
                  </a:solidFill>
                </a:endParaRPr>
              </a:p>
            </p:txBody>
          </p:sp>
        </mc:Choice>
        <mc:Fallback xmlns="">
          <p:sp>
            <p:nvSpPr>
              <p:cNvPr id="19" name="Text Placeholder 5">
                <a:extLst>
                  <a:ext uri="{FF2B5EF4-FFF2-40B4-BE49-F238E27FC236}">
                    <a16:creationId xmlns:a16="http://schemas.microsoft.com/office/drawing/2014/main" id="{616C0AD1-E1A7-D4C8-7424-0BD5F84A1DD1}"/>
                  </a:ext>
                </a:extLst>
              </p:cNvPr>
              <p:cNvSpPr txBox="1">
                <a:spLocks noRot="1" noChangeAspect="1" noMove="1" noResize="1" noEditPoints="1" noAdjustHandles="1" noChangeArrowheads="1" noChangeShapeType="1" noTextEdit="1"/>
              </p:cNvSpPr>
              <p:nvPr/>
            </p:nvSpPr>
            <p:spPr>
              <a:xfrm>
                <a:off x="3370995" y="5417287"/>
                <a:ext cx="2065363" cy="789598"/>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1A73473D-974D-1313-2FB9-B14797360B7C}"/>
                  </a:ext>
                </a:extLst>
              </p:cNvPr>
              <p:cNvSpPr txBox="1">
                <a:spLocks/>
              </p:cNvSpPr>
              <p:nvPr/>
            </p:nvSpPr>
            <p:spPr>
              <a:xfrm>
                <a:off x="6123964" y="5572235"/>
                <a:ext cx="2628799" cy="6589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600" dirty="0">
                    <a:solidFill>
                      <a:schemeClr val="bg2">
                        <a:lumMod val="25000"/>
                      </a:schemeClr>
                    </a:solidFill>
                  </a:rPr>
                  <a:t>This test statistic can be used to test between </a:t>
                </a:r>
                <a14:m>
                  <m:oMath xmlns:m="http://schemas.openxmlformats.org/officeDocument/2006/math">
                    <m:sSub>
                      <m:sSubPr>
                        <m:ctrlPr>
                          <a:rPr lang="en-NZ" altLang="ja-JP" sz="1600" b="0" i="1" smtClean="0">
                            <a:solidFill>
                              <a:schemeClr val="bg2">
                                <a:lumMod val="25000"/>
                              </a:schemeClr>
                            </a:solidFill>
                            <a:latin typeface="Cambria Math" panose="02040503050406030204" pitchFamily="18" charset="0"/>
                          </a:rPr>
                        </m:ctrlPr>
                      </m:sSubPr>
                      <m:e>
                        <m:r>
                          <a:rPr lang="en-NZ" altLang="ja-JP" sz="1600" b="0" i="1" smtClean="0">
                            <a:solidFill>
                              <a:schemeClr val="bg2">
                                <a:lumMod val="25000"/>
                              </a:schemeClr>
                            </a:solidFill>
                            <a:latin typeface="Cambria Math" panose="02040503050406030204" pitchFamily="18" charset="0"/>
                          </a:rPr>
                          <m:t>𝐻</m:t>
                        </m:r>
                      </m:e>
                      <m:sub>
                        <m:r>
                          <a:rPr lang="en-NZ" altLang="ja-JP" sz="1600" b="0" i="1" smtClean="0">
                            <a:solidFill>
                              <a:schemeClr val="bg2">
                                <a:lumMod val="25000"/>
                              </a:schemeClr>
                            </a:solidFill>
                            <a:latin typeface="Cambria Math" panose="02040503050406030204" pitchFamily="18" charset="0"/>
                          </a:rPr>
                          <m:t>0</m:t>
                        </m:r>
                      </m:sub>
                    </m:sSub>
                  </m:oMath>
                </a14:m>
                <a:r>
                  <a:rPr lang="en-US" altLang="ja-JP" sz="1600" dirty="0">
                    <a:solidFill>
                      <a:schemeClr val="bg2">
                        <a:lumMod val="25000"/>
                      </a:schemeClr>
                    </a:solidFill>
                  </a:rPr>
                  <a:t> and </a:t>
                </a:r>
                <a14:m>
                  <m:oMath xmlns:m="http://schemas.openxmlformats.org/officeDocument/2006/math">
                    <m:sSub>
                      <m:sSubPr>
                        <m:ctrlPr>
                          <a:rPr lang="en-NZ" altLang="ja-JP" sz="1600" b="0" i="1" smtClean="0">
                            <a:solidFill>
                              <a:schemeClr val="bg2">
                                <a:lumMod val="25000"/>
                              </a:schemeClr>
                            </a:solidFill>
                            <a:latin typeface="Cambria Math" panose="02040503050406030204" pitchFamily="18" charset="0"/>
                          </a:rPr>
                        </m:ctrlPr>
                      </m:sSubPr>
                      <m:e>
                        <m:r>
                          <a:rPr lang="en-NZ" altLang="ja-JP" sz="1600" b="0" i="1" smtClean="0">
                            <a:solidFill>
                              <a:schemeClr val="bg2">
                                <a:lumMod val="25000"/>
                              </a:schemeClr>
                            </a:solidFill>
                            <a:latin typeface="Cambria Math" panose="02040503050406030204" pitchFamily="18" charset="0"/>
                          </a:rPr>
                          <m:t>𝐻</m:t>
                        </m:r>
                      </m:e>
                      <m:sub>
                        <m:r>
                          <a:rPr lang="en-NZ" altLang="ja-JP" sz="1600" b="0" i="1" smtClean="0">
                            <a:solidFill>
                              <a:schemeClr val="bg2">
                                <a:lumMod val="25000"/>
                              </a:schemeClr>
                            </a:solidFill>
                            <a:latin typeface="Cambria Math" panose="02040503050406030204" pitchFamily="18" charset="0"/>
                          </a:rPr>
                          <m:t>1</m:t>
                        </m:r>
                      </m:sub>
                    </m:sSub>
                  </m:oMath>
                </a14:m>
                <a:endParaRPr lang="en-US" altLang="ja-JP" sz="1600" dirty="0">
                  <a:solidFill>
                    <a:schemeClr val="bg2">
                      <a:lumMod val="25000"/>
                    </a:schemeClr>
                  </a:solidFill>
                </a:endParaRPr>
              </a:p>
            </p:txBody>
          </p:sp>
        </mc:Choice>
        <mc:Fallback xmlns="">
          <p:sp>
            <p:nvSpPr>
              <p:cNvPr id="20" name="Text Placeholder 5">
                <a:extLst>
                  <a:ext uri="{FF2B5EF4-FFF2-40B4-BE49-F238E27FC236}">
                    <a16:creationId xmlns:a16="http://schemas.microsoft.com/office/drawing/2014/main" id="{1A73473D-974D-1313-2FB9-B14797360B7C}"/>
                  </a:ext>
                </a:extLst>
              </p:cNvPr>
              <p:cNvSpPr txBox="1">
                <a:spLocks noRot="1" noChangeAspect="1" noMove="1" noResize="1" noEditPoints="1" noAdjustHandles="1" noChangeArrowheads="1" noChangeShapeType="1" noTextEdit="1"/>
              </p:cNvSpPr>
              <p:nvPr/>
            </p:nvSpPr>
            <p:spPr>
              <a:xfrm>
                <a:off x="6123964" y="5572235"/>
                <a:ext cx="2628799" cy="658990"/>
              </a:xfrm>
              <a:prstGeom prst="rect">
                <a:avLst/>
              </a:prstGeom>
              <a:blipFill>
                <a:blip r:embed="rId7"/>
                <a:stretch>
                  <a:fillRect l="-232" t="-2778" r="-2088"/>
                </a:stretch>
              </a:blipFill>
            </p:spPr>
            <p:txBody>
              <a:bodyPr/>
              <a:lstStyle/>
              <a:p>
                <a:r>
                  <a:rPr lang="en-NZ">
                    <a:noFill/>
                  </a:rPr>
                  <a:t> </a:t>
                </a:r>
              </a:p>
            </p:txBody>
          </p:sp>
        </mc:Fallback>
      </mc:AlternateContent>
      <p:sp>
        <p:nvSpPr>
          <p:cNvPr id="21" name="Right Brace 20">
            <a:extLst>
              <a:ext uri="{FF2B5EF4-FFF2-40B4-BE49-F238E27FC236}">
                <a16:creationId xmlns:a16="http://schemas.microsoft.com/office/drawing/2014/main" id="{0BC5D403-70FC-DB9F-F5F3-3F8068ECA464}"/>
              </a:ext>
            </a:extLst>
          </p:cNvPr>
          <p:cNvSpPr/>
          <p:nvPr/>
        </p:nvSpPr>
        <p:spPr>
          <a:xfrm>
            <a:off x="5644957" y="5562889"/>
            <a:ext cx="423081" cy="56954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Tree>
    <p:extLst>
      <p:ext uri="{BB962C8B-B14F-4D97-AF65-F5344CB8AC3E}">
        <p14:creationId xmlns:p14="http://schemas.microsoft.com/office/powerpoint/2010/main" val="310803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0" grpId="0" animBg="1"/>
      <p:bldP spid="19" grpId="0"/>
      <p:bldP spid="20" grpId="0"/>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17</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6.3b – Application to Motivating Example:</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6.3b – Motivating Example</a:t>
            </a:r>
            <a:endParaRPr kumimoji="1" lang="ja-JP" altLang="en-US" sz="1600" dirty="0">
              <a:solidFill>
                <a:srgbClr val="DEDDDD"/>
              </a:solidFill>
              <a:latin typeface="Gidole"/>
            </a:endParaRPr>
          </a:p>
        </p:txBody>
      </p:sp>
      <p:sp>
        <p:nvSpPr>
          <p:cNvPr id="15" name="Text Placeholder 5">
            <a:extLst>
              <a:ext uri="{FF2B5EF4-FFF2-40B4-BE49-F238E27FC236}">
                <a16:creationId xmlns:a16="http://schemas.microsoft.com/office/drawing/2014/main" id="{95AF9075-867E-4C57-A5BD-8FBBB9619B22}"/>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6.3 - Application of Permutation Testing to Motivating Example</a:t>
            </a:r>
            <a:r>
              <a:rPr lang="en-US" altLang="ja-JP" sz="1200" dirty="0">
                <a:solidFill>
                  <a:srgbClr val="C00000"/>
                </a:solidFill>
              </a:rPr>
              <a:t>.</a:t>
            </a:r>
            <a:endParaRPr lang="en-US" altLang="ja-JP" sz="1200" b="1" i="1" dirty="0">
              <a:solidFill>
                <a:srgbClr val="C00000"/>
              </a:solidFill>
            </a:endParaRPr>
          </a:p>
        </p:txBody>
      </p:sp>
      <p:sp>
        <p:nvSpPr>
          <p:cNvPr id="16" name="Text Placeholder 5">
            <a:extLst>
              <a:ext uri="{FF2B5EF4-FFF2-40B4-BE49-F238E27FC236}">
                <a16:creationId xmlns:a16="http://schemas.microsoft.com/office/drawing/2014/main" id="{D07D47C8-93D1-4704-BE01-75240089728B}"/>
              </a:ext>
            </a:extLst>
          </p:cNvPr>
          <p:cNvSpPr txBox="1">
            <a:spLocks/>
          </p:cNvSpPr>
          <p:nvPr/>
        </p:nvSpPr>
        <p:spPr>
          <a:xfrm>
            <a:off x="319462" y="1050295"/>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1800" b="1" dirty="0">
                <a:solidFill>
                  <a:schemeClr val="tx1"/>
                </a:solidFill>
              </a:rPr>
              <a:t>Step 1&amp;2:</a:t>
            </a:r>
            <a:endParaRPr lang="en-US" altLang="ja-JP" sz="1800" b="1" i="1" dirty="0">
              <a:solidFill>
                <a:schemeClr val="tx1"/>
              </a:solidFill>
            </a:endParaRPr>
          </a:p>
        </p:txBody>
      </p:sp>
      <p:sp>
        <p:nvSpPr>
          <p:cNvPr id="17" name="Text Placeholder 5">
            <a:extLst>
              <a:ext uri="{FF2B5EF4-FFF2-40B4-BE49-F238E27FC236}">
                <a16:creationId xmlns:a16="http://schemas.microsoft.com/office/drawing/2014/main" id="{0BC7E988-1032-4971-877B-88C0591A9BB3}"/>
              </a:ext>
            </a:extLst>
          </p:cNvPr>
          <p:cNvSpPr txBox="1">
            <a:spLocks/>
          </p:cNvSpPr>
          <p:nvPr/>
        </p:nvSpPr>
        <p:spPr>
          <a:xfrm>
            <a:off x="1487605" y="1050295"/>
            <a:ext cx="10384932"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Does the mean length of a particular species of fish differ inside (A) and outside (B) a marine reserve.</a:t>
            </a:r>
            <a:endParaRPr lang="en-US" altLang="ja-JP" sz="1800" i="1" dirty="0">
              <a:solidFill>
                <a:schemeClr val="tx1"/>
              </a:solidFill>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ED0A1361-E274-4E57-97C4-D8208576D514}"/>
                  </a:ext>
                </a:extLst>
              </p:cNvPr>
              <p:cNvSpPr txBox="1">
                <a:spLocks/>
              </p:cNvSpPr>
              <p:nvPr/>
            </p:nvSpPr>
            <p:spPr>
              <a:xfrm>
                <a:off x="1487604" y="1451508"/>
                <a:ext cx="6875690"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a:solidFill>
                              <a:schemeClr val="tx1"/>
                            </a:solidFill>
                            <a:latin typeface="Cambria Math" panose="02040503050406030204" pitchFamily="18" charset="0"/>
                          </a:rPr>
                          <m:t>𝟎</m:t>
                        </m:r>
                      </m:sub>
                    </m:sSub>
                    <m:r>
                      <a:rPr lang="en-NZ" altLang="ja-JP" sz="1600" b="1" i="1">
                        <a:solidFill>
                          <a:schemeClr val="tx1"/>
                        </a:solidFill>
                        <a:latin typeface="Cambria Math" panose="02040503050406030204" pitchFamily="18" charset="0"/>
                      </a:rPr>
                      <m:t> :</m:t>
                    </m:r>
                  </m:oMath>
                </a14:m>
                <a:r>
                  <a:rPr lang="en-NZ" altLang="ja-JP" sz="16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No difference in mean length of fish inside (A) &amp; outside (B) reserve</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oMath>
                </a14:m>
                <a:r>
                  <a:rPr lang="en-NZ" altLang="ja-JP" sz="1600" b="1" dirty="0">
                    <a:solidFill>
                      <a:schemeClr val="tx1"/>
                    </a:solidFill>
                  </a:rPr>
                  <a:t> </a:t>
                </a:r>
                <a:r>
                  <a:rPr lang="en-NZ" altLang="ja-JP" sz="1600" dirty="0">
                    <a:solidFill>
                      <a:schemeClr val="tx1"/>
                    </a:solidFill>
                  </a:rPr>
                  <a:t>Mean length of fish is greater outside (B) marine reserve than inside (A)</a:t>
                </a:r>
                <a:endParaRPr lang="en-NZ" altLang="ja-JP" sz="1600" b="1" dirty="0">
                  <a:solidFill>
                    <a:schemeClr val="tx1"/>
                  </a:solidFill>
                </a:endParaRPr>
              </a:p>
            </p:txBody>
          </p:sp>
        </mc:Choice>
        <mc:Fallback xmlns="">
          <p:sp>
            <p:nvSpPr>
              <p:cNvPr id="19" name="Text Placeholder 5">
                <a:extLst>
                  <a:ext uri="{FF2B5EF4-FFF2-40B4-BE49-F238E27FC236}">
                    <a16:creationId xmlns:a16="http://schemas.microsoft.com/office/drawing/2014/main" id="{ED0A1361-E274-4E57-97C4-D8208576D514}"/>
                  </a:ext>
                </a:extLst>
              </p:cNvPr>
              <p:cNvSpPr txBox="1">
                <a:spLocks noRot="1" noChangeAspect="1" noMove="1" noResize="1" noEditPoints="1" noAdjustHandles="1" noChangeArrowheads="1" noChangeShapeType="1" noTextEdit="1"/>
              </p:cNvSpPr>
              <p:nvPr/>
            </p:nvSpPr>
            <p:spPr>
              <a:xfrm>
                <a:off x="1487604" y="1451508"/>
                <a:ext cx="6875690" cy="695961"/>
              </a:xfrm>
              <a:prstGeom prst="rect">
                <a:avLst/>
              </a:prstGeom>
              <a:blipFill>
                <a:blip r:embed="rId3"/>
                <a:stretch>
                  <a:fillRect t="-3509" r="-532"/>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0BBBCDFB-1D98-40D6-A345-09B1D6E66BC7}"/>
              </a:ext>
            </a:extLst>
          </p:cNvPr>
          <p:cNvSpPr txBox="1">
            <a:spLocks/>
          </p:cNvSpPr>
          <p:nvPr/>
        </p:nvSpPr>
        <p:spPr>
          <a:xfrm>
            <a:off x="319461" y="2186919"/>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1800" b="1" dirty="0">
                <a:solidFill>
                  <a:schemeClr val="tx1"/>
                </a:solidFill>
              </a:rPr>
              <a:t>Step 3:</a:t>
            </a:r>
            <a:endParaRPr lang="en-US" altLang="ja-JP" sz="1800" b="1" i="1" dirty="0">
              <a:solidFill>
                <a:schemeClr val="tx1"/>
              </a:solidFill>
            </a:endParaRPr>
          </a:p>
        </p:txBody>
      </p:sp>
      <p:sp>
        <p:nvSpPr>
          <p:cNvPr id="22" name="Text Placeholder 5">
            <a:extLst>
              <a:ext uri="{FF2B5EF4-FFF2-40B4-BE49-F238E27FC236}">
                <a16:creationId xmlns:a16="http://schemas.microsoft.com/office/drawing/2014/main" id="{2FB80A48-E8E7-40F9-ADEC-2BD9EBAA99FC}"/>
              </a:ext>
            </a:extLst>
          </p:cNvPr>
          <p:cNvSpPr txBox="1">
            <a:spLocks/>
          </p:cNvSpPr>
          <p:nvPr/>
        </p:nvSpPr>
        <p:spPr>
          <a:xfrm>
            <a:off x="1487605" y="2189865"/>
            <a:ext cx="10384932" cy="6286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Take a sample of data and determine an appropriate test statistic, in this case the t-statistic. </a:t>
            </a:r>
            <a:endParaRPr lang="en-US" altLang="ja-JP" sz="1800" i="1" dirty="0">
              <a:solidFill>
                <a:schemeClr val="tx1"/>
              </a:solidFill>
            </a:endParaRPr>
          </a:p>
        </p:txBody>
      </p:sp>
      <p:graphicFrame>
        <p:nvGraphicFramePr>
          <p:cNvPr id="23" name="Table 22">
            <a:extLst>
              <a:ext uri="{FF2B5EF4-FFF2-40B4-BE49-F238E27FC236}">
                <a16:creationId xmlns:a16="http://schemas.microsoft.com/office/drawing/2014/main" id="{1819EA64-D14B-4DEF-9109-69E92E89CE5B}"/>
              </a:ext>
            </a:extLst>
          </p:cNvPr>
          <p:cNvGraphicFramePr>
            <a:graphicFrameLocks noGrp="1"/>
          </p:cNvGraphicFramePr>
          <p:nvPr>
            <p:extLst>
              <p:ext uri="{D42A27DB-BD31-4B8C-83A1-F6EECF244321}">
                <p14:modId xmlns:p14="http://schemas.microsoft.com/office/powerpoint/2010/main" val="1407470088"/>
              </p:ext>
            </p:extLst>
          </p:nvPr>
        </p:nvGraphicFramePr>
        <p:xfrm>
          <a:off x="1624082" y="2662835"/>
          <a:ext cx="4913194" cy="628650"/>
        </p:xfrm>
        <a:graphic>
          <a:graphicData uri="http://schemas.openxmlformats.org/drawingml/2006/table">
            <a:tbl>
              <a:tblPr/>
              <a:tblGrid>
                <a:gridCol w="446654">
                  <a:extLst>
                    <a:ext uri="{9D8B030D-6E8A-4147-A177-3AD203B41FA5}">
                      <a16:colId xmlns:a16="http://schemas.microsoft.com/office/drawing/2014/main" val="4037610628"/>
                    </a:ext>
                  </a:extLst>
                </a:gridCol>
                <a:gridCol w="446654">
                  <a:extLst>
                    <a:ext uri="{9D8B030D-6E8A-4147-A177-3AD203B41FA5}">
                      <a16:colId xmlns:a16="http://schemas.microsoft.com/office/drawing/2014/main" val="590370213"/>
                    </a:ext>
                  </a:extLst>
                </a:gridCol>
                <a:gridCol w="446654">
                  <a:extLst>
                    <a:ext uri="{9D8B030D-6E8A-4147-A177-3AD203B41FA5}">
                      <a16:colId xmlns:a16="http://schemas.microsoft.com/office/drawing/2014/main" val="3452557641"/>
                    </a:ext>
                  </a:extLst>
                </a:gridCol>
                <a:gridCol w="446654">
                  <a:extLst>
                    <a:ext uri="{9D8B030D-6E8A-4147-A177-3AD203B41FA5}">
                      <a16:colId xmlns:a16="http://schemas.microsoft.com/office/drawing/2014/main" val="3162769819"/>
                    </a:ext>
                  </a:extLst>
                </a:gridCol>
                <a:gridCol w="446654">
                  <a:extLst>
                    <a:ext uri="{9D8B030D-6E8A-4147-A177-3AD203B41FA5}">
                      <a16:colId xmlns:a16="http://schemas.microsoft.com/office/drawing/2014/main" val="3968378480"/>
                    </a:ext>
                  </a:extLst>
                </a:gridCol>
                <a:gridCol w="446654">
                  <a:extLst>
                    <a:ext uri="{9D8B030D-6E8A-4147-A177-3AD203B41FA5}">
                      <a16:colId xmlns:a16="http://schemas.microsoft.com/office/drawing/2014/main" val="2641096747"/>
                    </a:ext>
                  </a:extLst>
                </a:gridCol>
                <a:gridCol w="446654">
                  <a:extLst>
                    <a:ext uri="{9D8B030D-6E8A-4147-A177-3AD203B41FA5}">
                      <a16:colId xmlns:a16="http://schemas.microsoft.com/office/drawing/2014/main" val="2998617417"/>
                    </a:ext>
                  </a:extLst>
                </a:gridCol>
                <a:gridCol w="446654">
                  <a:extLst>
                    <a:ext uri="{9D8B030D-6E8A-4147-A177-3AD203B41FA5}">
                      <a16:colId xmlns:a16="http://schemas.microsoft.com/office/drawing/2014/main" val="2672304242"/>
                    </a:ext>
                  </a:extLst>
                </a:gridCol>
                <a:gridCol w="446654">
                  <a:extLst>
                    <a:ext uri="{9D8B030D-6E8A-4147-A177-3AD203B41FA5}">
                      <a16:colId xmlns:a16="http://schemas.microsoft.com/office/drawing/2014/main" val="684859242"/>
                    </a:ext>
                  </a:extLst>
                </a:gridCol>
                <a:gridCol w="446654">
                  <a:extLst>
                    <a:ext uri="{9D8B030D-6E8A-4147-A177-3AD203B41FA5}">
                      <a16:colId xmlns:a16="http://schemas.microsoft.com/office/drawing/2014/main" val="3591260737"/>
                    </a:ext>
                  </a:extLst>
                </a:gridCol>
                <a:gridCol w="446654">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2386394-4421-4543-9D1E-96EE8A30692C}"/>
                  </a:ext>
                </a:extLst>
              </p:cNvPr>
              <p:cNvSpPr txBox="1">
                <a:spLocks/>
              </p:cNvSpPr>
              <p:nvPr/>
            </p:nvSpPr>
            <p:spPr>
              <a:xfrm>
                <a:off x="6680070" y="2629179"/>
                <a:ext cx="2065363"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d>
                        <m:dPr>
                          <m:begChr m:val="|"/>
                          <m:endChr m:val="|"/>
                          <m:ctrlPr>
                            <a:rPr lang="en-NZ" altLang="ja-JP" sz="1400" b="1" i="1" smtClean="0">
                              <a:solidFill>
                                <a:schemeClr val="tx1"/>
                              </a:solidFill>
                              <a:latin typeface="Cambria Math" panose="02040503050406030204" pitchFamily="18" charset="0"/>
                            </a:rPr>
                          </m:ctrlPr>
                        </m:dPr>
                        <m:e>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𝒕</m:t>
                          </m:r>
                          <m:r>
                            <a:rPr lang="en-NZ" altLang="ja-JP" sz="1400" b="1" i="1" smtClean="0">
                              <a:solidFill>
                                <a:schemeClr val="tx1"/>
                              </a:solidFill>
                              <a:latin typeface="Cambria Math" panose="02040503050406030204" pitchFamily="18" charset="0"/>
                            </a:rPr>
                            <m:t> </m:t>
                          </m:r>
                        </m:e>
                      </m:d>
                      <m:r>
                        <a:rPr lang="en-NZ" altLang="ja-JP" sz="1400" b="1" i="1" smtClean="0">
                          <a:solidFill>
                            <a:schemeClr val="tx1"/>
                          </a:solidFill>
                          <a:latin typeface="Cambria Math" panose="02040503050406030204" pitchFamily="18" charset="0"/>
                        </a:rPr>
                        <m:t>= </m:t>
                      </m:r>
                      <m:d>
                        <m:dPr>
                          <m:begChr m:val="|"/>
                          <m:endChr m:val="|"/>
                          <m:ctrlPr>
                            <a:rPr lang="en-NZ" altLang="ja-JP" sz="1400" b="1" i="1" smtClean="0">
                              <a:solidFill>
                                <a:schemeClr val="tx1"/>
                              </a:solidFill>
                              <a:latin typeface="Cambria Math" panose="02040503050406030204" pitchFamily="18" charset="0"/>
                            </a:rPr>
                          </m:ctrlPr>
                        </m:dPr>
                        <m:e>
                          <m:r>
                            <a:rPr lang="en-NZ" altLang="ja-JP" sz="1400" b="1" i="1" smtClean="0">
                              <a:solidFill>
                                <a:schemeClr val="tx1"/>
                              </a:solidFill>
                              <a:latin typeface="Cambria Math" panose="02040503050406030204" pitchFamily="18" charset="0"/>
                            </a:rPr>
                            <m:t> </m:t>
                          </m:r>
                          <m:f>
                            <m:fPr>
                              <m:ctrlPr>
                                <a:rPr lang="en-NZ" altLang="ja-JP" sz="1400" b="1" i="1">
                                  <a:solidFill>
                                    <a:schemeClr val="tx1"/>
                                  </a:solidFill>
                                  <a:latin typeface="Cambria Math" panose="02040503050406030204" pitchFamily="18" charset="0"/>
                                </a:rPr>
                              </m:ctrlPr>
                            </m:fPr>
                            <m:num>
                              <m:acc>
                                <m:accPr>
                                  <m:chr m:val="̅"/>
                                  <m:ctrlPr>
                                    <a:rPr lang="en-NZ" altLang="ja-JP" sz="1400" b="1" i="1">
                                      <a:solidFill>
                                        <a:schemeClr val="tx1"/>
                                      </a:solidFill>
                                      <a:latin typeface="Cambria Math" panose="02040503050406030204" pitchFamily="18" charset="0"/>
                                    </a:rPr>
                                  </m:ctrlPr>
                                </m:accPr>
                                <m:e>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𝒚</m:t>
                                      </m:r>
                                    </m:e>
                                    <m:sub>
                                      <m:r>
                                        <a:rPr lang="en-NZ" altLang="ja-JP" sz="1400" b="1" i="1">
                                          <a:solidFill>
                                            <a:schemeClr val="tx1"/>
                                          </a:solidFill>
                                          <a:latin typeface="Cambria Math" panose="02040503050406030204" pitchFamily="18" charset="0"/>
                                        </a:rPr>
                                        <m:t>𝑨</m:t>
                                      </m:r>
                                    </m:sub>
                                  </m:sSub>
                                </m:e>
                              </m:acc>
                              <m:r>
                                <a:rPr lang="en-NZ" altLang="ja-JP" sz="1400" b="1" i="1">
                                  <a:solidFill>
                                    <a:schemeClr val="tx1"/>
                                  </a:solidFill>
                                  <a:latin typeface="Cambria Math" panose="02040503050406030204" pitchFamily="18" charset="0"/>
                                </a:rPr>
                                <m:t>  −</m:t>
                              </m:r>
                              <m:acc>
                                <m:accPr>
                                  <m:chr m:val="̅"/>
                                  <m:ctrlPr>
                                    <a:rPr lang="en-NZ" altLang="ja-JP" sz="1400" b="1" i="1">
                                      <a:solidFill>
                                        <a:schemeClr val="tx1"/>
                                      </a:solidFill>
                                      <a:latin typeface="Cambria Math" panose="02040503050406030204" pitchFamily="18" charset="0"/>
                                    </a:rPr>
                                  </m:ctrlPr>
                                </m:accPr>
                                <m:e>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𝒚</m:t>
                                      </m:r>
                                    </m:e>
                                    <m:sub>
                                      <m:r>
                                        <a:rPr lang="en-NZ" altLang="ja-JP" sz="1400" b="1" i="1">
                                          <a:solidFill>
                                            <a:schemeClr val="tx1"/>
                                          </a:solidFill>
                                          <a:latin typeface="Cambria Math" panose="02040503050406030204" pitchFamily="18" charset="0"/>
                                        </a:rPr>
                                        <m:t>𝑩</m:t>
                                      </m:r>
                                    </m:sub>
                                  </m:sSub>
                                </m:e>
                              </m:acc>
                            </m:num>
                            <m:den>
                              <m:r>
                                <a:rPr lang="en-NZ" altLang="ja-JP" sz="1400" b="1" i="1">
                                  <a:solidFill>
                                    <a:schemeClr val="tx1"/>
                                  </a:solidFill>
                                  <a:latin typeface="Cambria Math" panose="02040503050406030204" pitchFamily="18" charset="0"/>
                                </a:rPr>
                                <m:t>𝒔</m:t>
                              </m:r>
                              <m:r>
                                <a:rPr lang="en-NZ" altLang="ja-JP" sz="1400" b="1" i="1">
                                  <a:solidFill>
                                    <a:schemeClr val="tx1"/>
                                  </a:solidFill>
                                  <a:latin typeface="Cambria Math" panose="02040503050406030204" pitchFamily="18" charset="0"/>
                                </a:rPr>
                                <m:t> </m:t>
                              </m:r>
                              <m:rad>
                                <m:radPr>
                                  <m:degHide m:val="on"/>
                                  <m:ctrlPr>
                                    <a:rPr lang="en-NZ" altLang="ja-JP" sz="1400" b="1" i="1">
                                      <a:solidFill>
                                        <a:schemeClr val="tx1"/>
                                      </a:solidFill>
                                      <a:latin typeface="Cambria Math" panose="02040503050406030204" pitchFamily="18" charset="0"/>
                                    </a:rPr>
                                  </m:ctrlPr>
                                </m:radPr>
                                <m:deg/>
                                <m:e>
                                  <m:f>
                                    <m:fPr>
                                      <m:ctrlPr>
                                        <a:rPr lang="en-NZ" altLang="ja-JP" sz="1400" b="1" i="1">
                                          <a:solidFill>
                                            <a:schemeClr val="tx1"/>
                                          </a:solidFill>
                                          <a:latin typeface="Cambria Math" panose="02040503050406030204" pitchFamily="18" charset="0"/>
                                        </a:rPr>
                                      </m:ctrlPr>
                                    </m:fPr>
                                    <m:num>
                                      <m:r>
                                        <a:rPr lang="en-NZ" altLang="ja-JP" sz="1400" b="1" i="1">
                                          <a:solidFill>
                                            <a:schemeClr val="tx1"/>
                                          </a:solidFill>
                                          <a:latin typeface="Cambria Math" panose="02040503050406030204" pitchFamily="18" charset="0"/>
                                        </a:rPr>
                                        <m:t>𝟏</m:t>
                                      </m:r>
                                    </m:num>
                                    <m:den>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𝒏</m:t>
                                          </m:r>
                                        </m:e>
                                        <m:sub>
                                          <m:r>
                                            <a:rPr lang="en-NZ" altLang="ja-JP" sz="1400" b="1" i="1">
                                              <a:solidFill>
                                                <a:schemeClr val="tx1"/>
                                              </a:solidFill>
                                              <a:latin typeface="Cambria Math" panose="02040503050406030204" pitchFamily="18" charset="0"/>
                                            </a:rPr>
                                            <m:t>𝑨</m:t>
                                          </m:r>
                                        </m:sub>
                                      </m:sSub>
                                    </m:den>
                                  </m:f>
                                  <m:r>
                                    <a:rPr lang="en-NZ" altLang="ja-JP" sz="1400" b="1" i="1">
                                      <a:solidFill>
                                        <a:schemeClr val="tx1"/>
                                      </a:solidFill>
                                      <a:latin typeface="Cambria Math" panose="02040503050406030204" pitchFamily="18" charset="0"/>
                                    </a:rPr>
                                    <m:t> +  </m:t>
                                  </m:r>
                                  <m:f>
                                    <m:fPr>
                                      <m:ctrlPr>
                                        <a:rPr lang="en-NZ" altLang="ja-JP" sz="1400" b="1" i="1">
                                          <a:solidFill>
                                            <a:schemeClr val="tx1"/>
                                          </a:solidFill>
                                          <a:latin typeface="Cambria Math" panose="02040503050406030204" pitchFamily="18" charset="0"/>
                                        </a:rPr>
                                      </m:ctrlPr>
                                    </m:fPr>
                                    <m:num>
                                      <m:r>
                                        <a:rPr lang="en-NZ" altLang="ja-JP" sz="1400" b="1" i="1">
                                          <a:solidFill>
                                            <a:schemeClr val="tx1"/>
                                          </a:solidFill>
                                          <a:latin typeface="Cambria Math" panose="02040503050406030204" pitchFamily="18" charset="0"/>
                                        </a:rPr>
                                        <m:t>𝟏</m:t>
                                      </m:r>
                                    </m:num>
                                    <m:den>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𝒏</m:t>
                                          </m:r>
                                        </m:e>
                                        <m:sub>
                                          <m:r>
                                            <a:rPr lang="en-NZ" altLang="ja-JP" sz="1400" b="1" i="1">
                                              <a:solidFill>
                                                <a:schemeClr val="tx1"/>
                                              </a:solidFill>
                                              <a:latin typeface="Cambria Math" panose="02040503050406030204" pitchFamily="18" charset="0"/>
                                            </a:rPr>
                                            <m:t>𝑩</m:t>
                                          </m:r>
                                        </m:sub>
                                      </m:sSub>
                                    </m:den>
                                  </m:f>
                                </m:e>
                              </m:rad>
                              <m:r>
                                <a:rPr lang="en-NZ" altLang="ja-JP" sz="1400" b="1" i="1">
                                  <a:solidFill>
                                    <a:schemeClr val="tx1"/>
                                  </a:solidFill>
                                  <a:latin typeface="Cambria Math" panose="02040503050406030204" pitchFamily="18" charset="0"/>
                                </a:rPr>
                                <m:t> </m:t>
                              </m:r>
                            </m:den>
                          </m:f>
                          <m:r>
                            <a:rPr lang="en-NZ" altLang="ja-JP" sz="1400" b="1" i="1" smtClean="0">
                              <a:solidFill>
                                <a:schemeClr val="tx1"/>
                              </a:solidFill>
                              <a:latin typeface="Cambria Math" panose="02040503050406030204" pitchFamily="18" charset="0"/>
                            </a:rPr>
                            <m:t> </m:t>
                          </m:r>
                        </m:e>
                      </m:d>
                    </m:oMath>
                  </m:oMathPara>
                </a14:m>
                <a:endParaRPr lang="en-NZ" altLang="ja-JP" sz="1400" b="1" dirty="0">
                  <a:solidFill>
                    <a:schemeClr val="tx1"/>
                  </a:solidFill>
                </a:endParaRPr>
              </a:p>
            </p:txBody>
          </p:sp>
        </mc:Choice>
        <mc:Fallback xmlns="">
          <p:sp>
            <p:nvSpPr>
              <p:cNvPr id="24" name="Text Placeholder 5">
                <a:extLst>
                  <a:ext uri="{FF2B5EF4-FFF2-40B4-BE49-F238E27FC236}">
                    <a16:creationId xmlns:a16="http://schemas.microsoft.com/office/drawing/2014/main" id="{C2386394-4421-4543-9D1E-96EE8A30692C}"/>
                  </a:ext>
                </a:extLst>
              </p:cNvPr>
              <p:cNvSpPr txBox="1">
                <a:spLocks noRot="1" noChangeAspect="1" noMove="1" noResize="1" noEditPoints="1" noAdjustHandles="1" noChangeArrowheads="1" noChangeShapeType="1" noTextEdit="1"/>
              </p:cNvSpPr>
              <p:nvPr/>
            </p:nvSpPr>
            <p:spPr>
              <a:xfrm>
                <a:off x="6680070" y="2629179"/>
                <a:ext cx="2065363" cy="695961"/>
              </a:xfrm>
              <a:prstGeom prst="rect">
                <a:avLst/>
              </a:prstGeom>
              <a:blipFill>
                <a:blip r:embed="rId4"/>
                <a:stretch>
                  <a:fillRect b="-789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CF4D204A-8E74-4219-A75A-3F563F0E20CA}"/>
                  </a:ext>
                </a:extLst>
              </p:cNvPr>
              <p:cNvSpPr txBox="1">
                <a:spLocks/>
              </p:cNvSpPr>
              <p:nvPr/>
            </p:nvSpPr>
            <p:spPr>
              <a:xfrm>
                <a:off x="8745433" y="2749082"/>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𝒕</m:t>
                          </m:r>
                        </m:e>
                        <m:sub>
                          <m:r>
                            <a:rPr lang="en-NZ" altLang="ja-JP" sz="1400" b="1" i="1" smtClean="0">
                              <a:solidFill>
                                <a:schemeClr val="tx1"/>
                              </a:solidFill>
                              <a:latin typeface="Cambria Math" panose="02040503050406030204" pitchFamily="18" charset="0"/>
                            </a:rPr>
                            <m:t>𝒐𝒃𝒔</m:t>
                          </m:r>
                          <m:r>
                            <a:rPr lang="en-NZ" altLang="ja-JP" sz="1400" b="1" i="1" smtClean="0">
                              <a:solidFill>
                                <a:schemeClr val="tx1"/>
                              </a:solidFill>
                              <a:latin typeface="Cambria Math" panose="02040503050406030204" pitchFamily="18" charset="0"/>
                            </a:rPr>
                            <m:t> </m:t>
                          </m:r>
                        </m:sub>
                      </m:sSub>
                      <m:r>
                        <a:rPr lang="en-NZ" altLang="ja-JP" sz="1400" b="1" i="1" smtClean="0">
                          <a:solidFill>
                            <a:schemeClr val="tx1"/>
                          </a:solidFill>
                          <a:latin typeface="Cambria Math" panose="02040503050406030204" pitchFamily="18" charset="0"/>
                        </a:rPr>
                        <m:t>| =</m:t>
                      </m:r>
                      <m:r>
                        <a:rPr lang="en-NZ" altLang="ja-JP" sz="1400" b="1" i="1">
                          <a:solidFill>
                            <a:schemeClr val="tx1"/>
                          </a:solidFill>
                          <a:latin typeface="Cambria Math" panose="02040503050406030204" pitchFamily="18" charset="0"/>
                        </a:rPr>
                        <m:t>𝟐</m:t>
                      </m:r>
                      <m:r>
                        <a:rPr lang="en-NZ" altLang="ja-JP" sz="1400" b="1" i="1">
                          <a:solidFill>
                            <a:schemeClr val="tx1"/>
                          </a:solidFill>
                          <a:latin typeface="Cambria Math" panose="02040503050406030204" pitchFamily="18" charset="0"/>
                        </a:rPr>
                        <m:t>.</m:t>
                      </m:r>
                      <m:r>
                        <a:rPr lang="en-NZ" altLang="ja-JP" sz="1400" b="1" i="1">
                          <a:solidFill>
                            <a:schemeClr val="tx1"/>
                          </a:solidFill>
                          <a:latin typeface="Cambria Math" panose="02040503050406030204" pitchFamily="18" charset="0"/>
                        </a:rPr>
                        <m:t>𝟐𝟕𝟑</m:t>
                      </m:r>
                    </m:oMath>
                  </m:oMathPara>
                </a14:m>
                <a:endParaRPr lang="en-NZ" altLang="ja-JP" sz="1400" b="1" dirty="0">
                  <a:solidFill>
                    <a:schemeClr val="tx1"/>
                  </a:solidFill>
                </a:endParaRPr>
              </a:p>
            </p:txBody>
          </p:sp>
        </mc:Choice>
        <mc:Fallback xmlns="">
          <p:sp>
            <p:nvSpPr>
              <p:cNvPr id="25" name="Text Placeholder 5">
                <a:extLst>
                  <a:ext uri="{FF2B5EF4-FFF2-40B4-BE49-F238E27FC236}">
                    <a16:creationId xmlns:a16="http://schemas.microsoft.com/office/drawing/2014/main" id="{CF4D204A-8E74-4219-A75A-3F563F0E20CA}"/>
                  </a:ext>
                </a:extLst>
              </p:cNvPr>
              <p:cNvSpPr txBox="1">
                <a:spLocks noRot="1" noChangeAspect="1" noMove="1" noResize="1" noEditPoints="1" noAdjustHandles="1" noChangeArrowheads="1" noChangeShapeType="1" noTextEdit="1"/>
              </p:cNvSpPr>
              <p:nvPr/>
            </p:nvSpPr>
            <p:spPr>
              <a:xfrm>
                <a:off x="8745433" y="2749082"/>
                <a:ext cx="2065363" cy="452058"/>
              </a:xfrm>
              <a:prstGeom prst="rect">
                <a:avLst/>
              </a:prstGeom>
              <a:blipFill>
                <a:blip r:embed="rId5"/>
                <a:stretch>
                  <a:fillRect/>
                </a:stretch>
              </a:blipFill>
            </p:spPr>
            <p:txBody>
              <a:bodyPr/>
              <a:lstStyle/>
              <a:p>
                <a:r>
                  <a:rPr lang="en-NZ">
                    <a:noFill/>
                  </a:rPr>
                  <a:t> </a:t>
                </a:r>
              </a:p>
            </p:txBody>
          </p:sp>
        </mc:Fallback>
      </mc:AlternateContent>
      <p:sp>
        <p:nvSpPr>
          <p:cNvPr id="26" name="Text Placeholder 5">
            <a:extLst>
              <a:ext uri="{FF2B5EF4-FFF2-40B4-BE49-F238E27FC236}">
                <a16:creationId xmlns:a16="http://schemas.microsoft.com/office/drawing/2014/main" id="{2281EDEF-0406-4AA6-B214-E967D9AD95F8}"/>
              </a:ext>
            </a:extLst>
          </p:cNvPr>
          <p:cNvSpPr txBox="1">
            <a:spLocks/>
          </p:cNvSpPr>
          <p:nvPr/>
        </p:nvSpPr>
        <p:spPr>
          <a:xfrm>
            <a:off x="319461" y="3721178"/>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1800" b="1" dirty="0">
                <a:solidFill>
                  <a:schemeClr val="tx1"/>
                </a:solidFill>
              </a:rPr>
              <a:t>Step 4&amp;5:</a:t>
            </a:r>
            <a:endParaRPr lang="en-US" altLang="ja-JP" sz="1800" b="1" i="1" dirty="0">
              <a:solidFill>
                <a:schemeClr val="tx1"/>
              </a:solidFill>
            </a:endParaRPr>
          </a:p>
        </p:txBody>
      </p:sp>
      <p:sp>
        <p:nvSpPr>
          <p:cNvPr id="27" name="Text Placeholder 5">
            <a:extLst>
              <a:ext uri="{FF2B5EF4-FFF2-40B4-BE49-F238E27FC236}">
                <a16:creationId xmlns:a16="http://schemas.microsoft.com/office/drawing/2014/main" id="{51BD8A10-C258-4C5B-B1C6-B069ECF3E2EF}"/>
              </a:ext>
            </a:extLst>
          </p:cNvPr>
          <p:cNvSpPr txBox="1">
            <a:spLocks/>
          </p:cNvSpPr>
          <p:nvPr/>
        </p:nvSpPr>
        <p:spPr>
          <a:xfrm>
            <a:off x="1487605" y="3721178"/>
            <a:ext cx="7359679"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Create 1,000 re-ordered samples by permuting observations between groups. </a:t>
            </a:r>
          </a:p>
          <a:p>
            <a:pPr algn="just">
              <a:lnSpc>
                <a:spcPct val="100000"/>
              </a:lnSpc>
            </a:pPr>
            <a:r>
              <a:rPr lang="en-US" altLang="ja-JP" sz="1800" dirty="0">
                <a:solidFill>
                  <a:schemeClr val="tx1"/>
                </a:solidFill>
              </a:rPr>
              <a:t>Obtain the associated distribution of test statistics.</a:t>
            </a:r>
            <a:endParaRPr lang="en-US" altLang="ja-JP" sz="1400" i="1" dirty="0">
              <a:solidFill>
                <a:schemeClr val="tx1"/>
              </a:solidFill>
            </a:endParaRPr>
          </a:p>
        </p:txBody>
      </p:sp>
      <p:graphicFrame>
        <p:nvGraphicFramePr>
          <p:cNvPr id="3" name="Table 2">
            <a:extLst>
              <a:ext uri="{FF2B5EF4-FFF2-40B4-BE49-F238E27FC236}">
                <a16:creationId xmlns:a16="http://schemas.microsoft.com/office/drawing/2014/main" id="{E1380942-854D-4042-AB85-A698A1D88C2A}"/>
              </a:ext>
            </a:extLst>
          </p:cNvPr>
          <p:cNvGraphicFramePr>
            <a:graphicFrameLocks noGrp="1"/>
          </p:cNvGraphicFramePr>
          <p:nvPr>
            <p:extLst>
              <p:ext uri="{D42A27DB-BD31-4B8C-83A1-F6EECF244321}">
                <p14:modId xmlns:p14="http://schemas.microsoft.com/office/powerpoint/2010/main" val="3722912221"/>
              </p:ext>
            </p:extLst>
          </p:nvPr>
        </p:nvGraphicFramePr>
        <p:xfrm>
          <a:off x="1624083" y="4471977"/>
          <a:ext cx="4913194" cy="666750"/>
        </p:xfrm>
        <a:graphic>
          <a:graphicData uri="http://schemas.openxmlformats.org/drawingml/2006/table">
            <a:tbl>
              <a:tblPr/>
              <a:tblGrid>
                <a:gridCol w="446654">
                  <a:extLst>
                    <a:ext uri="{9D8B030D-6E8A-4147-A177-3AD203B41FA5}">
                      <a16:colId xmlns:a16="http://schemas.microsoft.com/office/drawing/2014/main" val="2956152970"/>
                    </a:ext>
                  </a:extLst>
                </a:gridCol>
                <a:gridCol w="446654">
                  <a:extLst>
                    <a:ext uri="{9D8B030D-6E8A-4147-A177-3AD203B41FA5}">
                      <a16:colId xmlns:a16="http://schemas.microsoft.com/office/drawing/2014/main" val="414538103"/>
                    </a:ext>
                  </a:extLst>
                </a:gridCol>
                <a:gridCol w="446654">
                  <a:extLst>
                    <a:ext uri="{9D8B030D-6E8A-4147-A177-3AD203B41FA5}">
                      <a16:colId xmlns:a16="http://schemas.microsoft.com/office/drawing/2014/main" val="1339804077"/>
                    </a:ext>
                  </a:extLst>
                </a:gridCol>
                <a:gridCol w="446654">
                  <a:extLst>
                    <a:ext uri="{9D8B030D-6E8A-4147-A177-3AD203B41FA5}">
                      <a16:colId xmlns:a16="http://schemas.microsoft.com/office/drawing/2014/main" val="4148791291"/>
                    </a:ext>
                  </a:extLst>
                </a:gridCol>
                <a:gridCol w="446654">
                  <a:extLst>
                    <a:ext uri="{9D8B030D-6E8A-4147-A177-3AD203B41FA5}">
                      <a16:colId xmlns:a16="http://schemas.microsoft.com/office/drawing/2014/main" val="1211629232"/>
                    </a:ext>
                  </a:extLst>
                </a:gridCol>
                <a:gridCol w="446654">
                  <a:extLst>
                    <a:ext uri="{9D8B030D-6E8A-4147-A177-3AD203B41FA5}">
                      <a16:colId xmlns:a16="http://schemas.microsoft.com/office/drawing/2014/main" val="3313089687"/>
                    </a:ext>
                  </a:extLst>
                </a:gridCol>
                <a:gridCol w="446654">
                  <a:extLst>
                    <a:ext uri="{9D8B030D-6E8A-4147-A177-3AD203B41FA5}">
                      <a16:colId xmlns:a16="http://schemas.microsoft.com/office/drawing/2014/main" val="3764362846"/>
                    </a:ext>
                  </a:extLst>
                </a:gridCol>
                <a:gridCol w="446654">
                  <a:extLst>
                    <a:ext uri="{9D8B030D-6E8A-4147-A177-3AD203B41FA5}">
                      <a16:colId xmlns:a16="http://schemas.microsoft.com/office/drawing/2014/main" val="3312613770"/>
                    </a:ext>
                  </a:extLst>
                </a:gridCol>
                <a:gridCol w="446654">
                  <a:extLst>
                    <a:ext uri="{9D8B030D-6E8A-4147-A177-3AD203B41FA5}">
                      <a16:colId xmlns:a16="http://schemas.microsoft.com/office/drawing/2014/main" val="2627503338"/>
                    </a:ext>
                  </a:extLst>
                </a:gridCol>
                <a:gridCol w="446654">
                  <a:extLst>
                    <a:ext uri="{9D8B030D-6E8A-4147-A177-3AD203B41FA5}">
                      <a16:colId xmlns:a16="http://schemas.microsoft.com/office/drawing/2014/main" val="3935349071"/>
                    </a:ext>
                  </a:extLst>
                </a:gridCol>
                <a:gridCol w="446654">
                  <a:extLst>
                    <a:ext uri="{9D8B030D-6E8A-4147-A177-3AD203B41FA5}">
                      <a16:colId xmlns:a16="http://schemas.microsoft.com/office/drawing/2014/main" val="365376092"/>
                    </a:ext>
                  </a:extLst>
                </a:gridCol>
              </a:tblGrid>
              <a:tr h="333375">
                <a:tc>
                  <a:txBody>
                    <a:bodyPr/>
                    <a:lstStyle/>
                    <a:p>
                      <a:pPr algn="ctr" rtl="0"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rtl="0"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dirty="0">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dirty="0">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37791720"/>
                  </a:ext>
                </a:extLst>
              </a:tr>
              <a:tr h="333375">
                <a:tc>
                  <a:txBody>
                    <a:bodyPr/>
                    <a:lstStyle/>
                    <a:p>
                      <a:pPr algn="ctr" rtl="0" fontAlgn="b"/>
                      <a:r>
                        <a:rPr lang="en-NZ" sz="2000" b="1" i="0" u="none" strike="noStrike" dirty="0">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rtl="0" fontAlgn="b"/>
                      <a:r>
                        <a:rPr lang="en-NZ" sz="2000" b="0" i="0" u="none" strike="noStrike">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dirty="0">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76300506"/>
                  </a:ext>
                </a:extLst>
              </a:tr>
            </a:tbl>
          </a:graphicData>
        </a:graphic>
      </p:graphicFrame>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EC52E9DF-0B79-42F4-96E9-5195635959D6}"/>
                  </a:ext>
                </a:extLst>
              </p:cNvPr>
              <p:cNvSpPr txBox="1">
                <a:spLocks/>
              </p:cNvSpPr>
              <p:nvPr/>
            </p:nvSpPr>
            <p:spPr>
              <a:xfrm>
                <a:off x="6680070" y="4660462"/>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𝒕</m:t>
                          </m:r>
                        </m:e>
                        <m:sub>
                          <m:r>
                            <a:rPr lang="en-NZ" altLang="ja-JP" sz="1400" b="1" i="1" smtClean="0">
                              <a:solidFill>
                                <a:schemeClr val="tx1"/>
                              </a:solidFill>
                              <a:latin typeface="Cambria Math" panose="02040503050406030204" pitchFamily="18" charset="0"/>
                            </a:rPr>
                            <m:t>𝟏</m:t>
                          </m:r>
                        </m:sub>
                      </m:sSub>
                      <m:r>
                        <a:rPr lang="en-NZ" altLang="ja-JP" sz="1400" b="1" i="1" smtClean="0">
                          <a:solidFill>
                            <a:schemeClr val="tx1"/>
                          </a:solidFill>
                          <a:latin typeface="Cambria Math" panose="02040503050406030204" pitchFamily="18" charset="0"/>
                        </a:rPr>
                        <m:t>| =</m:t>
                      </m:r>
                      <m:r>
                        <a:rPr lang="en-NZ" altLang="ja-JP" sz="1400" b="1" i="1">
                          <a:solidFill>
                            <a:schemeClr val="tx1"/>
                          </a:solidFill>
                          <a:latin typeface="Cambria Math" panose="02040503050406030204" pitchFamily="18" charset="0"/>
                        </a:rPr>
                        <m:t>𝟎</m:t>
                      </m:r>
                      <m:r>
                        <a:rPr lang="en-NZ" altLang="ja-JP" sz="1400" b="1" i="1">
                          <a:solidFill>
                            <a:schemeClr val="tx1"/>
                          </a:solidFill>
                          <a:latin typeface="Cambria Math" panose="02040503050406030204" pitchFamily="18" charset="0"/>
                        </a:rPr>
                        <m:t>.</m:t>
                      </m:r>
                      <m:r>
                        <a:rPr lang="en-NZ" altLang="ja-JP" sz="1400" b="1" i="1">
                          <a:solidFill>
                            <a:schemeClr val="tx1"/>
                          </a:solidFill>
                          <a:latin typeface="Cambria Math" panose="02040503050406030204" pitchFamily="18" charset="0"/>
                        </a:rPr>
                        <m:t>𝟎𝟔𝟐</m:t>
                      </m:r>
                    </m:oMath>
                  </m:oMathPara>
                </a14:m>
                <a:endParaRPr lang="en-NZ" altLang="ja-JP" sz="1400" b="1" dirty="0">
                  <a:solidFill>
                    <a:schemeClr val="tx1"/>
                  </a:solidFill>
                </a:endParaRPr>
              </a:p>
            </p:txBody>
          </p:sp>
        </mc:Choice>
        <mc:Fallback xmlns="">
          <p:sp>
            <p:nvSpPr>
              <p:cNvPr id="29" name="Text Placeholder 5">
                <a:extLst>
                  <a:ext uri="{FF2B5EF4-FFF2-40B4-BE49-F238E27FC236}">
                    <a16:creationId xmlns:a16="http://schemas.microsoft.com/office/drawing/2014/main" id="{EC52E9DF-0B79-42F4-96E9-5195635959D6}"/>
                  </a:ext>
                </a:extLst>
              </p:cNvPr>
              <p:cNvSpPr txBox="1">
                <a:spLocks noRot="1" noChangeAspect="1" noMove="1" noResize="1" noEditPoints="1" noAdjustHandles="1" noChangeArrowheads="1" noChangeShapeType="1" noTextEdit="1"/>
              </p:cNvSpPr>
              <p:nvPr/>
            </p:nvSpPr>
            <p:spPr>
              <a:xfrm>
                <a:off x="6680070" y="4660462"/>
                <a:ext cx="2065363" cy="452058"/>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2DA77CC5-1BA1-4E2D-B327-8111BA88F783}"/>
                  </a:ext>
                </a:extLst>
              </p:cNvPr>
              <p:cNvSpPr txBox="1">
                <a:spLocks/>
              </p:cNvSpPr>
              <p:nvPr/>
            </p:nvSpPr>
            <p:spPr>
              <a:xfrm>
                <a:off x="6781921" y="5808462"/>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𝒕</m:t>
                          </m:r>
                        </m:e>
                        <m:sub>
                          <m:r>
                            <a:rPr lang="en-NZ" altLang="ja-JP" sz="1400" b="1" i="1" smtClean="0">
                              <a:solidFill>
                                <a:schemeClr val="tx1"/>
                              </a:solidFill>
                              <a:latin typeface="Cambria Math" panose="02040503050406030204" pitchFamily="18" charset="0"/>
                            </a:rPr>
                            <m:t>𝟏</m:t>
                          </m:r>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𝟎𝟎𝟎</m:t>
                          </m:r>
                        </m:sub>
                      </m:sSub>
                      <m:r>
                        <a:rPr lang="en-NZ" altLang="ja-JP" sz="1400" b="1" i="1" smtClean="0">
                          <a:solidFill>
                            <a:schemeClr val="tx1"/>
                          </a:solidFill>
                          <a:latin typeface="Cambria Math" panose="02040503050406030204" pitchFamily="18" charset="0"/>
                        </a:rPr>
                        <m:t> | =</m:t>
                      </m:r>
                      <m:r>
                        <a:rPr lang="en-NZ" altLang="ja-JP" sz="1400" b="1" i="1">
                          <a:solidFill>
                            <a:schemeClr val="tx1"/>
                          </a:solidFill>
                          <a:latin typeface="Cambria Math" panose="02040503050406030204" pitchFamily="18" charset="0"/>
                        </a:rPr>
                        <m:t>𝟎</m:t>
                      </m:r>
                      <m:r>
                        <a:rPr lang="en-NZ" altLang="ja-JP" sz="1400" b="1" i="1">
                          <a:solidFill>
                            <a:schemeClr val="tx1"/>
                          </a:solidFill>
                          <a:latin typeface="Cambria Math" panose="02040503050406030204" pitchFamily="18" charset="0"/>
                        </a:rPr>
                        <m:t>.</m:t>
                      </m:r>
                      <m:r>
                        <a:rPr lang="en-NZ" altLang="ja-JP" sz="1400" b="1" i="1">
                          <a:solidFill>
                            <a:schemeClr val="tx1"/>
                          </a:solidFill>
                          <a:latin typeface="Cambria Math" panose="02040503050406030204" pitchFamily="18" charset="0"/>
                        </a:rPr>
                        <m:t>𝟎𝟑𝟏</m:t>
                      </m:r>
                    </m:oMath>
                  </m:oMathPara>
                </a14:m>
                <a:endParaRPr lang="en-NZ" altLang="ja-JP" sz="1400" b="1" dirty="0">
                  <a:solidFill>
                    <a:schemeClr val="tx1"/>
                  </a:solidFill>
                </a:endParaRPr>
              </a:p>
            </p:txBody>
          </p:sp>
        </mc:Choice>
        <mc:Fallback xmlns="">
          <p:sp>
            <p:nvSpPr>
              <p:cNvPr id="30" name="Text Placeholder 5">
                <a:extLst>
                  <a:ext uri="{FF2B5EF4-FFF2-40B4-BE49-F238E27FC236}">
                    <a16:creationId xmlns:a16="http://schemas.microsoft.com/office/drawing/2014/main" id="{2DA77CC5-1BA1-4E2D-B327-8111BA88F783}"/>
                  </a:ext>
                </a:extLst>
              </p:cNvPr>
              <p:cNvSpPr txBox="1">
                <a:spLocks noRot="1" noChangeAspect="1" noMove="1" noResize="1" noEditPoints="1" noAdjustHandles="1" noChangeArrowheads="1" noChangeShapeType="1" noTextEdit="1"/>
              </p:cNvSpPr>
              <p:nvPr/>
            </p:nvSpPr>
            <p:spPr>
              <a:xfrm>
                <a:off x="6781921" y="5808462"/>
                <a:ext cx="2065363" cy="452058"/>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4CD5ADA2-8B96-4689-9FC1-8DFCC567957A}"/>
                  </a:ext>
                </a:extLst>
              </p:cNvPr>
              <p:cNvSpPr txBox="1">
                <a:spLocks/>
              </p:cNvSpPr>
              <p:nvPr/>
            </p:nvSpPr>
            <p:spPr>
              <a:xfrm>
                <a:off x="3432411" y="5131570"/>
                <a:ext cx="1705971" cy="5300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m>
                        <m:mPr>
                          <m:mcs>
                            <m:mc>
                              <m:mcPr>
                                <m:count m:val="1"/>
                                <m:mcJc m:val="center"/>
                              </m:mcPr>
                            </m:mc>
                          </m:mcs>
                          <m:ctrlPr>
                            <a:rPr lang="en-NZ" altLang="ja-JP" sz="1600" b="1" i="1" smtClean="0">
                              <a:solidFill>
                                <a:schemeClr val="tx1"/>
                              </a:solidFill>
                              <a:latin typeface="Cambria Math" panose="02040503050406030204" pitchFamily="18" charset="0"/>
                            </a:rPr>
                          </m:ctrlPr>
                        </m:mPr>
                        <m:mr>
                          <m:e>
                            <m:r>
                              <m:rPr>
                                <m:brk m:alnAt="7"/>
                              </m:rPr>
                              <a:rPr lang="en-NZ" altLang="ja-JP" sz="1600" b="1" i="1">
                                <a:solidFill>
                                  <a:schemeClr val="tx1"/>
                                </a:solidFill>
                                <a:latin typeface="Cambria Math" panose="02040503050406030204" pitchFamily="18" charset="0"/>
                                <a:ea typeface="Cambria Math" panose="02040503050406030204" pitchFamily="18" charset="0"/>
                              </a:rPr>
                              <m:t>⋮</m:t>
                            </m:r>
                          </m:e>
                        </m:mr>
                        <m:mr>
                          <m:e>
                            <m:r>
                              <m:rPr>
                                <m:brk m:alnAt="7"/>
                              </m:rPr>
                              <a:rPr lang="en-NZ" altLang="ja-JP" sz="1600" b="1" i="1">
                                <a:solidFill>
                                  <a:schemeClr val="tx1"/>
                                </a:solidFill>
                                <a:latin typeface="Cambria Math" panose="02040503050406030204" pitchFamily="18" charset="0"/>
                                <a:ea typeface="Cambria Math" panose="02040503050406030204" pitchFamily="18" charset="0"/>
                              </a:rPr>
                              <m:t>⋮</m:t>
                            </m:r>
                          </m:e>
                        </m:mr>
                      </m:m>
                    </m:oMath>
                  </m:oMathPara>
                </a14:m>
                <a:endParaRPr lang="en-NZ" altLang="ja-JP" sz="1600" b="1" dirty="0">
                  <a:solidFill>
                    <a:schemeClr val="tx1"/>
                  </a:solidFill>
                </a:endParaRPr>
              </a:p>
            </p:txBody>
          </p:sp>
        </mc:Choice>
        <mc:Fallback xmlns="">
          <p:sp>
            <p:nvSpPr>
              <p:cNvPr id="31" name="Text Placeholder 5">
                <a:extLst>
                  <a:ext uri="{FF2B5EF4-FFF2-40B4-BE49-F238E27FC236}">
                    <a16:creationId xmlns:a16="http://schemas.microsoft.com/office/drawing/2014/main" id="{4CD5ADA2-8B96-4689-9FC1-8DFCC567957A}"/>
                  </a:ext>
                </a:extLst>
              </p:cNvPr>
              <p:cNvSpPr txBox="1">
                <a:spLocks noRot="1" noChangeAspect="1" noMove="1" noResize="1" noEditPoints="1" noAdjustHandles="1" noChangeArrowheads="1" noChangeShapeType="1" noTextEdit="1"/>
              </p:cNvSpPr>
              <p:nvPr/>
            </p:nvSpPr>
            <p:spPr>
              <a:xfrm>
                <a:off x="3432411" y="5131570"/>
                <a:ext cx="1705971" cy="530060"/>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EEBEED34-2FB8-4543-AC18-C50FD0287A22}"/>
                  </a:ext>
                </a:extLst>
              </p:cNvPr>
              <p:cNvSpPr txBox="1">
                <a:spLocks/>
              </p:cNvSpPr>
              <p:nvPr/>
            </p:nvSpPr>
            <p:spPr>
              <a:xfrm>
                <a:off x="6781921" y="5131570"/>
                <a:ext cx="1705971" cy="5300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m>
                        <m:mPr>
                          <m:mcs>
                            <m:mc>
                              <m:mcPr>
                                <m:count m:val="1"/>
                                <m:mcJc m:val="center"/>
                              </m:mcPr>
                            </m:mc>
                          </m:mcs>
                          <m:ctrlPr>
                            <a:rPr lang="en-NZ" altLang="ja-JP" sz="1600" b="1" i="1" smtClean="0">
                              <a:solidFill>
                                <a:schemeClr val="tx1"/>
                              </a:solidFill>
                              <a:latin typeface="Cambria Math" panose="02040503050406030204" pitchFamily="18" charset="0"/>
                            </a:rPr>
                          </m:ctrlPr>
                        </m:mPr>
                        <m:mr>
                          <m:e>
                            <m:r>
                              <m:rPr>
                                <m:brk m:alnAt="7"/>
                              </m:rPr>
                              <a:rPr lang="en-NZ" altLang="ja-JP" sz="1600" b="1" i="1">
                                <a:solidFill>
                                  <a:schemeClr val="tx1"/>
                                </a:solidFill>
                                <a:latin typeface="Cambria Math" panose="02040503050406030204" pitchFamily="18" charset="0"/>
                                <a:ea typeface="Cambria Math" panose="02040503050406030204" pitchFamily="18" charset="0"/>
                              </a:rPr>
                              <m:t>⋮</m:t>
                            </m:r>
                          </m:e>
                        </m:mr>
                        <m:mr>
                          <m:e>
                            <m:r>
                              <m:rPr>
                                <m:brk m:alnAt="7"/>
                              </m:rPr>
                              <a:rPr lang="en-NZ" altLang="ja-JP" sz="1600" b="1" i="1">
                                <a:solidFill>
                                  <a:schemeClr val="tx1"/>
                                </a:solidFill>
                                <a:latin typeface="Cambria Math" panose="02040503050406030204" pitchFamily="18" charset="0"/>
                                <a:ea typeface="Cambria Math" panose="02040503050406030204" pitchFamily="18" charset="0"/>
                              </a:rPr>
                              <m:t>⋮</m:t>
                            </m:r>
                          </m:e>
                        </m:mr>
                      </m:m>
                    </m:oMath>
                  </m:oMathPara>
                </a14:m>
                <a:endParaRPr lang="en-NZ" altLang="ja-JP" sz="1600" b="1" dirty="0">
                  <a:solidFill>
                    <a:schemeClr val="tx1"/>
                  </a:solidFill>
                </a:endParaRPr>
              </a:p>
            </p:txBody>
          </p:sp>
        </mc:Choice>
        <mc:Fallback xmlns="">
          <p:sp>
            <p:nvSpPr>
              <p:cNvPr id="32" name="Text Placeholder 5">
                <a:extLst>
                  <a:ext uri="{FF2B5EF4-FFF2-40B4-BE49-F238E27FC236}">
                    <a16:creationId xmlns:a16="http://schemas.microsoft.com/office/drawing/2014/main" id="{EEBEED34-2FB8-4543-AC18-C50FD0287A22}"/>
                  </a:ext>
                </a:extLst>
              </p:cNvPr>
              <p:cNvSpPr txBox="1">
                <a:spLocks noRot="1" noChangeAspect="1" noMove="1" noResize="1" noEditPoints="1" noAdjustHandles="1" noChangeArrowheads="1" noChangeShapeType="1" noTextEdit="1"/>
              </p:cNvSpPr>
              <p:nvPr/>
            </p:nvSpPr>
            <p:spPr>
              <a:xfrm>
                <a:off x="6781921" y="5131570"/>
                <a:ext cx="1705971" cy="530060"/>
              </a:xfrm>
              <a:prstGeom prst="rect">
                <a:avLst/>
              </a:prstGeom>
              <a:blipFill>
                <a:blip r:embed="rId9"/>
                <a:stretch>
                  <a:fillRect/>
                </a:stretch>
              </a:blipFill>
            </p:spPr>
            <p:txBody>
              <a:bodyPr/>
              <a:lstStyle/>
              <a:p>
                <a:r>
                  <a:rPr lang="en-NZ">
                    <a:noFill/>
                  </a:rPr>
                  <a:t> </a:t>
                </a:r>
              </a:p>
            </p:txBody>
          </p:sp>
        </mc:Fallback>
      </mc:AlternateContent>
      <p:sp>
        <p:nvSpPr>
          <p:cNvPr id="33" name="Text Placeholder 5">
            <a:extLst>
              <a:ext uri="{FF2B5EF4-FFF2-40B4-BE49-F238E27FC236}">
                <a16:creationId xmlns:a16="http://schemas.microsoft.com/office/drawing/2014/main" id="{D3CB5D1B-D52A-4676-A8DC-F9456CD97443}"/>
              </a:ext>
            </a:extLst>
          </p:cNvPr>
          <p:cNvSpPr txBox="1">
            <a:spLocks/>
          </p:cNvSpPr>
          <p:nvPr/>
        </p:nvSpPr>
        <p:spPr>
          <a:xfrm>
            <a:off x="8487892" y="1578167"/>
            <a:ext cx="1883391" cy="3372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b="1" dirty="0">
                <a:solidFill>
                  <a:srgbClr val="C00000"/>
                </a:solidFill>
              </a:rPr>
              <a:t>Two-sided test</a:t>
            </a:r>
            <a:endParaRPr lang="en-US" altLang="ja-JP" sz="1600" b="1" i="1" dirty="0">
              <a:solidFill>
                <a:srgbClr val="C00000"/>
              </a:solidFill>
            </a:endParaRPr>
          </a:p>
        </p:txBody>
      </p:sp>
      <p:sp>
        <p:nvSpPr>
          <p:cNvPr id="36" name="Text Placeholder 5">
            <a:extLst>
              <a:ext uri="{FF2B5EF4-FFF2-40B4-BE49-F238E27FC236}">
                <a16:creationId xmlns:a16="http://schemas.microsoft.com/office/drawing/2014/main" id="{9D99EA1B-E529-4588-A4CD-E2A58A6A0F38}"/>
              </a:ext>
            </a:extLst>
          </p:cNvPr>
          <p:cNvSpPr txBox="1">
            <a:spLocks/>
          </p:cNvSpPr>
          <p:nvPr/>
        </p:nvSpPr>
        <p:spPr>
          <a:xfrm rot="16200000">
            <a:off x="748122" y="4495092"/>
            <a:ext cx="1100575"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chemeClr val="tx1"/>
                </a:solidFill>
              </a:rPr>
              <a:t>Re-ordered Sample</a:t>
            </a:r>
          </a:p>
          <a:p>
            <a:pPr algn="ctr">
              <a:lnSpc>
                <a:spcPct val="100000"/>
              </a:lnSpc>
            </a:pPr>
            <a:r>
              <a:rPr lang="en-US" altLang="ja-JP" sz="1200" dirty="0">
                <a:solidFill>
                  <a:schemeClr val="tx1"/>
                </a:solidFill>
              </a:rPr>
              <a:t>1</a:t>
            </a:r>
            <a:endParaRPr lang="en-US" altLang="ja-JP" sz="1200" i="1" dirty="0">
              <a:solidFill>
                <a:schemeClr val="tx1"/>
              </a:solidFill>
            </a:endParaRPr>
          </a:p>
        </p:txBody>
      </p:sp>
      <p:sp>
        <p:nvSpPr>
          <p:cNvPr id="37" name="Text Placeholder 5">
            <a:extLst>
              <a:ext uri="{FF2B5EF4-FFF2-40B4-BE49-F238E27FC236}">
                <a16:creationId xmlns:a16="http://schemas.microsoft.com/office/drawing/2014/main" id="{B78B46D8-F73E-4DC9-B2BE-988D4C11E7F9}"/>
              </a:ext>
            </a:extLst>
          </p:cNvPr>
          <p:cNvSpPr txBox="1">
            <a:spLocks/>
          </p:cNvSpPr>
          <p:nvPr/>
        </p:nvSpPr>
        <p:spPr>
          <a:xfrm rot="16200000">
            <a:off x="748123" y="5631716"/>
            <a:ext cx="1100575" cy="6260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chemeClr val="tx1"/>
                </a:solidFill>
              </a:rPr>
              <a:t>Re-ordered Sample </a:t>
            </a:r>
          </a:p>
          <a:p>
            <a:pPr algn="ctr">
              <a:lnSpc>
                <a:spcPct val="100000"/>
              </a:lnSpc>
            </a:pPr>
            <a:r>
              <a:rPr lang="en-US" altLang="ja-JP" sz="1200" dirty="0">
                <a:solidFill>
                  <a:schemeClr val="tx1"/>
                </a:solidFill>
              </a:rPr>
              <a:t>1000</a:t>
            </a:r>
            <a:endParaRPr lang="en-US" altLang="ja-JP" sz="1200" i="1" dirty="0">
              <a:solidFill>
                <a:schemeClr val="tx1"/>
              </a:solidFill>
            </a:endParaRPr>
          </a:p>
        </p:txBody>
      </p:sp>
      <p:graphicFrame>
        <p:nvGraphicFramePr>
          <p:cNvPr id="38" name="Table 37">
            <a:extLst>
              <a:ext uri="{FF2B5EF4-FFF2-40B4-BE49-F238E27FC236}">
                <a16:creationId xmlns:a16="http://schemas.microsoft.com/office/drawing/2014/main" id="{A62A910B-ABF7-4EBB-BC61-23E9477AF752}"/>
              </a:ext>
            </a:extLst>
          </p:cNvPr>
          <p:cNvGraphicFramePr>
            <a:graphicFrameLocks noGrp="1"/>
          </p:cNvGraphicFramePr>
          <p:nvPr>
            <p:extLst>
              <p:ext uri="{D42A27DB-BD31-4B8C-83A1-F6EECF244321}">
                <p14:modId xmlns:p14="http://schemas.microsoft.com/office/powerpoint/2010/main" val="19084454"/>
              </p:ext>
            </p:extLst>
          </p:nvPr>
        </p:nvGraphicFramePr>
        <p:xfrm>
          <a:off x="1637916" y="5653433"/>
          <a:ext cx="4913194" cy="647700"/>
        </p:xfrm>
        <a:graphic>
          <a:graphicData uri="http://schemas.openxmlformats.org/drawingml/2006/table">
            <a:tbl>
              <a:tblPr/>
              <a:tblGrid>
                <a:gridCol w="446654">
                  <a:extLst>
                    <a:ext uri="{9D8B030D-6E8A-4147-A177-3AD203B41FA5}">
                      <a16:colId xmlns:a16="http://schemas.microsoft.com/office/drawing/2014/main" val="2956152970"/>
                    </a:ext>
                  </a:extLst>
                </a:gridCol>
                <a:gridCol w="446654">
                  <a:extLst>
                    <a:ext uri="{9D8B030D-6E8A-4147-A177-3AD203B41FA5}">
                      <a16:colId xmlns:a16="http://schemas.microsoft.com/office/drawing/2014/main" val="414538103"/>
                    </a:ext>
                  </a:extLst>
                </a:gridCol>
                <a:gridCol w="446654">
                  <a:extLst>
                    <a:ext uri="{9D8B030D-6E8A-4147-A177-3AD203B41FA5}">
                      <a16:colId xmlns:a16="http://schemas.microsoft.com/office/drawing/2014/main" val="1339804077"/>
                    </a:ext>
                  </a:extLst>
                </a:gridCol>
                <a:gridCol w="446654">
                  <a:extLst>
                    <a:ext uri="{9D8B030D-6E8A-4147-A177-3AD203B41FA5}">
                      <a16:colId xmlns:a16="http://schemas.microsoft.com/office/drawing/2014/main" val="4148791291"/>
                    </a:ext>
                  </a:extLst>
                </a:gridCol>
                <a:gridCol w="446654">
                  <a:extLst>
                    <a:ext uri="{9D8B030D-6E8A-4147-A177-3AD203B41FA5}">
                      <a16:colId xmlns:a16="http://schemas.microsoft.com/office/drawing/2014/main" val="1211629232"/>
                    </a:ext>
                  </a:extLst>
                </a:gridCol>
                <a:gridCol w="446654">
                  <a:extLst>
                    <a:ext uri="{9D8B030D-6E8A-4147-A177-3AD203B41FA5}">
                      <a16:colId xmlns:a16="http://schemas.microsoft.com/office/drawing/2014/main" val="3313089687"/>
                    </a:ext>
                  </a:extLst>
                </a:gridCol>
                <a:gridCol w="446654">
                  <a:extLst>
                    <a:ext uri="{9D8B030D-6E8A-4147-A177-3AD203B41FA5}">
                      <a16:colId xmlns:a16="http://schemas.microsoft.com/office/drawing/2014/main" val="3764362846"/>
                    </a:ext>
                  </a:extLst>
                </a:gridCol>
                <a:gridCol w="446654">
                  <a:extLst>
                    <a:ext uri="{9D8B030D-6E8A-4147-A177-3AD203B41FA5}">
                      <a16:colId xmlns:a16="http://schemas.microsoft.com/office/drawing/2014/main" val="3312613770"/>
                    </a:ext>
                  </a:extLst>
                </a:gridCol>
                <a:gridCol w="446654">
                  <a:extLst>
                    <a:ext uri="{9D8B030D-6E8A-4147-A177-3AD203B41FA5}">
                      <a16:colId xmlns:a16="http://schemas.microsoft.com/office/drawing/2014/main" val="2627503338"/>
                    </a:ext>
                  </a:extLst>
                </a:gridCol>
                <a:gridCol w="446654">
                  <a:extLst>
                    <a:ext uri="{9D8B030D-6E8A-4147-A177-3AD203B41FA5}">
                      <a16:colId xmlns:a16="http://schemas.microsoft.com/office/drawing/2014/main" val="3935349071"/>
                    </a:ext>
                  </a:extLst>
                </a:gridCol>
                <a:gridCol w="446654">
                  <a:extLst>
                    <a:ext uri="{9D8B030D-6E8A-4147-A177-3AD203B41FA5}">
                      <a16:colId xmlns:a16="http://schemas.microsoft.com/office/drawing/2014/main" val="365376092"/>
                    </a:ext>
                  </a:extLst>
                </a:gridCol>
              </a:tblGrid>
              <a:tr h="0">
                <a:tc>
                  <a:txBody>
                    <a:bodyPr/>
                    <a:lstStyle/>
                    <a:p>
                      <a:pPr algn="ctr" rtl="0" fontAlgn="b"/>
                      <a:r>
                        <a:rPr lang="en-NZ" sz="2000" b="1" i="0" u="none" strike="noStrike">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rtl="0" fontAlgn="b"/>
                      <a:r>
                        <a:rPr lang="en-NZ" sz="2000" b="0" i="0" u="none" strike="noStrike">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26282493"/>
                  </a:ext>
                </a:extLst>
              </a:tr>
              <a:tr h="333375">
                <a:tc>
                  <a:txBody>
                    <a:bodyPr/>
                    <a:lstStyle/>
                    <a:p>
                      <a:pPr algn="ctr" rtl="0" fontAlgn="b"/>
                      <a:r>
                        <a:rPr lang="en-NZ" sz="2000" b="1" i="0" u="none" strike="noStrike">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rtl="0" fontAlgn="b"/>
                      <a:r>
                        <a:rPr lang="en-NZ" sz="2000" b="0" i="0" u="none" strike="noStrike">
                          <a:solidFill>
                            <a:srgbClr val="FF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FF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b"/>
                      <a:r>
                        <a:rPr lang="en-NZ" sz="2000" b="0" i="0" u="none" strike="noStrike" dirty="0">
                          <a:solidFill>
                            <a:srgbClr val="FF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72370786"/>
                  </a:ext>
                </a:extLst>
              </a:tr>
            </a:tbl>
          </a:graphicData>
        </a:graphic>
      </p:graphicFrame>
    </p:spTree>
    <p:extLst>
      <p:ext uri="{BB962C8B-B14F-4D97-AF65-F5344CB8AC3E}">
        <p14:creationId xmlns:p14="http://schemas.microsoft.com/office/powerpoint/2010/main" val="427609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4" grpId="0"/>
      <p:bldP spid="25" grpId="0"/>
      <p:bldP spid="26" grpId="0"/>
      <p:bldP spid="27" grpId="0"/>
      <p:bldP spid="29" grpId="0"/>
      <p:bldP spid="30" grpId="0"/>
      <p:bldP spid="31" grpId="0"/>
      <p:bldP spid="32" grpId="0"/>
      <p:bldP spid="36" grpId="0"/>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18</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6.3b – Application to Motivating Example:</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6.3b – Motivating Example</a:t>
            </a:r>
            <a:endParaRPr kumimoji="1" lang="ja-JP" altLang="en-US" sz="1600" dirty="0">
              <a:solidFill>
                <a:srgbClr val="DEDDDD"/>
              </a:solidFill>
              <a:latin typeface="Gidole"/>
            </a:endParaRPr>
          </a:p>
        </p:txBody>
      </p:sp>
      <p:sp>
        <p:nvSpPr>
          <p:cNvPr id="15" name="Text Placeholder 5">
            <a:extLst>
              <a:ext uri="{FF2B5EF4-FFF2-40B4-BE49-F238E27FC236}">
                <a16:creationId xmlns:a16="http://schemas.microsoft.com/office/drawing/2014/main" id="{95AF9075-867E-4C57-A5BD-8FBBB9619B22}"/>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6.3 - Application of Permutation Testing to Motivating Example</a:t>
            </a:r>
            <a:r>
              <a:rPr lang="en-US" altLang="ja-JP" sz="1200" dirty="0">
                <a:solidFill>
                  <a:srgbClr val="C00000"/>
                </a:solidFill>
              </a:rPr>
              <a:t>.</a:t>
            </a:r>
            <a:endParaRPr lang="en-US" altLang="ja-JP" sz="1200" b="1" i="1" dirty="0">
              <a:solidFill>
                <a:srgbClr val="C00000"/>
              </a:solidFill>
            </a:endParaRPr>
          </a:p>
        </p:txBody>
      </p:sp>
      <p:sp>
        <p:nvSpPr>
          <p:cNvPr id="16" name="Text Placeholder 5">
            <a:extLst>
              <a:ext uri="{FF2B5EF4-FFF2-40B4-BE49-F238E27FC236}">
                <a16:creationId xmlns:a16="http://schemas.microsoft.com/office/drawing/2014/main" id="{D07D47C8-93D1-4704-BE01-75240089728B}"/>
              </a:ext>
            </a:extLst>
          </p:cNvPr>
          <p:cNvSpPr txBox="1">
            <a:spLocks/>
          </p:cNvSpPr>
          <p:nvPr/>
        </p:nvSpPr>
        <p:spPr>
          <a:xfrm>
            <a:off x="319462" y="1050295"/>
            <a:ext cx="1168143"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1800" b="1" dirty="0">
                <a:solidFill>
                  <a:schemeClr val="tx1"/>
                </a:solidFill>
              </a:rPr>
              <a:t>Step 6:</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49CF298C-5ED0-F057-3D77-3ABC71500CD1}"/>
                  </a:ext>
                </a:extLst>
              </p:cNvPr>
              <p:cNvSpPr txBox="1">
                <a:spLocks/>
              </p:cNvSpPr>
              <p:nvPr/>
            </p:nvSpPr>
            <p:spPr>
              <a:xfrm>
                <a:off x="1534114" y="1050294"/>
                <a:ext cx="924761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Rank the test statistics from lowest to highest and see where | </a:t>
                </a:r>
                <a:r>
                  <a:rPr lang="en-NZ" altLang="ja-JP" sz="1800" b="1" i="1" dirty="0" err="1">
                    <a:solidFill>
                      <a:schemeClr val="tx1"/>
                    </a:solidFill>
                  </a:rPr>
                  <a:t>t</a:t>
                </a:r>
                <a:r>
                  <a:rPr lang="en-NZ" altLang="ja-JP" sz="1800" b="1" i="1" baseline="-25000" dirty="0" err="1">
                    <a:solidFill>
                      <a:schemeClr val="tx1"/>
                    </a:solidFill>
                  </a:rPr>
                  <a:t>obs</a:t>
                </a:r>
                <a:r>
                  <a:rPr lang="en-NZ" altLang="ja-JP" sz="1800" dirty="0">
                    <a:solidFill>
                      <a:schemeClr val="tx1"/>
                    </a:solidFill>
                  </a:rPr>
                  <a:t> | lies within this distribution.</a:t>
                </a:r>
              </a:p>
              <a:p>
                <a:pPr algn="just">
                  <a:lnSpc>
                    <a:spcPct val="100000"/>
                  </a:lnSpc>
                </a:pPr>
                <a:r>
                  <a:rPr lang="en-US" altLang="ja-JP" sz="1800" dirty="0">
                    <a:solidFill>
                      <a:schemeClr val="tx1"/>
                    </a:solidFill>
                  </a:rPr>
                  <a:t>The p-value for the test is calculated as:  </a:t>
                </a:r>
                <a14:m>
                  <m:oMath xmlns:m="http://schemas.openxmlformats.org/officeDocument/2006/math">
                    <m:f>
                      <m:fPr>
                        <m:type m:val="lin"/>
                        <m:ctrlPr>
                          <a:rPr lang="en-US"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 </m:t>
                        </m:r>
                        <m:d>
                          <m:dPr>
                            <m:begChr m:val="{"/>
                            <m:endChr m:val="}"/>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𝒕</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e>
                            </m:d>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𝒕</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  </m:t>
                                </m:r>
                              </m:e>
                            </m:d>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𝒕</m:t>
                                </m:r>
                              </m:e>
                              <m:sub>
                                <m:r>
                                  <a:rPr lang="en-NZ" altLang="ja-JP" sz="1800" b="1" i="1">
                                    <a:solidFill>
                                      <a:schemeClr val="tx1"/>
                                    </a:solidFill>
                                    <a:latin typeface="Cambria Math" panose="02040503050406030204" pitchFamily="18" charset="0"/>
                                  </a:rPr>
                                  <m:t>𝒐𝒃𝒔</m:t>
                                </m:r>
                              </m:sub>
                            </m:sSub>
                            <m:r>
                              <a:rPr lang="en-NZ" altLang="ja-JP" sz="1800" b="1" i="1">
                                <a:solidFill>
                                  <a:schemeClr val="tx1"/>
                                </a:solidFill>
                                <a:latin typeface="Cambria Math" panose="02040503050406030204" pitchFamily="18" charset="0"/>
                              </a:rPr>
                              <m:t> | </m:t>
                            </m:r>
                          </m:e>
                        </m:d>
                        <m:r>
                          <a:rPr lang="en-NZ" altLang="ja-JP" sz="1800" b="1" i="1">
                            <a:solidFill>
                              <a:schemeClr val="tx1"/>
                            </a:solidFill>
                            <a:latin typeface="Cambria Math" panose="02040503050406030204" pitchFamily="18" charset="0"/>
                          </a:rPr>
                          <m:t> </m:t>
                        </m:r>
                      </m:num>
                      <m:den>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𝑳</m:t>
                        </m:r>
                      </m:den>
                    </m:f>
                  </m:oMath>
                </a14:m>
                <a:endParaRPr lang="en-US" altLang="ja-JP" sz="1800" b="1" dirty="0">
                  <a:solidFill>
                    <a:schemeClr val="tx1"/>
                  </a:solidFill>
                </a:endParaRPr>
              </a:p>
              <a:p>
                <a:pPr algn="just">
                  <a:lnSpc>
                    <a:spcPct val="100000"/>
                  </a:lnSpc>
                </a:pPr>
                <a:endParaRPr lang="en-NZ" altLang="ja-JP" sz="1800" dirty="0">
                  <a:solidFill>
                    <a:schemeClr val="tx1"/>
                  </a:solidFill>
                </a:endParaRPr>
              </a:p>
            </p:txBody>
          </p:sp>
        </mc:Choice>
        <mc:Fallback xmlns="">
          <p:sp>
            <p:nvSpPr>
              <p:cNvPr id="3" name="Text Placeholder 5">
                <a:extLst>
                  <a:ext uri="{FF2B5EF4-FFF2-40B4-BE49-F238E27FC236}">
                    <a16:creationId xmlns:a16="http://schemas.microsoft.com/office/drawing/2014/main" id="{49CF298C-5ED0-F057-3D77-3ABC71500CD1}"/>
                  </a:ext>
                </a:extLst>
              </p:cNvPr>
              <p:cNvSpPr txBox="1">
                <a:spLocks noRot="1" noChangeAspect="1" noMove="1" noResize="1" noEditPoints="1" noAdjustHandles="1" noChangeArrowheads="1" noChangeShapeType="1" noTextEdit="1"/>
              </p:cNvSpPr>
              <p:nvPr/>
            </p:nvSpPr>
            <p:spPr>
              <a:xfrm>
                <a:off x="1534114" y="1050294"/>
                <a:ext cx="9247617" cy="675343"/>
              </a:xfrm>
              <a:prstGeom prst="rect">
                <a:avLst/>
              </a:prstGeom>
              <a:blipFill>
                <a:blip r:embed="rId3"/>
                <a:stretch>
                  <a:fillRect l="-593" t="-23423" b="-91892"/>
                </a:stretch>
              </a:blipFill>
            </p:spPr>
            <p:txBody>
              <a:bodyPr/>
              <a:lstStyle/>
              <a:p>
                <a:r>
                  <a:rPr lang="en-NZ">
                    <a:noFill/>
                  </a:rPr>
                  <a:t> </a:t>
                </a:r>
              </a:p>
            </p:txBody>
          </p:sp>
        </mc:Fallback>
      </mc:AlternateContent>
      <p:pic>
        <p:nvPicPr>
          <p:cNvPr id="7" name="Picture 6">
            <a:extLst>
              <a:ext uri="{FF2B5EF4-FFF2-40B4-BE49-F238E27FC236}">
                <a16:creationId xmlns:a16="http://schemas.microsoft.com/office/drawing/2014/main" id="{0C89371C-F9F3-DF4A-A55B-58A47311E4CE}"/>
              </a:ext>
            </a:extLst>
          </p:cNvPr>
          <p:cNvPicPr>
            <a:picLocks noChangeAspect="1"/>
          </p:cNvPicPr>
          <p:nvPr/>
        </p:nvPicPr>
        <p:blipFill>
          <a:blip r:embed="rId4"/>
          <a:stretch>
            <a:fillRect/>
          </a:stretch>
        </p:blipFill>
        <p:spPr>
          <a:xfrm>
            <a:off x="600430" y="2353447"/>
            <a:ext cx="6892578" cy="3829210"/>
          </a:xfrm>
          <a:prstGeom prst="rect">
            <a:avLst/>
          </a:prstGeom>
        </p:spPr>
      </p:pic>
      <p:sp>
        <p:nvSpPr>
          <p:cNvPr id="9" name="Text Placeholder 5">
            <a:extLst>
              <a:ext uri="{FF2B5EF4-FFF2-40B4-BE49-F238E27FC236}">
                <a16:creationId xmlns:a16="http://schemas.microsoft.com/office/drawing/2014/main" id="{B652C3BF-147A-9A83-0A0E-0EF662B01418}"/>
              </a:ext>
            </a:extLst>
          </p:cNvPr>
          <p:cNvSpPr txBox="1">
            <a:spLocks/>
          </p:cNvSpPr>
          <p:nvPr/>
        </p:nvSpPr>
        <p:spPr>
          <a:xfrm>
            <a:off x="600430" y="1988217"/>
            <a:ext cx="6250746" cy="3030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Test Statistics Produced from 1,000 Reordered Samples</a:t>
            </a: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A302240C-9356-8A85-D292-6C62A851A246}"/>
                  </a:ext>
                </a:extLst>
              </p:cNvPr>
              <p:cNvSpPr txBox="1">
                <a:spLocks/>
              </p:cNvSpPr>
              <p:nvPr/>
            </p:nvSpPr>
            <p:spPr>
              <a:xfrm>
                <a:off x="4545066" y="2527296"/>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1400" b="1" i="1" smtClean="0">
                          <a:solidFill>
                            <a:srgbClr val="C00000"/>
                          </a:solidFill>
                          <a:latin typeface="Cambria Math" panose="02040503050406030204" pitchFamily="18" charset="0"/>
                        </a:rPr>
                        <m:t>| </m:t>
                      </m:r>
                      <m:sSub>
                        <m:sSubPr>
                          <m:ctrlPr>
                            <a:rPr lang="en-NZ" altLang="ja-JP" sz="1400" b="1" i="1" smtClean="0">
                              <a:solidFill>
                                <a:srgbClr val="C00000"/>
                              </a:solidFill>
                              <a:latin typeface="Cambria Math" panose="02040503050406030204" pitchFamily="18" charset="0"/>
                            </a:rPr>
                          </m:ctrlPr>
                        </m:sSubPr>
                        <m:e>
                          <m:r>
                            <a:rPr lang="en-NZ" altLang="ja-JP" sz="1400" b="1" i="1" smtClean="0">
                              <a:solidFill>
                                <a:srgbClr val="C00000"/>
                              </a:solidFill>
                              <a:latin typeface="Cambria Math" panose="02040503050406030204" pitchFamily="18" charset="0"/>
                            </a:rPr>
                            <m:t>𝒕</m:t>
                          </m:r>
                        </m:e>
                        <m:sub>
                          <m:r>
                            <a:rPr lang="en-NZ" altLang="ja-JP" sz="1400" b="1" i="1" smtClean="0">
                              <a:solidFill>
                                <a:srgbClr val="C00000"/>
                              </a:solidFill>
                              <a:latin typeface="Cambria Math" panose="02040503050406030204" pitchFamily="18" charset="0"/>
                            </a:rPr>
                            <m:t>𝒐𝒃𝒔</m:t>
                          </m:r>
                          <m:r>
                            <a:rPr lang="en-NZ" altLang="ja-JP" sz="1400" b="1" i="1" smtClean="0">
                              <a:solidFill>
                                <a:srgbClr val="C00000"/>
                              </a:solidFill>
                              <a:latin typeface="Cambria Math" panose="02040503050406030204" pitchFamily="18" charset="0"/>
                            </a:rPr>
                            <m:t> </m:t>
                          </m:r>
                        </m:sub>
                      </m:sSub>
                      <m:r>
                        <a:rPr lang="en-NZ" altLang="ja-JP" sz="1400" b="1" i="1" smtClean="0">
                          <a:solidFill>
                            <a:srgbClr val="C00000"/>
                          </a:solidFill>
                          <a:latin typeface="Cambria Math" panose="02040503050406030204" pitchFamily="18" charset="0"/>
                        </a:rPr>
                        <m:t>| =</m:t>
                      </m:r>
                      <m:r>
                        <a:rPr lang="en-NZ" altLang="ja-JP" sz="1400" b="1" i="1">
                          <a:solidFill>
                            <a:srgbClr val="C00000"/>
                          </a:solidFill>
                          <a:latin typeface="Cambria Math" panose="02040503050406030204" pitchFamily="18" charset="0"/>
                        </a:rPr>
                        <m:t>𝟐</m:t>
                      </m:r>
                      <m:r>
                        <a:rPr lang="en-NZ" altLang="ja-JP" sz="1400" b="1" i="1">
                          <a:solidFill>
                            <a:srgbClr val="C00000"/>
                          </a:solidFill>
                          <a:latin typeface="Cambria Math" panose="02040503050406030204" pitchFamily="18" charset="0"/>
                        </a:rPr>
                        <m:t>.</m:t>
                      </m:r>
                      <m:r>
                        <a:rPr lang="en-NZ" altLang="ja-JP" sz="1400" b="1" i="1">
                          <a:solidFill>
                            <a:srgbClr val="C00000"/>
                          </a:solidFill>
                          <a:latin typeface="Cambria Math" panose="02040503050406030204" pitchFamily="18" charset="0"/>
                        </a:rPr>
                        <m:t>𝟐𝟕𝟑</m:t>
                      </m:r>
                    </m:oMath>
                  </m:oMathPara>
                </a14:m>
                <a:endParaRPr lang="en-NZ" altLang="ja-JP" sz="1400" b="1" dirty="0">
                  <a:solidFill>
                    <a:schemeClr val="tx1"/>
                  </a:solidFill>
                </a:endParaRPr>
              </a:p>
            </p:txBody>
          </p:sp>
        </mc:Choice>
        <mc:Fallback xmlns="">
          <p:sp>
            <p:nvSpPr>
              <p:cNvPr id="10" name="Text Placeholder 5">
                <a:extLst>
                  <a:ext uri="{FF2B5EF4-FFF2-40B4-BE49-F238E27FC236}">
                    <a16:creationId xmlns:a16="http://schemas.microsoft.com/office/drawing/2014/main" id="{A302240C-9356-8A85-D292-6C62A851A246}"/>
                  </a:ext>
                </a:extLst>
              </p:cNvPr>
              <p:cNvSpPr txBox="1">
                <a:spLocks noRot="1" noChangeAspect="1" noMove="1" noResize="1" noEditPoints="1" noAdjustHandles="1" noChangeArrowheads="1" noChangeShapeType="1" noTextEdit="1"/>
              </p:cNvSpPr>
              <p:nvPr/>
            </p:nvSpPr>
            <p:spPr>
              <a:xfrm>
                <a:off x="4545066" y="2527296"/>
                <a:ext cx="2065363" cy="452058"/>
              </a:xfrm>
              <a:prstGeom prst="rect">
                <a:avLst/>
              </a:prstGeom>
              <a:blipFill>
                <a:blip r:embed="rId5"/>
                <a:stretch>
                  <a:fillRect/>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1649CB2A-5917-E973-1566-B43C5BC49FF1}"/>
              </a:ext>
            </a:extLst>
          </p:cNvPr>
          <p:cNvSpPr txBox="1">
            <a:spLocks/>
          </p:cNvSpPr>
          <p:nvPr/>
        </p:nvSpPr>
        <p:spPr>
          <a:xfrm>
            <a:off x="7493008" y="3519893"/>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b="1" i="1" dirty="0">
                <a:solidFill>
                  <a:srgbClr val="C00000"/>
                </a:solidFill>
              </a:rPr>
              <a:t>Permutation test yields some evidence against null hypothesis that mean length of fish is the same inside (A) and outside (B) of the marine reserve.</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87E5F620-127D-F33F-4138-3AEEEA71C5D3}"/>
                  </a:ext>
                </a:extLst>
              </p:cNvPr>
              <p:cNvSpPr txBox="1">
                <a:spLocks/>
              </p:cNvSpPr>
              <p:nvPr/>
            </p:nvSpPr>
            <p:spPr>
              <a:xfrm>
                <a:off x="7493008" y="2273515"/>
                <a:ext cx="4380544"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𝒕</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oMath>
                </a14:m>
                <a:r>
                  <a:rPr lang="en-NZ" altLang="ja-JP" sz="1600" dirty="0">
                    <a:solidFill>
                      <a:schemeClr val="tx1"/>
                    </a:solidFill>
                  </a:rPr>
                  <a:t> lies in the 96.1</a:t>
                </a:r>
                <a:r>
                  <a:rPr lang="en-NZ" altLang="ja-JP" sz="1600" baseline="30000" dirty="0">
                    <a:solidFill>
                      <a:schemeClr val="tx1"/>
                    </a:solidFill>
                  </a:rPr>
                  <a:t>st</a:t>
                </a:r>
                <a:r>
                  <a:rPr lang="en-NZ" altLang="ja-JP" sz="1600" dirty="0">
                    <a:solidFill>
                      <a:schemeClr val="tx1"/>
                    </a:solidFill>
                  </a:rPr>
                  <a:t> percentile of test statistics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𝒕</m:t>
                              </m:r>
                            </m:e>
                          </m:d>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𝒕</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𝟎𝟑𝟗</m:t>
                      </m:r>
                    </m:oMath>
                  </m:oMathPara>
                </a14:m>
                <a:endParaRPr lang="en-NZ" altLang="ja-JP" sz="1600" b="1" dirty="0">
                  <a:solidFill>
                    <a:schemeClr val="tx1"/>
                  </a:solidFill>
                </a:endParaRPr>
              </a:p>
            </p:txBody>
          </p:sp>
        </mc:Choice>
        <mc:Fallback xmlns="">
          <p:sp>
            <p:nvSpPr>
              <p:cNvPr id="12" name="Text Placeholder 5">
                <a:extLst>
                  <a:ext uri="{FF2B5EF4-FFF2-40B4-BE49-F238E27FC236}">
                    <a16:creationId xmlns:a16="http://schemas.microsoft.com/office/drawing/2014/main" id="{87E5F620-127D-F33F-4138-3AEEEA71C5D3}"/>
                  </a:ext>
                </a:extLst>
              </p:cNvPr>
              <p:cNvSpPr txBox="1">
                <a:spLocks noRot="1" noChangeAspect="1" noMove="1" noResize="1" noEditPoints="1" noAdjustHandles="1" noChangeArrowheads="1" noChangeShapeType="1" noTextEdit="1"/>
              </p:cNvSpPr>
              <p:nvPr/>
            </p:nvSpPr>
            <p:spPr>
              <a:xfrm>
                <a:off x="7493008" y="2273515"/>
                <a:ext cx="4380544" cy="1169215"/>
              </a:xfrm>
              <a:prstGeom prst="rect">
                <a:avLst/>
              </a:prstGeom>
              <a:blipFill>
                <a:blip r:embed="rId6"/>
                <a:stretch>
                  <a:fillRect l="-695" t="-1563"/>
                </a:stretch>
              </a:blipFill>
            </p:spPr>
            <p:txBody>
              <a:bodyPr/>
              <a:lstStyle/>
              <a:p>
                <a:r>
                  <a:rPr lang="en-NZ">
                    <a:noFill/>
                  </a:rPr>
                  <a:t> </a:t>
                </a:r>
              </a:p>
            </p:txBody>
          </p:sp>
        </mc:Fallback>
      </mc:AlternateContent>
      <p:sp>
        <p:nvSpPr>
          <p:cNvPr id="5" name="Text Placeholder 5">
            <a:extLst>
              <a:ext uri="{FF2B5EF4-FFF2-40B4-BE49-F238E27FC236}">
                <a16:creationId xmlns:a16="http://schemas.microsoft.com/office/drawing/2014/main" id="{235B86FE-EE43-EAC4-A177-216FA9E529B7}"/>
              </a:ext>
            </a:extLst>
          </p:cNvPr>
          <p:cNvSpPr txBox="1">
            <a:spLocks/>
          </p:cNvSpPr>
          <p:nvPr/>
        </p:nvSpPr>
        <p:spPr>
          <a:xfrm>
            <a:off x="7507823" y="4821868"/>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b="1" i="1" dirty="0">
                <a:solidFill>
                  <a:srgbClr val="C00000"/>
                </a:solidFill>
              </a:rPr>
              <a:t>Conclude that there is a difference in the mean length of fish inside and outside the reserve.</a:t>
            </a:r>
          </a:p>
        </p:txBody>
      </p:sp>
    </p:spTree>
    <p:extLst>
      <p:ext uri="{BB962C8B-B14F-4D97-AF65-F5344CB8AC3E}">
        <p14:creationId xmlns:p14="http://schemas.microsoft.com/office/powerpoint/2010/main" val="3364662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19</a:t>
            </a:fld>
            <a:endParaRPr kumimoji="1" lang="ja-JP" altLang="en-US" dirty="0">
              <a:solidFill>
                <a:srgbClr val="575454">
                  <a:lumMod val="20000"/>
                  <a:lumOff val="80000"/>
                </a:srgbClr>
              </a:solidFill>
              <a:latin typeface="Coo Hew"/>
            </a:endParaRPr>
          </a:p>
        </p:txBody>
      </p:sp>
      <p:sp>
        <p:nvSpPr>
          <p:cNvPr id="14" name="Title 6">
            <a:extLst>
              <a:ext uri="{FF2B5EF4-FFF2-40B4-BE49-F238E27FC236}">
                <a16:creationId xmlns:a16="http://schemas.microsoft.com/office/drawing/2014/main" id="{D196F1B5-B0D9-4119-B970-E101272CC75A}"/>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6.3b – Application to Motivating Example:</a:t>
            </a:r>
            <a:endParaRPr lang="ja-JP" altLang="en-US" b="1" u="sng" dirty="0">
              <a:latin typeface="+mn-lt"/>
            </a:endParaRPr>
          </a:p>
        </p:txBody>
      </p:sp>
      <p:sp>
        <p:nvSpPr>
          <p:cNvPr id="15" name="Footer Placeholder 2">
            <a:extLst>
              <a:ext uri="{FF2B5EF4-FFF2-40B4-BE49-F238E27FC236}">
                <a16:creationId xmlns:a16="http://schemas.microsoft.com/office/drawing/2014/main" id="{89B0A5C8-445C-484A-9355-64C9596AC680}"/>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6.3b – Motivating Example</a:t>
            </a:r>
            <a:endParaRPr kumimoji="1" lang="ja-JP" altLang="en-US" sz="1600" dirty="0">
              <a:solidFill>
                <a:srgbClr val="DEDDDD"/>
              </a:solidFill>
              <a:latin typeface="Gidole"/>
            </a:endParaRPr>
          </a:p>
        </p:txBody>
      </p:sp>
      <p:sp>
        <p:nvSpPr>
          <p:cNvPr id="16" name="Text Placeholder 5">
            <a:extLst>
              <a:ext uri="{FF2B5EF4-FFF2-40B4-BE49-F238E27FC236}">
                <a16:creationId xmlns:a16="http://schemas.microsoft.com/office/drawing/2014/main" id="{56915216-5E37-4D60-8A65-59F7ED30007E}"/>
              </a:ext>
            </a:extLst>
          </p:cNvPr>
          <p:cNvSpPr txBox="1">
            <a:spLocks/>
          </p:cNvSpPr>
          <p:nvPr/>
        </p:nvSpPr>
        <p:spPr>
          <a:xfrm>
            <a:off x="364956" y="948822"/>
            <a:ext cx="109318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2500" b="1" dirty="0">
                <a:solidFill>
                  <a:srgbClr val="C00000"/>
                </a:solidFill>
              </a:rPr>
              <a:t>What if we had wanted to make this a one-sided test?</a:t>
            </a:r>
            <a:endParaRPr lang="en-US" altLang="ja-JP" sz="2500" b="1" dirty="0">
              <a:solidFill>
                <a:srgbClr val="C00000"/>
              </a:solidFill>
            </a:endParaRPr>
          </a:p>
        </p:txBody>
      </p:sp>
      <p:sp>
        <p:nvSpPr>
          <p:cNvPr id="2" name="Text Placeholder 5">
            <a:extLst>
              <a:ext uri="{FF2B5EF4-FFF2-40B4-BE49-F238E27FC236}">
                <a16:creationId xmlns:a16="http://schemas.microsoft.com/office/drawing/2014/main" id="{623D0A7D-776A-7961-24CA-8EFEDC49AADD}"/>
              </a:ext>
            </a:extLst>
          </p:cNvPr>
          <p:cNvSpPr txBox="1">
            <a:spLocks/>
          </p:cNvSpPr>
          <p:nvPr/>
        </p:nvSpPr>
        <p:spPr>
          <a:xfrm>
            <a:off x="451089" y="1526680"/>
            <a:ext cx="10931856" cy="9298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Consider the following data set which specifies the length (in cm) of a particular species of fish inside (A) and outside (B) of a marine reserve.</a:t>
            </a:r>
            <a:endParaRPr lang="en-US" altLang="ja-JP" sz="2000" b="1" i="1" dirty="0">
              <a:solidFill>
                <a:schemeClr val="tx1"/>
              </a:solidFill>
            </a:endParaRPr>
          </a:p>
        </p:txBody>
      </p:sp>
      <p:graphicFrame>
        <p:nvGraphicFramePr>
          <p:cNvPr id="3" name="Table 2">
            <a:extLst>
              <a:ext uri="{FF2B5EF4-FFF2-40B4-BE49-F238E27FC236}">
                <a16:creationId xmlns:a16="http://schemas.microsoft.com/office/drawing/2014/main" id="{06B728CC-6E7B-4894-3606-0743B750413E}"/>
              </a:ext>
            </a:extLst>
          </p:cNvPr>
          <p:cNvGraphicFramePr>
            <a:graphicFrameLocks noGrp="1"/>
          </p:cNvGraphicFramePr>
          <p:nvPr>
            <p:extLst>
              <p:ext uri="{D42A27DB-BD31-4B8C-83A1-F6EECF244321}">
                <p14:modId xmlns:p14="http://schemas.microsoft.com/office/powerpoint/2010/main" val="3479560184"/>
              </p:ext>
            </p:extLst>
          </p:nvPr>
        </p:nvGraphicFramePr>
        <p:xfrm>
          <a:off x="2133296" y="2453108"/>
          <a:ext cx="6705600" cy="628650"/>
        </p:xfrm>
        <a:graphic>
          <a:graphicData uri="http://schemas.openxmlformats.org/drawingml/2006/table">
            <a:tbl>
              <a:tblPr/>
              <a:tblGrid>
                <a:gridCol w="609600">
                  <a:extLst>
                    <a:ext uri="{9D8B030D-6E8A-4147-A177-3AD203B41FA5}">
                      <a16:colId xmlns:a16="http://schemas.microsoft.com/office/drawing/2014/main" val="4037610628"/>
                    </a:ext>
                  </a:extLst>
                </a:gridCol>
                <a:gridCol w="609600">
                  <a:extLst>
                    <a:ext uri="{9D8B030D-6E8A-4147-A177-3AD203B41FA5}">
                      <a16:colId xmlns:a16="http://schemas.microsoft.com/office/drawing/2014/main" val="590370213"/>
                    </a:ext>
                  </a:extLst>
                </a:gridCol>
                <a:gridCol w="609600">
                  <a:extLst>
                    <a:ext uri="{9D8B030D-6E8A-4147-A177-3AD203B41FA5}">
                      <a16:colId xmlns:a16="http://schemas.microsoft.com/office/drawing/2014/main" val="3452557641"/>
                    </a:ext>
                  </a:extLst>
                </a:gridCol>
                <a:gridCol w="609600">
                  <a:extLst>
                    <a:ext uri="{9D8B030D-6E8A-4147-A177-3AD203B41FA5}">
                      <a16:colId xmlns:a16="http://schemas.microsoft.com/office/drawing/2014/main" val="3162769819"/>
                    </a:ext>
                  </a:extLst>
                </a:gridCol>
                <a:gridCol w="609600">
                  <a:extLst>
                    <a:ext uri="{9D8B030D-6E8A-4147-A177-3AD203B41FA5}">
                      <a16:colId xmlns:a16="http://schemas.microsoft.com/office/drawing/2014/main" val="3968378480"/>
                    </a:ext>
                  </a:extLst>
                </a:gridCol>
                <a:gridCol w="609600">
                  <a:extLst>
                    <a:ext uri="{9D8B030D-6E8A-4147-A177-3AD203B41FA5}">
                      <a16:colId xmlns:a16="http://schemas.microsoft.com/office/drawing/2014/main" val="2641096747"/>
                    </a:ext>
                  </a:extLst>
                </a:gridCol>
                <a:gridCol w="609600">
                  <a:extLst>
                    <a:ext uri="{9D8B030D-6E8A-4147-A177-3AD203B41FA5}">
                      <a16:colId xmlns:a16="http://schemas.microsoft.com/office/drawing/2014/main" val="2998617417"/>
                    </a:ext>
                  </a:extLst>
                </a:gridCol>
                <a:gridCol w="609600">
                  <a:extLst>
                    <a:ext uri="{9D8B030D-6E8A-4147-A177-3AD203B41FA5}">
                      <a16:colId xmlns:a16="http://schemas.microsoft.com/office/drawing/2014/main" val="2672304242"/>
                    </a:ext>
                  </a:extLst>
                </a:gridCol>
                <a:gridCol w="609600">
                  <a:extLst>
                    <a:ext uri="{9D8B030D-6E8A-4147-A177-3AD203B41FA5}">
                      <a16:colId xmlns:a16="http://schemas.microsoft.com/office/drawing/2014/main" val="684859242"/>
                    </a:ext>
                  </a:extLst>
                </a:gridCol>
                <a:gridCol w="609600">
                  <a:extLst>
                    <a:ext uri="{9D8B030D-6E8A-4147-A177-3AD203B41FA5}">
                      <a16:colId xmlns:a16="http://schemas.microsoft.com/office/drawing/2014/main" val="3591260737"/>
                    </a:ext>
                  </a:extLst>
                </a:gridCol>
                <a:gridCol w="609600">
                  <a:extLst>
                    <a:ext uri="{9D8B030D-6E8A-4147-A177-3AD203B41FA5}">
                      <a16:colId xmlns:a16="http://schemas.microsoft.com/office/drawing/2014/main" val="1551128528"/>
                    </a:ext>
                  </a:extLst>
                </a:gridCol>
              </a:tblGrid>
              <a:tr h="190500">
                <a:tc>
                  <a:txBody>
                    <a:bodyPr/>
                    <a:lstStyle/>
                    <a:p>
                      <a:pPr algn="ctr" fontAlgn="b"/>
                      <a:r>
                        <a:rPr lang="en-NZ" sz="2000" b="1" i="0" u="none" strike="noStrike" dirty="0">
                          <a:solidFill>
                            <a:srgbClr val="FFFFFF"/>
                          </a:solidFill>
                          <a:effectLst/>
                          <a:latin typeface="Calibri" panose="020F0502020204030204" pitchFamily="34" charset="0"/>
                        </a:rPr>
                        <a:t>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C00000"/>
                          </a:solidFill>
                          <a:effectLst/>
                          <a:latin typeface="Calibri" panose="020F0502020204030204" pitchFamily="34" charset="0"/>
                        </a:rPr>
                        <a:t>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35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C00000"/>
                          </a:solidFill>
                          <a:effectLst/>
                          <a:latin typeface="Calibri" panose="020F0502020204030204" pitchFamily="34" charset="0"/>
                        </a:rPr>
                        <a:t>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2000" b="1" i="0" u="none" strike="noStrike" dirty="0">
                          <a:solidFill>
                            <a:srgbClr val="FFFFFF"/>
                          </a:solidFill>
                          <a:effectLst/>
                          <a:latin typeface="Calibri" panose="020F0502020204030204" pitchFamily="34" charset="0"/>
                        </a:rPr>
                        <a:t>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2000" b="0" i="0" u="none" strike="noStrike" dirty="0">
                          <a:solidFill>
                            <a:srgbClr val="0070C0"/>
                          </a:solidFill>
                          <a:effectLst/>
                          <a:latin typeface="Calibri" panose="020F0502020204030204" pitchFamily="34" charset="0"/>
                        </a:rPr>
                        <a:t>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70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46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2000" b="0" i="0" u="none" strike="noStrike" dirty="0">
                          <a:solidFill>
                            <a:srgbClr val="0070C0"/>
                          </a:solidFill>
                          <a:effectLst/>
                          <a:latin typeface="Calibri" panose="020F0502020204030204" pitchFamily="34" charset="0"/>
                        </a:rPr>
                        <a:t>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5" name="Text Placeholder 5">
            <a:extLst>
              <a:ext uri="{FF2B5EF4-FFF2-40B4-BE49-F238E27FC236}">
                <a16:creationId xmlns:a16="http://schemas.microsoft.com/office/drawing/2014/main" id="{773DE011-453B-2A6C-0430-6038EFB563B4}"/>
              </a:ext>
            </a:extLst>
          </p:cNvPr>
          <p:cNvSpPr txBox="1">
            <a:spLocks/>
          </p:cNvSpPr>
          <p:nvPr/>
        </p:nvSpPr>
        <p:spPr>
          <a:xfrm>
            <a:off x="451089" y="3306228"/>
            <a:ext cx="1093185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chemeClr val="tx1"/>
                </a:solidFill>
              </a:rPr>
              <a:t>We are interested in whether the mean length of the fish differs between the two groups, </a:t>
            </a:r>
          </a:p>
          <a:p>
            <a:pPr algn="just">
              <a:lnSpc>
                <a:spcPct val="100000"/>
              </a:lnSpc>
            </a:pPr>
            <a:r>
              <a:rPr lang="en-US" altLang="ja-JP" sz="2000" dirty="0">
                <a:solidFill>
                  <a:schemeClr val="tx1"/>
                </a:solidFill>
              </a:rPr>
              <a:t>i.e. we wish to test between the hypotheses: </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A7AD47AF-D1B9-8BEE-7A48-B76230BDFDDE}"/>
                  </a:ext>
                </a:extLst>
              </p:cNvPr>
              <p:cNvSpPr txBox="1">
                <a:spLocks/>
              </p:cNvSpPr>
              <p:nvPr/>
            </p:nvSpPr>
            <p:spPr>
              <a:xfrm>
                <a:off x="1043748" y="4207994"/>
                <a:ext cx="8884695"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m:t>
                    </m:r>
                  </m:oMath>
                </a14:m>
                <a:r>
                  <a:rPr lang="en-NZ" altLang="ja-JP" sz="2000" b="1" i="1" dirty="0">
                    <a:solidFill>
                      <a:schemeClr val="tx1"/>
                    </a:solidFill>
                    <a:latin typeface="Cambria Math" panose="02040503050406030204" pitchFamily="18" charset="0"/>
                  </a:rPr>
                  <a:t> </a:t>
                </a:r>
                <a:r>
                  <a:rPr lang="en-NZ" altLang="ja-JP" sz="2000" dirty="0">
                    <a:solidFill>
                      <a:schemeClr val="tx1"/>
                    </a:solidFill>
                    <a:latin typeface="Cambria Math" panose="02040503050406030204" pitchFamily="18" charset="0"/>
                  </a:rPr>
                  <a:t>No difference in mean length of fish inside (A) &amp; outside (B) reserve</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m:t>
                    </m:r>
                  </m:oMath>
                </a14:m>
                <a:r>
                  <a:rPr lang="en-NZ" altLang="ja-JP" sz="2000" b="1" dirty="0">
                    <a:solidFill>
                      <a:schemeClr val="tx1"/>
                    </a:solidFill>
                  </a:rPr>
                  <a:t> </a:t>
                </a:r>
                <a:r>
                  <a:rPr lang="en-NZ" altLang="ja-JP" sz="2000" dirty="0">
                    <a:solidFill>
                      <a:schemeClr val="tx1"/>
                    </a:solidFill>
                  </a:rPr>
                  <a:t>Mean length of fish is greater outside (B) marine reserve than inside (A)</a:t>
                </a:r>
              </a:p>
            </p:txBody>
          </p:sp>
        </mc:Choice>
        <mc:Fallback xmlns="">
          <p:sp>
            <p:nvSpPr>
              <p:cNvPr id="6" name="Text Placeholder 5">
                <a:extLst>
                  <a:ext uri="{FF2B5EF4-FFF2-40B4-BE49-F238E27FC236}">
                    <a16:creationId xmlns:a16="http://schemas.microsoft.com/office/drawing/2014/main" id="{A7AD47AF-D1B9-8BEE-7A48-B76230BDFDDE}"/>
                  </a:ext>
                </a:extLst>
              </p:cNvPr>
              <p:cNvSpPr txBox="1">
                <a:spLocks noRot="1" noChangeAspect="1" noMove="1" noResize="1" noEditPoints="1" noAdjustHandles="1" noChangeArrowheads="1" noChangeShapeType="1" noTextEdit="1"/>
              </p:cNvSpPr>
              <p:nvPr/>
            </p:nvSpPr>
            <p:spPr>
              <a:xfrm>
                <a:off x="1043748" y="4207994"/>
                <a:ext cx="8884695" cy="695961"/>
              </a:xfrm>
              <a:prstGeom prst="rect">
                <a:avLst/>
              </a:prstGeom>
              <a:blipFill>
                <a:blip r:embed="rId3"/>
                <a:stretch>
                  <a:fillRect t="-4386" b="-16667"/>
                </a:stretch>
              </a:blipFill>
            </p:spPr>
            <p:txBody>
              <a:bodyPr/>
              <a:lstStyle/>
              <a:p>
                <a:r>
                  <a:rPr lang="en-NZ">
                    <a:noFill/>
                  </a:rPr>
                  <a:t> </a:t>
                </a:r>
              </a:p>
            </p:txBody>
          </p:sp>
        </mc:Fallback>
      </mc:AlternateContent>
      <p:sp>
        <p:nvSpPr>
          <p:cNvPr id="9" name="Text Placeholder 5">
            <a:extLst>
              <a:ext uri="{FF2B5EF4-FFF2-40B4-BE49-F238E27FC236}">
                <a16:creationId xmlns:a16="http://schemas.microsoft.com/office/drawing/2014/main" id="{D94A40DA-0AA6-DCCB-CD93-37EACA2E0A1F}"/>
              </a:ext>
            </a:extLst>
          </p:cNvPr>
          <p:cNvSpPr txBox="1">
            <a:spLocks/>
          </p:cNvSpPr>
          <p:nvPr/>
        </p:nvSpPr>
        <p:spPr>
          <a:xfrm>
            <a:off x="9588246" y="4385448"/>
            <a:ext cx="1264695" cy="5695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600" dirty="0">
                <a:solidFill>
                  <a:schemeClr val="bg2">
                    <a:lumMod val="25000"/>
                  </a:schemeClr>
                </a:solidFill>
              </a:rPr>
              <a:t>One-sided test </a:t>
            </a:r>
          </a:p>
        </p:txBody>
      </p:sp>
      <p:sp>
        <p:nvSpPr>
          <p:cNvPr id="10" name="Right Brace 9">
            <a:extLst>
              <a:ext uri="{FF2B5EF4-FFF2-40B4-BE49-F238E27FC236}">
                <a16:creationId xmlns:a16="http://schemas.microsoft.com/office/drawing/2014/main" id="{E83F2485-8B6A-4C88-DB0E-E86C81F168FC}"/>
              </a:ext>
            </a:extLst>
          </p:cNvPr>
          <p:cNvSpPr/>
          <p:nvPr/>
        </p:nvSpPr>
        <p:spPr>
          <a:xfrm>
            <a:off x="9219765" y="4334413"/>
            <a:ext cx="423081" cy="6205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1" name="Text Placeholder 5">
            <a:extLst>
              <a:ext uri="{FF2B5EF4-FFF2-40B4-BE49-F238E27FC236}">
                <a16:creationId xmlns:a16="http://schemas.microsoft.com/office/drawing/2014/main" id="{5ABA6F49-048D-D840-DEE1-FD6B4D12FD26}"/>
              </a:ext>
            </a:extLst>
          </p:cNvPr>
          <p:cNvSpPr txBox="1">
            <a:spLocks/>
          </p:cNvSpPr>
          <p:nvPr/>
        </p:nvSpPr>
        <p:spPr>
          <a:xfrm>
            <a:off x="364956" y="5220809"/>
            <a:ext cx="3074280" cy="3832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2000" b="1" dirty="0">
                <a:solidFill>
                  <a:srgbClr val="C00000"/>
                </a:solidFill>
              </a:rPr>
              <a:t>Do the same thing but…</a:t>
            </a:r>
            <a:endParaRPr lang="en-US" altLang="ja-JP" sz="2000" b="1" dirty="0">
              <a:solidFill>
                <a:srgbClr val="C00000"/>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57AC920-46AF-2960-6854-75AB4080E982}"/>
                  </a:ext>
                </a:extLst>
              </p:cNvPr>
              <p:cNvSpPr txBox="1"/>
              <p:nvPr/>
            </p:nvSpPr>
            <p:spPr>
              <a:xfrm>
                <a:off x="3031212" y="5294588"/>
                <a:ext cx="4147097" cy="1102802"/>
              </a:xfrm>
              <a:prstGeom prst="rect">
                <a:avLst/>
              </a:prstGeom>
              <a:noFill/>
            </p:spPr>
            <p:txBody>
              <a:bodyPr wrap="square">
                <a:spAutoFit/>
              </a:bodyPr>
              <a:lstStyle/>
              <a:p>
                <a:pPr algn="ctr"/>
                <a:r>
                  <a:rPr lang="en-US" altLang="ja-JP" sz="1400" dirty="0">
                    <a:solidFill>
                      <a:schemeClr val="tx1"/>
                    </a:solidFill>
                  </a:rPr>
                  <a:t>Don’t take the absolute value of the test statistics</a:t>
                </a:r>
              </a:p>
              <a:p>
                <a:pPr algn="ctr"/>
                <a:endParaRPr lang="en-NZ" altLang="ja-JP" sz="200" b="1" i="1" dirty="0">
                  <a:solidFill>
                    <a:schemeClr val="tx1"/>
                  </a:solidFill>
                  <a:latin typeface="Cambria Math" panose="02040503050406030204" pitchFamily="18" charset="0"/>
                </a:endParaRPr>
              </a:p>
              <a:p>
                <a:pPr algn="ctr">
                  <a:lnSpc>
                    <a:spcPct val="100000"/>
                  </a:lnSpc>
                </a:pPr>
                <a14:m>
                  <m:oMathPara xmlns:m="http://schemas.openxmlformats.org/officeDocument/2006/math">
                    <m:oMathParaPr>
                      <m:jc m:val="center"/>
                    </m:oMathParaPr>
                    <m:oMath xmlns:m="http://schemas.openxmlformats.org/officeDocument/2006/math">
                      <m:r>
                        <a:rPr lang="en-NZ" altLang="ja-JP" sz="1600" b="1" i="1" smtClean="0">
                          <a:solidFill>
                            <a:schemeClr val="tx1"/>
                          </a:solidFill>
                          <a:latin typeface="Cambria Math" panose="02040503050406030204" pitchFamily="18" charset="0"/>
                        </a:rPr>
                        <m:t>𝒕</m:t>
                      </m:r>
                      <m:r>
                        <a:rPr lang="en-NZ" altLang="ja-JP" sz="1600" b="1" i="1" smtClean="0">
                          <a:solidFill>
                            <a:schemeClr val="tx1"/>
                          </a:solidFill>
                          <a:latin typeface="Cambria Math" panose="02040503050406030204" pitchFamily="18" charset="0"/>
                        </a:rPr>
                        <m:t>=</m:t>
                      </m:r>
                      <m:f>
                        <m:fPr>
                          <m:ctrlPr>
                            <a:rPr lang="en-NZ" altLang="ja-JP" sz="1600" b="1" i="1">
                              <a:latin typeface="Cambria Math" panose="02040503050406030204" pitchFamily="18" charset="0"/>
                            </a:rPr>
                          </m:ctrlPr>
                        </m:fPr>
                        <m:num>
                          <m:acc>
                            <m:accPr>
                              <m:chr m:val="̅"/>
                              <m:ctrlPr>
                                <a:rPr lang="en-NZ" altLang="ja-JP" sz="1600" b="1" i="1">
                                  <a:latin typeface="Cambria Math" panose="02040503050406030204" pitchFamily="18" charset="0"/>
                                </a:rPr>
                              </m:ctrlPr>
                            </m:accPr>
                            <m:e>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𝑨</m:t>
                                  </m:r>
                                </m:sub>
                              </m:sSub>
                            </m:e>
                          </m:acc>
                          <m:r>
                            <a:rPr lang="en-NZ" altLang="ja-JP" sz="1600" b="1" i="1">
                              <a:latin typeface="Cambria Math" panose="02040503050406030204" pitchFamily="18" charset="0"/>
                            </a:rPr>
                            <m:t>  −</m:t>
                          </m:r>
                          <m:acc>
                            <m:accPr>
                              <m:chr m:val="̅"/>
                              <m:ctrlPr>
                                <a:rPr lang="en-NZ" altLang="ja-JP" sz="1600" b="1" i="1">
                                  <a:latin typeface="Cambria Math" panose="02040503050406030204" pitchFamily="18" charset="0"/>
                                </a:rPr>
                              </m:ctrlPr>
                            </m:accPr>
                            <m:e>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𝑩</m:t>
                                  </m:r>
                                </m:sub>
                              </m:sSub>
                            </m:e>
                          </m:acc>
                        </m:num>
                        <m:den>
                          <m:r>
                            <a:rPr lang="en-NZ" altLang="ja-JP" sz="1600" b="1" i="1">
                              <a:latin typeface="Cambria Math" panose="02040503050406030204" pitchFamily="18" charset="0"/>
                            </a:rPr>
                            <m:t>𝒔</m:t>
                          </m:r>
                          <m:r>
                            <a:rPr lang="en-NZ" altLang="ja-JP" sz="1600" b="1" i="1">
                              <a:latin typeface="Cambria Math" panose="02040503050406030204" pitchFamily="18" charset="0"/>
                            </a:rPr>
                            <m:t> </m:t>
                          </m:r>
                          <m:rad>
                            <m:radPr>
                              <m:degHide m:val="on"/>
                              <m:ctrlPr>
                                <a:rPr lang="en-NZ" altLang="ja-JP" sz="1600" b="1" i="1">
                                  <a:latin typeface="Cambria Math" panose="02040503050406030204" pitchFamily="18" charset="0"/>
                                </a:rPr>
                              </m:ctrlPr>
                            </m:radPr>
                            <m:deg/>
                            <m:e>
                              <m:f>
                                <m:fPr>
                                  <m:ctrlPr>
                                    <a:rPr lang="en-NZ" altLang="ja-JP" sz="1600" b="1" i="1">
                                      <a:latin typeface="Cambria Math" panose="02040503050406030204" pitchFamily="18" charset="0"/>
                                    </a:rPr>
                                  </m:ctrlPr>
                                </m:fPr>
                                <m:num>
                                  <m:r>
                                    <a:rPr lang="en-NZ" altLang="ja-JP" sz="1600" b="1" i="1">
                                      <a:latin typeface="Cambria Math" panose="02040503050406030204" pitchFamily="18" charset="0"/>
                                    </a:rPr>
                                    <m:t>𝟏</m:t>
                                  </m:r>
                                </m:num>
                                <m:den>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𝒏</m:t>
                                      </m:r>
                                    </m:e>
                                    <m:sub>
                                      <m:r>
                                        <a:rPr lang="en-NZ" altLang="ja-JP" sz="1600" b="1" i="1">
                                          <a:latin typeface="Cambria Math" panose="02040503050406030204" pitchFamily="18" charset="0"/>
                                        </a:rPr>
                                        <m:t>𝑨</m:t>
                                      </m:r>
                                    </m:sub>
                                  </m:sSub>
                                </m:den>
                              </m:f>
                              <m:r>
                                <a:rPr lang="en-NZ" altLang="ja-JP" sz="1600" b="1" i="1">
                                  <a:latin typeface="Cambria Math" panose="02040503050406030204" pitchFamily="18" charset="0"/>
                                </a:rPr>
                                <m:t> +  </m:t>
                              </m:r>
                              <m:f>
                                <m:fPr>
                                  <m:ctrlPr>
                                    <a:rPr lang="en-NZ" altLang="ja-JP" sz="1600" b="1" i="1">
                                      <a:latin typeface="Cambria Math" panose="02040503050406030204" pitchFamily="18" charset="0"/>
                                    </a:rPr>
                                  </m:ctrlPr>
                                </m:fPr>
                                <m:num>
                                  <m:r>
                                    <a:rPr lang="en-NZ" altLang="ja-JP" sz="1600" b="1" i="1">
                                      <a:latin typeface="Cambria Math" panose="02040503050406030204" pitchFamily="18" charset="0"/>
                                    </a:rPr>
                                    <m:t>𝟏</m:t>
                                  </m:r>
                                </m:num>
                                <m:den>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𝒏</m:t>
                                      </m:r>
                                    </m:e>
                                    <m:sub>
                                      <m:r>
                                        <a:rPr lang="en-NZ" altLang="ja-JP" sz="1600" b="1" i="1">
                                          <a:latin typeface="Cambria Math" panose="02040503050406030204" pitchFamily="18" charset="0"/>
                                        </a:rPr>
                                        <m:t>𝑩</m:t>
                                      </m:r>
                                    </m:sub>
                                  </m:sSub>
                                </m:den>
                              </m:f>
                            </m:e>
                          </m:rad>
                          <m:r>
                            <a:rPr lang="en-NZ" altLang="ja-JP" sz="1600" b="1" i="1">
                              <a:latin typeface="Cambria Math" panose="02040503050406030204" pitchFamily="18" charset="0"/>
                            </a:rPr>
                            <m:t> </m:t>
                          </m:r>
                        </m:den>
                      </m:f>
                    </m:oMath>
                  </m:oMathPara>
                </a14:m>
                <a:endParaRPr lang="en-NZ" altLang="ja-JP" sz="1600" b="1" dirty="0">
                  <a:solidFill>
                    <a:schemeClr val="tx1"/>
                  </a:solidFill>
                </a:endParaRPr>
              </a:p>
            </p:txBody>
          </p:sp>
        </mc:Choice>
        <mc:Fallback xmlns="">
          <p:sp>
            <p:nvSpPr>
              <p:cNvPr id="13" name="TextBox 12">
                <a:extLst>
                  <a:ext uri="{FF2B5EF4-FFF2-40B4-BE49-F238E27FC236}">
                    <a16:creationId xmlns:a16="http://schemas.microsoft.com/office/drawing/2014/main" id="{057AC920-46AF-2960-6854-75AB4080E982}"/>
                  </a:ext>
                </a:extLst>
              </p:cNvPr>
              <p:cNvSpPr txBox="1">
                <a:spLocks noRot="1" noChangeAspect="1" noMove="1" noResize="1" noEditPoints="1" noAdjustHandles="1" noChangeArrowheads="1" noChangeShapeType="1" noTextEdit="1"/>
              </p:cNvSpPr>
              <p:nvPr/>
            </p:nvSpPr>
            <p:spPr>
              <a:xfrm>
                <a:off x="3031212" y="5294588"/>
                <a:ext cx="4147097" cy="1102802"/>
              </a:xfrm>
              <a:prstGeom prst="rect">
                <a:avLst/>
              </a:prstGeom>
              <a:blipFill>
                <a:blip r:embed="rId6"/>
                <a:stretch>
                  <a:fillRect t="-111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BD5BF6BD-AC59-D181-65C8-5FA2C54C5AAC}"/>
                  </a:ext>
                </a:extLst>
              </p:cNvPr>
              <p:cNvSpPr txBox="1">
                <a:spLocks/>
              </p:cNvSpPr>
              <p:nvPr/>
            </p:nvSpPr>
            <p:spPr>
              <a:xfrm>
                <a:off x="7170921" y="5307832"/>
                <a:ext cx="3538154" cy="6988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400" dirty="0">
                    <a:solidFill>
                      <a:schemeClr val="tx1"/>
                    </a:solidFill>
                  </a:rPr>
                  <a:t>The p-value for the test is calculated as:</a:t>
                </a:r>
              </a:p>
              <a:p>
                <a:pPr algn="ctr">
                  <a:lnSpc>
                    <a:spcPct val="100000"/>
                  </a:lnSpc>
                </a:pPr>
                <a:r>
                  <a:rPr lang="en-US" altLang="ja-JP" sz="1800" dirty="0">
                    <a:solidFill>
                      <a:schemeClr val="tx1"/>
                    </a:solidFill>
                  </a:rPr>
                  <a:t>  </a:t>
                </a:r>
                <a14:m>
                  <m:oMath xmlns:m="http://schemas.openxmlformats.org/officeDocument/2006/math">
                    <m:f>
                      <m:fPr>
                        <m:type m:val="lin"/>
                        <m:ctrlPr>
                          <a:rPr lang="en-US"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 </m:t>
                        </m:r>
                        <m:d>
                          <m:dPr>
                            <m:begChr m:val="{"/>
                            <m:endChr m:val="}"/>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𝒕</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𝒕</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𝒕</m:t>
                                </m:r>
                              </m:e>
                              <m:sub>
                                <m:r>
                                  <a:rPr lang="en-NZ" altLang="ja-JP" sz="1800" b="1" i="1" smtClean="0">
                                    <a:solidFill>
                                      <a:schemeClr val="tx1"/>
                                    </a:solidFill>
                                    <a:latin typeface="Cambria Math" panose="02040503050406030204" pitchFamily="18" charset="0"/>
                                  </a:rPr>
                                  <m:t>𝒐𝒃𝒔</m:t>
                                </m:r>
                              </m:sub>
                            </m:sSub>
                          </m:e>
                        </m:d>
                        <m:r>
                          <a:rPr lang="en-NZ" altLang="ja-JP" sz="1800" b="1" i="1">
                            <a:solidFill>
                              <a:schemeClr val="tx1"/>
                            </a:solidFill>
                            <a:latin typeface="Cambria Math" panose="02040503050406030204" pitchFamily="18" charset="0"/>
                          </a:rPr>
                          <m:t> </m:t>
                        </m:r>
                      </m:num>
                      <m:den>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𝑳</m:t>
                        </m:r>
                      </m:den>
                    </m:f>
                  </m:oMath>
                </a14:m>
                <a:endParaRPr lang="en-US" altLang="ja-JP" sz="1800" b="1" dirty="0">
                  <a:solidFill>
                    <a:schemeClr val="tx1"/>
                  </a:solidFill>
                </a:endParaRPr>
              </a:p>
              <a:p>
                <a:pPr algn="ctr">
                  <a:lnSpc>
                    <a:spcPct val="100000"/>
                  </a:lnSpc>
                </a:pPr>
                <a:endParaRPr lang="en-NZ" altLang="ja-JP" sz="1800" dirty="0">
                  <a:solidFill>
                    <a:schemeClr val="tx1"/>
                  </a:solidFill>
                </a:endParaRPr>
              </a:p>
            </p:txBody>
          </p:sp>
        </mc:Choice>
        <mc:Fallback xmlns="">
          <p:sp>
            <p:nvSpPr>
              <p:cNvPr id="18" name="Text Placeholder 5">
                <a:extLst>
                  <a:ext uri="{FF2B5EF4-FFF2-40B4-BE49-F238E27FC236}">
                    <a16:creationId xmlns:a16="http://schemas.microsoft.com/office/drawing/2014/main" id="{BD5BF6BD-AC59-D181-65C8-5FA2C54C5AAC}"/>
                  </a:ext>
                </a:extLst>
              </p:cNvPr>
              <p:cNvSpPr txBox="1">
                <a:spLocks noRot="1" noChangeAspect="1" noMove="1" noResize="1" noEditPoints="1" noAdjustHandles="1" noChangeArrowheads="1" noChangeShapeType="1" noTextEdit="1"/>
              </p:cNvSpPr>
              <p:nvPr/>
            </p:nvSpPr>
            <p:spPr>
              <a:xfrm>
                <a:off x="7170921" y="5307832"/>
                <a:ext cx="3538154" cy="698831"/>
              </a:xfrm>
              <a:prstGeom prst="rect">
                <a:avLst/>
              </a:prstGeom>
              <a:blipFill>
                <a:blip r:embed="rId7"/>
                <a:stretch>
                  <a:fillRect t="-31579" b="-78070"/>
                </a:stretch>
              </a:blipFill>
            </p:spPr>
            <p:txBody>
              <a:bodyPr/>
              <a:lstStyle/>
              <a:p>
                <a:r>
                  <a:rPr lang="en-NZ">
                    <a:noFill/>
                  </a:rPr>
                  <a:t> </a:t>
                </a:r>
              </a:p>
            </p:txBody>
          </p:sp>
        </mc:Fallback>
      </mc:AlternateContent>
      <p:sp>
        <p:nvSpPr>
          <p:cNvPr id="19" name="Text Placeholder 5">
            <a:extLst>
              <a:ext uri="{FF2B5EF4-FFF2-40B4-BE49-F238E27FC236}">
                <a16:creationId xmlns:a16="http://schemas.microsoft.com/office/drawing/2014/main" id="{B223E165-D1BD-1DAF-A966-9B454D83489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6.3 - Application of Permutation Testing to Motivating Example</a:t>
            </a:r>
            <a:r>
              <a:rPr lang="en-US" altLang="ja-JP" sz="1200" dirty="0">
                <a:solidFill>
                  <a:srgbClr val="C00000"/>
                </a:solidFill>
              </a:rPr>
              <a:t>.</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148EF1AF-94BD-826A-BEF8-8468F916CCC3}"/>
                  </a:ext>
                </a:extLst>
              </p:cNvPr>
              <p:cNvSpPr txBox="1">
                <a:spLocks/>
              </p:cNvSpPr>
              <p:nvPr/>
            </p:nvSpPr>
            <p:spPr>
              <a:xfrm>
                <a:off x="8925029" y="2418102"/>
                <a:ext cx="1394607" cy="3630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acc>
                          <m:accPr>
                            <m:chr m:val="̅"/>
                            <m:ctrlPr>
                              <a:rPr lang="en-NZ" altLang="ja-JP" sz="1600" b="1" i="1" smtClean="0">
                                <a:solidFill>
                                  <a:srgbClr val="C00000"/>
                                </a:solidFill>
                                <a:latin typeface="Cambria Math" panose="02040503050406030204" pitchFamily="18" charset="0"/>
                              </a:rPr>
                            </m:ctrlPr>
                          </m:accPr>
                          <m:e>
                            <m:r>
                              <a:rPr lang="en-NZ" altLang="ja-JP" sz="1600" b="1" i="1" smtClean="0">
                                <a:solidFill>
                                  <a:srgbClr val="C00000"/>
                                </a:solidFill>
                                <a:latin typeface="Cambria Math" panose="02040503050406030204" pitchFamily="18" charset="0"/>
                              </a:rPr>
                              <m:t>𝒚</m:t>
                            </m:r>
                          </m:e>
                        </m:acc>
                      </m:e>
                      <m:sub>
                        <m:r>
                          <a:rPr lang="en-NZ" altLang="ja-JP" sz="1600" b="1" i="1" smtClean="0">
                            <a:solidFill>
                              <a:srgbClr val="C00000"/>
                            </a:solidFill>
                            <a:latin typeface="Cambria Math" panose="02040503050406030204" pitchFamily="18" charset="0"/>
                          </a:rPr>
                          <m:t>𝑨</m:t>
                        </m:r>
                      </m:sub>
                    </m:sSub>
                    <m:r>
                      <a:rPr lang="en-NZ" altLang="ja-JP" sz="1600" b="1" i="1" smtClean="0">
                        <a:solidFill>
                          <a:srgbClr val="C00000"/>
                        </a:solidFill>
                        <a:latin typeface="Cambria Math" panose="02040503050406030204" pitchFamily="18" charset="0"/>
                      </a:rPr>
                      <m:t>=</m:t>
                    </m:r>
                  </m:oMath>
                </a14:m>
                <a:r>
                  <a:rPr lang="en-NZ" altLang="ja-JP" sz="1600" b="1" i="1" dirty="0">
                    <a:solidFill>
                      <a:srgbClr val="C00000"/>
                    </a:solidFill>
                  </a:rPr>
                  <a:t>  </a:t>
                </a:r>
                <a:r>
                  <a:rPr lang="en-NZ" altLang="ja-JP" sz="1600" dirty="0">
                    <a:solidFill>
                      <a:srgbClr val="C00000"/>
                    </a:solidFill>
                  </a:rPr>
                  <a:t>42.8</a:t>
                </a:r>
              </a:p>
            </p:txBody>
          </p:sp>
        </mc:Choice>
        <mc:Fallback xmlns="">
          <p:sp>
            <p:nvSpPr>
              <p:cNvPr id="17" name="Text Placeholder 5">
                <a:extLst>
                  <a:ext uri="{FF2B5EF4-FFF2-40B4-BE49-F238E27FC236}">
                    <a16:creationId xmlns:a16="http://schemas.microsoft.com/office/drawing/2014/main" id="{148EF1AF-94BD-826A-BEF8-8468F916CCC3}"/>
                  </a:ext>
                </a:extLst>
              </p:cNvPr>
              <p:cNvSpPr txBox="1">
                <a:spLocks noRot="1" noChangeAspect="1" noMove="1" noResize="1" noEditPoints="1" noAdjustHandles="1" noChangeArrowheads="1" noChangeShapeType="1" noTextEdit="1"/>
              </p:cNvSpPr>
              <p:nvPr/>
            </p:nvSpPr>
            <p:spPr>
              <a:xfrm>
                <a:off x="8925029" y="2418102"/>
                <a:ext cx="1394607" cy="363044"/>
              </a:xfrm>
              <a:prstGeom prst="rect">
                <a:avLst/>
              </a:prstGeom>
              <a:blipFill>
                <a:blip r:embed="rId8"/>
                <a:stretch>
                  <a:fillRect t="-5085" b="-152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B9732309-EC41-B454-69A1-72690FB6D437}"/>
                  </a:ext>
                </a:extLst>
              </p:cNvPr>
              <p:cNvSpPr txBox="1">
                <a:spLocks/>
              </p:cNvSpPr>
              <p:nvPr/>
            </p:nvSpPr>
            <p:spPr>
              <a:xfrm>
                <a:off x="8925029" y="2727034"/>
                <a:ext cx="2002932" cy="3593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rgbClr val="0070C0"/>
                            </a:solidFill>
                            <a:latin typeface="Cambria Math" panose="02040503050406030204" pitchFamily="18" charset="0"/>
                          </a:rPr>
                        </m:ctrlPr>
                      </m:sSubPr>
                      <m:e>
                        <m:acc>
                          <m:accPr>
                            <m:chr m:val="̅"/>
                            <m:ctrlPr>
                              <a:rPr lang="en-NZ" altLang="ja-JP" sz="1600" b="1" i="1" smtClean="0">
                                <a:solidFill>
                                  <a:srgbClr val="0070C0"/>
                                </a:solidFill>
                                <a:latin typeface="Cambria Math" panose="02040503050406030204" pitchFamily="18" charset="0"/>
                              </a:rPr>
                            </m:ctrlPr>
                          </m:accPr>
                          <m:e>
                            <m:r>
                              <a:rPr lang="en-NZ" altLang="ja-JP" sz="1600" b="1" i="1" smtClean="0">
                                <a:solidFill>
                                  <a:srgbClr val="0070C0"/>
                                </a:solidFill>
                                <a:latin typeface="Cambria Math" panose="02040503050406030204" pitchFamily="18" charset="0"/>
                              </a:rPr>
                              <m:t>𝒚</m:t>
                            </m:r>
                          </m:e>
                        </m:acc>
                      </m:e>
                      <m:sub>
                        <m:r>
                          <a:rPr lang="en-NZ" altLang="ja-JP" sz="1600" b="1" i="1">
                            <a:solidFill>
                              <a:srgbClr val="0070C0"/>
                            </a:solidFill>
                            <a:latin typeface="Cambria Math" panose="02040503050406030204" pitchFamily="18" charset="0"/>
                          </a:rPr>
                          <m:t>𝑩</m:t>
                        </m:r>
                      </m:sub>
                    </m:sSub>
                    <m:r>
                      <a:rPr lang="en-NZ" altLang="ja-JP" sz="1600" b="1" i="1" smtClean="0">
                        <a:solidFill>
                          <a:srgbClr val="0070C0"/>
                        </a:solidFill>
                        <a:latin typeface="Cambria Math" panose="02040503050406030204" pitchFamily="18" charset="0"/>
                      </a:rPr>
                      <m:t>= </m:t>
                    </m:r>
                  </m:oMath>
                </a14:m>
                <a:r>
                  <a:rPr lang="en-NZ" altLang="ja-JP" sz="1600" b="1" dirty="0">
                    <a:solidFill>
                      <a:srgbClr val="0070C0"/>
                    </a:solidFill>
                  </a:rPr>
                  <a:t> </a:t>
                </a:r>
                <a:r>
                  <a:rPr lang="en-NZ" altLang="ja-JP" sz="1600" dirty="0">
                    <a:solidFill>
                      <a:srgbClr val="0070C0"/>
                    </a:solidFill>
                  </a:rPr>
                  <a:t>55.8</a:t>
                </a:r>
              </a:p>
            </p:txBody>
          </p:sp>
        </mc:Choice>
        <mc:Fallback xmlns="">
          <p:sp>
            <p:nvSpPr>
              <p:cNvPr id="21" name="Text Placeholder 5">
                <a:extLst>
                  <a:ext uri="{FF2B5EF4-FFF2-40B4-BE49-F238E27FC236}">
                    <a16:creationId xmlns:a16="http://schemas.microsoft.com/office/drawing/2014/main" id="{B9732309-EC41-B454-69A1-72690FB6D437}"/>
                  </a:ext>
                </a:extLst>
              </p:cNvPr>
              <p:cNvSpPr txBox="1">
                <a:spLocks noRot="1" noChangeAspect="1" noMove="1" noResize="1" noEditPoints="1" noAdjustHandles="1" noChangeArrowheads="1" noChangeShapeType="1" noTextEdit="1"/>
              </p:cNvSpPr>
              <p:nvPr/>
            </p:nvSpPr>
            <p:spPr>
              <a:xfrm>
                <a:off x="8925029" y="2727034"/>
                <a:ext cx="2002932" cy="359357"/>
              </a:xfrm>
              <a:prstGeom prst="rect">
                <a:avLst/>
              </a:prstGeom>
              <a:blipFill>
                <a:blip r:embed="rId9"/>
                <a:stretch>
                  <a:fillRect t="-5085" b="-15254"/>
                </a:stretch>
              </a:blipFill>
            </p:spPr>
            <p:txBody>
              <a:bodyPr/>
              <a:lstStyle/>
              <a:p>
                <a:r>
                  <a:rPr lang="en-NZ">
                    <a:noFill/>
                  </a:rPr>
                  <a:t> </a:t>
                </a:r>
              </a:p>
            </p:txBody>
          </p:sp>
        </mc:Fallback>
      </mc:AlternateContent>
    </p:spTree>
    <p:extLst>
      <p:ext uri="{BB962C8B-B14F-4D97-AF65-F5344CB8AC3E}">
        <p14:creationId xmlns:p14="http://schemas.microsoft.com/office/powerpoint/2010/main" val="264617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animBg="1"/>
      <p:bldP spid="11" grpId="0"/>
      <p:bldP spid="13"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357771-A97B-CD89-25BA-D34DC4AF2130}"/>
              </a:ext>
            </a:extLst>
          </p:cNvPr>
          <p:cNvPicPr>
            <a:picLocks noChangeAspect="1"/>
          </p:cNvPicPr>
          <p:nvPr/>
        </p:nvPicPr>
        <p:blipFill>
          <a:blip r:embed="rId2"/>
          <a:stretch>
            <a:fillRect/>
          </a:stretch>
        </p:blipFill>
        <p:spPr>
          <a:xfrm>
            <a:off x="511942" y="1774188"/>
            <a:ext cx="7298740" cy="4323856"/>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20</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6.3b – Application to Motivating Example:</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6.3b – Motivating Example</a:t>
            </a:r>
            <a:endParaRPr kumimoji="1" lang="ja-JP" altLang="en-US" sz="1600" dirty="0">
              <a:solidFill>
                <a:srgbClr val="DEDDDD"/>
              </a:solidFill>
              <a:latin typeface="Gidole"/>
            </a:endParaRPr>
          </a:p>
        </p:txBody>
      </p:sp>
      <p:sp>
        <p:nvSpPr>
          <p:cNvPr id="15" name="Text Placeholder 5">
            <a:extLst>
              <a:ext uri="{FF2B5EF4-FFF2-40B4-BE49-F238E27FC236}">
                <a16:creationId xmlns:a16="http://schemas.microsoft.com/office/drawing/2014/main" id="{95AF9075-867E-4C57-A5BD-8FBBB9619B22}"/>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6.3 - Application of Permutation Testing to Motivating Example</a:t>
            </a:r>
            <a:r>
              <a:rPr lang="en-US" altLang="ja-JP" sz="1200" dirty="0">
                <a:solidFill>
                  <a:srgbClr val="C00000"/>
                </a:solidFill>
              </a:rPr>
              <a:t>.</a:t>
            </a:r>
            <a:endParaRPr lang="en-US" altLang="ja-JP" sz="1200" b="1" i="1" dirty="0">
              <a:solidFill>
                <a:srgbClr val="C00000"/>
              </a:solidFill>
            </a:endParaRPr>
          </a:p>
        </p:txBody>
      </p:sp>
      <p:sp>
        <p:nvSpPr>
          <p:cNvPr id="9" name="Text Placeholder 5">
            <a:extLst>
              <a:ext uri="{FF2B5EF4-FFF2-40B4-BE49-F238E27FC236}">
                <a16:creationId xmlns:a16="http://schemas.microsoft.com/office/drawing/2014/main" id="{B652C3BF-147A-9A83-0A0E-0EF662B01418}"/>
              </a:ext>
            </a:extLst>
          </p:cNvPr>
          <p:cNvSpPr txBox="1">
            <a:spLocks/>
          </p:cNvSpPr>
          <p:nvPr/>
        </p:nvSpPr>
        <p:spPr>
          <a:xfrm>
            <a:off x="589279" y="1217024"/>
            <a:ext cx="6250746" cy="3030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Test Statistics Produced from 1,000 Reordered Samples</a:t>
            </a: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A302240C-9356-8A85-D292-6C62A851A246}"/>
                  </a:ext>
                </a:extLst>
              </p:cNvPr>
              <p:cNvSpPr txBox="1">
                <a:spLocks/>
              </p:cNvSpPr>
              <p:nvPr/>
            </p:nvSpPr>
            <p:spPr>
              <a:xfrm>
                <a:off x="1433376" y="1627368"/>
                <a:ext cx="2065363" cy="4520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400" b="1" i="1" smtClean="0">
                              <a:solidFill>
                                <a:srgbClr val="C00000"/>
                              </a:solidFill>
                              <a:latin typeface="Cambria Math" panose="02040503050406030204" pitchFamily="18" charset="0"/>
                            </a:rPr>
                          </m:ctrlPr>
                        </m:sSubPr>
                        <m:e>
                          <m:r>
                            <a:rPr lang="en-NZ" altLang="ja-JP" sz="1400" b="1" i="1">
                              <a:solidFill>
                                <a:srgbClr val="C00000"/>
                              </a:solidFill>
                              <a:latin typeface="Cambria Math" panose="02040503050406030204" pitchFamily="18" charset="0"/>
                            </a:rPr>
                            <m:t>𝒕</m:t>
                          </m:r>
                        </m:e>
                        <m:sub>
                          <m:r>
                            <a:rPr lang="en-NZ" altLang="ja-JP" sz="1400" b="1" i="1">
                              <a:solidFill>
                                <a:srgbClr val="C00000"/>
                              </a:solidFill>
                              <a:latin typeface="Cambria Math" panose="02040503050406030204" pitchFamily="18" charset="0"/>
                            </a:rPr>
                            <m:t>𝒐𝒃𝒔</m:t>
                          </m:r>
                          <m:r>
                            <a:rPr lang="en-NZ" altLang="ja-JP" sz="1400" b="1" i="1">
                              <a:solidFill>
                                <a:srgbClr val="C00000"/>
                              </a:solidFill>
                              <a:latin typeface="Cambria Math" panose="02040503050406030204" pitchFamily="18" charset="0"/>
                            </a:rPr>
                            <m:t> </m:t>
                          </m:r>
                        </m:sub>
                      </m:sSub>
                      <m:r>
                        <a:rPr lang="en-NZ" altLang="ja-JP" sz="1400" b="1" i="1">
                          <a:solidFill>
                            <a:srgbClr val="C00000"/>
                          </a:solidFill>
                          <a:latin typeface="Cambria Math" panose="02040503050406030204" pitchFamily="18" charset="0"/>
                        </a:rPr>
                        <m:t> </m:t>
                      </m:r>
                      <m:r>
                        <a:rPr lang="en-NZ" altLang="ja-JP" sz="1400" b="1" i="1" smtClean="0">
                          <a:solidFill>
                            <a:srgbClr val="C00000"/>
                          </a:solidFill>
                          <a:latin typeface="Cambria Math" panose="02040503050406030204" pitchFamily="18" charset="0"/>
                        </a:rPr>
                        <m:t>=− </m:t>
                      </m:r>
                      <m:r>
                        <a:rPr lang="en-NZ" altLang="ja-JP" sz="1400" b="1" i="1">
                          <a:solidFill>
                            <a:srgbClr val="C00000"/>
                          </a:solidFill>
                          <a:latin typeface="Cambria Math" panose="02040503050406030204" pitchFamily="18" charset="0"/>
                        </a:rPr>
                        <m:t>𝟐</m:t>
                      </m:r>
                      <m:r>
                        <a:rPr lang="en-NZ" altLang="ja-JP" sz="1400" b="1" i="1">
                          <a:solidFill>
                            <a:srgbClr val="C00000"/>
                          </a:solidFill>
                          <a:latin typeface="Cambria Math" panose="02040503050406030204" pitchFamily="18" charset="0"/>
                        </a:rPr>
                        <m:t>.</m:t>
                      </m:r>
                      <m:r>
                        <a:rPr lang="en-NZ" altLang="ja-JP" sz="1400" b="1" i="1">
                          <a:solidFill>
                            <a:srgbClr val="C00000"/>
                          </a:solidFill>
                          <a:latin typeface="Cambria Math" panose="02040503050406030204" pitchFamily="18" charset="0"/>
                        </a:rPr>
                        <m:t>𝟐𝟕𝟑</m:t>
                      </m:r>
                    </m:oMath>
                  </m:oMathPara>
                </a14:m>
                <a:endParaRPr lang="en-NZ" altLang="ja-JP" sz="1400" b="1" dirty="0">
                  <a:solidFill>
                    <a:schemeClr val="tx1"/>
                  </a:solidFill>
                </a:endParaRPr>
              </a:p>
            </p:txBody>
          </p:sp>
        </mc:Choice>
        <mc:Fallback xmlns="">
          <p:sp>
            <p:nvSpPr>
              <p:cNvPr id="10" name="Text Placeholder 5">
                <a:extLst>
                  <a:ext uri="{FF2B5EF4-FFF2-40B4-BE49-F238E27FC236}">
                    <a16:creationId xmlns:a16="http://schemas.microsoft.com/office/drawing/2014/main" id="{A302240C-9356-8A85-D292-6C62A851A246}"/>
                  </a:ext>
                </a:extLst>
              </p:cNvPr>
              <p:cNvSpPr txBox="1">
                <a:spLocks noRot="1" noChangeAspect="1" noMove="1" noResize="1" noEditPoints="1" noAdjustHandles="1" noChangeArrowheads="1" noChangeShapeType="1" noTextEdit="1"/>
              </p:cNvSpPr>
              <p:nvPr/>
            </p:nvSpPr>
            <p:spPr>
              <a:xfrm>
                <a:off x="1433376" y="1627368"/>
                <a:ext cx="2065363" cy="452058"/>
              </a:xfrm>
              <a:prstGeom prst="rect">
                <a:avLst/>
              </a:prstGeom>
              <a:blipFill>
                <a:blip r:embed="rId4"/>
                <a:stretch>
                  <a:fillRect/>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1649CB2A-5917-E973-1566-B43C5BC49FF1}"/>
              </a:ext>
            </a:extLst>
          </p:cNvPr>
          <p:cNvSpPr txBox="1">
            <a:spLocks/>
          </p:cNvSpPr>
          <p:nvPr/>
        </p:nvSpPr>
        <p:spPr>
          <a:xfrm>
            <a:off x="7776382" y="3147729"/>
            <a:ext cx="4132719" cy="14670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b="1" i="1" dirty="0">
                <a:solidFill>
                  <a:srgbClr val="C00000"/>
                </a:solidFill>
              </a:rPr>
              <a:t>Permutation test yields some evidence against null hypothesis that mean length of fish is the same inside (A) and outside (B) of the marine reserve.</a:t>
            </a:r>
          </a:p>
          <a:p>
            <a:pPr>
              <a:lnSpc>
                <a:spcPct val="100000"/>
              </a:lnSpc>
            </a:pPr>
            <a:endParaRPr lang="en-NZ" altLang="ja-JP" sz="1800" b="1" i="1" dirty="0">
              <a:solidFill>
                <a:srgbClr val="C00000"/>
              </a:solidFill>
            </a:endParaRPr>
          </a:p>
          <a:p>
            <a:pPr>
              <a:lnSpc>
                <a:spcPct val="100000"/>
              </a:lnSpc>
            </a:pPr>
            <a:r>
              <a:rPr lang="en-NZ" altLang="ja-JP" sz="1800" b="1" i="1" dirty="0">
                <a:solidFill>
                  <a:srgbClr val="C00000"/>
                </a:solidFill>
              </a:rPr>
              <a:t>We would conclude fish size is greater outside reserve</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87E5F620-127D-F33F-4138-3AEEEA71C5D3}"/>
                  </a:ext>
                </a:extLst>
              </p:cNvPr>
              <p:cNvSpPr txBox="1">
                <a:spLocks/>
              </p:cNvSpPr>
              <p:nvPr/>
            </p:nvSpPr>
            <p:spPr>
              <a:xfrm>
                <a:off x="7776382" y="1901351"/>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𝒕</m:t>
                        </m:r>
                      </m:e>
                      <m:sub>
                        <m:r>
                          <a:rPr lang="en-NZ" altLang="ja-JP" sz="1600" b="1" i="1" smtClean="0">
                            <a:solidFill>
                              <a:schemeClr val="tx1"/>
                            </a:solidFill>
                            <a:latin typeface="Cambria Math" panose="02040503050406030204" pitchFamily="18" charset="0"/>
                          </a:rPr>
                          <m:t>𝒐𝒃𝒔</m:t>
                        </m:r>
                      </m:sub>
                    </m:sSub>
                  </m:oMath>
                </a14:m>
                <a:r>
                  <a:rPr lang="en-NZ" altLang="ja-JP" sz="1600" dirty="0">
                    <a:solidFill>
                      <a:schemeClr val="tx1"/>
                    </a:solidFill>
                  </a:rPr>
                  <a:t> lies in the 2.0</a:t>
                </a:r>
                <a:r>
                  <a:rPr lang="en-NZ" altLang="ja-JP" sz="1600" baseline="30000" dirty="0">
                    <a:solidFill>
                      <a:schemeClr val="tx1"/>
                    </a:solidFill>
                  </a:rPr>
                  <a:t>th</a:t>
                </a:r>
                <a:r>
                  <a:rPr lang="en-NZ" altLang="ja-JP" sz="1600" dirty="0">
                    <a:solidFill>
                      <a:schemeClr val="tx1"/>
                    </a:solidFill>
                  </a:rPr>
                  <a:t> percentile of test statistics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𝒕</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𝒕</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𝟎𝟐</m:t>
                      </m:r>
                    </m:oMath>
                  </m:oMathPara>
                </a14:m>
                <a:endParaRPr lang="en-NZ" altLang="ja-JP" sz="1600" b="1" dirty="0">
                  <a:solidFill>
                    <a:schemeClr val="tx1"/>
                  </a:solidFill>
                </a:endParaRPr>
              </a:p>
            </p:txBody>
          </p:sp>
        </mc:Choice>
        <mc:Fallback xmlns="">
          <p:sp>
            <p:nvSpPr>
              <p:cNvPr id="12" name="Text Placeholder 5">
                <a:extLst>
                  <a:ext uri="{FF2B5EF4-FFF2-40B4-BE49-F238E27FC236}">
                    <a16:creationId xmlns:a16="http://schemas.microsoft.com/office/drawing/2014/main" id="{87E5F620-127D-F33F-4138-3AEEEA71C5D3}"/>
                  </a:ext>
                </a:extLst>
              </p:cNvPr>
              <p:cNvSpPr txBox="1">
                <a:spLocks noRot="1" noChangeAspect="1" noMove="1" noResize="1" noEditPoints="1" noAdjustHandles="1" noChangeArrowheads="1" noChangeShapeType="1" noTextEdit="1"/>
              </p:cNvSpPr>
              <p:nvPr/>
            </p:nvSpPr>
            <p:spPr>
              <a:xfrm>
                <a:off x="7776382" y="1901351"/>
                <a:ext cx="4132719" cy="1169215"/>
              </a:xfrm>
              <a:prstGeom prst="rect">
                <a:avLst/>
              </a:prstGeom>
              <a:blipFill>
                <a:blip r:embed="rId5"/>
                <a:stretch>
                  <a:fillRect l="-885" t="-1563"/>
                </a:stretch>
              </a:blipFill>
            </p:spPr>
            <p:txBody>
              <a:bodyPr/>
              <a:lstStyle/>
              <a:p>
                <a:r>
                  <a:rPr lang="en-NZ">
                    <a:noFill/>
                  </a:rPr>
                  <a:t> </a:t>
                </a:r>
              </a:p>
            </p:txBody>
          </p:sp>
        </mc:Fallback>
      </mc:AlternateContent>
    </p:spTree>
    <p:extLst>
      <p:ext uri="{BB962C8B-B14F-4D97-AF65-F5344CB8AC3E}">
        <p14:creationId xmlns:p14="http://schemas.microsoft.com/office/powerpoint/2010/main" val="193198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algn="ctr"/>
            <a:r>
              <a:rPr lang="en-NZ" sz="4500" b="1" dirty="0">
                <a:solidFill>
                  <a:srgbClr val="FFC000"/>
                </a:solidFill>
              </a:rPr>
              <a:t>6.4 – The Choice of Test Statistic</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421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22</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600500" y="1240241"/>
            <a:ext cx="10945505" cy="43775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A suitable test statistic for a permutation test is </a:t>
            </a:r>
            <a:r>
              <a:rPr lang="en-NZ" altLang="ja-JP" sz="1800" b="1" dirty="0">
                <a:solidFill>
                  <a:schemeClr val="tx1"/>
                </a:solidFill>
              </a:rPr>
              <a:t>any</a:t>
            </a:r>
            <a:r>
              <a:rPr lang="en-NZ" altLang="ja-JP" sz="1800" dirty="0">
                <a:solidFill>
                  <a:schemeClr val="tx1"/>
                </a:solidFill>
              </a:rPr>
              <a:t> statistic that will reflect differences in the property under consideration between groups, as this will provide evidence against the null hypothesis.</a:t>
            </a: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Two test statistics, </a:t>
            </a:r>
            <a:r>
              <a:rPr lang="en-NZ" altLang="ja-JP" sz="1800" b="1" dirty="0">
                <a:solidFill>
                  <a:schemeClr val="tx1"/>
                </a:solidFill>
              </a:rPr>
              <a:t>F</a:t>
            </a:r>
            <a:r>
              <a:rPr lang="en-NZ" altLang="ja-JP" sz="1800" b="1" baseline="-25000" dirty="0">
                <a:solidFill>
                  <a:schemeClr val="tx1"/>
                </a:solidFill>
              </a:rPr>
              <a:t>1</a:t>
            </a:r>
            <a:r>
              <a:rPr lang="en-NZ" altLang="ja-JP" sz="1800" dirty="0">
                <a:solidFill>
                  <a:schemeClr val="tx1"/>
                </a:solidFill>
              </a:rPr>
              <a:t> and </a:t>
            </a:r>
            <a:r>
              <a:rPr lang="en-NZ" altLang="ja-JP" sz="1800" b="1" dirty="0">
                <a:solidFill>
                  <a:schemeClr val="tx1"/>
                </a:solidFill>
              </a:rPr>
              <a:t>F</a:t>
            </a:r>
            <a:r>
              <a:rPr lang="en-NZ" altLang="ja-JP" sz="1800" b="1" baseline="-25000" dirty="0">
                <a:solidFill>
                  <a:schemeClr val="tx1"/>
                </a:solidFill>
              </a:rPr>
              <a:t>2</a:t>
            </a:r>
            <a:r>
              <a:rPr lang="en-NZ" altLang="ja-JP" sz="1800" dirty="0">
                <a:solidFill>
                  <a:schemeClr val="tx1"/>
                </a:solidFill>
              </a:rPr>
              <a:t>, are said to be </a:t>
            </a:r>
            <a:r>
              <a:rPr lang="en-NZ" altLang="ja-JP" sz="1800" b="1" dirty="0">
                <a:solidFill>
                  <a:srgbClr val="C00000"/>
                </a:solidFill>
              </a:rPr>
              <a:t>equivalent</a:t>
            </a:r>
            <a:r>
              <a:rPr lang="en-NZ" altLang="ja-JP" sz="1800" dirty="0">
                <a:solidFill>
                  <a:schemeClr val="tx1"/>
                </a:solidFill>
              </a:rPr>
              <a:t> if their application to the collection of all possible re-ordered samples will endow them with the same ordering:</a:t>
            </a:r>
          </a:p>
          <a:p>
            <a:pPr algn="just">
              <a:lnSpc>
                <a:spcPct val="100000"/>
              </a:lnSpc>
            </a:pPr>
            <a:r>
              <a:rPr lang="en-NZ" altLang="ja-JP" sz="1600" b="1" i="1" dirty="0">
                <a:solidFill>
                  <a:schemeClr val="tx1"/>
                </a:solidFill>
              </a:rPr>
              <a:t>	</a:t>
            </a:r>
            <a:r>
              <a:rPr lang="en-NZ" altLang="ja-JP" sz="1600" i="1" dirty="0">
                <a:solidFill>
                  <a:srgbClr val="C00000"/>
                </a:solidFill>
              </a:rPr>
              <a:t>i.e. applying test statistic F</a:t>
            </a:r>
            <a:r>
              <a:rPr lang="en-NZ" altLang="ja-JP" sz="1600" i="1" baseline="-25000" dirty="0">
                <a:solidFill>
                  <a:srgbClr val="C00000"/>
                </a:solidFill>
              </a:rPr>
              <a:t>1</a:t>
            </a:r>
            <a:r>
              <a:rPr lang="en-NZ" altLang="ja-JP" sz="1600" i="1" dirty="0">
                <a:solidFill>
                  <a:srgbClr val="C00000"/>
                </a:solidFill>
              </a:rPr>
              <a:t> to every possible re-ordered sample and ranking them in ascending order of the value of F</a:t>
            </a:r>
            <a:r>
              <a:rPr lang="en-NZ" altLang="ja-JP" sz="1600" i="1" baseline="-25000" dirty="0">
                <a:solidFill>
                  <a:srgbClr val="C00000"/>
                </a:solidFill>
              </a:rPr>
              <a:t>1</a:t>
            </a:r>
            <a:endParaRPr lang="en-NZ" altLang="ja-JP" sz="1600" i="1" dirty="0">
              <a:solidFill>
                <a:srgbClr val="C00000"/>
              </a:solidFill>
            </a:endParaRPr>
          </a:p>
          <a:p>
            <a:pPr algn="just">
              <a:lnSpc>
                <a:spcPct val="100000"/>
              </a:lnSpc>
            </a:pPr>
            <a:r>
              <a:rPr lang="en-NZ" altLang="ja-JP" sz="1600" i="1" dirty="0">
                <a:solidFill>
                  <a:srgbClr val="C00000"/>
                </a:solidFill>
              </a:rPr>
              <a:t>	would give exactly the same ordering if we were to repeat the process with test statistic F</a:t>
            </a:r>
            <a:r>
              <a:rPr lang="en-NZ" altLang="ja-JP" sz="1600" i="1" baseline="-25000" dirty="0">
                <a:solidFill>
                  <a:srgbClr val="C00000"/>
                </a:solidFill>
              </a:rPr>
              <a:t>2</a:t>
            </a:r>
            <a:endParaRPr lang="en-NZ" altLang="ja-JP" sz="1600" i="1" dirty="0">
              <a:solidFill>
                <a:srgbClr val="C00000"/>
              </a:solidFill>
            </a:endParaRPr>
          </a:p>
          <a:p>
            <a:pPr algn="just">
              <a:lnSpc>
                <a:spcPct val="100000"/>
              </a:lnSpc>
            </a:pPr>
            <a:endParaRPr lang="en-NZ" altLang="ja-JP" sz="1600" i="1" dirty="0">
              <a:solidFill>
                <a:srgbClr val="C00000"/>
              </a:solidFill>
            </a:endParaRPr>
          </a:p>
          <a:p>
            <a:pPr algn="just">
              <a:lnSpc>
                <a:spcPct val="100000"/>
              </a:lnSpc>
            </a:pPr>
            <a:endParaRPr lang="en-NZ" altLang="ja-JP" sz="1600" i="1" dirty="0">
              <a:solidFill>
                <a:srgbClr val="C00000"/>
              </a:solidFill>
            </a:endParaRPr>
          </a:p>
          <a:p>
            <a:pPr algn="just">
              <a:lnSpc>
                <a:spcPct val="100000"/>
              </a:lnSpc>
            </a:pPr>
            <a:endParaRPr lang="en-NZ" altLang="ja-JP" sz="1600" i="1" dirty="0">
              <a:solidFill>
                <a:srgbClr val="C00000"/>
              </a:solidFill>
            </a:endParaRPr>
          </a:p>
          <a:p>
            <a:pPr algn="just">
              <a:lnSpc>
                <a:spcPct val="100000"/>
              </a:lnSpc>
            </a:pPr>
            <a:endParaRPr lang="en-NZ" altLang="ja-JP" sz="1600" i="1" dirty="0">
              <a:solidFill>
                <a:srgbClr val="C00000"/>
              </a:solidFill>
            </a:endParaRPr>
          </a:p>
        </p:txBody>
      </p:sp>
    </p:spTree>
    <p:extLst>
      <p:ext uri="{BB962C8B-B14F-4D97-AF65-F5344CB8AC3E}">
        <p14:creationId xmlns:p14="http://schemas.microsoft.com/office/powerpoint/2010/main" val="363008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23</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319463" y="982431"/>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Consider the test statistics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oMath>
                </a14:m>
                <a:r>
                  <a:rPr lang="en-NZ" altLang="ja-JP" sz="1600" b="1" i="1" dirty="0">
                    <a:solidFill>
                      <a:schemeClr val="tx1"/>
                    </a:solidFill>
                  </a:rPr>
                  <a:t> </a:t>
                </a:r>
                <a:r>
                  <a:rPr lang="en-NZ" altLang="ja-JP" sz="1600" dirty="0">
                    <a:solidFill>
                      <a:schemeClr val="tx1"/>
                    </a:solidFill>
                  </a:rPr>
                  <a:t>and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oMath>
                </a14:m>
                <a:r>
                  <a:rPr lang="en-NZ" altLang="ja-JP" sz="1600" i="1" dirty="0">
                    <a:solidFill>
                      <a:schemeClr val="tx1"/>
                    </a:solidFill>
                  </a:rPr>
                  <a:t>.</a:t>
                </a:r>
                <a:r>
                  <a:rPr lang="en-NZ" altLang="ja-JP" sz="1600" dirty="0">
                    <a:solidFill>
                      <a:schemeClr val="tx1"/>
                    </a:solidFill>
                  </a:rPr>
                  <a:t> Suppose we have 1,000 reordered samples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𝟐</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𝟏𝟎𝟎𝟎</m:t>
                        </m:r>
                      </m:sub>
                    </m:sSub>
                  </m:oMath>
                </a14:m>
                <a:r>
                  <a:rPr lang="en-NZ" altLang="ja-JP" sz="1600" i="1" dirty="0">
                    <a:solidFill>
                      <a:schemeClr val="tx1"/>
                    </a:solidFill>
                  </a:rPr>
                  <a:t> </a:t>
                </a:r>
              </a:p>
              <a:p>
                <a:pPr algn="just">
                  <a:lnSpc>
                    <a:spcPct val="100000"/>
                  </a:lnSpc>
                </a:pPr>
                <a:endParaRPr lang="en-NZ" altLang="ja-JP" sz="1600" i="1" dirty="0">
                  <a:solidFill>
                    <a:schemeClr val="tx1"/>
                  </a:solidFill>
                </a:endParaRPr>
              </a:p>
            </p:txBody>
          </p:sp>
        </mc:Choice>
        <mc:Fallback xmlns="">
          <p:sp>
            <p:nvSpPr>
              <p:cNvPr id="8" name="Text Placeholder 5">
                <a:extLst>
                  <a:ext uri="{FF2B5EF4-FFF2-40B4-BE49-F238E27FC236}">
                    <a16:creationId xmlns:a16="http://schemas.microsoft.com/office/drawing/2014/main" id="{769683FD-9AA7-43FD-B35D-ADD72103696C}"/>
                  </a:ext>
                </a:extLst>
              </p:cNvPr>
              <p:cNvSpPr txBox="1">
                <a:spLocks noRot="1" noChangeAspect="1" noMove="1" noResize="1" noEditPoints="1" noAdjustHandles="1" noChangeArrowheads="1" noChangeShapeType="1" noTextEdit="1"/>
              </p:cNvSpPr>
              <p:nvPr/>
            </p:nvSpPr>
            <p:spPr>
              <a:xfrm>
                <a:off x="319463" y="982431"/>
                <a:ext cx="10945505" cy="365125"/>
              </a:xfrm>
              <a:prstGeom prst="rect">
                <a:avLst/>
              </a:prstGeom>
              <a:blipFill>
                <a:blip r:embed="rId3"/>
                <a:stretch>
                  <a:fillRect l="-278" t="-5000" b="-1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50315610-29B3-2F8E-B5EC-9EDAC09704C0}"/>
                  </a:ext>
                </a:extLst>
              </p:cNvPr>
              <p:cNvSpPr txBox="1">
                <a:spLocks/>
              </p:cNvSpPr>
              <p:nvPr/>
            </p:nvSpPr>
            <p:spPr>
              <a:xfrm>
                <a:off x="623247" y="2282487"/>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d>
                        <m:dPr>
                          <m:ctrlPr>
                            <a:rPr lang="en-NZ" altLang="ja-JP" sz="1600" b="1" i="1" smtClean="0">
                              <a:solidFill>
                                <a:schemeClr val="tx1"/>
                              </a:solidFill>
                              <a:latin typeface="Cambria Math" panose="02040503050406030204" pitchFamily="18" charset="0"/>
                            </a:rPr>
                          </m:ctrlPr>
                        </m:dPr>
                        <m:e>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𝟏𝟕</m:t>
                              </m:r>
                            </m:sub>
                          </m:sSub>
                        </m:e>
                      </m:d>
                      <m:r>
                        <a:rPr lang="en-NZ" altLang="ja-JP" sz="1600" b="1" i="1" smtClean="0">
                          <a:solidFill>
                            <a:schemeClr val="tx1"/>
                          </a:solidFill>
                          <a:latin typeface="Cambria Math" panose="02040503050406030204" pitchFamily="18" charset="0"/>
                        </a:rPr>
                        <m:t> &lt;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d>
                        <m:dPr>
                          <m:ctrlPr>
                            <a:rPr lang="en-NZ" altLang="ja-JP" sz="1600" b="1" i="1" smtClean="0">
                              <a:solidFill>
                                <a:schemeClr val="tx1"/>
                              </a:solidFill>
                              <a:latin typeface="Cambria Math" panose="02040503050406030204" pitchFamily="18" charset="0"/>
                            </a:rPr>
                          </m:ctrlPr>
                        </m:dPr>
                        <m:e>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𝟐𝟑</m:t>
                              </m:r>
                            </m:sub>
                          </m:sSub>
                        </m:e>
                      </m:d>
                      <m:r>
                        <a:rPr lang="en-NZ" altLang="ja-JP" sz="1600" b="1" i="1">
                          <a:solidFill>
                            <a:schemeClr val="tx1"/>
                          </a:solidFill>
                          <a:latin typeface="Cambria Math" panose="02040503050406030204" pitchFamily="18" charset="0"/>
                        </a:rPr>
                        <m:t>&lt;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𝟏</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𝟖𝟓𝟐</m:t>
                              </m:r>
                            </m:sub>
                          </m:sSub>
                        </m:e>
                      </m:d>
                      <m:r>
                        <a:rPr lang="en-NZ" altLang="ja-JP" sz="1600" b="1" i="1">
                          <a:solidFill>
                            <a:schemeClr val="tx1"/>
                          </a:solidFill>
                          <a:latin typeface="Cambria Math" panose="02040503050406030204" pitchFamily="18" charset="0"/>
                        </a:rPr>
                        <m:t>&lt;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𝟏</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a:solidFill>
                                    <a:schemeClr val="tx1"/>
                                  </a:solidFill>
                                  <a:latin typeface="Cambria Math" panose="02040503050406030204" pitchFamily="18" charset="0"/>
                                </a:rPr>
                                <m:t>𝟐</m:t>
                              </m:r>
                              <m:r>
                                <a:rPr lang="en-NZ" altLang="ja-JP" sz="1600" b="1" i="1" smtClean="0">
                                  <a:solidFill>
                                    <a:schemeClr val="tx1"/>
                                  </a:solidFill>
                                  <a:latin typeface="Cambria Math" panose="02040503050406030204" pitchFamily="18" charset="0"/>
                                </a:rPr>
                                <m:t>𝟎𝟔</m:t>
                              </m:r>
                            </m:sub>
                          </m:sSub>
                        </m:e>
                      </m:d>
                      <m:r>
                        <a:rPr lang="en-NZ" altLang="ja-JP" sz="1600" b="1" i="1" smtClean="0">
                          <a:solidFill>
                            <a:schemeClr val="tx1"/>
                          </a:solidFill>
                          <a:latin typeface="Cambria Math" panose="02040503050406030204" pitchFamily="18" charset="0"/>
                        </a:rPr>
                        <m:t> &lt; …&lt;</m:t>
                      </m:r>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𝟏</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𝟗𝟎𝟕</m:t>
                              </m:r>
                            </m:sub>
                          </m:sSub>
                        </m:e>
                      </m:d>
                      <m:r>
                        <a:rPr lang="en-NZ" altLang="ja-JP" sz="1600" b="1" i="1">
                          <a:solidFill>
                            <a:schemeClr val="tx1"/>
                          </a:solidFill>
                          <a:latin typeface="Cambria Math" panose="02040503050406030204" pitchFamily="18" charset="0"/>
                        </a:rPr>
                        <m:t>&lt;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𝟏</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𝟕𝟔𝟏</m:t>
                              </m:r>
                            </m:sub>
                          </m:sSub>
                        </m:e>
                      </m:d>
                    </m:oMath>
                  </m:oMathPara>
                </a14:m>
                <a:endParaRPr lang="en-NZ" altLang="ja-JP" sz="1600" b="1" i="1" dirty="0">
                  <a:solidFill>
                    <a:schemeClr val="tx1"/>
                  </a:solidFill>
                </a:endParaRPr>
              </a:p>
            </p:txBody>
          </p:sp>
        </mc:Choice>
        <mc:Fallback xmlns="">
          <p:sp>
            <p:nvSpPr>
              <p:cNvPr id="3" name="Text Placeholder 5">
                <a:extLst>
                  <a:ext uri="{FF2B5EF4-FFF2-40B4-BE49-F238E27FC236}">
                    <a16:creationId xmlns:a16="http://schemas.microsoft.com/office/drawing/2014/main" id="{50315610-29B3-2F8E-B5EC-9EDAC09704C0}"/>
                  </a:ext>
                </a:extLst>
              </p:cNvPr>
              <p:cNvSpPr txBox="1">
                <a:spLocks noRot="1" noChangeAspect="1" noMove="1" noResize="1" noEditPoints="1" noAdjustHandles="1" noChangeArrowheads="1" noChangeShapeType="1" noTextEdit="1"/>
              </p:cNvSpPr>
              <p:nvPr/>
            </p:nvSpPr>
            <p:spPr>
              <a:xfrm>
                <a:off x="623247" y="2282487"/>
                <a:ext cx="10945505" cy="365125"/>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72A4C746-1D7C-6A7D-07E9-AC5AF4C89143}"/>
                  </a:ext>
                </a:extLst>
              </p:cNvPr>
              <p:cNvSpPr txBox="1">
                <a:spLocks/>
              </p:cNvSpPr>
              <p:nvPr/>
            </p:nvSpPr>
            <p:spPr>
              <a:xfrm>
                <a:off x="319463" y="1508843"/>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If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𝟏</m:t>
                        </m:r>
                      </m:sub>
                    </m:sSub>
                  </m:oMath>
                </a14:m>
                <a:r>
                  <a:rPr lang="en-NZ" altLang="ja-JP" sz="1600" b="1" i="1" dirty="0">
                    <a:solidFill>
                      <a:schemeClr val="tx1"/>
                    </a:solidFill>
                  </a:rPr>
                  <a:t> </a:t>
                </a:r>
                <a:r>
                  <a:rPr lang="en-NZ" altLang="ja-JP" sz="1600" dirty="0">
                    <a:solidFill>
                      <a:schemeClr val="tx1"/>
                    </a:solidFill>
                  </a:rPr>
                  <a:t>and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𝟐</m:t>
                        </m:r>
                      </m:sub>
                    </m:sSub>
                  </m:oMath>
                </a14:m>
                <a:r>
                  <a:rPr lang="en-NZ" altLang="ja-JP" sz="1600" dirty="0">
                    <a:solidFill>
                      <a:schemeClr val="tx1"/>
                    </a:solidFill>
                  </a:rPr>
                  <a:t> are equivalent, then if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oMath>
                </a14:m>
                <a:r>
                  <a:rPr lang="en-NZ" altLang="ja-JP" sz="1600" b="1" dirty="0">
                    <a:solidFill>
                      <a:schemeClr val="tx1"/>
                    </a:solidFill>
                  </a:rPr>
                  <a:t> </a:t>
                </a:r>
                <a:r>
                  <a:rPr lang="en-NZ" altLang="ja-JP" sz="1600" dirty="0">
                    <a:solidFill>
                      <a:schemeClr val="tx1"/>
                    </a:solidFill>
                  </a:rPr>
                  <a:t>ranks the samples in the following way…</a:t>
                </a:r>
                <a:endParaRPr lang="en-NZ" altLang="ja-JP" sz="1600"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7" name="Text Placeholder 5">
                <a:extLst>
                  <a:ext uri="{FF2B5EF4-FFF2-40B4-BE49-F238E27FC236}">
                    <a16:creationId xmlns:a16="http://schemas.microsoft.com/office/drawing/2014/main" id="{72A4C746-1D7C-6A7D-07E9-AC5AF4C89143}"/>
                  </a:ext>
                </a:extLst>
              </p:cNvPr>
              <p:cNvSpPr txBox="1">
                <a:spLocks noRot="1" noChangeAspect="1" noMove="1" noResize="1" noEditPoints="1" noAdjustHandles="1" noChangeArrowheads="1" noChangeShapeType="1" noTextEdit="1"/>
              </p:cNvSpPr>
              <p:nvPr/>
            </p:nvSpPr>
            <p:spPr>
              <a:xfrm>
                <a:off x="319463" y="1508843"/>
                <a:ext cx="10945505" cy="365125"/>
              </a:xfrm>
              <a:prstGeom prst="rect">
                <a:avLst/>
              </a:prstGeom>
              <a:blipFill>
                <a:blip r:embed="rId5"/>
                <a:stretch>
                  <a:fillRect l="-278" t="-5085" b="-152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B4534DFE-9A07-8C15-DA1A-8E06E87B43BD}"/>
                  </a:ext>
                </a:extLst>
              </p:cNvPr>
              <p:cNvSpPr txBox="1">
                <a:spLocks/>
              </p:cNvSpPr>
              <p:nvPr/>
            </p:nvSpPr>
            <p:spPr>
              <a:xfrm>
                <a:off x="319463" y="3056132"/>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then if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oMath>
                </a14:m>
                <a:r>
                  <a:rPr lang="en-NZ" altLang="ja-JP" sz="1600" b="1" dirty="0">
                    <a:solidFill>
                      <a:schemeClr val="tx1"/>
                    </a:solidFill>
                  </a:rPr>
                  <a:t> </a:t>
                </a:r>
                <a:r>
                  <a:rPr lang="en-NZ" altLang="ja-JP" sz="1600" dirty="0">
                    <a:solidFill>
                      <a:schemeClr val="tx1"/>
                    </a:solidFill>
                  </a:rPr>
                  <a:t>will also rank the samples in the same way…</a:t>
                </a:r>
                <a:endParaRPr lang="en-NZ" altLang="ja-JP" sz="1600"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10" name="Text Placeholder 5">
                <a:extLst>
                  <a:ext uri="{FF2B5EF4-FFF2-40B4-BE49-F238E27FC236}">
                    <a16:creationId xmlns:a16="http://schemas.microsoft.com/office/drawing/2014/main" id="{B4534DFE-9A07-8C15-DA1A-8E06E87B43BD}"/>
                  </a:ext>
                </a:extLst>
              </p:cNvPr>
              <p:cNvSpPr txBox="1">
                <a:spLocks noRot="1" noChangeAspect="1" noMove="1" noResize="1" noEditPoints="1" noAdjustHandles="1" noChangeArrowheads="1" noChangeShapeType="1" noTextEdit="1"/>
              </p:cNvSpPr>
              <p:nvPr/>
            </p:nvSpPr>
            <p:spPr>
              <a:xfrm>
                <a:off x="319463" y="3056132"/>
                <a:ext cx="10945505" cy="365125"/>
              </a:xfrm>
              <a:prstGeom prst="rect">
                <a:avLst/>
              </a:prstGeom>
              <a:blipFill>
                <a:blip r:embed="rId6"/>
                <a:stretch>
                  <a:fillRect l="-278" t="-5000" b="-1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55F48F80-A793-B33D-4832-35BA732230E0}"/>
                  </a:ext>
                </a:extLst>
              </p:cNvPr>
              <p:cNvSpPr txBox="1">
                <a:spLocks/>
              </p:cNvSpPr>
              <p:nvPr/>
            </p:nvSpPr>
            <p:spPr>
              <a:xfrm>
                <a:off x="623246" y="3840884"/>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d>
                        <m:dPr>
                          <m:ctrlPr>
                            <a:rPr lang="en-NZ" altLang="ja-JP" sz="1600" b="1" i="1" smtClean="0">
                              <a:solidFill>
                                <a:schemeClr val="tx1"/>
                              </a:solidFill>
                              <a:latin typeface="Cambria Math" panose="02040503050406030204" pitchFamily="18" charset="0"/>
                            </a:rPr>
                          </m:ctrlPr>
                        </m:dPr>
                        <m:e>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𝟏𝟕</m:t>
                              </m:r>
                            </m:sub>
                          </m:sSub>
                        </m:e>
                      </m:d>
                      <m:r>
                        <a:rPr lang="en-NZ" altLang="ja-JP" sz="1600" b="1" i="1" smtClean="0">
                          <a:solidFill>
                            <a:schemeClr val="tx1"/>
                          </a:solidFill>
                          <a:latin typeface="Cambria Math" panose="02040503050406030204" pitchFamily="18" charset="0"/>
                        </a:rPr>
                        <m:t> &lt;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d>
                        <m:dPr>
                          <m:ctrlPr>
                            <a:rPr lang="en-NZ" altLang="ja-JP" sz="1600" b="1" i="1" smtClean="0">
                              <a:solidFill>
                                <a:schemeClr val="tx1"/>
                              </a:solidFill>
                              <a:latin typeface="Cambria Math" panose="02040503050406030204" pitchFamily="18" charset="0"/>
                            </a:rPr>
                          </m:ctrlPr>
                        </m:dPr>
                        <m:e>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𝟐𝟑</m:t>
                              </m:r>
                            </m:sub>
                          </m:sSub>
                        </m:e>
                      </m:d>
                      <m:r>
                        <a:rPr lang="en-NZ" altLang="ja-JP" sz="1600" b="1" i="1">
                          <a:solidFill>
                            <a:schemeClr val="tx1"/>
                          </a:solidFill>
                          <a:latin typeface="Cambria Math" panose="02040503050406030204" pitchFamily="18" charset="0"/>
                        </a:rPr>
                        <m:t>&lt;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𝟖𝟓𝟐</m:t>
                              </m:r>
                            </m:sub>
                          </m:sSub>
                        </m:e>
                      </m:d>
                      <m:r>
                        <a:rPr lang="en-NZ" altLang="ja-JP" sz="1600" b="1" i="1">
                          <a:solidFill>
                            <a:schemeClr val="tx1"/>
                          </a:solidFill>
                          <a:latin typeface="Cambria Math" panose="02040503050406030204" pitchFamily="18" charset="0"/>
                        </a:rPr>
                        <m:t>&lt;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a:solidFill>
                                    <a:schemeClr val="tx1"/>
                                  </a:solidFill>
                                  <a:latin typeface="Cambria Math" panose="02040503050406030204" pitchFamily="18" charset="0"/>
                                </a:rPr>
                                <m:t>𝟐</m:t>
                              </m:r>
                              <m:r>
                                <a:rPr lang="en-NZ" altLang="ja-JP" sz="1600" b="1" i="1" smtClean="0">
                                  <a:solidFill>
                                    <a:schemeClr val="tx1"/>
                                  </a:solidFill>
                                  <a:latin typeface="Cambria Math" panose="02040503050406030204" pitchFamily="18" charset="0"/>
                                </a:rPr>
                                <m:t>𝟎𝟔</m:t>
                              </m:r>
                            </m:sub>
                          </m:sSub>
                        </m:e>
                      </m:d>
                      <m:r>
                        <a:rPr lang="en-NZ" altLang="ja-JP" sz="1600" b="1" i="1" smtClean="0">
                          <a:solidFill>
                            <a:schemeClr val="tx1"/>
                          </a:solidFill>
                          <a:latin typeface="Cambria Math" panose="02040503050406030204" pitchFamily="18" charset="0"/>
                        </a:rPr>
                        <m:t> &lt; …&lt;</m:t>
                      </m:r>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𝟗𝟎𝟕</m:t>
                              </m:r>
                            </m:sub>
                          </m:sSub>
                        </m:e>
                      </m:d>
                      <m:r>
                        <a:rPr lang="en-NZ" altLang="ja-JP" sz="1600" b="1" i="1">
                          <a:solidFill>
                            <a:schemeClr val="tx1"/>
                          </a:solidFill>
                          <a:latin typeface="Cambria Math" panose="02040503050406030204" pitchFamily="18" charset="0"/>
                        </a:rPr>
                        <m:t>&lt;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𝟕𝟔𝟏</m:t>
                              </m:r>
                            </m:sub>
                          </m:sSub>
                        </m:e>
                      </m:d>
                    </m:oMath>
                  </m:oMathPara>
                </a14:m>
                <a:endParaRPr lang="en-NZ" altLang="ja-JP" sz="1600" b="1" i="1" dirty="0">
                  <a:solidFill>
                    <a:schemeClr val="tx1"/>
                  </a:solidFill>
                </a:endParaRPr>
              </a:p>
            </p:txBody>
          </p:sp>
        </mc:Choice>
        <mc:Fallback xmlns="">
          <p:sp>
            <p:nvSpPr>
              <p:cNvPr id="12" name="Text Placeholder 5">
                <a:extLst>
                  <a:ext uri="{FF2B5EF4-FFF2-40B4-BE49-F238E27FC236}">
                    <a16:creationId xmlns:a16="http://schemas.microsoft.com/office/drawing/2014/main" id="{55F48F80-A793-B33D-4832-35BA732230E0}"/>
                  </a:ext>
                </a:extLst>
              </p:cNvPr>
              <p:cNvSpPr txBox="1">
                <a:spLocks noRot="1" noChangeAspect="1" noMove="1" noResize="1" noEditPoints="1" noAdjustHandles="1" noChangeArrowheads="1" noChangeShapeType="1" noTextEdit="1"/>
              </p:cNvSpPr>
              <p:nvPr/>
            </p:nvSpPr>
            <p:spPr>
              <a:xfrm>
                <a:off x="623246" y="3840884"/>
                <a:ext cx="10945505" cy="365125"/>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6A67F32C-702F-80D0-5DA3-A7ABFAF5F6A7}"/>
                  </a:ext>
                </a:extLst>
              </p:cNvPr>
              <p:cNvSpPr txBox="1">
                <a:spLocks/>
              </p:cNvSpPr>
              <p:nvPr/>
            </p:nvSpPr>
            <p:spPr>
              <a:xfrm>
                <a:off x="319462" y="4667124"/>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𝑶𝒃𝒔</m:t>
                        </m:r>
                      </m:sub>
                    </m:sSub>
                  </m:oMath>
                </a14:m>
                <a:r>
                  <a:rPr lang="en-NZ" altLang="ja-JP" sz="1600" i="1" dirty="0">
                    <a:solidFill>
                      <a:schemeClr val="tx1"/>
                    </a:solidFill>
                  </a:rPr>
                  <a:t> </a:t>
                </a:r>
                <a:r>
                  <a:rPr lang="en-NZ" altLang="ja-JP" sz="1600" dirty="0">
                    <a:solidFill>
                      <a:schemeClr val="tx1"/>
                    </a:solidFill>
                  </a:rPr>
                  <a:t>and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𝑶𝒃𝒔</m:t>
                        </m:r>
                      </m:sub>
                    </m:sSub>
                  </m:oMath>
                </a14:m>
                <a:r>
                  <a:rPr lang="en-NZ" altLang="ja-JP" sz="1600" dirty="0">
                    <a:solidFill>
                      <a:schemeClr val="tx1"/>
                    </a:solidFill>
                  </a:rPr>
                  <a:t> will therefore fall in the same position in the distribution of test statistics…</a:t>
                </a:r>
              </a:p>
            </p:txBody>
          </p:sp>
        </mc:Choice>
        <mc:Fallback xmlns="">
          <p:sp>
            <p:nvSpPr>
              <p:cNvPr id="14" name="Text Placeholder 5">
                <a:extLst>
                  <a:ext uri="{FF2B5EF4-FFF2-40B4-BE49-F238E27FC236}">
                    <a16:creationId xmlns:a16="http://schemas.microsoft.com/office/drawing/2014/main" id="{6A67F32C-702F-80D0-5DA3-A7ABFAF5F6A7}"/>
                  </a:ext>
                </a:extLst>
              </p:cNvPr>
              <p:cNvSpPr txBox="1">
                <a:spLocks noRot="1" noChangeAspect="1" noMove="1" noResize="1" noEditPoints="1" noAdjustHandles="1" noChangeArrowheads="1" noChangeShapeType="1" noTextEdit="1"/>
              </p:cNvSpPr>
              <p:nvPr/>
            </p:nvSpPr>
            <p:spPr>
              <a:xfrm>
                <a:off x="319462" y="4667124"/>
                <a:ext cx="10945505" cy="365125"/>
              </a:xfrm>
              <a:prstGeom prst="rect">
                <a:avLst/>
              </a:prstGeom>
              <a:blipFill>
                <a:blip r:embed="rId8"/>
                <a:stretch>
                  <a:fillRect t="-3333"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F4E03F58-B91B-AA88-1D7A-AC0A0B865D95}"/>
                  </a:ext>
                </a:extLst>
              </p:cNvPr>
              <p:cNvSpPr txBox="1">
                <a:spLocks/>
              </p:cNvSpPr>
              <p:nvPr/>
            </p:nvSpPr>
            <p:spPr>
              <a:xfrm>
                <a:off x="6095998" y="2624762"/>
                <a:ext cx="1349419"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𝑭</m:t>
                          </m:r>
                        </m:e>
                        <m:sub>
                          <m:r>
                            <a:rPr lang="en-NZ" altLang="ja-JP" sz="1600" b="1" i="1" smtClean="0">
                              <a:solidFill>
                                <a:srgbClr val="C00000"/>
                              </a:solidFill>
                              <a:latin typeface="Cambria Math" panose="02040503050406030204" pitchFamily="18" charset="0"/>
                            </a:rPr>
                            <m:t>𝟏</m:t>
                          </m:r>
                          <m:r>
                            <a:rPr lang="en-NZ" altLang="ja-JP" sz="1600" b="1" i="1" smtClean="0">
                              <a:solidFill>
                                <a:srgbClr val="C00000"/>
                              </a:solidFill>
                              <a:latin typeface="Cambria Math" panose="02040503050406030204" pitchFamily="18" charset="0"/>
                            </a:rPr>
                            <m:t>,   </m:t>
                          </m:r>
                          <m:r>
                            <a:rPr lang="en-NZ" altLang="ja-JP" sz="1600" b="1" i="1" smtClean="0">
                              <a:solidFill>
                                <a:srgbClr val="C00000"/>
                              </a:solidFill>
                              <a:latin typeface="Cambria Math" panose="02040503050406030204" pitchFamily="18" charset="0"/>
                            </a:rPr>
                            <m:t>𝑶𝒃𝒔</m:t>
                          </m:r>
                        </m:sub>
                      </m:sSub>
                    </m:oMath>
                  </m:oMathPara>
                </a14:m>
                <a:endParaRPr lang="en-NZ" altLang="ja-JP" sz="1600" dirty="0">
                  <a:solidFill>
                    <a:srgbClr val="C00000"/>
                  </a:solidFill>
                </a:endParaRPr>
              </a:p>
            </p:txBody>
          </p:sp>
        </mc:Choice>
        <mc:Fallback xmlns="">
          <p:sp>
            <p:nvSpPr>
              <p:cNvPr id="16" name="Text Placeholder 5">
                <a:extLst>
                  <a:ext uri="{FF2B5EF4-FFF2-40B4-BE49-F238E27FC236}">
                    <a16:creationId xmlns:a16="http://schemas.microsoft.com/office/drawing/2014/main" id="{F4E03F58-B91B-AA88-1D7A-AC0A0B865D95}"/>
                  </a:ext>
                </a:extLst>
              </p:cNvPr>
              <p:cNvSpPr txBox="1">
                <a:spLocks noRot="1" noChangeAspect="1" noMove="1" noResize="1" noEditPoints="1" noAdjustHandles="1" noChangeArrowheads="1" noChangeShapeType="1" noTextEdit="1"/>
              </p:cNvSpPr>
              <p:nvPr/>
            </p:nvSpPr>
            <p:spPr>
              <a:xfrm>
                <a:off x="6095998" y="2624762"/>
                <a:ext cx="1349419" cy="365125"/>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AA7DE37F-A37E-35A1-640D-5929CB300113}"/>
                  </a:ext>
                </a:extLst>
              </p:cNvPr>
              <p:cNvSpPr txBox="1">
                <a:spLocks/>
              </p:cNvSpPr>
              <p:nvPr/>
            </p:nvSpPr>
            <p:spPr>
              <a:xfrm>
                <a:off x="6095998" y="3398407"/>
                <a:ext cx="1349419"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𝑭</m:t>
                          </m:r>
                        </m:e>
                        <m:sub>
                          <m:r>
                            <a:rPr lang="en-NZ" altLang="ja-JP" sz="1600" b="1" i="1" smtClean="0">
                              <a:solidFill>
                                <a:srgbClr val="C00000"/>
                              </a:solidFill>
                              <a:latin typeface="Cambria Math" panose="02040503050406030204" pitchFamily="18" charset="0"/>
                            </a:rPr>
                            <m:t>𝟐</m:t>
                          </m:r>
                          <m:r>
                            <a:rPr lang="en-NZ" altLang="ja-JP" sz="1600" b="1" i="1" smtClean="0">
                              <a:solidFill>
                                <a:srgbClr val="C00000"/>
                              </a:solidFill>
                              <a:latin typeface="Cambria Math" panose="02040503050406030204" pitchFamily="18" charset="0"/>
                            </a:rPr>
                            <m:t>,   </m:t>
                          </m:r>
                          <m:r>
                            <a:rPr lang="en-NZ" altLang="ja-JP" sz="1600" b="1" i="1" smtClean="0">
                              <a:solidFill>
                                <a:srgbClr val="C00000"/>
                              </a:solidFill>
                              <a:latin typeface="Cambria Math" panose="02040503050406030204" pitchFamily="18" charset="0"/>
                            </a:rPr>
                            <m:t>𝑶𝒃𝒔</m:t>
                          </m:r>
                        </m:sub>
                      </m:sSub>
                    </m:oMath>
                  </m:oMathPara>
                </a14:m>
                <a:endParaRPr lang="en-NZ" altLang="ja-JP" sz="1600" dirty="0">
                  <a:solidFill>
                    <a:srgbClr val="C00000"/>
                  </a:solidFill>
                </a:endParaRPr>
              </a:p>
            </p:txBody>
          </p:sp>
        </mc:Choice>
        <mc:Fallback xmlns="">
          <p:sp>
            <p:nvSpPr>
              <p:cNvPr id="18" name="Text Placeholder 5">
                <a:extLst>
                  <a:ext uri="{FF2B5EF4-FFF2-40B4-BE49-F238E27FC236}">
                    <a16:creationId xmlns:a16="http://schemas.microsoft.com/office/drawing/2014/main" id="{AA7DE37F-A37E-35A1-640D-5929CB300113}"/>
                  </a:ext>
                </a:extLst>
              </p:cNvPr>
              <p:cNvSpPr txBox="1">
                <a:spLocks noRot="1" noChangeAspect="1" noMove="1" noResize="1" noEditPoints="1" noAdjustHandles="1" noChangeArrowheads="1" noChangeShapeType="1" noTextEdit="1"/>
              </p:cNvSpPr>
              <p:nvPr/>
            </p:nvSpPr>
            <p:spPr>
              <a:xfrm>
                <a:off x="6095998" y="3398407"/>
                <a:ext cx="1349419" cy="365125"/>
              </a:xfrm>
              <a:prstGeom prst="rect">
                <a:avLst/>
              </a:prstGeom>
              <a:blipFill>
                <a:blip r:embed="rId10"/>
                <a:stretch>
                  <a:fillRect/>
                </a:stretch>
              </a:blipFill>
            </p:spPr>
            <p:txBody>
              <a:bodyPr/>
              <a:lstStyle/>
              <a:p>
                <a:r>
                  <a:rPr lang="en-NZ">
                    <a:noFill/>
                  </a:rPr>
                  <a:t> </a:t>
                </a:r>
              </a:p>
            </p:txBody>
          </p:sp>
        </mc:Fallback>
      </mc:AlternateContent>
      <p:cxnSp>
        <p:nvCxnSpPr>
          <p:cNvPr id="20" name="Straight Connector 19">
            <a:extLst>
              <a:ext uri="{FF2B5EF4-FFF2-40B4-BE49-F238E27FC236}">
                <a16:creationId xmlns:a16="http://schemas.microsoft.com/office/drawing/2014/main" id="{4F1AAC82-36D7-9384-27B6-512F8423A0C7}"/>
              </a:ext>
            </a:extLst>
          </p:cNvPr>
          <p:cNvCxnSpPr>
            <a:cxnSpLocks/>
          </p:cNvCxnSpPr>
          <p:nvPr/>
        </p:nvCxnSpPr>
        <p:spPr>
          <a:xfrm flipV="1">
            <a:off x="6770707" y="2465049"/>
            <a:ext cx="0" cy="31252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A55637-82D0-9570-81F8-AAD900AB1426}"/>
              </a:ext>
            </a:extLst>
          </p:cNvPr>
          <p:cNvCxnSpPr>
            <a:cxnSpLocks/>
          </p:cNvCxnSpPr>
          <p:nvPr/>
        </p:nvCxnSpPr>
        <p:spPr>
          <a:xfrm flipV="1">
            <a:off x="6815342" y="3710926"/>
            <a:ext cx="0" cy="31252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Text Placeholder 5">
            <a:extLst>
              <a:ext uri="{FF2B5EF4-FFF2-40B4-BE49-F238E27FC236}">
                <a16:creationId xmlns:a16="http://schemas.microsoft.com/office/drawing/2014/main" id="{97665514-050B-946D-A6C6-4A630B578E25}"/>
              </a:ext>
            </a:extLst>
          </p:cNvPr>
          <p:cNvSpPr txBox="1">
            <a:spLocks/>
          </p:cNvSpPr>
          <p:nvPr/>
        </p:nvSpPr>
        <p:spPr>
          <a:xfrm>
            <a:off x="319461" y="5371877"/>
            <a:ext cx="1094550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 and so always yield the same p-value for a permutation test.</a:t>
            </a:r>
          </a:p>
        </p:txBody>
      </p:sp>
    </p:spTree>
    <p:extLst>
      <p:ext uri="{BB962C8B-B14F-4D97-AF65-F5344CB8AC3E}">
        <p14:creationId xmlns:p14="http://schemas.microsoft.com/office/powerpoint/2010/main" val="83657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0" grpId="0"/>
      <p:bldP spid="12" grpId="0"/>
      <p:bldP spid="14" grpId="0"/>
      <p:bldP spid="16" grpId="0"/>
      <p:bldP spid="18" grpId="0"/>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24</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600500" y="1240241"/>
            <a:ext cx="10945505" cy="43775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A suitable test statistic for a permutation test is </a:t>
            </a:r>
            <a:r>
              <a:rPr lang="en-NZ" altLang="ja-JP" sz="1800" b="1" dirty="0">
                <a:solidFill>
                  <a:schemeClr val="tx1"/>
                </a:solidFill>
              </a:rPr>
              <a:t>any</a:t>
            </a:r>
            <a:r>
              <a:rPr lang="en-NZ" altLang="ja-JP" sz="1800" dirty="0">
                <a:solidFill>
                  <a:schemeClr val="tx1"/>
                </a:solidFill>
              </a:rPr>
              <a:t> statistic that will reflect differences in the property under consideration between groups, as this will provide evidence against the null hypothesis.</a:t>
            </a: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Two test statistics, </a:t>
            </a:r>
            <a:r>
              <a:rPr lang="en-NZ" altLang="ja-JP" sz="1800" b="1" dirty="0">
                <a:solidFill>
                  <a:schemeClr val="tx1"/>
                </a:solidFill>
              </a:rPr>
              <a:t>F</a:t>
            </a:r>
            <a:r>
              <a:rPr lang="en-NZ" altLang="ja-JP" sz="1800" b="1" baseline="-25000" dirty="0">
                <a:solidFill>
                  <a:schemeClr val="tx1"/>
                </a:solidFill>
              </a:rPr>
              <a:t>1</a:t>
            </a:r>
            <a:r>
              <a:rPr lang="en-NZ" altLang="ja-JP" sz="1800" dirty="0">
                <a:solidFill>
                  <a:schemeClr val="tx1"/>
                </a:solidFill>
              </a:rPr>
              <a:t> and </a:t>
            </a:r>
            <a:r>
              <a:rPr lang="en-NZ" altLang="ja-JP" sz="1800" b="1" dirty="0">
                <a:solidFill>
                  <a:schemeClr val="tx1"/>
                </a:solidFill>
              </a:rPr>
              <a:t>F</a:t>
            </a:r>
            <a:r>
              <a:rPr lang="en-NZ" altLang="ja-JP" sz="1800" b="1" baseline="-25000" dirty="0">
                <a:solidFill>
                  <a:schemeClr val="tx1"/>
                </a:solidFill>
              </a:rPr>
              <a:t>2</a:t>
            </a:r>
            <a:r>
              <a:rPr lang="en-NZ" altLang="ja-JP" sz="1800" dirty="0">
                <a:solidFill>
                  <a:schemeClr val="tx1"/>
                </a:solidFill>
              </a:rPr>
              <a:t>, are said to be </a:t>
            </a:r>
            <a:r>
              <a:rPr lang="en-NZ" altLang="ja-JP" sz="1800" b="1" dirty="0">
                <a:solidFill>
                  <a:srgbClr val="C00000"/>
                </a:solidFill>
              </a:rPr>
              <a:t>equivalent</a:t>
            </a:r>
            <a:r>
              <a:rPr lang="en-NZ" altLang="ja-JP" sz="1800" dirty="0">
                <a:solidFill>
                  <a:schemeClr val="tx1"/>
                </a:solidFill>
              </a:rPr>
              <a:t> if their application to the collection of all possible re-ordered samples will endow them with the same ordering:</a:t>
            </a:r>
          </a:p>
          <a:p>
            <a:pPr algn="just">
              <a:lnSpc>
                <a:spcPct val="100000"/>
              </a:lnSpc>
            </a:pPr>
            <a:r>
              <a:rPr lang="en-NZ" altLang="ja-JP" sz="1600" b="1" i="1" dirty="0">
                <a:solidFill>
                  <a:schemeClr val="tx1"/>
                </a:solidFill>
              </a:rPr>
              <a:t>	</a:t>
            </a:r>
            <a:r>
              <a:rPr lang="en-NZ" altLang="ja-JP" sz="1600" i="1" dirty="0">
                <a:solidFill>
                  <a:srgbClr val="C00000"/>
                </a:solidFill>
              </a:rPr>
              <a:t>i.e. applying test statistic F</a:t>
            </a:r>
            <a:r>
              <a:rPr lang="en-NZ" altLang="ja-JP" sz="1600" i="1" baseline="-25000" dirty="0">
                <a:solidFill>
                  <a:srgbClr val="C00000"/>
                </a:solidFill>
              </a:rPr>
              <a:t>1</a:t>
            </a:r>
            <a:r>
              <a:rPr lang="en-NZ" altLang="ja-JP" sz="1600" i="1" dirty="0">
                <a:solidFill>
                  <a:srgbClr val="C00000"/>
                </a:solidFill>
              </a:rPr>
              <a:t> to every possible re-ordered sample and ranking them in ascending order of the value of F</a:t>
            </a:r>
            <a:r>
              <a:rPr lang="en-NZ" altLang="ja-JP" sz="1600" i="1" baseline="-25000" dirty="0">
                <a:solidFill>
                  <a:srgbClr val="C00000"/>
                </a:solidFill>
              </a:rPr>
              <a:t>1</a:t>
            </a:r>
            <a:endParaRPr lang="en-NZ" altLang="ja-JP" sz="1600" i="1" dirty="0">
              <a:solidFill>
                <a:srgbClr val="C00000"/>
              </a:solidFill>
            </a:endParaRPr>
          </a:p>
          <a:p>
            <a:pPr algn="just">
              <a:lnSpc>
                <a:spcPct val="100000"/>
              </a:lnSpc>
            </a:pPr>
            <a:r>
              <a:rPr lang="en-NZ" altLang="ja-JP" sz="1600" i="1" dirty="0">
                <a:solidFill>
                  <a:srgbClr val="C00000"/>
                </a:solidFill>
              </a:rPr>
              <a:t>	would give exactly the same ordering if we were to repeat the process with test statistic F</a:t>
            </a:r>
            <a:r>
              <a:rPr lang="en-NZ" altLang="ja-JP" sz="1600" i="1" baseline="-25000" dirty="0">
                <a:solidFill>
                  <a:srgbClr val="C00000"/>
                </a:solidFill>
              </a:rPr>
              <a:t>2</a:t>
            </a:r>
            <a:endParaRPr lang="en-NZ" altLang="ja-JP" sz="1600" i="1" dirty="0">
              <a:solidFill>
                <a:srgbClr val="C00000"/>
              </a:solidFill>
            </a:endParaRPr>
          </a:p>
          <a:p>
            <a:pPr algn="just">
              <a:lnSpc>
                <a:spcPct val="100000"/>
              </a:lnSpc>
            </a:pPr>
            <a:endParaRPr lang="en-NZ" altLang="ja-JP" sz="1600" i="1" dirty="0">
              <a:solidFill>
                <a:srgbClr val="C00000"/>
              </a:solidFill>
            </a:endParaRPr>
          </a:p>
          <a:p>
            <a:pPr algn="just">
              <a:lnSpc>
                <a:spcPct val="100000"/>
              </a:lnSpc>
            </a:pPr>
            <a:endParaRPr lang="en-NZ" altLang="ja-JP" sz="1600" i="1" dirty="0">
              <a:solidFill>
                <a:srgbClr val="C00000"/>
              </a:solidFill>
            </a:endParaRPr>
          </a:p>
          <a:p>
            <a:pPr algn="just">
              <a:lnSpc>
                <a:spcPct val="100000"/>
              </a:lnSpc>
            </a:pPr>
            <a:endParaRPr lang="en-NZ" altLang="ja-JP" sz="1600" i="1" dirty="0">
              <a:solidFill>
                <a:srgbClr val="C00000"/>
              </a:solidFill>
            </a:endParaRPr>
          </a:p>
          <a:p>
            <a:pPr algn="just">
              <a:lnSpc>
                <a:spcPct val="100000"/>
              </a:lnSpc>
            </a:pPr>
            <a:r>
              <a:rPr lang="en-NZ" altLang="ja-JP" sz="1800" dirty="0">
                <a:solidFill>
                  <a:schemeClr val="tx1"/>
                </a:solidFill>
              </a:rPr>
              <a:t>If two test statistics are equivalent, they rank all reordered samples in the same order </a:t>
            </a:r>
            <a:br>
              <a:rPr lang="en-NZ" altLang="ja-JP" sz="1800" dirty="0">
                <a:solidFill>
                  <a:schemeClr val="tx1"/>
                </a:solidFill>
              </a:rPr>
            </a:br>
            <a:r>
              <a:rPr lang="en-NZ" altLang="ja-JP" sz="1800" dirty="0">
                <a:solidFill>
                  <a:schemeClr val="tx1"/>
                </a:solidFill>
              </a:rPr>
              <a:t>and so yield the same p-value for a permutation test. </a:t>
            </a: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However, in general most test statistics are </a:t>
            </a:r>
            <a:r>
              <a:rPr lang="en-NZ" altLang="ja-JP" sz="1800" b="1" dirty="0">
                <a:solidFill>
                  <a:schemeClr val="tx1"/>
                </a:solidFill>
              </a:rPr>
              <a:t>not equivalent</a:t>
            </a:r>
            <a:r>
              <a:rPr lang="en-NZ" altLang="ja-JP" sz="1800" dirty="0">
                <a:solidFill>
                  <a:schemeClr val="tx1"/>
                </a:solidFill>
              </a:rPr>
              <a:t>.</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Tree>
    <p:extLst>
      <p:ext uri="{BB962C8B-B14F-4D97-AF65-F5344CB8AC3E}">
        <p14:creationId xmlns:p14="http://schemas.microsoft.com/office/powerpoint/2010/main" val="281491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25</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518614" y="1285609"/>
            <a:ext cx="10824442" cy="4879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The choice of which test statistic to use within a permutation test is important because:</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7" name="Text Placeholder 5">
            <a:extLst>
              <a:ext uri="{FF2B5EF4-FFF2-40B4-BE49-F238E27FC236}">
                <a16:creationId xmlns:a16="http://schemas.microsoft.com/office/drawing/2014/main" id="{4140B434-74AB-4019-920D-90DFF719E9A7}"/>
              </a:ext>
            </a:extLst>
          </p:cNvPr>
          <p:cNvSpPr txBox="1">
            <a:spLocks/>
          </p:cNvSpPr>
          <p:nvPr/>
        </p:nvSpPr>
        <p:spPr>
          <a:xfrm>
            <a:off x="1107742" y="1923972"/>
            <a:ext cx="10492855" cy="4879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gn="just">
              <a:lnSpc>
                <a:spcPct val="100000"/>
              </a:lnSpc>
              <a:buFont typeface="+mj-lt"/>
              <a:buAutoNum type="arabicPeriod"/>
            </a:pPr>
            <a:r>
              <a:rPr lang="en-NZ" altLang="ja-JP" sz="2000" b="1" dirty="0">
                <a:solidFill>
                  <a:schemeClr val="tx1"/>
                </a:solidFill>
              </a:rPr>
              <a:t>The choice of test statistic can affect the power of the test.</a:t>
            </a:r>
          </a:p>
          <a:p>
            <a:pPr marL="457200" indent="-457200" algn="just">
              <a:lnSpc>
                <a:spcPct val="100000"/>
              </a:lnSpc>
              <a:buFont typeface="+mj-lt"/>
              <a:buAutoNum type="arabicPeriod"/>
            </a:pPr>
            <a:endParaRPr lang="en-NZ" altLang="ja-JP" sz="2000" b="1" dirty="0">
              <a:solidFill>
                <a:schemeClr val="tx1"/>
              </a:solidFill>
            </a:endParaRPr>
          </a:p>
          <a:p>
            <a:pPr marL="457200" indent="-457200" algn="just">
              <a:lnSpc>
                <a:spcPct val="100000"/>
              </a:lnSpc>
              <a:buFont typeface="+mj-lt"/>
              <a:buAutoNum type="arabicPeriod"/>
            </a:pPr>
            <a:endParaRPr lang="en-NZ" altLang="ja-JP" sz="2000" i="1" dirty="0">
              <a:solidFill>
                <a:srgbClr val="C00000"/>
              </a:solidFill>
            </a:endParaRPr>
          </a:p>
        </p:txBody>
      </p:sp>
      <p:sp>
        <p:nvSpPr>
          <p:cNvPr id="10" name="Text Placeholder 5">
            <a:extLst>
              <a:ext uri="{FF2B5EF4-FFF2-40B4-BE49-F238E27FC236}">
                <a16:creationId xmlns:a16="http://schemas.microsoft.com/office/drawing/2014/main" id="{AC9FB00E-722D-4428-8A57-B353B2C92A7E}"/>
              </a:ext>
            </a:extLst>
          </p:cNvPr>
          <p:cNvSpPr txBox="1">
            <a:spLocks/>
          </p:cNvSpPr>
          <p:nvPr/>
        </p:nvSpPr>
        <p:spPr>
          <a:xfrm>
            <a:off x="1107742" y="2730408"/>
            <a:ext cx="10492855" cy="4879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gn="just">
              <a:lnSpc>
                <a:spcPct val="100000"/>
              </a:lnSpc>
              <a:buFont typeface="+mj-lt"/>
              <a:buAutoNum type="arabicPeriod" startAt="2"/>
            </a:pPr>
            <a:r>
              <a:rPr lang="en-NZ" altLang="ja-JP" sz="2000" b="1" dirty="0">
                <a:solidFill>
                  <a:schemeClr val="tx1"/>
                </a:solidFill>
              </a:rPr>
              <a:t>The choice of test statistic affects the speed of the algorithm</a:t>
            </a:r>
          </a:p>
          <a:p>
            <a:pPr algn="just">
              <a:lnSpc>
                <a:spcPct val="100000"/>
              </a:lnSpc>
            </a:pPr>
            <a:r>
              <a:rPr lang="en-NZ" altLang="ja-JP" sz="2000" dirty="0">
                <a:solidFill>
                  <a:schemeClr val="tx1"/>
                </a:solidFill>
              </a:rPr>
              <a:t>	</a:t>
            </a:r>
            <a:r>
              <a:rPr lang="en-NZ" altLang="ja-JP" sz="1800" dirty="0">
                <a:solidFill>
                  <a:schemeClr val="tx1"/>
                </a:solidFill>
              </a:rPr>
              <a:t>In a permutation test we have to run many (≈1,000) iterations.</a:t>
            </a:r>
          </a:p>
          <a:p>
            <a:pPr algn="just">
              <a:lnSpc>
                <a:spcPct val="100000"/>
              </a:lnSpc>
            </a:pPr>
            <a:r>
              <a:rPr lang="en-NZ" altLang="ja-JP" sz="1800" dirty="0">
                <a:solidFill>
                  <a:schemeClr val="tx1"/>
                </a:solidFill>
              </a:rPr>
              <a:t>	A test statistic which is easier to calculate will reduce computation time.</a:t>
            </a:r>
          </a:p>
          <a:p>
            <a:pPr algn="just">
              <a:lnSpc>
                <a:spcPct val="100000"/>
              </a:lnSpc>
            </a:pPr>
            <a:r>
              <a:rPr lang="en-NZ" altLang="ja-JP" sz="1800" dirty="0">
                <a:solidFill>
                  <a:schemeClr val="tx1"/>
                </a:solidFill>
              </a:rPr>
              <a:t>	If faced with the option of two equivalent test statistics, always choose the one that is</a:t>
            </a:r>
          </a:p>
          <a:p>
            <a:pPr algn="just">
              <a:lnSpc>
                <a:spcPct val="100000"/>
              </a:lnSpc>
            </a:pPr>
            <a:r>
              <a:rPr lang="en-NZ" altLang="ja-JP" sz="1800" dirty="0">
                <a:solidFill>
                  <a:schemeClr val="tx1"/>
                </a:solidFill>
              </a:rPr>
              <a:t>	computationally simpler.</a:t>
            </a:r>
          </a:p>
          <a:p>
            <a:pPr marL="457200" indent="-457200" algn="just">
              <a:lnSpc>
                <a:spcPct val="100000"/>
              </a:lnSpc>
              <a:buFont typeface="+mj-lt"/>
              <a:buAutoNum type="arabicPeriod" startAt="2"/>
            </a:pPr>
            <a:endParaRPr lang="en-NZ" altLang="ja-JP" sz="2000" dirty="0">
              <a:solidFill>
                <a:schemeClr val="tx1"/>
              </a:solidFill>
            </a:endParaRPr>
          </a:p>
          <a:p>
            <a:pPr marL="457200" indent="-457200" algn="just">
              <a:lnSpc>
                <a:spcPct val="100000"/>
              </a:lnSpc>
              <a:buFont typeface="+mj-lt"/>
              <a:buAutoNum type="arabicPeriod" startAt="2"/>
            </a:pPr>
            <a:endParaRPr lang="en-NZ" altLang="ja-JP" sz="2000" i="1" dirty="0">
              <a:solidFill>
                <a:srgbClr val="C00000"/>
              </a:solidFill>
            </a:endParaRPr>
          </a:p>
        </p:txBody>
      </p:sp>
    </p:spTree>
    <p:extLst>
      <p:ext uri="{BB962C8B-B14F-4D97-AF65-F5344CB8AC3E}">
        <p14:creationId xmlns:p14="http://schemas.microsoft.com/office/powerpoint/2010/main" val="4087316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26</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586852" y="1037230"/>
            <a:ext cx="1130034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Consider the following data set and the three test statistics </a:t>
            </a:r>
            <a:r>
              <a:rPr lang="en-NZ" altLang="ja-JP" sz="1800" b="1" dirty="0">
                <a:solidFill>
                  <a:schemeClr val="tx1"/>
                </a:solidFill>
              </a:rPr>
              <a:t>F</a:t>
            </a:r>
            <a:r>
              <a:rPr lang="en-NZ" altLang="ja-JP" sz="1800" b="1" baseline="-25000" dirty="0">
                <a:solidFill>
                  <a:schemeClr val="tx1"/>
                </a:solidFill>
              </a:rPr>
              <a:t>1</a:t>
            </a:r>
            <a:r>
              <a:rPr lang="en-NZ" altLang="ja-JP" sz="1800" b="1" dirty="0">
                <a:solidFill>
                  <a:schemeClr val="tx1"/>
                </a:solidFill>
              </a:rPr>
              <a:t>, F</a:t>
            </a:r>
            <a:r>
              <a:rPr lang="en-NZ" altLang="ja-JP" sz="1800" b="1" baseline="-25000" dirty="0">
                <a:solidFill>
                  <a:schemeClr val="tx1"/>
                </a:solidFill>
              </a:rPr>
              <a:t>2</a:t>
            </a:r>
            <a:r>
              <a:rPr lang="en-NZ" altLang="ja-JP" sz="1800" b="1" dirty="0">
                <a:solidFill>
                  <a:schemeClr val="tx1"/>
                </a:solidFill>
              </a:rPr>
              <a:t> </a:t>
            </a:r>
            <a:r>
              <a:rPr lang="en-NZ" altLang="ja-JP" sz="1800" dirty="0">
                <a:solidFill>
                  <a:schemeClr val="tx1"/>
                </a:solidFill>
              </a:rPr>
              <a:t>and</a:t>
            </a:r>
            <a:r>
              <a:rPr lang="en-NZ" altLang="ja-JP" sz="1800" b="1" dirty="0">
                <a:solidFill>
                  <a:schemeClr val="tx1"/>
                </a:solidFill>
              </a:rPr>
              <a:t> F</a:t>
            </a:r>
            <a:r>
              <a:rPr lang="en-NZ" altLang="ja-JP" sz="1800" b="1" baseline="-25000" dirty="0">
                <a:solidFill>
                  <a:schemeClr val="tx1"/>
                </a:solidFill>
              </a:rPr>
              <a:t>3</a:t>
            </a:r>
            <a:r>
              <a:rPr lang="en-NZ" altLang="ja-JP" sz="1800" dirty="0">
                <a:solidFill>
                  <a:schemeClr val="tx1"/>
                </a:solidFill>
              </a:rPr>
              <a:t>.</a:t>
            </a:r>
            <a:endParaRPr lang="en-NZ" altLang="ja-JP" sz="1600" dirty="0">
              <a:solidFill>
                <a:schemeClr val="tx1"/>
              </a:solidFill>
            </a:endParaRPr>
          </a:p>
          <a:p>
            <a:pPr algn="just">
              <a:lnSpc>
                <a:spcPct val="100000"/>
              </a:lnSpc>
            </a:pPr>
            <a:endParaRPr lang="en-NZ" altLang="ja-JP" sz="1600" i="1" dirty="0">
              <a:solidFill>
                <a:srgbClr val="C00000"/>
              </a:solidFill>
            </a:endParaRPr>
          </a:p>
        </p:txBody>
      </p:sp>
      <p:graphicFrame>
        <p:nvGraphicFramePr>
          <p:cNvPr id="7" name="Table 6">
            <a:extLst>
              <a:ext uri="{FF2B5EF4-FFF2-40B4-BE49-F238E27FC236}">
                <a16:creationId xmlns:a16="http://schemas.microsoft.com/office/drawing/2014/main" id="{0E9751BE-FA2D-41C3-818D-53C7E011EF07}"/>
              </a:ext>
            </a:extLst>
          </p:cNvPr>
          <p:cNvGraphicFramePr>
            <a:graphicFrameLocks noGrp="1"/>
          </p:cNvGraphicFramePr>
          <p:nvPr/>
        </p:nvGraphicFramePr>
        <p:xfrm>
          <a:off x="1146412" y="1517773"/>
          <a:ext cx="2438400" cy="567690"/>
        </p:xfrm>
        <a:graphic>
          <a:graphicData uri="http://schemas.openxmlformats.org/drawingml/2006/table">
            <a:tbl>
              <a:tblPr/>
              <a:tblGrid>
                <a:gridCol w="1050877">
                  <a:extLst>
                    <a:ext uri="{9D8B030D-6E8A-4147-A177-3AD203B41FA5}">
                      <a16:colId xmlns:a16="http://schemas.microsoft.com/office/drawing/2014/main" val="4037610628"/>
                    </a:ext>
                  </a:extLst>
                </a:gridCol>
                <a:gridCol w="436729">
                  <a:extLst>
                    <a:ext uri="{9D8B030D-6E8A-4147-A177-3AD203B41FA5}">
                      <a16:colId xmlns:a16="http://schemas.microsoft.com/office/drawing/2014/main" val="590370213"/>
                    </a:ext>
                  </a:extLst>
                </a:gridCol>
                <a:gridCol w="477671">
                  <a:extLst>
                    <a:ext uri="{9D8B030D-6E8A-4147-A177-3AD203B41FA5}">
                      <a16:colId xmlns:a16="http://schemas.microsoft.com/office/drawing/2014/main" val="3452557641"/>
                    </a:ext>
                  </a:extLst>
                </a:gridCol>
                <a:gridCol w="473123">
                  <a:extLst>
                    <a:ext uri="{9D8B030D-6E8A-4147-A177-3AD203B41FA5}">
                      <a16:colId xmlns:a16="http://schemas.microsoft.com/office/drawing/2014/main" val="3162769819"/>
                    </a:ext>
                  </a:extLst>
                </a:gridCol>
              </a:tblGrid>
              <a:tr h="190500">
                <a:tc>
                  <a:txBody>
                    <a:bodyPr/>
                    <a:lstStyle/>
                    <a:p>
                      <a:pPr algn="ctr" fontAlgn="b"/>
                      <a:r>
                        <a:rPr lang="en-NZ" sz="18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rgbClr val="C0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C0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endParaRPr lang="en-NZ" sz="18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18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9" name="Text Placeholder 5">
            <a:extLst>
              <a:ext uri="{FF2B5EF4-FFF2-40B4-BE49-F238E27FC236}">
                <a16:creationId xmlns:a16="http://schemas.microsoft.com/office/drawing/2014/main" id="{AC0BCB5E-D345-44D4-A505-36815FB59D1E}"/>
              </a:ext>
            </a:extLst>
          </p:cNvPr>
          <p:cNvSpPr txBox="1">
            <a:spLocks/>
          </p:cNvSpPr>
          <p:nvPr/>
        </p:nvSpPr>
        <p:spPr>
          <a:xfrm>
            <a:off x="586852" y="2388382"/>
            <a:ext cx="1082444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There are </a:t>
            </a:r>
            <a:r>
              <a:rPr lang="en-NZ" altLang="ja-JP" sz="1800" b="1" dirty="0">
                <a:solidFill>
                  <a:schemeClr val="tx1"/>
                </a:solidFill>
              </a:rPr>
              <a:t>(</a:t>
            </a:r>
            <a:r>
              <a:rPr lang="en-NZ" altLang="ja-JP" sz="1800" b="1" baseline="30000" dirty="0">
                <a:solidFill>
                  <a:schemeClr val="tx1"/>
                </a:solidFill>
              </a:rPr>
              <a:t>5</a:t>
            </a:r>
            <a:r>
              <a:rPr lang="en-NZ" altLang="ja-JP" sz="1800" b="1" dirty="0">
                <a:solidFill>
                  <a:schemeClr val="tx1"/>
                </a:solidFill>
              </a:rPr>
              <a:t>C</a:t>
            </a:r>
            <a:r>
              <a:rPr lang="en-NZ" altLang="ja-JP" sz="1800" b="1" baseline="-25000" dirty="0">
                <a:solidFill>
                  <a:schemeClr val="tx1"/>
                </a:solidFill>
              </a:rPr>
              <a:t>2</a:t>
            </a:r>
            <a:r>
              <a:rPr lang="en-NZ" altLang="ja-JP" sz="1800" b="1" dirty="0">
                <a:solidFill>
                  <a:schemeClr val="tx1"/>
                </a:solidFill>
              </a:rPr>
              <a:t>) * (</a:t>
            </a:r>
            <a:r>
              <a:rPr lang="en-NZ" altLang="ja-JP" sz="1800" b="1" baseline="30000" dirty="0">
                <a:solidFill>
                  <a:schemeClr val="tx1"/>
                </a:solidFill>
              </a:rPr>
              <a:t>3</a:t>
            </a:r>
            <a:r>
              <a:rPr lang="en-NZ" altLang="ja-JP" sz="1800" b="1" dirty="0">
                <a:solidFill>
                  <a:schemeClr val="tx1"/>
                </a:solidFill>
              </a:rPr>
              <a:t>C</a:t>
            </a:r>
            <a:r>
              <a:rPr lang="en-NZ" altLang="ja-JP" sz="1800" b="1" baseline="-25000" dirty="0">
                <a:solidFill>
                  <a:schemeClr val="tx1"/>
                </a:solidFill>
              </a:rPr>
              <a:t>3</a:t>
            </a:r>
            <a:r>
              <a:rPr lang="en-NZ" altLang="ja-JP" sz="1800" b="1" dirty="0">
                <a:solidFill>
                  <a:schemeClr val="tx1"/>
                </a:solidFill>
              </a:rPr>
              <a:t>) = 10 </a:t>
            </a:r>
            <a:r>
              <a:rPr lang="en-NZ" altLang="ja-JP" sz="1800" dirty="0">
                <a:solidFill>
                  <a:schemeClr val="tx1"/>
                </a:solidFill>
              </a:rPr>
              <a:t>re-ordered samples it is possible to make with this data set. They are shown below:</a:t>
            </a: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CC10B7A4-66BF-4EF8-AE7E-83C368CB9F46}"/>
                  </a:ext>
                </a:extLst>
              </p:cNvPr>
              <p:cNvSpPr txBox="1">
                <a:spLocks/>
              </p:cNvSpPr>
              <p:nvPr/>
            </p:nvSpPr>
            <p:spPr>
              <a:xfrm>
                <a:off x="4230802" y="1517774"/>
                <a:ext cx="2006223" cy="5676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m:t>
                      </m:r>
                      <m:acc>
                        <m:accPr>
                          <m:chr m:val="̅"/>
                          <m:ctrlPr>
                            <a:rPr lang="en-NZ" altLang="ja-JP" sz="1600" b="1" i="1" smtClean="0">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𝒚</m:t>
                              </m:r>
                            </m:e>
                            <m:sub>
                              <m:r>
                                <a:rPr lang="en-NZ" altLang="ja-JP" sz="1600" b="1" i="1">
                                  <a:solidFill>
                                    <a:schemeClr val="tx1"/>
                                  </a:solidFill>
                                  <a:latin typeface="Cambria Math" panose="02040503050406030204" pitchFamily="18" charset="0"/>
                                </a:rPr>
                                <m:t>𝑨</m:t>
                              </m:r>
                            </m:sub>
                          </m:sSub>
                        </m:e>
                      </m:acc>
                      <m:r>
                        <a:rPr lang="en-NZ" altLang="ja-JP" sz="1600" b="1" i="1">
                          <a:solidFill>
                            <a:schemeClr val="tx1"/>
                          </a:solidFill>
                          <a:latin typeface="Cambria Math" panose="02040503050406030204" pitchFamily="18" charset="0"/>
                        </a:rPr>
                        <m:t>  −</m:t>
                      </m:r>
                      <m:acc>
                        <m:accPr>
                          <m:chr m:val="̅"/>
                          <m:ctrlPr>
                            <a:rPr lang="en-NZ" altLang="ja-JP" sz="1600" b="1" i="1">
                              <a:solidFill>
                                <a:schemeClr val="tx1"/>
                              </a:solidFill>
                              <a:latin typeface="Cambria Math" panose="02040503050406030204" pitchFamily="18" charset="0"/>
                            </a:rPr>
                          </m:ctrlPr>
                        </m:acc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𝒚</m:t>
                              </m:r>
                            </m:e>
                            <m:sub>
                              <m:r>
                                <a:rPr lang="en-NZ" altLang="ja-JP" sz="1600" b="1" i="1">
                                  <a:solidFill>
                                    <a:schemeClr val="tx1"/>
                                  </a:solidFill>
                                  <a:latin typeface="Cambria Math" panose="02040503050406030204" pitchFamily="18" charset="0"/>
                                </a:rPr>
                                <m:t>𝑩</m:t>
                              </m:r>
                            </m:sub>
                          </m:sSub>
                        </m:e>
                      </m:acc>
                    </m:oMath>
                  </m:oMathPara>
                </a14:m>
                <a:br>
                  <a:rPr lang="en-NZ" altLang="ja-JP" sz="1600" i="1" dirty="0">
                    <a:solidFill>
                      <a:schemeClr val="tx1"/>
                    </a:solidFill>
                  </a:rPr>
                </a:br>
                <a:endParaRPr lang="en-NZ" altLang="ja-JP" sz="1400" i="1" dirty="0">
                  <a:solidFill>
                    <a:schemeClr val="tx1"/>
                  </a:solidFill>
                </a:endParaRPr>
              </a:p>
            </p:txBody>
          </p:sp>
        </mc:Choice>
        <mc:Fallback xmlns="">
          <p:sp>
            <p:nvSpPr>
              <p:cNvPr id="10" name="Text Placeholder 5">
                <a:extLst>
                  <a:ext uri="{FF2B5EF4-FFF2-40B4-BE49-F238E27FC236}">
                    <a16:creationId xmlns:a16="http://schemas.microsoft.com/office/drawing/2014/main" id="{CC10B7A4-66BF-4EF8-AE7E-83C368CB9F46}"/>
                  </a:ext>
                </a:extLst>
              </p:cNvPr>
              <p:cNvSpPr txBox="1">
                <a:spLocks noRot="1" noChangeAspect="1" noMove="1" noResize="1" noEditPoints="1" noAdjustHandles="1" noChangeArrowheads="1" noChangeShapeType="1" noTextEdit="1"/>
              </p:cNvSpPr>
              <p:nvPr/>
            </p:nvSpPr>
            <p:spPr>
              <a:xfrm>
                <a:off x="4230802" y="1517774"/>
                <a:ext cx="2006223" cy="567690"/>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D5FAFFCC-98FE-4103-A09A-6FB05AAF57DC}"/>
                  </a:ext>
                </a:extLst>
              </p:cNvPr>
              <p:cNvSpPr txBox="1">
                <a:spLocks/>
              </p:cNvSpPr>
              <p:nvPr/>
            </p:nvSpPr>
            <p:spPr>
              <a:xfrm>
                <a:off x="8939751" y="1514057"/>
                <a:ext cx="218465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𝟑</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𝑴𝒆</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𝒅</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𝑴𝒆</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𝒅</m:t>
                          </m:r>
                        </m:e>
                        <m:sub>
                          <m:r>
                            <a:rPr lang="en-NZ" altLang="ja-JP" sz="1600" b="1" i="1" smtClean="0">
                              <a:solidFill>
                                <a:schemeClr val="tx1"/>
                              </a:solidFill>
                              <a:latin typeface="Cambria Math" panose="02040503050406030204" pitchFamily="18" charset="0"/>
                            </a:rPr>
                            <m:t>𝑩</m:t>
                          </m:r>
                        </m:sub>
                      </m:sSub>
                    </m:oMath>
                  </m:oMathPara>
                </a14:m>
                <a:endParaRPr lang="en-NZ" altLang="ja-JP" sz="1400" i="1" dirty="0">
                  <a:solidFill>
                    <a:schemeClr val="tx1"/>
                  </a:solidFill>
                </a:endParaRPr>
              </a:p>
            </p:txBody>
          </p:sp>
        </mc:Choice>
        <mc:Fallback xmlns="">
          <p:sp>
            <p:nvSpPr>
              <p:cNvPr id="11" name="Text Placeholder 5">
                <a:extLst>
                  <a:ext uri="{FF2B5EF4-FFF2-40B4-BE49-F238E27FC236}">
                    <a16:creationId xmlns:a16="http://schemas.microsoft.com/office/drawing/2014/main" id="{D5FAFFCC-98FE-4103-A09A-6FB05AAF57DC}"/>
                  </a:ext>
                </a:extLst>
              </p:cNvPr>
              <p:cNvSpPr txBox="1">
                <a:spLocks noRot="1" noChangeAspect="1" noMove="1" noResize="1" noEditPoints="1" noAdjustHandles="1" noChangeArrowheads="1" noChangeShapeType="1" noTextEdit="1"/>
              </p:cNvSpPr>
              <p:nvPr/>
            </p:nvSpPr>
            <p:spPr>
              <a:xfrm>
                <a:off x="8939751" y="1514057"/>
                <a:ext cx="2184659" cy="365126"/>
              </a:xfrm>
              <a:prstGeom prst="rect">
                <a:avLst/>
              </a:prstGeom>
              <a:blipFill>
                <a:blip r:embed="rId4"/>
                <a:stretch>
                  <a:fillRect/>
                </a:stretch>
              </a:blipFill>
            </p:spPr>
            <p:txBody>
              <a:bodyPr/>
              <a:lstStyle/>
              <a:p>
                <a:r>
                  <a:rPr lang="en-NZ">
                    <a:noFill/>
                  </a:rPr>
                  <a:t> </a:t>
                </a:r>
              </a:p>
            </p:txBody>
          </p:sp>
        </mc:Fallback>
      </mc:AlternateContent>
      <p:graphicFrame>
        <p:nvGraphicFramePr>
          <p:cNvPr id="3" name="Table 2">
            <a:extLst>
              <a:ext uri="{FF2B5EF4-FFF2-40B4-BE49-F238E27FC236}">
                <a16:creationId xmlns:a16="http://schemas.microsoft.com/office/drawing/2014/main" id="{BE037907-72AC-4232-8751-9A4250392D76}"/>
              </a:ext>
            </a:extLst>
          </p:cNvPr>
          <p:cNvGraphicFramePr>
            <a:graphicFrameLocks noGrp="1"/>
          </p:cNvGraphicFramePr>
          <p:nvPr>
            <p:extLst>
              <p:ext uri="{D42A27DB-BD31-4B8C-83A1-F6EECF244321}">
                <p14:modId xmlns:p14="http://schemas.microsoft.com/office/powerpoint/2010/main" val="3944206061"/>
              </p:ext>
            </p:extLst>
          </p:nvPr>
        </p:nvGraphicFramePr>
        <p:xfrm>
          <a:off x="923878" y="2884075"/>
          <a:ext cx="6959598" cy="3168015"/>
        </p:xfrm>
        <a:graphic>
          <a:graphicData uri="http://schemas.openxmlformats.org/drawingml/2006/table">
            <a:tbl>
              <a:tblPr/>
              <a:tblGrid>
                <a:gridCol w="910661">
                  <a:extLst>
                    <a:ext uri="{9D8B030D-6E8A-4147-A177-3AD203B41FA5}">
                      <a16:colId xmlns:a16="http://schemas.microsoft.com/office/drawing/2014/main" val="3797648125"/>
                    </a:ext>
                  </a:extLst>
                </a:gridCol>
                <a:gridCol w="597621">
                  <a:extLst>
                    <a:ext uri="{9D8B030D-6E8A-4147-A177-3AD203B41FA5}">
                      <a16:colId xmlns:a16="http://schemas.microsoft.com/office/drawing/2014/main" val="3922497367"/>
                    </a:ext>
                  </a:extLst>
                </a:gridCol>
                <a:gridCol w="597621">
                  <a:extLst>
                    <a:ext uri="{9D8B030D-6E8A-4147-A177-3AD203B41FA5}">
                      <a16:colId xmlns:a16="http://schemas.microsoft.com/office/drawing/2014/main" val="2423406541"/>
                    </a:ext>
                  </a:extLst>
                </a:gridCol>
                <a:gridCol w="597621">
                  <a:extLst>
                    <a:ext uri="{9D8B030D-6E8A-4147-A177-3AD203B41FA5}">
                      <a16:colId xmlns:a16="http://schemas.microsoft.com/office/drawing/2014/main" val="2431600283"/>
                    </a:ext>
                  </a:extLst>
                </a:gridCol>
                <a:gridCol w="597621">
                  <a:extLst>
                    <a:ext uri="{9D8B030D-6E8A-4147-A177-3AD203B41FA5}">
                      <a16:colId xmlns:a16="http://schemas.microsoft.com/office/drawing/2014/main" val="4020919338"/>
                    </a:ext>
                  </a:extLst>
                </a:gridCol>
                <a:gridCol w="597621">
                  <a:extLst>
                    <a:ext uri="{9D8B030D-6E8A-4147-A177-3AD203B41FA5}">
                      <a16:colId xmlns:a16="http://schemas.microsoft.com/office/drawing/2014/main" val="4216006150"/>
                    </a:ext>
                  </a:extLst>
                </a:gridCol>
                <a:gridCol w="597621">
                  <a:extLst>
                    <a:ext uri="{9D8B030D-6E8A-4147-A177-3AD203B41FA5}">
                      <a16:colId xmlns:a16="http://schemas.microsoft.com/office/drawing/2014/main" val="2856709254"/>
                    </a:ext>
                  </a:extLst>
                </a:gridCol>
                <a:gridCol w="597621">
                  <a:extLst>
                    <a:ext uri="{9D8B030D-6E8A-4147-A177-3AD203B41FA5}">
                      <a16:colId xmlns:a16="http://schemas.microsoft.com/office/drawing/2014/main" val="1489137225"/>
                    </a:ext>
                  </a:extLst>
                </a:gridCol>
                <a:gridCol w="597621">
                  <a:extLst>
                    <a:ext uri="{9D8B030D-6E8A-4147-A177-3AD203B41FA5}">
                      <a16:colId xmlns:a16="http://schemas.microsoft.com/office/drawing/2014/main" val="1081675762"/>
                    </a:ext>
                  </a:extLst>
                </a:gridCol>
                <a:gridCol w="597621">
                  <a:extLst>
                    <a:ext uri="{9D8B030D-6E8A-4147-A177-3AD203B41FA5}">
                      <a16:colId xmlns:a16="http://schemas.microsoft.com/office/drawing/2014/main" val="431572087"/>
                    </a:ext>
                  </a:extLst>
                </a:gridCol>
                <a:gridCol w="670348">
                  <a:extLst>
                    <a:ext uri="{9D8B030D-6E8A-4147-A177-3AD203B41FA5}">
                      <a16:colId xmlns:a16="http://schemas.microsoft.com/office/drawing/2014/main" val="1691357691"/>
                    </a:ext>
                  </a:extLst>
                </a:gridCol>
              </a:tblGrid>
              <a:tr h="190500">
                <a:tc>
                  <a:txBody>
                    <a:bodyPr/>
                    <a:lstStyle/>
                    <a:p>
                      <a:pPr algn="ctr" fontAlgn="b"/>
                      <a:r>
                        <a:rPr lang="en-NZ" sz="16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37021257"/>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89466408"/>
                  </a:ext>
                </a:extLst>
              </a:tr>
              <a:tr h="190500">
                <a:tc>
                  <a:txBody>
                    <a:bodyPr/>
                    <a:lstStyle/>
                    <a:p>
                      <a:pPr algn="ctr" fontAlgn="b"/>
                      <a:r>
                        <a:rPr lang="en-NZ" sz="1600" b="1" i="0" u="none" strike="noStrike">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56494094"/>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98880624"/>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465679320"/>
                  </a:ext>
                </a:extLst>
              </a:tr>
              <a:tr h="190500">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20773992"/>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1</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6.33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-5.33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-1.17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4.67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-2.00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2.17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8.00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-9.50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-3.67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0.50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254508448"/>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2</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1.34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2.10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-3.98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926197087"/>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3</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7.00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-7.00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-4.50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6.00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-3.00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-0.50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8.00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-9.50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-4.00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-1.50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88595820"/>
                  </a:ext>
                </a:extLst>
              </a:tr>
              <a:tr h="190500">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323429170"/>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1</a:t>
                      </a:r>
                      <a:r>
                        <a:rPr lang="en-NZ" sz="1600" b="1" i="0" u="none" strike="noStrike" dirty="0">
                          <a:solidFill>
                            <a:srgbClr val="FFFFFF"/>
                          </a:solidFill>
                          <a:effectLst/>
                          <a:latin typeface="Calibri" panose="020F0502020204030204" pitchFamily="34" charset="0"/>
                        </a:rPr>
                        <a:t> Rank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79685748"/>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2</a:t>
                      </a:r>
                      <a:r>
                        <a:rPr lang="en-NZ" sz="1600" b="1" i="0" u="none" strike="noStrike" baseline="0" dirty="0">
                          <a:solidFill>
                            <a:srgbClr val="FFFFFF"/>
                          </a:solidFill>
                          <a:effectLst/>
                          <a:latin typeface="Calibri" panose="020F0502020204030204" pitchFamily="34" charset="0"/>
                        </a:rPr>
                        <a:t> Rank</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257717813"/>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3</a:t>
                      </a:r>
                      <a:r>
                        <a:rPr lang="en-NZ" sz="1600" b="1" i="0" u="none" strike="noStrike" dirty="0">
                          <a:solidFill>
                            <a:srgbClr val="FFFFFF"/>
                          </a:solidFill>
                          <a:effectLst/>
                          <a:latin typeface="Calibri" panose="020F0502020204030204" pitchFamily="34" charset="0"/>
                        </a:rPr>
                        <a:t> Rank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13727090"/>
                  </a:ext>
                </a:extLst>
              </a:tr>
            </a:tbl>
          </a:graphicData>
        </a:graphic>
      </p:graphicFrame>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E76C94C-8341-4B82-9279-C63376DBA059}"/>
                  </a:ext>
                </a:extLst>
              </p:cNvPr>
              <p:cNvSpPr txBox="1"/>
              <p:nvPr/>
            </p:nvSpPr>
            <p:spPr>
              <a:xfrm>
                <a:off x="6237025" y="1363389"/>
                <a:ext cx="2438401" cy="8764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r>
                        <a:rPr lang="en-NZ" altLang="ja-JP" sz="1600" b="1" i="1" smtClean="0">
                          <a:solidFill>
                            <a:schemeClr val="tx1"/>
                          </a:solidFill>
                          <a:latin typeface="Cambria Math" panose="02040503050406030204" pitchFamily="18" charset="0"/>
                        </a:rPr>
                        <m:t> =</m:t>
                      </m:r>
                      <m:f>
                        <m:fPr>
                          <m:ctrlPr>
                            <a:rPr lang="en-NZ" altLang="ja-JP" sz="1600" b="1" i="1">
                              <a:latin typeface="Cambria Math" panose="02040503050406030204" pitchFamily="18" charset="0"/>
                            </a:rPr>
                          </m:ctrlPr>
                        </m:fPr>
                        <m:num>
                          <m:d>
                            <m:dPr>
                              <m:ctrlPr>
                                <a:rPr lang="en-NZ" altLang="ja-JP" sz="1600" b="1" i="1">
                                  <a:latin typeface="Cambria Math" panose="02040503050406030204" pitchFamily="18" charset="0"/>
                                </a:rPr>
                              </m:ctrlPr>
                            </m:dPr>
                            <m:e>
                              <m:acc>
                                <m:accPr>
                                  <m:chr m:val="̅"/>
                                  <m:ctrlPr>
                                    <a:rPr lang="en-NZ" altLang="ja-JP" sz="1600" b="1" i="1">
                                      <a:latin typeface="Cambria Math" panose="02040503050406030204" pitchFamily="18" charset="0"/>
                                    </a:rPr>
                                  </m:ctrlPr>
                                </m:accPr>
                                <m:e>
                                  <m:r>
                                    <a:rPr lang="en-NZ" altLang="ja-JP" sz="1600" b="1" i="1">
                                      <a:latin typeface="Cambria Math" panose="02040503050406030204" pitchFamily="18" charset="0"/>
                                    </a:rPr>
                                    <m:t> </m:t>
                                  </m:r>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𝑨</m:t>
                                      </m:r>
                                    </m:sub>
                                  </m:sSub>
                                </m:e>
                              </m:acc>
                              <m:r>
                                <a:rPr lang="en-NZ" altLang="ja-JP" sz="1600" b="1" i="1">
                                  <a:latin typeface="Cambria Math" panose="02040503050406030204" pitchFamily="18" charset="0"/>
                                </a:rPr>
                                <m:t>  −</m:t>
                              </m:r>
                              <m:acc>
                                <m:accPr>
                                  <m:chr m:val="̅"/>
                                  <m:ctrlPr>
                                    <a:rPr lang="en-NZ" altLang="ja-JP" sz="1600" b="1" i="1">
                                      <a:latin typeface="Cambria Math" panose="02040503050406030204" pitchFamily="18" charset="0"/>
                                    </a:rPr>
                                  </m:ctrlPr>
                                </m:accPr>
                                <m:e>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𝑩</m:t>
                                      </m:r>
                                    </m:sub>
                                  </m:sSub>
                                </m:e>
                              </m:acc>
                              <m:r>
                                <a:rPr lang="en-NZ" altLang="ja-JP" sz="1600" b="1" i="1">
                                  <a:latin typeface="Cambria Math" panose="02040503050406030204" pitchFamily="18" charset="0"/>
                                </a:rPr>
                                <m:t> </m:t>
                              </m:r>
                            </m:e>
                          </m:d>
                        </m:num>
                        <m:den>
                          <m:r>
                            <a:rPr lang="en-NZ" altLang="ja-JP" sz="1600" b="1" i="1" smtClean="0">
                              <a:latin typeface="Cambria Math" panose="02040503050406030204" pitchFamily="18" charset="0"/>
                            </a:rPr>
                            <m:t>𝒔</m:t>
                          </m:r>
                          <m:r>
                            <a:rPr lang="en-NZ" altLang="ja-JP" sz="1600" b="1" i="1" smtClean="0">
                              <a:latin typeface="Cambria Math" panose="02040503050406030204" pitchFamily="18" charset="0"/>
                            </a:rPr>
                            <m:t> </m:t>
                          </m:r>
                          <m:rad>
                            <m:radPr>
                              <m:degHide m:val="on"/>
                              <m:ctrlPr>
                                <a:rPr lang="en-NZ" altLang="ja-JP" sz="1600" b="1" i="1" smtClean="0">
                                  <a:latin typeface="Cambria Math" panose="02040503050406030204" pitchFamily="18" charset="0"/>
                                </a:rPr>
                              </m:ctrlPr>
                            </m:radPr>
                            <m:deg/>
                            <m:e>
                              <m:sSubSup>
                                <m:sSubSupPr>
                                  <m:ctrlPr>
                                    <a:rPr lang="en-NZ" altLang="ja-JP" sz="1600" b="1" i="1" smtClean="0">
                                      <a:latin typeface="Cambria Math" panose="02040503050406030204" pitchFamily="18" charset="0"/>
                                    </a:rPr>
                                  </m:ctrlPr>
                                </m:sSubSupPr>
                                <m:e>
                                  <m:r>
                                    <a:rPr lang="en-NZ" altLang="ja-JP" sz="1600" b="1" i="1" smtClean="0">
                                      <a:latin typeface="Cambria Math" panose="02040503050406030204" pitchFamily="18" charset="0"/>
                                    </a:rPr>
                                    <m:t>𝒏</m:t>
                                  </m:r>
                                </m:e>
                                <m:sub>
                                  <m:r>
                                    <a:rPr lang="en-NZ" altLang="ja-JP" sz="1600" b="1" i="1" smtClean="0">
                                      <a:latin typeface="Cambria Math" panose="02040503050406030204" pitchFamily="18" charset="0"/>
                                    </a:rPr>
                                    <m:t>𝑨</m:t>
                                  </m:r>
                                </m:sub>
                                <m:sup>
                                  <m:r>
                                    <a:rPr lang="en-NZ" altLang="ja-JP" sz="1600" b="1" i="1" smtClean="0">
                                      <a:latin typeface="Cambria Math" panose="02040503050406030204" pitchFamily="18" charset="0"/>
                                    </a:rPr>
                                    <m:t>−</m:t>
                                  </m:r>
                                  <m:r>
                                    <a:rPr lang="en-NZ" altLang="ja-JP" sz="1600" b="1" i="1" smtClean="0">
                                      <a:latin typeface="Cambria Math" panose="02040503050406030204" pitchFamily="18" charset="0"/>
                                    </a:rPr>
                                    <m:t>𝟏</m:t>
                                  </m:r>
                                </m:sup>
                              </m:sSubSup>
                              <m:r>
                                <a:rPr lang="en-NZ" altLang="ja-JP" sz="1600" b="1" i="1" smtClean="0">
                                  <a:latin typeface="Cambria Math" panose="02040503050406030204" pitchFamily="18" charset="0"/>
                                </a:rPr>
                                <m:t>+</m:t>
                              </m:r>
                              <m:sSubSup>
                                <m:sSubSupPr>
                                  <m:ctrlPr>
                                    <a:rPr lang="en-NZ" altLang="ja-JP" sz="1600" b="1" i="1" smtClean="0">
                                      <a:latin typeface="Cambria Math" panose="02040503050406030204" pitchFamily="18" charset="0"/>
                                    </a:rPr>
                                  </m:ctrlPr>
                                </m:sSubSupPr>
                                <m:e>
                                  <m:r>
                                    <a:rPr lang="en-NZ" altLang="ja-JP" sz="1600" b="1" i="1" smtClean="0">
                                      <a:latin typeface="Cambria Math" panose="02040503050406030204" pitchFamily="18" charset="0"/>
                                    </a:rPr>
                                    <m:t>𝒏</m:t>
                                  </m:r>
                                </m:e>
                                <m:sub>
                                  <m:r>
                                    <a:rPr lang="en-NZ" altLang="ja-JP" sz="1600" b="1" i="1" smtClean="0">
                                      <a:latin typeface="Cambria Math" panose="02040503050406030204" pitchFamily="18" charset="0"/>
                                    </a:rPr>
                                    <m:t>𝑩</m:t>
                                  </m:r>
                                </m:sub>
                                <m:sup>
                                  <m:r>
                                    <a:rPr lang="en-NZ" altLang="ja-JP" sz="1600" b="1" i="1" smtClean="0">
                                      <a:latin typeface="Cambria Math" panose="02040503050406030204" pitchFamily="18" charset="0"/>
                                    </a:rPr>
                                    <m:t>−</m:t>
                                  </m:r>
                                  <m:r>
                                    <a:rPr lang="en-NZ" altLang="ja-JP" sz="1600" b="1" i="1" smtClean="0">
                                      <a:latin typeface="Cambria Math" panose="02040503050406030204" pitchFamily="18" charset="0"/>
                                    </a:rPr>
                                    <m:t>𝟏</m:t>
                                  </m:r>
                                </m:sup>
                              </m:sSubSup>
                            </m:e>
                          </m:rad>
                        </m:den>
                      </m:f>
                    </m:oMath>
                  </m:oMathPara>
                </a14:m>
                <a:endParaRPr lang="en-NZ" sz="1600" b="1" dirty="0"/>
              </a:p>
            </p:txBody>
          </p:sp>
        </mc:Choice>
        <mc:Fallback xmlns="">
          <p:sp>
            <p:nvSpPr>
              <p:cNvPr id="19" name="TextBox 18">
                <a:extLst>
                  <a:ext uri="{FF2B5EF4-FFF2-40B4-BE49-F238E27FC236}">
                    <a16:creationId xmlns:a16="http://schemas.microsoft.com/office/drawing/2014/main" id="{7E76C94C-8341-4B82-9279-C63376DBA059}"/>
                  </a:ext>
                </a:extLst>
              </p:cNvPr>
              <p:cNvSpPr txBox="1">
                <a:spLocks noRot="1" noChangeAspect="1" noMove="1" noResize="1" noEditPoints="1" noAdjustHandles="1" noChangeArrowheads="1" noChangeShapeType="1" noTextEdit="1"/>
              </p:cNvSpPr>
              <p:nvPr/>
            </p:nvSpPr>
            <p:spPr>
              <a:xfrm>
                <a:off x="6237025" y="1363389"/>
                <a:ext cx="2438401" cy="876458"/>
              </a:xfrm>
              <a:prstGeom prst="rect">
                <a:avLst/>
              </a:prstGeom>
              <a:blipFill>
                <a:blip r:embed="rId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12167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27</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586852" y="1037230"/>
            <a:ext cx="1130034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Consider the following data set and the three test statistics </a:t>
            </a:r>
            <a:r>
              <a:rPr lang="en-NZ" altLang="ja-JP" sz="1800" b="1" dirty="0">
                <a:solidFill>
                  <a:schemeClr val="tx1"/>
                </a:solidFill>
              </a:rPr>
              <a:t>F</a:t>
            </a:r>
            <a:r>
              <a:rPr lang="en-NZ" altLang="ja-JP" sz="1800" b="1" baseline="-25000" dirty="0">
                <a:solidFill>
                  <a:schemeClr val="tx1"/>
                </a:solidFill>
              </a:rPr>
              <a:t>1</a:t>
            </a:r>
            <a:r>
              <a:rPr lang="en-NZ" altLang="ja-JP" sz="1800" b="1" dirty="0">
                <a:solidFill>
                  <a:schemeClr val="tx1"/>
                </a:solidFill>
              </a:rPr>
              <a:t>, F</a:t>
            </a:r>
            <a:r>
              <a:rPr lang="en-NZ" altLang="ja-JP" sz="1800" b="1" baseline="-25000" dirty="0">
                <a:solidFill>
                  <a:schemeClr val="tx1"/>
                </a:solidFill>
              </a:rPr>
              <a:t>2</a:t>
            </a:r>
            <a:r>
              <a:rPr lang="en-NZ" altLang="ja-JP" sz="1800" b="1" dirty="0">
                <a:solidFill>
                  <a:schemeClr val="tx1"/>
                </a:solidFill>
              </a:rPr>
              <a:t> </a:t>
            </a:r>
            <a:r>
              <a:rPr lang="en-NZ" altLang="ja-JP" sz="1800" dirty="0">
                <a:solidFill>
                  <a:schemeClr val="tx1"/>
                </a:solidFill>
              </a:rPr>
              <a:t>and</a:t>
            </a:r>
            <a:r>
              <a:rPr lang="en-NZ" altLang="ja-JP" sz="1800" b="1" dirty="0">
                <a:solidFill>
                  <a:schemeClr val="tx1"/>
                </a:solidFill>
              </a:rPr>
              <a:t> F</a:t>
            </a:r>
            <a:r>
              <a:rPr lang="en-NZ" altLang="ja-JP" sz="1800" b="1" baseline="-25000" dirty="0">
                <a:solidFill>
                  <a:schemeClr val="tx1"/>
                </a:solidFill>
              </a:rPr>
              <a:t>3</a:t>
            </a:r>
            <a:r>
              <a:rPr lang="en-NZ" altLang="ja-JP" sz="1800" dirty="0">
                <a:solidFill>
                  <a:schemeClr val="tx1"/>
                </a:solidFill>
              </a:rPr>
              <a:t>.</a:t>
            </a:r>
            <a:endParaRPr lang="en-NZ" altLang="ja-JP" sz="1600" dirty="0">
              <a:solidFill>
                <a:schemeClr val="tx1"/>
              </a:solidFill>
            </a:endParaRPr>
          </a:p>
          <a:p>
            <a:pPr algn="just">
              <a:lnSpc>
                <a:spcPct val="100000"/>
              </a:lnSpc>
            </a:pPr>
            <a:endParaRPr lang="en-NZ" altLang="ja-JP" sz="1600" i="1" dirty="0">
              <a:solidFill>
                <a:srgbClr val="C00000"/>
              </a:solidFill>
            </a:endParaRPr>
          </a:p>
        </p:txBody>
      </p:sp>
      <p:graphicFrame>
        <p:nvGraphicFramePr>
          <p:cNvPr id="7" name="Table 6">
            <a:extLst>
              <a:ext uri="{FF2B5EF4-FFF2-40B4-BE49-F238E27FC236}">
                <a16:creationId xmlns:a16="http://schemas.microsoft.com/office/drawing/2014/main" id="{0E9751BE-FA2D-41C3-818D-53C7E011EF07}"/>
              </a:ext>
            </a:extLst>
          </p:cNvPr>
          <p:cNvGraphicFramePr>
            <a:graphicFrameLocks noGrp="1"/>
          </p:cNvGraphicFramePr>
          <p:nvPr/>
        </p:nvGraphicFramePr>
        <p:xfrm>
          <a:off x="1146412" y="1517773"/>
          <a:ext cx="2438400" cy="567690"/>
        </p:xfrm>
        <a:graphic>
          <a:graphicData uri="http://schemas.openxmlformats.org/drawingml/2006/table">
            <a:tbl>
              <a:tblPr/>
              <a:tblGrid>
                <a:gridCol w="1050877">
                  <a:extLst>
                    <a:ext uri="{9D8B030D-6E8A-4147-A177-3AD203B41FA5}">
                      <a16:colId xmlns:a16="http://schemas.microsoft.com/office/drawing/2014/main" val="4037610628"/>
                    </a:ext>
                  </a:extLst>
                </a:gridCol>
                <a:gridCol w="436729">
                  <a:extLst>
                    <a:ext uri="{9D8B030D-6E8A-4147-A177-3AD203B41FA5}">
                      <a16:colId xmlns:a16="http://schemas.microsoft.com/office/drawing/2014/main" val="590370213"/>
                    </a:ext>
                  </a:extLst>
                </a:gridCol>
                <a:gridCol w="477671">
                  <a:extLst>
                    <a:ext uri="{9D8B030D-6E8A-4147-A177-3AD203B41FA5}">
                      <a16:colId xmlns:a16="http://schemas.microsoft.com/office/drawing/2014/main" val="3452557641"/>
                    </a:ext>
                  </a:extLst>
                </a:gridCol>
                <a:gridCol w="473123">
                  <a:extLst>
                    <a:ext uri="{9D8B030D-6E8A-4147-A177-3AD203B41FA5}">
                      <a16:colId xmlns:a16="http://schemas.microsoft.com/office/drawing/2014/main" val="3162769819"/>
                    </a:ext>
                  </a:extLst>
                </a:gridCol>
              </a:tblGrid>
              <a:tr h="190500">
                <a:tc>
                  <a:txBody>
                    <a:bodyPr/>
                    <a:lstStyle/>
                    <a:p>
                      <a:pPr algn="ctr" fontAlgn="b"/>
                      <a:r>
                        <a:rPr lang="en-NZ" sz="18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rgbClr val="C0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C0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endParaRPr lang="en-NZ" sz="18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18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9" name="Text Placeholder 5">
            <a:extLst>
              <a:ext uri="{FF2B5EF4-FFF2-40B4-BE49-F238E27FC236}">
                <a16:creationId xmlns:a16="http://schemas.microsoft.com/office/drawing/2014/main" id="{AC0BCB5E-D345-44D4-A505-36815FB59D1E}"/>
              </a:ext>
            </a:extLst>
          </p:cNvPr>
          <p:cNvSpPr txBox="1">
            <a:spLocks/>
          </p:cNvSpPr>
          <p:nvPr/>
        </p:nvSpPr>
        <p:spPr>
          <a:xfrm>
            <a:off x="586852" y="2388382"/>
            <a:ext cx="1082444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There are </a:t>
            </a:r>
            <a:r>
              <a:rPr lang="en-NZ" altLang="ja-JP" sz="1800" b="1" dirty="0">
                <a:solidFill>
                  <a:schemeClr val="tx1"/>
                </a:solidFill>
              </a:rPr>
              <a:t>(</a:t>
            </a:r>
            <a:r>
              <a:rPr lang="en-NZ" altLang="ja-JP" sz="1800" b="1" baseline="30000" dirty="0">
                <a:solidFill>
                  <a:schemeClr val="tx1"/>
                </a:solidFill>
              </a:rPr>
              <a:t>5</a:t>
            </a:r>
            <a:r>
              <a:rPr lang="en-NZ" altLang="ja-JP" sz="1800" b="1" dirty="0">
                <a:solidFill>
                  <a:schemeClr val="tx1"/>
                </a:solidFill>
              </a:rPr>
              <a:t>C</a:t>
            </a:r>
            <a:r>
              <a:rPr lang="en-NZ" altLang="ja-JP" sz="1800" b="1" baseline="-25000" dirty="0">
                <a:solidFill>
                  <a:schemeClr val="tx1"/>
                </a:solidFill>
              </a:rPr>
              <a:t>2</a:t>
            </a:r>
            <a:r>
              <a:rPr lang="en-NZ" altLang="ja-JP" sz="1800" b="1" dirty="0">
                <a:solidFill>
                  <a:schemeClr val="tx1"/>
                </a:solidFill>
              </a:rPr>
              <a:t>) * (</a:t>
            </a:r>
            <a:r>
              <a:rPr lang="en-NZ" altLang="ja-JP" sz="1800" b="1" baseline="30000" dirty="0">
                <a:solidFill>
                  <a:schemeClr val="tx1"/>
                </a:solidFill>
              </a:rPr>
              <a:t>3</a:t>
            </a:r>
            <a:r>
              <a:rPr lang="en-NZ" altLang="ja-JP" sz="1800" b="1" dirty="0">
                <a:solidFill>
                  <a:schemeClr val="tx1"/>
                </a:solidFill>
              </a:rPr>
              <a:t>C</a:t>
            </a:r>
            <a:r>
              <a:rPr lang="en-NZ" altLang="ja-JP" sz="1800" b="1" baseline="-25000" dirty="0">
                <a:solidFill>
                  <a:schemeClr val="tx1"/>
                </a:solidFill>
              </a:rPr>
              <a:t>3</a:t>
            </a:r>
            <a:r>
              <a:rPr lang="en-NZ" altLang="ja-JP" sz="1800" b="1" dirty="0">
                <a:solidFill>
                  <a:schemeClr val="tx1"/>
                </a:solidFill>
              </a:rPr>
              <a:t>) = 10 </a:t>
            </a:r>
            <a:r>
              <a:rPr lang="en-NZ" altLang="ja-JP" sz="1800" dirty="0">
                <a:solidFill>
                  <a:schemeClr val="tx1"/>
                </a:solidFill>
              </a:rPr>
              <a:t>re-ordered samples it is possible to make with this data set. They are shown below:</a:t>
            </a: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CC10B7A4-66BF-4EF8-AE7E-83C368CB9F46}"/>
                  </a:ext>
                </a:extLst>
              </p:cNvPr>
              <p:cNvSpPr txBox="1">
                <a:spLocks/>
              </p:cNvSpPr>
              <p:nvPr/>
            </p:nvSpPr>
            <p:spPr>
              <a:xfrm>
                <a:off x="4230802" y="1517774"/>
                <a:ext cx="2006223" cy="5676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m:t>
                      </m:r>
                      <m:acc>
                        <m:accPr>
                          <m:chr m:val="̅"/>
                          <m:ctrlPr>
                            <a:rPr lang="en-NZ" altLang="ja-JP" sz="1600" b="1" i="1" smtClean="0">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𝒚</m:t>
                              </m:r>
                            </m:e>
                            <m:sub>
                              <m:r>
                                <a:rPr lang="en-NZ" altLang="ja-JP" sz="1600" b="1" i="1">
                                  <a:solidFill>
                                    <a:schemeClr val="tx1"/>
                                  </a:solidFill>
                                  <a:latin typeface="Cambria Math" panose="02040503050406030204" pitchFamily="18" charset="0"/>
                                </a:rPr>
                                <m:t>𝑨</m:t>
                              </m:r>
                            </m:sub>
                          </m:sSub>
                        </m:e>
                      </m:acc>
                      <m:r>
                        <a:rPr lang="en-NZ" altLang="ja-JP" sz="1600" b="1" i="1">
                          <a:solidFill>
                            <a:schemeClr val="tx1"/>
                          </a:solidFill>
                          <a:latin typeface="Cambria Math" panose="02040503050406030204" pitchFamily="18" charset="0"/>
                        </a:rPr>
                        <m:t>  −</m:t>
                      </m:r>
                      <m:acc>
                        <m:accPr>
                          <m:chr m:val="̅"/>
                          <m:ctrlPr>
                            <a:rPr lang="en-NZ" altLang="ja-JP" sz="1600" b="1" i="1">
                              <a:solidFill>
                                <a:schemeClr val="tx1"/>
                              </a:solidFill>
                              <a:latin typeface="Cambria Math" panose="02040503050406030204" pitchFamily="18" charset="0"/>
                            </a:rPr>
                          </m:ctrlPr>
                        </m:acc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𝒚</m:t>
                              </m:r>
                            </m:e>
                            <m:sub>
                              <m:r>
                                <a:rPr lang="en-NZ" altLang="ja-JP" sz="1600" b="1" i="1">
                                  <a:solidFill>
                                    <a:schemeClr val="tx1"/>
                                  </a:solidFill>
                                  <a:latin typeface="Cambria Math" panose="02040503050406030204" pitchFamily="18" charset="0"/>
                                </a:rPr>
                                <m:t>𝑩</m:t>
                              </m:r>
                            </m:sub>
                          </m:sSub>
                        </m:e>
                      </m:acc>
                    </m:oMath>
                  </m:oMathPara>
                </a14:m>
                <a:br>
                  <a:rPr lang="en-NZ" altLang="ja-JP" sz="1600" i="1" dirty="0">
                    <a:solidFill>
                      <a:schemeClr val="tx1"/>
                    </a:solidFill>
                  </a:rPr>
                </a:br>
                <a:endParaRPr lang="en-NZ" altLang="ja-JP" sz="1400" i="1" dirty="0">
                  <a:solidFill>
                    <a:schemeClr val="tx1"/>
                  </a:solidFill>
                </a:endParaRPr>
              </a:p>
            </p:txBody>
          </p:sp>
        </mc:Choice>
        <mc:Fallback xmlns="">
          <p:sp>
            <p:nvSpPr>
              <p:cNvPr id="10" name="Text Placeholder 5">
                <a:extLst>
                  <a:ext uri="{FF2B5EF4-FFF2-40B4-BE49-F238E27FC236}">
                    <a16:creationId xmlns:a16="http://schemas.microsoft.com/office/drawing/2014/main" id="{CC10B7A4-66BF-4EF8-AE7E-83C368CB9F46}"/>
                  </a:ext>
                </a:extLst>
              </p:cNvPr>
              <p:cNvSpPr txBox="1">
                <a:spLocks noRot="1" noChangeAspect="1" noMove="1" noResize="1" noEditPoints="1" noAdjustHandles="1" noChangeArrowheads="1" noChangeShapeType="1" noTextEdit="1"/>
              </p:cNvSpPr>
              <p:nvPr/>
            </p:nvSpPr>
            <p:spPr>
              <a:xfrm>
                <a:off x="4230802" y="1517774"/>
                <a:ext cx="2006223" cy="567690"/>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D5FAFFCC-98FE-4103-A09A-6FB05AAF57DC}"/>
                  </a:ext>
                </a:extLst>
              </p:cNvPr>
              <p:cNvSpPr txBox="1">
                <a:spLocks/>
              </p:cNvSpPr>
              <p:nvPr/>
            </p:nvSpPr>
            <p:spPr>
              <a:xfrm>
                <a:off x="8939751" y="1514057"/>
                <a:ext cx="218465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𝟑</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𝑴𝒆</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𝒅</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𝑴𝒆</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𝒅</m:t>
                          </m:r>
                        </m:e>
                        <m:sub>
                          <m:r>
                            <a:rPr lang="en-NZ" altLang="ja-JP" sz="1600" b="1" i="1" smtClean="0">
                              <a:solidFill>
                                <a:schemeClr val="tx1"/>
                              </a:solidFill>
                              <a:latin typeface="Cambria Math" panose="02040503050406030204" pitchFamily="18" charset="0"/>
                            </a:rPr>
                            <m:t>𝑩</m:t>
                          </m:r>
                        </m:sub>
                      </m:sSub>
                    </m:oMath>
                  </m:oMathPara>
                </a14:m>
                <a:endParaRPr lang="en-NZ" altLang="ja-JP" sz="1400" i="1" dirty="0">
                  <a:solidFill>
                    <a:schemeClr val="tx1"/>
                  </a:solidFill>
                </a:endParaRPr>
              </a:p>
            </p:txBody>
          </p:sp>
        </mc:Choice>
        <mc:Fallback xmlns="">
          <p:sp>
            <p:nvSpPr>
              <p:cNvPr id="11" name="Text Placeholder 5">
                <a:extLst>
                  <a:ext uri="{FF2B5EF4-FFF2-40B4-BE49-F238E27FC236}">
                    <a16:creationId xmlns:a16="http://schemas.microsoft.com/office/drawing/2014/main" id="{D5FAFFCC-98FE-4103-A09A-6FB05AAF57DC}"/>
                  </a:ext>
                </a:extLst>
              </p:cNvPr>
              <p:cNvSpPr txBox="1">
                <a:spLocks noRot="1" noChangeAspect="1" noMove="1" noResize="1" noEditPoints="1" noAdjustHandles="1" noChangeArrowheads="1" noChangeShapeType="1" noTextEdit="1"/>
              </p:cNvSpPr>
              <p:nvPr/>
            </p:nvSpPr>
            <p:spPr>
              <a:xfrm>
                <a:off x="8939751" y="1514057"/>
                <a:ext cx="2184659" cy="365126"/>
              </a:xfrm>
              <a:prstGeom prst="rect">
                <a:avLst/>
              </a:prstGeom>
              <a:blipFill>
                <a:blip r:embed="rId4"/>
                <a:stretch>
                  <a:fillRect/>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32020771-D9DF-48D2-8EC7-C252B7F416AF}"/>
              </a:ext>
            </a:extLst>
          </p:cNvPr>
          <p:cNvSpPr txBox="1">
            <a:spLocks/>
          </p:cNvSpPr>
          <p:nvPr/>
        </p:nvSpPr>
        <p:spPr>
          <a:xfrm>
            <a:off x="8093121" y="3262707"/>
            <a:ext cx="3439237" cy="32942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800" b="1" i="1" dirty="0">
                <a:solidFill>
                  <a:schemeClr val="tx1"/>
                </a:solidFill>
              </a:rPr>
              <a:t>F</a:t>
            </a:r>
            <a:r>
              <a:rPr lang="en-NZ" altLang="ja-JP" sz="1800" b="1" i="1" baseline="-25000" dirty="0">
                <a:solidFill>
                  <a:schemeClr val="tx1"/>
                </a:solidFill>
              </a:rPr>
              <a:t>1</a:t>
            </a:r>
            <a:r>
              <a:rPr lang="en-NZ" altLang="ja-JP" sz="1800" i="1" dirty="0">
                <a:solidFill>
                  <a:schemeClr val="tx1"/>
                </a:solidFill>
              </a:rPr>
              <a:t> </a:t>
            </a:r>
            <a:r>
              <a:rPr lang="en-NZ" altLang="ja-JP" sz="1800" dirty="0">
                <a:solidFill>
                  <a:schemeClr val="tx1"/>
                </a:solidFill>
              </a:rPr>
              <a:t>and</a:t>
            </a:r>
            <a:r>
              <a:rPr lang="en-NZ" altLang="ja-JP" sz="1800" i="1" dirty="0">
                <a:solidFill>
                  <a:schemeClr val="tx1"/>
                </a:solidFill>
              </a:rPr>
              <a:t> </a:t>
            </a:r>
            <a:r>
              <a:rPr lang="en-NZ" altLang="ja-JP" sz="1800" b="1" i="1" dirty="0">
                <a:solidFill>
                  <a:schemeClr val="tx1"/>
                </a:solidFill>
              </a:rPr>
              <a:t>F</a:t>
            </a:r>
            <a:r>
              <a:rPr lang="en-NZ" altLang="ja-JP" sz="1800" b="1" i="1" baseline="-25000" dirty="0">
                <a:solidFill>
                  <a:schemeClr val="tx1"/>
                </a:solidFill>
              </a:rPr>
              <a:t>2</a:t>
            </a:r>
            <a:r>
              <a:rPr lang="en-NZ" altLang="ja-JP" sz="1800" i="1" dirty="0">
                <a:solidFill>
                  <a:schemeClr val="tx1"/>
                </a:solidFill>
              </a:rPr>
              <a:t> </a:t>
            </a:r>
            <a:r>
              <a:rPr lang="en-NZ" altLang="ja-JP" sz="1800" dirty="0">
                <a:solidFill>
                  <a:schemeClr val="tx1"/>
                </a:solidFill>
              </a:rPr>
              <a:t>rank all re-ordered samples in the same way. </a:t>
            </a:r>
            <a:br>
              <a:rPr lang="en-NZ" altLang="ja-JP" sz="1800" dirty="0">
                <a:solidFill>
                  <a:schemeClr val="tx1"/>
                </a:solidFill>
              </a:rPr>
            </a:br>
            <a:endParaRPr lang="en-NZ" altLang="ja-JP" sz="1800" dirty="0">
              <a:solidFill>
                <a:schemeClr val="tx1"/>
              </a:solidFill>
            </a:endParaRPr>
          </a:p>
          <a:p>
            <a:pPr marL="285750" indent="-285750">
              <a:lnSpc>
                <a:spcPct val="100000"/>
              </a:lnSpc>
              <a:buFont typeface="Arial" panose="020B0604020202020204" pitchFamily="34" charset="0"/>
              <a:buChar char="•"/>
            </a:pPr>
            <a:endParaRPr lang="en-NZ" altLang="ja-JP" sz="1800" dirty="0">
              <a:solidFill>
                <a:schemeClr val="tx1"/>
              </a:solidFill>
            </a:endParaRPr>
          </a:p>
          <a:p>
            <a:pPr marL="285750" indent="-285750">
              <a:lnSpc>
                <a:spcPct val="100000"/>
              </a:lnSpc>
              <a:buFont typeface="Arial" panose="020B0604020202020204" pitchFamily="34" charset="0"/>
              <a:buChar char="•"/>
            </a:pPr>
            <a:r>
              <a:rPr lang="en-NZ" altLang="ja-JP" sz="1800" dirty="0">
                <a:solidFill>
                  <a:schemeClr val="tx1"/>
                </a:solidFill>
              </a:rPr>
              <a:t>It can be shown that these are </a:t>
            </a:r>
            <a:r>
              <a:rPr lang="en-NZ" altLang="ja-JP" sz="1800" b="1" dirty="0">
                <a:solidFill>
                  <a:schemeClr val="tx1"/>
                </a:solidFill>
              </a:rPr>
              <a:t>equivalent</a:t>
            </a:r>
            <a:r>
              <a:rPr lang="en-NZ" altLang="ja-JP" sz="1800" dirty="0">
                <a:solidFill>
                  <a:schemeClr val="tx1"/>
                </a:solidFill>
              </a:rPr>
              <a:t> test statistics.</a:t>
            </a:r>
          </a:p>
          <a:p>
            <a:pPr marL="285750" indent="-285750">
              <a:lnSpc>
                <a:spcPct val="100000"/>
              </a:lnSpc>
              <a:buFont typeface="Arial" panose="020B0604020202020204" pitchFamily="34" charset="0"/>
              <a:buChar char="•"/>
            </a:pPr>
            <a:endParaRPr lang="en-NZ" altLang="ja-JP" sz="1800" dirty="0">
              <a:solidFill>
                <a:schemeClr val="tx1"/>
              </a:solidFill>
            </a:endParaRPr>
          </a:p>
          <a:p>
            <a:pPr marL="285750" indent="-285750">
              <a:lnSpc>
                <a:spcPct val="100000"/>
              </a:lnSpc>
              <a:buFont typeface="Arial" panose="020B0604020202020204" pitchFamily="34" charset="0"/>
              <a:buChar char="•"/>
            </a:pPr>
            <a:endParaRPr lang="en-NZ" altLang="ja-JP" sz="1800" dirty="0">
              <a:solidFill>
                <a:schemeClr val="tx1"/>
              </a:solidFill>
            </a:endParaRPr>
          </a:p>
          <a:p>
            <a:pPr marL="285750" indent="-285750">
              <a:lnSpc>
                <a:spcPct val="100000"/>
              </a:lnSpc>
              <a:buFont typeface="Arial" panose="020B0604020202020204" pitchFamily="34" charset="0"/>
              <a:buChar char="•"/>
            </a:pPr>
            <a:r>
              <a:rPr lang="en-NZ" altLang="ja-JP" sz="1800" b="1" i="1" dirty="0">
                <a:solidFill>
                  <a:schemeClr val="tx1"/>
                </a:solidFill>
              </a:rPr>
              <a:t>F</a:t>
            </a:r>
            <a:r>
              <a:rPr lang="en-NZ" altLang="ja-JP" sz="1800" b="1" i="1" baseline="-25000" dirty="0">
                <a:solidFill>
                  <a:schemeClr val="tx1"/>
                </a:solidFill>
              </a:rPr>
              <a:t>1</a:t>
            </a:r>
            <a:r>
              <a:rPr lang="en-NZ" altLang="ja-JP" sz="1800" dirty="0">
                <a:solidFill>
                  <a:schemeClr val="tx1"/>
                </a:solidFill>
              </a:rPr>
              <a:t> should be preferred to </a:t>
            </a:r>
            <a:r>
              <a:rPr lang="en-NZ" altLang="ja-JP" sz="1800" b="1" i="1" dirty="0">
                <a:solidFill>
                  <a:schemeClr val="tx1"/>
                </a:solidFill>
              </a:rPr>
              <a:t>F</a:t>
            </a:r>
            <a:r>
              <a:rPr lang="en-NZ" altLang="ja-JP" sz="1800" b="1" i="1" baseline="-25000" dirty="0">
                <a:solidFill>
                  <a:schemeClr val="tx1"/>
                </a:solidFill>
              </a:rPr>
              <a:t>2</a:t>
            </a:r>
            <a:r>
              <a:rPr lang="en-NZ" altLang="ja-JP" sz="1800" dirty="0">
                <a:solidFill>
                  <a:schemeClr val="tx1"/>
                </a:solidFill>
              </a:rPr>
              <a:t> as it is computationally simpler.</a:t>
            </a:r>
            <a:endParaRPr lang="en-NZ" altLang="ja-JP" sz="1600" b="1" i="1" dirty="0">
              <a:solidFill>
                <a:schemeClr val="tx1"/>
              </a:solidFill>
            </a:endParaRPr>
          </a:p>
          <a:p>
            <a:pPr marL="285750" indent="-285750" algn="ctr">
              <a:lnSpc>
                <a:spcPct val="100000"/>
              </a:lnSpc>
              <a:buFont typeface="Arial" panose="020B0604020202020204" pitchFamily="34" charset="0"/>
              <a:buChar char="•"/>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E76C94C-8341-4B82-9279-C63376DBA059}"/>
                  </a:ext>
                </a:extLst>
              </p:cNvPr>
              <p:cNvSpPr txBox="1"/>
              <p:nvPr/>
            </p:nvSpPr>
            <p:spPr>
              <a:xfrm>
                <a:off x="6237025" y="1363389"/>
                <a:ext cx="2438401" cy="8764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r>
                        <a:rPr lang="en-NZ" altLang="ja-JP" sz="1600" b="1" i="1" smtClean="0">
                          <a:solidFill>
                            <a:schemeClr val="tx1"/>
                          </a:solidFill>
                          <a:latin typeface="Cambria Math" panose="02040503050406030204" pitchFamily="18" charset="0"/>
                        </a:rPr>
                        <m:t> =</m:t>
                      </m:r>
                      <m:f>
                        <m:fPr>
                          <m:ctrlPr>
                            <a:rPr lang="en-NZ" altLang="ja-JP" sz="1600" b="1" i="1">
                              <a:latin typeface="Cambria Math" panose="02040503050406030204" pitchFamily="18" charset="0"/>
                            </a:rPr>
                          </m:ctrlPr>
                        </m:fPr>
                        <m:num>
                          <m:d>
                            <m:dPr>
                              <m:ctrlPr>
                                <a:rPr lang="en-NZ" altLang="ja-JP" sz="1600" b="1" i="1">
                                  <a:latin typeface="Cambria Math" panose="02040503050406030204" pitchFamily="18" charset="0"/>
                                </a:rPr>
                              </m:ctrlPr>
                            </m:dPr>
                            <m:e>
                              <m:acc>
                                <m:accPr>
                                  <m:chr m:val="̅"/>
                                  <m:ctrlPr>
                                    <a:rPr lang="en-NZ" altLang="ja-JP" sz="1600" b="1" i="1">
                                      <a:latin typeface="Cambria Math" panose="02040503050406030204" pitchFamily="18" charset="0"/>
                                    </a:rPr>
                                  </m:ctrlPr>
                                </m:accPr>
                                <m:e>
                                  <m:r>
                                    <a:rPr lang="en-NZ" altLang="ja-JP" sz="1600" b="1" i="1">
                                      <a:latin typeface="Cambria Math" panose="02040503050406030204" pitchFamily="18" charset="0"/>
                                    </a:rPr>
                                    <m:t> </m:t>
                                  </m:r>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𝑨</m:t>
                                      </m:r>
                                    </m:sub>
                                  </m:sSub>
                                </m:e>
                              </m:acc>
                              <m:r>
                                <a:rPr lang="en-NZ" altLang="ja-JP" sz="1600" b="1" i="1">
                                  <a:latin typeface="Cambria Math" panose="02040503050406030204" pitchFamily="18" charset="0"/>
                                </a:rPr>
                                <m:t>  −</m:t>
                              </m:r>
                              <m:acc>
                                <m:accPr>
                                  <m:chr m:val="̅"/>
                                  <m:ctrlPr>
                                    <a:rPr lang="en-NZ" altLang="ja-JP" sz="1600" b="1" i="1">
                                      <a:latin typeface="Cambria Math" panose="02040503050406030204" pitchFamily="18" charset="0"/>
                                    </a:rPr>
                                  </m:ctrlPr>
                                </m:accPr>
                                <m:e>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𝑩</m:t>
                                      </m:r>
                                    </m:sub>
                                  </m:sSub>
                                </m:e>
                              </m:acc>
                              <m:r>
                                <a:rPr lang="en-NZ" altLang="ja-JP" sz="1600" b="1" i="1">
                                  <a:latin typeface="Cambria Math" panose="02040503050406030204" pitchFamily="18" charset="0"/>
                                </a:rPr>
                                <m:t> </m:t>
                              </m:r>
                            </m:e>
                          </m:d>
                        </m:num>
                        <m:den>
                          <m:r>
                            <a:rPr lang="en-NZ" altLang="ja-JP" sz="1600" b="1" i="1" smtClean="0">
                              <a:latin typeface="Cambria Math" panose="02040503050406030204" pitchFamily="18" charset="0"/>
                            </a:rPr>
                            <m:t>𝒔</m:t>
                          </m:r>
                          <m:r>
                            <a:rPr lang="en-NZ" altLang="ja-JP" sz="1600" b="1" i="1" smtClean="0">
                              <a:latin typeface="Cambria Math" panose="02040503050406030204" pitchFamily="18" charset="0"/>
                            </a:rPr>
                            <m:t> </m:t>
                          </m:r>
                          <m:rad>
                            <m:radPr>
                              <m:degHide m:val="on"/>
                              <m:ctrlPr>
                                <a:rPr lang="en-NZ" altLang="ja-JP" sz="1600" b="1" i="1" smtClean="0">
                                  <a:latin typeface="Cambria Math" panose="02040503050406030204" pitchFamily="18" charset="0"/>
                                </a:rPr>
                              </m:ctrlPr>
                            </m:radPr>
                            <m:deg/>
                            <m:e>
                              <m:sSubSup>
                                <m:sSubSupPr>
                                  <m:ctrlPr>
                                    <a:rPr lang="en-NZ" altLang="ja-JP" sz="1600" b="1" i="1" smtClean="0">
                                      <a:latin typeface="Cambria Math" panose="02040503050406030204" pitchFamily="18" charset="0"/>
                                    </a:rPr>
                                  </m:ctrlPr>
                                </m:sSubSupPr>
                                <m:e>
                                  <m:r>
                                    <a:rPr lang="en-NZ" altLang="ja-JP" sz="1600" b="1" i="1" smtClean="0">
                                      <a:latin typeface="Cambria Math" panose="02040503050406030204" pitchFamily="18" charset="0"/>
                                    </a:rPr>
                                    <m:t>𝒏</m:t>
                                  </m:r>
                                </m:e>
                                <m:sub>
                                  <m:r>
                                    <a:rPr lang="en-NZ" altLang="ja-JP" sz="1600" b="1" i="1" smtClean="0">
                                      <a:latin typeface="Cambria Math" panose="02040503050406030204" pitchFamily="18" charset="0"/>
                                    </a:rPr>
                                    <m:t>𝑨</m:t>
                                  </m:r>
                                </m:sub>
                                <m:sup>
                                  <m:r>
                                    <a:rPr lang="en-NZ" altLang="ja-JP" sz="1600" b="1" i="1" smtClean="0">
                                      <a:latin typeface="Cambria Math" panose="02040503050406030204" pitchFamily="18" charset="0"/>
                                    </a:rPr>
                                    <m:t>−</m:t>
                                  </m:r>
                                  <m:r>
                                    <a:rPr lang="en-NZ" altLang="ja-JP" sz="1600" b="1" i="1" smtClean="0">
                                      <a:latin typeface="Cambria Math" panose="02040503050406030204" pitchFamily="18" charset="0"/>
                                    </a:rPr>
                                    <m:t>𝟏</m:t>
                                  </m:r>
                                </m:sup>
                              </m:sSubSup>
                              <m:r>
                                <a:rPr lang="en-NZ" altLang="ja-JP" sz="1600" b="1" i="1" smtClean="0">
                                  <a:latin typeface="Cambria Math" panose="02040503050406030204" pitchFamily="18" charset="0"/>
                                </a:rPr>
                                <m:t>+</m:t>
                              </m:r>
                              <m:sSubSup>
                                <m:sSubSupPr>
                                  <m:ctrlPr>
                                    <a:rPr lang="en-NZ" altLang="ja-JP" sz="1600" b="1" i="1" smtClean="0">
                                      <a:latin typeface="Cambria Math" panose="02040503050406030204" pitchFamily="18" charset="0"/>
                                    </a:rPr>
                                  </m:ctrlPr>
                                </m:sSubSupPr>
                                <m:e>
                                  <m:r>
                                    <a:rPr lang="en-NZ" altLang="ja-JP" sz="1600" b="1" i="1" smtClean="0">
                                      <a:latin typeface="Cambria Math" panose="02040503050406030204" pitchFamily="18" charset="0"/>
                                    </a:rPr>
                                    <m:t>𝒏</m:t>
                                  </m:r>
                                </m:e>
                                <m:sub>
                                  <m:r>
                                    <a:rPr lang="en-NZ" altLang="ja-JP" sz="1600" b="1" i="1" smtClean="0">
                                      <a:latin typeface="Cambria Math" panose="02040503050406030204" pitchFamily="18" charset="0"/>
                                    </a:rPr>
                                    <m:t>𝑩</m:t>
                                  </m:r>
                                </m:sub>
                                <m:sup>
                                  <m:r>
                                    <a:rPr lang="en-NZ" altLang="ja-JP" sz="1600" b="1" i="1" smtClean="0">
                                      <a:latin typeface="Cambria Math" panose="02040503050406030204" pitchFamily="18" charset="0"/>
                                    </a:rPr>
                                    <m:t>−</m:t>
                                  </m:r>
                                  <m:r>
                                    <a:rPr lang="en-NZ" altLang="ja-JP" sz="1600" b="1" i="1" smtClean="0">
                                      <a:latin typeface="Cambria Math" panose="02040503050406030204" pitchFamily="18" charset="0"/>
                                    </a:rPr>
                                    <m:t>𝟏</m:t>
                                  </m:r>
                                </m:sup>
                              </m:sSubSup>
                            </m:e>
                          </m:rad>
                        </m:den>
                      </m:f>
                    </m:oMath>
                  </m:oMathPara>
                </a14:m>
                <a:endParaRPr lang="en-NZ" sz="1600" b="1" dirty="0"/>
              </a:p>
            </p:txBody>
          </p:sp>
        </mc:Choice>
        <mc:Fallback xmlns="">
          <p:sp>
            <p:nvSpPr>
              <p:cNvPr id="19" name="TextBox 18">
                <a:extLst>
                  <a:ext uri="{FF2B5EF4-FFF2-40B4-BE49-F238E27FC236}">
                    <a16:creationId xmlns:a16="http://schemas.microsoft.com/office/drawing/2014/main" id="{7E76C94C-8341-4B82-9279-C63376DBA059}"/>
                  </a:ext>
                </a:extLst>
              </p:cNvPr>
              <p:cNvSpPr txBox="1">
                <a:spLocks noRot="1" noChangeAspect="1" noMove="1" noResize="1" noEditPoints="1" noAdjustHandles="1" noChangeArrowheads="1" noChangeShapeType="1" noTextEdit="1"/>
              </p:cNvSpPr>
              <p:nvPr/>
            </p:nvSpPr>
            <p:spPr>
              <a:xfrm>
                <a:off x="6237025" y="1363389"/>
                <a:ext cx="2438401" cy="876458"/>
              </a:xfrm>
              <a:prstGeom prst="rect">
                <a:avLst/>
              </a:prstGeom>
              <a:blipFill>
                <a:blip r:embed="rId5"/>
                <a:stretch>
                  <a:fillRect/>
                </a:stretch>
              </a:blipFill>
            </p:spPr>
            <p:txBody>
              <a:bodyPr/>
              <a:lstStyle/>
              <a:p>
                <a:r>
                  <a:rPr lang="en-NZ">
                    <a:noFill/>
                  </a:rPr>
                  <a:t> </a:t>
                </a:r>
              </a:p>
            </p:txBody>
          </p:sp>
        </mc:Fallback>
      </mc:AlternateContent>
      <p:graphicFrame>
        <p:nvGraphicFramePr>
          <p:cNvPr id="18" name="Table 17">
            <a:extLst>
              <a:ext uri="{FF2B5EF4-FFF2-40B4-BE49-F238E27FC236}">
                <a16:creationId xmlns:a16="http://schemas.microsoft.com/office/drawing/2014/main" id="{E2B7321B-7B3F-4E14-A7E5-C7BF4E497687}"/>
              </a:ext>
            </a:extLst>
          </p:cNvPr>
          <p:cNvGraphicFramePr>
            <a:graphicFrameLocks noGrp="1"/>
          </p:cNvGraphicFramePr>
          <p:nvPr>
            <p:extLst>
              <p:ext uri="{D42A27DB-BD31-4B8C-83A1-F6EECF244321}">
                <p14:modId xmlns:p14="http://schemas.microsoft.com/office/powerpoint/2010/main" val="3379971582"/>
              </p:ext>
            </p:extLst>
          </p:nvPr>
        </p:nvGraphicFramePr>
        <p:xfrm>
          <a:off x="923878" y="2884075"/>
          <a:ext cx="6959598" cy="3168015"/>
        </p:xfrm>
        <a:graphic>
          <a:graphicData uri="http://schemas.openxmlformats.org/drawingml/2006/table">
            <a:tbl>
              <a:tblPr/>
              <a:tblGrid>
                <a:gridCol w="910661">
                  <a:extLst>
                    <a:ext uri="{9D8B030D-6E8A-4147-A177-3AD203B41FA5}">
                      <a16:colId xmlns:a16="http://schemas.microsoft.com/office/drawing/2014/main" val="3797648125"/>
                    </a:ext>
                  </a:extLst>
                </a:gridCol>
                <a:gridCol w="597621">
                  <a:extLst>
                    <a:ext uri="{9D8B030D-6E8A-4147-A177-3AD203B41FA5}">
                      <a16:colId xmlns:a16="http://schemas.microsoft.com/office/drawing/2014/main" val="3922497367"/>
                    </a:ext>
                  </a:extLst>
                </a:gridCol>
                <a:gridCol w="597621">
                  <a:extLst>
                    <a:ext uri="{9D8B030D-6E8A-4147-A177-3AD203B41FA5}">
                      <a16:colId xmlns:a16="http://schemas.microsoft.com/office/drawing/2014/main" val="2423406541"/>
                    </a:ext>
                  </a:extLst>
                </a:gridCol>
                <a:gridCol w="597621">
                  <a:extLst>
                    <a:ext uri="{9D8B030D-6E8A-4147-A177-3AD203B41FA5}">
                      <a16:colId xmlns:a16="http://schemas.microsoft.com/office/drawing/2014/main" val="2431600283"/>
                    </a:ext>
                  </a:extLst>
                </a:gridCol>
                <a:gridCol w="597621">
                  <a:extLst>
                    <a:ext uri="{9D8B030D-6E8A-4147-A177-3AD203B41FA5}">
                      <a16:colId xmlns:a16="http://schemas.microsoft.com/office/drawing/2014/main" val="4020919338"/>
                    </a:ext>
                  </a:extLst>
                </a:gridCol>
                <a:gridCol w="597621">
                  <a:extLst>
                    <a:ext uri="{9D8B030D-6E8A-4147-A177-3AD203B41FA5}">
                      <a16:colId xmlns:a16="http://schemas.microsoft.com/office/drawing/2014/main" val="4216006150"/>
                    </a:ext>
                  </a:extLst>
                </a:gridCol>
                <a:gridCol w="597621">
                  <a:extLst>
                    <a:ext uri="{9D8B030D-6E8A-4147-A177-3AD203B41FA5}">
                      <a16:colId xmlns:a16="http://schemas.microsoft.com/office/drawing/2014/main" val="2856709254"/>
                    </a:ext>
                  </a:extLst>
                </a:gridCol>
                <a:gridCol w="597621">
                  <a:extLst>
                    <a:ext uri="{9D8B030D-6E8A-4147-A177-3AD203B41FA5}">
                      <a16:colId xmlns:a16="http://schemas.microsoft.com/office/drawing/2014/main" val="1489137225"/>
                    </a:ext>
                  </a:extLst>
                </a:gridCol>
                <a:gridCol w="597621">
                  <a:extLst>
                    <a:ext uri="{9D8B030D-6E8A-4147-A177-3AD203B41FA5}">
                      <a16:colId xmlns:a16="http://schemas.microsoft.com/office/drawing/2014/main" val="1081675762"/>
                    </a:ext>
                  </a:extLst>
                </a:gridCol>
                <a:gridCol w="597621">
                  <a:extLst>
                    <a:ext uri="{9D8B030D-6E8A-4147-A177-3AD203B41FA5}">
                      <a16:colId xmlns:a16="http://schemas.microsoft.com/office/drawing/2014/main" val="431572087"/>
                    </a:ext>
                  </a:extLst>
                </a:gridCol>
                <a:gridCol w="670348">
                  <a:extLst>
                    <a:ext uri="{9D8B030D-6E8A-4147-A177-3AD203B41FA5}">
                      <a16:colId xmlns:a16="http://schemas.microsoft.com/office/drawing/2014/main" val="1691357691"/>
                    </a:ext>
                  </a:extLst>
                </a:gridCol>
              </a:tblGrid>
              <a:tr h="190500">
                <a:tc>
                  <a:txBody>
                    <a:bodyPr/>
                    <a:lstStyle/>
                    <a:p>
                      <a:pPr algn="ctr" fontAlgn="b"/>
                      <a:r>
                        <a:rPr lang="en-NZ" sz="16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37021257"/>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89466408"/>
                  </a:ext>
                </a:extLst>
              </a:tr>
              <a:tr h="190500">
                <a:tc>
                  <a:txBody>
                    <a:bodyPr/>
                    <a:lstStyle/>
                    <a:p>
                      <a:pPr algn="ctr" fontAlgn="b"/>
                      <a:r>
                        <a:rPr lang="en-NZ" sz="1600" b="1" i="0" u="none" strike="noStrike">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56494094"/>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98880624"/>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465679320"/>
                  </a:ext>
                </a:extLst>
              </a:tr>
              <a:tr h="190500">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20773992"/>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1</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6.33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-5.33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-1.17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4.67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-2.00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2.17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8.00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-9.50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-3.67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0.50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254508448"/>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2</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1.34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2.10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-3.98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926197087"/>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3</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7.00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-7.00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-4.50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6.00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-3.00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-0.50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8.00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-9.50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-4.00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-1.50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88595820"/>
                  </a:ext>
                </a:extLst>
              </a:tr>
              <a:tr h="190500">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323429170"/>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1</a:t>
                      </a:r>
                      <a:r>
                        <a:rPr lang="en-NZ" sz="1600" b="1" i="0" u="none" strike="noStrike" dirty="0">
                          <a:solidFill>
                            <a:srgbClr val="FFFFFF"/>
                          </a:solidFill>
                          <a:effectLst/>
                          <a:latin typeface="Calibri" panose="020F0502020204030204" pitchFamily="34" charset="0"/>
                        </a:rPr>
                        <a:t> Rank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rgbClr val="00B05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79685748"/>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2</a:t>
                      </a:r>
                      <a:r>
                        <a:rPr lang="en-NZ" sz="1600" b="1" i="0" u="none" strike="noStrike" baseline="0" dirty="0">
                          <a:solidFill>
                            <a:srgbClr val="FFFFFF"/>
                          </a:solidFill>
                          <a:effectLst/>
                          <a:latin typeface="Calibri" panose="020F0502020204030204" pitchFamily="34" charset="0"/>
                        </a:rPr>
                        <a:t> Rank</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rgbClr val="00B05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1" i="0" u="none" strike="noStrike" dirty="0">
                          <a:solidFill>
                            <a:srgbClr val="00B05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257717813"/>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3</a:t>
                      </a:r>
                      <a:r>
                        <a:rPr lang="en-NZ" sz="1600" b="1" i="0" u="none" strike="noStrike" dirty="0">
                          <a:solidFill>
                            <a:srgbClr val="FFFFFF"/>
                          </a:solidFill>
                          <a:effectLst/>
                          <a:latin typeface="Calibri" panose="020F0502020204030204" pitchFamily="34" charset="0"/>
                        </a:rPr>
                        <a:t> Rank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13727090"/>
                  </a:ext>
                </a:extLst>
              </a:tr>
            </a:tbl>
          </a:graphicData>
        </a:graphic>
      </p:graphicFrame>
    </p:spTree>
    <p:extLst>
      <p:ext uri="{BB962C8B-B14F-4D97-AF65-F5344CB8AC3E}">
        <p14:creationId xmlns:p14="http://schemas.microsoft.com/office/powerpoint/2010/main" val="1964004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28</a:t>
            </a:fld>
            <a:endParaRPr kumimoji="1" lang="ja-JP" altLang="en-US" dirty="0">
              <a:solidFill>
                <a:srgbClr val="575454">
                  <a:lumMod val="20000"/>
                  <a:lumOff val="80000"/>
                </a:srgbClr>
              </a:solidFill>
              <a:latin typeface="Coo Hew"/>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6.4a – The Choice of Test Statistic</a:t>
            </a:r>
            <a:endParaRPr lang="ja-JP" altLang="en-US" b="1" u="sng" dirty="0">
              <a:latin typeface="+mn-lt"/>
            </a:endParaRPr>
          </a:p>
        </p:txBody>
      </p:sp>
      <p:sp>
        <p:nvSpPr>
          <p:cNvPr id="21" name="Footer Placeholder 2">
            <a:extLst>
              <a:ext uri="{FF2B5EF4-FFF2-40B4-BE49-F238E27FC236}">
                <a16:creationId xmlns:a16="http://schemas.microsoft.com/office/drawing/2014/main" id="{D1005157-3FDC-49BC-B2B7-331CCBD02953}"/>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6.4 – Choice of Test Statistic</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769683FD-9AA7-43FD-B35D-ADD72103696C}"/>
              </a:ext>
            </a:extLst>
          </p:cNvPr>
          <p:cNvSpPr txBox="1">
            <a:spLocks/>
          </p:cNvSpPr>
          <p:nvPr/>
        </p:nvSpPr>
        <p:spPr>
          <a:xfrm>
            <a:off x="586852" y="1037230"/>
            <a:ext cx="1130034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Consider the following data set and the three test statistics </a:t>
            </a:r>
            <a:r>
              <a:rPr lang="en-NZ" altLang="ja-JP" sz="1800" b="1" dirty="0">
                <a:solidFill>
                  <a:schemeClr val="tx1"/>
                </a:solidFill>
              </a:rPr>
              <a:t>F</a:t>
            </a:r>
            <a:r>
              <a:rPr lang="en-NZ" altLang="ja-JP" sz="1800" b="1" baseline="-25000" dirty="0">
                <a:solidFill>
                  <a:schemeClr val="tx1"/>
                </a:solidFill>
              </a:rPr>
              <a:t>1</a:t>
            </a:r>
            <a:r>
              <a:rPr lang="en-NZ" altLang="ja-JP" sz="1800" b="1" dirty="0">
                <a:solidFill>
                  <a:schemeClr val="tx1"/>
                </a:solidFill>
              </a:rPr>
              <a:t>, F</a:t>
            </a:r>
            <a:r>
              <a:rPr lang="en-NZ" altLang="ja-JP" sz="1800" b="1" baseline="-25000" dirty="0">
                <a:solidFill>
                  <a:schemeClr val="tx1"/>
                </a:solidFill>
              </a:rPr>
              <a:t>2</a:t>
            </a:r>
            <a:r>
              <a:rPr lang="en-NZ" altLang="ja-JP" sz="1800" b="1" dirty="0">
                <a:solidFill>
                  <a:schemeClr val="tx1"/>
                </a:solidFill>
              </a:rPr>
              <a:t> </a:t>
            </a:r>
            <a:r>
              <a:rPr lang="en-NZ" altLang="ja-JP" sz="1800" dirty="0">
                <a:solidFill>
                  <a:schemeClr val="tx1"/>
                </a:solidFill>
              </a:rPr>
              <a:t>and</a:t>
            </a:r>
            <a:r>
              <a:rPr lang="en-NZ" altLang="ja-JP" sz="1800" b="1" dirty="0">
                <a:solidFill>
                  <a:schemeClr val="tx1"/>
                </a:solidFill>
              </a:rPr>
              <a:t> F</a:t>
            </a:r>
            <a:r>
              <a:rPr lang="en-NZ" altLang="ja-JP" sz="1800" b="1" baseline="-25000" dirty="0">
                <a:solidFill>
                  <a:schemeClr val="tx1"/>
                </a:solidFill>
              </a:rPr>
              <a:t>3</a:t>
            </a:r>
            <a:r>
              <a:rPr lang="en-NZ" altLang="ja-JP" sz="1800" dirty="0">
                <a:solidFill>
                  <a:schemeClr val="tx1"/>
                </a:solidFill>
              </a:rPr>
              <a:t>.</a:t>
            </a:r>
            <a:endParaRPr lang="en-NZ" altLang="ja-JP" sz="1600" dirty="0">
              <a:solidFill>
                <a:schemeClr val="tx1"/>
              </a:solidFill>
            </a:endParaRPr>
          </a:p>
          <a:p>
            <a:pPr algn="just">
              <a:lnSpc>
                <a:spcPct val="100000"/>
              </a:lnSpc>
            </a:pPr>
            <a:endParaRPr lang="en-NZ" altLang="ja-JP" sz="1600" i="1" dirty="0">
              <a:solidFill>
                <a:srgbClr val="C00000"/>
              </a:solidFill>
            </a:endParaRPr>
          </a:p>
        </p:txBody>
      </p:sp>
      <p:graphicFrame>
        <p:nvGraphicFramePr>
          <p:cNvPr id="7" name="Table 6">
            <a:extLst>
              <a:ext uri="{FF2B5EF4-FFF2-40B4-BE49-F238E27FC236}">
                <a16:creationId xmlns:a16="http://schemas.microsoft.com/office/drawing/2014/main" id="{0E9751BE-FA2D-41C3-818D-53C7E011EF07}"/>
              </a:ext>
            </a:extLst>
          </p:cNvPr>
          <p:cNvGraphicFramePr>
            <a:graphicFrameLocks noGrp="1"/>
          </p:cNvGraphicFramePr>
          <p:nvPr/>
        </p:nvGraphicFramePr>
        <p:xfrm>
          <a:off x="1146412" y="1517773"/>
          <a:ext cx="2438400" cy="567690"/>
        </p:xfrm>
        <a:graphic>
          <a:graphicData uri="http://schemas.openxmlformats.org/drawingml/2006/table">
            <a:tbl>
              <a:tblPr/>
              <a:tblGrid>
                <a:gridCol w="1050877">
                  <a:extLst>
                    <a:ext uri="{9D8B030D-6E8A-4147-A177-3AD203B41FA5}">
                      <a16:colId xmlns:a16="http://schemas.microsoft.com/office/drawing/2014/main" val="4037610628"/>
                    </a:ext>
                  </a:extLst>
                </a:gridCol>
                <a:gridCol w="436729">
                  <a:extLst>
                    <a:ext uri="{9D8B030D-6E8A-4147-A177-3AD203B41FA5}">
                      <a16:colId xmlns:a16="http://schemas.microsoft.com/office/drawing/2014/main" val="590370213"/>
                    </a:ext>
                  </a:extLst>
                </a:gridCol>
                <a:gridCol w="477671">
                  <a:extLst>
                    <a:ext uri="{9D8B030D-6E8A-4147-A177-3AD203B41FA5}">
                      <a16:colId xmlns:a16="http://schemas.microsoft.com/office/drawing/2014/main" val="3452557641"/>
                    </a:ext>
                  </a:extLst>
                </a:gridCol>
                <a:gridCol w="473123">
                  <a:extLst>
                    <a:ext uri="{9D8B030D-6E8A-4147-A177-3AD203B41FA5}">
                      <a16:colId xmlns:a16="http://schemas.microsoft.com/office/drawing/2014/main" val="3162769819"/>
                    </a:ext>
                  </a:extLst>
                </a:gridCol>
              </a:tblGrid>
              <a:tr h="190500">
                <a:tc>
                  <a:txBody>
                    <a:bodyPr/>
                    <a:lstStyle/>
                    <a:p>
                      <a:pPr algn="ctr" fontAlgn="b"/>
                      <a:r>
                        <a:rPr lang="en-NZ" sz="18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rgbClr val="C0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C0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endParaRPr lang="en-NZ" sz="18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190500">
                <a:tc>
                  <a:txBody>
                    <a:bodyPr/>
                    <a:lstStyle/>
                    <a:p>
                      <a:pPr algn="ctr" fontAlgn="b"/>
                      <a:r>
                        <a:rPr lang="en-NZ" sz="18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8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8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bl>
          </a:graphicData>
        </a:graphic>
      </p:graphicFrame>
      <p:sp>
        <p:nvSpPr>
          <p:cNvPr id="9" name="Text Placeholder 5">
            <a:extLst>
              <a:ext uri="{FF2B5EF4-FFF2-40B4-BE49-F238E27FC236}">
                <a16:creationId xmlns:a16="http://schemas.microsoft.com/office/drawing/2014/main" id="{AC0BCB5E-D345-44D4-A505-36815FB59D1E}"/>
              </a:ext>
            </a:extLst>
          </p:cNvPr>
          <p:cNvSpPr txBox="1">
            <a:spLocks/>
          </p:cNvSpPr>
          <p:nvPr/>
        </p:nvSpPr>
        <p:spPr>
          <a:xfrm>
            <a:off x="586852" y="2388382"/>
            <a:ext cx="1082444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There are </a:t>
            </a:r>
            <a:r>
              <a:rPr lang="en-NZ" altLang="ja-JP" sz="1800" b="1" dirty="0">
                <a:solidFill>
                  <a:schemeClr val="tx1"/>
                </a:solidFill>
              </a:rPr>
              <a:t>(</a:t>
            </a:r>
            <a:r>
              <a:rPr lang="en-NZ" altLang="ja-JP" sz="1800" b="1" baseline="30000" dirty="0">
                <a:solidFill>
                  <a:schemeClr val="tx1"/>
                </a:solidFill>
              </a:rPr>
              <a:t>5</a:t>
            </a:r>
            <a:r>
              <a:rPr lang="en-NZ" altLang="ja-JP" sz="1800" b="1" dirty="0">
                <a:solidFill>
                  <a:schemeClr val="tx1"/>
                </a:solidFill>
              </a:rPr>
              <a:t>C</a:t>
            </a:r>
            <a:r>
              <a:rPr lang="en-NZ" altLang="ja-JP" sz="1800" b="1" baseline="-25000" dirty="0">
                <a:solidFill>
                  <a:schemeClr val="tx1"/>
                </a:solidFill>
              </a:rPr>
              <a:t>2</a:t>
            </a:r>
            <a:r>
              <a:rPr lang="en-NZ" altLang="ja-JP" sz="1800" b="1" dirty="0">
                <a:solidFill>
                  <a:schemeClr val="tx1"/>
                </a:solidFill>
              </a:rPr>
              <a:t>) * (</a:t>
            </a:r>
            <a:r>
              <a:rPr lang="en-NZ" altLang="ja-JP" sz="1800" b="1" baseline="30000" dirty="0">
                <a:solidFill>
                  <a:schemeClr val="tx1"/>
                </a:solidFill>
              </a:rPr>
              <a:t>3</a:t>
            </a:r>
            <a:r>
              <a:rPr lang="en-NZ" altLang="ja-JP" sz="1800" b="1" dirty="0">
                <a:solidFill>
                  <a:schemeClr val="tx1"/>
                </a:solidFill>
              </a:rPr>
              <a:t>C</a:t>
            </a:r>
            <a:r>
              <a:rPr lang="en-NZ" altLang="ja-JP" sz="1800" b="1" baseline="-25000" dirty="0">
                <a:solidFill>
                  <a:schemeClr val="tx1"/>
                </a:solidFill>
              </a:rPr>
              <a:t>3</a:t>
            </a:r>
            <a:r>
              <a:rPr lang="en-NZ" altLang="ja-JP" sz="1800" b="1" dirty="0">
                <a:solidFill>
                  <a:schemeClr val="tx1"/>
                </a:solidFill>
              </a:rPr>
              <a:t>) = 10 </a:t>
            </a:r>
            <a:r>
              <a:rPr lang="en-NZ" altLang="ja-JP" sz="1800" dirty="0">
                <a:solidFill>
                  <a:schemeClr val="tx1"/>
                </a:solidFill>
              </a:rPr>
              <a:t>re-ordered samples it is possible to make with this data set. They are shown below:</a:t>
            </a: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CC10B7A4-66BF-4EF8-AE7E-83C368CB9F46}"/>
                  </a:ext>
                </a:extLst>
              </p:cNvPr>
              <p:cNvSpPr txBox="1">
                <a:spLocks/>
              </p:cNvSpPr>
              <p:nvPr/>
            </p:nvSpPr>
            <p:spPr>
              <a:xfrm>
                <a:off x="4230802" y="1517774"/>
                <a:ext cx="2006223" cy="5676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m:t>
                      </m:r>
                      <m:acc>
                        <m:accPr>
                          <m:chr m:val="̅"/>
                          <m:ctrlPr>
                            <a:rPr lang="en-NZ" altLang="ja-JP" sz="1600" b="1" i="1" smtClean="0">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𝒚</m:t>
                              </m:r>
                            </m:e>
                            <m:sub>
                              <m:r>
                                <a:rPr lang="en-NZ" altLang="ja-JP" sz="1600" b="1" i="1">
                                  <a:solidFill>
                                    <a:schemeClr val="tx1"/>
                                  </a:solidFill>
                                  <a:latin typeface="Cambria Math" panose="02040503050406030204" pitchFamily="18" charset="0"/>
                                </a:rPr>
                                <m:t>𝑨</m:t>
                              </m:r>
                            </m:sub>
                          </m:sSub>
                        </m:e>
                      </m:acc>
                      <m:r>
                        <a:rPr lang="en-NZ" altLang="ja-JP" sz="1600" b="1" i="1">
                          <a:solidFill>
                            <a:schemeClr val="tx1"/>
                          </a:solidFill>
                          <a:latin typeface="Cambria Math" panose="02040503050406030204" pitchFamily="18" charset="0"/>
                        </a:rPr>
                        <m:t>  −</m:t>
                      </m:r>
                      <m:acc>
                        <m:accPr>
                          <m:chr m:val="̅"/>
                          <m:ctrlPr>
                            <a:rPr lang="en-NZ" altLang="ja-JP" sz="1600" b="1" i="1">
                              <a:solidFill>
                                <a:schemeClr val="tx1"/>
                              </a:solidFill>
                              <a:latin typeface="Cambria Math" panose="02040503050406030204" pitchFamily="18" charset="0"/>
                            </a:rPr>
                          </m:ctrlPr>
                        </m:acc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𝒚</m:t>
                              </m:r>
                            </m:e>
                            <m:sub>
                              <m:r>
                                <a:rPr lang="en-NZ" altLang="ja-JP" sz="1600" b="1" i="1">
                                  <a:solidFill>
                                    <a:schemeClr val="tx1"/>
                                  </a:solidFill>
                                  <a:latin typeface="Cambria Math" panose="02040503050406030204" pitchFamily="18" charset="0"/>
                                </a:rPr>
                                <m:t>𝑩</m:t>
                              </m:r>
                            </m:sub>
                          </m:sSub>
                        </m:e>
                      </m:acc>
                    </m:oMath>
                  </m:oMathPara>
                </a14:m>
                <a:br>
                  <a:rPr lang="en-NZ" altLang="ja-JP" sz="1600" i="1" dirty="0">
                    <a:solidFill>
                      <a:schemeClr val="tx1"/>
                    </a:solidFill>
                  </a:rPr>
                </a:br>
                <a:endParaRPr lang="en-NZ" altLang="ja-JP" sz="1400" i="1" dirty="0">
                  <a:solidFill>
                    <a:schemeClr val="tx1"/>
                  </a:solidFill>
                </a:endParaRPr>
              </a:p>
            </p:txBody>
          </p:sp>
        </mc:Choice>
        <mc:Fallback xmlns="">
          <p:sp>
            <p:nvSpPr>
              <p:cNvPr id="10" name="Text Placeholder 5">
                <a:extLst>
                  <a:ext uri="{FF2B5EF4-FFF2-40B4-BE49-F238E27FC236}">
                    <a16:creationId xmlns:a16="http://schemas.microsoft.com/office/drawing/2014/main" id="{CC10B7A4-66BF-4EF8-AE7E-83C368CB9F46}"/>
                  </a:ext>
                </a:extLst>
              </p:cNvPr>
              <p:cNvSpPr txBox="1">
                <a:spLocks noRot="1" noChangeAspect="1" noMove="1" noResize="1" noEditPoints="1" noAdjustHandles="1" noChangeArrowheads="1" noChangeShapeType="1" noTextEdit="1"/>
              </p:cNvSpPr>
              <p:nvPr/>
            </p:nvSpPr>
            <p:spPr>
              <a:xfrm>
                <a:off x="4230802" y="1517774"/>
                <a:ext cx="2006223" cy="567690"/>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D5FAFFCC-98FE-4103-A09A-6FB05AAF57DC}"/>
                  </a:ext>
                </a:extLst>
              </p:cNvPr>
              <p:cNvSpPr txBox="1">
                <a:spLocks/>
              </p:cNvSpPr>
              <p:nvPr/>
            </p:nvSpPr>
            <p:spPr>
              <a:xfrm>
                <a:off x="8939751" y="1514057"/>
                <a:ext cx="218465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𝟑</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𝑴𝒆</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𝒅</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𝑴𝒆</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𝒅</m:t>
                          </m:r>
                        </m:e>
                        <m:sub>
                          <m:r>
                            <a:rPr lang="en-NZ" altLang="ja-JP" sz="1600" b="1" i="1" smtClean="0">
                              <a:solidFill>
                                <a:schemeClr val="tx1"/>
                              </a:solidFill>
                              <a:latin typeface="Cambria Math" panose="02040503050406030204" pitchFamily="18" charset="0"/>
                            </a:rPr>
                            <m:t>𝑩</m:t>
                          </m:r>
                        </m:sub>
                      </m:sSub>
                    </m:oMath>
                  </m:oMathPara>
                </a14:m>
                <a:endParaRPr lang="en-NZ" altLang="ja-JP" sz="1400" i="1" dirty="0">
                  <a:solidFill>
                    <a:schemeClr val="tx1"/>
                  </a:solidFill>
                </a:endParaRPr>
              </a:p>
            </p:txBody>
          </p:sp>
        </mc:Choice>
        <mc:Fallback xmlns="">
          <p:sp>
            <p:nvSpPr>
              <p:cNvPr id="11" name="Text Placeholder 5">
                <a:extLst>
                  <a:ext uri="{FF2B5EF4-FFF2-40B4-BE49-F238E27FC236}">
                    <a16:creationId xmlns:a16="http://schemas.microsoft.com/office/drawing/2014/main" id="{D5FAFFCC-98FE-4103-A09A-6FB05AAF57DC}"/>
                  </a:ext>
                </a:extLst>
              </p:cNvPr>
              <p:cNvSpPr txBox="1">
                <a:spLocks noRot="1" noChangeAspect="1" noMove="1" noResize="1" noEditPoints="1" noAdjustHandles="1" noChangeArrowheads="1" noChangeShapeType="1" noTextEdit="1"/>
              </p:cNvSpPr>
              <p:nvPr/>
            </p:nvSpPr>
            <p:spPr>
              <a:xfrm>
                <a:off x="8939751" y="1514057"/>
                <a:ext cx="2184659" cy="365126"/>
              </a:xfrm>
              <a:prstGeom prst="rect">
                <a:avLst/>
              </a:prstGeom>
              <a:blipFill>
                <a:blip r:embed="rId4"/>
                <a:stretch>
                  <a:fillRect/>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32020771-D9DF-48D2-8EC7-C252B7F416AF}"/>
              </a:ext>
            </a:extLst>
          </p:cNvPr>
          <p:cNvSpPr txBox="1">
            <a:spLocks/>
          </p:cNvSpPr>
          <p:nvPr/>
        </p:nvSpPr>
        <p:spPr>
          <a:xfrm>
            <a:off x="8093121" y="3262707"/>
            <a:ext cx="3439237" cy="32942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800" b="1" i="1" dirty="0">
                <a:solidFill>
                  <a:schemeClr val="tx1"/>
                </a:solidFill>
              </a:rPr>
              <a:t>F</a:t>
            </a:r>
            <a:r>
              <a:rPr lang="en-NZ" altLang="ja-JP" sz="1800" b="1" i="1" baseline="-25000" dirty="0">
                <a:solidFill>
                  <a:schemeClr val="tx1"/>
                </a:solidFill>
              </a:rPr>
              <a:t>3</a:t>
            </a:r>
            <a:r>
              <a:rPr lang="en-NZ" altLang="ja-JP" sz="1800" b="1" i="1" dirty="0">
                <a:solidFill>
                  <a:schemeClr val="tx1"/>
                </a:solidFill>
              </a:rPr>
              <a:t> </a:t>
            </a:r>
            <a:r>
              <a:rPr lang="en-NZ" altLang="ja-JP" sz="1800" dirty="0">
                <a:solidFill>
                  <a:schemeClr val="tx1"/>
                </a:solidFill>
              </a:rPr>
              <a:t>is not equivalent to</a:t>
            </a:r>
            <a:r>
              <a:rPr lang="en-NZ" altLang="ja-JP" sz="1800" b="1" i="1" dirty="0">
                <a:solidFill>
                  <a:schemeClr val="tx1"/>
                </a:solidFill>
              </a:rPr>
              <a:t> F</a:t>
            </a:r>
            <a:r>
              <a:rPr lang="en-NZ" altLang="ja-JP" sz="1800" b="1" i="1" baseline="-25000" dirty="0">
                <a:solidFill>
                  <a:schemeClr val="tx1"/>
                </a:solidFill>
              </a:rPr>
              <a:t>1</a:t>
            </a:r>
            <a:r>
              <a:rPr lang="en-NZ" altLang="ja-JP" sz="1800" i="1" dirty="0">
                <a:solidFill>
                  <a:schemeClr val="tx1"/>
                </a:solidFill>
              </a:rPr>
              <a:t> </a:t>
            </a:r>
            <a:r>
              <a:rPr lang="en-NZ" altLang="ja-JP" sz="1800" dirty="0">
                <a:solidFill>
                  <a:schemeClr val="tx1"/>
                </a:solidFill>
              </a:rPr>
              <a:t>and</a:t>
            </a:r>
            <a:r>
              <a:rPr lang="en-NZ" altLang="ja-JP" sz="1800" i="1" dirty="0">
                <a:solidFill>
                  <a:schemeClr val="tx1"/>
                </a:solidFill>
              </a:rPr>
              <a:t> </a:t>
            </a:r>
            <a:r>
              <a:rPr lang="en-NZ" altLang="ja-JP" sz="1800" b="1" i="1" dirty="0">
                <a:solidFill>
                  <a:schemeClr val="tx1"/>
                </a:solidFill>
              </a:rPr>
              <a:t>F</a:t>
            </a:r>
            <a:r>
              <a:rPr lang="en-NZ" altLang="ja-JP" sz="1800" b="1" i="1" baseline="-25000" dirty="0">
                <a:solidFill>
                  <a:schemeClr val="tx1"/>
                </a:solidFill>
              </a:rPr>
              <a:t>2</a:t>
            </a:r>
            <a:r>
              <a:rPr lang="en-NZ" altLang="ja-JP" sz="1800" i="1" dirty="0">
                <a:solidFill>
                  <a:schemeClr val="tx1"/>
                </a:solidFill>
              </a:rPr>
              <a:t> </a:t>
            </a:r>
            <a:r>
              <a:rPr lang="en-NZ" altLang="ja-JP" sz="1800" dirty="0">
                <a:solidFill>
                  <a:schemeClr val="tx1"/>
                </a:solidFill>
              </a:rPr>
              <a:t>as it ranks some of the re-ordered samples differently.</a:t>
            </a:r>
          </a:p>
          <a:p>
            <a:pPr marL="285750" indent="-285750">
              <a:lnSpc>
                <a:spcPct val="100000"/>
              </a:lnSpc>
              <a:buFont typeface="Arial" panose="020B0604020202020204" pitchFamily="34" charset="0"/>
              <a:buChar char="•"/>
            </a:pPr>
            <a:endParaRPr lang="en-NZ" altLang="ja-JP" sz="1800" dirty="0">
              <a:solidFill>
                <a:schemeClr val="tx1"/>
              </a:solidFill>
            </a:endParaRPr>
          </a:p>
          <a:p>
            <a:pPr marL="285750" indent="-285750">
              <a:lnSpc>
                <a:spcPct val="100000"/>
              </a:lnSpc>
              <a:buFont typeface="Arial" panose="020B0604020202020204" pitchFamily="34" charset="0"/>
              <a:buChar char="•"/>
            </a:pPr>
            <a:r>
              <a:rPr lang="en-NZ" altLang="ja-JP" sz="1800" dirty="0">
                <a:solidFill>
                  <a:schemeClr val="tx1"/>
                </a:solidFill>
              </a:rPr>
              <a:t>The choice of mean vs median should be dictated by the nature of the data. For data with a severe skew (e.g. house prices, income, etc.) the median is often more appropriate.</a:t>
            </a:r>
          </a:p>
          <a:p>
            <a:pPr marL="285750" indent="-285750">
              <a:lnSpc>
                <a:spcPct val="100000"/>
              </a:lnSpc>
              <a:buFont typeface="Arial" panose="020B0604020202020204" pitchFamily="34" charset="0"/>
              <a:buChar char="•"/>
            </a:pPr>
            <a:endParaRPr lang="en-NZ" altLang="ja-JP" sz="1800" dirty="0">
              <a:solidFill>
                <a:schemeClr val="tx1"/>
              </a:solidFill>
            </a:endParaRPr>
          </a:p>
          <a:p>
            <a:pPr marL="285750" indent="-285750">
              <a:lnSpc>
                <a:spcPct val="100000"/>
              </a:lnSpc>
              <a:buFont typeface="Arial" panose="020B0604020202020204" pitchFamily="34" charset="0"/>
              <a:buChar char="•"/>
            </a:pPr>
            <a:endParaRPr lang="en-NZ" altLang="ja-JP" sz="1800" b="1" i="1" dirty="0">
              <a:solidFill>
                <a:schemeClr val="tx1"/>
              </a:solidFill>
            </a:endParaRPr>
          </a:p>
          <a:p>
            <a:pPr marL="285750" indent="-285750">
              <a:lnSpc>
                <a:spcPct val="100000"/>
              </a:lnSpc>
              <a:buFont typeface="Arial" panose="020B0604020202020204" pitchFamily="34" charset="0"/>
              <a:buChar char="•"/>
            </a:pPr>
            <a:endParaRPr lang="en-NZ" altLang="ja-JP" sz="1600" b="1" i="1" dirty="0">
              <a:solidFill>
                <a:schemeClr val="tx1"/>
              </a:solidFill>
            </a:endParaRPr>
          </a:p>
          <a:p>
            <a:pPr marL="285750" indent="-285750" algn="ctr">
              <a:lnSpc>
                <a:spcPct val="100000"/>
              </a:lnSpc>
              <a:buFont typeface="Arial" panose="020B0604020202020204" pitchFamily="34" charset="0"/>
              <a:buChar char="•"/>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E76C94C-8341-4B82-9279-C63376DBA059}"/>
                  </a:ext>
                </a:extLst>
              </p:cNvPr>
              <p:cNvSpPr txBox="1"/>
              <p:nvPr/>
            </p:nvSpPr>
            <p:spPr>
              <a:xfrm>
                <a:off x="6237025" y="1363389"/>
                <a:ext cx="2438401" cy="8764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𝟐</m:t>
                          </m:r>
                        </m:sub>
                      </m:sSub>
                      <m:r>
                        <a:rPr lang="en-NZ" altLang="ja-JP" sz="1600" b="1" i="1" smtClean="0">
                          <a:solidFill>
                            <a:schemeClr val="tx1"/>
                          </a:solidFill>
                          <a:latin typeface="Cambria Math" panose="02040503050406030204" pitchFamily="18" charset="0"/>
                        </a:rPr>
                        <m:t> =</m:t>
                      </m:r>
                      <m:f>
                        <m:fPr>
                          <m:ctrlPr>
                            <a:rPr lang="en-NZ" altLang="ja-JP" sz="1600" b="1" i="1">
                              <a:latin typeface="Cambria Math" panose="02040503050406030204" pitchFamily="18" charset="0"/>
                            </a:rPr>
                          </m:ctrlPr>
                        </m:fPr>
                        <m:num>
                          <m:d>
                            <m:dPr>
                              <m:ctrlPr>
                                <a:rPr lang="en-NZ" altLang="ja-JP" sz="1600" b="1" i="1">
                                  <a:latin typeface="Cambria Math" panose="02040503050406030204" pitchFamily="18" charset="0"/>
                                </a:rPr>
                              </m:ctrlPr>
                            </m:dPr>
                            <m:e>
                              <m:acc>
                                <m:accPr>
                                  <m:chr m:val="̅"/>
                                  <m:ctrlPr>
                                    <a:rPr lang="en-NZ" altLang="ja-JP" sz="1600" b="1" i="1">
                                      <a:latin typeface="Cambria Math" panose="02040503050406030204" pitchFamily="18" charset="0"/>
                                    </a:rPr>
                                  </m:ctrlPr>
                                </m:accPr>
                                <m:e>
                                  <m:r>
                                    <a:rPr lang="en-NZ" altLang="ja-JP" sz="1600" b="1" i="1">
                                      <a:latin typeface="Cambria Math" panose="02040503050406030204" pitchFamily="18" charset="0"/>
                                    </a:rPr>
                                    <m:t> </m:t>
                                  </m:r>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𝑨</m:t>
                                      </m:r>
                                    </m:sub>
                                  </m:sSub>
                                </m:e>
                              </m:acc>
                              <m:r>
                                <a:rPr lang="en-NZ" altLang="ja-JP" sz="1600" b="1" i="1">
                                  <a:latin typeface="Cambria Math" panose="02040503050406030204" pitchFamily="18" charset="0"/>
                                </a:rPr>
                                <m:t>  −</m:t>
                              </m:r>
                              <m:acc>
                                <m:accPr>
                                  <m:chr m:val="̅"/>
                                  <m:ctrlPr>
                                    <a:rPr lang="en-NZ" altLang="ja-JP" sz="1600" b="1" i="1">
                                      <a:latin typeface="Cambria Math" panose="02040503050406030204" pitchFamily="18" charset="0"/>
                                    </a:rPr>
                                  </m:ctrlPr>
                                </m:accPr>
                                <m:e>
                                  <m:sSub>
                                    <m:sSubPr>
                                      <m:ctrlPr>
                                        <a:rPr lang="en-NZ" altLang="ja-JP" sz="1600" b="1" i="1">
                                          <a:latin typeface="Cambria Math" panose="02040503050406030204" pitchFamily="18" charset="0"/>
                                        </a:rPr>
                                      </m:ctrlPr>
                                    </m:sSubPr>
                                    <m:e>
                                      <m:r>
                                        <a:rPr lang="en-NZ" altLang="ja-JP" sz="1600" b="1" i="1">
                                          <a:latin typeface="Cambria Math" panose="02040503050406030204" pitchFamily="18" charset="0"/>
                                        </a:rPr>
                                        <m:t>𝒚</m:t>
                                      </m:r>
                                    </m:e>
                                    <m:sub>
                                      <m:r>
                                        <a:rPr lang="en-NZ" altLang="ja-JP" sz="1600" b="1" i="1">
                                          <a:latin typeface="Cambria Math" panose="02040503050406030204" pitchFamily="18" charset="0"/>
                                        </a:rPr>
                                        <m:t>𝑩</m:t>
                                      </m:r>
                                    </m:sub>
                                  </m:sSub>
                                </m:e>
                              </m:acc>
                              <m:r>
                                <a:rPr lang="en-NZ" altLang="ja-JP" sz="1600" b="1" i="1">
                                  <a:latin typeface="Cambria Math" panose="02040503050406030204" pitchFamily="18" charset="0"/>
                                </a:rPr>
                                <m:t> </m:t>
                              </m:r>
                            </m:e>
                          </m:d>
                        </m:num>
                        <m:den>
                          <m:r>
                            <a:rPr lang="en-NZ" altLang="ja-JP" sz="1600" b="1" i="1" smtClean="0">
                              <a:latin typeface="Cambria Math" panose="02040503050406030204" pitchFamily="18" charset="0"/>
                            </a:rPr>
                            <m:t>𝒔</m:t>
                          </m:r>
                          <m:r>
                            <a:rPr lang="en-NZ" altLang="ja-JP" sz="1600" b="1" i="1" smtClean="0">
                              <a:latin typeface="Cambria Math" panose="02040503050406030204" pitchFamily="18" charset="0"/>
                            </a:rPr>
                            <m:t> </m:t>
                          </m:r>
                          <m:rad>
                            <m:radPr>
                              <m:degHide m:val="on"/>
                              <m:ctrlPr>
                                <a:rPr lang="en-NZ" altLang="ja-JP" sz="1600" b="1" i="1" smtClean="0">
                                  <a:latin typeface="Cambria Math" panose="02040503050406030204" pitchFamily="18" charset="0"/>
                                </a:rPr>
                              </m:ctrlPr>
                            </m:radPr>
                            <m:deg/>
                            <m:e>
                              <m:sSubSup>
                                <m:sSubSupPr>
                                  <m:ctrlPr>
                                    <a:rPr lang="en-NZ" altLang="ja-JP" sz="1600" b="1" i="1" smtClean="0">
                                      <a:latin typeface="Cambria Math" panose="02040503050406030204" pitchFamily="18" charset="0"/>
                                    </a:rPr>
                                  </m:ctrlPr>
                                </m:sSubSupPr>
                                <m:e>
                                  <m:r>
                                    <a:rPr lang="en-NZ" altLang="ja-JP" sz="1600" b="1" i="1" smtClean="0">
                                      <a:latin typeface="Cambria Math" panose="02040503050406030204" pitchFamily="18" charset="0"/>
                                    </a:rPr>
                                    <m:t>𝒏</m:t>
                                  </m:r>
                                </m:e>
                                <m:sub>
                                  <m:r>
                                    <a:rPr lang="en-NZ" altLang="ja-JP" sz="1600" b="1" i="1" smtClean="0">
                                      <a:latin typeface="Cambria Math" panose="02040503050406030204" pitchFamily="18" charset="0"/>
                                    </a:rPr>
                                    <m:t>𝑨</m:t>
                                  </m:r>
                                </m:sub>
                                <m:sup>
                                  <m:r>
                                    <a:rPr lang="en-NZ" altLang="ja-JP" sz="1600" b="1" i="1" smtClean="0">
                                      <a:latin typeface="Cambria Math" panose="02040503050406030204" pitchFamily="18" charset="0"/>
                                    </a:rPr>
                                    <m:t>−</m:t>
                                  </m:r>
                                  <m:r>
                                    <a:rPr lang="en-NZ" altLang="ja-JP" sz="1600" b="1" i="1" smtClean="0">
                                      <a:latin typeface="Cambria Math" panose="02040503050406030204" pitchFamily="18" charset="0"/>
                                    </a:rPr>
                                    <m:t>𝟏</m:t>
                                  </m:r>
                                </m:sup>
                              </m:sSubSup>
                              <m:r>
                                <a:rPr lang="en-NZ" altLang="ja-JP" sz="1600" b="1" i="1" smtClean="0">
                                  <a:latin typeface="Cambria Math" panose="02040503050406030204" pitchFamily="18" charset="0"/>
                                </a:rPr>
                                <m:t>+</m:t>
                              </m:r>
                              <m:sSubSup>
                                <m:sSubSupPr>
                                  <m:ctrlPr>
                                    <a:rPr lang="en-NZ" altLang="ja-JP" sz="1600" b="1" i="1" smtClean="0">
                                      <a:latin typeface="Cambria Math" panose="02040503050406030204" pitchFamily="18" charset="0"/>
                                    </a:rPr>
                                  </m:ctrlPr>
                                </m:sSubSupPr>
                                <m:e>
                                  <m:r>
                                    <a:rPr lang="en-NZ" altLang="ja-JP" sz="1600" b="1" i="1" smtClean="0">
                                      <a:latin typeface="Cambria Math" panose="02040503050406030204" pitchFamily="18" charset="0"/>
                                    </a:rPr>
                                    <m:t>𝒏</m:t>
                                  </m:r>
                                </m:e>
                                <m:sub>
                                  <m:r>
                                    <a:rPr lang="en-NZ" altLang="ja-JP" sz="1600" b="1" i="1" smtClean="0">
                                      <a:latin typeface="Cambria Math" panose="02040503050406030204" pitchFamily="18" charset="0"/>
                                    </a:rPr>
                                    <m:t>𝑩</m:t>
                                  </m:r>
                                </m:sub>
                                <m:sup>
                                  <m:r>
                                    <a:rPr lang="en-NZ" altLang="ja-JP" sz="1600" b="1" i="1" smtClean="0">
                                      <a:latin typeface="Cambria Math" panose="02040503050406030204" pitchFamily="18" charset="0"/>
                                    </a:rPr>
                                    <m:t>−</m:t>
                                  </m:r>
                                  <m:r>
                                    <a:rPr lang="en-NZ" altLang="ja-JP" sz="1600" b="1" i="1" smtClean="0">
                                      <a:latin typeface="Cambria Math" panose="02040503050406030204" pitchFamily="18" charset="0"/>
                                    </a:rPr>
                                    <m:t>𝟏</m:t>
                                  </m:r>
                                </m:sup>
                              </m:sSubSup>
                            </m:e>
                          </m:rad>
                        </m:den>
                      </m:f>
                    </m:oMath>
                  </m:oMathPara>
                </a14:m>
                <a:endParaRPr lang="en-NZ" sz="1600" b="1" dirty="0"/>
              </a:p>
            </p:txBody>
          </p:sp>
        </mc:Choice>
        <mc:Fallback xmlns="">
          <p:sp>
            <p:nvSpPr>
              <p:cNvPr id="19" name="TextBox 18">
                <a:extLst>
                  <a:ext uri="{FF2B5EF4-FFF2-40B4-BE49-F238E27FC236}">
                    <a16:creationId xmlns:a16="http://schemas.microsoft.com/office/drawing/2014/main" id="{7E76C94C-8341-4B82-9279-C63376DBA059}"/>
                  </a:ext>
                </a:extLst>
              </p:cNvPr>
              <p:cNvSpPr txBox="1">
                <a:spLocks noRot="1" noChangeAspect="1" noMove="1" noResize="1" noEditPoints="1" noAdjustHandles="1" noChangeArrowheads="1" noChangeShapeType="1" noTextEdit="1"/>
              </p:cNvSpPr>
              <p:nvPr/>
            </p:nvSpPr>
            <p:spPr>
              <a:xfrm>
                <a:off x="6237025" y="1363389"/>
                <a:ext cx="2438401" cy="876458"/>
              </a:xfrm>
              <a:prstGeom prst="rect">
                <a:avLst/>
              </a:prstGeom>
              <a:blipFill>
                <a:blip r:embed="rId5"/>
                <a:stretch>
                  <a:fillRect/>
                </a:stretch>
              </a:blipFill>
            </p:spPr>
            <p:txBody>
              <a:bodyPr/>
              <a:lstStyle/>
              <a:p>
                <a:r>
                  <a:rPr lang="en-NZ">
                    <a:noFill/>
                  </a:rPr>
                  <a:t> </a:t>
                </a:r>
              </a:p>
            </p:txBody>
          </p:sp>
        </mc:Fallback>
      </mc:AlternateContent>
      <p:graphicFrame>
        <p:nvGraphicFramePr>
          <p:cNvPr id="18" name="Table 17">
            <a:extLst>
              <a:ext uri="{FF2B5EF4-FFF2-40B4-BE49-F238E27FC236}">
                <a16:creationId xmlns:a16="http://schemas.microsoft.com/office/drawing/2014/main" id="{E2B7321B-7B3F-4E14-A7E5-C7BF4E497687}"/>
              </a:ext>
            </a:extLst>
          </p:cNvPr>
          <p:cNvGraphicFramePr>
            <a:graphicFrameLocks noGrp="1"/>
          </p:cNvGraphicFramePr>
          <p:nvPr>
            <p:extLst>
              <p:ext uri="{D42A27DB-BD31-4B8C-83A1-F6EECF244321}">
                <p14:modId xmlns:p14="http://schemas.microsoft.com/office/powerpoint/2010/main" val="1163285873"/>
              </p:ext>
            </p:extLst>
          </p:nvPr>
        </p:nvGraphicFramePr>
        <p:xfrm>
          <a:off x="923878" y="2884075"/>
          <a:ext cx="6959598" cy="3168015"/>
        </p:xfrm>
        <a:graphic>
          <a:graphicData uri="http://schemas.openxmlformats.org/drawingml/2006/table">
            <a:tbl>
              <a:tblPr/>
              <a:tblGrid>
                <a:gridCol w="910661">
                  <a:extLst>
                    <a:ext uri="{9D8B030D-6E8A-4147-A177-3AD203B41FA5}">
                      <a16:colId xmlns:a16="http://schemas.microsoft.com/office/drawing/2014/main" val="3797648125"/>
                    </a:ext>
                  </a:extLst>
                </a:gridCol>
                <a:gridCol w="597621">
                  <a:extLst>
                    <a:ext uri="{9D8B030D-6E8A-4147-A177-3AD203B41FA5}">
                      <a16:colId xmlns:a16="http://schemas.microsoft.com/office/drawing/2014/main" val="3922497367"/>
                    </a:ext>
                  </a:extLst>
                </a:gridCol>
                <a:gridCol w="597621">
                  <a:extLst>
                    <a:ext uri="{9D8B030D-6E8A-4147-A177-3AD203B41FA5}">
                      <a16:colId xmlns:a16="http://schemas.microsoft.com/office/drawing/2014/main" val="2423406541"/>
                    </a:ext>
                  </a:extLst>
                </a:gridCol>
                <a:gridCol w="597621">
                  <a:extLst>
                    <a:ext uri="{9D8B030D-6E8A-4147-A177-3AD203B41FA5}">
                      <a16:colId xmlns:a16="http://schemas.microsoft.com/office/drawing/2014/main" val="2431600283"/>
                    </a:ext>
                  </a:extLst>
                </a:gridCol>
                <a:gridCol w="597621">
                  <a:extLst>
                    <a:ext uri="{9D8B030D-6E8A-4147-A177-3AD203B41FA5}">
                      <a16:colId xmlns:a16="http://schemas.microsoft.com/office/drawing/2014/main" val="4020919338"/>
                    </a:ext>
                  </a:extLst>
                </a:gridCol>
                <a:gridCol w="597621">
                  <a:extLst>
                    <a:ext uri="{9D8B030D-6E8A-4147-A177-3AD203B41FA5}">
                      <a16:colId xmlns:a16="http://schemas.microsoft.com/office/drawing/2014/main" val="4216006150"/>
                    </a:ext>
                  </a:extLst>
                </a:gridCol>
                <a:gridCol w="597621">
                  <a:extLst>
                    <a:ext uri="{9D8B030D-6E8A-4147-A177-3AD203B41FA5}">
                      <a16:colId xmlns:a16="http://schemas.microsoft.com/office/drawing/2014/main" val="2856709254"/>
                    </a:ext>
                  </a:extLst>
                </a:gridCol>
                <a:gridCol w="597621">
                  <a:extLst>
                    <a:ext uri="{9D8B030D-6E8A-4147-A177-3AD203B41FA5}">
                      <a16:colId xmlns:a16="http://schemas.microsoft.com/office/drawing/2014/main" val="1489137225"/>
                    </a:ext>
                  </a:extLst>
                </a:gridCol>
                <a:gridCol w="597621">
                  <a:extLst>
                    <a:ext uri="{9D8B030D-6E8A-4147-A177-3AD203B41FA5}">
                      <a16:colId xmlns:a16="http://schemas.microsoft.com/office/drawing/2014/main" val="1081675762"/>
                    </a:ext>
                  </a:extLst>
                </a:gridCol>
                <a:gridCol w="597621">
                  <a:extLst>
                    <a:ext uri="{9D8B030D-6E8A-4147-A177-3AD203B41FA5}">
                      <a16:colId xmlns:a16="http://schemas.microsoft.com/office/drawing/2014/main" val="431572087"/>
                    </a:ext>
                  </a:extLst>
                </a:gridCol>
                <a:gridCol w="670348">
                  <a:extLst>
                    <a:ext uri="{9D8B030D-6E8A-4147-A177-3AD203B41FA5}">
                      <a16:colId xmlns:a16="http://schemas.microsoft.com/office/drawing/2014/main" val="1691357691"/>
                    </a:ext>
                  </a:extLst>
                </a:gridCol>
              </a:tblGrid>
              <a:tr h="190500">
                <a:tc>
                  <a:txBody>
                    <a:bodyPr/>
                    <a:lstStyle/>
                    <a:p>
                      <a:pPr algn="ctr" fontAlgn="b"/>
                      <a:r>
                        <a:rPr lang="en-NZ" sz="16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37021257"/>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FF000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FF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89466408"/>
                  </a:ext>
                </a:extLst>
              </a:tr>
              <a:tr h="190500">
                <a:tc>
                  <a:txBody>
                    <a:bodyPr/>
                    <a:lstStyle/>
                    <a:p>
                      <a:pPr algn="ctr" fontAlgn="b"/>
                      <a:r>
                        <a:rPr lang="en-NZ" sz="1600" b="1" i="0" u="none" strike="noStrike">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16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56494094"/>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70C0"/>
                          </a:solidFill>
                          <a:effectLst/>
                          <a:latin typeface="Calibri" panose="020F0502020204030204" pitchFamily="34" charset="0"/>
                        </a:rPr>
                        <a:t>20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98880624"/>
                  </a:ext>
                </a:extLst>
              </a:tr>
              <a:tr h="190500">
                <a:tc>
                  <a:txBody>
                    <a:bodyPr/>
                    <a:lstStyle/>
                    <a:p>
                      <a:pPr algn="ctr" fontAlgn="b"/>
                      <a:r>
                        <a:rPr lang="en-NZ" sz="1600" b="1" i="0" u="none" strike="noStrike" dirty="0">
                          <a:solidFill>
                            <a:srgbClr val="FFFFFF"/>
                          </a:solidFill>
                          <a:effectLst/>
                          <a:latin typeface="Calibri" panose="020F0502020204030204" pitchFamily="34" charset="0"/>
                        </a:rPr>
                        <a:t>Group 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70C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465679320"/>
                  </a:ext>
                </a:extLst>
              </a:tr>
              <a:tr h="190500">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20773992"/>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1</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6.33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-5.33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-1.17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4.67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-2.00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2.17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8.00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-9.50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-3.67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0.50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254508448"/>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2</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1.34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2.10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-3.98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0.08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926197087"/>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3</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rgbClr val="000000"/>
                          </a:solidFill>
                          <a:effectLst/>
                          <a:latin typeface="Calibri" panose="020F0502020204030204" pitchFamily="34" charset="0"/>
                        </a:rPr>
                        <a:t>7.00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-7.00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a:solidFill>
                            <a:srgbClr val="000000"/>
                          </a:solidFill>
                          <a:effectLst/>
                          <a:latin typeface="Calibri" panose="020F0502020204030204" pitchFamily="34" charset="0"/>
                        </a:rPr>
                        <a:t>-4.50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6.00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-3.00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-0.50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8.00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-9.50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-4.00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b"/>
                      <a:r>
                        <a:rPr lang="en-NZ" sz="1600" b="0" i="0" u="none" strike="noStrike" dirty="0">
                          <a:solidFill>
                            <a:srgbClr val="000000"/>
                          </a:solidFill>
                          <a:effectLst/>
                          <a:latin typeface="Calibri" panose="020F0502020204030204" pitchFamily="34" charset="0"/>
                        </a:rPr>
                        <a:t>-1.50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088595820"/>
                  </a:ext>
                </a:extLst>
              </a:tr>
              <a:tr h="190500">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fontAlgn="b"/>
                      <a:endParaRPr lang="en-NZ"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323429170"/>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1</a:t>
                      </a:r>
                      <a:r>
                        <a:rPr lang="en-NZ" sz="1600" b="1" i="0" u="none" strike="noStrike" dirty="0">
                          <a:solidFill>
                            <a:srgbClr val="FFFFFF"/>
                          </a:solidFill>
                          <a:effectLst/>
                          <a:latin typeface="Calibri" panose="020F0502020204030204" pitchFamily="34" charset="0"/>
                        </a:rPr>
                        <a:t> Rank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79685748"/>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2</a:t>
                      </a:r>
                      <a:r>
                        <a:rPr lang="en-NZ" sz="1600" b="1" i="0" u="none" strike="noStrike" baseline="0" dirty="0">
                          <a:solidFill>
                            <a:srgbClr val="FFFFFF"/>
                          </a:solidFill>
                          <a:effectLst/>
                          <a:latin typeface="Calibri" panose="020F0502020204030204" pitchFamily="34" charset="0"/>
                        </a:rPr>
                        <a:t> Rank</a:t>
                      </a:r>
                      <a:endParaRPr lang="en-NZ" sz="16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chemeClr val="tx1"/>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257717813"/>
                  </a:ext>
                </a:extLst>
              </a:tr>
              <a:tr h="190500">
                <a:tc>
                  <a:txBody>
                    <a:bodyPr/>
                    <a:lstStyle/>
                    <a:p>
                      <a:pPr algn="ctr" fontAlgn="b"/>
                      <a:r>
                        <a:rPr lang="en-NZ" sz="1600" b="1" i="0" u="none" strike="noStrike" dirty="0">
                          <a:solidFill>
                            <a:srgbClr val="FFFFFF"/>
                          </a:solidFill>
                          <a:effectLst/>
                          <a:latin typeface="Calibri" panose="020F0502020204030204" pitchFamily="34" charset="0"/>
                        </a:rPr>
                        <a:t>F</a:t>
                      </a:r>
                      <a:r>
                        <a:rPr lang="en-NZ" sz="1600" b="1" i="0" u="none" strike="noStrike" baseline="-25000" dirty="0">
                          <a:solidFill>
                            <a:srgbClr val="FFFFFF"/>
                          </a:solidFill>
                          <a:effectLst/>
                          <a:latin typeface="Calibri" panose="020F0502020204030204" pitchFamily="34" charset="0"/>
                        </a:rPr>
                        <a:t>3</a:t>
                      </a:r>
                      <a:r>
                        <a:rPr lang="en-NZ" sz="1600" b="1" i="0" u="none" strike="noStrike" dirty="0">
                          <a:solidFill>
                            <a:srgbClr val="FFFFFF"/>
                          </a:solidFill>
                          <a:effectLst/>
                          <a:latin typeface="Calibri" panose="020F0502020204030204" pitchFamily="34" charset="0"/>
                        </a:rPr>
                        <a:t> Rank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algn="ctr" fontAlgn="b"/>
                      <a:r>
                        <a:rPr lang="en-NZ" sz="16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13727090"/>
                  </a:ext>
                </a:extLst>
              </a:tr>
            </a:tbl>
          </a:graphicData>
        </a:graphic>
      </p:graphicFrame>
      <p:sp>
        <p:nvSpPr>
          <p:cNvPr id="2" name="Oval 1">
            <a:extLst>
              <a:ext uri="{FF2B5EF4-FFF2-40B4-BE49-F238E27FC236}">
                <a16:creationId xmlns:a16="http://schemas.microsoft.com/office/drawing/2014/main" id="{A9737A54-510C-4495-8C5C-BF45DCA310C8}"/>
              </a:ext>
            </a:extLst>
          </p:cNvPr>
          <p:cNvSpPr/>
          <p:nvPr/>
        </p:nvSpPr>
        <p:spPr>
          <a:xfrm>
            <a:off x="3138984" y="5240741"/>
            <a:ext cx="337026" cy="9732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5" name="Oval 14">
            <a:extLst>
              <a:ext uri="{FF2B5EF4-FFF2-40B4-BE49-F238E27FC236}">
                <a16:creationId xmlns:a16="http://schemas.microsoft.com/office/drawing/2014/main" id="{FB954079-4132-4F2A-9ED0-1A2722F1096A}"/>
              </a:ext>
            </a:extLst>
          </p:cNvPr>
          <p:cNvSpPr/>
          <p:nvPr/>
        </p:nvSpPr>
        <p:spPr>
          <a:xfrm>
            <a:off x="4401783" y="5209427"/>
            <a:ext cx="337026" cy="9732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6" name="Oval 15">
            <a:extLst>
              <a:ext uri="{FF2B5EF4-FFF2-40B4-BE49-F238E27FC236}">
                <a16:creationId xmlns:a16="http://schemas.microsoft.com/office/drawing/2014/main" id="{63A87669-13A3-401A-A9F6-CFD600ECE9DD}"/>
              </a:ext>
            </a:extLst>
          </p:cNvPr>
          <p:cNvSpPr/>
          <p:nvPr/>
        </p:nvSpPr>
        <p:spPr>
          <a:xfrm>
            <a:off x="6785402" y="5271634"/>
            <a:ext cx="337026" cy="9732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3220446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algn="ctr"/>
            <a:r>
              <a:rPr lang="en-NZ" sz="4500" b="1" dirty="0">
                <a:solidFill>
                  <a:srgbClr val="FFC000"/>
                </a:solidFill>
              </a:rPr>
              <a:t>6.5 – Permutation Testing </a:t>
            </a:r>
          </a:p>
          <a:p>
            <a:pPr algn="ctr"/>
            <a:r>
              <a:rPr lang="en-NZ" sz="4500" b="1">
                <a:solidFill>
                  <a:srgbClr val="FFC000"/>
                </a:solidFill>
              </a:rPr>
              <a:t>in One Way </a:t>
            </a:r>
            <a:r>
              <a:rPr lang="en-NZ" sz="4500" b="1" dirty="0">
                <a:solidFill>
                  <a:srgbClr val="FFC000"/>
                </a:solidFill>
              </a:rPr>
              <a:t>ANOVA</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042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6" name="Text Placeholder 5">
            <a:extLst>
              <a:ext uri="{FF2B5EF4-FFF2-40B4-BE49-F238E27FC236}">
                <a16:creationId xmlns:a16="http://schemas.microsoft.com/office/drawing/2014/main" id="{52EFA962-0208-4D38-9729-DF13F1BC5948}"/>
              </a:ext>
            </a:extLst>
          </p:cNvPr>
          <p:cNvSpPr txBox="1">
            <a:spLocks/>
          </p:cNvSpPr>
          <p:nvPr/>
        </p:nvSpPr>
        <p:spPr>
          <a:xfrm>
            <a:off x="251224" y="921552"/>
            <a:ext cx="11232109" cy="7990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In one-way ANOVA we are interested in whether the means of </a:t>
            </a:r>
            <a:r>
              <a:rPr lang="en-NZ" altLang="ja-JP" sz="2000" b="1" i="1" dirty="0">
                <a:solidFill>
                  <a:schemeClr val="tx1"/>
                </a:solidFill>
              </a:rPr>
              <a:t>k</a:t>
            </a:r>
            <a:r>
              <a:rPr lang="en-NZ" altLang="ja-JP" sz="2000" dirty="0">
                <a:solidFill>
                  <a:schemeClr val="tx1"/>
                </a:solidFill>
              </a:rPr>
              <a:t> populations groups are the same, </a:t>
            </a:r>
          </a:p>
          <a:p>
            <a:pPr algn="just">
              <a:lnSpc>
                <a:spcPct val="100000"/>
              </a:lnSpc>
            </a:pPr>
            <a:r>
              <a:rPr lang="en-NZ" altLang="ja-JP" sz="2000" dirty="0">
                <a:solidFill>
                  <a:schemeClr val="tx1"/>
                </a:solidFill>
              </a:rPr>
              <a:t>or whether the means of at least two of the groups differ.</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7" name="Slide Number Placeholder 3">
            <a:extLst>
              <a:ext uri="{FF2B5EF4-FFF2-40B4-BE49-F238E27FC236}">
                <a16:creationId xmlns:a16="http://schemas.microsoft.com/office/drawing/2014/main" id="{220EB6BA-B65D-4DAF-B04C-77E4D13F9CC2}"/>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30</a:t>
            </a:fld>
            <a:endParaRPr kumimoji="1" lang="ja-JP" altLang="en-US" dirty="0">
              <a:solidFill>
                <a:srgbClr val="575454">
                  <a:lumMod val="20000"/>
                  <a:lumOff val="80000"/>
                </a:srgbClr>
              </a:solidFill>
              <a:latin typeface="Coo Hew"/>
            </a:endParaRPr>
          </a:p>
        </p:txBody>
      </p:sp>
      <p:sp>
        <p:nvSpPr>
          <p:cNvPr id="3" name="Text Placeholder 5">
            <a:extLst>
              <a:ext uri="{FF2B5EF4-FFF2-40B4-BE49-F238E27FC236}">
                <a16:creationId xmlns:a16="http://schemas.microsoft.com/office/drawing/2014/main" id="{257502F3-519D-A364-E3B2-B5A2C0E29EA7}"/>
              </a:ext>
            </a:extLst>
          </p:cNvPr>
          <p:cNvSpPr txBox="1">
            <a:spLocks/>
          </p:cNvSpPr>
          <p:nvPr/>
        </p:nvSpPr>
        <p:spPr>
          <a:xfrm>
            <a:off x="251224" y="1805543"/>
            <a:ext cx="10975074"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Some researchers are interested in whether the mean IQs of students studying various degrees differ. They take a sample of 1,000 Art, Biology, Chemistry, Philosophy and Statistics students and make them sit an IQ test. A snapshot of the results is shown below.</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10" name="Table 9">
            <a:extLst>
              <a:ext uri="{FF2B5EF4-FFF2-40B4-BE49-F238E27FC236}">
                <a16:creationId xmlns:a16="http://schemas.microsoft.com/office/drawing/2014/main" id="{0D566B99-B697-8DD6-EF7B-65CA467F5D9D}"/>
              </a:ext>
            </a:extLst>
          </p:cNvPr>
          <p:cNvGraphicFramePr>
            <a:graphicFrameLocks noGrp="1"/>
          </p:cNvGraphicFramePr>
          <p:nvPr>
            <p:extLst>
              <p:ext uri="{D42A27DB-BD31-4B8C-83A1-F6EECF244321}">
                <p14:modId xmlns:p14="http://schemas.microsoft.com/office/powerpoint/2010/main" val="290202017"/>
              </p:ext>
            </p:extLst>
          </p:nvPr>
        </p:nvGraphicFramePr>
        <p:xfrm>
          <a:off x="346758" y="2544866"/>
          <a:ext cx="5112130" cy="3566160"/>
        </p:xfrm>
        <a:graphic>
          <a:graphicData uri="http://schemas.openxmlformats.org/drawingml/2006/table">
            <a:tbl>
              <a:tblPr/>
              <a:tblGrid>
                <a:gridCol w="839953">
                  <a:extLst>
                    <a:ext uri="{9D8B030D-6E8A-4147-A177-3AD203B41FA5}">
                      <a16:colId xmlns:a16="http://schemas.microsoft.com/office/drawing/2014/main" val="2290176556"/>
                    </a:ext>
                  </a:extLst>
                </a:gridCol>
                <a:gridCol w="696463">
                  <a:extLst>
                    <a:ext uri="{9D8B030D-6E8A-4147-A177-3AD203B41FA5}">
                      <a16:colId xmlns:a16="http://schemas.microsoft.com/office/drawing/2014/main" val="2815517956"/>
                    </a:ext>
                  </a:extLst>
                </a:gridCol>
                <a:gridCol w="887105">
                  <a:extLst>
                    <a:ext uri="{9D8B030D-6E8A-4147-A177-3AD203B41FA5}">
                      <a16:colId xmlns:a16="http://schemas.microsoft.com/office/drawing/2014/main" val="1903702345"/>
                    </a:ext>
                  </a:extLst>
                </a:gridCol>
                <a:gridCol w="968991">
                  <a:extLst>
                    <a:ext uri="{9D8B030D-6E8A-4147-A177-3AD203B41FA5}">
                      <a16:colId xmlns:a16="http://schemas.microsoft.com/office/drawing/2014/main" val="810638113"/>
                    </a:ext>
                  </a:extLst>
                </a:gridCol>
                <a:gridCol w="928048">
                  <a:extLst>
                    <a:ext uri="{9D8B030D-6E8A-4147-A177-3AD203B41FA5}">
                      <a16:colId xmlns:a16="http://schemas.microsoft.com/office/drawing/2014/main" val="857308638"/>
                    </a:ext>
                  </a:extLst>
                </a:gridCol>
                <a:gridCol w="791570">
                  <a:extLst>
                    <a:ext uri="{9D8B030D-6E8A-4147-A177-3AD203B41FA5}">
                      <a16:colId xmlns:a16="http://schemas.microsoft.com/office/drawing/2014/main" val="4138880677"/>
                    </a:ext>
                  </a:extLst>
                </a:gridCol>
              </a:tblGrid>
              <a:tr h="201578">
                <a:tc>
                  <a:txBody>
                    <a:bodyPr/>
                    <a:lstStyle/>
                    <a:p>
                      <a:pPr algn="ctr" fontAlgn="b"/>
                      <a:r>
                        <a:rPr lang="en-NZ" sz="1400" b="1" i="0" u="none" strike="noStrike" dirty="0">
                          <a:solidFill>
                            <a:srgbClr val="FFFFFF"/>
                          </a:solidFill>
                          <a:effectLst/>
                          <a:latin typeface="Calibri" panose="020F0502020204030204" pitchFamily="34" charset="0"/>
                        </a:rPr>
                        <a:t>Student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Art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273914221"/>
                  </a:ext>
                </a:extLst>
              </a:tr>
              <a:tr h="201578">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90940709"/>
                  </a:ext>
                </a:extLst>
              </a:tr>
              <a:tr h="201578">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11734305"/>
                  </a:ext>
                </a:extLst>
              </a:tr>
              <a:tr h="201578">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35157223"/>
                  </a:ext>
                </a:extLst>
              </a:tr>
              <a:tr h="201578">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70711240"/>
                  </a:ext>
                </a:extLst>
              </a:tr>
              <a:tr h="201578">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69988802"/>
                  </a:ext>
                </a:extLst>
              </a:tr>
              <a:tr h="201578">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91709888"/>
                  </a:ext>
                </a:extLst>
              </a:tr>
              <a:tr h="201578">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32494788"/>
                  </a:ext>
                </a:extLst>
              </a:tr>
              <a:tr h="201578">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7758159"/>
                  </a:ext>
                </a:extLst>
              </a:tr>
              <a:tr h="201578">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880423"/>
                  </a:ext>
                </a:extLst>
              </a:tr>
              <a:tr h="201578">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32983865"/>
                  </a:ext>
                </a:extLst>
              </a:tr>
              <a:tr h="201578">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2414132"/>
                  </a:ext>
                </a:extLst>
              </a:tr>
              <a:tr h="201578">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42805783"/>
                  </a:ext>
                </a:extLst>
              </a:tr>
              <a:tr h="201578">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07454382"/>
                  </a:ext>
                </a:extLst>
              </a:tr>
              <a:tr h="201578">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33894883"/>
                  </a:ext>
                </a:extLst>
              </a:tr>
              <a:tr h="201578">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82969852"/>
                  </a:ext>
                </a:extLst>
              </a:tr>
            </a:tbl>
          </a:graphicData>
        </a:graphic>
      </p:graphicFrame>
      <p:sp>
        <p:nvSpPr>
          <p:cNvPr id="12" name="Text Placeholder 5">
            <a:extLst>
              <a:ext uri="{FF2B5EF4-FFF2-40B4-BE49-F238E27FC236}">
                <a16:creationId xmlns:a16="http://schemas.microsoft.com/office/drawing/2014/main" id="{9348551A-A4F5-8826-EAB3-B3C49D6AE094}"/>
              </a:ext>
            </a:extLst>
          </p:cNvPr>
          <p:cNvSpPr txBox="1">
            <a:spLocks/>
          </p:cNvSpPr>
          <p:nvPr/>
        </p:nvSpPr>
        <p:spPr>
          <a:xfrm>
            <a:off x="5656901" y="2596266"/>
            <a:ext cx="5826432"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 students studying different degrees have different mean IQs?</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pic>
        <p:nvPicPr>
          <p:cNvPr id="15" name="Picture 14">
            <a:extLst>
              <a:ext uri="{FF2B5EF4-FFF2-40B4-BE49-F238E27FC236}">
                <a16:creationId xmlns:a16="http://schemas.microsoft.com/office/drawing/2014/main" id="{FE39D38B-F794-F735-DAE0-12DD27A23F07}"/>
              </a:ext>
            </a:extLst>
          </p:cNvPr>
          <p:cNvPicPr>
            <a:picLocks noChangeAspect="1"/>
          </p:cNvPicPr>
          <p:nvPr/>
        </p:nvPicPr>
        <p:blipFill>
          <a:blip r:embed="rId2"/>
          <a:stretch>
            <a:fillRect/>
          </a:stretch>
        </p:blipFill>
        <p:spPr>
          <a:xfrm>
            <a:off x="5761191" y="3134102"/>
            <a:ext cx="5617851" cy="2432994"/>
          </a:xfrm>
          <a:prstGeom prst="rect">
            <a:avLst/>
          </a:prstGeom>
        </p:spPr>
      </p:pic>
      <p:sp>
        <p:nvSpPr>
          <p:cNvPr id="16" name="Footer Placeholder 2">
            <a:extLst>
              <a:ext uri="{FF2B5EF4-FFF2-40B4-BE49-F238E27FC236}">
                <a16:creationId xmlns:a16="http://schemas.microsoft.com/office/drawing/2014/main" id="{7D727A92-C2E1-EB27-F7A4-F116EE66D732}"/>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18" name="Picture 2" descr="Te Herenga Waka—Victoria University of Wellington | Universities New  Zealand - Te Pōkai Tara">
            <a:extLst>
              <a:ext uri="{FF2B5EF4-FFF2-40B4-BE49-F238E27FC236}">
                <a16:creationId xmlns:a16="http://schemas.microsoft.com/office/drawing/2014/main" id="{8AEBE69D-0CC9-6622-A9B1-7A698C1B16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8DD0CD90-C231-5050-46A2-CF632070D1D9}"/>
                  </a:ext>
                </a:extLst>
              </p:cNvPr>
              <p:cNvSpPr txBox="1">
                <a:spLocks/>
              </p:cNvSpPr>
              <p:nvPr/>
            </p:nvSpPr>
            <p:spPr>
              <a:xfrm>
                <a:off x="5976460" y="5756951"/>
                <a:ext cx="2867289"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a:t>
                </a:r>
                <a:r>
                  <a:rPr lang="en-NZ" altLang="ja-JP" sz="1600" b="1" baseline="-25000" dirty="0">
                    <a:solidFill>
                      <a:schemeClr val="tx1"/>
                    </a:solidFill>
                  </a:rPr>
                  <a:t>0</a:t>
                </a:r>
                <a:r>
                  <a:rPr lang="en-NZ" altLang="ja-JP" sz="1600" b="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𝒋</m:t>
                        </m:r>
                      </m:sub>
                    </m:sSub>
                  </m:oMath>
                </a14:m>
                <a:r>
                  <a:rPr lang="en-NZ" altLang="ja-JP" sz="1600" b="1" dirty="0">
                    <a:solidFill>
                      <a:schemeClr val="tx1"/>
                    </a:solidFill>
                  </a:rPr>
                  <a:t>   for all </a:t>
                </a:r>
                <a14:m>
                  <m:oMath xmlns:m="http://schemas.openxmlformats.org/officeDocument/2006/math">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oMath>
                </a14:m>
                <a:r>
                  <a:rPr lang="en-NZ" altLang="ja-JP" sz="1600" b="1" dirty="0">
                    <a:solidFill>
                      <a:schemeClr val="tx1"/>
                    </a:solidFill>
                  </a:rPr>
                  <a:t>  </a:t>
                </a:r>
              </a:p>
              <a:p>
                <a:pPr algn="just">
                  <a:lnSpc>
                    <a:spcPct val="100000"/>
                  </a:lnSpc>
                </a:pPr>
                <a:r>
                  <a:rPr lang="en-NZ" altLang="ja-JP" sz="1600" b="1" dirty="0">
                    <a:solidFill>
                      <a:schemeClr val="tx1"/>
                    </a:solidFill>
                  </a:rPr>
                  <a:t>H</a:t>
                </a:r>
                <a:r>
                  <a:rPr lang="en-NZ" altLang="ja-JP" sz="1600" b="1" baseline="-25000" dirty="0">
                    <a:solidFill>
                      <a:schemeClr val="tx1"/>
                    </a:solidFill>
                  </a:rPr>
                  <a:t>1</a:t>
                </a:r>
                <a:r>
                  <a:rPr lang="en-NZ" altLang="ja-JP" sz="1600" b="1" dirty="0">
                    <a:solidFill>
                      <a:schemeClr val="tx1"/>
                    </a:solidFill>
                  </a:rPr>
                  <a:t>: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𝝁</m:t>
                        </m:r>
                      </m:e>
                      <m:sub>
                        <m:r>
                          <a:rPr lang="en-NZ" altLang="ja-JP" sz="1600" b="1" i="1">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𝝁</m:t>
                        </m:r>
                      </m:e>
                      <m:sub>
                        <m:r>
                          <a:rPr lang="en-NZ" altLang="ja-JP" sz="1600" b="1" i="1">
                            <a:solidFill>
                              <a:schemeClr val="tx1"/>
                            </a:solidFill>
                            <a:latin typeface="Cambria Math" panose="02040503050406030204" pitchFamily="18" charset="0"/>
                          </a:rPr>
                          <m:t>𝒋</m:t>
                        </m:r>
                      </m:sub>
                    </m:sSub>
                  </m:oMath>
                </a14:m>
                <a:r>
                  <a:rPr lang="en-NZ" altLang="ja-JP" sz="1600" b="1" dirty="0">
                    <a:solidFill>
                      <a:schemeClr val="tx1"/>
                    </a:solidFill>
                  </a:rPr>
                  <a:t>   for some </a:t>
                </a:r>
                <a14:m>
                  <m:oMath xmlns:m="http://schemas.openxmlformats.org/officeDocument/2006/math">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oMath>
                </a14:m>
                <a:r>
                  <a:rPr lang="en-NZ" altLang="ja-JP" sz="1600" b="1" dirty="0">
                    <a:solidFill>
                      <a:schemeClr val="tx1"/>
                    </a:solidFill>
                  </a:rPr>
                  <a:t> </a:t>
                </a:r>
                <a:endParaRPr lang="en-NZ" altLang="ja-JP" sz="1600" dirty="0">
                  <a:solidFill>
                    <a:schemeClr val="tx1"/>
                  </a:solidFill>
                </a:endParaRPr>
              </a:p>
            </p:txBody>
          </p:sp>
        </mc:Choice>
        <mc:Fallback xmlns="">
          <p:sp>
            <p:nvSpPr>
              <p:cNvPr id="2" name="Text Placeholder 5">
                <a:extLst>
                  <a:ext uri="{FF2B5EF4-FFF2-40B4-BE49-F238E27FC236}">
                    <a16:creationId xmlns:a16="http://schemas.microsoft.com/office/drawing/2014/main" id="{8DD0CD90-C231-5050-46A2-CF632070D1D9}"/>
                  </a:ext>
                </a:extLst>
              </p:cNvPr>
              <p:cNvSpPr txBox="1">
                <a:spLocks noRot="1" noChangeAspect="1" noMove="1" noResize="1" noEditPoints="1" noAdjustHandles="1" noChangeArrowheads="1" noChangeShapeType="1" noTextEdit="1"/>
              </p:cNvSpPr>
              <p:nvPr/>
            </p:nvSpPr>
            <p:spPr>
              <a:xfrm>
                <a:off x="5976460" y="5756951"/>
                <a:ext cx="2867289" cy="695961"/>
              </a:xfrm>
              <a:prstGeom prst="rect">
                <a:avLst/>
              </a:prstGeom>
              <a:blipFill>
                <a:blip r:embed="rId4"/>
                <a:stretch>
                  <a:fillRect l="-1062" t="-1739"/>
                </a:stretch>
              </a:blipFill>
            </p:spPr>
            <p:txBody>
              <a:bodyPr/>
              <a:lstStyle/>
              <a:p>
                <a:r>
                  <a:rPr lang="en-NZ">
                    <a:noFill/>
                  </a:rPr>
                  <a:t> </a:t>
                </a:r>
              </a:p>
            </p:txBody>
          </p:sp>
        </mc:Fallback>
      </mc:AlternateContent>
    </p:spTree>
    <p:extLst>
      <p:ext uri="{BB962C8B-B14F-4D97-AF65-F5344CB8AC3E}">
        <p14:creationId xmlns:p14="http://schemas.microsoft.com/office/powerpoint/2010/main" val="168760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903964"/>
            <a:ext cx="704286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51225" y="2752557"/>
            <a:ext cx="533071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51222" y="3160571"/>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51222" y="3160571"/>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91145" y="3638380"/>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91145" y="3638380"/>
                <a:ext cx="6286057" cy="815449"/>
              </a:xfrm>
              <a:prstGeom prst="rect">
                <a:avLst/>
              </a:prstGeom>
              <a:blipFill>
                <a:blip r:embed="rId3"/>
                <a:stretch>
                  <a:fillRect l="-582" t="-2239"/>
                </a:stretch>
              </a:blipFill>
            </p:spPr>
            <p:txBody>
              <a:bodyPr/>
              <a:lstStyle/>
              <a:p>
                <a:r>
                  <a:rPr lang="en-NZ">
                    <a:noFill/>
                  </a:rPr>
                  <a:t> </a:t>
                </a:r>
              </a:p>
            </p:txBody>
          </p:sp>
        </mc:Fallback>
      </mc:AlternateContent>
      <p:sp>
        <p:nvSpPr>
          <p:cNvPr id="28" name="Slide Number Placeholder 3">
            <a:extLst>
              <a:ext uri="{FF2B5EF4-FFF2-40B4-BE49-F238E27FC236}">
                <a16:creationId xmlns:a16="http://schemas.microsoft.com/office/drawing/2014/main" id="{765C6191-57EC-4F1D-A2DB-FCC39A970C3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31</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0DBDCE23-3D6D-CA83-D328-DBF7C51918C9}"/>
                  </a:ext>
                </a:extLst>
              </p:cNvPr>
              <p:cNvSpPr txBox="1">
                <a:spLocks/>
              </p:cNvSpPr>
              <p:nvPr/>
            </p:nvSpPr>
            <p:spPr>
              <a:xfrm>
                <a:off x="6481796" y="3190601"/>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33" name="Text Placeholder 5">
                <a:extLst>
                  <a:ext uri="{FF2B5EF4-FFF2-40B4-BE49-F238E27FC236}">
                    <a16:creationId xmlns:a16="http://schemas.microsoft.com/office/drawing/2014/main" id="{0DBDCE23-3D6D-CA83-D328-DBF7C51918C9}"/>
                  </a:ext>
                </a:extLst>
              </p:cNvPr>
              <p:cNvSpPr txBox="1">
                <a:spLocks noRot="1" noChangeAspect="1" noMove="1" noResize="1" noEditPoints="1" noAdjustHandles="1" noChangeArrowheads="1" noChangeShapeType="1" noTextEdit="1"/>
              </p:cNvSpPr>
              <p:nvPr/>
            </p:nvSpPr>
            <p:spPr>
              <a:xfrm>
                <a:off x="6481796" y="3190601"/>
                <a:ext cx="2359788" cy="474953"/>
              </a:xfrm>
              <a:prstGeom prst="rect">
                <a:avLst/>
              </a:prstGeom>
              <a:blipFill>
                <a:blip r:embed="rId11"/>
                <a:stretch>
                  <a:fillRect/>
                </a:stretch>
              </a:blipFill>
            </p:spPr>
            <p:txBody>
              <a:bodyPr/>
              <a:lstStyle/>
              <a:p>
                <a:r>
                  <a:rPr lang="en-NZ">
                    <a:noFill/>
                  </a:rPr>
                  <a:t> </a:t>
                </a:r>
              </a:p>
            </p:txBody>
          </p:sp>
        </mc:Fallback>
      </mc:AlternateContent>
      <p:sp>
        <p:nvSpPr>
          <p:cNvPr id="2" name="Title 6">
            <a:extLst>
              <a:ext uri="{FF2B5EF4-FFF2-40B4-BE49-F238E27FC236}">
                <a16:creationId xmlns:a16="http://schemas.microsoft.com/office/drawing/2014/main" id="{80C7844B-FDBC-D4EA-174C-766B53C2418B}"/>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0096C100-DDCC-31A5-5E6E-FD509BF061D5}"/>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5" name="Picture 2" descr="Te Herenga Waka—Victoria University of Wellington | Universities New  Zealand - Te Pōkai Tara">
            <a:extLst>
              <a:ext uri="{FF2B5EF4-FFF2-40B4-BE49-F238E27FC236}">
                <a16:creationId xmlns:a16="http://schemas.microsoft.com/office/drawing/2014/main" id="{98F5F263-ED51-A373-E1C1-04E18971187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80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3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E86A1F96-43CE-B4F6-31E3-6EA2413C505E}"/>
              </a:ext>
            </a:extLst>
          </p:cNvPr>
          <p:cNvPicPr>
            <a:picLocks noChangeAspect="1"/>
          </p:cNvPicPr>
          <p:nvPr/>
        </p:nvPicPr>
        <p:blipFill>
          <a:blip r:embed="rId2"/>
          <a:stretch>
            <a:fillRect/>
          </a:stretch>
        </p:blipFill>
        <p:spPr>
          <a:xfrm>
            <a:off x="1612272" y="2741247"/>
            <a:ext cx="2664025" cy="1330657"/>
          </a:xfrm>
          <a:prstGeom prst="rect">
            <a:avLst/>
          </a:prstGeom>
        </p:spPr>
      </p:pic>
      <p:pic>
        <p:nvPicPr>
          <p:cNvPr id="23" name="Picture 22">
            <a:extLst>
              <a:ext uri="{FF2B5EF4-FFF2-40B4-BE49-F238E27FC236}">
                <a16:creationId xmlns:a16="http://schemas.microsoft.com/office/drawing/2014/main" id="{3DC64634-84B9-979E-6326-3C2D980A8A88}"/>
              </a:ext>
            </a:extLst>
          </p:cNvPr>
          <p:cNvPicPr>
            <a:picLocks noChangeAspect="1"/>
          </p:cNvPicPr>
          <p:nvPr/>
        </p:nvPicPr>
        <p:blipFill>
          <a:blip r:embed="rId2"/>
          <a:stretch>
            <a:fillRect/>
          </a:stretch>
        </p:blipFill>
        <p:spPr>
          <a:xfrm>
            <a:off x="7634566" y="2794378"/>
            <a:ext cx="2664025" cy="1330657"/>
          </a:xfrm>
          <a:prstGeom prst="rect">
            <a:avLst/>
          </a:prstGeom>
        </p:spPr>
      </p:pic>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097204" y="1087900"/>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𝒀</m:t>
                        </m:r>
                      </m:e>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𝒋</m:t>
                        </m:r>
                      </m:sub>
                    </m:sSub>
                    <m:r>
                      <a:rPr lang="en-NZ" altLang="ja-JP" sz="2000" b="1" i="1" smtClean="0">
                        <a:solidFill>
                          <a:schemeClr val="tx1"/>
                        </a:solidFill>
                        <a:latin typeface="Cambria Math" panose="02040503050406030204" pitchFamily="18" charset="0"/>
                      </a:rPr>
                      <m:t>   =     </m:t>
                    </m:r>
                    <m:r>
                      <a:rPr lang="en-NZ" altLang="ja-JP" sz="2000" b="1" i="1" smtClean="0">
                        <a:solidFill>
                          <a:schemeClr val="tx1"/>
                        </a:solidFill>
                        <a:latin typeface="Cambria Math" panose="02040503050406030204" pitchFamily="18" charset="0"/>
                      </a:rPr>
                      <m:t>𝝁</m:t>
                    </m:r>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𝝐</m:t>
                        </m:r>
                      </m:e>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𝒋</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𝝐</m:t>
                        </m:r>
                      </m:e>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p>
              <a:p>
                <a:pPr algn="just">
                  <a:lnSpc>
                    <a:spcPct val="100000"/>
                  </a:lnSpc>
                </a:pPr>
                <a:endParaRPr lang="en-NZ" altLang="ja-JP" sz="2000" b="1" dirty="0">
                  <a:solidFill>
                    <a:schemeClr val="tx1"/>
                  </a:solidFill>
                </a:endParaRPr>
              </a:p>
              <a:p>
                <a:pPr algn="just">
                  <a:lnSpc>
                    <a:spcPct val="100000"/>
                  </a:lnSpc>
                </a:pPr>
                <a:endParaRPr lang="en-NZ" altLang="ja-JP" sz="2000" b="1" i="1" dirty="0">
                  <a:solidFill>
                    <a:schemeClr val="tx1"/>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097204" y="1087900"/>
                <a:ext cx="7997592" cy="474953"/>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32</a:t>
            </a:fld>
            <a:endParaRPr kumimoji="1" lang="ja-JP" altLang="en-US" dirty="0">
              <a:solidFill>
                <a:srgbClr val="575454">
                  <a:lumMod val="20000"/>
                  <a:lumOff val="80000"/>
                </a:srgbClr>
              </a:solidFill>
              <a:latin typeface="Coo Hew"/>
            </a:endParaRPr>
          </a:p>
        </p:txBody>
      </p:sp>
      <p:cxnSp>
        <p:nvCxnSpPr>
          <p:cNvPr id="3" name="Straight Connector 2">
            <a:extLst>
              <a:ext uri="{FF2B5EF4-FFF2-40B4-BE49-F238E27FC236}">
                <a16:creationId xmlns:a16="http://schemas.microsoft.com/office/drawing/2014/main" id="{3C6821EE-A317-E049-8E5E-F4D8A0FCFDA0}"/>
              </a:ext>
            </a:extLst>
          </p:cNvPr>
          <p:cNvCxnSpPr>
            <a:cxnSpLocks/>
          </p:cNvCxnSpPr>
          <p:nvPr/>
        </p:nvCxnSpPr>
        <p:spPr>
          <a:xfrm>
            <a:off x="1114568" y="4094329"/>
            <a:ext cx="9962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D433551E-78AB-B4D3-763A-BC455D1D8B1A}"/>
              </a:ext>
            </a:extLst>
          </p:cNvPr>
          <p:cNvSpPr/>
          <p:nvPr/>
        </p:nvSpPr>
        <p:spPr>
          <a:xfrm>
            <a:off x="5952699" y="3951027"/>
            <a:ext cx="286603" cy="28660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0" name="Oval 19">
            <a:extLst>
              <a:ext uri="{FF2B5EF4-FFF2-40B4-BE49-F238E27FC236}">
                <a16:creationId xmlns:a16="http://schemas.microsoft.com/office/drawing/2014/main" id="{76C023CB-14E6-4370-A9FD-6461C4CDB7E5}"/>
              </a:ext>
            </a:extLst>
          </p:cNvPr>
          <p:cNvSpPr/>
          <p:nvPr/>
        </p:nvSpPr>
        <p:spPr>
          <a:xfrm>
            <a:off x="8823276"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6" name="Straight Arrow Connector 5">
            <a:extLst>
              <a:ext uri="{FF2B5EF4-FFF2-40B4-BE49-F238E27FC236}">
                <a16:creationId xmlns:a16="http://schemas.microsoft.com/office/drawing/2014/main" id="{BD7B6A4F-569D-955C-161B-7196F86CE059}"/>
              </a:ext>
            </a:extLst>
          </p:cNvPr>
          <p:cNvCxnSpPr>
            <a:cxnSpLocks/>
            <a:stCxn id="25" idx="3"/>
          </p:cNvCxnSpPr>
          <p:nvPr/>
        </p:nvCxnSpPr>
        <p:spPr>
          <a:xfrm>
            <a:off x="6367818" y="4488099"/>
            <a:ext cx="2107439" cy="2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0DEF057B-7393-208D-3722-9C1B2D677044}"/>
                  </a:ext>
                </a:extLst>
              </p:cNvPr>
              <p:cNvSpPr txBox="1">
                <a:spLocks/>
              </p:cNvSpPr>
              <p:nvPr/>
            </p:nvSpPr>
            <p:spPr>
              <a:xfrm>
                <a:off x="5824182" y="4250622"/>
                <a:ext cx="543636"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Group"/>
                    </m:oMathParaPr>
                    <m:oMath xmlns:m="http://schemas.openxmlformats.org/officeDocument/2006/math">
                      <m:r>
                        <a:rPr lang="en-NZ" altLang="ja-JP" sz="2000" b="1" i="1" smtClean="0">
                          <a:solidFill>
                            <a:schemeClr val="tx1"/>
                          </a:solidFill>
                          <a:latin typeface="Cambria Math" panose="02040503050406030204" pitchFamily="18" charset="0"/>
                        </a:rPr>
                        <m:t>𝝁</m:t>
                      </m:r>
                    </m:oMath>
                  </m:oMathPara>
                </a14:m>
                <a:endParaRPr lang="en-NZ" altLang="ja-JP" sz="2000" b="1" dirty="0">
                  <a:solidFill>
                    <a:schemeClr val="tx1"/>
                  </a:solidFill>
                </a:endParaRPr>
              </a:p>
              <a:p>
                <a:pPr algn="just">
                  <a:lnSpc>
                    <a:spcPct val="100000"/>
                  </a:lnSpc>
                </a:pPr>
                <a:endParaRPr lang="en-NZ" altLang="ja-JP" sz="2000" b="1" dirty="0">
                  <a:solidFill>
                    <a:schemeClr val="tx1"/>
                  </a:solidFill>
                </a:endParaRPr>
              </a:p>
              <a:p>
                <a:pPr algn="just">
                  <a:lnSpc>
                    <a:spcPct val="100000"/>
                  </a:lnSpc>
                </a:pPr>
                <a:endParaRPr lang="en-NZ" altLang="ja-JP" sz="2000" b="1" i="1" dirty="0">
                  <a:solidFill>
                    <a:schemeClr val="tx1"/>
                  </a:solidFill>
                </a:endParaRPr>
              </a:p>
            </p:txBody>
          </p:sp>
        </mc:Choice>
        <mc:Fallback xmlns="">
          <p:sp>
            <p:nvSpPr>
              <p:cNvPr id="25" name="Text Placeholder 5">
                <a:extLst>
                  <a:ext uri="{FF2B5EF4-FFF2-40B4-BE49-F238E27FC236}">
                    <a16:creationId xmlns:a16="http://schemas.microsoft.com/office/drawing/2014/main" id="{0DEF057B-7393-208D-3722-9C1B2D677044}"/>
                  </a:ext>
                </a:extLst>
              </p:cNvPr>
              <p:cNvSpPr txBox="1">
                <a:spLocks noRot="1" noChangeAspect="1" noMove="1" noResize="1" noEditPoints="1" noAdjustHandles="1" noChangeArrowheads="1" noChangeShapeType="1" noTextEdit="1"/>
              </p:cNvSpPr>
              <p:nvPr/>
            </p:nvSpPr>
            <p:spPr>
              <a:xfrm>
                <a:off x="5824182" y="4250622"/>
                <a:ext cx="543636"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5F3BB90-89BC-5219-0CD7-2C7B4D97A5F2}"/>
                  </a:ext>
                </a:extLst>
              </p:cNvPr>
              <p:cNvSpPr txBox="1">
                <a:spLocks/>
              </p:cNvSpPr>
              <p:nvPr/>
            </p:nvSpPr>
            <p:spPr>
              <a:xfrm>
                <a:off x="8475257" y="4271788"/>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𝝁</m:t>
                      </m:r>
                      <m:r>
                        <a:rPr lang="en-NZ" altLang="ja-JP" sz="2000" b="1" i="0" smtClean="0">
                          <a:solidFill>
                            <a:schemeClr val="tx1"/>
                          </a:solidFill>
                          <a:latin typeface="Cambria Math" panose="02040503050406030204" pitchFamily="18" charset="0"/>
                        </a:rPr>
                        <m:t>+</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𝟏</m:t>
                          </m:r>
                        </m:sub>
                      </m:sSub>
                    </m:oMath>
                  </m:oMathPara>
                </a14:m>
                <a:br>
                  <a:rPr lang="en-NZ" altLang="ja-JP" sz="2000" b="1" dirty="0">
                    <a:solidFill>
                      <a:schemeClr val="tx1"/>
                    </a:solidFill>
                  </a:rPr>
                </a:b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26" name="Text Placeholder 5">
                <a:extLst>
                  <a:ext uri="{FF2B5EF4-FFF2-40B4-BE49-F238E27FC236}">
                    <a16:creationId xmlns:a16="http://schemas.microsoft.com/office/drawing/2014/main" id="{75F3BB90-89BC-5219-0CD7-2C7B4D97A5F2}"/>
                  </a:ext>
                </a:extLst>
              </p:cNvPr>
              <p:cNvSpPr txBox="1">
                <a:spLocks noRot="1" noChangeAspect="1" noMove="1" noResize="1" noEditPoints="1" noAdjustHandles="1" noChangeArrowheads="1" noChangeShapeType="1" noTextEdit="1"/>
              </p:cNvSpPr>
              <p:nvPr/>
            </p:nvSpPr>
            <p:spPr>
              <a:xfrm>
                <a:off x="8475257" y="4271788"/>
                <a:ext cx="982639" cy="453788"/>
              </a:xfrm>
              <a:prstGeom prst="rect">
                <a:avLst/>
              </a:prstGeom>
              <a:blipFill>
                <a:blip r:embed="rId5"/>
                <a:stretch>
                  <a:fillRect/>
                </a:stretch>
              </a:blipFill>
            </p:spPr>
            <p:txBody>
              <a:bodyPr/>
              <a:lstStyle/>
              <a:p>
                <a:r>
                  <a:rPr lang="en-NZ">
                    <a:noFill/>
                  </a:rPr>
                  <a:t> </a:t>
                </a:r>
              </a:p>
            </p:txBody>
          </p:sp>
        </mc:Fallback>
      </mc:AlternateContent>
      <p:cxnSp>
        <p:nvCxnSpPr>
          <p:cNvPr id="30" name="Straight Connector 29">
            <a:extLst>
              <a:ext uri="{FF2B5EF4-FFF2-40B4-BE49-F238E27FC236}">
                <a16:creationId xmlns:a16="http://schemas.microsoft.com/office/drawing/2014/main" id="{C936937E-8A93-790E-5B50-ECA6F9CB0A9B}"/>
              </a:ext>
            </a:extLst>
          </p:cNvPr>
          <p:cNvCxnSpPr/>
          <p:nvPr/>
        </p:nvCxnSpPr>
        <p:spPr>
          <a:xfrm>
            <a:off x="9689910" y="3698543"/>
            <a:ext cx="0" cy="39578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92C82E0C-54B1-0B11-6DBB-35C60C58F3D2}"/>
                  </a:ext>
                </a:extLst>
              </p:cNvPr>
              <p:cNvSpPr txBox="1">
                <a:spLocks/>
              </p:cNvSpPr>
              <p:nvPr/>
            </p:nvSpPr>
            <p:spPr>
              <a:xfrm>
                <a:off x="9315950" y="4096723"/>
                <a:ext cx="982639"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rgbClr val="0070C0"/>
                              </a:solidFill>
                              <a:latin typeface="Cambria Math" panose="02040503050406030204" pitchFamily="18" charset="0"/>
                            </a:rPr>
                          </m:ctrlPr>
                        </m:sSubPr>
                        <m:e>
                          <m:r>
                            <a:rPr lang="en-NZ" altLang="ja-JP" sz="2000" b="1" i="1" smtClean="0">
                              <a:solidFill>
                                <a:srgbClr val="0070C0"/>
                              </a:solidFill>
                              <a:latin typeface="Cambria Math" panose="02040503050406030204" pitchFamily="18" charset="0"/>
                            </a:rPr>
                            <m:t>𝒀</m:t>
                          </m:r>
                        </m:e>
                        <m:sub>
                          <m:r>
                            <a:rPr lang="en-NZ" altLang="ja-JP" sz="2000" b="1" i="1" smtClean="0">
                              <a:solidFill>
                                <a:srgbClr val="0070C0"/>
                              </a:solidFill>
                              <a:latin typeface="Cambria Math" panose="02040503050406030204" pitchFamily="18" charset="0"/>
                            </a:rPr>
                            <m:t>𝟏</m:t>
                          </m:r>
                          <m:r>
                            <a:rPr lang="en-NZ" altLang="ja-JP" sz="2000" b="1" i="1" smtClean="0">
                              <a:solidFill>
                                <a:srgbClr val="0070C0"/>
                              </a:solidFill>
                              <a:latin typeface="Cambria Math" panose="02040503050406030204" pitchFamily="18" charset="0"/>
                            </a:rPr>
                            <m:t>,</m:t>
                          </m:r>
                          <m:r>
                            <a:rPr lang="en-NZ" altLang="ja-JP" sz="2000" b="1" i="1" smtClean="0">
                              <a:solidFill>
                                <a:srgbClr val="0070C0"/>
                              </a:solidFill>
                              <a:latin typeface="Cambria Math" panose="02040503050406030204" pitchFamily="18" charset="0"/>
                            </a:rPr>
                            <m:t>𝒋</m:t>
                          </m:r>
                        </m:sub>
                      </m:sSub>
                    </m:oMath>
                  </m:oMathPara>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1" name="Text Placeholder 5">
                <a:extLst>
                  <a:ext uri="{FF2B5EF4-FFF2-40B4-BE49-F238E27FC236}">
                    <a16:creationId xmlns:a16="http://schemas.microsoft.com/office/drawing/2014/main" id="{92C82E0C-54B1-0B11-6DBB-35C60C58F3D2}"/>
                  </a:ext>
                </a:extLst>
              </p:cNvPr>
              <p:cNvSpPr txBox="1">
                <a:spLocks noRot="1" noChangeAspect="1" noMove="1" noResize="1" noEditPoints="1" noAdjustHandles="1" noChangeArrowheads="1" noChangeShapeType="1" noTextEdit="1"/>
              </p:cNvSpPr>
              <p:nvPr/>
            </p:nvSpPr>
            <p:spPr>
              <a:xfrm>
                <a:off x="9315950" y="4096723"/>
                <a:ext cx="982639" cy="453789"/>
              </a:xfrm>
              <a:prstGeom prst="rect">
                <a:avLst/>
              </a:prstGeom>
              <a:blipFill>
                <a:blip r:embed="rId6"/>
                <a:stretch>
                  <a:fillRect b="-54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2858A14-69D9-BAE8-A179-A6351391BD07}"/>
                  </a:ext>
                </a:extLst>
              </p:cNvPr>
              <p:cNvSpPr txBox="1">
                <a:spLocks/>
              </p:cNvSpPr>
              <p:nvPr/>
            </p:nvSpPr>
            <p:spPr>
              <a:xfrm>
                <a:off x="570010" y="1779107"/>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dirty="0">
                    <a:solidFill>
                      <a:srgbClr val="0070C0"/>
                    </a:solidFill>
                  </a:rPr>
                  <a:t>Consider modelling </a:t>
                </a:r>
                <a14:m>
                  <m:oMath xmlns:m="http://schemas.openxmlformats.org/officeDocument/2006/math">
                    <m:sSub>
                      <m:sSubPr>
                        <m:ctrlPr>
                          <a:rPr lang="en-NZ" altLang="ja-JP" sz="2000" b="1" i="1" smtClean="0">
                            <a:solidFill>
                              <a:srgbClr val="0070C0"/>
                            </a:solidFill>
                            <a:latin typeface="Cambria Math" panose="02040503050406030204" pitchFamily="18" charset="0"/>
                          </a:rPr>
                        </m:ctrlPr>
                      </m:sSubPr>
                      <m:e>
                        <m:r>
                          <a:rPr lang="en-NZ" altLang="ja-JP" sz="2000" b="1" i="1" smtClean="0">
                            <a:solidFill>
                              <a:srgbClr val="0070C0"/>
                            </a:solidFill>
                            <a:latin typeface="Cambria Math" panose="02040503050406030204" pitchFamily="18" charset="0"/>
                          </a:rPr>
                          <m:t>𝒀</m:t>
                        </m:r>
                      </m:e>
                      <m:sub>
                        <m:r>
                          <a:rPr lang="en-NZ" altLang="ja-JP" sz="2000" b="1" i="1" smtClean="0">
                            <a:solidFill>
                              <a:srgbClr val="0070C0"/>
                            </a:solidFill>
                            <a:latin typeface="Cambria Math" panose="02040503050406030204" pitchFamily="18" charset="0"/>
                          </a:rPr>
                          <m:t>𝟏</m:t>
                        </m:r>
                        <m:r>
                          <a:rPr lang="en-NZ" altLang="ja-JP" sz="2000" b="1" i="1" smtClean="0">
                            <a:solidFill>
                              <a:srgbClr val="0070C0"/>
                            </a:solidFill>
                            <a:latin typeface="Cambria Math" panose="02040503050406030204" pitchFamily="18" charset="0"/>
                          </a:rPr>
                          <m:t>,</m:t>
                        </m:r>
                        <m:r>
                          <a:rPr lang="en-NZ" altLang="ja-JP" sz="2000" b="1" i="1" smtClean="0">
                            <a:solidFill>
                              <a:srgbClr val="0070C0"/>
                            </a:solidFill>
                            <a:latin typeface="Cambria Math" panose="02040503050406030204" pitchFamily="18" charset="0"/>
                          </a:rPr>
                          <m:t>𝒋</m:t>
                        </m:r>
                      </m:sub>
                    </m:sSub>
                  </m:oMath>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2" name="Text Placeholder 5">
                <a:extLst>
                  <a:ext uri="{FF2B5EF4-FFF2-40B4-BE49-F238E27FC236}">
                    <a16:creationId xmlns:a16="http://schemas.microsoft.com/office/drawing/2014/main" id="{F2858A14-69D9-BAE8-A179-A6351391BD07}"/>
                  </a:ext>
                </a:extLst>
              </p:cNvPr>
              <p:cNvSpPr txBox="1">
                <a:spLocks noRot="1" noChangeAspect="1" noMove="1" noResize="1" noEditPoints="1" noAdjustHandles="1" noChangeArrowheads="1" noChangeShapeType="1" noTextEdit="1"/>
              </p:cNvSpPr>
              <p:nvPr/>
            </p:nvSpPr>
            <p:spPr>
              <a:xfrm>
                <a:off x="570010" y="1779107"/>
                <a:ext cx="3305954" cy="453789"/>
              </a:xfrm>
              <a:prstGeom prst="rect">
                <a:avLst/>
              </a:prstGeom>
              <a:blipFill>
                <a:blip r:embed="rId7"/>
                <a:stretch>
                  <a:fillRect t="-6757" b="-135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C6DFD2C-B76D-C299-2F43-2D11D0E8B0B7}"/>
                  </a:ext>
                </a:extLst>
              </p:cNvPr>
              <p:cNvSpPr txBox="1">
                <a:spLocks/>
              </p:cNvSpPr>
              <p:nvPr/>
            </p:nvSpPr>
            <p:spPr>
              <a:xfrm>
                <a:off x="6782720" y="4071904"/>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𝟏</m:t>
                          </m:r>
                        </m:sub>
                      </m:sSub>
                      <m:r>
                        <a:rPr lang="en-NZ" altLang="ja-JP" sz="2000" b="1" i="1" smtClean="0">
                          <a:solidFill>
                            <a:schemeClr val="tx1"/>
                          </a:solidFill>
                          <a:latin typeface="Cambria Math" panose="02040503050406030204" pitchFamily="18" charset="0"/>
                        </a:rPr>
                        <m:t>&gt;</m:t>
                      </m:r>
                      <m:r>
                        <a:rPr lang="en-NZ" altLang="ja-JP" sz="2000" b="1" i="1" smtClean="0">
                          <a:solidFill>
                            <a:schemeClr val="tx1"/>
                          </a:solidFill>
                          <a:latin typeface="Cambria Math" panose="02040503050406030204" pitchFamily="18" charset="0"/>
                        </a:rPr>
                        <m:t>𝟎</m:t>
                      </m:r>
                    </m:oMath>
                  </m:oMathPara>
                </a14:m>
                <a:br>
                  <a:rPr lang="en-NZ" altLang="ja-JP" sz="2000" b="1" dirty="0">
                    <a:solidFill>
                      <a:schemeClr val="tx1"/>
                    </a:solidFill>
                  </a:rPr>
                </a:br>
                <a:endParaRPr lang="en-NZ" altLang="ja-JP" sz="2000" b="1" i="1" dirty="0">
                  <a:solidFill>
                    <a:schemeClr val="tx1"/>
                  </a:solidFill>
                </a:endParaRPr>
              </a:p>
            </p:txBody>
          </p:sp>
        </mc:Choice>
        <mc:Fallback xmlns="">
          <p:sp>
            <p:nvSpPr>
              <p:cNvPr id="33" name="Text Placeholder 5">
                <a:extLst>
                  <a:ext uri="{FF2B5EF4-FFF2-40B4-BE49-F238E27FC236}">
                    <a16:creationId xmlns:a16="http://schemas.microsoft.com/office/drawing/2014/main" id="{9C6DFD2C-B76D-C299-2F43-2D11D0E8B0B7}"/>
                  </a:ext>
                </a:extLst>
              </p:cNvPr>
              <p:cNvSpPr txBox="1">
                <a:spLocks noRot="1" noChangeAspect="1" noMove="1" noResize="1" noEditPoints="1" noAdjustHandles="1" noChangeArrowheads="1" noChangeShapeType="1" noTextEdit="1"/>
              </p:cNvSpPr>
              <p:nvPr/>
            </p:nvSpPr>
            <p:spPr>
              <a:xfrm>
                <a:off x="6782720" y="4071904"/>
                <a:ext cx="1132980" cy="538640"/>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155E40BF-1FA8-F397-5D66-F3A695A87018}"/>
                  </a:ext>
                </a:extLst>
              </p:cNvPr>
              <p:cNvSpPr txBox="1">
                <a:spLocks/>
              </p:cNvSpPr>
              <p:nvPr/>
            </p:nvSpPr>
            <p:spPr>
              <a:xfrm>
                <a:off x="8475256" y="4626812"/>
                <a:ext cx="982639" cy="10847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m:t>
                      </m:r>
                    </m:oMath>
                  </m:oMathPara>
                </a14:m>
                <a:endParaRPr lang="en-NZ" altLang="ja-JP" sz="2000" b="1" dirty="0">
                  <a:solidFill>
                    <a:schemeClr val="tx1"/>
                  </a:solidFill>
                </a:endParaRPr>
              </a:p>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𝟏</m:t>
                          </m:r>
                        </m:sub>
                      </m:sSub>
                    </m:oMath>
                  </m:oMathPara>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4" name="Text Placeholder 5">
                <a:extLst>
                  <a:ext uri="{FF2B5EF4-FFF2-40B4-BE49-F238E27FC236}">
                    <a16:creationId xmlns:a16="http://schemas.microsoft.com/office/drawing/2014/main" id="{155E40BF-1FA8-F397-5D66-F3A695A87018}"/>
                  </a:ext>
                </a:extLst>
              </p:cNvPr>
              <p:cNvSpPr txBox="1">
                <a:spLocks noRot="1" noChangeAspect="1" noMove="1" noResize="1" noEditPoints="1" noAdjustHandles="1" noChangeArrowheads="1" noChangeShapeType="1" noTextEdit="1"/>
              </p:cNvSpPr>
              <p:nvPr/>
            </p:nvSpPr>
            <p:spPr>
              <a:xfrm>
                <a:off x="8475256" y="4626812"/>
                <a:ext cx="982639" cy="1084773"/>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F21B1B26-F3F2-85D4-08E0-50DD0EC27E86}"/>
                  </a:ext>
                </a:extLst>
              </p:cNvPr>
              <p:cNvSpPr txBox="1">
                <a:spLocks/>
              </p:cNvSpPr>
              <p:nvPr/>
            </p:nvSpPr>
            <p:spPr>
              <a:xfrm>
                <a:off x="570010" y="2232896"/>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dirty="0">
                    <a:solidFill>
                      <a:srgbClr val="C00000"/>
                    </a:solidFill>
                  </a:rPr>
                  <a:t>Consider modelling </a:t>
                </a:r>
                <a14:m>
                  <m:oMath xmlns:m="http://schemas.openxmlformats.org/officeDocument/2006/math">
                    <m:sSub>
                      <m:sSubPr>
                        <m:ctrlPr>
                          <a:rPr lang="en-NZ" altLang="ja-JP" sz="2000" b="1" i="1" smtClean="0">
                            <a:solidFill>
                              <a:srgbClr val="C00000"/>
                            </a:solidFill>
                            <a:latin typeface="Cambria Math" panose="02040503050406030204" pitchFamily="18" charset="0"/>
                          </a:rPr>
                        </m:ctrlPr>
                      </m:sSubPr>
                      <m:e>
                        <m:r>
                          <a:rPr lang="en-NZ" altLang="ja-JP" sz="2000" b="1" i="1" smtClean="0">
                            <a:solidFill>
                              <a:srgbClr val="C00000"/>
                            </a:solidFill>
                            <a:latin typeface="Cambria Math" panose="02040503050406030204" pitchFamily="18" charset="0"/>
                          </a:rPr>
                          <m:t>𝒀</m:t>
                        </m:r>
                      </m:e>
                      <m:sub>
                        <m:r>
                          <a:rPr lang="en-NZ" altLang="ja-JP" sz="2000" b="1" i="1" smtClean="0">
                            <a:solidFill>
                              <a:srgbClr val="C00000"/>
                            </a:solidFill>
                            <a:latin typeface="Cambria Math" panose="02040503050406030204" pitchFamily="18" charset="0"/>
                          </a:rPr>
                          <m:t>𝟐</m:t>
                        </m:r>
                        <m:r>
                          <a:rPr lang="en-NZ" altLang="ja-JP" sz="2000" b="1" i="1" smtClean="0">
                            <a:solidFill>
                              <a:srgbClr val="C00000"/>
                            </a:solidFill>
                            <a:latin typeface="Cambria Math" panose="02040503050406030204" pitchFamily="18" charset="0"/>
                          </a:rPr>
                          <m:t>,</m:t>
                        </m:r>
                        <m:r>
                          <a:rPr lang="en-NZ" altLang="ja-JP" sz="2000" b="1" i="1" smtClean="0">
                            <a:solidFill>
                              <a:srgbClr val="C00000"/>
                            </a:solidFill>
                            <a:latin typeface="Cambria Math" panose="02040503050406030204" pitchFamily="18" charset="0"/>
                          </a:rPr>
                          <m:t>𝒋</m:t>
                        </m:r>
                      </m:sub>
                    </m:sSub>
                  </m:oMath>
                </a14:m>
                <a:endParaRPr lang="en-NZ" altLang="ja-JP" sz="2000" b="1" dirty="0">
                  <a:solidFill>
                    <a:srgbClr val="C00000"/>
                  </a:solidFill>
                </a:endParaRPr>
              </a:p>
              <a:p>
                <a:pPr algn="ctr">
                  <a:lnSpc>
                    <a:spcPct val="100000"/>
                  </a:lnSpc>
                </a:pPr>
                <a:endParaRPr lang="en-NZ" altLang="ja-JP" sz="2000" b="1" dirty="0">
                  <a:solidFill>
                    <a:srgbClr val="C00000"/>
                  </a:solidFill>
                </a:endParaRPr>
              </a:p>
              <a:p>
                <a:pPr algn="ctr">
                  <a:lnSpc>
                    <a:spcPct val="100000"/>
                  </a:lnSpc>
                </a:pPr>
                <a:endParaRPr lang="en-NZ" altLang="ja-JP" sz="2000" b="1" i="1" dirty="0">
                  <a:solidFill>
                    <a:srgbClr val="C00000"/>
                  </a:solidFill>
                </a:endParaRPr>
              </a:p>
            </p:txBody>
          </p:sp>
        </mc:Choice>
        <mc:Fallback xmlns="">
          <p:sp>
            <p:nvSpPr>
              <p:cNvPr id="35" name="Text Placeholder 5">
                <a:extLst>
                  <a:ext uri="{FF2B5EF4-FFF2-40B4-BE49-F238E27FC236}">
                    <a16:creationId xmlns:a16="http://schemas.microsoft.com/office/drawing/2014/main" id="{F21B1B26-F3F2-85D4-08E0-50DD0EC27E86}"/>
                  </a:ext>
                </a:extLst>
              </p:cNvPr>
              <p:cNvSpPr txBox="1">
                <a:spLocks noRot="1" noChangeAspect="1" noMove="1" noResize="1" noEditPoints="1" noAdjustHandles="1" noChangeArrowheads="1" noChangeShapeType="1" noTextEdit="1"/>
              </p:cNvSpPr>
              <p:nvPr/>
            </p:nvSpPr>
            <p:spPr>
              <a:xfrm>
                <a:off x="570010" y="2232896"/>
                <a:ext cx="3305954" cy="453789"/>
              </a:xfrm>
              <a:prstGeom prst="rect">
                <a:avLst/>
              </a:prstGeom>
              <a:blipFill>
                <a:blip r:embed="rId10"/>
                <a:stretch>
                  <a:fillRect t="-5333" b="-12000"/>
                </a:stretch>
              </a:blipFill>
            </p:spPr>
            <p:txBody>
              <a:bodyPr/>
              <a:lstStyle/>
              <a:p>
                <a:r>
                  <a:rPr lang="en-NZ">
                    <a:noFill/>
                  </a:rPr>
                  <a:t> </a:t>
                </a:r>
              </a:p>
            </p:txBody>
          </p:sp>
        </mc:Fallback>
      </mc:AlternateContent>
      <p:sp>
        <p:nvSpPr>
          <p:cNvPr id="36" name="Oval 35">
            <a:extLst>
              <a:ext uri="{FF2B5EF4-FFF2-40B4-BE49-F238E27FC236}">
                <a16:creationId xmlns:a16="http://schemas.microsoft.com/office/drawing/2014/main" id="{3AEB6452-A6F6-C024-0E2C-211AB772CAF5}"/>
              </a:ext>
            </a:extLst>
          </p:cNvPr>
          <p:cNvSpPr/>
          <p:nvPr/>
        </p:nvSpPr>
        <p:spPr>
          <a:xfrm>
            <a:off x="2800985" y="3951027"/>
            <a:ext cx="286603" cy="286603"/>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C00000"/>
              </a:solidFill>
            </a:endParaRPr>
          </a:p>
        </p:txBody>
      </p:sp>
      <p:cxnSp>
        <p:nvCxnSpPr>
          <p:cNvPr id="37" name="Straight Arrow Connector 36">
            <a:extLst>
              <a:ext uri="{FF2B5EF4-FFF2-40B4-BE49-F238E27FC236}">
                <a16:creationId xmlns:a16="http://schemas.microsoft.com/office/drawing/2014/main" id="{F09C0F22-2A0D-81DA-1BD2-089AAE10A76D}"/>
              </a:ext>
            </a:extLst>
          </p:cNvPr>
          <p:cNvCxnSpPr>
            <a:cxnSpLocks/>
            <a:stCxn id="25" idx="1"/>
            <a:endCxn id="38" idx="3"/>
          </p:cNvCxnSpPr>
          <p:nvPr/>
        </p:nvCxnSpPr>
        <p:spPr>
          <a:xfrm flipH="1">
            <a:off x="3435605" y="4488099"/>
            <a:ext cx="2388577" cy="1058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05107AE7-0378-9A41-E5A8-FBA5CDB3F39E}"/>
                  </a:ext>
                </a:extLst>
              </p:cNvPr>
              <p:cNvSpPr txBox="1">
                <a:spLocks/>
              </p:cNvSpPr>
              <p:nvPr/>
            </p:nvSpPr>
            <p:spPr>
              <a:xfrm>
                <a:off x="2452966" y="4271788"/>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𝝁</m:t>
                      </m:r>
                      <m:r>
                        <a:rPr lang="en-NZ" altLang="ja-JP" sz="2000" b="1" i="0" smtClean="0">
                          <a:solidFill>
                            <a:schemeClr val="tx1"/>
                          </a:solidFill>
                          <a:latin typeface="Cambria Math" panose="02040503050406030204" pitchFamily="18" charset="0"/>
                        </a:rPr>
                        <m:t>+</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𝟐</m:t>
                          </m:r>
                        </m:sub>
                      </m:sSub>
                    </m:oMath>
                  </m:oMathPara>
                </a14:m>
                <a:br>
                  <a:rPr lang="en-NZ" altLang="ja-JP" sz="2000" b="1" dirty="0">
                    <a:solidFill>
                      <a:schemeClr val="tx1"/>
                    </a:solidFill>
                  </a:rPr>
                </a:b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8" name="Text Placeholder 5">
                <a:extLst>
                  <a:ext uri="{FF2B5EF4-FFF2-40B4-BE49-F238E27FC236}">
                    <a16:creationId xmlns:a16="http://schemas.microsoft.com/office/drawing/2014/main" id="{05107AE7-0378-9A41-E5A8-FBA5CDB3F39E}"/>
                  </a:ext>
                </a:extLst>
              </p:cNvPr>
              <p:cNvSpPr txBox="1">
                <a:spLocks noRot="1" noChangeAspect="1" noMove="1" noResize="1" noEditPoints="1" noAdjustHandles="1" noChangeArrowheads="1" noChangeShapeType="1" noTextEdit="1"/>
              </p:cNvSpPr>
              <p:nvPr/>
            </p:nvSpPr>
            <p:spPr>
              <a:xfrm>
                <a:off x="2452966" y="4271788"/>
                <a:ext cx="982639" cy="453788"/>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7D7A0A2A-D24A-AB0C-E2A8-0D9481C2D376}"/>
                  </a:ext>
                </a:extLst>
              </p:cNvPr>
              <p:cNvSpPr txBox="1">
                <a:spLocks/>
              </p:cNvSpPr>
              <p:nvPr/>
            </p:nvSpPr>
            <p:spPr>
              <a:xfrm>
                <a:off x="4063403" y="4088172"/>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𝟐</m:t>
                          </m:r>
                        </m:sub>
                      </m:sSub>
                      <m:r>
                        <a:rPr lang="en-NZ" altLang="ja-JP" sz="2000" b="1" i="1" smtClean="0">
                          <a:solidFill>
                            <a:schemeClr val="tx1"/>
                          </a:solidFill>
                          <a:latin typeface="Cambria Math" panose="02040503050406030204" pitchFamily="18" charset="0"/>
                        </a:rPr>
                        <m:t>&lt;</m:t>
                      </m:r>
                      <m:r>
                        <a:rPr lang="en-NZ" altLang="ja-JP" sz="2000" b="1" i="1" smtClean="0">
                          <a:solidFill>
                            <a:schemeClr val="tx1"/>
                          </a:solidFill>
                          <a:latin typeface="Cambria Math" panose="02040503050406030204" pitchFamily="18" charset="0"/>
                        </a:rPr>
                        <m:t>𝟎</m:t>
                      </m:r>
                    </m:oMath>
                  </m:oMathPara>
                </a14:m>
                <a:br>
                  <a:rPr lang="en-NZ" altLang="ja-JP" sz="2000" b="1" dirty="0">
                    <a:solidFill>
                      <a:schemeClr val="tx1"/>
                    </a:solidFill>
                  </a:rPr>
                </a:br>
                <a:endParaRPr lang="en-NZ" altLang="ja-JP" sz="2000" b="1" i="1" dirty="0">
                  <a:solidFill>
                    <a:schemeClr val="tx1"/>
                  </a:solidFill>
                </a:endParaRPr>
              </a:p>
            </p:txBody>
          </p:sp>
        </mc:Choice>
        <mc:Fallback xmlns="">
          <p:sp>
            <p:nvSpPr>
              <p:cNvPr id="39" name="Text Placeholder 5">
                <a:extLst>
                  <a:ext uri="{FF2B5EF4-FFF2-40B4-BE49-F238E27FC236}">
                    <a16:creationId xmlns:a16="http://schemas.microsoft.com/office/drawing/2014/main" id="{7D7A0A2A-D24A-AB0C-E2A8-0D9481C2D376}"/>
                  </a:ext>
                </a:extLst>
              </p:cNvPr>
              <p:cNvSpPr txBox="1">
                <a:spLocks noRot="1" noChangeAspect="1" noMove="1" noResize="1" noEditPoints="1" noAdjustHandles="1" noChangeArrowheads="1" noChangeShapeType="1" noTextEdit="1"/>
              </p:cNvSpPr>
              <p:nvPr/>
            </p:nvSpPr>
            <p:spPr>
              <a:xfrm>
                <a:off x="4063403" y="4088172"/>
                <a:ext cx="1132980" cy="538640"/>
              </a:xfrm>
              <a:prstGeom prst="rect">
                <a:avLst/>
              </a:prstGeom>
              <a:blipFill>
                <a:blip r:embed="rId12"/>
                <a:stretch>
                  <a:fillRect/>
                </a:stretch>
              </a:blipFill>
            </p:spPr>
            <p:txBody>
              <a:bodyPr/>
              <a:lstStyle/>
              <a:p>
                <a:r>
                  <a:rPr lang="en-NZ">
                    <a:noFill/>
                  </a:rPr>
                  <a:t> </a:t>
                </a:r>
              </a:p>
            </p:txBody>
          </p:sp>
        </mc:Fallback>
      </mc:AlternateContent>
      <p:cxnSp>
        <p:nvCxnSpPr>
          <p:cNvPr id="44" name="Straight Connector 43">
            <a:extLst>
              <a:ext uri="{FF2B5EF4-FFF2-40B4-BE49-F238E27FC236}">
                <a16:creationId xmlns:a16="http://schemas.microsoft.com/office/drawing/2014/main" id="{F4F5AC65-F4D6-557E-189A-19BC3F1C652A}"/>
              </a:ext>
            </a:extLst>
          </p:cNvPr>
          <p:cNvCxnSpPr/>
          <p:nvPr/>
        </p:nvCxnSpPr>
        <p:spPr>
          <a:xfrm>
            <a:off x="2238017" y="3646713"/>
            <a:ext cx="0" cy="39578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 Placeholder 5">
                <a:extLst>
                  <a:ext uri="{FF2B5EF4-FFF2-40B4-BE49-F238E27FC236}">
                    <a16:creationId xmlns:a16="http://schemas.microsoft.com/office/drawing/2014/main" id="{48C614C6-543B-7CAE-CD95-8F4891F5546D}"/>
                  </a:ext>
                </a:extLst>
              </p:cNvPr>
              <p:cNvSpPr txBox="1">
                <a:spLocks/>
              </p:cNvSpPr>
              <p:nvPr/>
            </p:nvSpPr>
            <p:spPr>
              <a:xfrm>
                <a:off x="1687119" y="4071904"/>
                <a:ext cx="982639" cy="453789"/>
              </a:xfrm>
              <a:prstGeom prst="rect">
                <a:avLst/>
              </a:prstGeom>
              <a:ln>
                <a:no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rgbClr val="C00000"/>
                              </a:solidFill>
                              <a:latin typeface="Cambria Math" panose="02040503050406030204" pitchFamily="18" charset="0"/>
                            </a:rPr>
                          </m:ctrlPr>
                        </m:sSubPr>
                        <m:e>
                          <m:r>
                            <a:rPr lang="en-NZ" altLang="ja-JP" sz="2000" b="1" i="1" smtClean="0">
                              <a:solidFill>
                                <a:srgbClr val="C00000"/>
                              </a:solidFill>
                              <a:latin typeface="Cambria Math" panose="02040503050406030204" pitchFamily="18" charset="0"/>
                            </a:rPr>
                            <m:t>𝒀</m:t>
                          </m:r>
                        </m:e>
                        <m:sub>
                          <m:r>
                            <a:rPr lang="en-NZ" altLang="ja-JP" sz="2000" b="1" i="1" smtClean="0">
                              <a:solidFill>
                                <a:srgbClr val="C00000"/>
                              </a:solidFill>
                              <a:latin typeface="Cambria Math" panose="02040503050406030204" pitchFamily="18" charset="0"/>
                            </a:rPr>
                            <m:t>𝟐</m:t>
                          </m:r>
                          <m:r>
                            <a:rPr lang="en-NZ" altLang="ja-JP" sz="2000" b="1" i="1" smtClean="0">
                              <a:solidFill>
                                <a:srgbClr val="C00000"/>
                              </a:solidFill>
                              <a:latin typeface="Cambria Math" panose="02040503050406030204" pitchFamily="18" charset="0"/>
                            </a:rPr>
                            <m:t>,</m:t>
                          </m:r>
                          <m:r>
                            <a:rPr lang="en-NZ" altLang="ja-JP" sz="2000" b="1" i="1" smtClean="0">
                              <a:solidFill>
                                <a:srgbClr val="C00000"/>
                              </a:solidFill>
                              <a:latin typeface="Cambria Math" panose="02040503050406030204" pitchFamily="18" charset="0"/>
                            </a:rPr>
                            <m:t>𝒋</m:t>
                          </m:r>
                        </m:sub>
                      </m:sSub>
                    </m:oMath>
                  </m:oMathPara>
                </a14:m>
                <a:endParaRPr lang="en-NZ" altLang="ja-JP" sz="2000" b="1" dirty="0">
                  <a:solidFill>
                    <a:srgbClr val="C00000"/>
                  </a:solidFill>
                </a:endParaRPr>
              </a:p>
              <a:p>
                <a:pPr algn="ctr">
                  <a:lnSpc>
                    <a:spcPct val="100000"/>
                  </a:lnSpc>
                </a:pPr>
                <a:endParaRPr lang="en-NZ" altLang="ja-JP" sz="2000" b="1" dirty="0">
                  <a:solidFill>
                    <a:srgbClr val="C00000"/>
                  </a:solidFill>
                </a:endParaRPr>
              </a:p>
              <a:p>
                <a:pPr algn="ctr">
                  <a:lnSpc>
                    <a:spcPct val="100000"/>
                  </a:lnSpc>
                </a:pPr>
                <a:endParaRPr lang="en-NZ" altLang="ja-JP" sz="2000" b="1" i="1" dirty="0">
                  <a:solidFill>
                    <a:srgbClr val="C00000"/>
                  </a:solidFill>
                </a:endParaRPr>
              </a:p>
            </p:txBody>
          </p:sp>
        </mc:Choice>
        <mc:Fallback xmlns="">
          <p:sp>
            <p:nvSpPr>
              <p:cNvPr id="45" name="Text Placeholder 5">
                <a:extLst>
                  <a:ext uri="{FF2B5EF4-FFF2-40B4-BE49-F238E27FC236}">
                    <a16:creationId xmlns:a16="http://schemas.microsoft.com/office/drawing/2014/main" id="{48C614C6-543B-7CAE-CD95-8F4891F5546D}"/>
                  </a:ext>
                </a:extLst>
              </p:cNvPr>
              <p:cNvSpPr txBox="1">
                <a:spLocks noRot="1" noChangeAspect="1" noMove="1" noResize="1" noEditPoints="1" noAdjustHandles="1" noChangeArrowheads="1" noChangeShapeType="1" noTextEdit="1"/>
              </p:cNvSpPr>
              <p:nvPr/>
            </p:nvSpPr>
            <p:spPr>
              <a:xfrm>
                <a:off x="1687119" y="4071904"/>
                <a:ext cx="982639" cy="453789"/>
              </a:xfrm>
              <a:prstGeom prst="rect">
                <a:avLst/>
              </a:prstGeom>
              <a:blipFill>
                <a:blip r:embed="rId13"/>
                <a:stretch>
                  <a:fillRect b="-5405"/>
                </a:stretch>
              </a:blipFill>
              <a:ln>
                <a:no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6" name="Text Placeholder 5">
                <a:extLst>
                  <a:ext uri="{FF2B5EF4-FFF2-40B4-BE49-F238E27FC236}">
                    <a16:creationId xmlns:a16="http://schemas.microsoft.com/office/drawing/2014/main" id="{166D5ECB-7F0B-C4BF-47F4-3006F705CD4C}"/>
                  </a:ext>
                </a:extLst>
              </p:cNvPr>
              <p:cNvSpPr txBox="1">
                <a:spLocks/>
              </p:cNvSpPr>
              <p:nvPr/>
            </p:nvSpPr>
            <p:spPr>
              <a:xfrm>
                <a:off x="2452965" y="4560501"/>
                <a:ext cx="982639" cy="10847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m:t>
                      </m:r>
                    </m:oMath>
                  </m:oMathPara>
                </a14:m>
                <a:endParaRPr lang="en-NZ" altLang="ja-JP" sz="2000" b="1" dirty="0">
                  <a:solidFill>
                    <a:schemeClr val="tx1"/>
                  </a:solidFill>
                </a:endParaRPr>
              </a:p>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𝟐</m:t>
                          </m:r>
                        </m:sub>
                      </m:sSub>
                    </m:oMath>
                  </m:oMathPara>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46" name="Text Placeholder 5">
                <a:extLst>
                  <a:ext uri="{FF2B5EF4-FFF2-40B4-BE49-F238E27FC236}">
                    <a16:creationId xmlns:a16="http://schemas.microsoft.com/office/drawing/2014/main" id="{166D5ECB-7F0B-C4BF-47F4-3006F705CD4C}"/>
                  </a:ext>
                </a:extLst>
              </p:cNvPr>
              <p:cNvSpPr txBox="1">
                <a:spLocks noRot="1" noChangeAspect="1" noMove="1" noResize="1" noEditPoints="1" noAdjustHandles="1" noChangeArrowheads="1" noChangeShapeType="1" noTextEdit="1"/>
              </p:cNvSpPr>
              <p:nvPr/>
            </p:nvSpPr>
            <p:spPr>
              <a:xfrm>
                <a:off x="2452965" y="4560501"/>
                <a:ext cx="982639" cy="1084773"/>
              </a:xfrm>
              <a:prstGeom prst="rect">
                <a:avLst/>
              </a:prstGeom>
              <a:blipFill>
                <a:blip r:embed="rId14"/>
                <a:stretch>
                  <a:fillRect/>
                </a:stretch>
              </a:blipFill>
            </p:spPr>
            <p:txBody>
              <a:bodyPr/>
              <a:lstStyle/>
              <a:p>
                <a:r>
                  <a:rPr lang="en-NZ">
                    <a:noFill/>
                  </a:rPr>
                  <a:t> </a:t>
                </a:r>
              </a:p>
            </p:txBody>
          </p:sp>
        </mc:Fallback>
      </mc:AlternateContent>
      <p:sp>
        <p:nvSpPr>
          <p:cNvPr id="2" name="Title 6">
            <a:extLst>
              <a:ext uri="{FF2B5EF4-FFF2-40B4-BE49-F238E27FC236}">
                <a16:creationId xmlns:a16="http://schemas.microsoft.com/office/drawing/2014/main" id="{41EE379C-3119-5F0C-FD31-C096186C81CD}"/>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5" name="Footer Placeholder 2">
            <a:extLst>
              <a:ext uri="{FF2B5EF4-FFF2-40B4-BE49-F238E27FC236}">
                <a16:creationId xmlns:a16="http://schemas.microsoft.com/office/drawing/2014/main" id="{E77FC53C-0918-A5FE-CC89-FDF971BB032E}"/>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2FC252A0-07CF-D4CB-EA69-769DEA9D5BF7}"/>
                  </a:ext>
                </a:extLst>
              </p:cNvPr>
              <p:cNvSpPr txBox="1">
                <a:spLocks/>
              </p:cNvSpPr>
              <p:nvPr/>
            </p:nvSpPr>
            <p:spPr>
              <a:xfrm>
                <a:off x="9689910" y="1152654"/>
                <a:ext cx="1807633" cy="4326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chemeClr val="bg2">
                                <a:lumMod val="50000"/>
                              </a:schemeClr>
                            </a:solidFill>
                            <a:latin typeface="Cambria Math" panose="02040503050406030204" pitchFamily="18" charset="0"/>
                          </a:rPr>
                        </m:ctrlPr>
                      </m:sSubPr>
                      <m:e>
                        <m:r>
                          <a:rPr lang="en-NZ" altLang="ja-JP" sz="1600" b="1" i="1" smtClean="0">
                            <a:solidFill>
                              <a:schemeClr val="bg2">
                                <a:lumMod val="50000"/>
                              </a:schemeClr>
                            </a:solidFill>
                            <a:latin typeface="Cambria Math" panose="02040503050406030204" pitchFamily="18" charset="0"/>
                          </a:rPr>
                          <m:t>𝝐</m:t>
                        </m:r>
                      </m:e>
                      <m:sub>
                        <m:r>
                          <a:rPr lang="en-NZ" altLang="ja-JP" sz="1600" b="1" i="1" smtClean="0">
                            <a:solidFill>
                              <a:schemeClr val="bg2">
                                <a:lumMod val="50000"/>
                              </a:schemeClr>
                            </a:solidFill>
                            <a:latin typeface="Cambria Math" panose="02040503050406030204" pitchFamily="18" charset="0"/>
                          </a:rPr>
                          <m:t>𝒊</m:t>
                        </m:r>
                        <m:r>
                          <a:rPr lang="en-NZ" altLang="ja-JP" sz="1600" b="1" i="1" smtClean="0">
                            <a:solidFill>
                              <a:schemeClr val="bg2">
                                <a:lumMod val="50000"/>
                              </a:schemeClr>
                            </a:solidFill>
                            <a:latin typeface="Cambria Math" panose="02040503050406030204" pitchFamily="18" charset="0"/>
                          </a:rPr>
                          <m:t>,</m:t>
                        </m:r>
                        <m:r>
                          <a:rPr lang="en-NZ" altLang="ja-JP" sz="1600" b="1" i="1" smtClean="0">
                            <a:solidFill>
                              <a:schemeClr val="bg2">
                                <a:lumMod val="50000"/>
                              </a:schemeClr>
                            </a:solidFill>
                            <a:latin typeface="Cambria Math" panose="02040503050406030204" pitchFamily="18" charset="0"/>
                          </a:rPr>
                          <m:t>𝒋</m:t>
                        </m:r>
                      </m:sub>
                    </m:sSub>
                    <m:r>
                      <a:rPr lang="en-NZ" altLang="ja-JP" sz="1600" b="1" i="1" smtClean="0">
                        <a:solidFill>
                          <a:schemeClr val="bg2">
                            <a:lumMod val="50000"/>
                          </a:schemeClr>
                        </a:solidFill>
                        <a:latin typeface="Cambria Math" panose="02040503050406030204" pitchFamily="18" charset="0"/>
                      </a:rPr>
                      <m:t> </m:t>
                    </m:r>
                    <m:r>
                      <a:rPr lang="en-NZ" altLang="ja-JP" sz="1600" b="1" i="1" smtClean="0">
                        <a:solidFill>
                          <a:schemeClr val="bg2">
                            <a:lumMod val="50000"/>
                          </a:schemeClr>
                        </a:solidFill>
                        <a:latin typeface="Cambria Math" panose="02040503050406030204" pitchFamily="18" charset="0"/>
                        <a:ea typeface="Cambria Math" panose="02040503050406030204" pitchFamily="18" charset="0"/>
                      </a:rPr>
                      <m:t>~ </m:t>
                    </m:r>
                    <m:r>
                      <a:rPr lang="en-NZ" altLang="ja-JP" sz="1600" b="1" i="1" smtClean="0">
                        <a:solidFill>
                          <a:schemeClr val="bg2">
                            <a:lumMod val="50000"/>
                          </a:schemeClr>
                        </a:solidFill>
                        <a:latin typeface="Cambria Math" panose="02040503050406030204" pitchFamily="18" charset="0"/>
                        <a:ea typeface="Cambria Math" panose="02040503050406030204" pitchFamily="18" charset="0"/>
                      </a:rPr>
                      <m:t>𝑵</m:t>
                    </m:r>
                    <m:r>
                      <a:rPr lang="en-NZ" altLang="ja-JP" sz="1600" b="1" i="1" smtClean="0">
                        <a:solidFill>
                          <a:schemeClr val="bg2">
                            <a:lumMod val="50000"/>
                          </a:schemeClr>
                        </a:solidFill>
                        <a:latin typeface="Cambria Math" panose="02040503050406030204" pitchFamily="18" charset="0"/>
                        <a:ea typeface="Cambria Math" panose="02040503050406030204" pitchFamily="18" charset="0"/>
                      </a:rPr>
                      <m:t>(</m:t>
                    </m:r>
                    <m:r>
                      <a:rPr lang="en-NZ" altLang="ja-JP" sz="1600" b="1" i="1" smtClean="0">
                        <a:solidFill>
                          <a:schemeClr val="bg2">
                            <a:lumMod val="50000"/>
                          </a:schemeClr>
                        </a:solidFill>
                        <a:latin typeface="Cambria Math" panose="02040503050406030204" pitchFamily="18" charset="0"/>
                        <a:ea typeface="Cambria Math" panose="02040503050406030204" pitchFamily="18" charset="0"/>
                      </a:rPr>
                      <m:t>𝟎</m:t>
                    </m:r>
                    <m:r>
                      <a:rPr lang="en-NZ" altLang="ja-JP" sz="1600" b="1" i="1" smtClean="0">
                        <a:solidFill>
                          <a:schemeClr val="bg2">
                            <a:lumMod val="50000"/>
                          </a:schemeClr>
                        </a:solidFill>
                        <a:latin typeface="Cambria Math" panose="02040503050406030204" pitchFamily="18" charset="0"/>
                        <a:ea typeface="Cambria Math" panose="02040503050406030204" pitchFamily="18" charset="0"/>
                      </a:rPr>
                      <m:t>,</m:t>
                    </m:r>
                    <m:r>
                      <m:rPr>
                        <m:nor/>
                      </m:rPr>
                      <a:rPr lang="el-GR" altLang="ja-JP" sz="1600" b="1" i="1" dirty="0">
                        <a:solidFill>
                          <a:schemeClr val="bg2">
                            <a:lumMod val="50000"/>
                          </a:schemeClr>
                        </a:solidFill>
                      </a:rPr>
                      <m:t>σ</m:t>
                    </m:r>
                    <m:r>
                      <m:rPr>
                        <m:nor/>
                      </m:rPr>
                      <a:rPr lang="en-NZ" altLang="ja-JP" sz="1600" b="1" i="1" baseline="30000" dirty="0">
                        <a:solidFill>
                          <a:schemeClr val="bg2">
                            <a:lumMod val="50000"/>
                          </a:schemeClr>
                        </a:solidFill>
                      </a:rPr>
                      <m:t>2</m:t>
                    </m:r>
                    <m:r>
                      <a:rPr lang="en-NZ" altLang="ja-JP" sz="1600" b="1" i="1" smtClean="0">
                        <a:solidFill>
                          <a:schemeClr val="bg2">
                            <a:lumMod val="50000"/>
                          </a:schemeClr>
                        </a:solidFill>
                        <a:latin typeface="Cambria Math" panose="02040503050406030204" pitchFamily="18" charset="0"/>
                        <a:ea typeface="Cambria Math" panose="02040503050406030204" pitchFamily="18" charset="0"/>
                      </a:rPr>
                      <m:t>)</m:t>
                    </m:r>
                  </m:oMath>
                </a14:m>
                <a:r>
                  <a:rPr lang="en-NZ" altLang="ja-JP" sz="1600" b="1" i="1" dirty="0">
                    <a:solidFill>
                      <a:schemeClr val="bg2">
                        <a:lumMod val="50000"/>
                      </a:schemeClr>
                    </a:solidFill>
                  </a:rPr>
                  <a:t> </a:t>
                </a:r>
                <a:r>
                  <a:rPr lang="en-NZ" altLang="ja-JP" sz="1600" dirty="0">
                    <a:solidFill>
                      <a:schemeClr val="bg2">
                        <a:lumMod val="50000"/>
                      </a:schemeClr>
                    </a:solidFill>
                  </a:rPr>
                  <a:t> </a:t>
                </a:r>
              </a:p>
              <a:p>
                <a:pPr algn="just">
                  <a:lnSpc>
                    <a:spcPct val="100000"/>
                  </a:lnSpc>
                </a:pPr>
                <a:endParaRPr lang="en-NZ" altLang="ja-JP" sz="1600" i="1" dirty="0">
                  <a:solidFill>
                    <a:schemeClr val="bg2">
                      <a:lumMod val="50000"/>
                    </a:schemeClr>
                  </a:solidFill>
                </a:endParaRPr>
              </a:p>
            </p:txBody>
          </p:sp>
        </mc:Choice>
        <mc:Fallback xmlns="">
          <p:sp>
            <p:nvSpPr>
              <p:cNvPr id="7" name="Text Placeholder 5">
                <a:extLst>
                  <a:ext uri="{FF2B5EF4-FFF2-40B4-BE49-F238E27FC236}">
                    <a16:creationId xmlns:a16="http://schemas.microsoft.com/office/drawing/2014/main" id="{2FC252A0-07CF-D4CB-EA69-769DEA9D5BF7}"/>
                  </a:ext>
                </a:extLst>
              </p:cNvPr>
              <p:cNvSpPr txBox="1">
                <a:spLocks noRot="1" noChangeAspect="1" noMove="1" noResize="1" noEditPoints="1" noAdjustHandles="1" noChangeArrowheads="1" noChangeShapeType="1" noTextEdit="1"/>
              </p:cNvSpPr>
              <p:nvPr/>
            </p:nvSpPr>
            <p:spPr>
              <a:xfrm>
                <a:off x="9689910" y="1152654"/>
                <a:ext cx="1807633" cy="432624"/>
              </a:xfrm>
              <a:prstGeom prst="rect">
                <a:avLst/>
              </a:prstGeom>
              <a:blipFill>
                <a:blip r:embed="rId15"/>
                <a:stretch>
                  <a:fillRect/>
                </a:stretch>
              </a:blipFill>
            </p:spPr>
            <p:txBody>
              <a:bodyPr/>
              <a:lstStyle/>
              <a:p>
                <a:r>
                  <a:rPr lang="en-NZ">
                    <a:noFill/>
                  </a:rPr>
                  <a:t> </a:t>
                </a:r>
              </a:p>
            </p:txBody>
          </p:sp>
        </mc:Fallback>
      </mc:AlternateContent>
      <p:pic>
        <p:nvPicPr>
          <p:cNvPr id="9" name="Picture 2" descr="Te Herenga Waka—Victoria University of Wellington | Universities New  Zealand - Te Pōkai Tara">
            <a:extLst>
              <a:ext uri="{FF2B5EF4-FFF2-40B4-BE49-F238E27FC236}">
                <a16:creationId xmlns:a16="http://schemas.microsoft.com/office/drawing/2014/main" id="{DF02B9C7-B619-676B-AAE0-98575A43FD0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85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31" grpId="0"/>
      <p:bldP spid="33" grpId="0"/>
      <p:bldP spid="34" grpId="0"/>
      <p:bldP spid="35" grpId="0"/>
      <p:bldP spid="36" grpId="0" animBg="1"/>
      <p:bldP spid="38" grpId="0"/>
      <p:bldP spid="39" grpId="0"/>
      <p:bldP spid="45" grpId="0" animBg="1"/>
      <p:bldP spid="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903964"/>
            <a:ext cx="704286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51225" y="2752557"/>
            <a:ext cx="533071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51222" y="3160571"/>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51222" y="3160571"/>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91145" y="3638380"/>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91145" y="3638380"/>
                <a:ext cx="6286057" cy="815449"/>
              </a:xfrm>
              <a:prstGeom prst="rect">
                <a:avLst/>
              </a:prstGeom>
              <a:blipFill>
                <a:blip r:embed="rId3"/>
                <a:stretch>
                  <a:fillRect l="-582" t="-223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D7FE01F1-59F4-41A1-93D3-01009A102329}"/>
              </a:ext>
            </a:extLst>
          </p:cNvPr>
          <p:cNvSpPr txBox="1">
            <a:spLocks/>
          </p:cNvSpPr>
          <p:nvPr/>
        </p:nvSpPr>
        <p:spPr>
          <a:xfrm>
            <a:off x="303774" y="4681490"/>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want to test the hypothesis that the means of all the groups are equal, i.e.</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442D6107-9452-4B90-9F9B-C97B42EE92C9}"/>
                  </a:ext>
                </a:extLst>
              </p:cNvPr>
              <p:cNvSpPr txBox="1">
                <a:spLocks/>
              </p:cNvSpPr>
              <p:nvPr/>
            </p:nvSpPr>
            <p:spPr>
              <a:xfrm>
                <a:off x="291145" y="515644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oMath>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442D6107-9452-4B90-9F9B-C97B42EE92C9}"/>
                  </a:ext>
                </a:extLst>
              </p:cNvPr>
              <p:cNvSpPr txBox="1">
                <a:spLocks noRot="1" noChangeAspect="1" noMove="1" noResize="1" noEditPoints="1" noAdjustHandles="1" noChangeArrowheads="1" noChangeShapeType="1" noTextEdit="1"/>
              </p:cNvSpPr>
              <p:nvPr/>
            </p:nvSpPr>
            <p:spPr>
              <a:xfrm>
                <a:off x="291145" y="5156443"/>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6804A2D9-4809-4727-B333-0D8130B184C8}"/>
                  </a:ext>
                </a:extLst>
              </p:cNvPr>
              <p:cNvSpPr txBox="1">
                <a:spLocks/>
              </p:cNvSpPr>
              <p:nvPr/>
            </p:nvSpPr>
            <p:spPr>
              <a:xfrm>
                <a:off x="4570742" y="519386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3" name="Text Placeholder 5">
                <a:extLst>
                  <a:ext uri="{FF2B5EF4-FFF2-40B4-BE49-F238E27FC236}">
                    <a16:creationId xmlns:a16="http://schemas.microsoft.com/office/drawing/2014/main" id="{6804A2D9-4809-4727-B333-0D8130B184C8}"/>
                  </a:ext>
                </a:extLst>
              </p:cNvPr>
              <p:cNvSpPr txBox="1">
                <a:spLocks noRot="1" noChangeAspect="1" noMove="1" noResize="1" noEditPoints="1" noAdjustHandles="1" noChangeArrowheads="1" noChangeShapeType="1" noTextEdit="1"/>
              </p:cNvSpPr>
              <p:nvPr/>
            </p:nvSpPr>
            <p:spPr>
              <a:xfrm>
                <a:off x="4570742" y="5193868"/>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2631F459-0907-4AB7-8D86-826BF5F70F99}"/>
                  </a:ext>
                </a:extLst>
              </p:cNvPr>
              <p:cNvSpPr txBox="1">
                <a:spLocks/>
              </p:cNvSpPr>
              <p:nvPr/>
            </p:nvSpPr>
            <p:spPr>
              <a:xfrm>
                <a:off x="5919828" y="3635524"/>
                <a:ext cx="5108307" cy="10904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and apply the constraint</a:t>
                </a:r>
              </a:p>
              <a:p>
                <a:pPr algn="just">
                  <a:lnSpc>
                    <a:spcPct val="100000"/>
                  </a:lnSpc>
                </a:pPr>
                <a14:m>
                  <m:oMathPara xmlns:m="http://schemas.openxmlformats.org/officeDocument/2006/math">
                    <m:oMathParaPr>
                      <m:jc m:val="centerGroup"/>
                    </m:oMathParaPr>
                    <m:oMath xmlns:m="http://schemas.openxmlformats.org/officeDocument/2006/math">
                      <m:nary>
                        <m:naryPr>
                          <m:chr m:val="∑"/>
                          <m:ctrlPr>
                            <a:rPr lang="en-NZ" altLang="ja-JP" sz="160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𝑖</m:t>
                                  </m:r>
                                </m:sub>
                              </m:sSub>
                              <m:r>
                                <a:rPr lang="en-NZ" altLang="ja-JP" sz="1600" b="0" i="1" smtClean="0">
                                  <a:solidFill>
                                    <a:schemeClr val="tx1"/>
                                  </a:solidFill>
                                  <a:latin typeface="Cambria Math" panose="02040503050406030204" pitchFamily="18" charset="0"/>
                                </a:rPr>
                                <m:t> </m:t>
                              </m:r>
                              <m:r>
                                <a:rPr lang="en-NZ" altLang="ja-JP" sz="1600" b="0" i="1" smtClean="0">
                                  <a:solidFill>
                                    <a:schemeClr val="tx1"/>
                                  </a:solidFill>
                                  <a:latin typeface="Cambria Math" panose="02040503050406030204" pitchFamily="18" charset="0"/>
                                </a:rPr>
                                <m:t>𝛼</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=0    </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r>
                            <a:rPr lang="en-NZ" altLang="ja-JP" sz="1600" b="0" i="1" smtClean="0">
                              <a:solidFill>
                                <a:schemeClr val="tx1"/>
                              </a:solidFill>
                              <a:latin typeface="Cambria Math" panose="02040503050406030204" pitchFamily="18" charset="0"/>
                            </a:rPr>
                            <m:t>𝑁</m:t>
                          </m:r>
                        </m:den>
                      </m:f>
                      <m:nary>
                        <m:naryPr>
                          <m:chr m:val="∑"/>
                          <m:ctrlPr>
                            <a:rPr lang="en-NZ" altLang="ja-JP" sz="1600" b="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𝑖</m:t>
                              </m:r>
                            </m:sub>
                          </m:sSub>
                          <m:r>
                            <a:rPr lang="en-NZ" altLang="ja-JP" sz="1600" b="0" i="1" smtClean="0">
                              <a:solidFill>
                                <a:schemeClr val="tx1"/>
                              </a:solidFill>
                              <a:latin typeface="Cambria Math" panose="02040503050406030204" pitchFamily="18" charset="0"/>
                            </a:rPr>
                            <m:t> </m:t>
                          </m:r>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𝜇</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𝜇</m:t>
                      </m:r>
                    </m:oMath>
                  </m:oMathPara>
                </a14:m>
                <a:endParaRPr lang="en-NZ" altLang="ja-JP" sz="1600" i="1" dirty="0">
                  <a:solidFill>
                    <a:schemeClr val="tx1"/>
                  </a:solidFill>
                </a:endParaRPr>
              </a:p>
            </p:txBody>
          </p:sp>
        </mc:Choice>
        <mc:Fallback xmlns="">
          <p:sp>
            <p:nvSpPr>
              <p:cNvPr id="24" name="Text Placeholder 5">
                <a:extLst>
                  <a:ext uri="{FF2B5EF4-FFF2-40B4-BE49-F238E27FC236}">
                    <a16:creationId xmlns:a16="http://schemas.microsoft.com/office/drawing/2014/main" id="{2631F459-0907-4AB7-8D86-826BF5F70F99}"/>
                  </a:ext>
                </a:extLst>
              </p:cNvPr>
              <p:cNvSpPr txBox="1">
                <a:spLocks noRot="1" noChangeAspect="1" noMove="1" noResize="1" noEditPoints="1" noAdjustHandles="1" noChangeArrowheads="1" noChangeShapeType="1" noTextEdit="1"/>
              </p:cNvSpPr>
              <p:nvPr/>
            </p:nvSpPr>
            <p:spPr>
              <a:xfrm>
                <a:off x="5919828" y="3635524"/>
                <a:ext cx="5108307" cy="1090446"/>
              </a:xfrm>
              <a:prstGeom prst="rect">
                <a:avLst/>
              </a:prstGeom>
              <a:blipFill>
                <a:blip r:embed="rId6"/>
                <a:stretch>
                  <a:fillRect t="-167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E6B353AD-6E0D-476C-A8E0-0C6718C65928}"/>
                  </a:ext>
                </a:extLst>
              </p:cNvPr>
              <p:cNvSpPr txBox="1">
                <a:spLocks/>
              </p:cNvSpPr>
              <p:nvPr/>
            </p:nvSpPr>
            <p:spPr>
              <a:xfrm>
                <a:off x="8684523" y="518418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5" name="Text Placeholder 5">
                <a:extLst>
                  <a:ext uri="{FF2B5EF4-FFF2-40B4-BE49-F238E27FC236}">
                    <a16:creationId xmlns:a16="http://schemas.microsoft.com/office/drawing/2014/main" id="{E6B353AD-6E0D-476C-A8E0-0C6718C65928}"/>
                  </a:ext>
                </a:extLst>
              </p:cNvPr>
              <p:cNvSpPr txBox="1">
                <a:spLocks noRot="1" noChangeAspect="1" noMove="1" noResize="1" noEditPoints="1" noAdjustHandles="1" noChangeArrowheads="1" noChangeShapeType="1" noTextEdit="1"/>
              </p:cNvSpPr>
              <p:nvPr/>
            </p:nvSpPr>
            <p:spPr>
              <a:xfrm>
                <a:off x="8684523" y="518418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5A5292B-25F0-4CA7-A0E9-ACC35A46CD01}"/>
                  </a:ext>
                </a:extLst>
              </p:cNvPr>
              <p:cNvSpPr txBox="1">
                <a:spLocks/>
              </p:cNvSpPr>
              <p:nvPr/>
            </p:nvSpPr>
            <p:spPr>
              <a:xfrm>
                <a:off x="3838431" y="539234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26" name="Text Placeholder 5">
                <a:extLst>
                  <a:ext uri="{FF2B5EF4-FFF2-40B4-BE49-F238E27FC236}">
                    <a16:creationId xmlns:a16="http://schemas.microsoft.com/office/drawing/2014/main" id="{D5A5292B-25F0-4CA7-A0E9-ACC35A46CD01}"/>
                  </a:ext>
                </a:extLst>
              </p:cNvPr>
              <p:cNvSpPr txBox="1">
                <a:spLocks noRot="1" noChangeAspect="1" noMove="1" noResize="1" noEditPoints="1" noAdjustHandles="1" noChangeArrowheads="1" noChangeShapeType="1" noTextEdit="1"/>
              </p:cNvSpPr>
              <p:nvPr/>
            </p:nvSpPr>
            <p:spPr>
              <a:xfrm>
                <a:off x="3838431" y="5392346"/>
                <a:ext cx="628508" cy="365125"/>
              </a:xfrm>
              <a:prstGeom prst="rect">
                <a:avLst/>
              </a:prstGeom>
              <a:blipFill>
                <a:blip r:embed="rId8"/>
                <a:stretch>
                  <a:fillRect b="-169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8F447797-39BB-4962-8C2C-504823700802}"/>
                  </a:ext>
                </a:extLst>
              </p:cNvPr>
              <p:cNvSpPr txBox="1">
                <a:spLocks/>
              </p:cNvSpPr>
              <p:nvPr/>
            </p:nvSpPr>
            <p:spPr>
              <a:xfrm>
                <a:off x="7876890" y="538243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27" name="Text Placeholder 5">
                <a:extLst>
                  <a:ext uri="{FF2B5EF4-FFF2-40B4-BE49-F238E27FC236}">
                    <a16:creationId xmlns:a16="http://schemas.microsoft.com/office/drawing/2014/main" id="{8F447797-39BB-4962-8C2C-504823700802}"/>
                  </a:ext>
                </a:extLst>
              </p:cNvPr>
              <p:cNvSpPr txBox="1">
                <a:spLocks noRot="1" noChangeAspect="1" noMove="1" noResize="1" noEditPoints="1" noAdjustHandles="1" noChangeArrowheads="1" noChangeShapeType="1" noTextEdit="1"/>
              </p:cNvSpPr>
              <p:nvPr/>
            </p:nvSpPr>
            <p:spPr>
              <a:xfrm>
                <a:off x="7876890" y="5382432"/>
                <a:ext cx="628508" cy="365125"/>
              </a:xfrm>
              <a:prstGeom prst="rect">
                <a:avLst/>
              </a:prstGeom>
              <a:blipFill>
                <a:blip r:embed="rId9"/>
                <a:stretch>
                  <a:fillRect b="-15000"/>
                </a:stretch>
              </a:blipFill>
            </p:spPr>
            <p:txBody>
              <a:bodyPr/>
              <a:lstStyle/>
              <a:p>
                <a:r>
                  <a:rPr lang="en-NZ">
                    <a:noFill/>
                  </a:rPr>
                  <a:t> </a:t>
                </a:r>
              </a:p>
            </p:txBody>
          </p:sp>
        </mc:Fallback>
      </mc:AlternateContent>
      <p:sp>
        <p:nvSpPr>
          <p:cNvPr id="28" name="Slide Number Placeholder 3">
            <a:extLst>
              <a:ext uri="{FF2B5EF4-FFF2-40B4-BE49-F238E27FC236}">
                <a16:creationId xmlns:a16="http://schemas.microsoft.com/office/drawing/2014/main" id="{765C6191-57EC-4F1D-A2DB-FCC39A970C3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33</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DC1FD3F1-C207-9E11-1CCB-9EBDBB17CD82}"/>
                  </a:ext>
                </a:extLst>
              </p:cNvPr>
              <p:cNvSpPr txBox="1">
                <a:spLocks/>
              </p:cNvSpPr>
              <p:nvPr/>
            </p:nvSpPr>
            <p:spPr>
              <a:xfrm>
                <a:off x="7661690" y="1189073"/>
                <a:ext cx="3857767" cy="18389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tx1"/>
                    </a:solidFill>
                    <a:latin typeface="Cambria Math" panose="02040503050406030204" pitchFamily="18" charset="0"/>
                  </a:rPr>
                  <a:t>We fit the model to a sample of data</a:t>
                </a: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ctr">
                  <a:lnSpc>
                    <a:spcPct val="100000"/>
                  </a:lnSpc>
                </a:pPr>
                <a:endParaRPr lang="en-NZ" altLang="ja-JP" sz="200" dirty="0">
                  <a:solidFill>
                    <a:schemeClr val="tx1"/>
                  </a:solidFill>
                </a:endParaRPr>
              </a:p>
              <a:p>
                <a:pPr algn="ctr">
                  <a:lnSpc>
                    <a:spcPct val="100000"/>
                  </a:lnSpc>
                </a:pPr>
                <a:endParaRPr lang="en-NZ" altLang="ja-JP" sz="200" dirty="0">
                  <a:solidFill>
                    <a:schemeClr val="tx1"/>
                  </a:solidFill>
                </a:endParaRPr>
              </a:p>
              <a:p>
                <a:pPr algn="ctr">
                  <a:lnSpc>
                    <a:spcPct val="100000"/>
                  </a:lnSpc>
                </a:pPr>
                <a:r>
                  <a:rPr lang="en-NZ" altLang="ja-JP" sz="1400" dirty="0">
                    <a:solidFill>
                      <a:schemeClr val="tx1"/>
                    </a:solidFill>
                  </a:rPr>
                  <a:t>in order to estimate the constants </a:t>
                </a:r>
                <a14:m>
                  <m:oMath xmlns:m="http://schemas.openxmlformats.org/officeDocument/2006/math">
                    <m:r>
                      <a:rPr lang="en-NZ" altLang="ja-JP" sz="1400" b="0" i="1" smtClean="0">
                        <a:solidFill>
                          <a:schemeClr val="tx1"/>
                        </a:solidFill>
                        <a:latin typeface="Cambria Math" panose="02040503050406030204" pitchFamily="18" charset="0"/>
                      </a:rPr>
                      <m:t>𝜇</m:t>
                    </m:r>
                    <m:r>
                      <a:rPr lang="en-NZ" altLang="ja-JP" sz="1400" b="0" i="1" smtClean="0">
                        <a:solidFill>
                          <a:schemeClr val="tx1"/>
                        </a:solidFill>
                        <a:latin typeface="Cambria Math" panose="02040503050406030204" pitchFamily="18" charset="0"/>
                      </a:rPr>
                      <m:t>, </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𝜇</m:t>
                        </m:r>
                      </m:e>
                      <m:sub>
                        <m:r>
                          <a:rPr lang="en-NZ" altLang="ja-JP" sz="1400" b="0" i="1" smtClean="0">
                            <a:solidFill>
                              <a:schemeClr val="tx1"/>
                            </a:solidFill>
                            <a:latin typeface="Cambria Math" panose="02040503050406030204" pitchFamily="18" charset="0"/>
                          </a:rPr>
                          <m:t>𝑖</m:t>
                        </m:r>
                      </m:sub>
                    </m:sSub>
                    <m:r>
                      <a:rPr lang="en-NZ" altLang="ja-JP" sz="1400" b="0" i="1" smtClean="0">
                        <a:solidFill>
                          <a:schemeClr val="tx1"/>
                        </a:solidFill>
                        <a:latin typeface="Cambria Math" panose="02040503050406030204" pitchFamily="18" charset="0"/>
                      </a:rPr>
                      <m:t>,</m:t>
                    </m:r>
                  </m:oMath>
                </a14:m>
                <a:r>
                  <a:rPr lang="en-NZ" altLang="ja-JP" sz="1400" dirty="0">
                    <a:solidFill>
                      <a:schemeClr val="tx1"/>
                    </a:solidFill>
                  </a:rPr>
                  <a:t> </a:t>
                </a:r>
                <a14:m>
                  <m:oMath xmlns:m="http://schemas.openxmlformats.org/officeDocument/2006/math">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𝛼</m:t>
                        </m:r>
                      </m:e>
                      <m:sub>
                        <m:r>
                          <a:rPr lang="en-NZ" altLang="ja-JP" sz="1400" b="0" i="1" smtClean="0">
                            <a:solidFill>
                              <a:schemeClr val="tx1"/>
                            </a:solidFill>
                            <a:latin typeface="Cambria Math" panose="02040503050406030204" pitchFamily="18" charset="0"/>
                          </a:rPr>
                          <m:t>𝑖</m:t>
                        </m:r>
                      </m:sub>
                    </m:sSub>
                  </m:oMath>
                </a14:m>
                <a:r>
                  <a:rPr lang="en-NZ" altLang="ja-JP" sz="1400" dirty="0">
                    <a:solidFill>
                      <a:schemeClr val="tx1"/>
                    </a:solidFill>
                  </a:rPr>
                  <a:t> and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𝜎</m:t>
                        </m:r>
                      </m:e>
                      <m:sup>
                        <m:r>
                          <a:rPr lang="en-NZ" altLang="ja-JP" sz="1400" b="0" i="1" smtClean="0">
                            <a:solidFill>
                              <a:schemeClr val="tx1"/>
                            </a:solidFill>
                            <a:latin typeface="Cambria Math" panose="02040503050406030204" pitchFamily="18" charset="0"/>
                          </a:rPr>
                          <m:t>2</m:t>
                        </m:r>
                      </m:sup>
                    </m:sSup>
                  </m:oMath>
                </a14:m>
                <a:endParaRPr lang="en-NZ" altLang="ja-JP" sz="14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29" name="Text Placeholder 5">
                <a:extLst>
                  <a:ext uri="{FF2B5EF4-FFF2-40B4-BE49-F238E27FC236}">
                    <a16:creationId xmlns:a16="http://schemas.microsoft.com/office/drawing/2014/main" id="{DC1FD3F1-C207-9E11-1CCB-9EBDBB17CD82}"/>
                  </a:ext>
                </a:extLst>
              </p:cNvPr>
              <p:cNvSpPr txBox="1">
                <a:spLocks noRot="1" noChangeAspect="1" noMove="1" noResize="1" noEditPoints="1" noAdjustHandles="1" noChangeArrowheads="1" noChangeShapeType="1" noTextEdit="1"/>
              </p:cNvSpPr>
              <p:nvPr/>
            </p:nvSpPr>
            <p:spPr>
              <a:xfrm>
                <a:off x="7661690" y="1189073"/>
                <a:ext cx="3857767" cy="1838955"/>
              </a:xfrm>
              <a:prstGeom prst="rect">
                <a:avLst/>
              </a:prstGeom>
              <a:blipFill>
                <a:blip r:embed="rId10"/>
                <a:stretch>
                  <a:fillRect t="-993" b="-298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0DB65A3A-E83C-5779-12DE-627CDCC6DF0B}"/>
                  </a:ext>
                </a:extLst>
              </p:cNvPr>
              <p:cNvSpPr txBox="1">
                <a:spLocks/>
              </p:cNvSpPr>
              <p:nvPr/>
            </p:nvSpPr>
            <p:spPr>
              <a:xfrm>
                <a:off x="6481796" y="3191523"/>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2" name="Text Placeholder 5">
                <a:extLst>
                  <a:ext uri="{FF2B5EF4-FFF2-40B4-BE49-F238E27FC236}">
                    <a16:creationId xmlns:a16="http://schemas.microsoft.com/office/drawing/2014/main" id="{0DB65A3A-E83C-5779-12DE-627CDCC6DF0B}"/>
                  </a:ext>
                </a:extLst>
              </p:cNvPr>
              <p:cNvSpPr txBox="1">
                <a:spLocks noRot="1" noChangeAspect="1" noMove="1" noResize="1" noEditPoints="1" noAdjustHandles="1" noChangeArrowheads="1" noChangeShapeType="1" noTextEdit="1"/>
              </p:cNvSpPr>
              <p:nvPr/>
            </p:nvSpPr>
            <p:spPr>
              <a:xfrm>
                <a:off x="6481796" y="3191523"/>
                <a:ext cx="2359788" cy="474953"/>
              </a:xfrm>
              <a:prstGeom prst="rect">
                <a:avLst/>
              </a:prstGeom>
              <a:blipFill>
                <a:blip r:embed="rId11"/>
                <a:stretch>
                  <a:fillRect/>
                </a:stretch>
              </a:blipFill>
            </p:spPr>
            <p:txBody>
              <a:bodyPr/>
              <a:lstStyle/>
              <a:p>
                <a:r>
                  <a:rPr lang="en-NZ">
                    <a:noFill/>
                  </a:rPr>
                  <a:t> </a:t>
                </a:r>
              </a:p>
            </p:txBody>
          </p:sp>
        </mc:Fallback>
      </mc:AlternateContent>
      <p:sp>
        <p:nvSpPr>
          <p:cNvPr id="3" name="Title 6">
            <a:extLst>
              <a:ext uri="{FF2B5EF4-FFF2-40B4-BE49-F238E27FC236}">
                <a16:creationId xmlns:a16="http://schemas.microsoft.com/office/drawing/2014/main" id="{B238DE0F-F21B-0D44-A7DA-B1716F1D1624}"/>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4" name="Footer Placeholder 2">
            <a:extLst>
              <a:ext uri="{FF2B5EF4-FFF2-40B4-BE49-F238E27FC236}">
                <a16:creationId xmlns:a16="http://schemas.microsoft.com/office/drawing/2014/main" id="{72DBCAA8-4CDD-213B-5DDE-828CDACA8FF4}"/>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6" name="Picture 2" descr="Te Herenga Waka—Victoria University of Wellington | Universities New  Zealand - Te Pōkai Tara">
            <a:extLst>
              <a:ext uri="{FF2B5EF4-FFF2-40B4-BE49-F238E27FC236}">
                <a16:creationId xmlns:a16="http://schemas.microsoft.com/office/drawing/2014/main" id="{5F8B9122-7C86-27C2-8C36-DEC460F5396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38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P spid="27" grpId="0"/>
      <p:bldP spid="2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34</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DF1D175D-41A1-4623-9A99-95BD2F008E52}"/>
                  </a:ext>
                </a:extLst>
              </p:cNvPr>
              <p:cNvSpPr txBox="1">
                <a:spLocks/>
              </p:cNvSpPr>
              <p:nvPr/>
            </p:nvSpPr>
            <p:spPr>
              <a:xfrm>
                <a:off x="251224" y="1080000"/>
                <a:ext cx="11232109" cy="12810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The </a:t>
                </a:r>
                <a:r>
                  <a:rPr lang="en-NZ" altLang="ja-JP" sz="1700" b="1" dirty="0">
                    <a:solidFill>
                      <a:schemeClr val="tx1"/>
                    </a:solidFill>
                  </a:rPr>
                  <a:t>Total Sum of Squares (TSS)</a:t>
                </a:r>
                <a:r>
                  <a:rPr lang="en-NZ" altLang="ja-JP" sz="1700" dirty="0">
                    <a:solidFill>
                      <a:schemeClr val="tx1"/>
                    </a:solidFill>
                  </a:rPr>
                  <a:t> is the sum of the squared distance of each observation from the overall mean</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𝑻𝑺𝑺</m:t>
                      </m:r>
                      <m:r>
                        <a:rPr lang="en-NZ" altLang="ja-JP" sz="1700" b="1" i="1" smtClean="0">
                          <a:solidFill>
                            <a:schemeClr val="tx1"/>
                          </a:solidFill>
                          <a:latin typeface="Cambria Math" panose="02040503050406030204" pitchFamily="18" charset="0"/>
                        </a:rPr>
                        <m:t>= </m:t>
                      </m:r>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r>
                            <a:rPr lang="en-NZ" altLang="ja-JP" sz="1700" b="1" i="1" smtClean="0">
                              <a:solidFill>
                                <a:schemeClr val="tx1"/>
                              </a:solidFill>
                              <a:latin typeface="Cambria Math" panose="02040503050406030204" pitchFamily="18" charset="0"/>
                            </a:rPr>
                            <m:t>𝒌</m:t>
                          </m:r>
                        </m:sup>
                        <m:e>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𝒋</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smtClean="0">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smtClean="0">
                                      <a:solidFill>
                                        <a:schemeClr val="tx1"/>
                                      </a:solidFill>
                                      <a:latin typeface="Cambria Math" panose="02040503050406030204" pitchFamily="18" charset="0"/>
                                    </a:rPr>
                                  </m:ctrlPr>
                                </m:sSupPr>
                                <m:e>
                                  <m:d>
                                    <m:dPr>
                                      <m:ctrlPr>
                                        <a:rPr lang="en-NZ" altLang="ja-JP" sz="1700" b="1" i="1" smtClean="0">
                                          <a:solidFill>
                                            <a:schemeClr val="tx1"/>
                                          </a:solidFill>
                                          <a:latin typeface="Cambria Math" panose="02040503050406030204" pitchFamily="18" charset="0"/>
                                        </a:rPr>
                                      </m:ctrlPr>
                                    </m:dPr>
                                    <m:e>
                                      <m:sSub>
                                        <m:sSubPr>
                                          <m:ctrlPr>
                                            <a:rPr lang="en-NZ" altLang="ja-JP" sz="1700" b="1" i="1" smtClean="0">
                                              <a:solidFill>
                                                <a:schemeClr val="tx1"/>
                                              </a:solidFill>
                                              <a:latin typeface="Cambria Math" panose="02040503050406030204" pitchFamily="18" charset="0"/>
                                            </a:rPr>
                                          </m:ctrlPr>
                                        </m:sSubPr>
                                        <m:e>
                                          <m:r>
                                            <a:rPr lang="en-NZ" altLang="ja-JP" sz="1700" b="1" i="1" smtClean="0">
                                              <a:solidFill>
                                                <a:schemeClr val="tx1"/>
                                              </a:solidFill>
                                              <a:latin typeface="Cambria Math" panose="02040503050406030204" pitchFamily="18" charset="0"/>
                                            </a:rPr>
                                            <m:t>𝒀</m:t>
                                          </m:r>
                                        </m:e>
                                        <m:sub>
                                          <m: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𝒋</m:t>
                                          </m:r>
                                        </m:sub>
                                      </m:sSub>
                                      <m:r>
                                        <a:rPr lang="en-NZ" altLang="ja-JP" sz="1700" b="1" i="1" smtClean="0">
                                          <a:solidFill>
                                            <a:schemeClr val="tx1"/>
                                          </a:solidFill>
                                          <a:latin typeface="Cambria Math" panose="02040503050406030204" pitchFamily="18" charset="0"/>
                                        </a:rPr>
                                        <m:t> − </m:t>
                                      </m:r>
                                      <m:sSub>
                                        <m:sSubPr>
                                          <m:ctrlPr>
                                            <a:rPr lang="en-NZ" altLang="ja-JP" sz="1700" b="1" i="1" smtClean="0">
                                              <a:solidFill>
                                                <a:schemeClr val="tx1"/>
                                              </a:solidFill>
                                              <a:latin typeface="Cambria Math" panose="02040503050406030204" pitchFamily="18" charset="0"/>
                                            </a:rPr>
                                          </m:ctrlPr>
                                        </m:sSubPr>
                                        <m:e>
                                          <m:acc>
                                            <m:accPr>
                                              <m:chr m:val="̅"/>
                                              <m:ctrlPr>
                                                <a:rPr lang="en-NZ" altLang="ja-JP" sz="1700" b="1" i="1" smtClean="0">
                                                  <a:solidFill>
                                                    <a:schemeClr val="tx1"/>
                                                  </a:solidFill>
                                                  <a:latin typeface="Cambria Math" panose="02040503050406030204" pitchFamily="18" charset="0"/>
                                                </a:rPr>
                                              </m:ctrlPr>
                                            </m:accPr>
                                            <m:e>
                                              <m:r>
                                                <a:rPr lang="en-NZ" altLang="ja-JP" sz="1700" b="1" i="1" smtClean="0">
                                                  <a:solidFill>
                                                    <a:schemeClr val="tx1"/>
                                                  </a:solidFill>
                                                  <a:latin typeface="Cambria Math" panose="02040503050406030204" pitchFamily="18" charset="0"/>
                                                </a:rPr>
                                                <m:t>𝒀</m:t>
                                              </m:r>
                                            </m:e>
                                          </m:acc>
                                        </m:e>
                                        <m:sub>
                                          <m:r>
                                            <a:rPr lang="en-NZ" altLang="ja-JP" sz="17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700" b="1" i="1" smtClean="0">
                                      <a:solidFill>
                                        <a:schemeClr val="tx1"/>
                                      </a:solidFill>
                                      <a:latin typeface="Cambria Math" panose="02040503050406030204" pitchFamily="18" charset="0"/>
                                    </a:rPr>
                                    <m:t>𝟐</m:t>
                                  </m:r>
                                </m:sup>
                              </m:sSup>
                            </m:e>
                          </m:nary>
                        </m:e>
                      </m:nary>
                    </m:oMath>
                  </m:oMathPara>
                </a14:m>
                <a:endParaRPr lang="en-NZ" altLang="ja-JP" sz="17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6" name="Text Placeholder 5">
                <a:extLst>
                  <a:ext uri="{FF2B5EF4-FFF2-40B4-BE49-F238E27FC236}">
                    <a16:creationId xmlns:a16="http://schemas.microsoft.com/office/drawing/2014/main" id="{DF1D175D-41A1-4623-9A99-95BD2F008E52}"/>
                  </a:ext>
                </a:extLst>
              </p:cNvPr>
              <p:cNvSpPr txBox="1">
                <a:spLocks noRot="1" noChangeAspect="1" noMove="1" noResize="1" noEditPoints="1" noAdjustHandles="1" noChangeArrowheads="1" noChangeShapeType="1" noTextEdit="1"/>
              </p:cNvSpPr>
              <p:nvPr/>
            </p:nvSpPr>
            <p:spPr>
              <a:xfrm>
                <a:off x="251224" y="1080000"/>
                <a:ext cx="11232109" cy="1281063"/>
              </a:xfrm>
              <a:prstGeom prst="rect">
                <a:avLst/>
              </a:prstGeom>
              <a:blipFill>
                <a:blip r:embed="rId2"/>
                <a:stretch>
                  <a:fillRect l="-326" t="-142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3" y="2809635"/>
                <a:ext cx="11232109" cy="1497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The </a:t>
                </a:r>
                <a:r>
                  <a:rPr lang="en-NZ" altLang="ja-JP" sz="1700" b="1" dirty="0">
                    <a:solidFill>
                      <a:schemeClr val="tx1"/>
                    </a:solidFill>
                  </a:rPr>
                  <a:t>Sum of Squares due to Treatment (SST) </a:t>
                </a:r>
                <a:r>
                  <a:rPr lang="en-NZ" altLang="ja-JP" sz="1700" dirty="0">
                    <a:solidFill>
                      <a:schemeClr val="tx1"/>
                    </a:solidFill>
                  </a:rPr>
                  <a:t>is the sum of the squared distance of group means from the overall mean</a:t>
                </a: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𝑺𝑺𝑻</m:t>
                      </m:r>
                      <m:r>
                        <a:rPr lang="en-NZ" altLang="ja-JP" sz="1700" b="1" i="1" smtClean="0">
                          <a:solidFill>
                            <a:schemeClr val="tx1"/>
                          </a:solidFill>
                          <a:latin typeface="Cambria Math" panose="02040503050406030204" pitchFamily="18" charset="0"/>
                        </a:rPr>
                        <m:t>= </m:t>
                      </m:r>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r>
                            <a:rPr lang="en-NZ" altLang="ja-JP" sz="1700" b="1" i="1" smtClean="0">
                              <a:solidFill>
                                <a:schemeClr val="tx1"/>
                              </a:solidFill>
                              <a:latin typeface="Cambria Math" panose="02040503050406030204" pitchFamily="18" charset="0"/>
                            </a:rPr>
                            <m:t>𝒌</m:t>
                          </m:r>
                        </m:sup>
                        <m:e>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𝒋</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smtClean="0">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smtClean="0">
                                      <a:solidFill>
                                        <a:schemeClr val="tx1"/>
                                      </a:solidFill>
                                      <a:latin typeface="Cambria Math" panose="02040503050406030204" pitchFamily="18" charset="0"/>
                                    </a:rPr>
                                  </m:ctrlPr>
                                </m:sSupPr>
                                <m:e>
                                  <m:d>
                                    <m:dPr>
                                      <m:ctrlPr>
                                        <a:rPr lang="en-NZ" altLang="ja-JP" sz="1700" b="1" i="1" smtClean="0">
                                          <a:solidFill>
                                            <a:schemeClr val="tx1"/>
                                          </a:solidFill>
                                          <a:latin typeface="Cambria Math" panose="02040503050406030204" pitchFamily="18" charset="0"/>
                                        </a:rPr>
                                      </m:ctrlPr>
                                    </m:dPr>
                                    <m:e>
                                      <m:r>
                                        <a:rPr lang="en-NZ" altLang="ja-JP" sz="1700" b="1" i="1" smtClean="0">
                                          <a:solidFill>
                                            <a:schemeClr val="tx1"/>
                                          </a:solidFill>
                                          <a:latin typeface="Cambria Math" panose="02040503050406030204" pitchFamily="18" charset="0"/>
                                        </a:rPr>
                                        <m:t> </m:t>
                                      </m:r>
                                      <m:sSub>
                                        <m:sSubPr>
                                          <m:ctrlPr>
                                            <a:rPr lang="en-NZ" altLang="ja-JP" sz="1700" b="1" i="1" smtClean="0">
                                              <a:solidFill>
                                                <a:schemeClr val="tx1"/>
                                              </a:solidFill>
                                              <a:latin typeface="Cambria Math" panose="02040503050406030204" pitchFamily="18" charset="0"/>
                                            </a:rPr>
                                          </m:ctrlPr>
                                        </m:sSubPr>
                                        <m:e>
                                          <m:acc>
                                            <m:accPr>
                                              <m:chr m:val="̅"/>
                                              <m:ctrlPr>
                                                <a:rPr lang="en-NZ" altLang="ja-JP" sz="1700" b="1" i="1" smtClean="0">
                                                  <a:solidFill>
                                                    <a:schemeClr val="tx1"/>
                                                  </a:solidFill>
                                                  <a:latin typeface="Cambria Math" panose="02040503050406030204" pitchFamily="18" charset="0"/>
                                                </a:rPr>
                                              </m:ctrlPr>
                                            </m:accPr>
                                            <m:e>
                                              <m:r>
                                                <a:rPr lang="en-NZ" altLang="ja-JP" sz="1700" b="1" i="1" smtClean="0">
                                                  <a:solidFill>
                                                    <a:schemeClr val="tx1"/>
                                                  </a:solidFill>
                                                  <a:latin typeface="Cambria Math" panose="02040503050406030204" pitchFamily="18" charset="0"/>
                                                </a:rPr>
                                                <m:t>𝒀</m:t>
                                              </m:r>
                                            </m:e>
                                          </m:acc>
                                        </m:e>
                                        <m:sub>
                                          <m: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ea typeface="Cambria Math" panose="02040503050406030204" pitchFamily="18" charset="0"/>
                                            </a:rPr>
                                            <m:t>∙</m:t>
                                          </m:r>
                                        </m:sub>
                                      </m:sSub>
                                      <m:r>
                                        <a:rPr lang="en-NZ" altLang="ja-JP" sz="1700" b="1" i="1" smtClean="0">
                                          <a:solidFill>
                                            <a:schemeClr val="tx1"/>
                                          </a:solidFill>
                                          <a:latin typeface="Cambria Math" panose="02040503050406030204" pitchFamily="18" charset="0"/>
                                        </a:rPr>
                                        <m:t>− </m:t>
                                      </m:r>
                                      <m:sSub>
                                        <m:sSubPr>
                                          <m:ctrlPr>
                                            <a:rPr lang="en-NZ" altLang="ja-JP" sz="1700" b="1" i="1" smtClean="0">
                                              <a:solidFill>
                                                <a:schemeClr val="tx1"/>
                                              </a:solidFill>
                                              <a:latin typeface="Cambria Math" panose="02040503050406030204" pitchFamily="18" charset="0"/>
                                            </a:rPr>
                                          </m:ctrlPr>
                                        </m:sSubPr>
                                        <m:e>
                                          <m:acc>
                                            <m:accPr>
                                              <m:chr m:val="̅"/>
                                              <m:ctrlPr>
                                                <a:rPr lang="en-NZ" altLang="ja-JP" sz="1700" b="1" i="1" smtClean="0">
                                                  <a:solidFill>
                                                    <a:schemeClr val="tx1"/>
                                                  </a:solidFill>
                                                  <a:latin typeface="Cambria Math" panose="02040503050406030204" pitchFamily="18" charset="0"/>
                                                </a:rPr>
                                              </m:ctrlPr>
                                            </m:accPr>
                                            <m:e>
                                              <m:r>
                                                <a:rPr lang="en-NZ" altLang="ja-JP" sz="1700" b="1" i="1" smtClean="0">
                                                  <a:solidFill>
                                                    <a:schemeClr val="tx1"/>
                                                  </a:solidFill>
                                                  <a:latin typeface="Cambria Math" panose="02040503050406030204" pitchFamily="18" charset="0"/>
                                                </a:rPr>
                                                <m:t>𝒀</m:t>
                                              </m:r>
                                            </m:e>
                                          </m:acc>
                                        </m:e>
                                        <m:sub>
                                          <m:r>
                                            <a:rPr lang="en-NZ" altLang="ja-JP" sz="17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700" b="1" i="1" smtClean="0">
                                      <a:solidFill>
                                        <a:schemeClr val="tx1"/>
                                      </a:solidFill>
                                      <a:latin typeface="Cambria Math" panose="02040503050406030204" pitchFamily="18" charset="0"/>
                                    </a:rPr>
                                    <m:t>𝟐</m:t>
                                  </m:r>
                                </m:sup>
                              </m:sSup>
                            </m:e>
                          </m:nary>
                        </m:e>
                      </m:nary>
                    </m:oMath>
                  </m:oMathPara>
                </a14:m>
                <a:endParaRPr lang="en-NZ" altLang="ja-JP" sz="1700" b="1" dirty="0">
                  <a:solidFill>
                    <a:schemeClr val="tx1"/>
                  </a:solidFill>
                </a:endParaRPr>
              </a:p>
              <a:p>
                <a:pPr algn="just">
                  <a:lnSpc>
                    <a:spcPct val="100000"/>
                  </a:lnSpc>
                </a:pPr>
                <a:r>
                  <a:rPr lang="en-NZ" altLang="ja-JP" sz="1700" dirty="0">
                    <a:solidFill>
                      <a:schemeClr val="tx1"/>
                    </a:solidFill>
                  </a:rPr>
                  <a:t>It measures the amount of variability </a:t>
                </a:r>
                <a:r>
                  <a:rPr lang="en-NZ" altLang="ja-JP" sz="1700" b="1" dirty="0">
                    <a:solidFill>
                      <a:schemeClr val="tx1"/>
                    </a:solidFill>
                  </a:rPr>
                  <a:t>between</a:t>
                </a:r>
                <a:r>
                  <a:rPr lang="en-NZ" altLang="ja-JP" sz="1700" dirty="0">
                    <a:solidFill>
                      <a:schemeClr val="tx1"/>
                    </a:solidFill>
                  </a:rPr>
                  <a:t> group means and the overall mean.</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8" name="Text Placeholder 5">
                <a:extLst>
                  <a:ext uri="{FF2B5EF4-FFF2-40B4-BE49-F238E27FC236}">
                    <a16:creationId xmlns:a16="http://schemas.microsoft.com/office/drawing/2014/main" id="{4698F60F-1497-4737-98D4-F910581ADCDE}"/>
                  </a:ext>
                </a:extLst>
              </p:cNvPr>
              <p:cNvSpPr txBox="1">
                <a:spLocks noRot="1" noChangeAspect="1" noMove="1" noResize="1" noEditPoints="1" noAdjustHandles="1" noChangeArrowheads="1" noChangeShapeType="1" noTextEdit="1"/>
              </p:cNvSpPr>
              <p:nvPr/>
            </p:nvSpPr>
            <p:spPr>
              <a:xfrm>
                <a:off x="251223" y="2809635"/>
                <a:ext cx="11232109" cy="1497152"/>
              </a:xfrm>
              <a:prstGeom prst="rect">
                <a:avLst/>
              </a:prstGeom>
              <a:blipFill>
                <a:blip r:embed="rId3"/>
                <a:stretch>
                  <a:fillRect l="-326" t="-16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555998DE-9E2B-4D1F-A9AD-795419811DC1}"/>
                  </a:ext>
                </a:extLst>
              </p:cNvPr>
              <p:cNvSpPr txBox="1">
                <a:spLocks/>
              </p:cNvSpPr>
              <p:nvPr/>
            </p:nvSpPr>
            <p:spPr>
              <a:xfrm>
                <a:off x="251223" y="4666628"/>
                <a:ext cx="11472203" cy="12810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The </a:t>
                </a:r>
                <a:r>
                  <a:rPr lang="en-NZ" altLang="ja-JP" sz="1700" b="1" dirty="0">
                    <a:solidFill>
                      <a:schemeClr val="tx1"/>
                    </a:solidFill>
                  </a:rPr>
                  <a:t>Sum of Squares due to Error (SSE) </a:t>
                </a:r>
                <a:r>
                  <a:rPr lang="en-NZ" altLang="ja-JP" sz="1700" dirty="0">
                    <a:solidFill>
                      <a:schemeClr val="tx1"/>
                    </a:solidFill>
                  </a:rPr>
                  <a:t>is the sum of the squared distance of each observation to its group mean</a:t>
                </a: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𝑺𝑺𝑬</m:t>
                      </m:r>
                      <m:r>
                        <a:rPr lang="en-NZ" altLang="ja-JP" sz="1700" b="1" i="1" smtClean="0">
                          <a:solidFill>
                            <a:schemeClr val="tx1"/>
                          </a:solidFill>
                          <a:latin typeface="Cambria Math" panose="02040503050406030204" pitchFamily="18" charset="0"/>
                        </a:rPr>
                        <m:t>= </m:t>
                      </m:r>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r>
                            <a:rPr lang="en-NZ" altLang="ja-JP" sz="1700" b="1" i="1" smtClean="0">
                              <a:solidFill>
                                <a:schemeClr val="tx1"/>
                              </a:solidFill>
                              <a:latin typeface="Cambria Math" panose="02040503050406030204" pitchFamily="18" charset="0"/>
                            </a:rPr>
                            <m:t>𝒌</m:t>
                          </m:r>
                        </m:sup>
                        <m:e>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𝒋</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smtClean="0">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smtClean="0">
                                      <a:solidFill>
                                        <a:schemeClr val="tx1"/>
                                      </a:solidFill>
                                      <a:latin typeface="Cambria Math" panose="02040503050406030204" pitchFamily="18" charset="0"/>
                                    </a:rPr>
                                  </m:ctrlPr>
                                </m:sSupPr>
                                <m:e>
                                  <m:d>
                                    <m:dPr>
                                      <m:ctrlPr>
                                        <a:rPr lang="en-NZ" altLang="ja-JP" sz="1700" b="1" i="1" smtClean="0">
                                          <a:solidFill>
                                            <a:schemeClr val="tx1"/>
                                          </a:solidFill>
                                          <a:latin typeface="Cambria Math" panose="02040503050406030204" pitchFamily="18" charset="0"/>
                                        </a:rPr>
                                      </m:ctrlPr>
                                    </m:dPr>
                                    <m:e>
                                      <m:sSub>
                                        <m:sSubPr>
                                          <m:ctrlPr>
                                            <a:rPr lang="en-NZ" altLang="ja-JP" sz="1700" b="1" i="1">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𝒀</m:t>
                                          </m:r>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𝒋</m:t>
                                          </m:r>
                                        </m:sub>
                                      </m:sSub>
                                      <m:r>
                                        <a:rPr lang="en-NZ" altLang="ja-JP" sz="1700" b="1" i="1">
                                          <a:solidFill>
                                            <a:schemeClr val="tx1"/>
                                          </a:solidFill>
                                          <a:latin typeface="Cambria Math" panose="02040503050406030204" pitchFamily="18" charset="0"/>
                                        </a:rPr>
                                        <m:t> −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smtClean="0">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smtClean="0">
                                      <a:solidFill>
                                        <a:schemeClr val="tx1"/>
                                      </a:solidFill>
                                      <a:latin typeface="Cambria Math" panose="02040503050406030204" pitchFamily="18" charset="0"/>
                                    </a:rPr>
                                    <m:t>𝟐</m:t>
                                  </m:r>
                                </m:sup>
                              </m:sSup>
                            </m:e>
                          </m:nary>
                        </m:e>
                      </m:nary>
                    </m:oMath>
                  </m:oMathPara>
                </a14:m>
                <a:endParaRPr lang="en-NZ" altLang="ja-JP" sz="1700" b="1" dirty="0">
                  <a:solidFill>
                    <a:schemeClr val="tx1"/>
                  </a:solidFill>
                </a:endParaRPr>
              </a:p>
              <a:p>
                <a:pPr algn="just">
                  <a:lnSpc>
                    <a:spcPct val="100000"/>
                  </a:lnSpc>
                </a:pPr>
                <a:r>
                  <a:rPr lang="en-NZ" altLang="ja-JP" sz="1700" dirty="0">
                    <a:solidFill>
                      <a:schemeClr val="tx1"/>
                    </a:solidFill>
                  </a:rPr>
                  <a:t>It measures the amount of variability </a:t>
                </a:r>
                <a:r>
                  <a:rPr lang="en-NZ" altLang="ja-JP" sz="1700" b="1" dirty="0">
                    <a:solidFill>
                      <a:schemeClr val="tx1"/>
                    </a:solidFill>
                  </a:rPr>
                  <a:t>within </a:t>
                </a:r>
                <a:r>
                  <a:rPr lang="en-NZ" altLang="ja-JP" sz="1700" dirty="0">
                    <a:solidFill>
                      <a:schemeClr val="tx1"/>
                    </a:solidFill>
                  </a:rPr>
                  <a:t>groups (i.e. the amount of variation due to sources other than the group).</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9" name="Text Placeholder 5">
                <a:extLst>
                  <a:ext uri="{FF2B5EF4-FFF2-40B4-BE49-F238E27FC236}">
                    <a16:creationId xmlns:a16="http://schemas.microsoft.com/office/drawing/2014/main" id="{555998DE-9E2B-4D1F-A9AD-795419811DC1}"/>
                  </a:ext>
                </a:extLst>
              </p:cNvPr>
              <p:cNvSpPr txBox="1">
                <a:spLocks noRot="1" noChangeAspect="1" noMove="1" noResize="1" noEditPoints="1" noAdjustHandles="1" noChangeArrowheads="1" noChangeShapeType="1" noTextEdit="1"/>
              </p:cNvSpPr>
              <p:nvPr/>
            </p:nvSpPr>
            <p:spPr>
              <a:xfrm>
                <a:off x="251223" y="4666628"/>
                <a:ext cx="11472203" cy="1281063"/>
              </a:xfrm>
              <a:prstGeom prst="rect">
                <a:avLst/>
              </a:prstGeom>
              <a:blipFill>
                <a:blip r:embed="rId4"/>
                <a:stretch>
                  <a:fillRect l="-319" t="-1905" b="-14286"/>
                </a:stretch>
              </a:blipFill>
            </p:spPr>
            <p:txBody>
              <a:bodyPr/>
              <a:lstStyle/>
              <a:p>
                <a:r>
                  <a:rPr lang="en-NZ">
                    <a:noFill/>
                  </a:rPr>
                  <a:t> </a:t>
                </a:r>
              </a:p>
            </p:txBody>
          </p:sp>
        </mc:Fallback>
      </mc:AlternateContent>
      <p:sp>
        <p:nvSpPr>
          <p:cNvPr id="3" name="Title 6">
            <a:extLst>
              <a:ext uri="{FF2B5EF4-FFF2-40B4-BE49-F238E27FC236}">
                <a16:creationId xmlns:a16="http://schemas.microsoft.com/office/drawing/2014/main" id="{98A13EEA-EA6B-9862-3E96-207C8F93B3A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10" name="Footer Placeholder 2">
            <a:extLst>
              <a:ext uri="{FF2B5EF4-FFF2-40B4-BE49-F238E27FC236}">
                <a16:creationId xmlns:a16="http://schemas.microsoft.com/office/drawing/2014/main" id="{493D522F-C3D0-64C5-1AF9-AA2EEDCFE884}"/>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14" name="Picture 2" descr="Te Herenga Waka—Victoria University of Wellington | Universities New  Zealand - Te Pōkai Tara">
            <a:extLst>
              <a:ext uri="{FF2B5EF4-FFF2-40B4-BE49-F238E27FC236}">
                <a16:creationId xmlns:a16="http://schemas.microsoft.com/office/drawing/2014/main" id="{3307C6F8-3C49-372A-4908-9EBD452516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24BBF808-220F-B843-3CD0-FBA52721AA10}"/>
                  </a:ext>
                </a:extLst>
              </p:cNvPr>
              <p:cNvSpPr txBox="1">
                <a:spLocks/>
              </p:cNvSpPr>
              <p:nvPr/>
            </p:nvSpPr>
            <p:spPr>
              <a:xfrm>
                <a:off x="7625566" y="1204845"/>
                <a:ext cx="3857767" cy="141458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endParaRPr lang="en-NZ" altLang="ja-JP" sz="14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400" i="1" smtClean="0">
                            <a:solidFill>
                              <a:schemeClr val="tx1"/>
                            </a:solidFill>
                            <a:latin typeface="Cambria Math" panose="02040503050406030204" pitchFamily="18" charset="0"/>
                          </a:rPr>
                        </m:ctrlPr>
                      </m:dPr>
                      <m:e>
                        <m:m>
                          <m:mPr>
                            <m:mcs>
                              <m:mc>
                                <m:mcPr>
                                  <m:count m:val="3"/>
                                  <m:mcJc m:val="center"/>
                                </m:mcPr>
                              </m:mc>
                            </m:mcs>
                            <m:ctrlPr>
                              <a:rPr lang="en-NZ" altLang="ja-JP" sz="1400" i="1" smtClean="0">
                                <a:solidFill>
                                  <a:schemeClr val="tx1"/>
                                </a:solidFill>
                                <a:latin typeface="Cambria Math" panose="02040503050406030204" pitchFamily="18" charset="0"/>
                              </a:rPr>
                            </m:ctrlPr>
                          </m:mPr>
                          <m:mr>
                            <m:e>
                              <m:sSub>
                                <m:sSubPr>
                                  <m:ctrlPr>
                                    <a:rPr lang="en-NZ" altLang="ja-JP" sz="1400" b="0" i="1" smtClean="0">
                                      <a:solidFill>
                                        <a:schemeClr val="tx1"/>
                                      </a:solidFill>
                                      <a:latin typeface="Cambria Math" panose="02040503050406030204" pitchFamily="18" charset="0"/>
                                    </a:rPr>
                                  </m:ctrlPr>
                                </m:sSubPr>
                                <m:e>
                                  <m:r>
                                    <m:rPr>
                                      <m:brk m:alnAt="7"/>
                                    </m:rPr>
                                    <a:rPr lang="en-NZ" altLang="ja-JP" sz="1400" b="0" i="1" smtClean="0">
                                      <a:solidFill>
                                        <a:schemeClr val="tx1"/>
                                      </a:solidFill>
                                      <a:latin typeface="Cambria Math" panose="02040503050406030204" pitchFamily="18" charset="0"/>
                                    </a:rPr>
                                    <m:t>𝑌</m:t>
                                  </m:r>
                                </m:e>
                                <m:sub>
                                  <m:r>
                                    <m:rPr>
                                      <m:brk m:alnAt="7"/>
                                    </m:rPr>
                                    <a:rPr lang="en-NZ" altLang="ja-JP" sz="1400" b="0" i="1" smtClean="0">
                                      <a:solidFill>
                                        <a:schemeClr val="tx1"/>
                                      </a:solidFill>
                                      <a:latin typeface="Cambria Math" panose="02040503050406030204" pitchFamily="18" charset="0"/>
                                    </a:rPr>
                                    <m:t>1</m:t>
                                  </m:r>
                                  <m:r>
                                    <a:rPr lang="en-NZ" altLang="ja-JP" sz="1400" b="0" i="1" smtClean="0">
                                      <a:solidFill>
                                        <a:schemeClr val="tx1"/>
                                      </a:solidFill>
                                      <a:latin typeface="Cambria Math" panose="02040503050406030204" pitchFamily="18" charset="0"/>
                                    </a:rPr>
                                    <m:t>,1</m:t>
                                  </m:r>
                                </m:sub>
                              </m:sSub>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m:rPr>
                                      <m:brk m:alnAt="7"/>
                                    </m:rPr>
                                    <a:rPr lang="en-NZ" altLang="ja-JP" sz="1400" i="1">
                                      <a:solidFill>
                                        <a:schemeClr val="tx1"/>
                                      </a:solidFill>
                                      <a:latin typeface="Cambria Math" panose="02040503050406030204" pitchFamily="18" charset="0"/>
                                    </a:rPr>
                                    <m:t>1</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2</m:t>
                                  </m:r>
                                </m:sub>
                              </m:sSub>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m:rPr>
                                            <m:brk m:alnAt="7"/>
                                          </m:rPr>
                                          <a:rPr lang="en-NZ" altLang="ja-JP" sz="1400" i="1">
                                            <a:solidFill>
                                              <a:schemeClr val="tx1"/>
                                            </a:solidFill>
                                            <a:latin typeface="Cambria Math" panose="02040503050406030204" pitchFamily="18" charset="0"/>
                                          </a:rPr>
                                          <m:t>1</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r>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,1</m:t>
                                  </m:r>
                                </m:sub>
                              </m:sSub>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2</m:t>
                                  </m:r>
                                </m:sub>
                              </m:sSub>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𝑘</m:t>
                                        </m:r>
                                        <m:r>
                                          <a:rPr lang="en-NZ" altLang="ja-JP" sz="14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ea typeface="Cambria Math" panose="02040503050406030204" pitchFamily="18" charset="0"/>
                                      </a:rPr>
                                      <m:t>⋮</m:t>
                                    </m:r>
                                  </m:e>
                                </m:mr>
                                <m:mr>
                                  <m:e>
                                    <m:sSub>
                                      <m:sSubPr>
                                        <m:ctrlPr>
                                          <a:rPr lang="en-NZ" altLang="ja-JP" sz="1400" i="1" smtClean="0">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𝑌</m:t>
                                        </m:r>
                                      </m:e>
                                      <m:sub>
                                        <m:r>
                                          <a:rPr lang="en-NZ" altLang="ja-JP" sz="1400" i="1">
                                            <a:solidFill>
                                              <a:schemeClr val="tx1"/>
                                            </a:solidFill>
                                            <a:latin typeface="Cambria Math" panose="02040503050406030204" pitchFamily="18" charset="0"/>
                                          </a:rPr>
                                          <m:t>𝑘</m:t>
                                        </m:r>
                                        <m:r>
                                          <a:rPr lang="en-NZ" altLang="ja-JP" sz="1400" i="1">
                                            <a:solidFill>
                                              <a:schemeClr val="tx1"/>
                                            </a:solidFill>
                                            <a:latin typeface="Cambria Math" panose="02040503050406030204" pitchFamily="18" charset="0"/>
                                          </a:rPr>
                                          <m:t>,2</m:t>
                                        </m:r>
                                      </m:sub>
                                    </m:sSub>
                                  </m:e>
                                </m:mr>
                              </m:m>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ea typeface="Cambria Math" panose="02040503050406030204" pitchFamily="18" charset="0"/>
                                            </a:rPr>
                                            <m:t>⋮</m:t>
                                          </m:r>
                                        </m:e>
                                      </m:mr>
                                      <m:m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𝑌</m:t>
                                              </m:r>
                                            </m:e>
                                            <m:sub>
                                              <m:r>
                                                <a:rPr lang="en-NZ" altLang="ja-JP" sz="1400" i="1">
                                                  <a:solidFill>
                                                    <a:schemeClr val="tx1"/>
                                                  </a:solidFill>
                                                  <a:latin typeface="Cambria Math" panose="02040503050406030204" pitchFamily="18" charset="0"/>
                                                </a:rPr>
                                                <m:t>𝑘</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
                            </m:e>
                          </m:mr>
                        </m:m>
                      </m:e>
                    </m:d>
                  </m:oMath>
                </a14:m>
                <a:r>
                  <a:rPr lang="en-NZ" altLang="ja-JP" sz="1400" dirty="0">
                    <a:solidFill>
                      <a:schemeClr val="tx1"/>
                    </a:solidFill>
                  </a:rPr>
                  <a:t> </a:t>
                </a:r>
              </a:p>
              <a:p>
                <a:pPr algn="ctr">
                  <a:lnSpc>
                    <a:spcPct val="100000"/>
                  </a:lnSpc>
                </a:pPr>
                <a:endParaRPr lang="en-NZ" altLang="ja-JP" sz="1400" dirty="0">
                  <a:solidFill>
                    <a:schemeClr val="tx1"/>
                  </a:solidFill>
                </a:endParaRP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mc:Choice>
        <mc:Fallback xmlns="">
          <p:sp>
            <p:nvSpPr>
              <p:cNvPr id="15" name="Text Placeholder 5">
                <a:extLst>
                  <a:ext uri="{FF2B5EF4-FFF2-40B4-BE49-F238E27FC236}">
                    <a16:creationId xmlns:a16="http://schemas.microsoft.com/office/drawing/2014/main" id="{24BBF808-220F-B843-3CD0-FBA52721AA10}"/>
                  </a:ext>
                </a:extLst>
              </p:cNvPr>
              <p:cNvSpPr txBox="1">
                <a:spLocks noRot="1" noChangeAspect="1" noMove="1" noResize="1" noEditPoints="1" noAdjustHandles="1" noChangeArrowheads="1" noChangeShapeType="1" noTextEdit="1"/>
              </p:cNvSpPr>
              <p:nvPr/>
            </p:nvSpPr>
            <p:spPr>
              <a:xfrm>
                <a:off x="7625566" y="1204845"/>
                <a:ext cx="3857767" cy="1414583"/>
              </a:xfrm>
              <a:prstGeom prst="rect">
                <a:avLst/>
              </a:prstGeom>
              <a:blipFill>
                <a:blip r:embed="rId6"/>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21750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35</a:t>
            </a:fld>
            <a:endParaRPr kumimoji="1" lang="ja-JP" altLang="en-US" dirty="0">
              <a:solidFill>
                <a:srgbClr val="575454">
                  <a:lumMod val="20000"/>
                  <a:lumOff val="80000"/>
                </a:srgbClr>
              </a:solidFill>
              <a:latin typeface="Coo Hew"/>
            </a:endParaRPr>
          </a:p>
        </p:txBody>
      </p:sp>
      <p:sp>
        <p:nvSpPr>
          <p:cNvPr id="10" name="Text Placeholder 5">
            <a:extLst>
              <a:ext uri="{FF2B5EF4-FFF2-40B4-BE49-F238E27FC236}">
                <a16:creationId xmlns:a16="http://schemas.microsoft.com/office/drawing/2014/main" id="{20C30583-55F8-4CA9-8114-AA7C5435B208}"/>
              </a:ext>
            </a:extLst>
          </p:cNvPr>
          <p:cNvSpPr txBox="1">
            <a:spLocks/>
          </p:cNvSpPr>
          <p:nvPr/>
        </p:nvSpPr>
        <p:spPr>
          <a:xfrm>
            <a:off x="251224" y="1114040"/>
            <a:ext cx="1123210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With a bit of algebra it can be shown that </a:t>
            </a:r>
            <a:r>
              <a:rPr lang="en-NZ" altLang="ja-JP" sz="1800" b="1" i="1" dirty="0">
                <a:solidFill>
                  <a:srgbClr val="C00000"/>
                </a:solidFill>
              </a:rPr>
              <a:t>TSS = SST + SSE</a:t>
            </a:r>
            <a:r>
              <a:rPr lang="en-NZ" altLang="ja-JP" sz="1800" dirty="0">
                <a:solidFill>
                  <a:schemeClr val="tx1"/>
                </a:solidFill>
              </a:rPr>
              <a:t> *, i.e.</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2" name="Text Placeholder 5">
            <a:extLst>
              <a:ext uri="{FF2B5EF4-FFF2-40B4-BE49-F238E27FC236}">
                <a16:creationId xmlns:a16="http://schemas.microsoft.com/office/drawing/2014/main" id="{BFF98ADB-0932-A396-409C-8BE1056C5568}"/>
              </a:ext>
            </a:extLst>
          </p:cNvPr>
          <p:cNvSpPr txBox="1">
            <a:spLocks/>
          </p:cNvSpPr>
          <p:nvPr/>
        </p:nvSpPr>
        <p:spPr>
          <a:xfrm>
            <a:off x="1886173" y="6492875"/>
            <a:ext cx="82558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bg2">
                    <a:lumMod val="25000"/>
                  </a:schemeClr>
                </a:solidFill>
              </a:rPr>
              <a:t>*The proof of this statements is not required for this course but is available as supplementary material on the intranet. </a:t>
            </a:r>
          </a:p>
          <a:p>
            <a:pPr algn="just">
              <a:lnSpc>
                <a:spcPct val="100000"/>
              </a:lnSpc>
            </a:pPr>
            <a:r>
              <a:rPr lang="en-NZ" altLang="ja-JP" sz="1200" dirty="0">
                <a:solidFill>
                  <a:schemeClr val="bg2">
                    <a:lumMod val="25000"/>
                  </a:schemeClr>
                </a:solidFill>
              </a:rPr>
              <a:t>  </a:t>
            </a:r>
          </a:p>
          <a:p>
            <a:pPr algn="just">
              <a:lnSpc>
                <a:spcPct val="100000"/>
              </a:lnSpc>
            </a:pPr>
            <a:endParaRPr lang="en-NZ" altLang="ja-JP" sz="1200" dirty="0">
              <a:solidFill>
                <a:schemeClr val="bg2">
                  <a:lumMod val="25000"/>
                </a:schemeClr>
              </a:solidFill>
            </a:endParaRPr>
          </a:p>
          <a:p>
            <a:pPr algn="just">
              <a:lnSpc>
                <a:spcPct val="100000"/>
              </a:lnSpc>
            </a:pPr>
            <a:endParaRPr lang="en-NZ" altLang="ja-JP" sz="1200" i="1" dirty="0">
              <a:solidFill>
                <a:schemeClr val="bg2">
                  <a:lumMod val="25000"/>
                </a:schemeClr>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B7DFADC2-343A-9FD0-9F93-C51DFD33FD0C}"/>
                  </a:ext>
                </a:extLst>
              </p:cNvPr>
              <p:cNvSpPr txBox="1">
                <a:spLocks/>
              </p:cNvSpPr>
              <p:nvPr/>
            </p:nvSpPr>
            <p:spPr>
              <a:xfrm>
                <a:off x="708668" y="1642416"/>
                <a:ext cx="2211953" cy="1039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𝒋</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4" name="Text Placeholder 5">
                <a:extLst>
                  <a:ext uri="{FF2B5EF4-FFF2-40B4-BE49-F238E27FC236}">
                    <a16:creationId xmlns:a16="http://schemas.microsoft.com/office/drawing/2014/main" id="{B7DFADC2-343A-9FD0-9F93-C51DFD33FD0C}"/>
                  </a:ext>
                </a:extLst>
              </p:cNvPr>
              <p:cNvSpPr txBox="1">
                <a:spLocks noRot="1" noChangeAspect="1" noMove="1" noResize="1" noEditPoints="1" noAdjustHandles="1" noChangeArrowheads="1" noChangeShapeType="1" noTextEdit="1"/>
              </p:cNvSpPr>
              <p:nvPr/>
            </p:nvSpPr>
            <p:spPr>
              <a:xfrm>
                <a:off x="708668" y="1642416"/>
                <a:ext cx="2211953" cy="1039556"/>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2E95B4F2-45B5-21B3-4CE5-441080F974A2}"/>
                  </a:ext>
                </a:extLst>
              </p:cNvPr>
              <p:cNvSpPr txBox="1">
                <a:spLocks/>
              </p:cNvSpPr>
              <p:nvPr/>
            </p:nvSpPr>
            <p:spPr>
              <a:xfrm>
                <a:off x="3008315" y="1642416"/>
                <a:ext cx="3242360" cy="1039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ea typeface="Cambria Math" panose="02040503050406030204" pitchFamily="18" charset="0"/>
                                            </a:rPr>
                                            <m:t>∙</m:t>
                                          </m:r>
                                        </m:sub>
                                      </m:sSub>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oMath>
                  </m:oMathPara>
                </a14:m>
                <a:endParaRPr lang="en-NZ" altLang="ja-JP" sz="1800" b="1" dirty="0">
                  <a:solidFill>
                    <a:schemeClr val="tx1"/>
                  </a:solidFill>
                </a:endParaRP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5" name="Text Placeholder 5">
                <a:extLst>
                  <a:ext uri="{FF2B5EF4-FFF2-40B4-BE49-F238E27FC236}">
                    <a16:creationId xmlns:a16="http://schemas.microsoft.com/office/drawing/2014/main" id="{2E95B4F2-45B5-21B3-4CE5-441080F974A2}"/>
                  </a:ext>
                </a:extLst>
              </p:cNvPr>
              <p:cNvSpPr txBox="1">
                <a:spLocks noRot="1" noChangeAspect="1" noMove="1" noResize="1" noEditPoints="1" noAdjustHandles="1" noChangeArrowheads="1" noChangeShapeType="1" noTextEdit="1"/>
              </p:cNvSpPr>
              <p:nvPr/>
            </p:nvSpPr>
            <p:spPr>
              <a:xfrm>
                <a:off x="3008315" y="1642416"/>
                <a:ext cx="3242360" cy="1039556"/>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8C05015B-4F50-48F4-9CFD-0D94207C2C9A}"/>
                  </a:ext>
                </a:extLst>
              </p:cNvPr>
              <p:cNvSpPr txBox="1">
                <a:spLocks/>
              </p:cNvSpPr>
              <p:nvPr/>
            </p:nvSpPr>
            <p:spPr>
              <a:xfrm>
                <a:off x="5568287" y="1640605"/>
                <a:ext cx="3152633" cy="10413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r>
                        <a:rPr lang="en-NZ" altLang="ja-JP" sz="1800" b="1" i="1" smtClean="0">
                          <a:solidFill>
                            <a:schemeClr val="tx1"/>
                          </a:solidFill>
                          <a:latin typeface="Cambria Math" panose="02040503050406030204" pitchFamily="18" charset="0"/>
                        </a:rPr>
                        <m:t> </m:t>
                      </m:r>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6" name="Text Placeholder 5">
                <a:extLst>
                  <a:ext uri="{FF2B5EF4-FFF2-40B4-BE49-F238E27FC236}">
                    <a16:creationId xmlns:a16="http://schemas.microsoft.com/office/drawing/2014/main" id="{8C05015B-4F50-48F4-9CFD-0D94207C2C9A}"/>
                  </a:ext>
                </a:extLst>
              </p:cNvPr>
              <p:cNvSpPr txBox="1">
                <a:spLocks noRot="1" noChangeAspect="1" noMove="1" noResize="1" noEditPoints="1" noAdjustHandles="1" noChangeArrowheads="1" noChangeShapeType="1" noTextEdit="1"/>
              </p:cNvSpPr>
              <p:nvPr/>
            </p:nvSpPr>
            <p:spPr>
              <a:xfrm>
                <a:off x="5568287" y="1640605"/>
                <a:ext cx="3152633" cy="1041367"/>
              </a:xfrm>
              <a:prstGeom prst="rect">
                <a:avLst/>
              </a:prstGeom>
              <a:blipFill>
                <a:blip r:embed="rId4"/>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FB3EE4F-FC5A-60EF-A6F8-C2AFC8E6CCAF}"/>
              </a:ext>
            </a:extLst>
          </p:cNvPr>
          <p:cNvSpPr txBox="1">
            <a:spLocks/>
          </p:cNvSpPr>
          <p:nvPr/>
        </p:nvSpPr>
        <p:spPr>
          <a:xfrm>
            <a:off x="708668" y="2603147"/>
            <a:ext cx="199358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TSS</a:t>
            </a: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8" name="Text Placeholder 5">
            <a:extLst>
              <a:ext uri="{FF2B5EF4-FFF2-40B4-BE49-F238E27FC236}">
                <a16:creationId xmlns:a16="http://schemas.microsoft.com/office/drawing/2014/main" id="{87B52385-0360-0C93-B2BF-80486B20C131}"/>
              </a:ext>
            </a:extLst>
          </p:cNvPr>
          <p:cNvSpPr txBox="1">
            <a:spLocks/>
          </p:cNvSpPr>
          <p:nvPr/>
        </p:nvSpPr>
        <p:spPr>
          <a:xfrm>
            <a:off x="3603009" y="2603147"/>
            <a:ext cx="1529565" cy="5516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SST</a:t>
            </a: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9" name="Text Placeholder 5">
            <a:extLst>
              <a:ext uri="{FF2B5EF4-FFF2-40B4-BE49-F238E27FC236}">
                <a16:creationId xmlns:a16="http://schemas.microsoft.com/office/drawing/2014/main" id="{EC24CB20-B9DD-6CC1-AE39-2108BF99B4E8}"/>
              </a:ext>
            </a:extLst>
          </p:cNvPr>
          <p:cNvSpPr txBox="1">
            <a:spLocks/>
          </p:cNvSpPr>
          <p:nvPr/>
        </p:nvSpPr>
        <p:spPr>
          <a:xfrm>
            <a:off x="6140477" y="2601336"/>
            <a:ext cx="199358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SSE</a:t>
            </a: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20" name="Text Placeholder 5">
            <a:extLst>
              <a:ext uri="{FF2B5EF4-FFF2-40B4-BE49-F238E27FC236}">
                <a16:creationId xmlns:a16="http://schemas.microsoft.com/office/drawing/2014/main" id="{55819D0B-571A-E1E7-A410-55B9B22E8876}"/>
              </a:ext>
            </a:extLst>
          </p:cNvPr>
          <p:cNvSpPr txBox="1">
            <a:spLocks/>
          </p:cNvSpPr>
          <p:nvPr/>
        </p:nvSpPr>
        <p:spPr>
          <a:xfrm>
            <a:off x="2921637" y="2601336"/>
            <a:ext cx="52391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C00000"/>
                </a:solidFill>
              </a:rPr>
              <a:t>=</a:t>
            </a: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21" name="Text Placeholder 5">
            <a:extLst>
              <a:ext uri="{FF2B5EF4-FFF2-40B4-BE49-F238E27FC236}">
                <a16:creationId xmlns:a16="http://schemas.microsoft.com/office/drawing/2014/main" id="{6515756C-8C30-A030-A894-8ADB1592FA40}"/>
              </a:ext>
            </a:extLst>
          </p:cNvPr>
          <p:cNvSpPr txBox="1">
            <a:spLocks/>
          </p:cNvSpPr>
          <p:nvPr/>
        </p:nvSpPr>
        <p:spPr>
          <a:xfrm>
            <a:off x="5592425" y="2580129"/>
            <a:ext cx="52391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C00000"/>
                </a:solidFill>
              </a:rPr>
              <a:t>+</a:t>
            </a: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2" name="Title 6">
            <a:extLst>
              <a:ext uri="{FF2B5EF4-FFF2-40B4-BE49-F238E27FC236}">
                <a16:creationId xmlns:a16="http://schemas.microsoft.com/office/drawing/2014/main" id="{BD39D011-79BD-FE9B-05B8-38C3F144C9B0}"/>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A79B29DB-E39B-F2BC-E11D-FE6CE1D5D7B4}"/>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6" name="Picture 2" descr="Te Herenga Waka—Victoria University of Wellington | Universities New  Zealand - Te Pōkai Tara">
            <a:extLst>
              <a:ext uri="{FF2B5EF4-FFF2-40B4-BE49-F238E27FC236}">
                <a16:creationId xmlns:a16="http://schemas.microsoft.com/office/drawing/2014/main" id="{CAACCC75-7396-E847-7DD8-7496CCBD96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4472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36</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4" y="1046546"/>
                <a:ext cx="11232109" cy="13211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The </a:t>
                </a:r>
                <a:r>
                  <a:rPr lang="en-NZ" altLang="ja-JP" sz="1700" b="1" dirty="0">
                    <a:solidFill>
                      <a:schemeClr val="tx1"/>
                    </a:solidFill>
                  </a:rPr>
                  <a:t>Mean Squares for Treatment (MST) </a:t>
                </a:r>
                <a:r>
                  <a:rPr lang="en-NZ" altLang="ja-JP" sz="1700" dirty="0">
                    <a:solidFill>
                      <a:schemeClr val="tx1"/>
                    </a:solidFill>
                  </a:rPr>
                  <a:t>is defined as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𝑴𝑺𝑻</m:t>
                      </m:r>
                      <m:r>
                        <a:rPr lang="en-NZ" altLang="ja-JP" sz="1700" b="1" i="1" smtClean="0">
                          <a:solidFill>
                            <a:schemeClr val="tx1"/>
                          </a:solidFill>
                          <a:latin typeface="Cambria Math" panose="02040503050406030204" pitchFamily="18" charset="0"/>
                        </a:rPr>
                        <m:t>≡  </m:t>
                      </m:r>
                      <m:f>
                        <m:fPr>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𝑺𝑺𝑻</m:t>
                          </m:r>
                        </m:num>
                        <m:den>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den>
                      </m:f>
                      <m:r>
                        <a:rPr lang="en-NZ" altLang="ja-JP" sz="1700" b="1" i="1" smtClean="0">
                          <a:solidFill>
                            <a:schemeClr val="tx1"/>
                          </a:solidFill>
                          <a:latin typeface="Cambria Math" panose="02040503050406030204" pitchFamily="18" charset="0"/>
                        </a:rPr>
                        <m:t>= </m:t>
                      </m:r>
                      <m:f>
                        <m:fPr>
                          <m:ctrlPr>
                            <a:rPr lang="en-NZ" altLang="ja-JP" sz="1700" b="1" i="1" smtClean="0">
                              <a:solidFill>
                                <a:schemeClr val="tx1"/>
                              </a:solidFill>
                              <a:latin typeface="Cambria Math" panose="02040503050406030204" pitchFamily="18" charset="0"/>
                            </a:rPr>
                          </m:ctrlPr>
                        </m:fPr>
                        <m:num>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𝒋</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a:solidFill>
                                            <a:schemeClr val="tx1"/>
                                          </a:solidFill>
                                          <a:latin typeface="Cambria Math" panose="02040503050406030204" pitchFamily="18" charset="0"/>
                                        </a:rPr>
                                      </m:ctrlPr>
                                    </m:sSupPr>
                                    <m:e>
                                      <m:d>
                                        <m:dPr>
                                          <m:ctrlPr>
                                            <a:rPr lang="en-NZ" altLang="ja-JP" sz="1700" b="1" i="1">
                                              <a:solidFill>
                                                <a:schemeClr val="tx1"/>
                                              </a:solidFill>
                                              <a:latin typeface="Cambria Math" panose="02040503050406030204" pitchFamily="18" charset="0"/>
                                            </a:rPr>
                                          </m:ctrlPr>
                                        </m:dPr>
                                        <m:e>
                                          <m:r>
                                            <a:rPr lang="en-NZ" altLang="ja-JP" sz="1700" b="1" i="1">
                                              <a:solidFill>
                                                <a:schemeClr val="tx1"/>
                                              </a:solidFill>
                                              <a:latin typeface="Cambria Math" panose="02040503050406030204" pitchFamily="18" charset="0"/>
                                            </a:rPr>
                                            <m:t>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r>
                                            <a:rPr lang="en-NZ" altLang="ja-JP" sz="1700" b="1" i="1">
                                              <a:solidFill>
                                                <a:schemeClr val="tx1"/>
                                              </a:solidFill>
                                              <a:latin typeface="Cambria Math" panose="02040503050406030204" pitchFamily="18" charset="0"/>
                                            </a:rPr>
                                            <m:t>−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a:solidFill>
                                            <a:schemeClr val="tx1"/>
                                          </a:solidFill>
                                          <a:latin typeface="Cambria Math" panose="02040503050406030204" pitchFamily="18" charset="0"/>
                                        </a:rPr>
                                        <m:t>𝟐</m:t>
                                      </m:r>
                                    </m:sup>
                                  </m:sSup>
                                </m:e>
                              </m:nary>
                            </m:e>
                          </m:nary>
                        </m:num>
                        <m:den>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den>
                      </m:f>
                    </m:oMath>
                  </m:oMathPara>
                </a14:m>
                <a:endParaRPr lang="en-NZ" altLang="ja-JP" sz="1700" b="1" dirty="0">
                  <a:solidFill>
                    <a:schemeClr val="tx1"/>
                  </a:solidFill>
                </a:endParaRP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r>
                  <a:rPr lang="en-NZ" altLang="ja-JP" sz="1700" dirty="0">
                    <a:solidFill>
                      <a:schemeClr val="tx1"/>
                    </a:solidFill>
                  </a:rPr>
                  <a:t>It represents the </a:t>
                </a:r>
                <a:r>
                  <a:rPr lang="en-NZ" altLang="ja-JP" sz="1700" b="1" dirty="0">
                    <a:solidFill>
                      <a:schemeClr val="tx1"/>
                    </a:solidFill>
                  </a:rPr>
                  <a:t>average </a:t>
                </a:r>
                <a:r>
                  <a:rPr lang="en-NZ" altLang="ja-JP" sz="1700" dirty="0">
                    <a:solidFill>
                      <a:schemeClr val="tx1"/>
                    </a:solidFill>
                  </a:rPr>
                  <a:t>amount of variability </a:t>
                </a:r>
                <a:r>
                  <a:rPr lang="en-NZ" altLang="ja-JP" sz="1700" b="1" dirty="0">
                    <a:solidFill>
                      <a:schemeClr val="tx1"/>
                    </a:solidFill>
                  </a:rPr>
                  <a:t>between</a:t>
                </a:r>
                <a:r>
                  <a:rPr lang="en-NZ" altLang="ja-JP" sz="1700" dirty="0">
                    <a:solidFill>
                      <a:schemeClr val="tx1"/>
                    </a:solidFill>
                  </a:rPr>
                  <a:t> group means and the overall mean.</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8" name="Text Placeholder 5">
                <a:extLst>
                  <a:ext uri="{FF2B5EF4-FFF2-40B4-BE49-F238E27FC236}">
                    <a16:creationId xmlns:a16="http://schemas.microsoft.com/office/drawing/2014/main" id="{4698F60F-1497-4737-98D4-F910581ADCDE}"/>
                  </a:ext>
                </a:extLst>
              </p:cNvPr>
              <p:cNvSpPr txBox="1">
                <a:spLocks noRot="1" noChangeAspect="1" noMove="1" noResize="1" noEditPoints="1" noAdjustHandles="1" noChangeArrowheads="1" noChangeShapeType="1" noTextEdit="1"/>
              </p:cNvSpPr>
              <p:nvPr/>
            </p:nvSpPr>
            <p:spPr>
              <a:xfrm>
                <a:off x="251224" y="1046546"/>
                <a:ext cx="11232109" cy="1321113"/>
              </a:xfrm>
              <a:prstGeom prst="rect">
                <a:avLst/>
              </a:prstGeom>
              <a:blipFill>
                <a:blip r:embed="rId2"/>
                <a:stretch>
                  <a:fillRect l="-326" t="-1852" b="-555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555998DE-9E2B-4D1F-A9AD-795419811DC1}"/>
                  </a:ext>
                </a:extLst>
              </p:cNvPr>
              <p:cNvSpPr txBox="1">
                <a:spLocks/>
              </p:cNvSpPr>
              <p:nvPr/>
            </p:nvSpPr>
            <p:spPr>
              <a:xfrm>
                <a:off x="251224" y="2868039"/>
                <a:ext cx="11472203" cy="14615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The </a:t>
                </a:r>
                <a:r>
                  <a:rPr lang="en-NZ" altLang="ja-JP" sz="1700" b="1" dirty="0">
                    <a:solidFill>
                      <a:schemeClr val="tx1"/>
                    </a:solidFill>
                  </a:rPr>
                  <a:t>Mean Squares for Error (MSE) </a:t>
                </a:r>
                <a:r>
                  <a:rPr lang="en-NZ" altLang="ja-JP" sz="1700" dirty="0">
                    <a:solidFill>
                      <a:schemeClr val="tx1"/>
                    </a:solidFill>
                  </a:rPr>
                  <a:t>is defined as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𝑴𝑺𝑬</m:t>
                      </m:r>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𝑺𝑺𝑬</m:t>
                          </m:r>
                        </m:num>
                        <m:den>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𝒌</m:t>
                          </m:r>
                        </m:den>
                      </m:f>
                      <m:r>
                        <a:rPr lang="en-NZ" altLang="ja-JP" sz="1700" b="1" i="1" smtClean="0">
                          <a:solidFill>
                            <a:schemeClr val="tx1"/>
                          </a:solidFill>
                          <a:latin typeface="Cambria Math" panose="02040503050406030204" pitchFamily="18" charset="0"/>
                        </a:rPr>
                        <m:t> =</m:t>
                      </m:r>
                      <m:f>
                        <m:fPr>
                          <m:ctrlPr>
                            <a:rPr lang="en-NZ" altLang="ja-JP" sz="1700" b="1" i="1" smtClean="0">
                              <a:solidFill>
                                <a:schemeClr val="tx1"/>
                              </a:solidFill>
                              <a:latin typeface="Cambria Math" panose="02040503050406030204" pitchFamily="18" charset="0"/>
                            </a:rPr>
                          </m:ctrlPr>
                        </m:fPr>
                        <m:num>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𝒋</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a:solidFill>
                                            <a:schemeClr val="tx1"/>
                                          </a:solidFill>
                                          <a:latin typeface="Cambria Math" panose="02040503050406030204" pitchFamily="18" charset="0"/>
                                        </a:rPr>
                                      </m:ctrlPr>
                                    </m:sSupPr>
                                    <m:e>
                                      <m:d>
                                        <m:dPr>
                                          <m:ctrlPr>
                                            <a:rPr lang="en-NZ" altLang="ja-JP" sz="1700" b="1" i="1">
                                              <a:solidFill>
                                                <a:schemeClr val="tx1"/>
                                              </a:solidFill>
                                              <a:latin typeface="Cambria Math" panose="02040503050406030204" pitchFamily="18" charset="0"/>
                                            </a:rPr>
                                          </m:ctrlPr>
                                        </m:dPr>
                                        <m:e>
                                          <m:sSub>
                                            <m:sSubPr>
                                              <m:ctrlPr>
                                                <a:rPr lang="en-NZ" altLang="ja-JP" sz="1700" b="1" i="1">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𝒀</m:t>
                                              </m:r>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𝒋</m:t>
                                              </m:r>
                                            </m:sub>
                                          </m:sSub>
                                          <m:r>
                                            <a:rPr lang="en-NZ" altLang="ja-JP" sz="1700" b="1" i="1">
                                              <a:solidFill>
                                                <a:schemeClr val="tx1"/>
                                              </a:solidFill>
                                              <a:latin typeface="Cambria Math" panose="02040503050406030204" pitchFamily="18" charset="0"/>
                                            </a:rPr>
                                            <m:t> −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a:solidFill>
                                            <a:schemeClr val="tx1"/>
                                          </a:solidFill>
                                          <a:latin typeface="Cambria Math" panose="02040503050406030204" pitchFamily="18" charset="0"/>
                                        </a:rPr>
                                        <m:t>𝟐</m:t>
                                      </m:r>
                                    </m:sup>
                                  </m:sSup>
                                </m:e>
                              </m:nary>
                            </m:e>
                          </m:nary>
                        </m:num>
                        <m:den>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𝒌</m:t>
                          </m:r>
                        </m:den>
                      </m:f>
                      <m:r>
                        <a:rPr lang="en-NZ" altLang="ja-JP" sz="1700" b="1" i="1" smtClean="0">
                          <a:solidFill>
                            <a:schemeClr val="tx1"/>
                          </a:solidFill>
                          <a:latin typeface="Cambria Math" panose="02040503050406030204" pitchFamily="18" charset="0"/>
                        </a:rPr>
                        <m:t>  </m:t>
                      </m:r>
                    </m:oMath>
                  </m:oMathPara>
                </a14:m>
                <a:endParaRPr lang="en-NZ" altLang="ja-JP" sz="17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700" dirty="0">
                    <a:solidFill>
                      <a:schemeClr val="tx1"/>
                    </a:solidFill>
                  </a:rPr>
                  <a:t>where </a:t>
                </a:r>
                <a:r>
                  <a:rPr lang="en-NZ" altLang="ja-JP" sz="1700" b="1" i="1" dirty="0">
                    <a:solidFill>
                      <a:schemeClr val="tx1"/>
                    </a:solidFill>
                  </a:rPr>
                  <a:t>N</a:t>
                </a:r>
                <a:r>
                  <a:rPr lang="en-NZ" altLang="ja-JP" sz="1700" dirty="0">
                    <a:solidFill>
                      <a:schemeClr val="tx1"/>
                    </a:solidFill>
                  </a:rPr>
                  <a:t> is the total number of observations. The MSE represents the </a:t>
                </a:r>
                <a:r>
                  <a:rPr lang="en-NZ" altLang="ja-JP" sz="1700" b="1" dirty="0">
                    <a:solidFill>
                      <a:schemeClr val="tx1"/>
                    </a:solidFill>
                  </a:rPr>
                  <a:t>average </a:t>
                </a:r>
                <a:r>
                  <a:rPr lang="en-NZ" altLang="ja-JP" sz="1700" dirty="0">
                    <a:solidFill>
                      <a:schemeClr val="tx1"/>
                    </a:solidFill>
                  </a:rPr>
                  <a:t>amount of variability </a:t>
                </a:r>
                <a:r>
                  <a:rPr lang="en-NZ" altLang="ja-JP" sz="1700" b="1" dirty="0">
                    <a:solidFill>
                      <a:schemeClr val="tx1"/>
                    </a:solidFill>
                  </a:rPr>
                  <a:t>within </a:t>
                </a:r>
                <a:r>
                  <a:rPr lang="en-NZ" altLang="ja-JP" sz="1700" dirty="0">
                    <a:solidFill>
                      <a:schemeClr val="tx1"/>
                    </a:solidFill>
                  </a:rPr>
                  <a:t>groups. </a:t>
                </a:r>
                <a:endParaRPr lang="en-NZ" altLang="ja-JP" sz="1800" i="1" dirty="0">
                  <a:solidFill>
                    <a:srgbClr val="C00000"/>
                  </a:solidFill>
                </a:endParaRPr>
              </a:p>
            </p:txBody>
          </p:sp>
        </mc:Choice>
        <mc:Fallback xmlns="">
          <p:sp>
            <p:nvSpPr>
              <p:cNvPr id="9" name="Text Placeholder 5">
                <a:extLst>
                  <a:ext uri="{FF2B5EF4-FFF2-40B4-BE49-F238E27FC236}">
                    <a16:creationId xmlns:a16="http://schemas.microsoft.com/office/drawing/2014/main" id="{555998DE-9E2B-4D1F-A9AD-795419811DC1}"/>
                  </a:ext>
                </a:extLst>
              </p:cNvPr>
              <p:cNvSpPr txBox="1">
                <a:spLocks noRot="1" noChangeAspect="1" noMove="1" noResize="1" noEditPoints="1" noAdjustHandles="1" noChangeArrowheads="1" noChangeShapeType="1" noTextEdit="1"/>
              </p:cNvSpPr>
              <p:nvPr/>
            </p:nvSpPr>
            <p:spPr>
              <a:xfrm>
                <a:off x="251224" y="2868039"/>
                <a:ext cx="11472203" cy="1461590"/>
              </a:xfrm>
              <a:prstGeom prst="rect">
                <a:avLst/>
              </a:prstGeom>
              <a:blipFill>
                <a:blip r:embed="rId3"/>
                <a:stretch>
                  <a:fillRect l="-319" t="-1250" b="-41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910A178C-69DD-41A4-9E28-6B086731C225}"/>
                  </a:ext>
                </a:extLst>
              </p:cNvPr>
              <p:cNvSpPr txBox="1">
                <a:spLocks/>
              </p:cNvSpPr>
              <p:nvPr/>
            </p:nvSpPr>
            <p:spPr>
              <a:xfrm>
                <a:off x="251224" y="4738715"/>
                <a:ext cx="11472203" cy="11298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We define the </a:t>
                </a:r>
                <a:r>
                  <a:rPr lang="en-NZ" altLang="ja-JP" sz="1700" b="1" dirty="0">
                    <a:solidFill>
                      <a:schemeClr val="tx1"/>
                    </a:solidFill>
                  </a:rPr>
                  <a:t>F-statistic</a:t>
                </a:r>
                <a:r>
                  <a:rPr lang="en-NZ" altLang="ja-JP" sz="1700" dirty="0">
                    <a:solidFill>
                      <a:schemeClr val="tx1"/>
                    </a:solidFill>
                  </a:rPr>
                  <a:t> for one way ANOVA such that </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𝑭</m:t>
                      </m:r>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𝑴𝑺𝑻</m:t>
                          </m:r>
                        </m:num>
                        <m:den>
                          <m:r>
                            <a:rPr lang="en-NZ" altLang="ja-JP" sz="1700" b="1" i="1" smtClean="0">
                              <a:solidFill>
                                <a:schemeClr val="tx1"/>
                              </a:solidFill>
                              <a:latin typeface="Cambria Math" panose="02040503050406030204" pitchFamily="18" charset="0"/>
                            </a:rPr>
                            <m:t>𝑴𝑺𝑬</m:t>
                          </m:r>
                        </m:den>
                      </m:f>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f>
                            <m:fPr>
                              <m:type m:val="lin"/>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𝑺𝑺𝑻</m:t>
                              </m:r>
                              <m:r>
                                <a:rPr lang="en-NZ" altLang="ja-JP" sz="1700" b="1" i="1" smtClean="0">
                                  <a:solidFill>
                                    <a:schemeClr val="tx1"/>
                                  </a:solidFill>
                                  <a:latin typeface="Cambria Math" panose="02040503050406030204" pitchFamily="18" charset="0"/>
                                </a:rPr>
                                <m:t> </m:t>
                              </m:r>
                            </m:num>
                            <m:den>
                              <m:r>
                                <a:rPr lang="en-NZ" altLang="ja-JP" sz="1700" b="1" i="1" smtClean="0">
                                  <a:solidFill>
                                    <a:schemeClr val="tx1"/>
                                  </a:solidFill>
                                  <a:latin typeface="Cambria Math" panose="02040503050406030204" pitchFamily="18" charset="0"/>
                                </a:rPr>
                                <m:t> </m:t>
                              </m:r>
                              <m:d>
                                <m:dPr>
                                  <m:ctrlPr>
                                    <a:rPr lang="en-NZ" altLang="ja-JP" sz="1700" b="1" i="1" smtClean="0">
                                      <a:solidFill>
                                        <a:schemeClr val="tx1"/>
                                      </a:solidFill>
                                      <a:latin typeface="Cambria Math" panose="02040503050406030204" pitchFamily="18" charset="0"/>
                                    </a:rPr>
                                  </m:ctrlPr>
                                </m:dPr>
                                <m:e>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e>
                              </m:d>
                            </m:den>
                          </m:f>
                        </m:num>
                        <m:den>
                          <m:f>
                            <m:fPr>
                              <m:type m:val="lin"/>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𝑺𝑺𝑬</m:t>
                              </m:r>
                              <m:r>
                                <a:rPr lang="en-NZ" altLang="ja-JP" sz="1700" b="1" i="1" smtClean="0">
                                  <a:solidFill>
                                    <a:schemeClr val="tx1"/>
                                  </a:solidFill>
                                  <a:latin typeface="Cambria Math" panose="02040503050406030204" pitchFamily="18" charset="0"/>
                                </a:rPr>
                                <m:t> </m:t>
                              </m:r>
                            </m:num>
                            <m:den>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den>
                          </m:f>
                        </m:den>
                      </m:f>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f>
                            <m:fPr>
                              <m:type m:val="lin"/>
                              <m:ctrlPr>
                                <a:rPr lang="en-NZ" altLang="ja-JP" sz="1700" b="1" i="1" smtClean="0">
                                  <a:solidFill>
                                    <a:schemeClr val="tx1"/>
                                  </a:solidFill>
                                  <a:latin typeface="Cambria Math" panose="02040503050406030204" pitchFamily="18" charset="0"/>
                                </a:rPr>
                              </m:ctrlPr>
                            </m:fPr>
                            <m:num>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𝒋</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a:solidFill>
                                                <a:schemeClr val="tx1"/>
                                              </a:solidFill>
                                              <a:latin typeface="Cambria Math" panose="02040503050406030204" pitchFamily="18" charset="0"/>
                                            </a:rPr>
                                          </m:ctrlPr>
                                        </m:sSupPr>
                                        <m:e>
                                          <m:d>
                                            <m:dPr>
                                              <m:ctrlPr>
                                                <a:rPr lang="en-NZ" altLang="ja-JP" sz="1700" b="1" i="1">
                                                  <a:solidFill>
                                                    <a:schemeClr val="tx1"/>
                                                  </a:solidFill>
                                                  <a:latin typeface="Cambria Math" panose="02040503050406030204" pitchFamily="18" charset="0"/>
                                                </a:rPr>
                                              </m:ctrlPr>
                                            </m:dPr>
                                            <m:e>
                                              <m:r>
                                                <a:rPr lang="en-NZ" altLang="ja-JP" sz="1700" b="1" i="1">
                                                  <a:solidFill>
                                                    <a:schemeClr val="tx1"/>
                                                  </a:solidFill>
                                                  <a:latin typeface="Cambria Math" panose="02040503050406030204" pitchFamily="18" charset="0"/>
                                                </a:rPr>
                                                <m:t>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r>
                                                <a:rPr lang="en-NZ" altLang="ja-JP" sz="1700" b="1" i="1">
                                                  <a:solidFill>
                                                    <a:schemeClr val="tx1"/>
                                                  </a:solidFill>
                                                  <a:latin typeface="Cambria Math" panose="02040503050406030204" pitchFamily="18" charset="0"/>
                                                </a:rPr>
                                                <m:t>−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a:solidFill>
                                                <a:schemeClr val="tx1"/>
                                              </a:solidFill>
                                              <a:latin typeface="Cambria Math" panose="02040503050406030204" pitchFamily="18" charset="0"/>
                                            </a:rPr>
                                            <m:t>𝟐</m:t>
                                          </m:r>
                                        </m:sup>
                                      </m:sSup>
                                      <m:r>
                                        <a:rPr lang="en-NZ" altLang="ja-JP" sz="1700" b="1" i="1" smtClean="0">
                                          <a:solidFill>
                                            <a:schemeClr val="tx1"/>
                                          </a:solidFill>
                                          <a:latin typeface="Cambria Math" panose="02040503050406030204" pitchFamily="18" charset="0"/>
                                        </a:rPr>
                                        <m:t> </m:t>
                                      </m:r>
                                    </m:e>
                                  </m:nary>
                                </m:e>
                              </m:nary>
                            </m:num>
                            <m:den>
                              <m:r>
                                <a:rPr lang="en-NZ" altLang="ja-JP" sz="1700" b="1" i="1" smtClean="0">
                                  <a:solidFill>
                                    <a:schemeClr val="tx1"/>
                                  </a:solidFill>
                                  <a:latin typeface="Cambria Math" panose="02040503050406030204" pitchFamily="18" charset="0"/>
                                </a:rPr>
                                <m:t> </m:t>
                              </m:r>
                              <m:d>
                                <m:dPr>
                                  <m:ctrlPr>
                                    <a:rPr lang="en-NZ" altLang="ja-JP" sz="1700" b="1" i="1">
                                      <a:solidFill>
                                        <a:schemeClr val="tx1"/>
                                      </a:solidFill>
                                      <a:latin typeface="Cambria Math" panose="02040503050406030204" pitchFamily="18" charset="0"/>
                                    </a:rPr>
                                  </m:ctrlPr>
                                </m:dPr>
                                <m:e>
                                  <m:r>
                                    <a:rPr lang="en-NZ" altLang="ja-JP" sz="1700" b="1" i="1">
                                      <a:solidFill>
                                        <a:schemeClr val="tx1"/>
                                      </a:solidFill>
                                      <a:latin typeface="Cambria Math" panose="02040503050406030204" pitchFamily="18" charset="0"/>
                                    </a:rPr>
                                    <m:t>𝒌</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e>
                              </m:d>
                            </m:den>
                          </m:f>
                        </m:num>
                        <m:den>
                          <m:f>
                            <m:fPr>
                              <m:type m:val="lin"/>
                              <m:ctrlPr>
                                <a:rPr lang="en-NZ" altLang="ja-JP" sz="1700" b="1" i="1" smtClean="0">
                                  <a:solidFill>
                                    <a:schemeClr val="tx1"/>
                                  </a:solidFill>
                                  <a:latin typeface="Cambria Math" panose="02040503050406030204" pitchFamily="18" charset="0"/>
                                </a:rPr>
                              </m:ctrlPr>
                            </m:fPr>
                            <m:num>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𝒋</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a:solidFill>
                                                <a:schemeClr val="tx1"/>
                                              </a:solidFill>
                                              <a:latin typeface="Cambria Math" panose="02040503050406030204" pitchFamily="18" charset="0"/>
                                            </a:rPr>
                                          </m:ctrlPr>
                                        </m:sSupPr>
                                        <m:e>
                                          <m:d>
                                            <m:dPr>
                                              <m:ctrlPr>
                                                <a:rPr lang="en-NZ" altLang="ja-JP" sz="1700" b="1" i="1">
                                                  <a:solidFill>
                                                    <a:schemeClr val="tx1"/>
                                                  </a:solidFill>
                                                  <a:latin typeface="Cambria Math" panose="02040503050406030204" pitchFamily="18" charset="0"/>
                                                </a:rPr>
                                              </m:ctrlPr>
                                            </m:dPr>
                                            <m:e>
                                              <m:sSub>
                                                <m:sSubPr>
                                                  <m:ctrlPr>
                                                    <a:rPr lang="en-NZ" altLang="ja-JP" sz="1700" b="1" i="1">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𝒀</m:t>
                                                  </m:r>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𝒋</m:t>
                                                  </m:r>
                                                </m:sub>
                                              </m:sSub>
                                              <m:r>
                                                <a:rPr lang="en-NZ" altLang="ja-JP" sz="1700" b="1" i="1">
                                                  <a:solidFill>
                                                    <a:schemeClr val="tx1"/>
                                                  </a:solidFill>
                                                  <a:latin typeface="Cambria Math" panose="02040503050406030204" pitchFamily="18" charset="0"/>
                                                </a:rPr>
                                                <m:t> −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a:solidFill>
                                                <a:schemeClr val="tx1"/>
                                              </a:solidFill>
                                              <a:latin typeface="Cambria Math" panose="02040503050406030204" pitchFamily="18" charset="0"/>
                                            </a:rPr>
                                            <m:t>𝟐</m:t>
                                          </m:r>
                                        </m:sup>
                                      </m:sSup>
                                      <m:r>
                                        <a:rPr lang="en-NZ" altLang="ja-JP" sz="1700" b="1" i="1" smtClean="0">
                                          <a:solidFill>
                                            <a:schemeClr val="tx1"/>
                                          </a:solidFill>
                                          <a:latin typeface="Cambria Math" panose="02040503050406030204" pitchFamily="18" charset="0"/>
                                        </a:rPr>
                                        <m:t> </m:t>
                                      </m:r>
                                    </m:e>
                                  </m:nary>
                                </m:e>
                              </m:nary>
                            </m:num>
                            <m:den>
                              <m:r>
                                <a:rPr lang="en-NZ" altLang="ja-JP" sz="1700" b="1" i="1" smtClean="0">
                                  <a:solidFill>
                                    <a:schemeClr val="tx1"/>
                                  </a:solidFill>
                                  <a:latin typeface="Cambria Math" panose="02040503050406030204" pitchFamily="18" charset="0"/>
                                </a:rPr>
                                <m:t> ( </m:t>
                              </m:r>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 )</m:t>
                              </m:r>
                            </m:den>
                          </m:f>
                        </m:den>
                      </m:f>
                    </m:oMath>
                  </m:oMathPara>
                </a14:m>
                <a:endParaRPr lang="en-NZ" altLang="ja-JP" sz="17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1" name="Text Placeholder 5">
                <a:extLst>
                  <a:ext uri="{FF2B5EF4-FFF2-40B4-BE49-F238E27FC236}">
                    <a16:creationId xmlns:a16="http://schemas.microsoft.com/office/drawing/2014/main" id="{910A178C-69DD-41A4-9E28-6B086731C225}"/>
                  </a:ext>
                </a:extLst>
              </p:cNvPr>
              <p:cNvSpPr txBox="1">
                <a:spLocks noRot="1" noChangeAspect="1" noMove="1" noResize="1" noEditPoints="1" noAdjustHandles="1" noChangeArrowheads="1" noChangeShapeType="1" noTextEdit="1"/>
              </p:cNvSpPr>
              <p:nvPr/>
            </p:nvSpPr>
            <p:spPr>
              <a:xfrm>
                <a:off x="251224" y="4738715"/>
                <a:ext cx="11472203" cy="1129822"/>
              </a:xfrm>
              <a:prstGeom prst="rect">
                <a:avLst/>
              </a:prstGeom>
              <a:blipFill>
                <a:blip r:embed="rId4"/>
                <a:stretch>
                  <a:fillRect l="-319" t="-1613"/>
                </a:stretch>
              </a:blipFill>
            </p:spPr>
            <p:txBody>
              <a:bodyPr/>
              <a:lstStyle/>
              <a:p>
                <a:r>
                  <a:rPr lang="en-NZ">
                    <a:noFill/>
                  </a:rPr>
                  <a:t> </a:t>
                </a:r>
              </a:p>
            </p:txBody>
          </p:sp>
        </mc:Fallback>
      </mc:AlternateContent>
      <p:sp>
        <p:nvSpPr>
          <p:cNvPr id="2" name="Title 6">
            <a:extLst>
              <a:ext uri="{FF2B5EF4-FFF2-40B4-BE49-F238E27FC236}">
                <a16:creationId xmlns:a16="http://schemas.microsoft.com/office/drawing/2014/main" id="{6049B947-E1EF-A896-D412-C956336E6813}"/>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D6E54557-3687-C089-F14C-F6C6A6084554}"/>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4" name="Picture 2" descr="Te Herenga Waka—Victoria University of Wellington | Universities New  Zealand - Te Pōkai Tara">
            <a:extLst>
              <a:ext uri="{FF2B5EF4-FFF2-40B4-BE49-F238E27FC236}">
                <a16:creationId xmlns:a16="http://schemas.microsoft.com/office/drawing/2014/main" id="{D278F880-1761-0E20-0AFA-8F04CB3410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3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37</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910A178C-69DD-41A4-9E28-6B086731C225}"/>
                  </a:ext>
                </a:extLst>
              </p:cNvPr>
              <p:cNvSpPr txBox="1">
                <a:spLocks/>
              </p:cNvSpPr>
              <p:nvPr/>
            </p:nvSpPr>
            <p:spPr>
              <a:xfrm>
                <a:off x="251224" y="1084523"/>
                <a:ext cx="11472203" cy="11298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700" dirty="0">
                    <a:solidFill>
                      <a:schemeClr val="tx1"/>
                    </a:solidFill>
                  </a:rPr>
                  <a:t>The F-statistic for one-way ANOVA can also be written as follows*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700" b="1" i="1" smtClean="0">
                          <a:solidFill>
                            <a:schemeClr val="tx1"/>
                          </a:solidFill>
                          <a:latin typeface="Cambria Math" panose="02040503050406030204" pitchFamily="18" charset="0"/>
                        </a:rPr>
                        <m:t>𝑭</m:t>
                      </m:r>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𝑴𝑺𝑻</m:t>
                          </m:r>
                        </m:num>
                        <m:den>
                          <m:r>
                            <a:rPr lang="en-NZ" altLang="ja-JP" sz="1700" b="1" i="1" smtClean="0">
                              <a:solidFill>
                                <a:schemeClr val="tx1"/>
                              </a:solidFill>
                              <a:latin typeface="Cambria Math" panose="02040503050406030204" pitchFamily="18" charset="0"/>
                            </a:rPr>
                            <m:t>𝑴𝑺𝑬</m:t>
                          </m:r>
                        </m:den>
                      </m:f>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f>
                            <m:fPr>
                              <m:type m:val="lin"/>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𝑺𝑺𝑻</m:t>
                              </m:r>
                              <m:r>
                                <a:rPr lang="en-NZ" altLang="ja-JP" sz="1700" b="1" i="1" smtClean="0">
                                  <a:solidFill>
                                    <a:schemeClr val="tx1"/>
                                  </a:solidFill>
                                  <a:latin typeface="Cambria Math" panose="02040503050406030204" pitchFamily="18" charset="0"/>
                                </a:rPr>
                                <m:t> </m:t>
                              </m:r>
                            </m:num>
                            <m:den>
                              <m:r>
                                <a:rPr lang="en-NZ" altLang="ja-JP" sz="1700" b="1" i="1" smtClean="0">
                                  <a:solidFill>
                                    <a:schemeClr val="tx1"/>
                                  </a:solidFill>
                                  <a:latin typeface="Cambria Math" panose="02040503050406030204" pitchFamily="18" charset="0"/>
                                </a:rPr>
                                <m:t> </m:t>
                              </m:r>
                              <m:d>
                                <m:dPr>
                                  <m:ctrlPr>
                                    <a:rPr lang="en-NZ" altLang="ja-JP" sz="1700" b="1" i="1" smtClean="0">
                                      <a:solidFill>
                                        <a:schemeClr val="tx1"/>
                                      </a:solidFill>
                                      <a:latin typeface="Cambria Math" panose="02040503050406030204" pitchFamily="18" charset="0"/>
                                    </a:rPr>
                                  </m:ctrlPr>
                                </m:dPr>
                                <m:e>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e>
                              </m:d>
                            </m:den>
                          </m:f>
                        </m:num>
                        <m:den>
                          <m:f>
                            <m:fPr>
                              <m:type m:val="lin"/>
                              <m:ctrlPr>
                                <a:rPr lang="en-NZ" altLang="ja-JP" sz="1700" b="1" i="1" smtClean="0">
                                  <a:solidFill>
                                    <a:schemeClr val="tx1"/>
                                  </a:solidFill>
                                  <a:latin typeface="Cambria Math" panose="02040503050406030204" pitchFamily="18" charset="0"/>
                                </a:rPr>
                              </m:ctrlPr>
                            </m:fPr>
                            <m:num>
                              <m:r>
                                <a:rPr lang="en-NZ" altLang="ja-JP" sz="1700" b="1" i="1" smtClean="0">
                                  <a:solidFill>
                                    <a:schemeClr val="tx1"/>
                                  </a:solidFill>
                                  <a:latin typeface="Cambria Math" panose="02040503050406030204" pitchFamily="18" charset="0"/>
                                </a:rPr>
                                <m:t>𝑺𝑺𝑬</m:t>
                              </m:r>
                              <m:r>
                                <a:rPr lang="en-NZ" altLang="ja-JP" sz="1700" b="1" i="1" smtClean="0">
                                  <a:solidFill>
                                    <a:schemeClr val="tx1"/>
                                  </a:solidFill>
                                  <a:latin typeface="Cambria Math" panose="02040503050406030204" pitchFamily="18" charset="0"/>
                                </a:rPr>
                                <m:t> </m:t>
                              </m:r>
                            </m:num>
                            <m:den>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den>
                          </m:f>
                        </m:den>
                      </m:f>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f>
                            <m:fPr>
                              <m:type m:val="lin"/>
                              <m:ctrlPr>
                                <a:rPr lang="en-NZ" altLang="ja-JP" sz="1700" b="1" i="1" smtClean="0">
                                  <a:solidFill>
                                    <a:schemeClr val="tx1"/>
                                  </a:solidFill>
                                  <a:latin typeface="Cambria Math" panose="02040503050406030204" pitchFamily="18" charset="0"/>
                                </a:rPr>
                              </m:ctrlPr>
                            </m:fPr>
                            <m:num>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𝒋</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a:solidFill>
                                                <a:schemeClr val="tx1"/>
                                              </a:solidFill>
                                              <a:latin typeface="Cambria Math" panose="02040503050406030204" pitchFamily="18" charset="0"/>
                                            </a:rPr>
                                          </m:ctrlPr>
                                        </m:sSupPr>
                                        <m:e>
                                          <m:d>
                                            <m:dPr>
                                              <m:ctrlPr>
                                                <a:rPr lang="en-NZ" altLang="ja-JP" sz="1700" b="1" i="1">
                                                  <a:solidFill>
                                                    <a:schemeClr val="tx1"/>
                                                  </a:solidFill>
                                                  <a:latin typeface="Cambria Math" panose="02040503050406030204" pitchFamily="18" charset="0"/>
                                                </a:rPr>
                                              </m:ctrlPr>
                                            </m:dPr>
                                            <m:e>
                                              <m:r>
                                                <a:rPr lang="en-NZ" altLang="ja-JP" sz="1700" b="1" i="1">
                                                  <a:solidFill>
                                                    <a:schemeClr val="tx1"/>
                                                  </a:solidFill>
                                                  <a:latin typeface="Cambria Math" panose="02040503050406030204" pitchFamily="18" charset="0"/>
                                                </a:rPr>
                                                <m:t>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r>
                                                <a:rPr lang="en-NZ" altLang="ja-JP" sz="1700" b="1" i="1">
                                                  <a:solidFill>
                                                    <a:schemeClr val="tx1"/>
                                                  </a:solidFill>
                                                  <a:latin typeface="Cambria Math" panose="02040503050406030204" pitchFamily="18" charset="0"/>
                                                </a:rPr>
                                                <m:t>−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a:solidFill>
                                                <a:schemeClr val="tx1"/>
                                              </a:solidFill>
                                              <a:latin typeface="Cambria Math" panose="02040503050406030204" pitchFamily="18" charset="0"/>
                                            </a:rPr>
                                            <m:t>𝟐</m:t>
                                          </m:r>
                                        </m:sup>
                                      </m:sSup>
                                      <m:r>
                                        <a:rPr lang="en-NZ" altLang="ja-JP" sz="1700" b="1" i="1" smtClean="0">
                                          <a:solidFill>
                                            <a:schemeClr val="tx1"/>
                                          </a:solidFill>
                                          <a:latin typeface="Cambria Math" panose="02040503050406030204" pitchFamily="18" charset="0"/>
                                        </a:rPr>
                                        <m:t> </m:t>
                                      </m:r>
                                    </m:e>
                                  </m:nary>
                                </m:e>
                              </m:nary>
                            </m:num>
                            <m:den>
                              <m:r>
                                <a:rPr lang="en-NZ" altLang="ja-JP" sz="1700" b="1" i="1" smtClean="0">
                                  <a:solidFill>
                                    <a:schemeClr val="tx1"/>
                                  </a:solidFill>
                                  <a:latin typeface="Cambria Math" panose="02040503050406030204" pitchFamily="18" charset="0"/>
                                </a:rPr>
                                <m:t> </m:t>
                              </m:r>
                              <m:d>
                                <m:dPr>
                                  <m:ctrlPr>
                                    <a:rPr lang="en-NZ" altLang="ja-JP" sz="1700" b="1" i="1">
                                      <a:solidFill>
                                        <a:schemeClr val="tx1"/>
                                      </a:solidFill>
                                      <a:latin typeface="Cambria Math" panose="02040503050406030204" pitchFamily="18" charset="0"/>
                                    </a:rPr>
                                  </m:ctrlPr>
                                </m:dPr>
                                <m:e>
                                  <m:r>
                                    <a:rPr lang="en-NZ" altLang="ja-JP" sz="1700" b="1" i="1">
                                      <a:solidFill>
                                        <a:schemeClr val="tx1"/>
                                      </a:solidFill>
                                      <a:latin typeface="Cambria Math" panose="02040503050406030204" pitchFamily="18" charset="0"/>
                                    </a:rPr>
                                    <m:t>𝒌</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e>
                              </m:d>
                            </m:den>
                          </m:f>
                        </m:num>
                        <m:den>
                          <m:f>
                            <m:fPr>
                              <m:type m:val="lin"/>
                              <m:ctrlPr>
                                <a:rPr lang="en-NZ" altLang="ja-JP" sz="1700" b="1" i="1" smtClean="0">
                                  <a:solidFill>
                                    <a:schemeClr val="tx1"/>
                                  </a:solidFill>
                                  <a:latin typeface="Cambria Math" panose="02040503050406030204" pitchFamily="18" charset="0"/>
                                </a:rPr>
                              </m:ctrlPr>
                            </m:fPr>
                            <m:num>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𝒋</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p>
                                        <m:sSupPr>
                                          <m:ctrlPr>
                                            <a:rPr lang="en-NZ" altLang="ja-JP" sz="1700" b="1" i="1">
                                              <a:solidFill>
                                                <a:schemeClr val="tx1"/>
                                              </a:solidFill>
                                              <a:latin typeface="Cambria Math" panose="02040503050406030204" pitchFamily="18" charset="0"/>
                                            </a:rPr>
                                          </m:ctrlPr>
                                        </m:sSupPr>
                                        <m:e>
                                          <m:d>
                                            <m:dPr>
                                              <m:ctrlPr>
                                                <a:rPr lang="en-NZ" altLang="ja-JP" sz="1700" b="1" i="1">
                                                  <a:solidFill>
                                                    <a:schemeClr val="tx1"/>
                                                  </a:solidFill>
                                                  <a:latin typeface="Cambria Math" panose="02040503050406030204" pitchFamily="18" charset="0"/>
                                                </a:rPr>
                                              </m:ctrlPr>
                                            </m:dPr>
                                            <m:e>
                                              <m:sSub>
                                                <m:sSubPr>
                                                  <m:ctrlPr>
                                                    <a:rPr lang="en-NZ" altLang="ja-JP" sz="1700" b="1" i="1">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𝒀</m:t>
                                                  </m:r>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𝒋</m:t>
                                                  </m:r>
                                                </m:sub>
                                              </m:sSub>
                                              <m:r>
                                                <a:rPr lang="en-NZ" altLang="ja-JP" sz="1700" b="1" i="1">
                                                  <a:solidFill>
                                                    <a:schemeClr val="tx1"/>
                                                  </a:solidFill>
                                                  <a:latin typeface="Cambria Math" panose="02040503050406030204" pitchFamily="18" charset="0"/>
                                                </a:rPr>
                                                <m:t> − </m:t>
                                              </m:r>
                                              <m:sSub>
                                                <m:sSubPr>
                                                  <m:ctrlPr>
                                                    <a:rPr lang="en-NZ" altLang="ja-JP" sz="1700" b="1" i="1">
                                                      <a:solidFill>
                                                        <a:schemeClr val="tx1"/>
                                                      </a:solidFill>
                                                      <a:latin typeface="Cambria Math" panose="02040503050406030204" pitchFamily="18" charset="0"/>
                                                    </a:rPr>
                                                  </m:ctrlPr>
                                                </m:sSubPr>
                                                <m:e>
                                                  <m:acc>
                                                    <m:accPr>
                                                      <m:chr m:val="̅"/>
                                                      <m:ctrlPr>
                                                        <a:rPr lang="en-NZ" altLang="ja-JP" sz="1700" b="1" i="1">
                                                          <a:solidFill>
                                                            <a:schemeClr val="tx1"/>
                                                          </a:solidFill>
                                                          <a:latin typeface="Cambria Math" panose="02040503050406030204" pitchFamily="18" charset="0"/>
                                                        </a:rPr>
                                                      </m:ctrlPr>
                                                    </m:accPr>
                                                    <m:e>
                                                      <m:r>
                                                        <a:rPr lang="en-NZ" altLang="ja-JP" sz="1700" b="1" i="1">
                                                          <a:solidFill>
                                                            <a:schemeClr val="tx1"/>
                                                          </a:solidFill>
                                                          <a:latin typeface="Cambria Math" panose="02040503050406030204" pitchFamily="18" charset="0"/>
                                                        </a:rPr>
                                                        <m:t>𝒀</m:t>
                                                      </m:r>
                                                    </m:e>
                                                  </m:acc>
                                                </m:e>
                                                <m:sub>
                                                  <m: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ea typeface="Cambria Math" panose="02040503050406030204" pitchFamily="18" charset="0"/>
                                                    </a:rPr>
                                                    <m:t>∙</m:t>
                                                  </m:r>
                                                </m:sub>
                                              </m:sSub>
                                            </m:e>
                                          </m:d>
                                        </m:e>
                                        <m:sup>
                                          <m:r>
                                            <a:rPr lang="en-NZ" altLang="ja-JP" sz="1700" b="1" i="1">
                                              <a:solidFill>
                                                <a:schemeClr val="tx1"/>
                                              </a:solidFill>
                                              <a:latin typeface="Cambria Math" panose="02040503050406030204" pitchFamily="18" charset="0"/>
                                            </a:rPr>
                                            <m:t>𝟐</m:t>
                                          </m:r>
                                        </m:sup>
                                      </m:sSup>
                                      <m:r>
                                        <a:rPr lang="en-NZ" altLang="ja-JP" sz="1700" b="1" i="1" smtClean="0">
                                          <a:solidFill>
                                            <a:schemeClr val="tx1"/>
                                          </a:solidFill>
                                          <a:latin typeface="Cambria Math" panose="02040503050406030204" pitchFamily="18" charset="0"/>
                                        </a:rPr>
                                        <m:t> </m:t>
                                      </m:r>
                                    </m:e>
                                  </m:nary>
                                </m:e>
                              </m:nary>
                            </m:num>
                            <m:den>
                              <m:r>
                                <a:rPr lang="en-NZ" altLang="ja-JP" sz="1700" b="1" i="1" smtClean="0">
                                  <a:solidFill>
                                    <a:schemeClr val="tx1"/>
                                  </a:solidFill>
                                  <a:latin typeface="Cambria Math" panose="02040503050406030204" pitchFamily="18" charset="0"/>
                                </a:rPr>
                                <m:t> ( </m:t>
                              </m:r>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 )</m:t>
                              </m:r>
                            </m:den>
                          </m:f>
                        </m:den>
                      </m:f>
                    </m:oMath>
                  </m:oMathPara>
                </a14:m>
                <a:endParaRPr lang="en-NZ" altLang="ja-JP" sz="17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1" name="Text Placeholder 5">
                <a:extLst>
                  <a:ext uri="{FF2B5EF4-FFF2-40B4-BE49-F238E27FC236}">
                    <a16:creationId xmlns:a16="http://schemas.microsoft.com/office/drawing/2014/main" id="{910A178C-69DD-41A4-9E28-6B086731C225}"/>
                  </a:ext>
                </a:extLst>
              </p:cNvPr>
              <p:cNvSpPr txBox="1">
                <a:spLocks noRot="1" noChangeAspect="1" noMove="1" noResize="1" noEditPoints="1" noAdjustHandles="1" noChangeArrowheads="1" noChangeShapeType="1" noTextEdit="1"/>
              </p:cNvSpPr>
              <p:nvPr/>
            </p:nvSpPr>
            <p:spPr>
              <a:xfrm>
                <a:off x="251224" y="1084523"/>
                <a:ext cx="11472203" cy="1129822"/>
              </a:xfrm>
              <a:prstGeom prst="rect">
                <a:avLst/>
              </a:prstGeom>
              <a:blipFill>
                <a:blip r:embed="rId2"/>
                <a:stretch>
                  <a:fillRect l="-319" t="-2162"/>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9C9A2E53-4D32-4626-A9E5-5E18631C4306}"/>
              </a:ext>
            </a:extLst>
          </p:cNvPr>
          <p:cNvSpPr txBox="1">
            <a:spLocks/>
          </p:cNvSpPr>
          <p:nvPr/>
        </p:nvSpPr>
        <p:spPr>
          <a:xfrm>
            <a:off x="251224" y="5341837"/>
            <a:ext cx="11232109" cy="47897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rgbClr val="C00000"/>
                </a:solidFill>
              </a:rPr>
              <a:t>How does the F-statistic help us determine if the means of each group are the same?</a:t>
            </a:r>
          </a:p>
          <a:p>
            <a:pPr algn="just">
              <a:lnSpc>
                <a:spcPct val="100000"/>
              </a:lnSpc>
            </a:pPr>
            <a:r>
              <a:rPr lang="en-NZ" altLang="ja-JP" sz="1800" b="1" dirty="0">
                <a:solidFill>
                  <a:srgbClr val="C00000"/>
                </a:solidFill>
              </a:rPr>
              <a:t>  </a:t>
            </a:r>
          </a:p>
          <a:p>
            <a:pPr algn="just">
              <a:lnSpc>
                <a:spcPct val="100000"/>
              </a:lnSpc>
            </a:pPr>
            <a:endParaRPr lang="en-NZ" altLang="ja-JP" sz="1800" b="1" dirty="0">
              <a:solidFill>
                <a:srgbClr val="C00000"/>
              </a:solidFill>
            </a:endParaRPr>
          </a:p>
          <a:p>
            <a:pPr algn="just">
              <a:lnSpc>
                <a:spcPct val="100000"/>
              </a:lnSpc>
            </a:pPr>
            <a:endParaRPr lang="en-NZ" altLang="ja-JP" sz="1800" b="1" i="1" dirty="0">
              <a:solidFill>
                <a:srgbClr val="C00000"/>
              </a:solidFill>
            </a:endParaRPr>
          </a:p>
        </p:txBody>
      </p:sp>
      <p:sp>
        <p:nvSpPr>
          <p:cNvPr id="2" name="Title 6">
            <a:extLst>
              <a:ext uri="{FF2B5EF4-FFF2-40B4-BE49-F238E27FC236}">
                <a16:creationId xmlns:a16="http://schemas.microsoft.com/office/drawing/2014/main" id="{6049B947-E1EF-A896-D412-C956336E6813}"/>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D6E54557-3687-C089-F14C-F6C6A6084554}"/>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4" name="Picture 2" descr="Te Herenga Waka—Victoria University of Wellington | Universities New  Zealand - Te Pōkai Tara">
            <a:extLst>
              <a:ext uri="{FF2B5EF4-FFF2-40B4-BE49-F238E27FC236}">
                <a16:creationId xmlns:a16="http://schemas.microsoft.com/office/drawing/2014/main" id="{D278F880-1761-0E20-0AFA-8F04CB341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 Placeholder 5">
                <a:extLst>
                  <a:ext uri="{FF2B5EF4-FFF2-40B4-BE49-F238E27FC236}">
                    <a16:creationId xmlns:a16="http://schemas.microsoft.com/office/drawing/2014/main" id="{E014F35A-3AD8-ACE6-73A8-1667260B9345}"/>
                  </a:ext>
                </a:extLst>
              </p:cNvPr>
              <p:cNvSpPr txBox="1">
                <a:spLocks/>
              </p:cNvSpPr>
              <p:nvPr/>
            </p:nvSpPr>
            <p:spPr>
              <a:xfrm>
                <a:off x="3470029" y="2556990"/>
                <a:ext cx="3532414" cy="11298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f>
                        <m:fPr>
                          <m:type m:val="lin"/>
                          <m:ctrlPr>
                            <a:rPr lang="en-NZ" altLang="ja-JP" sz="1700" b="1" i="1" smtClean="0">
                              <a:solidFill>
                                <a:schemeClr val="tx1"/>
                              </a:solidFill>
                              <a:latin typeface="Cambria Math" panose="02040503050406030204" pitchFamily="18" charset="0"/>
                            </a:rPr>
                          </m:ctrlPr>
                        </m:fPr>
                        <m:num>
                          <m:d>
                            <m:dPr>
                              <m:ctrlPr>
                                <a:rPr lang="en-NZ" altLang="ja-JP" sz="1700" b="1" i="1" smtClean="0">
                                  <a:solidFill>
                                    <a:schemeClr val="tx1"/>
                                  </a:solidFill>
                                  <a:latin typeface="Cambria Math" panose="02040503050406030204" pitchFamily="18" charset="0"/>
                                </a:rPr>
                              </m:ctrlPr>
                            </m:dPr>
                            <m:e>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r>
                                    <a:rPr lang="en-NZ" altLang="ja-JP" sz="1700" b="1" i="1" smtClean="0">
                                      <a:solidFill>
                                        <a:schemeClr val="tx1"/>
                                      </a:solidFill>
                                      <a:latin typeface="Cambria Math" panose="02040503050406030204" pitchFamily="18" charset="0"/>
                                    </a:rPr>
                                    <m:t>𝒌</m:t>
                                  </m:r>
                                </m:sup>
                                <m:e>
                                  <m:f>
                                    <m:fPr>
                                      <m:ctrlPr>
                                        <a:rPr lang="en-NZ" altLang="ja-JP" sz="1700" b="1" i="1" smtClean="0">
                                          <a:solidFill>
                                            <a:schemeClr val="tx1"/>
                                          </a:solidFill>
                                          <a:latin typeface="Cambria Math" panose="02040503050406030204" pitchFamily="18" charset="0"/>
                                        </a:rPr>
                                      </m:ctrlPr>
                                    </m:fPr>
                                    <m:num>
                                      <m:sSubSup>
                                        <m:sSubSupPr>
                                          <m:ctrlPr>
                                            <a:rPr lang="en-NZ" altLang="ja-JP" sz="1700" b="1" i="1" smtClean="0">
                                              <a:solidFill>
                                                <a:schemeClr val="tx1"/>
                                              </a:solidFill>
                                              <a:latin typeface="Cambria Math" panose="02040503050406030204" pitchFamily="18" charset="0"/>
                                            </a:rPr>
                                          </m:ctrlPr>
                                        </m:sSubSupPr>
                                        <m:e>
                                          <m:r>
                                            <a:rPr lang="en-NZ" altLang="ja-JP" sz="1700" b="1" i="1" smtClean="0">
                                              <a:solidFill>
                                                <a:schemeClr val="tx1"/>
                                              </a:solidFill>
                                              <a:latin typeface="Cambria Math" panose="02040503050406030204" pitchFamily="18" charset="0"/>
                                            </a:rPr>
                                            <m:t>𝑻</m:t>
                                          </m:r>
                                        </m:e>
                                        <m:sub>
                                          <m:r>
                                            <a:rPr lang="en-NZ" altLang="ja-JP" sz="1700" b="1" i="1" smtClean="0">
                                              <a:solidFill>
                                                <a:schemeClr val="tx1"/>
                                              </a:solidFill>
                                              <a:latin typeface="Cambria Math" panose="02040503050406030204" pitchFamily="18" charset="0"/>
                                            </a:rPr>
                                            <m:t>𝒊</m:t>
                                          </m:r>
                                        </m:sub>
                                        <m:sup>
                                          <m:r>
                                            <a:rPr lang="en-NZ" altLang="ja-JP" sz="1700" b="1" i="1" smtClean="0">
                                              <a:solidFill>
                                                <a:schemeClr val="tx1"/>
                                              </a:solidFill>
                                              <a:latin typeface="Cambria Math" panose="02040503050406030204" pitchFamily="18" charset="0"/>
                                            </a:rPr>
                                            <m:t>𝟐</m:t>
                                          </m:r>
                                        </m:sup>
                                      </m:sSubSup>
                                    </m:num>
                                    <m:den>
                                      <m:sSub>
                                        <m:sSubPr>
                                          <m:ctrlPr>
                                            <a:rPr lang="en-NZ" altLang="ja-JP" sz="1700" b="1" i="1" smtClean="0">
                                              <a:solidFill>
                                                <a:schemeClr val="tx1"/>
                                              </a:solidFill>
                                              <a:latin typeface="Cambria Math" panose="02040503050406030204" pitchFamily="18" charset="0"/>
                                            </a:rPr>
                                          </m:ctrlPr>
                                        </m:sSubPr>
                                        <m:e>
                                          <m:r>
                                            <a:rPr lang="en-NZ" altLang="ja-JP" sz="1700" b="1" i="1" smtClean="0">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den>
                                  </m:f>
                                </m:e>
                              </m:nary>
                              <m:r>
                                <a:rPr lang="en-NZ" altLang="ja-JP" sz="1700" b="1" i="1" smtClean="0">
                                  <a:solidFill>
                                    <a:schemeClr val="tx1"/>
                                  </a:solidFill>
                                  <a:latin typeface="Cambria Math" panose="02040503050406030204" pitchFamily="18" charset="0"/>
                                </a:rPr>
                                <m:t>   − </m:t>
                              </m:r>
                              <m:f>
                                <m:fPr>
                                  <m:ctrlPr>
                                    <a:rPr lang="en-NZ" altLang="ja-JP" sz="1700" b="1" i="1" smtClean="0">
                                      <a:solidFill>
                                        <a:schemeClr val="tx1"/>
                                      </a:solidFill>
                                      <a:latin typeface="Cambria Math" panose="02040503050406030204" pitchFamily="18" charset="0"/>
                                    </a:rPr>
                                  </m:ctrlPr>
                                </m:fPr>
                                <m:num>
                                  <m:sSup>
                                    <m:sSupPr>
                                      <m:ctrlPr>
                                        <a:rPr lang="en-NZ" altLang="ja-JP" sz="1700" b="1" i="1" smtClean="0">
                                          <a:solidFill>
                                            <a:schemeClr val="tx1"/>
                                          </a:solidFill>
                                          <a:latin typeface="Cambria Math" panose="02040503050406030204" pitchFamily="18" charset="0"/>
                                        </a:rPr>
                                      </m:ctrlPr>
                                    </m:sSupPr>
                                    <m:e>
                                      <m:r>
                                        <a:rPr lang="en-NZ" altLang="ja-JP" sz="1700" b="1" i="1" smtClean="0">
                                          <a:solidFill>
                                            <a:schemeClr val="tx1"/>
                                          </a:solidFill>
                                          <a:latin typeface="Cambria Math" panose="02040503050406030204" pitchFamily="18" charset="0"/>
                                        </a:rPr>
                                        <m:t>𝑮</m:t>
                                      </m:r>
                                    </m:e>
                                    <m:sup>
                                      <m:r>
                                        <a:rPr lang="en-NZ" altLang="ja-JP" sz="1700" b="1" i="1" smtClean="0">
                                          <a:solidFill>
                                            <a:schemeClr val="tx1"/>
                                          </a:solidFill>
                                          <a:latin typeface="Cambria Math" panose="02040503050406030204" pitchFamily="18" charset="0"/>
                                        </a:rPr>
                                        <m:t>𝟐</m:t>
                                      </m:r>
                                    </m:sup>
                                  </m:sSup>
                                </m:num>
                                <m:den>
                                  <m:r>
                                    <a:rPr lang="en-NZ" altLang="ja-JP" sz="1700" b="1" i="1" smtClean="0">
                                      <a:solidFill>
                                        <a:schemeClr val="tx1"/>
                                      </a:solidFill>
                                      <a:latin typeface="Cambria Math" panose="02040503050406030204" pitchFamily="18" charset="0"/>
                                    </a:rPr>
                                    <m:t>𝑵</m:t>
                                  </m:r>
                                </m:den>
                              </m:f>
                            </m:e>
                          </m:d>
                          <m:r>
                            <a:rPr lang="en-NZ" altLang="ja-JP" sz="1700" b="1" i="1" smtClean="0">
                              <a:solidFill>
                                <a:schemeClr val="tx1"/>
                              </a:solidFill>
                              <a:latin typeface="Cambria Math" panose="02040503050406030204" pitchFamily="18" charset="0"/>
                            </a:rPr>
                            <m:t> </m:t>
                          </m:r>
                        </m:num>
                        <m:den>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r>
                            <a:rPr lang="en-NZ" altLang="ja-JP" sz="1700" b="1" i="1" smtClean="0">
                              <a:solidFill>
                                <a:schemeClr val="tx1"/>
                              </a:solidFill>
                              <a:latin typeface="Cambria Math" panose="02040503050406030204" pitchFamily="18" charset="0"/>
                            </a:rPr>
                            <m:t>)</m:t>
                          </m:r>
                        </m:den>
                      </m:f>
                    </m:oMath>
                  </m:oMathPara>
                </a14:m>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5" name="Text Placeholder 5">
                <a:extLst>
                  <a:ext uri="{FF2B5EF4-FFF2-40B4-BE49-F238E27FC236}">
                    <a16:creationId xmlns:a16="http://schemas.microsoft.com/office/drawing/2014/main" id="{E014F35A-3AD8-ACE6-73A8-1667260B9345}"/>
                  </a:ext>
                </a:extLst>
              </p:cNvPr>
              <p:cNvSpPr txBox="1">
                <a:spLocks noRot="1" noChangeAspect="1" noMove="1" noResize="1" noEditPoints="1" noAdjustHandles="1" noChangeArrowheads="1" noChangeShapeType="1" noTextEdit="1"/>
              </p:cNvSpPr>
              <p:nvPr/>
            </p:nvSpPr>
            <p:spPr>
              <a:xfrm>
                <a:off x="3470029" y="2556990"/>
                <a:ext cx="3532414" cy="1129822"/>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23F25100-BF3F-6AC1-607C-EEBCD870F426}"/>
                  </a:ext>
                </a:extLst>
              </p:cNvPr>
              <p:cNvSpPr txBox="1">
                <a:spLocks/>
              </p:cNvSpPr>
              <p:nvPr/>
            </p:nvSpPr>
            <p:spPr>
              <a:xfrm>
                <a:off x="2917283" y="3665650"/>
                <a:ext cx="4667534" cy="11298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f>
                        <m:fPr>
                          <m:type m:val="lin"/>
                          <m:ctrlPr>
                            <a:rPr lang="en-NZ" altLang="ja-JP" sz="1700" b="1" i="1" smtClean="0">
                              <a:solidFill>
                                <a:schemeClr val="tx1"/>
                              </a:solidFill>
                              <a:latin typeface="Cambria Math" panose="02040503050406030204" pitchFamily="18" charset="0"/>
                            </a:rPr>
                          </m:ctrlPr>
                        </m:fPr>
                        <m:num>
                          <m:d>
                            <m:dPr>
                              <m:ctrlPr>
                                <a:rPr lang="en-NZ" altLang="ja-JP" sz="1700" b="1" i="1" smtClean="0">
                                  <a:solidFill>
                                    <a:schemeClr val="tx1"/>
                                  </a:solidFill>
                                  <a:latin typeface="Cambria Math" panose="02040503050406030204" pitchFamily="18" charset="0"/>
                                </a:rPr>
                              </m:ctrlPr>
                            </m:dPr>
                            <m:e>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𝒊</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r>
                                    <a:rPr lang="en-NZ" altLang="ja-JP" sz="1700" b="1" i="1" smtClean="0">
                                      <a:solidFill>
                                        <a:schemeClr val="tx1"/>
                                      </a:solidFill>
                                      <a:latin typeface="Cambria Math" panose="02040503050406030204" pitchFamily="18" charset="0"/>
                                    </a:rPr>
                                    <m:t>𝒌</m:t>
                                  </m:r>
                                </m:sup>
                                <m:e>
                                  <m:nary>
                                    <m:naryPr>
                                      <m:chr m:val="∑"/>
                                      <m:ctrlPr>
                                        <a:rPr lang="en-NZ" altLang="ja-JP" sz="1700" b="1" i="1" smtClean="0">
                                          <a:solidFill>
                                            <a:schemeClr val="tx1"/>
                                          </a:solidFill>
                                          <a:latin typeface="Cambria Math" panose="02040503050406030204" pitchFamily="18" charset="0"/>
                                        </a:rPr>
                                      </m:ctrlPr>
                                    </m:naryPr>
                                    <m:sub>
                                      <m:r>
                                        <m:rPr>
                                          <m:brk m:alnAt="23"/>
                                        </m:rPr>
                                        <a:rPr lang="en-NZ" altLang="ja-JP" sz="1700" b="1" i="1" smtClean="0">
                                          <a:solidFill>
                                            <a:schemeClr val="tx1"/>
                                          </a:solidFill>
                                          <a:latin typeface="Cambria Math" panose="02040503050406030204" pitchFamily="18" charset="0"/>
                                        </a:rPr>
                                        <m:t>𝒋</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𝟏</m:t>
                                      </m:r>
                                    </m:sub>
                                    <m:sup>
                                      <m:sSub>
                                        <m:sSubPr>
                                          <m:ctrlPr>
                                            <a:rPr lang="en-NZ" altLang="ja-JP" sz="1700" b="1" i="1" smtClean="0">
                                              <a:solidFill>
                                                <a:schemeClr val="tx1"/>
                                              </a:solidFill>
                                              <a:latin typeface="Cambria Math" panose="02040503050406030204" pitchFamily="18" charset="0"/>
                                            </a:rPr>
                                          </m:ctrlPr>
                                        </m:sSubPr>
                                        <m:e>
                                          <m:r>
                                            <a:rPr lang="en-NZ" altLang="ja-JP" sz="1700" b="1" i="1" smtClean="0">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sup>
                                    <m:e>
                                      <m:sSubSup>
                                        <m:sSubSupPr>
                                          <m:ctrlPr>
                                            <a:rPr lang="en-NZ" altLang="ja-JP" sz="1700" b="1" i="1" smtClean="0">
                                              <a:solidFill>
                                                <a:schemeClr val="tx1"/>
                                              </a:solidFill>
                                              <a:latin typeface="Cambria Math" panose="02040503050406030204" pitchFamily="18" charset="0"/>
                                            </a:rPr>
                                          </m:ctrlPr>
                                        </m:sSubSupPr>
                                        <m:e>
                                          <m:r>
                                            <a:rPr lang="en-NZ" altLang="ja-JP" sz="1700" b="1" i="1" smtClean="0">
                                              <a:solidFill>
                                                <a:schemeClr val="tx1"/>
                                              </a:solidFill>
                                              <a:latin typeface="Cambria Math" panose="02040503050406030204" pitchFamily="18" charset="0"/>
                                            </a:rPr>
                                            <m:t>𝒀</m:t>
                                          </m:r>
                                        </m:e>
                                        <m:sub>
                                          <m:r>
                                            <a:rPr lang="en-NZ" altLang="ja-JP" sz="1700" b="1" i="1" smtClean="0">
                                              <a:solidFill>
                                                <a:schemeClr val="tx1"/>
                                              </a:solidFill>
                                              <a:latin typeface="Cambria Math" panose="02040503050406030204" pitchFamily="18" charset="0"/>
                                            </a:rPr>
                                            <m:t>𝒊𝒋</m:t>
                                          </m:r>
                                        </m:sub>
                                        <m:sup>
                                          <m:r>
                                            <a:rPr lang="en-NZ" altLang="ja-JP" sz="1700" b="1" i="1" smtClean="0">
                                              <a:solidFill>
                                                <a:schemeClr val="tx1"/>
                                              </a:solidFill>
                                              <a:latin typeface="Cambria Math" panose="02040503050406030204" pitchFamily="18" charset="0"/>
                                            </a:rPr>
                                            <m:t>𝟐</m:t>
                                          </m:r>
                                        </m:sup>
                                      </m:sSubSup>
                                    </m:e>
                                  </m:nary>
                                </m:e>
                              </m:nary>
                              <m:r>
                                <a:rPr lang="en-NZ" altLang="ja-JP" sz="1700" b="1" i="1" smtClean="0">
                                  <a:solidFill>
                                    <a:schemeClr val="tx1"/>
                                  </a:solidFill>
                                  <a:latin typeface="Cambria Math" panose="02040503050406030204" pitchFamily="18" charset="0"/>
                                </a:rPr>
                                <m:t>   −  </m:t>
                              </m:r>
                              <m:nary>
                                <m:naryPr>
                                  <m:chr m:val="∑"/>
                                  <m:ctrlPr>
                                    <a:rPr lang="en-NZ" altLang="ja-JP" sz="1700" b="1" i="1">
                                      <a:solidFill>
                                        <a:schemeClr val="tx1"/>
                                      </a:solidFill>
                                      <a:latin typeface="Cambria Math" panose="02040503050406030204" pitchFamily="18" charset="0"/>
                                    </a:rPr>
                                  </m:ctrlPr>
                                </m:naryPr>
                                <m:sub>
                                  <m:r>
                                    <m:rPr>
                                      <m:brk m:alnAt="23"/>
                                    </m:rPr>
                                    <a:rPr lang="en-NZ" altLang="ja-JP" sz="1700" b="1" i="1">
                                      <a:solidFill>
                                        <a:schemeClr val="tx1"/>
                                      </a:solidFill>
                                      <a:latin typeface="Cambria Math" panose="02040503050406030204" pitchFamily="18" charset="0"/>
                                    </a:rPr>
                                    <m:t>𝒊</m:t>
                                  </m:r>
                                  <m:r>
                                    <a:rPr lang="en-NZ" altLang="ja-JP" sz="1700" b="1" i="1">
                                      <a:solidFill>
                                        <a:schemeClr val="tx1"/>
                                      </a:solidFill>
                                      <a:latin typeface="Cambria Math" panose="02040503050406030204" pitchFamily="18" charset="0"/>
                                    </a:rPr>
                                    <m:t>=</m:t>
                                  </m:r>
                                  <m:r>
                                    <a:rPr lang="en-NZ" altLang="ja-JP" sz="1700" b="1" i="1">
                                      <a:solidFill>
                                        <a:schemeClr val="tx1"/>
                                      </a:solidFill>
                                      <a:latin typeface="Cambria Math" panose="02040503050406030204" pitchFamily="18" charset="0"/>
                                    </a:rPr>
                                    <m:t>𝟏</m:t>
                                  </m:r>
                                </m:sub>
                                <m:sup>
                                  <m:r>
                                    <a:rPr lang="en-NZ" altLang="ja-JP" sz="1700" b="1" i="1">
                                      <a:solidFill>
                                        <a:schemeClr val="tx1"/>
                                      </a:solidFill>
                                      <a:latin typeface="Cambria Math" panose="02040503050406030204" pitchFamily="18" charset="0"/>
                                    </a:rPr>
                                    <m:t>𝒌</m:t>
                                  </m:r>
                                </m:sup>
                                <m:e>
                                  <m:r>
                                    <a:rPr lang="en-NZ" altLang="ja-JP" sz="1700" b="1" i="1" smtClean="0">
                                      <a:solidFill>
                                        <a:schemeClr val="tx1"/>
                                      </a:solidFill>
                                      <a:latin typeface="Cambria Math" panose="02040503050406030204" pitchFamily="18" charset="0"/>
                                    </a:rPr>
                                    <m:t> </m:t>
                                  </m:r>
                                  <m:f>
                                    <m:fPr>
                                      <m:ctrlPr>
                                        <a:rPr lang="en-NZ" altLang="ja-JP" sz="1700" b="1" i="1">
                                          <a:solidFill>
                                            <a:schemeClr val="tx1"/>
                                          </a:solidFill>
                                          <a:latin typeface="Cambria Math" panose="02040503050406030204" pitchFamily="18" charset="0"/>
                                        </a:rPr>
                                      </m:ctrlPr>
                                    </m:fPr>
                                    <m:num>
                                      <m:sSubSup>
                                        <m:sSubSupPr>
                                          <m:ctrlPr>
                                            <a:rPr lang="en-NZ" altLang="ja-JP" sz="1700" b="1" i="1">
                                              <a:solidFill>
                                                <a:schemeClr val="tx1"/>
                                              </a:solidFill>
                                              <a:latin typeface="Cambria Math" panose="02040503050406030204" pitchFamily="18" charset="0"/>
                                            </a:rPr>
                                          </m:ctrlPr>
                                        </m:sSubSupPr>
                                        <m:e>
                                          <m:r>
                                            <a:rPr lang="en-NZ" altLang="ja-JP" sz="1700" b="1" i="1">
                                              <a:solidFill>
                                                <a:schemeClr val="tx1"/>
                                              </a:solidFill>
                                              <a:latin typeface="Cambria Math" panose="02040503050406030204" pitchFamily="18" charset="0"/>
                                            </a:rPr>
                                            <m:t>𝑻</m:t>
                                          </m:r>
                                        </m:e>
                                        <m:sub>
                                          <m:r>
                                            <a:rPr lang="en-NZ" altLang="ja-JP" sz="1700" b="1" i="1">
                                              <a:solidFill>
                                                <a:schemeClr val="tx1"/>
                                              </a:solidFill>
                                              <a:latin typeface="Cambria Math" panose="02040503050406030204" pitchFamily="18" charset="0"/>
                                            </a:rPr>
                                            <m:t>𝒊</m:t>
                                          </m:r>
                                        </m:sub>
                                        <m:sup>
                                          <m:r>
                                            <a:rPr lang="en-NZ" altLang="ja-JP" sz="1700" b="1" i="1">
                                              <a:solidFill>
                                                <a:schemeClr val="tx1"/>
                                              </a:solidFill>
                                              <a:latin typeface="Cambria Math" panose="02040503050406030204" pitchFamily="18" charset="0"/>
                                            </a:rPr>
                                            <m:t>𝟐</m:t>
                                          </m:r>
                                        </m:sup>
                                      </m:sSubSup>
                                    </m:num>
                                    <m:den>
                                      <m:sSub>
                                        <m:sSubPr>
                                          <m:ctrlPr>
                                            <a:rPr lang="en-NZ" altLang="ja-JP" sz="1700" b="1" i="1" smtClean="0">
                                              <a:solidFill>
                                                <a:schemeClr val="tx1"/>
                                              </a:solidFill>
                                              <a:latin typeface="Cambria Math" panose="02040503050406030204" pitchFamily="18" charset="0"/>
                                            </a:rPr>
                                          </m:ctrlPr>
                                        </m:sSubPr>
                                        <m:e>
                                          <m:r>
                                            <a:rPr lang="en-NZ" altLang="ja-JP" sz="1700" b="1" i="1">
                                              <a:solidFill>
                                                <a:schemeClr val="tx1"/>
                                              </a:solidFill>
                                              <a:latin typeface="Cambria Math" panose="02040503050406030204" pitchFamily="18" charset="0"/>
                                            </a:rPr>
                                            <m:t>𝒏</m:t>
                                          </m:r>
                                        </m:e>
                                        <m:sub>
                                          <m:r>
                                            <a:rPr lang="en-NZ" altLang="ja-JP" sz="1700" b="1" i="1" smtClean="0">
                                              <a:solidFill>
                                                <a:schemeClr val="tx1"/>
                                              </a:solidFill>
                                              <a:latin typeface="Cambria Math" panose="02040503050406030204" pitchFamily="18" charset="0"/>
                                            </a:rPr>
                                            <m:t>𝒊</m:t>
                                          </m:r>
                                        </m:sub>
                                      </m:sSub>
                                    </m:den>
                                  </m:f>
                                </m:e>
                              </m:nary>
                            </m:e>
                          </m:d>
                          <m:r>
                            <a:rPr lang="en-NZ" altLang="ja-JP" sz="1700" b="1" i="1" smtClean="0">
                              <a:solidFill>
                                <a:schemeClr val="tx1"/>
                              </a:solidFill>
                              <a:latin typeface="Cambria Math" panose="02040503050406030204" pitchFamily="18" charset="0"/>
                            </a:rPr>
                            <m:t> </m:t>
                          </m:r>
                        </m:num>
                        <m:den>
                          <m:r>
                            <a:rPr lang="en-NZ" altLang="ja-JP" sz="1700" b="1" i="1" smtClean="0">
                              <a:solidFill>
                                <a:schemeClr val="tx1"/>
                              </a:solidFill>
                              <a:latin typeface="Cambria Math" panose="02040503050406030204" pitchFamily="18" charset="0"/>
                            </a:rPr>
                            <m:t> (</m:t>
                          </m:r>
                          <m:r>
                            <a:rPr lang="en-NZ" altLang="ja-JP" sz="1700" b="1" i="1" smtClean="0">
                              <a:solidFill>
                                <a:schemeClr val="tx1"/>
                              </a:solidFill>
                              <a:latin typeface="Cambria Math" panose="02040503050406030204" pitchFamily="18" charset="0"/>
                            </a:rPr>
                            <m:t>𝑵</m:t>
                          </m:r>
                          <m:r>
                            <a:rPr lang="en-NZ" altLang="ja-JP" sz="1700" b="1" i="1" smtClean="0">
                              <a:solidFill>
                                <a:schemeClr val="tx1"/>
                              </a:solidFill>
                              <a:latin typeface="Cambria Math" panose="02040503050406030204" pitchFamily="18" charset="0"/>
                            </a:rPr>
                            <m:t>−</m:t>
                          </m:r>
                          <m:r>
                            <a:rPr lang="en-NZ" altLang="ja-JP" sz="1700" b="1" i="1" smtClean="0">
                              <a:solidFill>
                                <a:schemeClr val="tx1"/>
                              </a:solidFill>
                              <a:latin typeface="Cambria Math" panose="02040503050406030204" pitchFamily="18" charset="0"/>
                            </a:rPr>
                            <m:t>𝒌</m:t>
                          </m:r>
                          <m:r>
                            <a:rPr lang="en-NZ" altLang="ja-JP" sz="1700" b="1" i="1" smtClean="0">
                              <a:solidFill>
                                <a:schemeClr val="tx1"/>
                              </a:solidFill>
                              <a:latin typeface="Cambria Math" panose="02040503050406030204" pitchFamily="18" charset="0"/>
                            </a:rPr>
                            <m:t>)</m:t>
                          </m:r>
                        </m:den>
                      </m:f>
                    </m:oMath>
                  </m:oMathPara>
                </a14:m>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6" name="Text Placeholder 5">
                <a:extLst>
                  <a:ext uri="{FF2B5EF4-FFF2-40B4-BE49-F238E27FC236}">
                    <a16:creationId xmlns:a16="http://schemas.microsoft.com/office/drawing/2014/main" id="{23F25100-BF3F-6AC1-607C-EEBCD870F426}"/>
                  </a:ext>
                </a:extLst>
              </p:cNvPr>
              <p:cNvSpPr txBox="1">
                <a:spLocks noRot="1" noChangeAspect="1" noMove="1" noResize="1" noEditPoints="1" noAdjustHandles="1" noChangeArrowheads="1" noChangeShapeType="1" noTextEdit="1"/>
              </p:cNvSpPr>
              <p:nvPr/>
            </p:nvSpPr>
            <p:spPr>
              <a:xfrm>
                <a:off x="2917283" y="3665650"/>
                <a:ext cx="4667534" cy="1129822"/>
              </a:xfrm>
              <a:prstGeom prst="rect">
                <a:avLst/>
              </a:prstGeom>
              <a:blipFill>
                <a:blip r:embed="rId5"/>
                <a:stretch>
                  <a:fillRect/>
                </a:stretch>
              </a:blipFill>
            </p:spPr>
            <p:txBody>
              <a:bodyPr/>
              <a:lstStyle/>
              <a:p>
                <a:r>
                  <a:rPr lang="en-NZ">
                    <a:noFill/>
                  </a:rPr>
                  <a:t> </a:t>
                </a:r>
              </a:p>
            </p:txBody>
          </p:sp>
        </mc:Fallback>
      </mc:AlternateContent>
      <p:cxnSp>
        <p:nvCxnSpPr>
          <p:cNvPr id="12" name="Straight Connector 11">
            <a:extLst>
              <a:ext uri="{FF2B5EF4-FFF2-40B4-BE49-F238E27FC236}">
                <a16:creationId xmlns:a16="http://schemas.microsoft.com/office/drawing/2014/main" id="{CFB5539D-0CAC-86BA-424B-A34BA969BF40}"/>
              </a:ext>
            </a:extLst>
          </p:cNvPr>
          <p:cNvCxnSpPr>
            <a:cxnSpLocks/>
          </p:cNvCxnSpPr>
          <p:nvPr/>
        </p:nvCxnSpPr>
        <p:spPr>
          <a:xfrm>
            <a:off x="3403692" y="3665650"/>
            <a:ext cx="399912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5FF70D1D-293D-BBB7-381E-CE9E854DBA8B}"/>
              </a:ext>
            </a:extLst>
          </p:cNvPr>
          <p:cNvSpPr txBox="1">
            <a:spLocks/>
          </p:cNvSpPr>
          <p:nvPr/>
        </p:nvSpPr>
        <p:spPr>
          <a:xfrm>
            <a:off x="2783778" y="3356425"/>
            <a:ext cx="715879" cy="44407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500" dirty="0">
                <a:solidFill>
                  <a:schemeClr val="tx1"/>
                </a:solidFill>
              </a:rPr>
              <a:t>=</a:t>
            </a:r>
            <a:endParaRPr lang="en-NZ" altLang="ja-JP" sz="2500" b="1" dirty="0">
              <a:solidFill>
                <a:schemeClr val="tx1"/>
              </a:solidFill>
            </a:endParaRPr>
          </a:p>
          <a:p>
            <a:pPr algn="just">
              <a:lnSpc>
                <a:spcPct val="100000"/>
              </a:lnSpc>
            </a:pPr>
            <a:endParaRPr lang="en-NZ" altLang="ja-JP" sz="2500" b="1" dirty="0">
              <a:solidFill>
                <a:schemeClr val="tx1"/>
              </a:solidFill>
            </a:endParaRPr>
          </a:p>
          <a:p>
            <a:pPr algn="just">
              <a:lnSpc>
                <a:spcPct val="100000"/>
              </a:lnSpc>
            </a:pPr>
            <a:endParaRPr lang="en-NZ" altLang="ja-JP" sz="2500" b="1" dirty="0">
              <a:solidFill>
                <a:schemeClr val="tx1"/>
              </a:solidFill>
            </a:endParaRPr>
          </a:p>
          <a:p>
            <a:pPr algn="just">
              <a:lnSpc>
                <a:spcPct val="100000"/>
              </a:lnSpc>
            </a:pPr>
            <a:r>
              <a:rPr lang="en-NZ" altLang="ja-JP" sz="2500" dirty="0">
                <a:solidFill>
                  <a:schemeClr val="tx1"/>
                </a:solidFill>
              </a:rPr>
              <a:t>  </a:t>
            </a:r>
          </a:p>
          <a:p>
            <a:pPr algn="just">
              <a:lnSpc>
                <a:spcPct val="100000"/>
              </a:lnSpc>
            </a:pPr>
            <a:endParaRPr lang="en-NZ" altLang="ja-JP" sz="2500" dirty="0">
              <a:solidFill>
                <a:schemeClr val="tx1"/>
              </a:solidFill>
            </a:endParaRPr>
          </a:p>
          <a:p>
            <a:pPr algn="just">
              <a:lnSpc>
                <a:spcPct val="100000"/>
              </a:lnSpc>
            </a:pPr>
            <a:endParaRPr lang="en-NZ" altLang="ja-JP" sz="2500" i="1" dirty="0">
              <a:solidFill>
                <a:srgbClr val="C00000"/>
              </a:solidFill>
            </a:endParaRPr>
          </a:p>
        </p:txBody>
      </p:sp>
      <p:sp>
        <p:nvSpPr>
          <p:cNvPr id="17" name="Text Placeholder 5">
            <a:extLst>
              <a:ext uri="{FF2B5EF4-FFF2-40B4-BE49-F238E27FC236}">
                <a16:creationId xmlns:a16="http://schemas.microsoft.com/office/drawing/2014/main" id="{1276346A-2474-54B3-2124-930AB9888401}"/>
              </a:ext>
            </a:extLst>
          </p:cNvPr>
          <p:cNvSpPr txBox="1">
            <a:spLocks/>
          </p:cNvSpPr>
          <p:nvPr/>
        </p:nvSpPr>
        <p:spPr>
          <a:xfrm>
            <a:off x="1807633" y="6489573"/>
            <a:ext cx="82558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bg2">
                    <a:lumMod val="25000"/>
                  </a:schemeClr>
                </a:solidFill>
              </a:rPr>
              <a:t>*The proof of this statements is not required for this course but is available as supplementary material on the intranet. </a:t>
            </a:r>
          </a:p>
          <a:p>
            <a:pPr algn="just">
              <a:lnSpc>
                <a:spcPct val="100000"/>
              </a:lnSpc>
            </a:pPr>
            <a:r>
              <a:rPr lang="en-NZ" altLang="ja-JP" sz="1200" dirty="0">
                <a:solidFill>
                  <a:schemeClr val="bg2">
                    <a:lumMod val="25000"/>
                  </a:schemeClr>
                </a:solidFill>
              </a:rPr>
              <a:t>  </a:t>
            </a:r>
          </a:p>
          <a:p>
            <a:pPr algn="just">
              <a:lnSpc>
                <a:spcPct val="100000"/>
              </a:lnSpc>
            </a:pPr>
            <a:endParaRPr lang="en-NZ" altLang="ja-JP" sz="1200" dirty="0">
              <a:solidFill>
                <a:schemeClr val="bg2">
                  <a:lumMod val="25000"/>
                </a:schemeClr>
              </a:solidFill>
            </a:endParaRPr>
          </a:p>
          <a:p>
            <a:pPr algn="just">
              <a:lnSpc>
                <a:spcPct val="100000"/>
              </a:lnSpc>
            </a:pPr>
            <a:endParaRPr lang="en-NZ" altLang="ja-JP" sz="1200" i="1" dirty="0">
              <a:solidFill>
                <a:schemeClr val="bg2">
                  <a:lumMod val="25000"/>
                </a:schemeClr>
              </a:solidFill>
            </a:endParaRPr>
          </a:p>
        </p:txBody>
      </p:sp>
      <p:sp>
        <p:nvSpPr>
          <p:cNvPr id="18" name="Text Placeholder 5">
            <a:extLst>
              <a:ext uri="{FF2B5EF4-FFF2-40B4-BE49-F238E27FC236}">
                <a16:creationId xmlns:a16="http://schemas.microsoft.com/office/drawing/2014/main" id="{0B98B161-2AE5-FAB6-F7FC-7B69CB5B4D2A}"/>
              </a:ext>
            </a:extLst>
          </p:cNvPr>
          <p:cNvSpPr txBox="1">
            <a:spLocks/>
          </p:cNvSpPr>
          <p:nvPr/>
        </p:nvSpPr>
        <p:spPr>
          <a:xfrm>
            <a:off x="8647987" y="4173665"/>
            <a:ext cx="2656545" cy="5616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i="1" dirty="0">
                <a:solidFill>
                  <a:schemeClr val="bg2">
                    <a:lumMod val="50000"/>
                  </a:schemeClr>
                </a:solidFill>
              </a:rPr>
              <a:t>This is how the F-Statistic for one-way ANOVA appears in the Stat 432 Course Notes.</a:t>
            </a:r>
          </a:p>
          <a:p>
            <a:pPr algn="just">
              <a:lnSpc>
                <a:spcPct val="100000"/>
              </a:lnSpc>
            </a:pPr>
            <a:r>
              <a:rPr lang="en-NZ" altLang="ja-JP" sz="1200" i="1" dirty="0">
                <a:solidFill>
                  <a:schemeClr val="bg2">
                    <a:lumMod val="50000"/>
                  </a:schemeClr>
                </a:solidFill>
              </a:rPr>
              <a:t>  </a:t>
            </a:r>
          </a:p>
          <a:p>
            <a:pPr algn="just">
              <a:lnSpc>
                <a:spcPct val="100000"/>
              </a:lnSpc>
            </a:pPr>
            <a:endParaRPr lang="en-NZ" altLang="ja-JP" sz="1200" i="1" dirty="0">
              <a:solidFill>
                <a:schemeClr val="bg2">
                  <a:lumMod val="50000"/>
                </a:schemeClr>
              </a:solidFill>
            </a:endParaRPr>
          </a:p>
          <a:p>
            <a:pPr algn="just">
              <a:lnSpc>
                <a:spcPct val="100000"/>
              </a:lnSpc>
            </a:pPr>
            <a:endParaRPr lang="en-NZ" altLang="ja-JP" sz="1200" i="1" dirty="0">
              <a:solidFill>
                <a:schemeClr val="bg2">
                  <a:lumMod val="50000"/>
                </a:schemeClr>
              </a:solidFill>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E1DEAD9E-0E43-2BC7-2608-84DE93A7A9A1}"/>
                  </a:ext>
                </a:extLst>
              </p:cNvPr>
              <p:cNvSpPr txBox="1">
                <a:spLocks/>
              </p:cNvSpPr>
              <p:nvPr/>
            </p:nvSpPr>
            <p:spPr>
              <a:xfrm flipH="1">
                <a:off x="8086381" y="3131697"/>
                <a:ext cx="1889879" cy="893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𝑇</m:t>
                          </m:r>
                        </m:e>
                        <m:sub>
                          <m:r>
                            <a:rPr lang="en-NZ" altLang="ja-JP" sz="1800" b="0" i="1" smtClean="0">
                              <a:solidFill>
                                <a:schemeClr val="bg2">
                                  <a:lumMod val="50000"/>
                                </a:schemeClr>
                              </a:solidFill>
                              <a:latin typeface="Cambria Math" panose="02040503050406030204" pitchFamily="18" charset="0"/>
                            </a:rPr>
                            <m:t>𝑖</m:t>
                          </m:r>
                        </m:sub>
                      </m:sSub>
                      <m:r>
                        <a:rPr lang="en-NZ" altLang="ja-JP" sz="1800" b="0" i="1" smtClean="0">
                          <a:solidFill>
                            <a:schemeClr val="bg2">
                              <a:lumMod val="50000"/>
                            </a:schemeClr>
                          </a:solidFill>
                          <a:latin typeface="Cambria Math" panose="02040503050406030204" pitchFamily="18" charset="0"/>
                        </a:rPr>
                        <m:t>= </m:t>
                      </m:r>
                      <m:nary>
                        <m:naryPr>
                          <m:chr m:val="∑"/>
                          <m:ctrlPr>
                            <a:rPr lang="en-NZ" altLang="ja-JP" sz="1800" b="0" i="1" smtClean="0">
                              <a:solidFill>
                                <a:schemeClr val="bg2">
                                  <a:lumMod val="50000"/>
                                </a:schemeClr>
                              </a:solidFill>
                              <a:latin typeface="Cambria Math" panose="02040503050406030204" pitchFamily="18" charset="0"/>
                            </a:rPr>
                          </m:ctrlPr>
                        </m:naryPr>
                        <m:sub>
                          <m:r>
                            <m:rPr>
                              <m:brk m:alnAt="23"/>
                            </m:rPr>
                            <a:rPr lang="en-NZ" altLang="ja-JP" sz="1800" b="0" i="1" smtClean="0">
                              <a:solidFill>
                                <a:schemeClr val="bg2">
                                  <a:lumMod val="50000"/>
                                </a:schemeClr>
                              </a:solidFill>
                              <a:latin typeface="Cambria Math" panose="02040503050406030204" pitchFamily="18" charset="0"/>
                            </a:rPr>
                            <m:t>𝑗</m:t>
                          </m:r>
                          <m:r>
                            <a:rPr lang="en-NZ" altLang="ja-JP" sz="1800" b="0" i="1" smtClean="0">
                              <a:solidFill>
                                <a:schemeClr val="bg2">
                                  <a:lumMod val="50000"/>
                                </a:schemeClr>
                              </a:solidFill>
                              <a:latin typeface="Cambria Math" panose="02040503050406030204" pitchFamily="18" charset="0"/>
                            </a:rPr>
                            <m:t>=</m:t>
                          </m:r>
                          <m:r>
                            <m:rPr>
                              <m:brk m:alnAt="23"/>
                            </m:rPr>
                            <a:rPr lang="en-NZ" altLang="ja-JP" sz="1800" b="0" i="1" smtClean="0">
                              <a:solidFill>
                                <a:schemeClr val="bg2">
                                  <a:lumMod val="50000"/>
                                </a:schemeClr>
                              </a:solidFill>
                              <a:latin typeface="Cambria Math" panose="02040503050406030204" pitchFamily="18" charset="0"/>
                            </a:rPr>
                            <m:t>1</m:t>
                          </m:r>
                        </m:sub>
                        <m:sup>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𝑛</m:t>
                              </m:r>
                            </m:e>
                            <m:sub>
                              <m:r>
                                <a:rPr lang="en-NZ" altLang="ja-JP" sz="1800" b="0" i="1" smtClean="0">
                                  <a:solidFill>
                                    <a:schemeClr val="bg2">
                                      <a:lumMod val="50000"/>
                                    </a:schemeClr>
                                  </a:solidFill>
                                  <a:latin typeface="Cambria Math" panose="02040503050406030204" pitchFamily="18" charset="0"/>
                                </a:rPr>
                                <m:t>𝑖</m:t>
                              </m:r>
                            </m:sub>
                          </m:sSub>
                        </m:sup>
                        <m:e>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𝑌</m:t>
                              </m:r>
                            </m:e>
                            <m:sub>
                              <m:r>
                                <a:rPr lang="en-NZ" altLang="ja-JP" sz="1800" b="0" i="1" smtClean="0">
                                  <a:solidFill>
                                    <a:schemeClr val="bg2">
                                      <a:lumMod val="50000"/>
                                    </a:schemeClr>
                                  </a:solidFill>
                                  <a:latin typeface="Cambria Math" panose="02040503050406030204" pitchFamily="18" charset="0"/>
                                </a:rPr>
                                <m:t>𝑖𝑗</m:t>
                              </m:r>
                            </m:sub>
                          </m:sSub>
                        </m:e>
                      </m:nary>
                    </m:oMath>
                  </m:oMathPara>
                </a14:m>
                <a:endParaRPr lang="en-NZ" altLang="ja-JP" sz="1800" dirty="0">
                  <a:solidFill>
                    <a:schemeClr val="bg2">
                      <a:lumMod val="50000"/>
                    </a:schemeClr>
                  </a:solidFill>
                </a:endParaRPr>
              </a:p>
              <a:p>
                <a:pPr algn="just">
                  <a:lnSpc>
                    <a:spcPct val="100000"/>
                  </a:lnSpc>
                </a:pPr>
                <a:endParaRPr lang="en-NZ" altLang="ja-JP" sz="1800" i="1" dirty="0">
                  <a:solidFill>
                    <a:schemeClr val="bg2">
                      <a:lumMod val="50000"/>
                    </a:schemeClr>
                  </a:solidFill>
                </a:endParaRPr>
              </a:p>
            </p:txBody>
          </p:sp>
        </mc:Choice>
        <mc:Fallback xmlns="">
          <p:sp>
            <p:nvSpPr>
              <p:cNvPr id="19" name="Text Placeholder 5">
                <a:extLst>
                  <a:ext uri="{FF2B5EF4-FFF2-40B4-BE49-F238E27FC236}">
                    <a16:creationId xmlns:a16="http://schemas.microsoft.com/office/drawing/2014/main" id="{E1DEAD9E-0E43-2BC7-2608-84DE93A7A9A1}"/>
                  </a:ext>
                </a:extLst>
              </p:cNvPr>
              <p:cNvSpPr txBox="1">
                <a:spLocks noRot="1" noChangeAspect="1" noMove="1" noResize="1" noEditPoints="1" noAdjustHandles="1" noChangeArrowheads="1" noChangeShapeType="1" noTextEdit="1"/>
              </p:cNvSpPr>
              <p:nvPr/>
            </p:nvSpPr>
            <p:spPr>
              <a:xfrm flipH="1">
                <a:off x="8086381" y="3131697"/>
                <a:ext cx="1889879" cy="893534"/>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7884C17-4773-4519-054A-1F03A1B19D18}"/>
                  </a:ext>
                </a:extLst>
              </p:cNvPr>
              <p:cNvSpPr txBox="1">
                <a:spLocks/>
              </p:cNvSpPr>
              <p:nvPr/>
            </p:nvSpPr>
            <p:spPr>
              <a:xfrm flipH="1">
                <a:off x="9572091" y="3131697"/>
                <a:ext cx="2284942" cy="893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0" i="1" smtClean="0">
                          <a:solidFill>
                            <a:schemeClr val="bg2">
                              <a:lumMod val="50000"/>
                            </a:schemeClr>
                          </a:solidFill>
                          <a:latin typeface="Cambria Math" panose="02040503050406030204" pitchFamily="18" charset="0"/>
                        </a:rPr>
                        <m:t>𝐺</m:t>
                      </m:r>
                      <m:r>
                        <a:rPr lang="en-NZ" altLang="ja-JP" sz="1800" b="0" i="1" smtClean="0">
                          <a:solidFill>
                            <a:schemeClr val="bg2">
                              <a:lumMod val="50000"/>
                            </a:schemeClr>
                          </a:solidFill>
                          <a:latin typeface="Cambria Math" panose="02040503050406030204" pitchFamily="18" charset="0"/>
                        </a:rPr>
                        <m:t>= </m:t>
                      </m:r>
                      <m:nary>
                        <m:naryPr>
                          <m:chr m:val="∑"/>
                          <m:ctrlPr>
                            <a:rPr lang="en-NZ" altLang="ja-JP" sz="1800" b="0" i="1" smtClean="0">
                              <a:solidFill>
                                <a:schemeClr val="bg2">
                                  <a:lumMod val="50000"/>
                                </a:schemeClr>
                              </a:solidFill>
                              <a:latin typeface="Cambria Math" panose="02040503050406030204" pitchFamily="18" charset="0"/>
                            </a:rPr>
                          </m:ctrlPr>
                        </m:naryPr>
                        <m:sub>
                          <m:r>
                            <m:rPr>
                              <m:brk m:alnAt="23"/>
                            </m:rPr>
                            <a:rPr lang="en-NZ" altLang="ja-JP" sz="1800" b="0" i="1" smtClean="0">
                              <a:solidFill>
                                <a:schemeClr val="bg2">
                                  <a:lumMod val="50000"/>
                                </a:schemeClr>
                              </a:solidFill>
                              <a:latin typeface="Cambria Math" panose="02040503050406030204" pitchFamily="18" charset="0"/>
                            </a:rPr>
                            <m:t>𝑖</m:t>
                          </m:r>
                          <m:r>
                            <a:rPr lang="en-NZ" altLang="ja-JP" sz="1800" b="0" i="1" smtClean="0">
                              <a:solidFill>
                                <a:schemeClr val="bg2">
                                  <a:lumMod val="50000"/>
                                </a:schemeClr>
                              </a:solidFill>
                              <a:latin typeface="Cambria Math" panose="02040503050406030204" pitchFamily="18" charset="0"/>
                            </a:rPr>
                            <m:t>=</m:t>
                          </m:r>
                          <m:r>
                            <m:rPr>
                              <m:brk m:alnAt="23"/>
                            </m:rPr>
                            <a:rPr lang="en-NZ" altLang="ja-JP" sz="1800" b="0" i="1" smtClean="0">
                              <a:solidFill>
                                <a:schemeClr val="bg2">
                                  <a:lumMod val="50000"/>
                                </a:schemeClr>
                              </a:solidFill>
                              <a:latin typeface="Cambria Math" panose="02040503050406030204" pitchFamily="18" charset="0"/>
                            </a:rPr>
                            <m:t>1</m:t>
                          </m:r>
                        </m:sub>
                        <m:sup>
                          <m:r>
                            <a:rPr lang="en-NZ" altLang="ja-JP" sz="1800" b="0" i="1" smtClean="0">
                              <a:solidFill>
                                <a:schemeClr val="bg2">
                                  <a:lumMod val="50000"/>
                                </a:schemeClr>
                              </a:solidFill>
                              <a:latin typeface="Cambria Math" panose="02040503050406030204" pitchFamily="18" charset="0"/>
                            </a:rPr>
                            <m:t>𝑘</m:t>
                          </m:r>
                        </m:sup>
                        <m:e>
                          <m:nary>
                            <m:naryPr>
                              <m:chr m:val="∑"/>
                              <m:ctrlPr>
                                <a:rPr lang="en-NZ" altLang="ja-JP" sz="1800" i="1">
                                  <a:solidFill>
                                    <a:schemeClr val="bg2">
                                      <a:lumMod val="50000"/>
                                    </a:schemeClr>
                                  </a:solidFill>
                                  <a:latin typeface="Cambria Math" panose="02040503050406030204" pitchFamily="18" charset="0"/>
                                </a:rPr>
                              </m:ctrlPr>
                            </m:naryPr>
                            <m:sub>
                              <m:r>
                                <m:rPr>
                                  <m:brk m:alnAt="23"/>
                                </m:rPr>
                                <a:rPr lang="en-NZ" altLang="ja-JP" sz="1800" i="1">
                                  <a:solidFill>
                                    <a:schemeClr val="bg2">
                                      <a:lumMod val="50000"/>
                                    </a:schemeClr>
                                  </a:solidFill>
                                  <a:latin typeface="Cambria Math" panose="02040503050406030204" pitchFamily="18" charset="0"/>
                                </a:rPr>
                                <m:t>𝑗</m:t>
                              </m:r>
                              <m:r>
                                <a:rPr lang="en-NZ" altLang="ja-JP" sz="1800" i="1">
                                  <a:solidFill>
                                    <a:schemeClr val="bg2">
                                      <a:lumMod val="50000"/>
                                    </a:schemeClr>
                                  </a:solidFill>
                                  <a:latin typeface="Cambria Math" panose="02040503050406030204" pitchFamily="18" charset="0"/>
                                </a:rPr>
                                <m:t>=1</m:t>
                              </m:r>
                            </m:sub>
                            <m:sup>
                              <m:sSub>
                                <m:sSubPr>
                                  <m:ctrlPr>
                                    <a:rPr lang="en-NZ" altLang="ja-JP" sz="1800" i="1">
                                      <a:solidFill>
                                        <a:schemeClr val="bg2">
                                          <a:lumMod val="50000"/>
                                        </a:schemeClr>
                                      </a:solidFill>
                                      <a:latin typeface="Cambria Math" panose="02040503050406030204" pitchFamily="18" charset="0"/>
                                    </a:rPr>
                                  </m:ctrlPr>
                                </m:sSubPr>
                                <m:e>
                                  <m:r>
                                    <a:rPr lang="en-NZ" altLang="ja-JP" sz="1800" i="1">
                                      <a:solidFill>
                                        <a:schemeClr val="bg2">
                                          <a:lumMod val="50000"/>
                                        </a:schemeClr>
                                      </a:solidFill>
                                      <a:latin typeface="Cambria Math" panose="02040503050406030204" pitchFamily="18" charset="0"/>
                                    </a:rPr>
                                    <m:t>𝑛</m:t>
                                  </m:r>
                                </m:e>
                                <m:sub>
                                  <m:r>
                                    <a:rPr lang="en-NZ" altLang="ja-JP" sz="1800" i="1">
                                      <a:solidFill>
                                        <a:schemeClr val="bg2">
                                          <a:lumMod val="50000"/>
                                        </a:schemeClr>
                                      </a:solidFill>
                                      <a:latin typeface="Cambria Math" panose="02040503050406030204" pitchFamily="18" charset="0"/>
                                    </a:rPr>
                                    <m:t>𝑖</m:t>
                                  </m:r>
                                </m:sub>
                              </m:sSub>
                            </m:sup>
                            <m:e>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𝑌</m:t>
                                  </m:r>
                                </m:e>
                                <m:sub>
                                  <m:r>
                                    <a:rPr lang="en-NZ" altLang="ja-JP" sz="1800" b="0" i="1" smtClean="0">
                                      <a:solidFill>
                                        <a:schemeClr val="bg2">
                                          <a:lumMod val="50000"/>
                                        </a:schemeClr>
                                      </a:solidFill>
                                      <a:latin typeface="Cambria Math" panose="02040503050406030204" pitchFamily="18" charset="0"/>
                                    </a:rPr>
                                    <m:t>𝑖𝑗</m:t>
                                  </m:r>
                                </m:sub>
                              </m:sSub>
                            </m:e>
                          </m:nary>
                        </m:e>
                      </m:nary>
                    </m:oMath>
                  </m:oMathPara>
                </a14:m>
                <a:endParaRPr lang="en-NZ" altLang="ja-JP" sz="1800" dirty="0">
                  <a:solidFill>
                    <a:schemeClr val="bg2">
                      <a:lumMod val="50000"/>
                    </a:schemeClr>
                  </a:solidFill>
                </a:endParaRPr>
              </a:p>
              <a:p>
                <a:pPr algn="just">
                  <a:lnSpc>
                    <a:spcPct val="100000"/>
                  </a:lnSpc>
                </a:pPr>
                <a:endParaRPr lang="en-NZ" altLang="ja-JP" sz="1800" i="1" dirty="0">
                  <a:solidFill>
                    <a:schemeClr val="bg2">
                      <a:lumMod val="50000"/>
                    </a:schemeClr>
                  </a:solidFill>
                </a:endParaRPr>
              </a:p>
            </p:txBody>
          </p:sp>
        </mc:Choice>
        <mc:Fallback xmlns="">
          <p:sp>
            <p:nvSpPr>
              <p:cNvPr id="20" name="Text Placeholder 5">
                <a:extLst>
                  <a:ext uri="{FF2B5EF4-FFF2-40B4-BE49-F238E27FC236}">
                    <a16:creationId xmlns:a16="http://schemas.microsoft.com/office/drawing/2014/main" id="{D7884C17-4773-4519-054A-1F03A1B19D18}"/>
                  </a:ext>
                </a:extLst>
              </p:cNvPr>
              <p:cNvSpPr txBox="1">
                <a:spLocks noRot="1" noChangeAspect="1" noMove="1" noResize="1" noEditPoints="1" noAdjustHandles="1" noChangeArrowheads="1" noChangeShapeType="1" noTextEdit="1"/>
              </p:cNvSpPr>
              <p:nvPr/>
            </p:nvSpPr>
            <p:spPr>
              <a:xfrm flipH="1">
                <a:off x="9572091" y="3131697"/>
                <a:ext cx="2284942" cy="893534"/>
              </a:xfrm>
              <a:prstGeom prst="rect">
                <a:avLst/>
              </a:prstGeom>
              <a:blipFill>
                <a:blip r:embed="rId7"/>
                <a:stretch>
                  <a:fillRect/>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E23F8E3A-6C70-8F3E-4CAB-6A95F0A52F07}"/>
              </a:ext>
            </a:extLst>
          </p:cNvPr>
          <p:cNvSpPr txBox="1">
            <a:spLocks/>
          </p:cNvSpPr>
          <p:nvPr/>
        </p:nvSpPr>
        <p:spPr>
          <a:xfrm flipH="1">
            <a:off x="8931820" y="2842274"/>
            <a:ext cx="1889879" cy="3783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200" dirty="0">
                <a:solidFill>
                  <a:schemeClr val="bg2">
                    <a:lumMod val="50000"/>
                  </a:schemeClr>
                </a:solidFill>
              </a:rPr>
              <a:t>where</a:t>
            </a:r>
          </a:p>
          <a:p>
            <a:pPr algn="just">
              <a:lnSpc>
                <a:spcPct val="100000"/>
              </a:lnSpc>
            </a:pPr>
            <a:endParaRPr lang="en-NZ" altLang="ja-JP" sz="1200" i="1" dirty="0">
              <a:solidFill>
                <a:schemeClr val="bg2">
                  <a:lumMod val="50000"/>
                </a:schemeClr>
              </a:solidFill>
            </a:endParaRPr>
          </a:p>
        </p:txBody>
      </p:sp>
    </p:spTree>
    <p:extLst>
      <p:ext uri="{BB962C8B-B14F-4D97-AF65-F5344CB8AC3E}">
        <p14:creationId xmlns:p14="http://schemas.microsoft.com/office/powerpoint/2010/main" val="61112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38</a:t>
            </a:fld>
            <a:endParaRPr kumimoji="1" lang="ja-JP" altLang="en-US" dirty="0">
              <a:solidFill>
                <a:srgbClr val="575454">
                  <a:lumMod val="20000"/>
                  <a:lumOff val="80000"/>
                </a:srgbClr>
              </a:solidFill>
              <a:latin typeface="Coo Hew"/>
            </a:endParaRPr>
          </a:p>
        </p:txBody>
      </p:sp>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3" y="994525"/>
            <a:ext cx="2669397"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It can be shown that*…</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F6441D6F-CFF1-4983-ABB8-734430B858C3}"/>
                  </a:ext>
                </a:extLst>
              </p:cNvPr>
              <p:cNvSpPr txBox="1">
                <a:spLocks/>
              </p:cNvSpPr>
              <p:nvPr/>
            </p:nvSpPr>
            <p:spPr>
              <a:xfrm>
                <a:off x="857256" y="1220634"/>
                <a:ext cx="3507476" cy="9753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𝑴𝑺𝑻</m:t>
                          </m:r>
                        </m:e>
                      </m:d>
                      <m:r>
                        <a:rPr lang="en-NZ" altLang="ja-JP" sz="1800" b="1" i="1" smtClean="0">
                          <a:solidFill>
                            <a:schemeClr val="tx1"/>
                          </a:solidFill>
                          <a:latin typeface="Cambria Math" panose="02040503050406030204" pitchFamily="18" charset="0"/>
                        </a:rPr>
                        <m:t>=</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sSubSup>
                            <m:sSubSupPr>
                              <m:ctrlPr>
                                <a:rPr lang="en-NZ" altLang="ja-JP" sz="1800" b="1" i="1" smtClean="0">
                                  <a:solidFill>
                                    <a:schemeClr val="tx1"/>
                                  </a:solidFill>
                                  <a:latin typeface="Cambria Math" panose="02040503050406030204" pitchFamily="18" charset="0"/>
                                </a:rPr>
                              </m:ctrlPr>
                            </m:sSubSup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up>
                              <m:r>
                                <a:rPr lang="en-NZ" altLang="ja-JP" sz="1800" b="1" i="1" smtClean="0">
                                  <a:solidFill>
                                    <a:schemeClr val="tx1"/>
                                  </a:solidFill>
                                  <a:latin typeface="Cambria Math" panose="02040503050406030204" pitchFamily="18" charset="0"/>
                                </a:rPr>
                                <m:t>𝟐</m:t>
                              </m:r>
                            </m:sup>
                          </m:sSubSup>
                        </m:e>
                      </m:nary>
                    </m:oMath>
                  </m:oMathPara>
                </a14:m>
                <a:endParaRPr lang="en-NZ" altLang="ja-JP" sz="1800" b="1" dirty="0">
                  <a:solidFill>
                    <a:schemeClr val="tx1"/>
                  </a:solidFill>
                </a:endParaRPr>
              </a:p>
              <a:p>
                <a:pPr algn="just">
                  <a:lnSpc>
                    <a:spcPct val="100000"/>
                  </a:lnSpc>
                </a:pPr>
                <a:r>
                  <a:rPr lang="en-NZ" altLang="ja-JP" sz="1800" b="1" dirty="0">
                    <a:solidFill>
                      <a:schemeClr val="tx1"/>
                    </a:solidFill>
                  </a:rPr>
                  <a:t>  </a:t>
                </a:r>
              </a:p>
              <a:p>
                <a:pPr algn="just">
                  <a:lnSpc>
                    <a:spcPct val="100000"/>
                  </a:lnSpc>
                </a:pPr>
                <a:endParaRPr lang="en-NZ" altLang="ja-JP" sz="1800" b="1" dirty="0">
                  <a:solidFill>
                    <a:schemeClr val="tx1"/>
                  </a:solidFill>
                </a:endParaRPr>
              </a:p>
              <a:p>
                <a:pPr algn="just">
                  <a:lnSpc>
                    <a:spcPct val="100000"/>
                  </a:lnSpc>
                </a:pPr>
                <a:endParaRPr lang="en-NZ" altLang="ja-JP" sz="1800" b="1" i="1" dirty="0">
                  <a:solidFill>
                    <a:srgbClr val="C00000"/>
                  </a:solidFill>
                </a:endParaRPr>
              </a:p>
            </p:txBody>
          </p:sp>
        </mc:Choice>
        <mc:Fallback xmlns="">
          <p:sp>
            <p:nvSpPr>
              <p:cNvPr id="10" name="Text Placeholder 5">
                <a:extLst>
                  <a:ext uri="{FF2B5EF4-FFF2-40B4-BE49-F238E27FC236}">
                    <a16:creationId xmlns:a16="http://schemas.microsoft.com/office/drawing/2014/main" id="{F6441D6F-CFF1-4983-ABB8-734430B858C3}"/>
                  </a:ext>
                </a:extLst>
              </p:cNvPr>
              <p:cNvSpPr txBox="1">
                <a:spLocks noRot="1" noChangeAspect="1" noMove="1" noResize="1" noEditPoints="1" noAdjustHandles="1" noChangeArrowheads="1" noChangeShapeType="1" noTextEdit="1"/>
              </p:cNvSpPr>
              <p:nvPr/>
            </p:nvSpPr>
            <p:spPr>
              <a:xfrm>
                <a:off x="857256" y="1220634"/>
                <a:ext cx="3507476" cy="975339"/>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DE4A75D0-C1C7-4627-B57B-71552145C53F}"/>
                  </a:ext>
                </a:extLst>
              </p:cNvPr>
              <p:cNvSpPr txBox="1">
                <a:spLocks/>
              </p:cNvSpPr>
              <p:nvPr/>
            </p:nvSpPr>
            <p:spPr>
              <a:xfrm>
                <a:off x="5568284" y="1476529"/>
                <a:ext cx="3373550" cy="4727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𝑴𝑺𝑬</m:t>
                          </m:r>
                        </m:e>
                      </m:d>
                      <m:r>
                        <a:rPr lang="en-NZ" altLang="ja-JP" sz="1800" b="1" i="1" smtClean="0">
                          <a:solidFill>
                            <a:schemeClr val="tx1"/>
                          </a:solidFill>
                          <a:latin typeface="Cambria Math" panose="02040503050406030204" pitchFamily="18" charset="0"/>
                        </a:rPr>
                        <m:t>=</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oMath>
                  </m:oMathPara>
                </a14:m>
                <a:endParaRPr lang="en-NZ" altLang="ja-JP" sz="1800" b="1" dirty="0">
                  <a:solidFill>
                    <a:schemeClr val="tx1"/>
                  </a:solidFill>
                </a:endParaRPr>
              </a:p>
              <a:p>
                <a:pPr algn="just">
                  <a:lnSpc>
                    <a:spcPct val="100000"/>
                  </a:lnSpc>
                </a:pPr>
                <a:endParaRPr lang="en-NZ" altLang="ja-JP" sz="1800" b="1" dirty="0">
                  <a:solidFill>
                    <a:schemeClr val="tx1"/>
                  </a:solidFill>
                </a:endParaRPr>
              </a:p>
              <a:p>
                <a:pPr algn="just">
                  <a:lnSpc>
                    <a:spcPct val="100000"/>
                  </a:lnSpc>
                </a:pPr>
                <a:endParaRPr lang="en-NZ" altLang="ja-JP" sz="1800" b="1" i="1" dirty="0">
                  <a:solidFill>
                    <a:srgbClr val="C00000"/>
                  </a:solidFill>
                </a:endParaRPr>
              </a:p>
            </p:txBody>
          </p:sp>
        </mc:Choice>
        <mc:Fallback xmlns="">
          <p:sp>
            <p:nvSpPr>
              <p:cNvPr id="15" name="Text Placeholder 5">
                <a:extLst>
                  <a:ext uri="{FF2B5EF4-FFF2-40B4-BE49-F238E27FC236}">
                    <a16:creationId xmlns:a16="http://schemas.microsoft.com/office/drawing/2014/main" id="{DE4A75D0-C1C7-4627-B57B-71552145C53F}"/>
                  </a:ext>
                </a:extLst>
              </p:cNvPr>
              <p:cNvSpPr txBox="1">
                <a:spLocks noRot="1" noChangeAspect="1" noMove="1" noResize="1" noEditPoints="1" noAdjustHandles="1" noChangeArrowheads="1" noChangeShapeType="1" noTextEdit="1"/>
              </p:cNvSpPr>
              <p:nvPr/>
            </p:nvSpPr>
            <p:spPr>
              <a:xfrm>
                <a:off x="5568284" y="1476529"/>
                <a:ext cx="3373550" cy="472776"/>
              </a:xfrm>
              <a:prstGeom prst="rect">
                <a:avLst/>
              </a:prstGeom>
              <a:blipFill>
                <a:blip r:embed="rId3"/>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8010CD43-4038-44BF-ADBC-E520732B3B65}"/>
              </a:ext>
            </a:extLst>
          </p:cNvPr>
          <p:cNvSpPr txBox="1">
            <a:spLocks/>
          </p:cNvSpPr>
          <p:nvPr/>
        </p:nvSpPr>
        <p:spPr>
          <a:xfrm>
            <a:off x="4367280" y="1467301"/>
            <a:ext cx="1012210"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and</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8" name="Text Placeholder 5">
            <a:extLst>
              <a:ext uri="{FF2B5EF4-FFF2-40B4-BE49-F238E27FC236}">
                <a16:creationId xmlns:a16="http://schemas.microsoft.com/office/drawing/2014/main" id="{BC1FCBB0-90DD-449C-B02A-BCF21628FE9B}"/>
              </a:ext>
            </a:extLst>
          </p:cNvPr>
          <p:cNvSpPr txBox="1">
            <a:spLocks/>
          </p:cNvSpPr>
          <p:nvPr/>
        </p:nvSpPr>
        <p:spPr>
          <a:xfrm>
            <a:off x="2044883" y="6492875"/>
            <a:ext cx="770288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bg2">
                    <a:lumMod val="25000"/>
                  </a:schemeClr>
                </a:solidFill>
              </a:rPr>
              <a:t>*The proof of these statements is not required for this course but is available as supplementary material on the intranet. </a:t>
            </a:r>
          </a:p>
          <a:p>
            <a:pPr algn="just">
              <a:lnSpc>
                <a:spcPct val="100000"/>
              </a:lnSpc>
            </a:pPr>
            <a:r>
              <a:rPr lang="en-NZ" altLang="ja-JP" sz="1200" dirty="0">
                <a:solidFill>
                  <a:schemeClr val="bg2">
                    <a:lumMod val="25000"/>
                  </a:schemeClr>
                </a:solidFill>
              </a:rPr>
              <a:t>  </a:t>
            </a:r>
          </a:p>
          <a:p>
            <a:pPr algn="just">
              <a:lnSpc>
                <a:spcPct val="100000"/>
              </a:lnSpc>
            </a:pPr>
            <a:endParaRPr lang="en-NZ" altLang="ja-JP" sz="1200" dirty="0">
              <a:solidFill>
                <a:schemeClr val="bg2">
                  <a:lumMod val="25000"/>
                </a:schemeClr>
              </a:solidFill>
            </a:endParaRPr>
          </a:p>
          <a:p>
            <a:pPr algn="just">
              <a:lnSpc>
                <a:spcPct val="100000"/>
              </a:lnSpc>
            </a:pPr>
            <a:endParaRPr lang="en-NZ" altLang="ja-JP" sz="1200" i="1" dirty="0">
              <a:solidFill>
                <a:schemeClr val="bg2">
                  <a:lumMod val="25000"/>
                </a:schemeClr>
              </a:solidFill>
            </a:endParaRPr>
          </a:p>
        </p:txBody>
      </p:sp>
      <p:sp>
        <p:nvSpPr>
          <p:cNvPr id="19" name="Text Placeholder 5">
            <a:extLst>
              <a:ext uri="{FF2B5EF4-FFF2-40B4-BE49-F238E27FC236}">
                <a16:creationId xmlns:a16="http://schemas.microsoft.com/office/drawing/2014/main" id="{FCCA98A1-A976-4C17-A8E3-FE22BCB97D06}"/>
              </a:ext>
            </a:extLst>
          </p:cNvPr>
          <p:cNvSpPr txBox="1">
            <a:spLocks/>
          </p:cNvSpPr>
          <p:nvPr/>
        </p:nvSpPr>
        <p:spPr>
          <a:xfrm>
            <a:off x="558349" y="3177755"/>
            <a:ext cx="5202088" cy="4088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u="sng" dirty="0">
                <a:solidFill>
                  <a:schemeClr val="tx1"/>
                </a:solidFill>
              </a:rPr>
              <a:t>If </a:t>
            </a:r>
            <a:r>
              <a:rPr lang="en-NZ" altLang="ja-JP" sz="1800" b="1" i="1" u="sng" dirty="0">
                <a:solidFill>
                  <a:schemeClr val="tx1"/>
                </a:solidFill>
              </a:rPr>
              <a:t>H</a:t>
            </a:r>
            <a:r>
              <a:rPr lang="en-NZ" altLang="ja-JP" sz="1800" b="1" i="1" baseline="-25000" dirty="0">
                <a:solidFill>
                  <a:schemeClr val="tx1"/>
                </a:solidFill>
              </a:rPr>
              <a:t>0</a:t>
            </a:r>
            <a:r>
              <a:rPr lang="en-NZ" altLang="ja-JP" sz="1800" b="1" u="sng" dirty="0">
                <a:solidFill>
                  <a:schemeClr val="tx1"/>
                </a:solidFill>
              </a:rPr>
              <a:t> is true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5B8D3740-51CA-48F9-84DF-566F241BE507}"/>
                  </a:ext>
                </a:extLst>
              </p:cNvPr>
              <p:cNvSpPr txBox="1">
                <a:spLocks/>
              </p:cNvSpPr>
              <p:nvPr/>
            </p:nvSpPr>
            <p:spPr>
              <a:xfrm>
                <a:off x="291145" y="2197107"/>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𝟎</m:t>
                        </m:r>
                      </m:sub>
                    </m:sSub>
                    <m:r>
                      <a:rPr lang="en-NZ" altLang="ja-JP" sz="2000" b="1" i="1" smtClean="0">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𝒋</m:t>
                        </m:r>
                      </m:sub>
                    </m:sSub>
                  </m:oMath>
                </a14:m>
                <a:r>
                  <a:rPr lang="en-NZ" altLang="ja-JP" sz="2000" b="1" i="1" dirty="0">
                    <a:solidFill>
                      <a:srgbClr val="002060"/>
                    </a:solidFill>
                    <a:latin typeface="Cambria Math" panose="02040503050406030204" pitchFamily="18" charset="0"/>
                  </a:rPr>
                  <a:t>  </a:t>
                </a:r>
                <a:r>
                  <a:rPr lang="en-NZ" altLang="ja-JP" sz="1600" dirty="0">
                    <a:solidFill>
                      <a:srgbClr val="002060"/>
                    </a:solidFill>
                    <a:latin typeface="Cambria Math" panose="02040503050406030204" pitchFamily="18" charset="0"/>
                  </a:rPr>
                  <a:t>for all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m:t>
                    </m:r>
                    <m:r>
                      <a:rPr lang="en-NZ" altLang="ja-JP" sz="1600" b="0" i="1" smtClean="0">
                        <a:solidFill>
                          <a:srgbClr val="002060"/>
                        </a:solidFill>
                        <a:latin typeface="Cambria Math" panose="02040503050406030204" pitchFamily="18" charset="0"/>
                      </a:rPr>
                      <m:t>𝑗</m:t>
                    </m:r>
                    <m:r>
                      <a:rPr lang="en-NZ" altLang="ja-JP" sz="1600" b="0" i="1" smtClean="0">
                        <a:solidFill>
                          <a:srgbClr val="002060"/>
                        </a:solidFill>
                        <a:latin typeface="Cambria Math" panose="02040503050406030204" pitchFamily="18" charset="0"/>
                      </a:rPr>
                      <m:t>=1, …, </m:t>
                    </m:r>
                    <m:r>
                      <a:rPr lang="en-NZ" altLang="ja-JP" sz="1600" b="0" i="1" smtClean="0">
                        <a:solidFill>
                          <a:srgbClr val="002060"/>
                        </a:solidFill>
                        <a:latin typeface="Cambria Math" panose="02040503050406030204" pitchFamily="18" charset="0"/>
                      </a:rPr>
                      <m:t>𝑘</m:t>
                    </m:r>
                  </m:oMath>
                </a14:m>
                <a:r>
                  <a:rPr lang="en-NZ" altLang="ja-JP" sz="1600" dirty="0">
                    <a:solidFill>
                      <a:srgbClr val="002060"/>
                    </a:solidFill>
                    <a:latin typeface="Cambria Math" panose="02040503050406030204" pitchFamily="18" charset="0"/>
                  </a:rPr>
                  <a:t> </a:t>
                </a:r>
                <a:br>
                  <a:rPr lang="en-NZ" altLang="ja-JP" sz="2000" b="1" i="1" dirty="0">
                    <a:solidFill>
                      <a:srgbClr val="002060"/>
                    </a:solidFill>
                    <a:latin typeface="Cambria Math" panose="02040503050406030204" pitchFamily="18" charset="0"/>
                  </a:rPr>
                </a:br>
                <a14:m>
                  <m:oMath xmlns:m="http://schemas.openxmlformats.org/officeDocument/2006/math">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𝟏</m:t>
                        </m:r>
                      </m:sub>
                    </m:sSub>
                    <m:r>
                      <a:rPr lang="en-NZ" altLang="ja-JP" sz="2000" b="1" i="1">
                        <a:solidFill>
                          <a:srgbClr val="002060"/>
                        </a:solidFill>
                        <a:latin typeface="Cambria Math" panose="02040503050406030204" pitchFamily="18" charset="0"/>
                      </a:rPr>
                      <m:t> :  </m:t>
                    </m:r>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a:solidFill>
                          <a:srgbClr val="002060"/>
                        </a:solidFill>
                        <a:latin typeface="Cambria Math" panose="02040503050406030204" pitchFamily="18" charset="0"/>
                      </a:rPr>
                      <m:t> </m:t>
                    </m:r>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𝒋</m:t>
                        </m:r>
                      </m:sub>
                    </m:sSub>
                  </m:oMath>
                </a14:m>
                <a:r>
                  <a:rPr lang="en-NZ" altLang="ja-JP" sz="2000" b="1" dirty="0">
                    <a:solidFill>
                      <a:srgbClr val="002060"/>
                    </a:solidFill>
                  </a:rPr>
                  <a:t>  </a:t>
                </a:r>
                <a:r>
                  <a:rPr lang="en-NZ" altLang="ja-JP" sz="1600" dirty="0">
                    <a:solidFill>
                      <a:srgbClr val="002060"/>
                    </a:solidFill>
                  </a:rPr>
                  <a:t>for some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m:t>
                    </m:r>
                    <m:r>
                      <a:rPr lang="en-NZ" altLang="ja-JP" sz="1600" b="0" i="1" smtClean="0">
                        <a:solidFill>
                          <a:srgbClr val="002060"/>
                        </a:solidFill>
                        <a:latin typeface="Cambria Math" panose="02040503050406030204" pitchFamily="18" charset="0"/>
                      </a:rPr>
                      <m:t>𝑗</m:t>
                    </m:r>
                  </m:oMath>
                </a14:m>
                <a:endParaRPr lang="en-NZ" altLang="ja-JP" sz="1600" dirty="0">
                  <a:solidFill>
                    <a:srgbClr val="002060"/>
                  </a:solidFill>
                </a:endParaRPr>
              </a:p>
            </p:txBody>
          </p:sp>
        </mc:Choice>
        <mc:Fallback xmlns="">
          <p:sp>
            <p:nvSpPr>
              <p:cNvPr id="21" name="Text Placeholder 5">
                <a:extLst>
                  <a:ext uri="{FF2B5EF4-FFF2-40B4-BE49-F238E27FC236}">
                    <a16:creationId xmlns:a16="http://schemas.microsoft.com/office/drawing/2014/main" id="{5B8D3740-51CA-48F9-84DF-566F241BE507}"/>
                  </a:ext>
                </a:extLst>
              </p:cNvPr>
              <p:cNvSpPr txBox="1">
                <a:spLocks noRot="1" noChangeAspect="1" noMove="1" noResize="1" noEditPoints="1" noAdjustHandles="1" noChangeArrowheads="1" noChangeShapeType="1" noTextEdit="1"/>
              </p:cNvSpPr>
              <p:nvPr/>
            </p:nvSpPr>
            <p:spPr>
              <a:xfrm>
                <a:off x="291145" y="2197107"/>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03861998-4F8E-4F9A-8ED9-DB65276EECD4}"/>
                  </a:ext>
                </a:extLst>
              </p:cNvPr>
              <p:cNvSpPr txBox="1">
                <a:spLocks/>
              </p:cNvSpPr>
              <p:nvPr/>
            </p:nvSpPr>
            <p:spPr>
              <a:xfrm>
                <a:off x="4570742" y="2234532"/>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𝟎</m:t>
                        </m:r>
                      </m:sub>
                    </m:sSub>
                    <m:r>
                      <a:rPr lang="en-NZ" altLang="ja-JP" sz="2000" b="1" i="1" smtClean="0">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𝝁</m:t>
                    </m:r>
                  </m:oMath>
                </a14:m>
                <a:r>
                  <a:rPr lang="en-NZ" altLang="ja-JP" sz="2000" b="1" i="1" dirty="0">
                    <a:solidFill>
                      <a:srgbClr val="002060"/>
                    </a:solidFill>
                    <a:latin typeface="Cambria Math" panose="02040503050406030204" pitchFamily="18" charset="0"/>
                  </a:rPr>
                  <a:t>  </a:t>
                </a:r>
                <a:r>
                  <a:rPr lang="en-NZ" altLang="ja-JP" sz="1600" dirty="0">
                    <a:solidFill>
                      <a:srgbClr val="002060"/>
                    </a:solidFill>
                    <a:latin typeface="Cambria Math" panose="02040503050406030204" pitchFamily="18" charset="0"/>
                  </a:rPr>
                  <a:t>for all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=1, …, </m:t>
                    </m:r>
                    <m:r>
                      <a:rPr lang="en-NZ" altLang="ja-JP" sz="1600" b="0" i="1" smtClean="0">
                        <a:solidFill>
                          <a:srgbClr val="002060"/>
                        </a:solidFill>
                        <a:latin typeface="Cambria Math" panose="02040503050406030204" pitchFamily="18" charset="0"/>
                      </a:rPr>
                      <m:t>𝑘</m:t>
                    </m:r>
                  </m:oMath>
                </a14:m>
                <a:r>
                  <a:rPr lang="en-NZ" altLang="ja-JP" sz="1600" dirty="0">
                    <a:solidFill>
                      <a:srgbClr val="002060"/>
                    </a:solidFill>
                    <a:latin typeface="Cambria Math" panose="02040503050406030204" pitchFamily="18" charset="0"/>
                  </a:rPr>
                  <a:t> </a:t>
                </a:r>
                <a:br>
                  <a:rPr lang="en-NZ" altLang="ja-JP" sz="2000" b="1" i="1" dirty="0">
                    <a:solidFill>
                      <a:srgbClr val="002060"/>
                    </a:solidFill>
                    <a:latin typeface="Cambria Math" panose="02040503050406030204" pitchFamily="18" charset="0"/>
                  </a:rPr>
                </a:br>
                <a14:m>
                  <m:oMath xmlns:m="http://schemas.openxmlformats.org/officeDocument/2006/math">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𝟏</m:t>
                        </m:r>
                      </m:sub>
                    </m:sSub>
                    <m:r>
                      <a:rPr lang="en-NZ" altLang="ja-JP" sz="2000" b="1" i="1">
                        <a:solidFill>
                          <a:srgbClr val="002060"/>
                        </a:solidFill>
                        <a:latin typeface="Cambria Math" panose="02040503050406030204" pitchFamily="18" charset="0"/>
                      </a:rPr>
                      <m:t> :  </m:t>
                    </m:r>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𝝁</m:t>
                    </m:r>
                  </m:oMath>
                </a14:m>
                <a:r>
                  <a:rPr lang="en-NZ" altLang="ja-JP" sz="2000" b="1" dirty="0">
                    <a:solidFill>
                      <a:srgbClr val="002060"/>
                    </a:solidFill>
                  </a:rPr>
                  <a:t>  </a:t>
                </a:r>
                <a:r>
                  <a:rPr lang="en-NZ" altLang="ja-JP" sz="1600" dirty="0">
                    <a:solidFill>
                      <a:srgbClr val="002060"/>
                    </a:solidFill>
                  </a:rPr>
                  <a:t>for some </a:t>
                </a:r>
                <a14:m>
                  <m:oMath xmlns:m="http://schemas.openxmlformats.org/officeDocument/2006/math">
                    <m:r>
                      <a:rPr lang="en-NZ" altLang="ja-JP" sz="1600" b="0" i="1" smtClean="0">
                        <a:solidFill>
                          <a:srgbClr val="002060"/>
                        </a:solidFill>
                        <a:latin typeface="Cambria Math" panose="02040503050406030204" pitchFamily="18" charset="0"/>
                      </a:rPr>
                      <m:t>𝑖</m:t>
                    </m:r>
                  </m:oMath>
                </a14:m>
                <a:endParaRPr lang="en-NZ" altLang="ja-JP" sz="1600" dirty="0">
                  <a:solidFill>
                    <a:srgbClr val="002060"/>
                  </a:solidFill>
                </a:endParaRPr>
              </a:p>
            </p:txBody>
          </p:sp>
        </mc:Choice>
        <mc:Fallback xmlns="">
          <p:sp>
            <p:nvSpPr>
              <p:cNvPr id="23" name="Text Placeholder 5">
                <a:extLst>
                  <a:ext uri="{FF2B5EF4-FFF2-40B4-BE49-F238E27FC236}">
                    <a16:creationId xmlns:a16="http://schemas.microsoft.com/office/drawing/2014/main" id="{03861998-4F8E-4F9A-8ED9-DB65276EECD4}"/>
                  </a:ext>
                </a:extLst>
              </p:cNvPr>
              <p:cNvSpPr txBox="1">
                <a:spLocks noRot="1" noChangeAspect="1" noMove="1" noResize="1" noEditPoints="1" noAdjustHandles="1" noChangeArrowheads="1" noChangeShapeType="1" noTextEdit="1"/>
              </p:cNvSpPr>
              <p:nvPr/>
            </p:nvSpPr>
            <p:spPr>
              <a:xfrm>
                <a:off x="4570742" y="2234532"/>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BE5110AA-BD4E-44A3-9B4B-E9BE9DD4CDB8}"/>
                  </a:ext>
                </a:extLst>
              </p:cNvPr>
              <p:cNvSpPr txBox="1">
                <a:spLocks/>
              </p:cNvSpPr>
              <p:nvPr/>
            </p:nvSpPr>
            <p:spPr>
              <a:xfrm>
                <a:off x="8684523" y="222485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𝟎</m:t>
                        </m:r>
                      </m:sub>
                    </m:sSub>
                    <m:r>
                      <a:rPr lang="en-NZ" altLang="ja-JP" sz="2000" b="1" i="1" smtClean="0">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𝜶</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𝟎</m:t>
                    </m:r>
                  </m:oMath>
                </a14:m>
                <a:r>
                  <a:rPr lang="en-NZ" altLang="ja-JP" sz="2000" b="1" i="1" dirty="0">
                    <a:solidFill>
                      <a:srgbClr val="002060"/>
                    </a:solidFill>
                    <a:latin typeface="Cambria Math" panose="02040503050406030204" pitchFamily="18" charset="0"/>
                  </a:rPr>
                  <a:t>  </a:t>
                </a:r>
                <a:r>
                  <a:rPr lang="en-NZ" altLang="ja-JP" sz="1600" dirty="0">
                    <a:solidFill>
                      <a:srgbClr val="002060"/>
                    </a:solidFill>
                    <a:latin typeface="Cambria Math" panose="02040503050406030204" pitchFamily="18" charset="0"/>
                  </a:rPr>
                  <a:t>for all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=1, …, </m:t>
                    </m:r>
                    <m:r>
                      <a:rPr lang="en-NZ" altLang="ja-JP" sz="1600" b="0" i="1" smtClean="0">
                        <a:solidFill>
                          <a:srgbClr val="002060"/>
                        </a:solidFill>
                        <a:latin typeface="Cambria Math" panose="02040503050406030204" pitchFamily="18" charset="0"/>
                      </a:rPr>
                      <m:t>𝑘</m:t>
                    </m:r>
                  </m:oMath>
                </a14:m>
                <a:r>
                  <a:rPr lang="en-NZ" altLang="ja-JP" sz="1600" dirty="0">
                    <a:solidFill>
                      <a:srgbClr val="002060"/>
                    </a:solidFill>
                    <a:latin typeface="Cambria Math" panose="02040503050406030204" pitchFamily="18" charset="0"/>
                  </a:rPr>
                  <a:t> </a:t>
                </a:r>
                <a:br>
                  <a:rPr lang="en-NZ" altLang="ja-JP" sz="2000" b="1" i="1" dirty="0">
                    <a:solidFill>
                      <a:srgbClr val="002060"/>
                    </a:solidFill>
                    <a:latin typeface="Cambria Math" panose="02040503050406030204" pitchFamily="18" charset="0"/>
                  </a:rPr>
                </a:br>
                <a14:m>
                  <m:oMath xmlns:m="http://schemas.openxmlformats.org/officeDocument/2006/math">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𝟏</m:t>
                        </m:r>
                      </m:sub>
                    </m:sSub>
                    <m:r>
                      <a:rPr lang="en-NZ" altLang="ja-JP" sz="2000" b="1" i="1">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𝜶</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𝟎</m:t>
                    </m:r>
                  </m:oMath>
                </a14:m>
                <a:r>
                  <a:rPr lang="en-NZ" altLang="ja-JP" sz="2000" b="1" dirty="0">
                    <a:solidFill>
                      <a:srgbClr val="002060"/>
                    </a:solidFill>
                  </a:rPr>
                  <a:t>  </a:t>
                </a:r>
                <a:r>
                  <a:rPr lang="en-NZ" altLang="ja-JP" sz="1600" dirty="0">
                    <a:solidFill>
                      <a:srgbClr val="002060"/>
                    </a:solidFill>
                  </a:rPr>
                  <a:t>for some </a:t>
                </a:r>
                <a14:m>
                  <m:oMath xmlns:m="http://schemas.openxmlformats.org/officeDocument/2006/math">
                    <m:r>
                      <a:rPr lang="en-NZ" altLang="ja-JP" sz="1600" b="0" i="1" smtClean="0">
                        <a:solidFill>
                          <a:srgbClr val="002060"/>
                        </a:solidFill>
                        <a:latin typeface="Cambria Math" panose="02040503050406030204" pitchFamily="18" charset="0"/>
                      </a:rPr>
                      <m:t>𝑖</m:t>
                    </m:r>
                  </m:oMath>
                </a14:m>
                <a:endParaRPr lang="en-NZ" altLang="ja-JP" sz="1600" dirty="0">
                  <a:solidFill>
                    <a:srgbClr val="002060"/>
                  </a:solidFill>
                </a:endParaRPr>
              </a:p>
            </p:txBody>
          </p:sp>
        </mc:Choice>
        <mc:Fallback xmlns="">
          <p:sp>
            <p:nvSpPr>
              <p:cNvPr id="24" name="Text Placeholder 5">
                <a:extLst>
                  <a:ext uri="{FF2B5EF4-FFF2-40B4-BE49-F238E27FC236}">
                    <a16:creationId xmlns:a16="http://schemas.microsoft.com/office/drawing/2014/main" id="{BE5110AA-BD4E-44A3-9B4B-E9BE9DD4CDB8}"/>
                  </a:ext>
                </a:extLst>
              </p:cNvPr>
              <p:cNvSpPr txBox="1">
                <a:spLocks noRot="1" noChangeAspect="1" noMove="1" noResize="1" noEditPoints="1" noAdjustHandles="1" noChangeArrowheads="1" noChangeShapeType="1" noTextEdit="1"/>
              </p:cNvSpPr>
              <p:nvPr/>
            </p:nvSpPr>
            <p:spPr>
              <a:xfrm>
                <a:off x="8684523" y="2224853"/>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8F11C6C-0251-4F05-8986-42FD798B028A}"/>
                  </a:ext>
                </a:extLst>
              </p:cNvPr>
              <p:cNvSpPr txBox="1">
                <a:spLocks/>
              </p:cNvSpPr>
              <p:nvPr/>
            </p:nvSpPr>
            <p:spPr>
              <a:xfrm>
                <a:off x="3838431" y="2433010"/>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rgbClr val="002060"/>
                          </a:solidFill>
                          <a:latin typeface="Cambria Math" panose="02040503050406030204" pitchFamily="18" charset="0"/>
                        </a:rPr>
                        <m:t>↔</m:t>
                      </m:r>
                    </m:oMath>
                  </m:oMathPara>
                </a14:m>
                <a:endParaRPr lang="en-NZ" altLang="ja-JP" sz="2400" i="1" dirty="0">
                  <a:solidFill>
                    <a:srgbClr val="002060"/>
                  </a:solidFill>
                </a:endParaRPr>
              </a:p>
            </p:txBody>
          </p:sp>
        </mc:Choice>
        <mc:Fallback xmlns="">
          <p:sp>
            <p:nvSpPr>
              <p:cNvPr id="25" name="Text Placeholder 5">
                <a:extLst>
                  <a:ext uri="{FF2B5EF4-FFF2-40B4-BE49-F238E27FC236}">
                    <a16:creationId xmlns:a16="http://schemas.microsoft.com/office/drawing/2014/main" id="{78F11C6C-0251-4F05-8986-42FD798B028A}"/>
                  </a:ext>
                </a:extLst>
              </p:cNvPr>
              <p:cNvSpPr txBox="1">
                <a:spLocks noRot="1" noChangeAspect="1" noMove="1" noResize="1" noEditPoints="1" noAdjustHandles="1" noChangeArrowheads="1" noChangeShapeType="1" noTextEdit="1"/>
              </p:cNvSpPr>
              <p:nvPr/>
            </p:nvSpPr>
            <p:spPr>
              <a:xfrm>
                <a:off x="3838431" y="2433010"/>
                <a:ext cx="628508" cy="365125"/>
              </a:xfrm>
              <a:prstGeom prst="rect">
                <a:avLst/>
              </a:prstGeom>
              <a:blipFill>
                <a:blip r:embed="rId7"/>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EE6DC4B-77B4-4C4F-B3C5-29504423DCF1}"/>
                  </a:ext>
                </a:extLst>
              </p:cNvPr>
              <p:cNvSpPr txBox="1">
                <a:spLocks/>
              </p:cNvSpPr>
              <p:nvPr/>
            </p:nvSpPr>
            <p:spPr>
              <a:xfrm>
                <a:off x="7876890" y="242309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rgbClr val="002060"/>
                          </a:solidFill>
                          <a:latin typeface="Cambria Math" panose="02040503050406030204" pitchFamily="18" charset="0"/>
                        </a:rPr>
                        <m:t>↔</m:t>
                      </m:r>
                    </m:oMath>
                  </m:oMathPara>
                </a14:m>
                <a:endParaRPr lang="en-NZ" altLang="ja-JP" sz="2400" i="1" dirty="0">
                  <a:solidFill>
                    <a:srgbClr val="002060"/>
                  </a:solidFill>
                </a:endParaRPr>
              </a:p>
            </p:txBody>
          </p:sp>
        </mc:Choice>
        <mc:Fallback xmlns="">
          <p:sp>
            <p:nvSpPr>
              <p:cNvPr id="26" name="Text Placeholder 5">
                <a:extLst>
                  <a:ext uri="{FF2B5EF4-FFF2-40B4-BE49-F238E27FC236}">
                    <a16:creationId xmlns:a16="http://schemas.microsoft.com/office/drawing/2014/main" id="{7EE6DC4B-77B4-4C4F-B3C5-29504423DCF1}"/>
                  </a:ext>
                </a:extLst>
              </p:cNvPr>
              <p:cNvSpPr txBox="1">
                <a:spLocks noRot="1" noChangeAspect="1" noMove="1" noResize="1" noEditPoints="1" noAdjustHandles="1" noChangeArrowheads="1" noChangeShapeType="1" noTextEdit="1"/>
              </p:cNvSpPr>
              <p:nvPr/>
            </p:nvSpPr>
            <p:spPr>
              <a:xfrm>
                <a:off x="7876890" y="2423096"/>
                <a:ext cx="628508" cy="365125"/>
              </a:xfrm>
              <a:prstGeom prst="rect">
                <a:avLst/>
              </a:prstGeom>
              <a:blipFill>
                <a:blip r:embed="rId8"/>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F9A9C6E1-8F83-4788-9BB0-0D2E32E1721C}"/>
                  </a:ext>
                </a:extLst>
              </p:cNvPr>
              <p:cNvSpPr txBox="1">
                <a:spLocks/>
              </p:cNvSpPr>
              <p:nvPr/>
            </p:nvSpPr>
            <p:spPr>
              <a:xfrm>
                <a:off x="7519408" y="1422716"/>
                <a:ext cx="4421367" cy="5649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So consider the </a:t>
                </a:r>
                <a:r>
                  <a:rPr lang="en-NZ" altLang="ja-JP" sz="1800" b="1" dirty="0">
                    <a:solidFill>
                      <a:schemeClr val="tx1"/>
                    </a:solidFill>
                  </a:rPr>
                  <a:t>F-statistic</a:t>
                </a:r>
                <a:r>
                  <a:rPr lang="en-NZ" altLang="ja-JP" sz="1800" dirty="0">
                    <a:solidFill>
                      <a:schemeClr val="tx1"/>
                    </a:solidFill>
                  </a:rPr>
                  <a:t>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𝑴𝑺𝑻</m:t>
                        </m:r>
                      </m:num>
                      <m:den>
                        <m:r>
                          <a:rPr lang="en-NZ" altLang="ja-JP" sz="1800" b="1" i="1" smtClean="0">
                            <a:solidFill>
                              <a:schemeClr val="tx1"/>
                            </a:solidFill>
                            <a:latin typeface="Cambria Math" panose="02040503050406030204" pitchFamily="18" charset="0"/>
                          </a:rPr>
                          <m:t>𝑴𝑺𝑬</m:t>
                        </m:r>
                      </m:den>
                    </m:f>
                  </m:oMath>
                </a14:m>
                <a:endParaRPr lang="en-NZ" altLang="ja-JP" sz="18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27" name="Text Placeholder 5">
                <a:extLst>
                  <a:ext uri="{FF2B5EF4-FFF2-40B4-BE49-F238E27FC236}">
                    <a16:creationId xmlns:a16="http://schemas.microsoft.com/office/drawing/2014/main" id="{F9A9C6E1-8F83-4788-9BB0-0D2E32E1721C}"/>
                  </a:ext>
                </a:extLst>
              </p:cNvPr>
              <p:cNvSpPr txBox="1">
                <a:spLocks noRot="1" noChangeAspect="1" noMove="1" noResize="1" noEditPoints="1" noAdjustHandles="1" noChangeArrowheads="1" noChangeShapeType="1" noTextEdit="1"/>
              </p:cNvSpPr>
              <p:nvPr/>
            </p:nvSpPr>
            <p:spPr>
              <a:xfrm>
                <a:off x="7519408" y="1422716"/>
                <a:ext cx="4421367" cy="564911"/>
              </a:xfrm>
              <a:prstGeom prst="rect">
                <a:avLst/>
              </a:prstGeom>
              <a:blipFill>
                <a:blip r:embed="rId9"/>
                <a:stretch>
                  <a:fillRect l="-110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A28CDD5F-BD43-4599-8682-86429252A648}"/>
                  </a:ext>
                </a:extLst>
              </p:cNvPr>
              <p:cNvSpPr txBox="1">
                <a:spLocks/>
              </p:cNvSpPr>
              <p:nvPr/>
            </p:nvSpPr>
            <p:spPr>
              <a:xfrm>
                <a:off x="558349" y="3586568"/>
                <a:ext cx="5202088" cy="2503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Symbol" panose="05050102010706020507" pitchFamily="18" charset="2"/>
                  <a:buChar char="Þ"/>
                </a:pPr>
                <a:r>
                  <a:rPr lang="en-NZ" altLang="ja-JP" sz="1800" dirty="0">
                    <a:solidFill>
                      <a:schemeClr val="tx1"/>
                    </a:solidFill>
                  </a:rPr>
                  <a:t>Then the means of all the groups are the same</a:t>
                </a:r>
              </a:p>
              <a:p>
                <a:pPr>
                  <a:lnSpc>
                    <a:spcPct val="100000"/>
                  </a:lnSpc>
                </a:pPr>
                <a:endParaRPr lang="en-NZ" altLang="ja-JP" sz="1800"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800" dirty="0">
                    <a:solidFill>
                      <a:schemeClr val="tx1"/>
                    </a:solidFill>
                    <a:latin typeface="Cambria Math" panose="02040503050406030204" pitchFamily="18" charset="0"/>
                  </a:rPr>
                  <a:t>for all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 …, </m:t>
                    </m:r>
                    <m:r>
                      <a:rPr lang="en-NZ" altLang="ja-JP" sz="1800" i="1">
                        <a:solidFill>
                          <a:schemeClr val="tx1"/>
                        </a:solidFill>
                        <a:latin typeface="Cambria Math" panose="02040503050406030204" pitchFamily="18" charset="0"/>
                      </a:rPr>
                      <m:t>𝑘</m:t>
                    </m:r>
                  </m:oMath>
                </a14:m>
                <a:r>
                  <a:rPr lang="en-NZ" altLang="ja-JP" sz="1800" dirty="0">
                    <a:solidFill>
                      <a:schemeClr val="tx1"/>
                    </a:solidFill>
                  </a:rPr>
                  <a:t> </a:t>
                </a:r>
              </a:p>
              <a:p>
                <a:pPr marL="285750" indent="-285750">
                  <a:lnSpc>
                    <a:spcPct val="100000"/>
                  </a:lnSpc>
                  <a:buFont typeface="Symbol" panose="05050102010706020507" pitchFamily="18" charset="2"/>
                  <a:buChar char="Þ"/>
                </a:pPr>
                <a:endParaRPr lang="en-NZ" altLang="ja-JP" sz="1800" dirty="0">
                  <a:solidFill>
                    <a:schemeClr val="tx1"/>
                  </a:solidFill>
                </a:endParaRPr>
              </a:p>
              <a:p>
                <a:pPr>
                  <a:lnSpc>
                    <a:spcPct val="100000"/>
                  </a:lnSpc>
                </a:pPr>
                <a:endParaRPr lang="en-NZ" altLang="ja-JP" sz="200" dirty="0">
                  <a:solidFill>
                    <a:schemeClr val="tx1"/>
                  </a:solidFill>
                </a:endParaRPr>
              </a:p>
              <a:p>
                <a:pPr>
                  <a:lnSpc>
                    <a:spcPct val="100000"/>
                  </a:lnSpc>
                </a:pPr>
                <a:endParaRPr lang="en-NZ" altLang="ja-JP" sz="200" dirty="0">
                  <a:solidFill>
                    <a:schemeClr val="tx1"/>
                  </a:solidFill>
                </a:endParaRPr>
              </a:p>
              <a:p>
                <a:pPr marL="285750" indent="-285750">
                  <a:lnSpc>
                    <a:spcPct val="100000"/>
                  </a:lnSpc>
                  <a:buFont typeface="Symbol" panose="05050102010706020507" pitchFamily="18" charset="2"/>
                  <a:buChar char="Þ"/>
                </a:pPr>
                <a:r>
                  <a:rPr lang="en-NZ" altLang="ja-JP" sz="1800" b="1" dirty="0">
                    <a:solidFill>
                      <a:schemeClr val="tx1"/>
                    </a:solidFill>
                  </a:rPr>
                  <a:t>         </a:t>
                </a:r>
                <a14:m>
                  <m:oMath xmlns:m="http://schemas.openxmlformats.org/officeDocument/2006/math">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𝑴𝑺𝑻</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f>
                      <m:fPr>
                        <m:ctrlPr>
                          <a:rPr lang="en-NZ" altLang="ja-JP" sz="1800" b="1" i="1">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den>
                    </m:f>
                    <m:r>
                      <a:rPr lang="en-NZ" altLang="ja-JP" sz="1800" b="1" i="1">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bSup>
                          <m:sSubSupPr>
                            <m:ctrlPr>
                              <a:rPr lang="en-NZ" altLang="ja-JP" sz="1800" b="1" i="1">
                                <a:solidFill>
                                  <a:schemeClr val="tx1"/>
                                </a:solidFill>
                                <a:latin typeface="Cambria Math" panose="02040503050406030204" pitchFamily="18" charset="0"/>
                              </a:rPr>
                            </m:ctrlPr>
                          </m:sSubSup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up>
                            <m:r>
                              <a:rPr lang="en-NZ" altLang="ja-JP" sz="1800" b="1" i="1">
                                <a:solidFill>
                                  <a:schemeClr val="tx1"/>
                                </a:solidFill>
                                <a:latin typeface="Cambria Math" panose="02040503050406030204" pitchFamily="18" charset="0"/>
                              </a:rPr>
                              <m:t>𝟐</m:t>
                            </m:r>
                          </m:sup>
                        </m:sSubSup>
                      </m:e>
                    </m:nary>
                    <m:r>
                      <a:rPr lang="en-NZ" altLang="ja-JP" sz="1800" b="0" i="0"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oMath>
                </a14:m>
                <a:br>
                  <a:rPr lang="en-NZ" altLang="ja-JP" sz="1800" b="1" dirty="0">
                    <a:solidFill>
                      <a:schemeClr val="tx1"/>
                    </a:solidFill>
                  </a:rPr>
                </a:b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m:t>
                        </m:r>
                        <m:r>
                          <a:rPr lang="en-NZ" altLang="ja-JP" sz="1800" b="1" i="1" smtClean="0">
                            <a:solidFill>
                              <a:schemeClr val="tx1"/>
                            </a:solidFill>
                            <a:latin typeface="Cambria Math" panose="02040503050406030204" pitchFamily="18" charset="0"/>
                          </a:rPr>
                          <m:t>𝑬</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oMath>
                </a14:m>
                <a:endParaRPr lang="en-NZ" altLang="ja-JP" sz="1800" b="1" dirty="0">
                  <a:solidFill>
                    <a:schemeClr val="tx1"/>
                  </a:solidFill>
                </a:endParaRPr>
              </a:p>
              <a:p>
                <a:pPr marL="285750" indent="-285750">
                  <a:lnSpc>
                    <a:spcPct val="100000"/>
                  </a:lnSpc>
                  <a:buFont typeface="Symbol" panose="05050102010706020507" pitchFamily="18" charset="2"/>
                  <a:buChar char="Þ"/>
                </a:pPr>
                <a:endParaRPr lang="en-NZ" altLang="ja-JP" sz="1800" b="1"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r>
                      <a:rPr lang="en-NZ" altLang="ja-JP" sz="1800" b="1" i="1">
                        <a:solidFill>
                          <a:schemeClr val="tx1"/>
                        </a:solidFill>
                        <a:latin typeface="Cambria Math" panose="02040503050406030204" pitchFamily="18" charset="0"/>
                      </a:rPr>
                      <m:t>𝑭</m:t>
                    </m:r>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𝑴𝑺𝑻</m:t>
                        </m:r>
                      </m:num>
                      <m:den>
                        <m:r>
                          <a:rPr lang="en-NZ" altLang="ja-JP" sz="1800" b="1" i="1">
                            <a:solidFill>
                              <a:schemeClr val="tx1"/>
                            </a:solidFill>
                            <a:latin typeface="Cambria Math" panose="02040503050406030204" pitchFamily="18" charset="0"/>
                          </a:rPr>
                          <m:t>𝑴𝑺𝑬</m:t>
                        </m:r>
                      </m:den>
                    </m:f>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ea typeface="Cambria Math" panose="02040503050406030204" pitchFamily="18" charset="0"/>
                      </a:rPr>
                      <m:t>𝟏</m:t>
                    </m:r>
                  </m:oMath>
                </a14:m>
                <a:endParaRPr lang="en-NZ" altLang="ja-JP" sz="1800" b="1" dirty="0">
                  <a:solidFill>
                    <a:schemeClr val="tx1"/>
                  </a:solidFill>
                </a:endParaRPr>
              </a:p>
            </p:txBody>
          </p:sp>
        </mc:Choice>
        <mc:Fallback xmlns="">
          <p:sp>
            <p:nvSpPr>
              <p:cNvPr id="28" name="Text Placeholder 5">
                <a:extLst>
                  <a:ext uri="{FF2B5EF4-FFF2-40B4-BE49-F238E27FC236}">
                    <a16:creationId xmlns:a16="http://schemas.microsoft.com/office/drawing/2014/main" id="{A28CDD5F-BD43-4599-8682-86429252A648}"/>
                  </a:ext>
                </a:extLst>
              </p:cNvPr>
              <p:cNvSpPr txBox="1">
                <a:spLocks noRot="1" noChangeAspect="1" noMove="1" noResize="1" noEditPoints="1" noAdjustHandles="1" noChangeArrowheads="1" noChangeShapeType="1" noTextEdit="1"/>
              </p:cNvSpPr>
              <p:nvPr/>
            </p:nvSpPr>
            <p:spPr>
              <a:xfrm>
                <a:off x="558349" y="3586568"/>
                <a:ext cx="5202088" cy="2503479"/>
              </a:xfrm>
              <a:prstGeom prst="rect">
                <a:avLst/>
              </a:prstGeom>
              <a:blipFill>
                <a:blip r:embed="rId10"/>
                <a:stretch>
                  <a:fillRect l="-1055" t="-1703" b="-4866"/>
                </a:stretch>
              </a:blipFill>
            </p:spPr>
            <p:txBody>
              <a:bodyPr/>
              <a:lstStyle/>
              <a:p>
                <a:r>
                  <a:rPr lang="en-NZ">
                    <a:noFill/>
                  </a:rPr>
                  <a:t> </a:t>
                </a:r>
              </a:p>
            </p:txBody>
          </p:sp>
        </mc:Fallback>
      </mc:AlternateContent>
      <p:sp>
        <p:nvSpPr>
          <p:cNvPr id="29" name="Text Placeholder 5">
            <a:extLst>
              <a:ext uri="{FF2B5EF4-FFF2-40B4-BE49-F238E27FC236}">
                <a16:creationId xmlns:a16="http://schemas.microsoft.com/office/drawing/2014/main" id="{0B1BD75F-98D3-452F-9D34-D6AE9DF904E2}"/>
              </a:ext>
            </a:extLst>
          </p:cNvPr>
          <p:cNvSpPr txBox="1">
            <a:spLocks/>
          </p:cNvSpPr>
          <p:nvPr/>
        </p:nvSpPr>
        <p:spPr>
          <a:xfrm>
            <a:off x="6293593" y="3150009"/>
            <a:ext cx="5202088" cy="4088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u="sng" dirty="0">
                <a:solidFill>
                  <a:schemeClr val="tx1"/>
                </a:solidFill>
              </a:rPr>
              <a:t>If </a:t>
            </a:r>
            <a:r>
              <a:rPr lang="en-NZ" altLang="ja-JP" sz="1800" b="1" i="1" u="sng" dirty="0">
                <a:solidFill>
                  <a:schemeClr val="tx1"/>
                </a:solidFill>
              </a:rPr>
              <a:t>H</a:t>
            </a:r>
            <a:r>
              <a:rPr lang="en-NZ" altLang="ja-JP" sz="1800" b="1" i="1" baseline="-25000" dirty="0">
                <a:solidFill>
                  <a:schemeClr val="tx1"/>
                </a:solidFill>
              </a:rPr>
              <a:t>1</a:t>
            </a:r>
            <a:r>
              <a:rPr lang="en-NZ" altLang="ja-JP" sz="1800" b="1" u="sng" dirty="0">
                <a:solidFill>
                  <a:schemeClr val="tx1"/>
                </a:solidFill>
              </a:rPr>
              <a:t> is true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58E94922-5CA8-4DB6-9689-5984266EB1B0}"/>
                  </a:ext>
                </a:extLst>
              </p:cNvPr>
              <p:cNvSpPr txBox="1">
                <a:spLocks/>
              </p:cNvSpPr>
              <p:nvPr/>
            </p:nvSpPr>
            <p:spPr>
              <a:xfrm>
                <a:off x="6293592" y="3558822"/>
                <a:ext cx="5691481" cy="2503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Symbol" panose="05050102010706020507" pitchFamily="18" charset="2"/>
                  <a:buChar char="Þ"/>
                </a:pPr>
                <a:r>
                  <a:rPr lang="en-NZ" altLang="ja-JP" sz="1800" dirty="0">
                    <a:solidFill>
                      <a:schemeClr val="tx1"/>
                    </a:solidFill>
                  </a:rPr>
                  <a:t>Then the means of some of the groups are different</a:t>
                </a:r>
              </a:p>
              <a:p>
                <a:pPr>
                  <a:lnSpc>
                    <a:spcPct val="100000"/>
                  </a:lnSpc>
                </a:pPr>
                <a:endParaRPr lang="en-NZ" altLang="ja-JP" sz="1800"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800" dirty="0">
                    <a:solidFill>
                      <a:schemeClr val="tx1"/>
                    </a:solidFill>
                    <a:latin typeface="Cambria Math" panose="02040503050406030204" pitchFamily="18" charset="0"/>
                  </a:rPr>
                  <a:t>for some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 …, </m:t>
                    </m:r>
                    <m:r>
                      <a:rPr lang="en-NZ" altLang="ja-JP" sz="1800" i="1">
                        <a:solidFill>
                          <a:schemeClr val="tx1"/>
                        </a:solidFill>
                        <a:latin typeface="Cambria Math" panose="02040503050406030204" pitchFamily="18" charset="0"/>
                      </a:rPr>
                      <m:t>𝑘</m:t>
                    </m:r>
                  </m:oMath>
                </a14:m>
                <a:r>
                  <a:rPr lang="en-NZ" altLang="ja-JP" sz="1800" dirty="0">
                    <a:solidFill>
                      <a:schemeClr val="tx1"/>
                    </a:solidFill>
                  </a:rPr>
                  <a:t> </a:t>
                </a:r>
              </a:p>
              <a:p>
                <a:pPr marL="285750" indent="-285750">
                  <a:lnSpc>
                    <a:spcPct val="100000"/>
                  </a:lnSpc>
                  <a:buFont typeface="Symbol" panose="05050102010706020507" pitchFamily="18" charset="2"/>
                  <a:buChar char="Þ"/>
                </a:pPr>
                <a:endParaRPr lang="en-NZ" altLang="ja-JP" sz="1800" dirty="0">
                  <a:solidFill>
                    <a:schemeClr val="tx1"/>
                  </a:solidFill>
                </a:endParaRPr>
              </a:p>
              <a:p>
                <a:pPr>
                  <a:lnSpc>
                    <a:spcPct val="100000"/>
                  </a:lnSpc>
                </a:pPr>
                <a:endParaRPr lang="en-NZ" altLang="ja-JP" sz="200" dirty="0">
                  <a:solidFill>
                    <a:schemeClr val="tx1"/>
                  </a:solidFill>
                </a:endParaRPr>
              </a:p>
              <a:p>
                <a:pPr>
                  <a:lnSpc>
                    <a:spcPct val="100000"/>
                  </a:lnSpc>
                </a:pPr>
                <a:endParaRPr lang="en-NZ" altLang="ja-JP" sz="200" dirty="0">
                  <a:solidFill>
                    <a:schemeClr val="tx1"/>
                  </a:solidFill>
                </a:endParaRPr>
              </a:p>
              <a:p>
                <a:pPr marL="285750" indent="-285750">
                  <a:lnSpc>
                    <a:spcPct val="100000"/>
                  </a:lnSpc>
                  <a:buFont typeface="Symbol" panose="05050102010706020507" pitchFamily="18" charset="2"/>
                  <a:buChar char="Þ"/>
                </a:pPr>
                <a:r>
                  <a:rPr lang="en-NZ" altLang="ja-JP" sz="1800" b="1" dirty="0">
                    <a:solidFill>
                      <a:schemeClr val="tx1"/>
                    </a:solidFill>
                  </a:rPr>
                  <a:t>         </a:t>
                </a:r>
                <a14:m>
                  <m:oMath xmlns:m="http://schemas.openxmlformats.org/officeDocument/2006/math">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𝑴𝑺𝑻</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f>
                      <m:fPr>
                        <m:ctrlPr>
                          <a:rPr lang="en-NZ" altLang="ja-JP" sz="1800" b="1" i="1">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den>
                    </m:f>
                    <m:r>
                      <a:rPr lang="en-NZ" altLang="ja-JP" sz="1800" b="1" i="1">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bSup>
                          <m:sSubSupPr>
                            <m:ctrlPr>
                              <a:rPr lang="en-NZ" altLang="ja-JP" sz="1800" b="1" i="1">
                                <a:solidFill>
                                  <a:schemeClr val="tx1"/>
                                </a:solidFill>
                                <a:latin typeface="Cambria Math" panose="02040503050406030204" pitchFamily="18" charset="0"/>
                              </a:rPr>
                            </m:ctrlPr>
                          </m:sSubSup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up>
                            <m:r>
                              <a:rPr lang="en-NZ" altLang="ja-JP" sz="1800" b="1" i="1">
                                <a:solidFill>
                                  <a:schemeClr val="tx1"/>
                                </a:solidFill>
                                <a:latin typeface="Cambria Math" panose="02040503050406030204" pitchFamily="18" charset="0"/>
                              </a:rPr>
                              <m:t>𝟐</m:t>
                            </m:r>
                          </m:sup>
                        </m:sSubSup>
                      </m:e>
                    </m:nary>
                    <m:r>
                      <a:rPr lang="en-NZ" altLang="ja-JP" sz="1800" b="0" i="0" smtClean="0">
                        <a:solidFill>
                          <a:schemeClr val="tx1"/>
                        </a:solidFill>
                        <a:latin typeface="Cambria Math" panose="02040503050406030204" pitchFamily="18" charset="0"/>
                      </a:rPr>
                      <m:t> </m:t>
                    </m:r>
                  </m:oMath>
                </a14:m>
                <a:br>
                  <a:rPr lang="en-NZ" altLang="ja-JP" sz="1800" b="1" dirty="0">
                    <a:solidFill>
                      <a:schemeClr val="tx1"/>
                    </a:solidFill>
                  </a:rPr>
                </a:b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m:t>
                        </m:r>
                        <m:r>
                          <a:rPr lang="en-NZ" altLang="ja-JP" sz="1800" b="1" i="1" smtClean="0">
                            <a:solidFill>
                              <a:schemeClr val="tx1"/>
                            </a:solidFill>
                            <a:latin typeface="Cambria Math" panose="02040503050406030204" pitchFamily="18" charset="0"/>
                          </a:rPr>
                          <m:t>𝑬</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oMath>
                </a14:m>
                <a:endParaRPr lang="en-NZ" altLang="ja-JP" sz="1800" b="1" dirty="0">
                  <a:solidFill>
                    <a:schemeClr val="tx1"/>
                  </a:solidFill>
                </a:endParaRPr>
              </a:p>
              <a:p>
                <a:pPr marL="285750" indent="-285750">
                  <a:lnSpc>
                    <a:spcPct val="100000"/>
                  </a:lnSpc>
                  <a:buFont typeface="Symbol" panose="05050102010706020507" pitchFamily="18" charset="2"/>
                  <a:buChar char="Þ"/>
                </a:pPr>
                <a:endParaRPr lang="en-NZ" altLang="ja-JP" sz="1800" b="1"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r>
                      <a:rPr lang="en-NZ" altLang="ja-JP" sz="1800" b="1" i="1">
                        <a:solidFill>
                          <a:schemeClr val="tx1"/>
                        </a:solidFill>
                        <a:latin typeface="Cambria Math" panose="02040503050406030204" pitchFamily="18" charset="0"/>
                      </a:rPr>
                      <m:t>𝑭</m:t>
                    </m:r>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𝑴𝑺𝑻</m:t>
                        </m:r>
                      </m:num>
                      <m:den>
                        <m:r>
                          <a:rPr lang="en-NZ" altLang="ja-JP" sz="1800" b="1" i="1">
                            <a:solidFill>
                              <a:schemeClr val="tx1"/>
                            </a:solidFill>
                            <a:latin typeface="Cambria Math" panose="02040503050406030204" pitchFamily="18" charset="0"/>
                          </a:rPr>
                          <m:t>𝑴𝑺𝑬</m:t>
                        </m:r>
                      </m:den>
                    </m:f>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ea typeface="Cambria Math" panose="02040503050406030204" pitchFamily="18" charset="0"/>
                      </a:rPr>
                      <m:t>𝟏</m:t>
                    </m:r>
                  </m:oMath>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30" name="Text Placeholder 5">
                <a:extLst>
                  <a:ext uri="{FF2B5EF4-FFF2-40B4-BE49-F238E27FC236}">
                    <a16:creationId xmlns:a16="http://schemas.microsoft.com/office/drawing/2014/main" id="{58E94922-5CA8-4DB6-9689-5984266EB1B0}"/>
                  </a:ext>
                </a:extLst>
              </p:cNvPr>
              <p:cNvSpPr txBox="1">
                <a:spLocks noRot="1" noChangeAspect="1" noMove="1" noResize="1" noEditPoints="1" noAdjustHandles="1" noChangeArrowheads="1" noChangeShapeType="1" noTextEdit="1"/>
              </p:cNvSpPr>
              <p:nvPr/>
            </p:nvSpPr>
            <p:spPr>
              <a:xfrm>
                <a:off x="6293592" y="3558822"/>
                <a:ext cx="5691481" cy="2503479"/>
              </a:xfrm>
              <a:prstGeom prst="rect">
                <a:avLst/>
              </a:prstGeom>
              <a:blipFill>
                <a:blip r:embed="rId11"/>
                <a:stretch>
                  <a:fillRect l="-857" t="-1951" b="-5122"/>
                </a:stretch>
              </a:blipFill>
            </p:spPr>
            <p:txBody>
              <a:bodyPr/>
              <a:lstStyle/>
              <a:p>
                <a:r>
                  <a:rPr lang="en-NZ">
                    <a:noFill/>
                  </a:rPr>
                  <a:t> </a:t>
                </a:r>
              </a:p>
            </p:txBody>
          </p:sp>
        </mc:Fallback>
      </mc:AlternateContent>
      <p:sp>
        <p:nvSpPr>
          <p:cNvPr id="2" name="Title 6">
            <a:extLst>
              <a:ext uri="{FF2B5EF4-FFF2-40B4-BE49-F238E27FC236}">
                <a16:creationId xmlns:a16="http://schemas.microsoft.com/office/drawing/2014/main" id="{B19BB7B4-AB5C-9523-A03D-9E422B98BA45}"/>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DF8EEE19-9294-FBA6-0C42-866FE61E4E6F}"/>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4" name="Picture 2" descr="Te Herenga Waka—Victoria University of Wellington | Universities New  Zealand - Te Pōkai Tara">
            <a:extLst>
              <a:ext uri="{FF2B5EF4-FFF2-40B4-BE49-F238E27FC236}">
                <a16:creationId xmlns:a16="http://schemas.microsoft.com/office/drawing/2014/main" id="{9AC4D381-E6D0-B6AB-0B9A-2835C42FB2F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49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P spid="24" grpId="0"/>
      <p:bldP spid="25" grpId="0"/>
      <p:bldP spid="26" grpId="0"/>
      <p:bldP spid="27" grpId="0"/>
      <p:bldP spid="28" grpId="0"/>
      <p:bldP spid="29" grpId="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F Distribution - MATLAB &amp; Simulink">
            <a:extLst>
              <a:ext uri="{FF2B5EF4-FFF2-40B4-BE49-F238E27FC236}">
                <a16:creationId xmlns:a16="http://schemas.microsoft.com/office/drawing/2014/main" id="{00A42C7C-B75D-E23C-2302-D2FB81B3D2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9599" y="3574519"/>
            <a:ext cx="6563733" cy="2797586"/>
          </a:xfrm>
          <a:prstGeom prst="rect">
            <a:avLst/>
          </a:prstGeom>
          <a:noFill/>
          <a:extLst>
            <a:ext uri="{909E8E84-426E-40DD-AFC4-6F175D3DCCD1}">
              <a14:hiddenFill xmlns:a14="http://schemas.microsoft.com/office/drawing/2010/main">
                <a:solidFill>
                  <a:srgbClr val="FFFFFF"/>
                </a:solidFill>
              </a14:hiddenFill>
            </a:ext>
          </a:extLst>
        </p:spPr>
      </p:pic>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280132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366316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00979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2411715"/>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test between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a:t>
                </a:r>
                <a:r>
                  <a:rPr lang="en-NZ" altLang="ja-JP" sz="1600" b="1" i="1" noProof="0" dirty="0">
                    <a:solidFill>
                      <a:prstClr val="black"/>
                    </a:solidFill>
                    <a:latin typeface="Calibri" panose="020F0502020204030204"/>
                    <a:ea typeface="游ゴシック" panose="020B0400000000000000" pitchFamily="34" charset="-128"/>
                  </a:rPr>
                  <a:t>H</a:t>
                </a:r>
                <a:r>
                  <a:rPr lang="en-NZ" altLang="ja-JP" sz="1600" b="1" i="1" baseline="-25000" noProof="0" dirty="0">
                    <a:solidFill>
                      <a:prstClr val="black"/>
                    </a:solidFill>
                    <a:latin typeface="Calibri" panose="020F0502020204030204"/>
                    <a:ea typeface="游ゴシック" panose="020B0400000000000000" pitchFamily="34" charset="-128"/>
                  </a:rPr>
                  <a:t>1</a:t>
                </a:r>
                <a:r>
                  <a:rPr lang="en-NZ" altLang="ja-JP" sz="1600" noProof="0" dirty="0">
                    <a:solidFill>
                      <a:prstClr val="black"/>
                    </a:solidFill>
                    <a:latin typeface="Calibri" panose="020F0502020204030204"/>
                    <a:ea typeface="游ゴシック" panose="020B0400000000000000" pitchFamily="34" charset="-128"/>
                  </a:rPr>
                  <a:t> we calculate the </a:t>
                </a:r>
                <a:r>
                  <a:rPr lang="en-NZ" altLang="ja-JP" sz="1600" b="1" i="1" noProof="0" dirty="0">
                    <a:solidFill>
                      <a:prstClr val="black"/>
                    </a:solidFill>
                    <a:latin typeface="Calibri" panose="020F0502020204030204"/>
                    <a:ea typeface="游ゴシック" panose="020B0400000000000000" pitchFamily="34" charset="-128"/>
                  </a:rPr>
                  <a:t>F</a:t>
                </a:r>
                <a:r>
                  <a:rPr lang="en-NZ" altLang="ja-JP" sz="1600" noProof="0" dirty="0">
                    <a:solidFill>
                      <a:prstClr val="black"/>
                    </a:solidFill>
                    <a:latin typeface="Calibri" panose="020F0502020204030204"/>
                    <a:ea typeface="游ゴシック" panose="020B0400000000000000" pitchFamily="34" charset="-128"/>
                  </a:rPr>
                  <a:t>-statistic for one-way ANOVA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2411715"/>
                <a:ext cx="11472203" cy="1021587"/>
              </a:xfrm>
              <a:prstGeom prst="rect">
                <a:avLst/>
              </a:prstGeom>
              <a:blipFill>
                <a:blip r:embed="rId3"/>
                <a:stretch>
                  <a:fillRect l="-266" t="-1796"/>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7004881" y="873877"/>
            <a:ext cx="4495678" cy="126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7146636" y="1414191"/>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7146636" y="1414191"/>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51223" y="3968289"/>
                <a:ext cx="5248826" cy="22679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kumimoji="1" lang="en-NZ" altLang="ja-JP" sz="1600" b="1" i="0" u="sng" strike="noStrike" kern="1200" cap="none" spc="0" normalizeH="0" baseline="0" noProof="0" dirty="0">
                    <a:ln>
                      <a:noFill/>
                    </a:ln>
                    <a:solidFill>
                      <a:srgbClr val="C00000"/>
                    </a:solidFill>
                    <a:effectLst/>
                    <a:uLnTx/>
                    <a:uFillTx/>
                    <a:ea typeface="游ゴシック" panose="020B0400000000000000" pitchFamily="34" charset="-128"/>
                  </a:rPr>
                  <a:t>If the ANOVA conditions are satisfied </a:t>
                </a:r>
              </a:p>
              <a:p>
                <a:pPr lvl="0">
                  <a:lnSpc>
                    <a:spcPct val="100000"/>
                  </a:lnSpc>
                  <a:defRPr/>
                </a:pPr>
                <a:endParaRPr lang="en-NZ" altLang="ja-JP" sz="200" b="1" u="sng" dirty="0">
                  <a:solidFill>
                    <a:srgbClr val="C00000"/>
                  </a:solidFill>
                  <a:ea typeface="游ゴシック" panose="020B0400000000000000" pitchFamily="34" charset="-128"/>
                </a:endParaRPr>
              </a:p>
              <a:p>
                <a:pPr lvl="0">
                  <a:lnSpc>
                    <a:spcPct val="100000"/>
                  </a:lnSpc>
                  <a:defRPr/>
                </a:pPr>
                <a:endParaRPr kumimoji="1" lang="en-NZ" altLang="ja-JP" sz="200" b="1" i="1" u="sng" strike="noStrike" kern="1200" cap="none" spc="0" normalizeH="0" baseline="0" noProof="0" dirty="0">
                  <a:ln>
                    <a:noFill/>
                  </a:ln>
                  <a:solidFill>
                    <a:srgbClr val="C00000"/>
                  </a:solidFill>
                  <a:effectLst/>
                  <a:uLnTx/>
                  <a:uFillTx/>
                  <a:ea typeface="游ゴシック" panose="020B0400000000000000" pitchFamily="34" charset="-128"/>
                </a:endParaRPr>
              </a:p>
              <a:p>
                <a:pPr lvl="0">
                  <a:lnSpc>
                    <a:spcPct val="100000"/>
                  </a:lnSpc>
                  <a:defRPr/>
                </a:pPr>
                <a:endParaRPr kumimoji="1" lang="en-NZ" altLang="ja-JP" sz="200" b="1" i="1" u="none" strike="noStrike" kern="1200" cap="none" spc="0" normalizeH="0" baseline="0" noProof="0" dirty="0">
                  <a:ln>
                    <a:noFill/>
                  </a:ln>
                  <a:solidFill>
                    <a:schemeClr val="tx1"/>
                  </a:solidFill>
                  <a:effectLst/>
                  <a:uLnTx/>
                  <a:uFillTx/>
                </a:endParaRPr>
              </a:p>
              <a:p>
                <a:pPr lvl="0">
                  <a:lnSpc>
                    <a:spcPct val="100000"/>
                  </a:lnSpc>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𝑭</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 ~ </m:t>
                      </m:r>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𝑭</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𝒌</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𝟏</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  </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𝑵</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 −</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rPr>
                            <m:t>𝒌</m:t>
                          </m:r>
                        </m:sub>
                      </m:sSub>
                    </m:oMath>
                  </m:oMathPara>
                </a14:m>
                <a:endParaRPr kumimoji="1" lang="en-NZ" altLang="ja-JP" sz="1600" b="0" i="0" u="none" strike="noStrike" kern="1200" cap="none" spc="0" normalizeH="0" noProof="0" dirty="0">
                  <a:ln>
                    <a:noFill/>
                  </a:ln>
                  <a:solidFill>
                    <a:schemeClr val="tx1"/>
                  </a:solidFill>
                  <a:effectLst/>
                  <a:uLnTx/>
                  <a:uFillTx/>
                  <a:ea typeface="游ゴシック" panose="020B0400000000000000" pitchFamily="34" charset="-128"/>
                </a:endParaRPr>
              </a:p>
              <a:p>
                <a:pPr lvl="0">
                  <a:lnSpc>
                    <a:spcPct val="100000"/>
                  </a:lnSpc>
                  <a:defRPr/>
                </a:pPr>
                <a:endParaRPr lang="en-NZ" altLang="ja-JP" sz="1600" baseline="0" dirty="0">
                  <a:solidFill>
                    <a:schemeClr val="tx1"/>
                  </a:solidFill>
                  <a:ea typeface="游ゴシック" panose="020B0400000000000000" pitchFamily="34" charset="-128"/>
                </a:endParaRPr>
              </a:p>
              <a:p>
                <a:pPr lvl="0">
                  <a:lnSpc>
                    <a:spcPct val="100000"/>
                  </a:lnSpc>
                  <a:defRPr/>
                </a:pPr>
                <a:r>
                  <a:rPr kumimoji="1" lang="en-NZ" altLang="ja-JP" sz="1600" b="0" i="0" u="none" strike="noStrike" kern="1200" cap="none" spc="0" normalizeH="0" baseline="0" noProof="0" dirty="0">
                    <a:ln>
                      <a:noFill/>
                    </a:ln>
                    <a:solidFill>
                      <a:schemeClr val="tx1"/>
                    </a:solidFill>
                    <a:effectLst/>
                    <a:uLnTx/>
                    <a:uFillTx/>
                    <a:ea typeface="游ゴシック" panose="020B0400000000000000" pitchFamily="34" charset="-128"/>
                  </a:rPr>
                  <a:t>We look to see where </a:t>
                </a:r>
                <a:r>
                  <a:rPr kumimoji="1" lang="en-NZ" altLang="ja-JP" sz="1600" b="1" i="1" u="none" strike="noStrike" kern="1200" cap="none" spc="0" normalizeH="0" baseline="0" noProof="0" dirty="0">
                    <a:ln>
                      <a:noFill/>
                    </a:ln>
                    <a:solidFill>
                      <a:schemeClr val="tx1"/>
                    </a:solidFill>
                    <a:effectLst/>
                    <a:uLnTx/>
                    <a:uFillTx/>
                    <a:ea typeface="游ゴシック" panose="020B0400000000000000" pitchFamily="34" charset="-128"/>
                  </a:rPr>
                  <a:t>F</a:t>
                </a:r>
                <a:r>
                  <a:rPr kumimoji="1" lang="en-NZ" altLang="ja-JP" sz="1600" b="1" i="1" u="none" strike="noStrike" kern="1200" cap="none" spc="0" normalizeH="0" baseline="-25000" noProof="0" dirty="0">
                    <a:ln>
                      <a:noFill/>
                    </a:ln>
                    <a:solidFill>
                      <a:schemeClr val="tx1"/>
                    </a:solidFill>
                    <a:effectLst/>
                    <a:uLnTx/>
                    <a:uFillTx/>
                    <a:ea typeface="游ゴシック" panose="020B0400000000000000" pitchFamily="34" charset="-128"/>
                  </a:rPr>
                  <a:t>obs </a:t>
                </a:r>
                <a:r>
                  <a:rPr kumimoji="1" lang="en-NZ" altLang="ja-JP" sz="1600" b="0" i="0" u="none" strike="noStrike" kern="1200" cap="none" spc="0" normalizeH="0" baseline="0" noProof="0" dirty="0">
                    <a:ln>
                      <a:noFill/>
                    </a:ln>
                    <a:solidFill>
                      <a:schemeClr val="tx1"/>
                    </a:solidFill>
                    <a:effectLst/>
                    <a:uLnTx/>
                    <a:uFillTx/>
                    <a:ea typeface="游ゴシック" panose="020B0400000000000000" pitchFamily="34" charset="-128"/>
                  </a:rPr>
                  <a:t>lies in the distribution of </a:t>
                </a:r>
                <a:r>
                  <a:rPr kumimoji="1" lang="en-NZ" altLang="ja-JP" sz="1600" b="1" i="1" u="none" strike="noStrike" kern="1200" cap="none" spc="0" normalizeH="0" baseline="0" noProof="0" dirty="0">
                    <a:ln>
                      <a:noFill/>
                    </a:ln>
                    <a:solidFill>
                      <a:schemeClr val="tx1"/>
                    </a:solidFill>
                    <a:effectLst/>
                    <a:uLnTx/>
                    <a:uFillTx/>
                    <a:ea typeface="游ゴシック" panose="020B0400000000000000" pitchFamily="34" charset="-128"/>
                  </a:rPr>
                  <a:t>F</a:t>
                </a:r>
                <a:r>
                  <a:rPr kumimoji="1" lang="en-NZ" altLang="ja-JP" sz="1600" b="1" i="1" u="none" strike="noStrike" kern="1200" cap="none" spc="0" normalizeH="0" baseline="-25000" noProof="0" dirty="0">
                    <a:ln>
                      <a:noFill/>
                    </a:ln>
                    <a:solidFill>
                      <a:schemeClr val="tx1"/>
                    </a:solidFill>
                    <a:effectLst/>
                    <a:uLnTx/>
                    <a:uFillTx/>
                    <a:ea typeface="游ゴシック" panose="020B0400000000000000" pitchFamily="34" charset="-128"/>
                  </a:rPr>
                  <a:t> k-1 , N-k</a:t>
                </a:r>
                <a:endParaRPr lang="en-NZ" altLang="ja-JP" sz="1600" b="1" i="1" baseline="30000" noProof="0" dirty="0">
                  <a:solidFill>
                    <a:schemeClr val="tx1"/>
                  </a:solidFill>
                  <a:ea typeface="游ゴシック" panose="020B0400000000000000" pitchFamily="34" charset="-128"/>
                </a:endParaRPr>
              </a:p>
              <a:p>
                <a:pPr lvl="0">
                  <a:lnSpc>
                    <a:spcPct val="100000"/>
                  </a:lnSpc>
                  <a:defRPr/>
                </a:pPr>
                <a:endParaRPr kumimoji="1" lang="en-NZ" altLang="ja-JP" sz="1600" b="1" i="1" u="none" strike="noStrike" kern="1200" cap="none" spc="0" normalizeH="0" baseline="30000" dirty="0">
                  <a:ln>
                    <a:noFill/>
                  </a:ln>
                  <a:solidFill>
                    <a:schemeClr val="tx1"/>
                  </a:solidFill>
                  <a:effectLst/>
                  <a:uLnTx/>
                  <a:uFillTx/>
                  <a:ea typeface="游ゴシック" panose="020B0400000000000000" pitchFamily="34" charset="-128"/>
                </a:endParaRPr>
              </a:p>
              <a:p>
                <a:pPr lvl="0">
                  <a:lnSpc>
                    <a:spcPct val="100000"/>
                  </a:lnSpc>
                  <a:defRPr/>
                </a:pPr>
                <a:r>
                  <a:rPr lang="en-NZ" altLang="ja-JP" sz="1600" noProof="0" dirty="0">
                    <a:solidFill>
                      <a:schemeClr val="tx1"/>
                    </a:solidFill>
                    <a:ea typeface="游ゴシック" panose="020B0400000000000000" pitchFamily="34" charset="-128"/>
                  </a:rPr>
                  <a:t>The bigger the value of </a:t>
                </a:r>
                <a:r>
                  <a:rPr kumimoji="1" lang="en-NZ" altLang="ja-JP" sz="1600" b="1" i="1" u="none" strike="noStrike" kern="1200" cap="none" spc="0" normalizeH="0" baseline="0" noProof="0" dirty="0">
                    <a:ln>
                      <a:noFill/>
                    </a:ln>
                    <a:solidFill>
                      <a:schemeClr val="tx1"/>
                    </a:solidFill>
                    <a:effectLst/>
                    <a:uLnTx/>
                    <a:uFillTx/>
                    <a:ea typeface="游ゴシック" panose="020B0400000000000000" pitchFamily="34" charset="-128"/>
                  </a:rPr>
                  <a:t>F</a:t>
                </a:r>
                <a:r>
                  <a:rPr kumimoji="1" lang="en-NZ" altLang="ja-JP" sz="1600" b="1" i="1" u="none" strike="noStrike" kern="1200" cap="none" spc="0" normalizeH="0" baseline="-25000" noProof="0" dirty="0">
                    <a:ln>
                      <a:noFill/>
                    </a:ln>
                    <a:solidFill>
                      <a:schemeClr val="tx1"/>
                    </a:solidFill>
                    <a:effectLst/>
                    <a:uLnTx/>
                    <a:uFillTx/>
                    <a:ea typeface="游ゴシック" panose="020B0400000000000000" pitchFamily="34" charset="-128"/>
                  </a:rPr>
                  <a:t>obs  </a:t>
                </a:r>
                <a:r>
                  <a:rPr lang="en-NZ" altLang="ja-JP" sz="1600" noProof="0" dirty="0">
                    <a:solidFill>
                      <a:schemeClr val="tx1"/>
                    </a:solidFill>
                    <a:ea typeface="游ゴシック" panose="020B0400000000000000" pitchFamily="34" charset="-128"/>
                  </a:rPr>
                  <a:t>the </a:t>
                </a:r>
                <a:r>
                  <a:rPr kumimoji="1" lang="en-NZ" altLang="ja-JP" sz="1600" u="none" strike="noStrike" kern="1200" cap="none" spc="0" normalizeH="0" noProof="0" dirty="0">
                    <a:ln>
                      <a:noFill/>
                    </a:ln>
                    <a:solidFill>
                      <a:schemeClr val="tx1"/>
                    </a:solidFill>
                    <a:effectLst/>
                    <a:uLnTx/>
                    <a:uFillTx/>
                    <a:ea typeface="游ゴシック" panose="020B0400000000000000" pitchFamily="34" charset="-128"/>
                  </a:rPr>
                  <a:t>smaller the p-value</a:t>
                </a:r>
                <a:endParaRPr lang="en-NZ" altLang="ja-JP" sz="1600" b="1" i="1" dirty="0">
                  <a:solidFill>
                    <a:schemeClr val="tx1"/>
                  </a:solidFill>
                  <a:ea typeface="游ゴシック" panose="020B0400000000000000" pitchFamily="34" charset="-128"/>
                </a:endParaRPr>
              </a:p>
              <a:p>
                <a:pPr lvl="0">
                  <a:lnSpc>
                    <a:spcPct val="100000"/>
                  </a:lnSpc>
                  <a:defRPr/>
                </a:pPr>
                <a14:m>
                  <m:oMathPara xmlns:m="http://schemas.openxmlformats.org/officeDocument/2006/math">
                    <m:oMathParaPr>
                      <m:jc m:val="centerGroup"/>
                    </m:oMathParaPr>
                    <m:oMath xmlns:m="http://schemas.openxmlformats.org/officeDocument/2006/math">
                      <m:r>
                        <a:rPr lang="en-NZ" altLang="ja-JP" sz="1600" b="1" i="1">
                          <a:solidFill>
                            <a:schemeClr val="tx1"/>
                          </a:solidFill>
                          <a:latin typeface="Cambria Math" panose="02040503050406030204" pitchFamily="18" charset="0"/>
                        </a:rPr>
                        <m:t>𝑷</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𝑭</m:t>
                          </m:r>
                          <m:r>
                            <a:rPr lang="en-NZ" altLang="ja-JP" sz="1600" b="1" i="1">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𝒐𝒃𝒔</m:t>
                              </m:r>
                            </m:sub>
                          </m:sSub>
                          <m:r>
                            <a:rPr lang="en-NZ" altLang="ja-JP" sz="1600" b="1" i="1">
                              <a:solidFill>
                                <a:schemeClr val="tx1"/>
                              </a:solidFill>
                              <a:latin typeface="Cambria Math" panose="02040503050406030204" pitchFamily="18" charset="0"/>
                            </a:rPr>
                            <m:t> </m:t>
                          </m:r>
                        </m:e>
                      </m:d>
                    </m:oMath>
                  </m:oMathPara>
                </a14:m>
                <a:endParaRPr kumimoji="1" lang="en-NZ" altLang="ja-JP" sz="1600" b="0" i="0" u="none" strike="noStrike" kern="1200" cap="none" spc="0" normalizeH="0" baseline="0" noProof="0" dirty="0">
                  <a:ln>
                    <a:noFill/>
                  </a:ln>
                  <a:solidFill>
                    <a:schemeClr val="tx1"/>
                  </a:solidFill>
                  <a:effectLst/>
                  <a:uLnTx/>
                  <a:uFillTx/>
                  <a:ea typeface="游ゴシック" panose="020B0400000000000000" pitchFamily="34" charset="-128"/>
                </a:endParaRPr>
              </a:p>
              <a:p>
                <a:pPr lvl="0">
                  <a:lnSpc>
                    <a:spcPct val="100000"/>
                  </a:lnSpc>
                  <a:defRPr/>
                </a:pPr>
                <a:r>
                  <a:rPr lang="en-NZ" altLang="ja-JP" sz="1600" dirty="0">
                    <a:solidFill>
                      <a:schemeClr val="tx1"/>
                    </a:solidFill>
                    <a:ea typeface="游ゴシック" panose="020B0400000000000000" pitchFamily="34" charset="-128"/>
                  </a:rPr>
                  <a:t>o</a:t>
                </a:r>
                <a:r>
                  <a:rPr kumimoji="1" lang="en-NZ" altLang="ja-JP" sz="1600" b="0" i="0" u="none" strike="noStrike" kern="1200" cap="none" spc="0" normalizeH="0" baseline="0" noProof="0" dirty="0">
                    <a:ln>
                      <a:noFill/>
                    </a:ln>
                    <a:solidFill>
                      <a:schemeClr val="tx1"/>
                    </a:solidFill>
                    <a:effectLst/>
                    <a:uLnTx/>
                    <a:uFillTx/>
                    <a:ea typeface="游ゴシック" panose="020B0400000000000000" pitchFamily="34" charset="-128"/>
                  </a:rPr>
                  <a:t>f the test and the more evidence we have against </a:t>
                </a:r>
                <a:r>
                  <a:rPr kumimoji="1" lang="en-NZ" altLang="ja-JP" sz="1600" b="1" i="1" u="none" strike="noStrike" kern="1200" cap="none" spc="0" normalizeH="0" baseline="0" noProof="0" dirty="0">
                    <a:ln>
                      <a:noFill/>
                    </a:ln>
                    <a:solidFill>
                      <a:schemeClr val="tx1"/>
                    </a:solidFill>
                    <a:effectLst/>
                    <a:uLnTx/>
                    <a:uFillTx/>
                    <a:ea typeface="游ゴシック" panose="020B0400000000000000" pitchFamily="34" charset="-128"/>
                  </a:rPr>
                  <a:t>H</a:t>
                </a:r>
                <a:r>
                  <a:rPr kumimoji="1" lang="en-NZ" altLang="ja-JP" sz="1600" b="1" i="1" u="none" strike="noStrike" kern="1200" cap="none" spc="0" normalizeH="0" baseline="-25000" noProof="0" dirty="0">
                    <a:ln>
                      <a:noFill/>
                    </a:ln>
                    <a:solidFill>
                      <a:schemeClr val="tx1"/>
                    </a:solidFill>
                    <a:effectLst/>
                    <a:uLnTx/>
                    <a:uFillTx/>
                    <a:ea typeface="游ゴシック" panose="020B0400000000000000" pitchFamily="34" charset="-128"/>
                  </a:rPr>
                  <a:t>0</a:t>
                </a:r>
                <a:r>
                  <a:rPr kumimoji="1" lang="en-NZ" altLang="ja-JP" sz="1600" u="none" strike="noStrike" kern="1200" cap="none" spc="0" normalizeH="0" baseline="-25000" noProof="0" dirty="0">
                    <a:ln>
                      <a:noFill/>
                    </a:ln>
                    <a:solidFill>
                      <a:schemeClr val="tx1"/>
                    </a:solidFill>
                    <a:effectLst/>
                    <a:uLnTx/>
                    <a:uFillTx/>
                    <a:ea typeface="游ゴシック" panose="020B0400000000000000" pitchFamily="34" charset="-128"/>
                  </a:rPr>
                  <a:t>.</a:t>
                </a:r>
                <a:endParaRPr kumimoji="1" lang="en-NZ" altLang="ja-JP" sz="1600" b="0" i="1" u="none" strike="noStrike" kern="1200" cap="none" spc="0" normalizeH="0" baseline="0" noProof="0" dirty="0">
                  <a:ln>
                    <a:noFill/>
                  </a:ln>
                  <a:solidFill>
                    <a:schemeClr val="tx1"/>
                  </a:solidFill>
                  <a:effectLst/>
                  <a:uLnTx/>
                  <a:uFillTx/>
                  <a:ea typeface="游ゴシック" panose="020B0400000000000000" pitchFamily="34" charset="-128"/>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51223" y="3968289"/>
                <a:ext cx="5248826" cy="2267956"/>
              </a:xfrm>
              <a:prstGeom prst="rect">
                <a:avLst/>
              </a:prstGeom>
              <a:blipFill>
                <a:blip r:embed="rId5"/>
                <a:stretch>
                  <a:fillRect l="-581" t="-80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A12442CC-A5E1-217F-D3D5-DFFD365223A2}"/>
                  </a:ext>
                </a:extLst>
              </p:cNvPr>
              <p:cNvSpPr txBox="1">
                <a:spLocks/>
              </p:cNvSpPr>
              <p:nvPr/>
            </p:nvSpPr>
            <p:spPr>
              <a:xfrm>
                <a:off x="6641131" y="5234430"/>
                <a:ext cx="80915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A12442CC-A5E1-217F-D3D5-DFFD365223A2}"/>
                  </a:ext>
                </a:extLst>
              </p:cNvPr>
              <p:cNvSpPr txBox="1">
                <a:spLocks noRot="1" noChangeAspect="1" noMove="1" noResize="1" noEditPoints="1" noAdjustHandles="1" noChangeArrowheads="1" noChangeShapeType="1" noTextEdit="1"/>
              </p:cNvSpPr>
              <p:nvPr/>
            </p:nvSpPr>
            <p:spPr>
              <a:xfrm>
                <a:off x="6641131" y="5234430"/>
                <a:ext cx="809159" cy="398844"/>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E8A0E3B-4467-5255-C099-967FAAF5A900}"/>
                  </a:ext>
                </a:extLst>
              </p:cNvPr>
              <p:cNvSpPr txBox="1">
                <a:spLocks/>
              </p:cNvSpPr>
              <p:nvPr/>
            </p:nvSpPr>
            <p:spPr>
              <a:xfrm>
                <a:off x="7237618" y="5268719"/>
                <a:ext cx="134463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DE8A0E3B-4467-5255-C099-967FAAF5A900}"/>
                  </a:ext>
                </a:extLst>
              </p:cNvPr>
              <p:cNvSpPr txBox="1">
                <a:spLocks noRot="1" noChangeAspect="1" noMove="1" noResize="1" noEditPoints="1" noAdjustHandles="1" noChangeArrowheads="1" noChangeShapeType="1" noTextEdit="1"/>
              </p:cNvSpPr>
              <p:nvPr/>
            </p:nvSpPr>
            <p:spPr>
              <a:xfrm>
                <a:off x="7237618" y="5268719"/>
                <a:ext cx="1344639" cy="398844"/>
              </a:xfrm>
              <a:prstGeom prst="rect">
                <a:avLst/>
              </a:prstGeom>
              <a:blipFill>
                <a:blip r:embed="rId7"/>
                <a:stretch>
                  <a:fillRect/>
                </a:stretch>
              </a:blipFill>
            </p:spPr>
            <p:txBody>
              <a:bodyPr/>
              <a:lstStyle/>
              <a:p>
                <a:r>
                  <a:rPr lang="en-NZ">
                    <a:noFill/>
                  </a:rPr>
                  <a:t> </a:t>
                </a:r>
              </a:p>
            </p:txBody>
          </p:sp>
        </mc:Fallback>
      </mc:AlternateContent>
      <p:cxnSp>
        <p:nvCxnSpPr>
          <p:cNvPr id="27" name="Straight Connector 26">
            <a:extLst>
              <a:ext uri="{FF2B5EF4-FFF2-40B4-BE49-F238E27FC236}">
                <a16:creationId xmlns:a16="http://schemas.microsoft.com/office/drawing/2014/main" id="{8F73EAE7-5334-878C-74A4-779236114556}"/>
              </a:ext>
            </a:extLst>
          </p:cNvPr>
          <p:cNvCxnSpPr>
            <a:cxnSpLocks/>
          </p:cNvCxnSpPr>
          <p:nvPr/>
        </p:nvCxnSpPr>
        <p:spPr>
          <a:xfrm>
            <a:off x="6857573" y="5572102"/>
            <a:ext cx="0" cy="46233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F0C508CE-D25F-50F2-B9E8-9E00643E20F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96EEB074-90C1-0E58-80C8-45EE8E90DF09}"/>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pic>
        <p:nvPicPr>
          <p:cNvPr id="4" name="Picture 2" descr="Te Herenga Waka—Victoria University of Wellington | Universities New  Zealand - Te Pōkai Tara">
            <a:extLst>
              <a:ext uri="{FF2B5EF4-FFF2-40B4-BE49-F238E27FC236}">
                <a16:creationId xmlns:a16="http://schemas.microsoft.com/office/drawing/2014/main" id="{42D070F2-5360-F385-9920-2AD6B8E86E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85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4.81481E-6 L 0.16732 0.00857 " pathEditMode="relative" rAng="0" ptsTypes="AA">
                                      <p:cBhvr>
                                        <p:cTn id="6" dur="2000" fill="hold"/>
                                        <p:tgtEl>
                                          <p:spTgt spid="27"/>
                                        </p:tgtEl>
                                        <p:attrNameLst>
                                          <p:attrName>ppt_x</p:attrName>
                                          <p:attrName>ppt_y</p:attrName>
                                        </p:attrNameLst>
                                      </p:cBhvr>
                                      <p:rCtr x="8359" y="417"/>
                                    </p:animMotion>
                                  </p:childTnLst>
                                </p:cTn>
                              </p:par>
                              <p:par>
                                <p:cTn id="7" presetID="42" presetClass="path" presetSubtype="0" accel="50000" decel="50000" fill="hold" grpId="0" nodeType="withEffect">
                                  <p:stCondLst>
                                    <p:cond delay="0"/>
                                  </p:stCondLst>
                                  <p:childTnLst>
                                    <p:animMotion origin="layout" path="M -4.58333E-6 -1.11111E-6 L 0.17448 0.00509 " pathEditMode="relative" rAng="0" ptsTypes="AA">
                                      <p:cBhvr>
                                        <p:cTn id="8" dur="2000" fill="hold"/>
                                        <p:tgtEl>
                                          <p:spTgt spid="19"/>
                                        </p:tgtEl>
                                        <p:attrNameLst>
                                          <p:attrName>ppt_x</p:attrName>
                                          <p:attrName>ppt_y</p:attrName>
                                        </p:attrNameLst>
                                      </p:cBhvr>
                                      <p:rCtr x="8724" y="255"/>
                                    </p:animMotion>
                                  </p:childTnLst>
                                </p:cTn>
                              </p:par>
                              <p:par>
                                <p:cTn id="9" presetID="42" presetClass="path" presetSubtype="0" accel="50000" decel="50000" fill="hold" grpId="0" nodeType="withEffect">
                                  <p:stCondLst>
                                    <p:cond delay="0"/>
                                  </p:stCondLst>
                                  <p:childTnLst>
                                    <p:animMotion origin="layout" path="M 2.08333E-6 -2.22222E-6 L 0.1763 0.00463 " pathEditMode="relative" rAng="0" ptsTypes="AA">
                                      <p:cBhvr>
                                        <p:cTn id="10" dur="2000" fill="hold"/>
                                        <p:tgtEl>
                                          <p:spTgt spid="21"/>
                                        </p:tgtEl>
                                        <p:attrNameLst>
                                          <p:attrName>ppt_x</p:attrName>
                                          <p:attrName>ppt_y</p:attrName>
                                        </p:attrNameLst>
                                      </p:cBhvr>
                                      <p:rCtr x="8815" y="2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280132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366316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00979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2411715"/>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test between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a:t>
                </a:r>
                <a:r>
                  <a:rPr lang="en-NZ" altLang="ja-JP" sz="1600" b="1" i="1" noProof="0" dirty="0">
                    <a:solidFill>
                      <a:prstClr val="black"/>
                    </a:solidFill>
                    <a:latin typeface="Calibri" panose="020F0502020204030204"/>
                    <a:ea typeface="游ゴシック" panose="020B0400000000000000" pitchFamily="34" charset="-128"/>
                  </a:rPr>
                  <a:t>H</a:t>
                </a:r>
                <a:r>
                  <a:rPr lang="en-NZ" altLang="ja-JP" sz="1600" b="1" i="1" baseline="-25000" noProof="0" dirty="0">
                    <a:solidFill>
                      <a:prstClr val="black"/>
                    </a:solidFill>
                    <a:latin typeface="Calibri" panose="020F0502020204030204"/>
                    <a:ea typeface="游ゴシック" panose="020B0400000000000000" pitchFamily="34" charset="-128"/>
                  </a:rPr>
                  <a:t>1</a:t>
                </a:r>
                <a:r>
                  <a:rPr lang="en-NZ" altLang="ja-JP" sz="1600" noProof="0" dirty="0">
                    <a:solidFill>
                      <a:prstClr val="black"/>
                    </a:solidFill>
                    <a:latin typeface="Calibri" panose="020F0502020204030204"/>
                    <a:ea typeface="游ゴシック" panose="020B0400000000000000" pitchFamily="34" charset="-128"/>
                  </a:rPr>
                  <a:t> we calculate the </a:t>
                </a:r>
                <a:r>
                  <a:rPr lang="en-NZ" altLang="ja-JP" sz="1600" b="1" i="1" noProof="0" dirty="0">
                    <a:solidFill>
                      <a:prstClr val="black"/>
                    </a:solidFill>
                    <a:latin typeface="Calibri" panose="020F0502020204030204"/>
                    <a:ea typeface="游ゴシック" panose="020B0400000000000000" pitchFamily="34" charset="-128"/>
                  </a:rPr>
                  <a:t>F</a:t>
                </a:r>
                <a:r>
                  <a:rPr lang="en-NZ" altLang="ja-JP" sz="1600" noProof="0" dirty="0">
                    <a:solidFill>
                      <a:prstClr val="black"/>
                    </a:solidFill>
                    <a:latin typeface="Calibri" panose="020F0502020204030204"/>
                    <a:ea typeface="游ゴシック" panose="020B0400000000000000" pitchFamily="34" charset="-128"/>
                  </a:rPr>
                  <a:t>-statistic for one-way ANOVA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2411715"/>
                <a:ext cx="11472203" cy="1021587"/>
              </a:xfrm>
              <a:prstGeom prst="rect">
                <a:avLst/>
              </a:prstGeom>
              <a:blipFill>
                <a:blip r:embed="rId2"/>
                <a:stretch>
                  <a:fillRect l="-266" t="-1796"/>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7004881" y="873877"/>
            <a:ext cx="4495678" cy="126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7146636" y="1414191"/>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7146636" y="1414191"/>
                <a:ext cx="3507477" cy="1021587"/>
              </a:xfrm>
              <a:prstGeom prst="rect">
                <a:avLst/>
              </a:prstGeom>
              <a:blipFill>
                <a:blip r:embed="rId3"/>
                <a:stretch>
                  <a:fillRect/>
                </a:stretch>
              </a:blipFill>
            </p:spPr>
            <p:txBody>
              <a:bodyPr/>
              <a:lstStyle/>
              <a:p>
                <a:r>
                  <a:rPr lang="en-NZ">
                    <a:noFill/>
                  </a:rPr>
                  <a:t> </a:t>
                </a:r>
              </a:p>
            </p:txBody>
          </p:sp>
        </mc:Fallback>
      </mc:AlternateContent>
      <p:sp>
        <p:nvSpPr>
          <p:cNvPr id="2" name="Title 6">
            <a:extLst>
              <a:ext uri="{FF2B5EF4-FFF2-40B4-BE49-F238E27FC236}">
                <a16:creationId xmlns:a16="http://schemas.microsoft.com/office/drawing/2014/main" id="{F0C508CE-D25F-50F2-B9E8-9E00643E20F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6.5a – The One-Way ANOVA Model:</a:t>
            </a:r>
            <a:endParaRPr lang="ja-JP" altLang="en-US" b="1" u="sng" dirty="0">
              <a:latin typeface="+mn-lt"/>
            </a:endParaRPr>
          </a:p>
        </p:txBody>
      </p:sp>
      <p:sp>
        <p:nvSpPr>
          <p:cNvPr id="3" name="Footer Placeholder 2">
            <a:extLst>
              <a:ext uri="{FF2B5EF4-FFF2-40B4-BE49-F238E27FC236}">
                <a16:creationId xmlns:a16="http://schemas.microsoft.com/office/drawing/2014/main" id="{96EEB074-90C1-0E58-80C8-45EE8E90DF09}"/>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
        <p:nvSpPr>
          <p:cNvPr id="4" name="Text Placeholder 5">
            <a:extLst>
              <a:ext uri="{FF2B5EF4-FFF2-40B4-BE49-F238E27FC236}">
                <a16:creationId xmlns:a16="http://schemas.microsoft.com/office/drawing/2014/main" id="{62C779D2-D364-2869-34F2-3121257059A5}"/>
              </a:ext>
            </a:extLst>
          </p:cNvPr>
          <p:cNvSpPr txBox="1">
            <a:spLocks/>
          </p:cNvSpPr>
          <p:nvPr/>
        </p:nvSpPr>
        <p:spPr>
          <a:xfrm>
            <a:off x="387193" y="3896538"/>
            <a:ext cx="11417614" cy="16351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If the ANOVA conditions are not satisfied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00"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although we can still calculate the F-statistic, this will no longer follow an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k-1 , N-k</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distribution.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the p-value produced from ANOVA will be meaningless</a:t>
            </a:r>
            <a:b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We won’t be able to use the p-value to decide between the null and alternative hypothesis</a:t>
            </a:r>
            <a:r>
              <a:rPr kumimoji="1" lang="en-NZ"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5" name="Text Placeholder 5">
            <a:extLst>
              <a:ext uri="{FF2B5EF4-FFF2-40B4-BE49-F238E27FC236}">
                <a16:creationId xmlns:a16="http://schemas.microsoft.com/office/drawing/2014/main" id="{ACB5723E-C8AD-C194-8197-5F1B63E889A5}"/>
              </a:ext>
            </a:extLst>
          </p:cNvPr>
          <p:cNvSpPr txBox="1">
            <a:spLocks/>
          </p:cNvSpPr>
          <p:nvPr/>
        </p:nvSpPr>
        <p:spPr>
          <a:xfrm>
            <a:off x="387193" y="5586144"/>
            <a:ext cx="11417614" cy="4768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Q: How do we decide between H</a:t>
            </a:r>
            <a:r>
              <a:rPr kumimoji="1" lang="en-NZ" altLang="ja-JP" sz="2000" b="1" i="0"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0</a:t>
            </a:r>
            <a:r>
              <a:rPr kumimoji="1" lang="en-NZ" altLang="ja-JP" sz="2000" b="1"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and H</a:t>
            </a:r>
            <a:r>
              <a:rPr kumimoji="1" lang="en-NZ" altLang="ja-JP" sz="2000" b="1" i="0"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1</a:t>
            </a:r>
            <a:r>
              <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if the ANOVA conditions are violated?</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6" name="Text Placeholder 5">
            <a:extLst>
              <a:ext uri="{FF2B5EF4-FFF2-40B4-BE49-F238E27FC236}">
                <a16:creationId xmlns:a16="http://schemas.microsoft.com/office/drawing/2014/main" id="{6728C1CE-501B-EE8F-737D-0F2FA17681D3}"/>
              </a:ext>
            </a:extLst>
          </p:cNvPr>
          <p:cNvSpPr txBox="1">
            <a:spLocks/>
          </p:cNvSpPr>
          <p:nvPr/>
        </p:nvSpPr>
        <p:spPr>
          <a:xfrm>
            <a:off x="387193" y="6078064"/>
            <a:ext cx="11417614" cy="4768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 We do a permutation test</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7" name="Picture 2" descr="Te Herenga Waka—Victoria University of Wellington | Universities New  Zealand - Te Pōkai Tara">
            <a:extLst>
              <a:ext uri="{FF2B5EF4-FFF2-40B4-BE49-F238E27FC236}">
                <a16:creationId xmlns:a16="http://schemas.microsoft.com/office/drawing/2014/main" id="{376ACAE8-4C8B-E75E-4B55-5A982FE0D8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99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41</a:t>
            </a:fld>
            <a:endParaRPr kumimoji="1" lang="ja-JP" altLang="en-US" dirty="0">
              <a:solidFill>
                <a:srgbClr val="575454">
                  <a:lumMod val="20000"/>
                  <a:lumOff val="80000"/>
                </a:srgbClr>
              </a:solidFill>
              <a:latin typeface="Coo Hew"/>
            </a:endParaRPr>
          </a:p>
        </p:txBody>
      </p:sp>
      <p:sp>
        <p:nvSpPr>
          <p:cNvPr id="22" name="Text Placeholder 5">
            <a:extLst>
              <a:ext uri="{FF2B5EF4-FFF2-40B4-BE49-F238E27FC236}">
                <a16:creationId xmlns:a16="http://schemas.microsoft.com/office/drawing/2014/main" id="{06DBB3C0-3715-40A7-80E0-A6F9B872D100}"/>
              </a:ext>
            </a:extLst>
          </p:cNvPr>
          <p:cNvSpPr txBox="1">
            <a:spLocks/>
          </p:cNvSpPr>
          <p:nvPr/>
        </p:nvSpPr>
        <p:spPr>
          <a:xfrm>
            <a:off x="319463" y="856807"/>
            <a:ext cx="11237916" cy="8430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rgbClr val="0070C0"/>
                </a:solidFill>
              </a:rPr>
              <a:t>As part of a transport study, data were collected on travel times from a certain suburb to the city centre during the morning rush hour. Three methods are to be compared, bus, private car and bicycle.</a:t>
            </a:r>
            <a:endParaRPr lang="en-US" altLang="ja-JP" sz="2000" b="1" i="1" dirty="0">
              <a:solidFill>
                <a:srgbClr val="0070C0"/>
              </a:solidFill>
            </a:endParaRPr>
          </a:p>
        </p:txBody>
      </p:sp>
      <p:graphicFrame>
        <p:nvGraphicFramePr>
          <p:cNvPr id="2" name="Table 1">
            <a:extLst>
              <a:ext uri="{FF2B5EF4-FFF2-40B4-BE49-F238E27FC236}">
                <a16:creationId xmlns:a16="http://schemas.microsoft.com/office/drawing/2014/main" id="{0C5C7799-AE7C-4DB9-B7C5-5D54DADAA41C}"/>
              </a:ext>
            </a:extLst>
          </p:cNvPr>
          <p:cNvGraphicFramePr>
            <a:graphicFrameLocks noGrp="1"/>
          </p:cNvGraphicFramePr>
          <p:nvPr>
            <p:extLst>
              <p:ext uri="{D42A27DB-BD31-4B8C-83A1-F6EECF244321}">
                <p14:modId xmlns:p14="http://schemas.microsoft.com/office/powerpoint/2010/main" val="3142736742"/>
              </p:ext>
            </p:extLst>
          </p:nvPr>
        </p:nvGraphicFramePr>
        <p:xfrm>
          <a:off x="903816" y="1819296"/>
          <a:ext cx="4703771" cy="1533592"/>
        </p:xfrm>
        <a:graphic>
          <a:graphicData uri="http://schemas.openxmlformats.org/drawingml/2006/table">
            <a:tbl>
              <a:tblPr/>
              <a:tblGrid>
                <a:gridCol w="1017980">
                  <a:extLst>
                    <a:ext uri="{9D8B030D-6E8A-4147-A177-3AD203B41FA5}">
                      <a16:colId xmlns:a16="http://schemas.microsoft.com/office/drawing/2014/main" val="4037610628"/>
                    </a:ext>
                  </a:extLst>
                </a:gridCol>
                <a:gridCol w="549943">
                  <a:extLst>
                    <a:ext uri="{9D8B030D-6E8A-4147-A177-3AD203B41FA5}">
                      <a16:colId xmlns:a16="http://schemas.microsoft.com/office/drawing/2014/main" val="590370213"/>
                    </a:ext>
                  </a:extLst>
                </a:gridCol>
                <a:gridCol w="783962">
                  <a:extLst>
                    <a:ext uri="{9D8B030D-6E8A-4147-A177-3AD203B41FA5}">
                      <a16:colId xmlns:a16="http://schemas.microsoft.com/office/drawing/2014/main" val="3452557641"/>
                    </a:ext>
                  </a:extLst>
                </a:gridCol>
                <a:gridCol w="783962">
                  <a:extLst>
                    <a:ext uri="{9D8B030D-6E8A-4147-A177-3AD203B41FA5}">
                      <a16:colId xmlns:a16="http://schemas.microsoft.com/office/drawing/2014/main" val="3162769819"/>
                    </a:ext>
                  </a:extLst>
                </a:gridCol>
                <a:gridCol w="783962">
                  <a:extLst>
                    <a:ext uri="{9D8B030D-6E8A-4147-A177-3AD203B41FA5}">
                      <a16:colId xmlns:a16="http://schemas.microsoft.com/office/drawing/2014/main" val="3968378480"/>
                    </a:ext>
                  </a:extLst>
                </a:gridCol>
                <a:gridCol w="783962">
                  <a:extLst>
                    <a:ext uri="{9D8B030D-6E8A-4147-A177-3AD203B41FA5}">
                      <a16:colId xmlns:a16="http://schemas.microsoft.com/office/drawing/2014/main" val="2641096747"/>
                    </a:ext>
                  </a:extLst>
                </a:gridCol>
              </a:tblGrid>
              <a:tr h="383398">
                <a:tc>
                  <a:txBody>
                    <a:bodyPr/>
                    <a:lstStyle/>
                    <a:p>
                      <a:pPr algn="ctr" fontAlgn="b"/>
                      <a:endParaRPr lang="en-NZ" sz="20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5">
                  <a:txBody>
                    <a:bodyPr/>
                    <a:lstStyle/>
                    <a:p>
                      <a:pPr algn="ctr" fontAlgn="b"/>
                      <a:r>
                        <a:rPr lang="en-NZ" sz="2000" b="1" i="0" u="none" strike="noStrike" dirty="0">
                          <a:solidFill>
                            <a:schemeClr val="bg1"/>
                          </a:solidFill>
                          <a:effectLst/>
                          <a:latin typeface="Calibri" panose="020F0502020204030204" pitchFamily="34" charset="0"/>
                        </a:rPr>
                        <a:t>Time in Mins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hMerge="1">
                  <a:txBody>
                    <a:bodyPr/>
                    <a:lstStyle/>
                    <a:p>
                      <a:pPr algn="ctr" fontAlgn="b"/>
                      <a:endParaRPr lang="en-NZ" sz="2000" b="0" i="0" u="none" strike="noStrike" dirty="0">
                        <a:solidFill>
                          <a:srgbClr val="C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77643406"/>
                  </a:ext>
                </a:extLst>
              </a:tr>
              <a:tr h="383398">
                <a:tc>
                  <a:txBody>
                    <a:bodyPr/>
                    <a:lstStyle/>
                    <a:p>
                      <a:pPr algn="ctr" fontAlgn="b"/>
                      <a:r>
                        <a:rPr lang="en-NZ" sz="2000" b="1" i="0" u="none" strike="noStrike" dirty="0">
                          <a:solidFill>
                            <a:srgbClr val="FFFFFF"/>
                          </a:solidFill>
                          <a:effectLst/>
                          <a:latin typeface="Calibri" panose="020F0502020204030204" pitchFamily="34" charset="0"/>
                        </a:rPr>
                        <a:t>Bus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976744"/>
                  </a:ext>
                </a:extLst>
              </a:tr>
              <a:tr h="383398">
                <a:tc>
                  <a:txBody>
                    <a:bodyPr/>
                    <a:lstStyle/>
                    <a:p>
                      <a:pPr algn="ctr" fontAlgn="b"/>
                      <a:r>
                        <a:rPr lang="en-NZ" sz="2000" b="1" i="0" u="none" strike="noStrike" dirty="0">
                          <a:solidFill>
                            <a:srgbClr val="FFFFFF"/>
                          </a:solidFill>
                          <a:effectLst/>
                          <a:latin typeface="Calibri" panose="020F0502020204030204" pitchFamily="34" charset="0"/>
                        </a:rPr>
                        <a:t>Car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endParaRPr lang="en-NZ" sz="1600" b="0" i="0" u="none" strike="noStrike" dirty="0">
                        <a:solidFill>
                          <a:schemeClr val="tx1"/>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56739895"/>
                  </a:ext>
                </a:extLst>
              </a:tr>
              <a:tr h="383398">
                <a:tc>
                  <a:txBody>
                    <a:bodyPr/>
                    <a:lstStyle/>
                    <a:p>
                      <a:pPr algn="ctr" fontAlgn="b"/>
                      <a:r>
                        <a:rPr lang="en-NZ" sz="2000" b="1" i="0" u="none" strike="noStrike" dirty="0">
                          <a:solidFill>
                            <a:srgbClr val="FFFFFF"/>
                          </a:solidFill>
                          <a:effectLst/>
                          <a:latin typeface="Calibri" panose="020F0502020204030204" pitchFamily="34" charset="0"/>
                        </a:rPr>
                        <a:t>Cycle</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0" i="0" u="none" strike="noStrike" dirty="0">
                          <a:solidFill>
                            <a:schemeClr val="tx1"/>
                          </a:solidFill>
                          <a:effectLst/>
                          <a:latin typeface="Calibri" panose="020F0502020204030204" pitchFamily="34" charset="0"/>
                        </a:rPr>
                        <a:t>29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30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chemeClr val="tx1"/>
                          </a:solidFill>
                          <a:effectLst/>
                          <a:latin typeface="Calibri" panose="020F0502020204030204" pitchFamily="34" charset="0"/>
                        </a:rPr>
                        <a:t>29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endParaRPr lang="en-NZ" sz="1600" b="0" i="0" u="none" strike="noStrike" dirty="0">
                        <a:solidFill>
                          <a:schemeClr val="tx1"/>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34097281"/>
                  </a:ext>
                </a:extLst>
              </a:tr>
            </a:tbl>
          </a:graphicData>
        </a:graphic>
      </p:graphicFrame>
      <p:sp>
        <p:nvSpPr>
          <p:cNvPr id="23" name="Text Placeholder 5">
            <a:extLst>
              <a:ext uri="{FF2B5EF4-FFF2-40B4-BE49-F238E27FC236}">
                <a16:creationId xmlns:a16="http://schemas.microsoft.com/office/drawing/2014/main" id="{2C143A60-C496-44B0-A55B-3584A1A49D44}"/>
              </a:ext>
            </a:extLst>
          </p:cNvPr>
          <p:cNvSpPr txBox="1">
            <a:spLocks/>
          </p:cNvSpPr>
          <p:nvPr/>
        </p:nvSpPr>
        <p:spPr>
          <a:xfrm>
            <a:off x="319463" y="3641748"/>
            <a:ext cx="11237916" cy="5054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2000" dirty="0">
                <a:solidFill>
                  <a:srgbClr val="0070C0"/>
                </a:solidFill>
              </a:rPr>
              <a:t>Does the mean travel time differ by mode of transport?</a:t>
            </a:r>
          </a:p>
        </p:txBody>
      </p:sp>
      <p:sp>
        <p:nvSpPr>
          <p:cNvPr id="26" name="Text Placeholder 5">
            <a:extLst>
              <a:ext uri="{FF2B5EF4-FFF2-40B4-BE49-F238E27FC236}">
                <a16:creationId xmlns:a16="http://schemas.microsoft.com/office/drawing/2014/main" id="{DBEB3E68-9B22-41B6-9B26-692BD2042DDD}"/>
              </a:ext>
            </a:extLst>
          </p:cNvPr>
          <p:cNvSpPr txBox="1">
            <a:spLocks/>
          </p:cNvSpPr>
          <p:nvPr/>
        </p:nvSpPr>
        <p:spPr>
          <a:xfrm>
            <a:off x="1937981" y="4289819"/>
            <a:ext cx="6760192"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b="1" dirty="0">
                <a:solidFill>
                  <a:schemeClr val="tx1"/>
                </a:solidFill>
              </a:rPr>
              <a:t>H</a:t>
            </a:r>
            <a:r>
              <a:rPr lang="en-NZ" altLang="ja-JP" sz="2000" b="1" baseline="-25000" dirty="0">
                <a:solidFill>
                  <a:schemeClr val="tx1"/>
                </a:solidFill>
              </a:rPr>
              <a:t>0</a:t>
            </a:r>
            <a:r>
              <a:rPr lang="en-NZ" altLang="ja-JP" sz="2000" b="1" dirty="0">
                <a:solidFill>
                  <a:schemeClr val="tx1"/>
                </a:solidFill>
              </a:rPr>
              <a:t>: </a:t>
            </a:r>
            <a:r>
              <a:rPr lang="en-NZ" altLang="ja-JP" sz="2000" dirty="0">
                <a:solidFill>
                  <a:schemeClr val="tx1"/>
                </a:solidFill>
              </a:rPr>
              <a:t>Mean travel time is the same across all transport modes</a:t>
            </a:r>
          </a:p>
          <a:p>
            <a:pPr algn="just">
              <a:lnSpc>
                <a:spcPct val="100000"/>
              </a:lnSpc>
            </a:pPr>
            <a:r>
              <a:rPr lang="en-NZ" altLang="ja-JP" sz="2000" b="1" dirty="0">
                <a:solidFill>
                  <a:schemeClr val="tx1"/>
                </a:solidFill>
              </a:rPr>
              <a:t>H</a:t>
            </a:r>
            <a:r>
              <a:rPr lang="en-NZ" altLang="ja-JP" sz="2000" b="1" baseline="-25000" dirty="0">
                <a:solidFill>
                  <a:schemeClr val="tx1"/>
                </a:solidFill>
              </a:rPr>
              <a:t>1</a:t>
            </a:r>
            <a:r>
              <a:rPr lang="en-NZ" altLang="ja-JP" sz="2000" b="1" dirty="0">
                <a:solidFill>
                  <a:schemeClr val="tx1"/>
                </a:solidFill>
              </a:rPr>
              <a:t>: </a:t>
            </a:r>
            <a:r>
              <a:rPr lang="en-NZ" altLang="ja-JP" sz="2000" dirty="0">
                <a:solidFill>
                  <a:schemeClr val="tx1"/>
                </a:solidFill>
              </a:rPr>
              <a:t>Mean travel time differs across some transport modes</a:t>
            </a:r>
          </a:p>
        </p:txBody>
      </p:sp>
      <p:sp>
        <p:nvSpPr>
          <p:cNvPr id="14" name="Title 6">
            <a:extLst>
              <a:ext uri="{FF2B5EF4-FFF2-40B4-BE49-F238E27FC236}">
                <a16:creationId xmlns:a16="http://schemas.microsoft.com/office/drawing/2014/main" id="{7E26098E-3C45-4BDB-951F-49424A94151B}"/>
              </a:ext>
            </a:extLst>
          </p:cNvPr>
          <p:cNvSpPr txBox="1">
            <a:spLocks/>
          </p:cNvSpPr>
          <p:nvPr/>
        </p:nvSpPr>
        <p:spPr>
          <a:xfrm>
            <a:off x="319463" y="196889"/>
            <a:ext cx="6599952"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6.5b – Transport Study Example:</a:t>
            </a:r>
            <a:endParaRPr lang="ja-JP" altLang="en-US" b="1" u="sng" dirty="0">
              <a:latin typeface="+mn-lt"/>
            </a:endParaRPr>
          </a:p>
        </p:txBody>
      </p:sp>
      <p:sp>
        <p:nvSpPr>
          <p:cNvPr id="11" name="Text Placeholder 5">
            <a:extLst>
              <a:ext uri="{FF2B5EF4-FFF2-40B4-BE49-F238E27FC236}">
                <a16:creationId xmlns:a16="http://schemas.microsoft.com/office/drawing/2014/main" id="{6FDE96B8-F8EF-4229-8B3F-A6F62E88197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6.5 – Transport Study Example (One Way ANOVA).</a:t>
            </a:r>
            <a:endParaRPr lang="en-US" altLang="ja-JP" sz="1200" b="1" i="1" dirty="0">
              <a:solidFill>
                <a:srgbClr val="C00000"/>
              </a:solidFill>
            </a:endParaRPr>
          </a:p>
        </p:txBody>
      </p:sp>
      <p:sp>
        <p:nvSpPr>
          <p:cNvPr id="3" name="Footer Placeholder 2">
            <a:extLst>
              <a:ext uri="{FF2B5EF4-FFF2-40B4-BE49-F238E27FC236}">
                <a16:creationId xmlns:a16="http://schemas.microsoft.com/office/drawing/2014/main" id="{989C22DE-A462-5AC1-E68A-8002ED9D5347}"/>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322212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42</a:t>
            </a:fld>
            <a:endParaRPr kumimoji="1" lang="ja-JP" altLang="en-US" dirty="0">
              <a:solidFill>
                <a:srgbClr val="575454">
                  <a:lumMod val="20000"/>
                  <a:lumOff val="80000"/>
                </a:srgbClr>
              </a:solidFill>
              <a:latin typeface="Coo Hew"/>
            </a:endParaRPr>
          </a:p>
        </p:txBody>
      </p:sp>
      <p:sp>
        <p:nvSpPr>
          <p:cNvPr id="17" name="Text Placeholder 5">
            <a:extLst>
              <a:ext uri="{FF2B5EF4-FFF2-40B4-BE49-F238E27FC236}">
                <a16:creationId xmlns:a16="http://schemas.microsoft.com/office/drawing/2014/main" id="{1BF16A87-CD61-4FB0-968C-41015FB902D5}"/>
              </a:ext>
            </a:extLst>
          </p:cNvPr>
          <p:cNvSpPr txBox="1">
            <a:spLocks/>
          </p:cNvSpPr>
          <p:nvPr/>
        </p:nvSpPr>
        <p:spPr>
          <a:xfrm>
            <a:off x="319463" y="899848"/>
            <a:ext cx="10190629" cy="11583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Normal theory ANOVA yields: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r>
              <a:rPr lang="en-NZ" altLang="ja-JP" sz="2000" dirty="0">
                <a:solidFill>
                  <a:schemeClr val="tx1"/>
                </a:solidFill>
              </a:rPr>
              <a:t>	</a:t>
            </a:r>
            <a:r>
              <a:rPr lang="en-NZ" altLang="ja-JP" sz="1800" b="1" i="1" dirty="0">
                <a:solidFill>
                  <a:schemeClr val="tx1"/>
                </a:solidFill>
              </a:rPr>
              <a:t>F-Statistic = 2.452,	</a:t>
            </a:r>
            <a:r>
              <a:rPr lang="en-NZ" altLang="ja-JP" sz="1800" b="1" i="1" dirty="0" err="1">
                <a:solidFill>
                  <a:schemeClr val="tx1"/>
                </a:solidFill>
              </a:rPr>
              <a:t>df</a:t>
            </a:r>
            <a:r>
              <a:rPr lang="en-NZ" altLang="ja-JP" sz="1800" b="1" i="1" dirty="0">
                <a:solidFill>
                  <a:schemeClr val="tx1"/>
                </a:solidFill>
              </a:rPr>
              <a:t> = (2,10),	p-value = 0.136</a:t>
            </a:r>
          </a:p>
          <a:p>
            <a:pPr algn="just">
              <a:lnSpc>
                <a:spcPct val="100000"/>
              </a:lnSpc>
            </a:pPr>
            <a:endParaRPr lang="en-NZ" altLang="ja-JP" sz="200" b="1" i="1" dirty="0">
              <a:solidFill>
                <a:schemeClr val="tx1"/>
              </a:solidFill>
            </a:endParaRPr>
          </a:p>
          <a:p>
            <a:pPr algn="just">
              <a:lnSpc>
                <a:spcPct val="100000"/>
              </a:lnSpc>
            </a:pPr>
            <a:endParaRPr lang="en-NZ" altLang="ja-JP" sz="200" b="1" i="1" dirty="0">
              <a:solidFill>
                <a:schemeClr val="tx1"/>
              </a:solidFill>
            </a:endParaRPr>
          </a:p>
          <a:p>
            <a:pPr algn="just">
              <a:lnSpc>
                <a:spcPct val="100000"/>
              </a:lnSpc>
            </a:pPr>
            <a:r>
              <a:rPr lang="en-NZ" altLang="ja-JP" sz="1800" dirty="0">
                <a:solidFill>
                  <a:schemeClr val="tx1"/>
                </a:solidFill>
              </a:rPr>
              <a:t>=&gt; No evidence against the null hypothesis.</a:t>
            </a:r>
          </a:p>
        </p:txBody>
      </p:sp>
      <p:sp>
        <p:nvSpPr>
          <p:cNvPr id="15" name="Text Placeholder 5">
            <a:extLst>
              <a:ext uri="{FF2B5EF4-FFF2-40B4-BE49-F238E27FC236}">
                <a16:creationId xmlns:a16="http://schemas.microsoft.com/office/drawing/2014/main" id="{F6059E0D-6235-4AE6-A67D-8EEBFDD7D3EE}"/>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6.5 – Transport Study Example (One Way ANOVA).</a:t>
            </a:r>
            <a:endParaRPr lang="en-US" altLang="ja-JP" sz="1200" b="1" i="1" dirty="0">
              <a:solidFill>
                <a:srgbClr val="C00000"/>
              </a:solidFill>
            </a:endParaRPr>
          </a:p>
        </p:txBody>
      </p:sp>
      <p:sp>
        <p:nvSpPr>
          <p:cNvPr id="2" name="Footer Placeholder 2">
            <a:extLst>
              <a:ext uri="{FF2B5EF4-FFF2-40B4-BE49-F238E27FC236}">
                <a16:creationId xmlns:a16="http://schemas.microsoft.com/office/drawing/2014/main" id="{5C22D190-D144-DF9C-AE41-D1DDFF2014E6}"/>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
        <p:nvSpPr>
          <p:cNvPr id="3" name="Title 6">
            <a:extLst>
              <a:ext uri="{FF2B5EF4-FFF2-40B4-BE49-F238E27FC236}">
                <a16:creationId xmlns:a16="http://schemas.microsoft.com/office/drawing/2014/main" id="{C1E4AC95-C371-BE01-5664-98C34616FB6B}"/>
              </a:ext>
            </a:extLst>
          </p:cNvPr>
          <p:cNvSpPr txBox="1">
            <a:spLocks/>
          </p:cNvSpPr>
          <p:nvPr/>
        </p:nvSpPr>
        <p:spPr>
          <a:xfrm>
            <a:off x="319463" y="196889"/>
            <a:ext cx="6599952"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6.5b – Transport Study Example:</a:t>
            </a:r>
            <a:endParaRPr lang="ja-JP" altLang="en-US" b="1" u="sng" dirty="0">
              <a:latin typeface="+mn-lt"/>
            </a:endParaRPr>
          </a:p>
        </p:txBody>
      </p:sp>
      <p:sp>
        <p:nvSpPr>
          <p:cNvPr id="6" name="Text Placeholder 5">
            <a:extLst>
              <a:ext uri="{FF2B5EF4-FFF2-40B4-BE49-F238E27FC236}">
                <a16:creationId xmlns:a16="http://schemas.microsoft.com/office/drawing/2014/main" id="{6C8904AB-0DBF-4BF9-CB84-FE6C5AD9E567}"/>
              </a:ext>
            </a:extLst>
          </p:cNvPr>
          <p:cNvSpPr txBox="1">
            <a:spLocks/>
          </p:cNvSpPr>
          <p:nvPr/>
        </p:nvSpPr>
        <p:spPr>
          <a:xfrm>
            <a:off x="319463" y="2185986"/>
            <a:ext cx="11303332" cy="7875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However, because sample size is small, no way to conclusively tell if ANOVA conditions are satisfied.</a:t>
            </a:r>
          </a:p>
          <a:p>
            <a:pPr algn="just">
              <a:lnSpc>
                <a:spcPct val="100000"/>
              </a:lnSpc>
            </a:pPr>
            <a:r>
              <a:rPr lang="en-NZ" altLang="ja-JP" sz="1800" dirty="0">
                <a:solidFill>
                  <a:schemeClr val="tx1"/>
                </a:solidFill>
              </a:rPr>
              <a:t>Quick inspection suggests that ANOVA conditions likely to be violated.</a:t>
            </a:r>
          </a:p>
        </p:txBody>
      </p:sp>
      <p:pic>
        <p:nvPicPr>
          <p:cNvPr id="13" name="Picture 12">
            <a:extLst>
              <a:ext uri="{FF2B5EF4-FFF2-40B4-BE49-F238E27FC236}">
                <a16:creationId xmlns:a16="http://schemas.microsoft.com/office/drawing/2014/main" id="{C7619906-31B6-F1AD-2A33-77C994E10C04}"/>
              </a:ext>
            </a:extLst>
          </p:cNvPr>
          <p:cNvPicPr>
            <a:picLocks noChangeAspect="1"/>
          </p:cNvPicPr>
          <p:nvPr/>
        </p:nvPicPr>
        <p:blipFill>
          <a:blip r:embed="rId3"/>
          <a:stretch>
            <a:fillRect/>
          </a:stretch>
        </p:blipFill>
        <p:spPr>
          <a:xfrm>
            <a:off x="429169" y="3581012"/>
            <a:ext cx="5655814" cy="2260833"/>
          </a:xfrm>
          <a:prstGeom prst="rect">
            <a:avLst/>
          </a:prstGeom>
        </p:spPr>
      </p:pic>
      <p:sp>
        <p:nvSpPr>
          <p:cNvPr id="16" name="Text Placeholder 5">
            <a:extLst>
              <a:ext uri="{FF2B5EF4-FFF2-40B4-BE49-F238E27FC236}">
                <a16:creationId xmlns:a16="http://schemas.microsoft.com/office/drawing/2014/main" id="{5E23C98E-30D5-BC1C-9718-D1317E1CF537}"/>
              </a:ext>
            </a:extLst>
          </p:cNvPr>
          <p:cNvSpPr txBox="1">
            <a:spLocks/>
          </p:cNvSpPr>
          <p:nvPr/>
        </p:nvSpPr>
        <p:spPr>
          <a:xfrm>
            <a:off x="308447" y="3118320"/>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Box-plot suggests non-constant variance across transport modes</a:t>
            </a:r>
          </a:p>
        </p:txBody>
      </p:sp>
      <p:sp>
        <p:nvSpPr>
          <p:cNvPr id="20" name="Text Placeholder 5">
            <a:extLst>
              <a:ext uri="{FF2B5EF4-FFF2-40B4-BE49-F238E27FC236}">
                <a16:creationId xmlns:a16="http://schemas.microsoft.com/office/drawing/2014/main" id="{83BD71F7-0E11-66F8-35BA-DC2084C0C6DF}"/>
              </a:ext>
            </a:extLst>
          </p:cNvPr>
          <p:cNvSpPr txBox="1">
            <a:spLocks/>
          </p:cNvSpPr>
          <p:nvPr/>
        </p:nvSpPr>
        <p:spPr>
          <a:xfrm>
            <a:off x="6521986" y="3118244"/>
            <a:ext cx="5339534" cy="39056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QQ-plot suggests travel time not normally distributed</a:t>
            </a:r>
          </a:p>
        </p:txBody>
      </p:sp>
      <p:pic>
        <p:nvPicPr>
          <p:cNvPr id="26" name="Picture 25">
            <a:extLst>
              <a:ext uri="{FF2B5EF4-FFF2-40B4-BE49-F238E27FC236}">
                <a16:creationId xmlns:a16="http://schemas.microsoft.com/office/drawing/2014/main" id="{D0238749-BC93-7252-FB57-82B2A82620AE}"/>
              </a:ext>
            </a:extLst>
          </p:cNvPr>
          <p:cNvPicPr>
            <a:picLocks noChangeAspect="1"/>
          </p:cNvPicPr>
          <p:nvPr/>
        </p:nvPicPr>
        <p:blipFill>
          <a:blip r:embed="rId4"/>
          <a:stretch>
            <a:fillRect/>
          </a:stretch>
        </p:blipFill>
        <p:spPr>
          <a:xfrm>
            <a:off x="6184434" y="3660392"/>
            <a:ext cx="5556363" cy="2260833"/>
          </a:xfrm>
          <a:prstGeom prst="rect">
            <a:avLst/>
          </a:prstGeom>
        </p:spPr>
      </p:pic>
      <p:sp>
        <p:nvSpPr>
          <p:cNvPr id="27" name="Text Placeholder 5">
            <a:extLst>
              <a:ext uri="{FF2B5EF4-FFF2-40B4-BE49-F238E27FC236}">
                <a16:creationId xmlns:a16="http://schemas.microsoft.com/office/drawing/2014/main" id="{6982D9E5-4B41-2E38-2F7D-1CCAD89EC4C4}"/>
              </a:ext>
            </a:extLst>
          </p:cNvPr>
          <p:cNvSpPr txBox="1">
            <a:spLocks/>
          </p:cNvSpPr>
          <p:nvPr/>
        </p:nvSpPr>
        <p:spPr>
          <a:xfrm>
            <a:off x="1807632" y="6082534"/>
            <a:ext cx="8911779"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b="1" dirty="0">
                <a:solidFill>
                  <a:srgbClr val="0070C0"/>
                </a:solidFill>
              </a:rPr>
              <a:t>Must conduct permutation test</a:t>
            </a:r>
          </a:p>
        </p:txBody>
      </p:sp>
    </p:spTree>
    <p:extLst>
      <p:ext uri="{BB962C8B-B14F-4D97-AF65-F5344CB8AC3E}">
        <p14:creationId xmlns:p14="http://schemas.microsoft.com/office/powerpoint/2010/main" val="26986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P spid="20" grpId="0"/>
      <p:bldP spid="2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F840AA-BA19-CFEF-CC61-A0DC6A1615B3}"/>
              </a:ext>
            </a:extLst>
          </p:cNvPr>
          <p:cNvPicPr>
            <a:picLocks noChangeAspect="1"/>
          </p:cNvPicPr>
          <p:nvPr/>
        </p:nvPicPr>
        <p:blipFill>
          <a:blip r:embed="rId2"/>
          <a:stretch>
            <a:fillRect/>
          </a:stretch>
        </p:blipFill>
        <p:spPr>
          <a:xfrm>
            <a:off x="319463" y="1536470"/>
            <a:ext cx="7543194" cy="4098862"/>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43</a:t>
            </a:fld>
            <a:endParaRPr kumimoji="1" lang="ja-JP" altLang="en-US" dirty="0">
              <a:solidFill>
                <a:srgbClr val="575454">
                  <a:lumMod val="20000"/>
                  <a:lumOff val="80000"/>
                </a:srgbClr>
              </a:solidFill>
              <a:latin typeface="Coo Hew"/>
            </a:endParaRPr>
          </a:p>
        </p:txBody>
      </p:sp>
      <p:sp>
        <p:nvSpPr>
          <p:cNvPr id="23" name="Text Placeholder 5">
            <a:extLst>
              <a:ext uri="{FF2B5EF4-FFF2-40B4-BE49-F238E27FC236}">
                <a16:creationId xmlns:a16="http://schemas.microsoft.com/office/drawing/2014/main" id="{0A012ECD-8CC3-4768-8B4A-E9154DA374C8}"/>
              </a:ext>
            </a:extLst>
          </p:cNvPr>
          <p:cNvSpPr txBox="1">
            <a:spLocks/>
          </p:cNvSpPr>
          <p:nvPr/>
        </p:nvSpPr>
        <p:spPr>
          <a:xfrm>
            <a:off x="1807633" y="1749979"/>
            <a:ext cx="135743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C00000"/>
                </a:solidFill>
              </a:rPr>
              <a:t>F</a:t>
            </a:r>
            <a:r>
              <a:rPr lang="en-NZ" altLang="ja-JP" sz="1800" b="1" i="1" baseline="-25000" dirty="0">
                <a:solidFill>
                  <a:srgbClr val="C00000"/>
                </a:solidFill>
              </a:rPr>
              <a:t>obs</a:t>
            </a:r>
            <a:r>
              <a:rPr lang="en-NZ" altLang="ja-JP" sz="1800" b="1" i="1" dirty="0">
                <a:solidFill>
                  <a:srgbClr val="C00000"/>
                </a:solidFill>
              </a:rPr>
              <a:t> = 2.452</a:t>
            </a:r>
          </a:p>
          <a:p>
            <a:pPr algn="just">
              <a:lnSpc>
                <a:spcPct val="100000"/>
              </a:lnSpc>
            </a:pPr>
            <a:r>
              <a:rPr lang="en-NZ" altLang="ja-JP" sz="1800" b="1" i="1" dirty="0">
                <a:solidFill>
                  <a:srgbClr val="C00000"/>
                </a:solidFill>
              </a:rPr>
              <a:t>  </a:t>
            </a:r>
          </a:p>
          <a:p>
            <a:pPr algn="just">
              <a:lnSpc>
                <a:spcPct val="100000"/>
              </a:lnSpc>
            </a:pPr>
            <a:endParaRPr lang="en-NZ" altLang="ja-JP" sz="1800" b="1" i="1" dirty="0">
              <a:solidFill>
                <a:srgbClr val="C00000"/>
              </a:solidFill>
            </a:endParaRPr>
          </a:p>
          <a:p>
            <a:pPr algn="just">
              <a:lnSpc>
                <a:spcPct val="100000"/>
              </a:lnSpc>
            </a:pPr>
            <a:endParaRPr lang="en-NZ" altLang="ja-JP" sz="1800" b="1" i="1" dirty="0">
              <a:solidFill>
                <a:srgbClr val="C00000"/>
              </a:solidFill>
            </a:endParaRPr>
          </a:p>
        </p:txBody>
      </p:sp>
      <p:sp>
        <p:nvSpPr>
          <p:cNvPr id="25" name="Text Placeholder 5">
            <a:extLst>
              <a:ext uri="{FF2B5EF4-FFF2-40B4-BE49-F238E27FC236}">
                <a16:creationId xmlns:a16="http://schemas.microsoft.com/office/drawing/2014/main" id="{906A4386-971B-4F31-A2C3-9371DF782EF0}"/>
              </a:ext>
            </a:extLst>
          </p:cNvPr>
          <p:cNvSpPr txBox="1">
            <a:spLocks/>
          </p:cNvSpPr>
          <p:nvPr/>
        </p:nvSpPr>
        <p:spPr>
          <a:xfrm>
            <a:off x="7715440" y="3471311"/>
            <a:ext cx="4132719" cy="991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Permutation test yields no evidence against null hypothesis that travel time is the same across all modes</a:t>
            </a:r>
          </a:p>
        </p:txBody>
      </p:sp>
      <p:sp>
        <p:nvSpPr>
          <p:cNvPr id="16" name="Text Placeholder 5">
            <a:extLst>
              <a:ext uri="{FF2B5EF4-FFF2-40B4-BE49-F238E27FC236}">
                <a16:creationId xmlns:a16="http://schemas.microsoft.com/office/drawing/2014/main" id="{15A2A086-6DC4-4B27-A0F9-D966FBF4292E}"/>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6.5 – Transport Study Example (One Way ANOVA).</a:t>
            </a:r>
            <a:endParaRPr lang="en-US" altLang="ja-JP" sz="1200" b="1" i="1" dirty="0">
              <a:solidFill>
                <a:srgbClr val="C00000"/>
              </a:solidFill>
            </a:endParaRPr>
          </a:p>
        </p:txBody>
      </p:sp>
      <p:sp>
        <p:nvSpPr>
          <p:cNvPr id="2" name="Footer Placeholder 2">
            <a:extLst>
              <a:ext uri="{FF2B5EF4-FFF2-40B4-BE49-F238E27FC236}">
                <a16:creationId xmlns:a16="http://schemas.microsoft.com/office/drawing/2014/main" id="{F37B9474-826C-866F-9515-EEDE6BD899E6}"/>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
        <p:nvSpPr>
          <p:cNvPr id="5" name="Title 6">
            <a:extLst>
              <a:ext uri="{FF2B5EF4-FFF2-40B4-BE49-F238E27FC236}">
                <a16:creationId xmlns:a16="http://schemas.microsoft.com/office/drawing/2014/main" id="{E1B5F6D1-4967-79B5-C195-06CF4A9797F9}"/>
              </a:ext>
            </a:extLst>
          </p:cNvPr>
          <p:cNvSpPr txBox="1">
            <a:spLocks/>
          </p:cNvSpPr>
          <p:nvPr/>
        </p:nvSpPr>
        <p:spPr>
          <a:xfrm>
            <a:off x="319463" y="196889"/>
            <a:ext cx="6599952"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6.5b – Transport Study Example:</a:t>
            </a:r>
            <a:endParaRPr lang="ja-JP" altLang="en-US" b="1" u="sng" dirty="0">
              <a:latin typeface="+mn-lt"/>
            </a:endParaRPr>
          </a:p>
        </p:txBody>
      </p:sp>
      <p:sp>
        <p:nvSpPr>
          <p:cNvPr id="9" name="Text Placeholder 5">
            <a:extLst>
              <a:ext uri="{FF2B5EF4-FFF2-40B4-BE49-F238E27FC236}">
                <a16:creationId xmlns:a16="http://schemas.microsoft.com/office/drawing/2014/main" id="{678A9F30-30F2-DBC2-8501-291AE68B7777}"/>
              </a:ext>
            </a:extLst>
          </p:cNvPr>
          <p:cNvSpPr txBox="1">
            <a:spLocks/>
          </p:cNvSpPr>
          <p:nvPr/>
        </p:nvSpPr>
        <p:spPr>
          <a:xfrm>
            <a:off x="390847" y="1180890"/>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B7CA0A59-03D8-04CE-EA8E-43F54A7417FA}"/>
                  </a:ext>
                </a:extLst>
              </p:cNvPr>
              <p:cNvSpPr txBox="1">
                <a:spLocks/>
              </p:cNvSpPr>
              <p:nvPr/>
            </p:nvSpPr>
            <p:spPr>
              <a:xfrm>
                <a:off x="7715440" y="2224932"/>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i="1" dirty="0">
                    <a:solidFill>
                      <a:schemeClr val="tx1"/>
                    </a:solidFill>
                  </a:rPr>
                  <a:t>F</a:t>
                </a:r>
                <a:r>
                  <a:rPr lang="en-NZ" altLang="ja-JP" sz="1600" b="1" i="1" baseline="-25000" dirty="0" err="1">
                    <a:solidFill>
                      <a:schemeClr val="tx1"/>
                    </a:solidFill>
                  </a:rPr>
                  <a:t>Obs</a:t>
                </a:r>
                <a:r>
                  <a:rPr lang="en-NZ" altLang="ja-JP" sz="1600" b="1" i="1" dirty="0">
                    <a:solidFill>
                      <a:schemeClr val="tx1"/>
                    </a:solidFill>
                  </a:rPr>
                  <a:t>  </a:t>
                </a:r>
                <a:r>
                  <a:rPr lang="en-NZ" altLang="ja-JP" sz="1600" dirty="0">
                    <a:solidFill>
                      <a:schemeClr val="tx1"/>
                    </a:solidFill>
                  </a:rPr>
                  <a:t>lies in the 86.3</a:t>
                </a:r>
                <a:r>
                  <a:rPr lang="en-NZ" altLang="ja-JP" sz="1600" baseline="30000" dirty="0">
                    <a:solidFill>
                      <a:schemeClr val="tx1"/>
                    </a:solidFill>
                  </a:rPr>
                  <a:t>rd</a:t>
                </a:r>
                <a:r>
                  <a:rPr lang="en-NZ" altLang="ja-JP" sz="1600" dirty="0">
                    <a:solidFill>
                      <a:schemeClr val="tx1"/>
                    </a:solidFill>
                  </a:rPr>
                  <a:t> percentile of F-statistic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𝟏𝟑𝟕</m:t>
                      </m:r>
                    </m:oMath>
                  </m:oMathPara>
                </a14:m>
                <a:endParaRPr lang="en-NZ" altLang="ja-JP" sz="1600" b="1" dirty="0">
                  <a:solidFill>
                    <a:schemeClr val="tx1"/>
                  </a:solidFill>
                </a:endParaRPr>
              </a:p>
            </p:txBody>
          </p:sp>
        </mc:Choice>
        <mc:Fallback xmlns="">
          <p:sp>
            <p:nvSpPr>
              <p:cNvPr id="10" name="Text Placeholder 5">
                <a:extLst>
                  <a:ext uri="{FF2B5EF4-FFF2-40B4-BE49-F238E27FC236}">
                    <a16:creationId xmlns:a16="http://schemas.microsoft.com/office/drawing/2014/main" id="{B7CA0A59-03D8-04CE-EA8E-43F54A7417FA}"/>
                  </a:ext>
                </a:extLst>
              </p:cNvPr>
              <p:cNvSpPr txBox="1">
                <a:spLocks noRot="1" noChangeAspect="1" noMove="1" noResize="1" noEditPoints="1" noAdjustHandles="1" noChangeArrowheads="1" noChangeShapeType="1" noTextEdit="1"/>
              </p:cNvSpPr>
              <p:nvPr/>
            </p:nvSpPr>
            <p:spPr>
              <a:xfrm>
                <a:off x="7715440" y="2224932"/>
                <a:ext cx="4132719" cy="1169215"/>
              </a:xfrm>
              <a:prstGeom prst="rect">
                <a:avLst/>
              </a:prstGeom>
              <a:blipFill>
                <a:blip r:embed="rId4"/>
                <a:stretch>
                  <a:fillRect l="-885" t="-1563" r="-737"/>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9F181EB8-2BC1-9714-7A25-CDCB90ABC023}"/>
              </a:ext>
            </a:extLst>
          </p:cNvPr>
          <p:cNvSpPr txBox="1">
            <a:spLocks/>
          </p:cNvSpPr>
          <p:nvPr/>
        </p:nvSpPr>
        <p:spPr>
          <a:xfrm>
            <a:off x="7715439" y="4531387"/>
            <a:ext cx="4132719" cy="3555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i="1" dirty="0">
                <a:solidFill>
                  <a:schemeClr val="bg2">
                    <a:lumMod val="50000"/>
                  </a:schemeClr>
                </a:solidFill>
              </a:rPr>
              <a:t>Approx 1.72 seconds to run</a:t>
            </a:r>
            <a:endParaRPr lang="en-NZ" altLang="ja-JP" sz="1600" dirty="0">
              <a:solidFill>
                <a:schemeClr val="bg2">
                  <a:lumMod val="50000"/>
                </a:schemeClr>
              </a:solidFill>
            </a:endParaRPr>
          </a:p>
        </p:txBody>
      </p:sp>
    </p:spTree>
    <p:extLst>
      <p:ext uri="{BB962C8B-B14F-4D97-AF65-F5344CB8AC3E}">
        <p14:creationId xmlns:p14="http://schemas.microsoft.com/office/powerpoint/2010/main" val="300317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44</a:t>
            </a:fld>
            <a:endParaRPr kumimoji="1" lang="ja-JP" altLang="en-US" dirty="0">
              <a:solidFill>
                <a:srgbClr val="575454">
                  <a:lumMod val="20000"/>
                  <a:lumOff val="80000"/>
                </a:srgbClr>
              </a:solidFill>
              <a:latin typeface="Coo Hew"/>
            </a:endParaRPr>
          </a:p>
        </p:txBody>
      </p:sp>
      <p:sp>
        <p:nvSpPr>
          <p:cNvPr id="16" name="Text Placeholder 5">
            <a:extLst>
              <a:ext uri="{FF2B5EF4-FFF2-40B4-BE49-F238E27FC236}">
                <a16:creationId xmlns:a16="http://schemas.microsoft.com/office/drawing/2014/main" id="{C0A8DE6A-2756-47E6-9372-08FDDF6339E5}"/>
              </a:ext>
            </a:extLst>
          </p:cNvPr>
          <p:cNvSpPr txBox="1">
            <a:spLocks/>
          </p:cNvSpPr>
          <p:nvPr/>
        </p:nvSpPr>
        <p:spPr>
          <a:xfrm>
            <a:off x="319463" y="856808"/>
            <a:ext cx="6490770" cy="473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In the previous example, we used the usual ANOVA F-statistic</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1D34D5A8-C4FF-422C-B06E-2A7AD5BECFDF}"/>
                  </a:ext>
                </a:extLst>
              </p:cNvPr>
              <p:cNvSpPr txBox="1">
                <a:spLocks/>
              </p:cNvSpPr>
              <p:nvPr/>
            </p:nvSpPr>
            <p:spPr>
              <a:xfrm>
                <a:off x="450373" y="1330225"/>
                <a:ext cx="7963052" cy="13583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0" i="1" smtClean="0">
                          <a:solidFill>
                            <a:schemeClr val="tx1"/>
                          </a:solidFill>
                          <a:latin typeface="Cambria Math" panose="02040503050406030204" pitchFamily="18" charset="0"/>
                        </a:rPr>
                        <m:t>𝐹</m:t>
                      </m:r>
                      <m:r>
                        <a:rPr lang="en-NZ" altLang="ja-JP" sz="1800" b="0" i="1" smtClean="0">
                          <a:solidFill>
                            <a:schemeClr val="tx1"/>
                          </a:solidFill>
                          <a:latin typeface="Cambria Math" panose="02040503050406030204" pitchFamily="18" charset="0"/>
                        </a:rPr>
                        <m:t>  =   </m:t>
                      </m:r>
                      <m:f>
                        <m:fPr>
                          <m:ctrlPr>
                            <a:rPr lang="en-NZ" altLang="ja-JP" sz="1800" b="0" i="1" smtClean="0">
                              <a:solidFill>
                                <a:schemeClr val="tx1"/>
                              </a:solidFill>
                              <a:latin typeface="Cambria Math" panose="02040503050406030204" pitchFamily="18" charset="0"/>
                            </a:rPr>
                          </m:ctrlPr>
                        </m:fPr>
                        <m:num>
                          <m:f>
                            <m:fPr>
                              <m:type m:val="lin"/>
                              <m:ctrlPr>
                                <a:rPr lang="en-NZ" altLang="ja-JP" sz="1800" b="0" i="1" smtClean="0">
                                  <a:solidFill>
                                    <a:schemeClr val="tx1"/>
                                  </a:solidFill>
                                  <a:latin typeface="Cambria Math" panose="02040503050406030204" pitchFamily="18" charset="0"/>
                                </a:rPr>
                              </m:ctrlPr>
                            </m:fPr>
                            <m:num>
                              <m:d>
                                <m:dPr>
                                  <m:ctrlPr>
                                    <a:rPr lang="en-NZ" altLang="ja-JP" sz="1800" i="1">
                                      <a:solidFill>
                                        <a:schemeClr val="tx1"/>
                                      </a:solidFill>
                                      <a:latin typeface="Cambria Math" panose="02040503050406030204" pitchFamily="18" charset="0"/>
                                    </a:rPr>
                                  </m:ctrlPr>
                                </m:dPr>
                                <m:e>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m:t>
                                      </m:r>
                                      <m:r>
                                        <m:rPr>
                                          <m:brk m:alnAt="23"/>
                                        </m:rPr>
                                        <a:rPr lang="en-NZ" altLang="ja-JP" sz="1800" i="1">
                                          <a:solidFill>
                                            <a:schemeClr val="tx1"/>
                                          </a:solidFill>
                                          <a:latin typeface="Cambria Math" panose="02040503050406030204" pitchFamily="18" charset="0"/>
                                        </a:rPr>
                                        <m:t>1</m:t>
                                      </m:r>
                                    </m:sub>
                                    <m:sup>
                                      <m:r>
                                        <a:rPr lang="en-NZ" altLang="ja-JP" sz="1800" i="1">
                                          <a:solidFill>
                                            <a:schemeClr val="tx1"/>
                                          </a:solidFill>
                                          <a:latin typeface="Cambria Math" panose="02040503050406030204" pitchFamily="18" charset="0"/>
                                        </a:rPr>
                                        <m:t>𝑘</m:t>
                                      </m:r>
                                    </m:sup>
                                    <m:e>
                                      <m:f>
                                        <m:fPr>
                                          <m:ctrlPr>
                                            <a:rPr lang="en-NZ" altLang="ja-JP" sz="1800" i="1">
                                              <a:solidFill>
                                                <a:schemeClr val="tx1"/>
                                              </a:solidFill>
                                              <a:latin typeface="Cambria Math" panose="02040503050406030204" pitchFamily="18" charset="0"/>
                                            </a:rPr>
                                          </m:ctrlPr>
                                        </m:fPr>
                                        <m:num>
                                          <m:sSubSup>
                                            <m:sSubSupPr>
                                              <m:ctrlPr>
                                                <a:rPr lang="en-NZ" altLang="ja-JP" sz="1800" i="1">
                                                  <a:solidFill>
                                                    <a:schemeClr val="tx1"/>
                                                  </a:solidFill>
                                                  <a:latin typeface="Cambria Math" panose="02040503050406030204" pitchFamily="18" charset="0"/>
                                                </a:rPr>
                                              </m:ctrlPr>
                                            </m:sSubSupPr>
                                            <m:e>
                                              <m:r>
                                                <a:rPr lang="en-NZ" altLang="ja-JP" sz="1800" i="1">
                                                  <a:solidFill>
                                                    <a:schemeClr val="tx1"/>
                                                  </a:solidFill>
                                                  <a:latin typeface="Cambria Math" panose="02040503050406030204" pitchFamily="18" charset="0"/>
                                                </a:rPr>
                                                <m:t>𝑇</m:t>
                                              </m:r>
                                            </m:e>
                                            <m:sub>
                                              <m:r>
                                                <a:rPr lang="en-NZ" altLang="ja-JP" sz="1800" i="1">
                                                  <a:solidFill>
                                                    <a:schemeClr val="tx1"/>
                                                  </a:solidFill>
                                                  <a:latin typeface="Cambria Math" panose="02040503050406030204" pitchFamily="18" charset="0"/>
                                                </a:rPr>
                                                <m:t>𝑖</m:t>
                                              </m:r>
                                            </m:sub>
                                            <m:sup>
                                              <m:r>
                                                <a:rPr lang="en-NZ" altLang="ja-JP" sz="1800" i="1">
                                                  <a:solidFill>
                                                    <a:schemeClr val="tx1"/>
                                                  </a:solidFill>
                                                  <a:latin typeface="Cambria Math" panose="02040503050406030204" pitchFamily="18" charset="0"/>
                                                </a:rPr>
                                                <m:t>2</m:t>
                                              </m:r>
                                            </m:sup>
                                          </m:sSubSup>
                                        </m:num>
                                        <m:den>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𝑛</m:t>
                                              </m:r>
                                            </m:e>
                                            <m:sub>
                                              <m:r>
                                                <a:rPr lang="en-NZ" altLang="ja-JP" sz="1800" i="1">
                                                  <a:solidFill>
                                                    <a:schemeClr val="tx1"/>
                                                  </a:solidFill>
                                                  <a:latin typeface="Cambria Math" panose="02040503050406030204" pitchFamily="18" charset="0"/>
                                                </a:rPr>
                                                <m:t>𝑖</m:t>
                                              </m:r>
                                            </m:sub>
                                          </m:sSub>
                                        </m:den>
                                      </m:f>
                                    </m:e>
                                  </m:nary>
                                  <m:r>
                                    <a:rPr lang="en-NZ" altLang="ja-JP" sz="1800" i="1">
                                      <a:solidFill>
                                        <a:schemeClr val="tx1"/>
                                      </a:solidFill>
                                      <a:latin typeface="Cambria Math" panose="02040503050406030204" pitchFamily="18" charset="0"/>
                                    </a:rPr>
                                    <m:t>   −   </m:t>
                                  </m:r>
                                  <m:f>
                                    <m:fPr>
                                      <m:ctrlPr>
                                        <a:rPr lang="en-NZ" altLang="ja-JP" sz="1800" i="1">
                                          <a:solidFill>
                                            <a:schemeClr val="tx1"/>
                                          </a:solidFill>
                                          <a:latin typeface="Cambria Math" panose="02040503050406030204" pitchFamily="18" charset="0"/>
                                        </a:rPr>
                                      </m:ctrlPr>
                                    </m:fPr>
                                    <m:num>
                                      <m:sSup>
                                        <m:sSupPr>
                                          <m:ctrlPr>
                                            <a:rPr lang="en-NZ" altLang="ja-JP" sz="1800" i="1">
                                              <a:solidFill>
                                                <a:schemeClr val="tx1"/>
                                              </a:solidFill>
                                              <a:latin typeface="Cambria Math" panose="02040503050406030204" pitchFamily="18" charset="0"/>
                                            </a:rPr>
                                          </m:ctrlPr>
                                        </m:sSupPr>
                                        <m:e>
                                          <m:r>
                                            <a:rPr lang="en-NZ" altLang="ja-JP" sz="1800" i="1">
                                              <a:solidFill>
                                                <a:schemeClr val="tx1"/>
                                              </a:solidFill>
                                              <a:latin typeface="Cambria Math" panose="02040503050406030204" pitchFamily="18" charset="0"/>
                                            </a:rPr>
                                            <m:t>𝐺</m:t>
                                          </m:r>
                                        </m:e>
                                        <m:sup>
                                          <m:r>
                                            <a:rPr lang="en-NZ" altLang="ja-JP" sz="1800" i="1">
                                              <a:solidFill>
                                                <a:schemeClr val="tx1"/>
                                              </a:solidFill>
                                              <a:latin typeface="Cambria Math" panose="02040503050406030204" pitchFamily="18" charset="0"/>
                                            </a:rPr>
                                            <m:t>2</m:t>
                                          </m:r>
                                        </m:sup>
                                      </m:sSup>
                                    </m:num>
                                    <m:den>
                                      <m:r>
                                        <a:rPr lang="en-NZ" altLang="ja-JP" sz="1800" b="0" i="1" smtClean="0">
                                          <a:solidFill>
                                            <a:schemeClr val="tx1"/>
                                          </a:solidFill>
                                          <a:latin typeface="Cambria Math" panose="02040503050406030204" pitchFamily="18" charset="0"/>
                                        </a:rPr>
                                        <m:t>𝑁</m:t>
                                      </m:r>
                                    </m:den>
                                  </m:f>
                                </m:e>
                              </m:d>
                              <m:r>
                                <a:rPr lang="en-NZ" altLang="ja-JP" sz="1800" b="0" i="1" smtClean="0">
                                  <a:solidFill>
                                    <a:schemeClr val="tx1"/>
                                  </a:solidFill>
                                  <a:latin typeface="Cambria Math" panose="02040503050406030204" pitchFamily="18" charset="0"/>
                                </a:rPr>
                                <m:t> </m:t>
                              </m:r>
                            </m:num>
                            <m:den>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den>
                          </m:f>
                        </m:num>
                        <m:den>
                          <m:f>
                            <m:fPr>
                              <m:type m:val="lin"/>
                              <m:ctrlPr>
                                <a:rPr lang="en-NZ" altLang="ja-JP" sz="1800" i="1" smtClean="0">
                                  <a:solidFill>
                                    <a:schemeClr val="tx1"/>
                                  </a:solidFill>
                                  <a:latin typeface="Cambria Math" panose="02040503050406030204" pitchFamily="18" charset="0"/>
                                </a:rPr>
                              </m:ctrlPr>
                            </m:fPr>
                            <m:num>
                              <m:d>
                                <m:dPr>
                                  <m:ctrlPr>
                                    <a:rPr lang="en-NZ" altLang="ja-JP" sz="1800" i="1">
                                      <a:solidFill>
                                        <a:schemeClr val="tx1"/>
                                      </a:solidFill>
                                      <a:latin typeface="Cambria Math" panose="02040503050406030204" pitchFamily="18" charset="0"/>
                                    </a:rPr>
                                  </m:ctrlPr>
                                </m:dPr>
                                <m:e>
                                  <m:r>
                                    <a:rPr lang="en-NZ" altLang="ja-JP" sz="1800" i="1">
                                      <a:solidFill>
                                        <a:schemeClr val="tx1"/>
                                      </a:solidFill>
                                      <a:latin typeface="Cambria Math" panose="02040503050406030204" pitchFamily="18" charset="0"/>
                                    </a:rPr>
                                    <m:t> </m:t>
                                  </m:r>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m:t>
                                      </m:r>
                                    </m:sub>
                                    <m:sup>
                                      <m:r>
                                        <a:rPr lang="en-NZ" altLang="ja-JP" sz="1800" i="1">
                                          <a:solidFill>
                                            <a:schemeClr val="tx1"/>
                                          </a:solidFill>
                                          <a:latin typeface="Cambria Math" panose="02040503050406030204" pitchFamily="18" charset="0"/>
                                        </a:rPr>
                                        <m:t>𝑘</m:t>
                                      </m:r>
                                    </m:sup>
                                    <m:e>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𝑗</m:t>
                                          </m:r>
                                          <m:r>
                                            <a:rPr lang="en-NZ" altLang="ja-JP" sz="1800" i="1">
                                              <a:solidFill>
                                                <a:schemeClr val="tx1"/>
                                              </a:solidFill>
                                              <a:latin typeface="Cambria Math" panose="02040503050406030204" pitchFamily="18" charset="0"/>
                                            </a:rPr>
                                            <m:t>=1</m:t>
                                          </m:r>
                                        </m:sub>
                                        <m:sup>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𝑛</m:t>
                                              </m:r>
                                            </m:e>
                                            <m:sub>
                                              <m:r>
                                                <a:rPr lang="en-NZ" altLang="ja-JP" sz="1800" i="1">
                                                  <a:solidFill>
                                                    <a:schemeClr val="tx1"/>
                                                  </a:solidFill>
                                                  <a:latin typeface="Cambria Math" panose="02040503050406030204" pitchFamily="18" charset="0"/>
                                                </a:rPr>
                                                <m:t>𝑖</m:t>
                                              </m:r>
                                            </m:sub>
                                          </m:sSub>
                                        </m:sup>
                                        <m:e>
                                          <m:sSubSup>
                                            <m:sSubSupPr>
                                              <m:ctrlPr>
                                                <a:rPr lang="en-NZ" altLang="ja-JP" sz="1800" i="1">
                                                  <a:solidFill>
                                                    <a:schemeClr val="tx1"/>
                                                  </a:solidFill>
                                                  <a:latin typeface="Cambria Math" panose="02040503050406030204" pitchFamily="18" charset="0"/>
                                                </a:rPr>
                                              </m:ctrlPr>
                                            </m:sSubSup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𝑖𝑗</m:t>
                                              </m:r>
                                            </m:sub>
                                            <m:sup>
                                              <m:r>
                                                <a:rPr lang="en-NZ" altLang="ja-JP" sz="1800" i="1">
                                                  <a:solidFill>
                                                    <a:schemeClr val="tx1"/>
                                                  </a:solidFill>
                                                  <a:latin typeface="Cambria Math" panose="02040503050406030204" pitchFamily="18" charset="0"/>
                                                </a:rPr>
                                                <m:t>2</m:t>
                                              </m:r>
                                            </m:sup>
                                          </m:sSubSup>
                                        </m:e>
                                      </m:nary>
                                      <m:r>
                                        <a:rPr lang="en-NZ" altLang="ja-JP" sz="1800" i="1">
                                          <a:solidFill>
                                            <a:schemeClr val="tx1"/>
                                          </a:solidFill>
                                          <a:latin typeface="Cambria Math" panose="02040503050406030204" pitchFamily="18" charset="0"/>
                                        </a:rPr>
                                        <m:t>  −  </m:t>
                                      </m:r>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m:t>
                                          </m:r>
                                        </m:sub>
                                        <m:sup>
                                          <m:r>
                                            <a:rPr lang="en-NZ" altLang="ja-JP" sz="1800" i="1">
                                              <a:solidFill>
                                                <a:schemeClr val="tx1"/>
                                              </a:solidFill>
                                              <a:latin typeface="Cambria Math" panose="02040503050406030204" pitchFamily="18" charset="0"/>
                                            </a:rPr>
                                            <m:t>𝑘</m:t>
                                          </m:r>
                                        </m:sup>
                                        <m:e>
                                          <m:f>
                                            <m:fPr>
                                              <m:ctrlPr>
                                                <a:rPr lang="en-NZ" altLang="ja-JP" sz="1800" i="1">
                                                  <a:solidFill>
                                                    <a:schemeClr val="tx1"/>
                                                  </a:solidFill>
                                                  <a:latin typeface="Cambria Math" panose="02040503050406030204" pitchFamily="18" charset="0"/>
                                                </a:rPr>
                                              </m:ctrlPr>
                                            </m:fPr>
                                            <m:num>
                                              <m:sSubSup>
                                                <m:sSubSupPr>
                                                  <m:ctrlPr>
                                                    <a:rPr lang="en-NZ" altLang="ja-JP" sz="1800" i="1">
                                                      <a:solidFill>
                                                        <a:schemeClr val="tx1"/>
                                                      </a:solidFill>
                                                      <a:latin typeface="Cambria Math" panose="02040503050406030204" pitchFamily="18" charset="0"/>
                                                    </a:rPr>
                                                  </m:ctrlPr>
                                                </m:sSubSupPr>
                                                <m:e>
                                                  <m:r>
                                                    <a:rPr lang="en-NZ" altLang="ja-JP" sz="1800" i="1">
                                                      <a:solidFill>
                                                        <a:schemeClr val="tx1"/>
                                                      </a:solidFill>
                                                      <a:latin typeface="Cambria Math" panose="02040503050406030204" pitchFamily="18" charset="0"/>
                                                    </a:rPr>
                                                    <m:t>𝑇</m:t>
                                                  </m:r>
                                                </m:e>
                                                <m:sub>
                                                  <m:r>
                                                    <a:rPr lang="en-NZ" altLang="ja-JP" sz="1800" i="1">
                                                      <a:solidFill>
                                                        <a:schemeClr val="tx1"/>
                                                      </a:solidFill>
                                                      <a:latin typeface="Cambria Math" panose="02040503050406030204" pitchFamily="18" charset="0"/>
                                                    </a:rPr>
                                                    <m:t>𝑖</m:t>
                                                  </m:r>
                                                </m:sub>
                                                <m:sup>
                                                  <m:r>
                                                    <a:rPr lang="en-NZ" altLang="ja-JP" sz="1800" i="1">
                                                      <a:solidFill>
                                                        <a:schemeClr val="tx1"/>
                                                      </a:solidFill>
                                                      <a:latin typeface="Cambria Math" panose="02040503050406030204" pitchFamily="18" charset="0"/>
                                                    </a:rPr>
                                                    <m:t>2</m:t>
                                                  </m:r>
                                                </m:sup>
                                              </m:sSubSup>
                                            </m:num>
                                            <m:den>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𝑛</m:t>
                                                  </m:r>
                                                </m:e>
                                                <m:sub>
                                                  <m:r>
                                                    <a:rPr lang="en-NZ" altLang="ja-JP" sz="1800" i="1">
                                                      <a:solidFill>
                                                        <a:schemeClr val="tx1"/>
                                                      </a:solidFill>
                                                      <a:latin typeface="Cambria Math" panose="02040503050406030204" pitchFamily="18" charset="0"/>
                                                    </a:rPr>
                                                    <m:t>𝑖</m:t>
                                                  </m:r>
                                                </m:sub>
                                              </m:sSub>
                                            </m:den>
                                          </m:f>
                                        </m:e>
                                      </m:nary>
                                    </m:e>
                                  </m:nary>
                                  <m:r>
                                    <a:rPr lang="en-NZ" altLang="ja-JP" sz="1800" i="1">
                                      <a:solidFill>
                                        <a:schemeClr val="tx1"/>
                                      </a:solidFill>
                                      <a:latin typeface="Cambria Math" panose="02040503050406030204" pitchFamily="18" charset="0"/>
                                    </a:rPr>
                                    <m:t>  </m:t>
                                  </m:r>
                                </m:e>
                              </m:d>
                              <m:r>
                                <a:rPr lang="en-NZ" altLang="ja-JP" sz="1800" b="0" i="1" smtClean="0">
                                  <a:solidFill>
                                    <a:schemeClr val="tx1"/>
                                  </a:solidFill>
                                  <a:latin typeface="Cambria Math" panose="02040503050406030204" pitchFamily="18" charset="0"/>
                                </a:rPr>
                                <m:t> </m:t>
                              </m:r>
                            </m:num>
                            <m:den>
                              <m:r>
                                <a:rPr lang="en-NZ" altLang="ja-JP" sz="1800" b="0" i="1"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rPr>
                                <m:t>𝑁</m:t>
                              </m:r>
                              <m:r>
                                <a:rPr lang="en-NZ" altLang="ja-JP" sz="1800" b="0" i="1" smtClean="0">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m:t>
                              </m:r>
                            </m:den>
                          </m:f>
                        </m:den>
                      </m:f>
                    </m:oMath>
                  </m:oMathPara>
                </a14:m>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8" name="Text Placeholder 5">
                <a:extLst>
                  <a:ext uri="{FF2B5EF4-FFF2-40B4-BE49-F238E27FC236}">
                    <a16:creationId xmlns:a16="http://schemas.microsoft.com/office/drawing/2014/main" id="{1D34D5A8-C4FF-422C-B06E-2A7AD5BECFDF}"/>
                  </a:ext>
                </a:extLst>
              </p:cNvPr>
              <p:cNvSpPr txBox="1">
                <a:spLocks noRot="1" noChangeAspect="1" noMove="1" noResize="1" noEditPoints="1" noAdjustHandles="1" noChangeArrowheads="1" noChangeShapeType="1" noTextEdit="1"/>
              </p:cNvSpPr>
              <p:nvPr/>
            </p:nvSpPr>
            <p:spPr>
              <a:xfrm>
                <a:off x="450373" y="1330225"/>
                <a:ext cx="7963052" cy="1358384"/>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6455CEDA-1194-4472-B14A-3C69D063ED8F}"/>
                  </a:ext>
                </a:extLst>
              </p:cNvPr>
              <p:cNvSpPr txBox="1">
                <a:spLocks/>
              </p:cNvSpPr>
              <p:nvPr/>
            </p:nvSpPr>
            <p:spPr>
              <a:xfrm flipH="1">
                <a:off x="7554372" y="1504113"/>
                <a:ext cx="1889879" cy="893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𝑇</m:t>
                          </m:r>
                        </m:e>
                        <m:sub>
                          <m:r>
                            <a:rPr lang="en-NZ" altLang="ja-JP" sz="1800" b="0" i="1" smtClean="0">
                              <a:solidFill>
                                <a:schemeClr val="bg2">
                                  <a:lumMod val="50000"/>
                                </a:schemeClr>
                              </a:solidFill>
                              <a:latin typeface="Cambria Math" panose="02040503050406030204" pitchFamily="18" charset="0"/>
                            </a:rPr>
                            <m:t>𝑖</m:t>
                          </m:r>
                        </m:sub>
                      </m:sSub>
                      <m:r>
                        <a:rPr lang="en-NZ" altLang="ja-JP" sz="1800" b="0" i="1" smtClean="0">
                          <a:solidFill>
                            <a:schemeClr val="bg2">
                              <a:lumMod val="50000"/>
                            </a:schemeClr>
                          </a:solidFill>
                          <a:latin typeface="Cambria Math" panose="02040503050406030204" pitchFamily="18" charset="0"/>
                        </a:rPr>
                        <m:t>= </m:t>
                      </m:r>
                      <m:nary>
                        <m:naryPr>
                          <m:chr m:val="∑"/>
                          <m:ctrlPr>
                            <a:rPr lang="en-NZ" altLang="ja-JP" sz="1800" b="0" i="1" smtClean="0">
                              <a:solidFill>
                                <a:schemeClr val="bg2">
                                  <a:lumMod val="50000"/>
                                </a:schemeClr>
                              </a:solidFill>
                              <a:latin typeface="Cambria Math" panose="02040503050406030204" pitchFamily="18" charset="0"/>
                            </a:rPr>
                          </m:ctrlPr>
                        </m:naryPr>
                        <m:sub>
                          <m:r>
                            <m:rPr>
                              <m:brk m:alnAt="23"/>
                            </m:rPr>
                            <a:rPr lang="en-NZ" altLang="ja-JP" sz="1800" b="0" i="1" smtClean="0">
                              <a:solidFill>
                                <a:schemeClr val="bg2">
                                  <a:lumMod val="50000"/>
                                </a:schemeClr>
                              </a:solidFill>
                              <a:latin typeface="Cambria Math" panose="02040503050406030204" pitchFamily="18" charset="0"/>
                            </a:rPr>
                            <m:t>𝑗</m:t>
                          </m:r>
                          <m:r>
                            <a:rPr lang="en-NZ" altLang="ja-JP" sz="1800" b="0" i="1" smtClean="0">
                              <a:solidFill>
                                <a:schemeClr val="bg2">
                                  <a:lumMod val="50000"/>
                                </a:schemeClr>
                              </a:solidFill>
                              <a:latin typeface="Cambria Math" panose="02040503050406030204" pitchFamily="18" charset="0"/>
                            </a:rPr>
                            <m:t>=</m:t>
                          </m:r>
                          <m:r>
                            <m:rPr>
                              <m:brk m:alnAt="23"/>
                            </m:rPr>
                            <a:rPr lang="en-NZ" altLang="ja-JP" sz="1800" b="0" i="1" smtClean="0">
                              <a:solidFill>
                                <a:schemeClr val="bg2">
                                  <a:lumMod val="50000"/>
                                </a:schemeClr>
                              </a:solidFill>
                              <a:latin typeface="Cambria Math" panose="02040503050406030204" pitchFamily="18" charset="0"/>
                            </a:rPr>
                            <m:t>1</m:t>
                          </m:r>
                        </m:sub>
                        <m:sup>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𝑛</m:t>
                              </m:r>
                            </m:e>
                            <m:sub>
                              <m:r>
                                <a:rPr lang="en-NZ" altLang="ja-JP" sz="1800" b="0" i="1" smtClean="0">
                                  <a:solidFill>
                                    <a:schemeClr val="bg2">
                                      <a:lumMod val="50000"/>
                                    </a:schemeClr>
                                  </a:solidFill>
                                  <a:latin typeface="Cambria Math" panose="02040503050406030204" pitchFamily="18" charset="0"/>
                                </a:rPr>
                                <m:t>𝑖</m:t>
                              </m:r>
                            </m:sub>
                          </m:sSub>
                        </m:sup>
                        <m:e>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𝑌</m:t>
                              </m:r>
                            </m:e>
                            <m:sub>
                              <m:r>
                                <a:rPr lang="en-NZ" altLang="ja-JP" sz="1800" b="0" i="1" smtClean="0">
                                  <a:solidFill>
                                    <a:schemeClr val="bg2">
                                      <a:lumMod val="50000"/>
                                    </a:schemeClr>
                                  </a:solidFill>
                                  <a:latin typeface="Cambria Math" panose="02040503050406030204" pitchFamily="18" charset="0"/>
                                </a:rPr>
                                <m:t>𝑖𝑗</m:t>
                              </m:r>
                            </m:sub>
                          </m:sSub>
                        </m:e>
                      </m:nary>
                    </m:oMath>
                  </m:oMathPara>
                </a14:m>
                <a:endParaRPr lang="en-NZ" altLang="ja-JP" sz="1800" dirty="0">
                  <a:solidFill>
                    <a:schemeClr val="bg2">
                      <a:lumMod val="50000"/>
                    </a:schemeClr>
                  </a:solidFill>
                </a:endParaRPr>
              </a:p>
              <a:p>
                <a:pPr algn="just">
                  <a:lnSpc>
                    <a:spcPct val="100000"/>
                  </a:lnSpc>
                </a:pPr>
                <a:endParaRPr lang="en-NZ" altLang="ja-JP" sz="1800" i="1" dirty="0">
                  <a:solidFill>
                    <a:schemeClr val="bg2">
                      <a:lumMod val="50000"/>
                    </a:schemeClr>
                  </a:solidFill>
                </a:endParaRPr>
              </a:p>
            </p:txBody>
          </p:sp>
        </mc:Choice>
        <mc:Fallback xmlns="">
          <p:sp>
            <p:nvSpPr>
              <p:cNvPr id="19" name="Text Placeholder 5">
                <a:extLst>
                  <a:ext uri="{FF2B5EF4-FFF2-40B4-BE49-F238E27FC236}">
                    <a16:creationId xmlns:a16="http://schemas.microsoft.com/office/drawing/2014/main" id="{6455CEDA-1194-4472-B14A-3C69D063ED8F}"/>
                  </a:ext>
                </a:extLst>
              </p:cNvPr>
              <p:cNvSpPr txBox="1">
                <a:spLocks noRot="1" noChangeAspect="1" noMove="1" noResize="1" noEditPoints="1" noAdjustHandles="1" noChangeArrowheads="1" noChangeShapeType="1" noTextEdit="1"/>
              </p:cNvSpPr>
              <p:nvPr/>
            </p:nvSpPr>
            <p:spPr>
              <a:xfrm flipH="1">
                <a:off x="7554372" y="1504113"/>
                <a:ext cx="1889879" cy="893534"/>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FC2E33B0-BF8D-415C-9C53-AD1904B03BBB}"/>
                  </a:ext>
                </a:extLst>
              </p:cNvPr>
              <p:cNvSpPr txBox="1">
                <a:spLocks/>
              </p:cNvSpPr>
              <p:nvPr/>
            </p:nvSpPr>
            <p:spPr>
              <a:xfrm flipH="1">
                <a:off x="9040082" y="1504113"/>
                <a:ext cx="2284942" cy="893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0" i="1" smtClean="0">
                          <a:solidFill>
                            <a:schemeClr val="bg2">
                              <a:lumMod val="50000"/>
                            </a:schemeClr>
                          </a:solidFill>
                          <a:latin typeface="Cambria Math" panose="02040503050406030204" pitchFamily="18" charset="0"/>
                        </a:rPr>
                        <m:t>𝐺</m:t>
                      </m:r>
                      <m:r>
                        <a:rPr lang="en-NZ" altLang="ja-JP" sz="1800" b="0" i="1" smtClean="0">
                          <a:solidFill>
                            <a:schemeClr val="bg2">
                              <a:lumMod val="50000"/>
                            </a:schemeClr>
                          </a:solidFill>
                          <a:latin typeface="Cambria Math" panose="02040503050406030204" pitchFamily="18" charset="0"/>
                        </a:rPr>
                        <m:t>= </m:t>
                      </m:r>
                      <m:nary>
                        <m:naryPr>
                          <m:chr m:val="∑"/>
                          <m:ctrlPr>
                            <a:rPr lang="en-NZ" altLang="ja-JP" sz="1800" b="0" i="1" smtClean="0">
                              <a:solidFill>
                                <a:schemeClr val="bg2">
                                  <a:lumMod val="50000"/>
                                </a:schemeClr>
                              </a:solidFill>
                              <a:latin typeface="Cambria Math" panose="02040503050406030204" pitchFamily="18" charset="0"/>
                            </a:rPr>
                          </m:ctrlPr>
                        </m:naryPr>
                        <m:sub>
                          <m:r>
                            <m:rPr>
                              <m:brk m:alnAt="23"/>
                            </m:rPr>
                            <a:rPr lang="en-NZ" altLang="ja-JP" sz="1800" b="0" i="1" smtClean="0">
                              <a:solidFill>
                                <a:schemeClr val="bg2">
                                  <a:lumMod val="50000"/>
                                </a:schemeClr>
                              </a:solidFill>
                              <a:latin typeface="Cambria Math" panose="02040503050406030204" pitchFamily="18" charset="0"/>
                            </a:rPr>
                            <m:t>𝑖</m:t>
                          </m:r>
                          <m:r>
                            <a:rPr lang="en-NZ" altLang="ja-JP" sz="1800" b="0" i="1" smtClean="0">
                              <a:solidFill>
                                <a:schemeClr val="bg2">
                                  <a:lumMod val="50000"/>
                                </a:schemeClr>
                              </a:solidFill>
                              <a:latin typeface="Cambria Math" panose="02040503050406030204" pitchFamily="18" charset="0"/>
                            </a:rPr>
                            <m:t>=</m:t>
                          </m:r>
                          <m:r>
                            <m:rPr>
                              <m:brk m:alnAt="23"/>
                            </m:rPr>
                            <a:rPr lang="en-NZ" altLang="ja-JP" sz="1800" b="0" i="1" smtClean="0">
                              <a:solidFill>
                                <a:schemeClr val="bg2">
                                  <a:lumMod val="50000"/>
                                </a:schemeClr>
                              </a:solidFill>
                              <a:latin typeface="Cambria Math" panose="02040503050406030204" pitchFamily="18" charset="0"/>
                            </a:rPr>
                            <m:t>1</m:t>
                          </m:r>
                        </m:sub>
                        <m:sup>
                          <m:r>
                            <a:rPr lang="en-NZ" altLang="ja-JP" sz="1800" b="0" i="1" smtClean="0">
                              <a:solidFill>
                                <a:schemeClr val="bg2">
                                  <a:lumMod val="50000"/>
                                </a:schemeClr>
                              </a:solidFill>
                              <a:latin typeface="Cambria Math" panose="02040503050406030204" pitchFamily="18" charset="0"/>
                            </a:rPr>
                            <m:t>𝑘</m:t>
                          </m:r>
                        </m:sup>
                        <m:e>
                          <m:nary>
                            <m:naryPr>
                              <m:chr m:val="∑"/>
                              <m:ctrlPr>
                                <a:rPr lang="en-NZ" altLang="ja-JP" sz="1800" i="1">
                                  <a:solidFill>
                                    <a:schemeClr val="bg2">
                                      <a:lumMod val="50000"/>
                                    </a:schemeClr>
                                  </a:solidFill>
                                  <a:latin typeface="Cambria Math" panose="02040503050406030204" pitchFamily="18" charset="0"/>
                                </a:rPr>
                              </m:ctrlPr>
                            </m:naryPr>
                            <m:sub>
                              <m:r>
                                <m:rPr>
                                  <m:brk m:alnAt="23"/>
                                </m:rPr>
                                <a:rPr lang="en-NZ" altLang="ja-JP" sz="1800" i="1">
                                  <a:solidFill>
                                    <a:schemeClr val="bg2">
                                      <a:lumMod val="50000"/>
                                    </a:schemeClr>
                                  </a:solidFill>
                                  <a:latin typeface="Cambria Math" panose="02040503050406030204" pitchFamily="18" charset="0"/>
                                </a:rPr>
                                <m:t>𝑗</m:t>
                              </m:r>
                              <m:r>
                                <a:rPr lang="en-NZ" altLang="ja-JP" sz="1800" i="1">
                                  <a:solidFill>
                                    <a:schemeClr val="bg2">
                                      <a:lumMod val="50000"/>
                                    </a:schemeClr>
                                  </a:solidFill>
                                  <a:latin typeface="Cambria Math" panose="02040503050406030204" pitchFamily="18" charset="0"/>
                                </a:rPr>
                                <m:t>=1</m:t>
                              </m:r>
                            </m:sub>
                            <m:sup>
                              <m:sSub>
                                <m:sSubPr>
                                  <m:ctrlPr>
                                    <a:rPr lang="en-NZ" altLang="ja-JP" sz="1800" i="1">
                                      <a:solidFill>
                                        <a:schemeClr val="bg2">
                                          <a:lumMod val="50000"/>
                                        </a:schemeClr>
                                      </a:solidFill>
                                      <a:latin typeface="Cambria Math" panose="02040503050406030204" pitchFamily="18" charset="0"/>
                                    </a:rPr>
                                  </m:ctrlPr>
                                </m:sSubPr>
                                <m:e>
                                  <m:r>
                                    <a:rPr lang="en-NZ" altLang="ja-JP" sz="1800" i="1">
                                      <a:solidFill>
                                        <a:schemeClr val="bg2">
                                          <a:lumMod val="50000"/>
                                        </a:schemeClr>
                                      </a:solidFill>
                                      <a:latin typeface="Cambria Math" panose="02040503050406030204" pitchFamily="18" charset="0"/>
                                    </a:rPr>
                                    <m:t>𝑛</m:t>
                                  </m:r>
                                </m:e>
                                <m:sub>
                                  <m:r>
                                    <a:rPr lang="en-NZ" altLang="ja-JP" sz="1800" i="1">
                                      <a:solidFill>
                                        <a:schemeClr val="bg2">
                                          <a:lumMod val="50000"/>
                                        </a:schemeClr>
                                      </a:solidFill>
                                      <a:latin typeface="Cambria Math" panose="02040503050406030204" pitchFamily="18" charset="0"/>
                                    </a:rPr>
                                    <m:t>𝑖</m:t>
                                  </m:r>
                                </m:sub>
                              </m:sSub>
                            </m:sup>
                            <m:e>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𝑌</m:t>
                                  </m:r>
                                </m:e>
                                <m:sub>
                                  <m:r>
                                    <a:rPr lang="en-NZ" altLang="ja-JP" sz="1800" b="0" i="1" smtClean="0">
                                      <a:solidFill>
                                        <a:schemeClr val="bg2">
                                          <a:lumMod val="50000"/>
                                        </a:schemeClr>
                                      </a:solidFill>
                                      <a:latin typeface="Cambria Math" panose="02040503050406030204" pitchFamily="18" charset="0"/>
                                    </a:rPr>
                                    <m:t>𝑖𝑗</m:t>
                                  </m:r>
                                </m:sub>
                              </m:sSub>
                            </m:e>
                          </m:nary>
                        </m:e>
                      </m:nary>
                    </m:oMath>
                  </m:oMathPara>
                </a14:m>
                <a:endParaRPr lang="en-NZ" altLang="ja-JP" sz="1800" dirty="0">
                  <a:solidFill>
                    <a:schemeClr val="bg2">
                      <a:lumMod val="50000"/>
                    </a:schemeClr>
                  </a:solidFill>
                </a:endParaRPr>
              </a:p>
              <a:p>
                <a:pPr algn="just">
                  <a:lnSpc>
                    <a:spcPct val="100000"/>
                  </a:lnSpc>
                </a:pPr>
                <a:endParaRPr lang="en-NZ" altLang="ja-JP" sz="1800" i="1" dirty="0">
                  <a:solidFill>
                    <a:schemeClr val="bg2">
                      <a:lumMod val="50000"/>
                    </a:schemeClr>
                  </a:solidFill>
                </a:endParaRPr>
              </a:p>
            </p:txBody>
          </p:sp>
        </mc:Choice>
        <mc:Fallback xmlns="">
          <p:sp>
            <p:nvSpPr>
              <p:cNvPr id="20" name="Text Placeholder 5">
                <a:extLst>
                  <a:ext uri="{FF2B5EF4-FFF2-40B4-BE49-F238E27FC236}">
                    <a16:creationId xmlns:a16="http://schemas.microsoft.com/office/drawing/2014/main" id="{FC2E33B0-BF8D-415C-9C53-AD1904B03BBB}"/>
                  </a:ext>
                </a:extLst>
              </p:cNvPr>
              <p:cNvSpPr txBox="1">
                <a:spLocks noRot="1" noChangeAspect="1" noMove="1" noResize="1" noEditPoints="1" noAdjustHandles="1" noChangeArrowheads="1" noChangeShapeType="1" noTextEdit="1"/>
              </p:cNvSpPr>
              <p:nvPr/>
            </p:nvSpPr>
            <p:spPr>
              <a:xfrm flipH="1">
                <a:off x="9040082" y="1504113"/>
                <a:ext cx="2284942" cy="893534"/>
              </a:xfrm>
              <a:prstGeom prst="rect">
                <a:avLst/>
              </a:prstGeom>
              <a:blipFill>
                <a:blip r:embed="rId5"/>
                <a:stretch>
                  <a:fillRect/>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BFC9A185-4760-4A0E-A36C-36C83ABCBB4C}"/>
              </a:ext>
            </a:extLst>
          </p:cNvPr>
          <p:cNvSpPr txBox="1">
            <a:spLocks/>
          </p:cNvSpPr>
          <p:nvPr/>
        </p:nvSpPr>
        <p:spPr>
          <a:xfrm flipH="1">
            <a:off x="8399812" y="1134973"/>
            <a:ext cx="1889879" cy="4580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bg2">
                    <a:lumMod val="50000"/>
                  </a:schemeClr>
                </a:solidFill>
              </a:rPr>
              <a:t>where</a:t>
            </a:r>
          </a:p>
          <a:p>
            <a:pPr algn="just">
              <a:lnSpc>
                <a:spcPct val="100000"/>
              </a:lnSpc>
            </a:pPr>
            <a:endParaRPr lang="en-NZ" altLang="ja-JP" sz="1400" i="1" dirty="0">
              <a:solidFill>
                <a:schemeClr val="bg2">
                  <a:lumMod val="50000"/>
                </a:schemeClr>
              </a:solidFill>
            </a:endParaRPr>
          </a:p>
        </p:txBody>
      </p:sp>
      <p:sp>
        <p:nvSpPr>
          <p:cNvPr id="24" name="Text Placeholder 5">
            <a:extLst>
              <a:ext uri="{FF2B5EF4-FFF2-40B4-BE49-F238E27FC236}">
                <a16:creationId xmlns:a16="http://schemas.microsoft.com/office/drawing/2014/main" id="{AF03BC12-D3F9-479F-A369-0968C8A8F19E}"/>
              </a:ext>
            </a:extLst>
          </p:cNvPr>
          <p:cNvSpPr txBox="1">
            <a:spLocks/>
          </p:cNvSpPr>
          <p:nvPr/>
        </p:nvSpPr>
        <p:spPr>
          <a:xfrm>
            <a:off x="319463" y="2862496"/>
            <a:ext cx="11237916" cy="473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Can we find an equivalent test statistic that is computationally simpler?</a:t>
            </a:r>
            <a:endParaRPr lang="en-US" altLang="ja-JP" sz="1800" b="1" i="1" dirty="0">
              <a:solidFill>
                <a:schemeClr val="tx1"/>
              </a:solidFill>
            </a:endParaRP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529C2A02-E4C8-4B96-B1D8-F0F161B7BD6D}"/>
                  </a:ext>
                </a:extLst>
              </p:cNvPr>
              <p:cNvSpPr txBox="1">
                <a:spLocks/>
              </p:cNvSpPr>
              <p:nvPr/>
            </p:nvSpPr>
            <p:spPr>
              <a:xfrm>
                <a:off x="319463" y="3693208"/>
                <a:ext cx="11237916" cy="473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terms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𝑨</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𝑮</m:t>
                            </m:r>
                          </m:e>
                          <m:sup>
                            <m:r>
                              <a:rPr lang="en-NZ" altLang="ja-JP" sz="1800" b="1" i="1" smtClean="0">
                                <a:solidFill>
                                  <a:schemeClr val="tx1"/>
                                </a:solidFill>
                                <a:latin typeface="Cambria Math" panose="02040503050406030204" pitchFamily="18" charset="0"/>
                              </a:rPr>
                              <m:t>𝟐</m:t>
                            </m:r>
                          </m:sup>
                        </m:sSup>
                      </m:num>
                      <m:den>
                        <m:r>
                          <a:rPr lang="en-NZ" altLang="ja-JP" sz="1800" b="1" i="1" smtClean="0">
                            <a:solidFill>
                              <a:schemeClr val="tx1"/>
                            </a:solidFill>
                            <a:latin typeface="Cambria Math" panose="02040503050406030204" pitchFamily="18" charset="0"/>
                          </a:rPr>
                          <m:t>𝑵</m:t>
                        </m:r>
                      </m:den>
                    </m:f>
                  </m:oMath>
                </a14:m>
                <a:r>
                  <a:rPr lang="en-US" altLang="ja-JP" sz="1800" b="1" i="1" dirty="0">
                    <a:solidFill>
                      <a:schemeClr val="tx1"/>
                    </a:solidFill>
                  </a:rPr>
                  <a:t>   </a:t>
                </a:r>
                <a:r>
                  <a:rPr lang="en-US" altLang="ja-JP" sz="1800" dirty="0">
                    <a:solidFill>
                      <a:schemeClr val="tx1"/>
                    </a:solidFill>
                  </a:rPr>
                  <a:t>and  </a:t>
                </a:r>
                <a14:m>
                  <m:oMath xmlns:m="http://schemas.openxmlformats.org/officeDocument/2006/math">
                    <m:r>
                      <a:rPr lang="en-NZ" altLang="ja-JP" sz="1800" b="1" i="1" smtClean="0">
                        <a:solidFill>
                          <a:schemeClr val="tx1"/>
                        </a:solidFill>
                        <a:latin typeface="Cambria Math" panose="02040503050406030204" pitchFamily="18" charset="0"/>
                      </a:rPr>
                      <m:t>𝑩</m:t>
                    </m:r>
                    <m:r>
                      <a:rPr lang="en-NZ" altLang="ja-JP" sz="1800" b="1" i="1" smtClean="0">
                        <a:solidFill>
                          <a:schemeClr val="tx1"/>
                        </a:solidFill>
                        <a:latin typeface="Cambria Math" panose="02040503050406030204" pitchFamily="18" charset="0"/>
                      </a:rPr>
                      <m:t>≡</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sup>
                          <m:e>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m:t>
                                </m:r>
                              </m:sub>
                              <m:sup>
                                <m:r>
                                  <a:rPr lang="en-NZ" altLang="ja-JP" sz="1800" b="1" i="1" smtClean="0">
                                    <a:solidFill>
                                      <a:schemeClr val="tx1"/>
                                    </a:solidFill>
                                    <a:latin typeface="Cambria Math" panose="02040503050406030204" pitchFamily="18" charset="0"/>
                                  </a:rPr>
                                  <m:t>𝟐</m:t>
                                </m:r>
                              </m:sup>
                            </m:sSubSup>
                          </m:e>
                        </m:nary>
                      </m:e>
                    </m:nary>
                  </m:oMath>
                </a14:m>
                <a:r>
                  <a:rPr lang="en-US" altLang="ja-JP" sz="1800" dirty="0">
                    <a:solidFill>
                      <a:schemeClr val="tx1"/>
                    </a:solidFill>
                  </a:rPr>
                  <a:t>   are constants, they won’t change when the data are permuted. </a:t>
                </a:r>
              </a:p>
            </p:txBody>
          </p:sp>
        </mc:Choice>
        <mc:Fallback xmlns="">
          <p:sp>
            <p:nvSpPr>
              <p:cNvPr id="26" name="Text Placeholder 5">
                <a:extLst>
                  <a:ext uri="{FF2B5EF4-FFF2-40B4-BE49-F238E27FC236}">
                    <a16:creationId xmlns:a16="http://schemas.microsoft.com/office/drawing/2014/main" id="{529C2A02-E4C8-4B96-B1D8-F0F161B7BD6D}"/>
                  </a:ext>
                </a:extLst>
              </p:cNvPr>
              <p:cNvSpPr txBox="1">
                <a:spLocks noRot="1" noChangeAspect="1" noMove="1" noResize="1" noEditPoints="1" noAdjustHandles="1" noChangeArrowheads="1" noChangeShapeType="1" noTextEdit="1"/>
              </p:cNvSpPr>
              <p:nvPr/>
            </p:nvSpPr>
            <p:spPr>
              <a:xfrm>
                <a:off x="319463" y="3693208"/>
                <a:ext cx="11237916" cy="473418"/>
              </a:xfrm>
              <a:prstGeom prst="rect">
                <a:avLst/>
              </a:prstGeom>
              <a:blipFill>
                <a:blip r:embed="rId6"/>
                <a:stretch>
                  <a:fillRect l="-434" b="-2051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4BD4D538-3138-45CA-BFAF-FD2FF2533883}"/>
                  </a:ext>
                </a:extLst>
              </p:cNvPr>
              <p:cNvSpPr txBox="1">
                <a:spLocks/>
              </p:cNvSpPr>
              <p:nvPr/>
            </p:nvSpPr>
            <p:spPr>
              <a:xfrm>
                <a:off x="319463" y="4530138"/>
                <a:ext cx="11237916" cy="473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Only the term </a:t>
                </a:r>
                <a14:m>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f>
                          <m:fPr>
                            <m:ctrlPr>
                              <a:rPr lang="en-NZ" altLang="ja-JP" sz="1800" b="1" i="1" smtClean="0">
                                <a:solidFill>
                                  <a:schemeClr val="tx1"/>
                                </a:solidFill>
                                <a:latin typeface="Cambria Math" panose="02040503050406030204" pitchFamily="18" charset="0"/>
                              </a:rPr>
                            </m:ctrlPr>
                          </m:fPr>
                          <m:num>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𝑻</m:t>
                                </m:r>
                              </m:e>
                              <m:sub>
                                <m:r>
                                  <a:rPr lang="en-NZ" altLang="ja-JP" sz="1800" b="1" i="1" smtClean="0">
                                    <a:solidFill>
                                      <a:schemeClr val="tx1"/>
                                    </a:solidFill>
                                    <a:latin typeface="Cambria Math" panose="02040503050406030204" pitchFamily="18" charset="0"/>
                                  </a:rPr>
                                  <m:t>𝒊</m:t>
                                </m:r>
                              </m:sub>
                              <m:sup>
                                <m:r>
                                  <a:rPr lang="en-NZ" altLang="ja-JP" sz="1800" b="1" i="1" smtClean="0">
                                    <a:solidFill>
                                      <a:schemeClr val="tx1"/>
                                    </a:solidFill>
                                    <a:latin typeface="Cambria Math" panose="02040503050406030204" pitchFamily="18" charset="0"/>
                                  </a:rPr>
                                  <m:t>𝟐</m:t>
                                </m:r>
                              </m:sup>
                            </m:sSubSup>
                          </m:num>
                          <m:den>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den>
                        </m:f>
                      </m:e>
                    </m:nary>
                  </m:oMath>
                </a14:m>
                <a:r>
                  <a:rPr lang="en-US" altLang="ja-JP" sz="1800" dirty="0">
                    <a:solidFill>
                      <a:schemeClr val="tx1"/>
                    </a:solidFill>
                  </a:rPr>
                  <a:t>   will change when the data are permuted. So, let’s re-write </a:t>
                </a:r>
                <a:r>
                  <a:rPr lang="en-US" altLang="ja-JP" sz="1800" b="1" i="1" dirty="0">
                    <a:solidFill>
                      <a:schemeClr val="tx1"/>
                    </a:solidFill>
                  </a:rPr>
                  <a:t>F</a:t>
                </a:r>
                <a:r>
                  <a:rPr lang="en-US" altLang="ja-JP" sz="1800" dirty="0">
                    <a:solidFill>
                      <a:schemeClr val="tx1"/>
                    </a:solidFill>
                  </a:rPr>
                  <a:t> as:</a:t>
                </a:r>
                <a:endParaRPr lang="en-US" altLang="ja-JP" sz="1800" b="1" dirty="0">
                  <a:solidFill>
                    <a:schemeClr val="tx1"/>
                  </a:solidFill>
                </a:endParaRPr>
              </a:p>
            </p:txBody>
          </p:sp>
        </mc:Choice>
        <mc:Fallback xmlns="">
          <p:sp>
            <p:nvSpPr>
              <p:cNvPr id="28" name="Text Placeholder 5">
                <a:extLst>
                  <a:ext uri="{FF2B5EF4-FFF2-40B4-BE49-F238E27FC236}">
                    <a16:creationId xmlns:a16="http://schemas.microsoft.com/office/drawing/2014/main" id="{4BD4D538-3138-45CA-BFAF-FD2FF2533883}"/>
                  </a:ext>
                </a:extLst>
              </p:cNvPr>
              <p:cNvSpPr txBox="1">
                <a:spLocks noRot="1" noChangeAspect="1" noMove="1" noResize="1" noEditPoints="1" noAdjustHandles="1" noChangeArrowheads="1" noChangeShapeType="1" noTextEdit="1"/>
              </p:cNvSpPr>
              <p:nvPr/>
            </p:nvSpPr>
            <p:spPr>
              <a:xfrm>
                <a:off x="319463" y="4530138"/>
                <a:ext cx="11237916" cy="473418"/>
              </a:xfrm>
              <a:prstGeom prst="rect">
                <a:avLst/>
              </a:prstGeom>
              <a:blipFill>
                <a:blip r:embed="rId7"/>
                <a:stretch>
                  <a:fillRect l="-434" b="-2179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5A19DCD5-79BC-4F58-995A-5D71E5837459}"/>
                  </a:ext>
                </a:extLst>
              </p:cNvPr>
              <p:cNvSpPr txBox="1">
                <a:spLocks/>
              </p:cNvSpPr>
              <p:nvPr/>
            </p:nvSpPr>
            <p:spPr>
              <a:xfrm>
                <a:off x="630072" y="5086719"/>
                <a:ext cx="10931856" cy="64242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𝑵</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𝒌</m:t>
                          </m:r>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𝑨</m:t>
                          </m:r>
                        </m:num>
                        <m:den>
                          <m:r>
                            <a:rPr lang="en-NZ" altLang="ja-JP" sz="1800" b="1" i="1" smtClean="0">
                              <a:solidFill>
                                <a:schemeClr val="tx1"/>
                              </a:solidFill>
                              <a:latin typeface="Cambria Math" panose="02040503050406030204" pitchFamily="18" charset="0"/>
                            </a:rPr>
                            <m:t>𝑩</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den>
                      </m:f>
                    </m:oMath>
                  </m:oMathPara>
                </a14:m>
                <a:endParaRPr lang="en-US" altLang="ja-JP" sz="1800" b="1" dirty="0">
                  <a:solidFill>
                    <a:schemeClr val="tx1"/>
                  </a:solidFill>
                </a:endParaRPr>
              </a:p>
            </p:txBody>
          </p:sp>
        </mc:Choice>
        <mc:Fallback xmlns="">
          <p:sp>
            <p:nvSpPr>
              <p:cNvPr id="29" name="Text Placeholder 5">
                <a:extLst>
                  <a:ext uri="{FF2B5EF4-FFF2-40B4-BE49-F238E27FC236}">
                    <a16:creationId xmlns:a16="http://schemas.microsoft.com/office/drawing/2014/main" id="{5A19DCD5-79BC-4F58-995A-5D71E5837459}"/>
                  </a:ext>
                </a:extLst>
              </p:cNvPr>
              <p:cNvSpPr txBox="1">
                <a:spLocks noRot="1" noChangeAspect="1" noMove="1" noResize="1" noEditPoints="1" noAdjustHandles="1" noChangeArrowheads="1" noChangeShapeType="1" noTextEdit="1"/>
              </p:cNvSpPr>
              <p:nvPr/>
            </p:nvSpPr>
            <p:spPr>
              <a:xfrm>
                <a:off x="630072" y="5086719"/>
                <a:ext cx="10931856" cy="642429"/>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1D0A8B6F-E422-4B4E-A968-96E7C1A38EC6}"/>
                  </a:ext>
                </a:extLst>
              </p:cNvPr>
              <p:cNvSpPr txBox="1">
                <a:spLocks/>
              </p:cNvSpPr>
              <p:nvPr/>
            </p:nvSpPr>
            <p:spPr>
              <a:xfrm>
                <a:off x="630072" y="5802673"/>
                <a:ext cx="10931856" cy="64242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𝒅𝑭</m:t>
                          </m:r>
                        </m:num>
                        <m:den>
                          <m:r>
                            <a:rPr lang="en-NZ" altLang="ja-JP" sz="1800" b="1" i="1" smtClean="0">
                              <a:solidFill>
                                <a:schemeClr val="tx1"/>
                              </a:solidFill>
                              <a:latin typeface="Cambria Math" panose="02040503050406030204" pitchFamily="18" charset="0"/>
                            </a:rPr>
                            <m:t>𝒅𝑿</m:t>
                          </m:r>
                        </m:den>
                      </m:f>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𝑵</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𝒌</m:t>
                          </m:r>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𝑩</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𝑨</m:t>
                          </m:r>
                        </m:num>
                        <m:den>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𝑩</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𝑿</m:t>
                                  </m:r>
                                </m:e>
                              </m:d>
                            </m:e>
                            <m:sup>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oMath>
                  </m:oMathPara>
                </a14:m>
                <a:endParaRPr lang="en-US" altLang="ja-JP" sz="1800" b="1" dirty="0">
                  <a:solidFill>
                    <a:schemeClr val="tx1"/>
                  </a:solidFill>
                </a:endParaRPr>
              </a:p>
            </p:txBody>
          </p:sp>
        </mc:Choice>
        <mc:Fallback xmlns="">
          <p:sp>
            <p:nvSpPr>
              <p:cNvPr id="30" name="Text Placeholder 5">
                <a:extLst>
                  <a:ext uri="{FF2B5EF4-FFF2-40B4-BE49-F238E27FC236}">
                    <a16:creationId xmlns:a16="http://schemas.microsoft.com/office/drawing/2014/main" id="{1D0A8B6F-E422-4B4E-A968-96E7C1A38EC6}"/>
                  </a:ext>
                </a:extLst>
              </p:cNvPr>
              <p:cNvSpPr txBox="1">
                <a:spLocks noRot="1" noChangeAspect="1" noMove="1" noResize="1" noEditPoints="1" noAdjustHandles="1" noChangeArrowheads="1" noChangeShapeType="1" noTextEdit="1"/>
              </p:cNvSpPr>
              <p:nvPr/>
            </p:nvSpPr>
            <p:spPr>
              <a:xfrm>
                <a:off x="630072" y="5802673"/>
                <a:ext cx="10931856" cy="642429"/>
              </a:xfrm>
              <a:prstGeom prst="rect">
                <a:avLst/>
              </a:prstGeom>
              <a:blipFill>
                <a:blip r:embed="rId9"/>
                <a:stretch>
                  <a:fillRect/>
                </a:stretch>
              </a:blipFill>
            </p:spPr>
            <p:txBody>
              <a:bodyPr/>
              <a:lstStyle/>
              <a:p>
                <a:r>
                  <a:rPr lang="en-NZ">
                    <a:noFill/>
                  </a:rPr>
                  <a:t> </a:t>
                </a:r>
              </a:p>
            </p:txBody>
          </p:sp>
        </mc:Fallback>
      </mc:AlternateContent>
      <p:sp>
        <p:nvSpPr>
          <p:cNvPr id="31" name="Text Placeholder 5">
            <a:extLst>
              <a:ext uri="{FF2B5EF4-FFF2-40B4-BE49-F238E27FC236}">
                <a16:creationId xmlns:a16="http://schemas.microsoft.com/office/drawing/2014/main" id="{D6C6B305-F8FE-4784-97D9-7B4710A2FFC3}"/>
              </a:ext>
            </a:extLst>
          </p:cNvPr>
          <p:cNvSpPr txBox="1">
            <a:spLocks/>
          </p:cNvSpPr>
          <p:nvPr/>
        </p:nvSpPr>
        <p:spPr>
          <a:xfrm flipH="1">
            <a:off x="2215380" y="5917431"/>
            <a:ext cx="1889879" cy="4580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bg2">
                    <a:lumMod val="50000"/>
                  </a:schemeClr>
                </a:solidFill>
              </a:rPr>
              <a:t>Use quotient rule</a:t>
            </a:r>
          </a:p>
          <a:p>
            <a:pPr algn="just">
              <a:lnSpc>
                <a:spcPct val="100000"/>
              </a:lnSpc>
            </a:pPr>
            <a:endParaRPr lang="en-NZ" altLang="ja-JP" sz="1800" i="1" dirty="0">
              <a:solidFill>
                <a:schemeClr val="bg2">
                  <a:lumMod val="50000"/>
                </a:schemeClr>
              </a:solidFill>
            </a:endParaRPr>
          </a:p>
        </p:txBody>
      </p:sp>
      <p:sp>
        <p:nvSpPr>
          <p:cNvPr id="32" name="Text Placeholder 5">
            <a:extLst>
              <a:ext uri="{FF2B5EF4-FFF2-40B4-BE49-F238E27FC236}">
                <a16:creationId xmlns:a16="http://schemas.microsoft.com/office/drawing/2014/main" id="{27B1C957-5012-49EF-A985-B16E23C0C077}"/>
              </a:ext>
            </a:extLst>
          </p:cNvPr>
          <p:cNvSpPr txBox="1">
            <a:spLocks/>
          </p:cNvSpPr>
          <p:nvPr/>
        </p:nvSpPr>
        <p:spPr>
          <a:xfrm flipH="1">
            <a:off x="8499311" y="5880104"/>
            <a:ext cx="2432546" cy="4580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bg2">
                    <a:lumMod val="50000"/>
                  </a:schemeClr>
                </a:solidFill>
              </a:rPr>
              <a:t>Note B ≥ A can be proven algebraically</a:t>
            </a:r>
          </a:p>
          <a:p>
            <a:pPr algn="just">
              <a:lnSpc>
                <a:spcPct val="100000"/>
              </a:lnSpc>
            </a:pPr>
            <a:endParaRPr lang="en-NZ" altLang="ja-JP" sz="1800" i="1" dirty="0">
              <a:solidFill>
                <a:schemeClr val="bg2">
                  <a:lumMod val="50000"/>
                </a:schemeClr>
              </a:solidFill>
            </a:endParaRPr>
          </a:p>
        </p:txBody>
      </p:sp>
      <p:sp>
        <p:nvSpPr>
          <p:cNvPr id="2" name="Footer Placeholder 2">
            <a:extLst>
              <a:ext uri="{FF2B5EF4-FFF2-40B4-BE49-F238E27FC236}">
                <a16:creationId xmlns:a16="http://schemas.microsoft.com/office/drawing/2014/main" id="{FD35EEE7-7689-0DCE-1629-9A7BF43490D7}"/>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
        <p:nvSpPr>
          <p:cNvPr id="5" name="Title 6">
            <a:extLst>
              <a:ext uri="{FF2B5EF4-FFF2-40B4-BE49-F238E27FC236}">
                <a16:creationId xmlns:a16="http://schemas.microsoft.com/office/drawing/2014/main" id="{A17A2F2F-FFD4-21F8-1625-71DCE8213805}"/>
              </a:ext>
            </a:extLst>
          </p:cNvPr>
          <p:cNvSpPr txBox="1">
            <a:spLocks/>
          </p:cNvSpPr>
          <p:nvPr/>
        </p:nvSpPr>
        <p:spPr>
          <a:xfrm>
            <a:off x="319463" y="196889"/>
            <a:ext cx="6599952"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6.5b – Transport Study Example:</a:t>
            </a:r>
            <a:endParaRPr lang="ja-JP" altLang="en-US" b="1" u="sng" dirty="0">
              <a:latin typeface="+mn-lt"/>
            </a:endParaRPr>
          </a:p>
        </p:txBody>
      </p:sp>
    </p:spTree>
    <p:extLst>
      <p:ext uri="{BB962C8B-B14F-4D97-AF65-F5344CB8AC3E}">
        <p14:creationId xmlns:p14="http://schemas.microsoft.com/office/powerpoint/2010/main" val="218230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29" grpId="0"/>
      <p:bldP spid="30" grpId="0"/>
      <p:bldP spid="31" grpId="0"/>
      <p:bldP spid="3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45</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0A8DE6A-2756-47E6-9372-08FDDF6339E5}"/>
                  </a:ext>
                </a:extLst>
              </p:cNvPr>
              <p:cNvSpPr txBox="1">
                <a:spLocks/>
              </p:cNvSpPr>
              <p:nvPr/>
            </p:nvSpPr>
            <p:spPr>
              <a:xfrm>
                <a:off x="319463" y="1034228"/>
                <a:ext cx="10931856" cy="11426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chemeClr val="tx1"/>
                    </a:solidFill>
                  </a:rPr>
                  <a:t>F</a:t>
                </a:r>
                <a:r>
                  <a:rPr lang="en-NZ" altLang="ja-JP" sz="1800" dirty="0">
                    <a:solidFill>
                      <a:schemeClr val="tx1"/>
                    </a:solidFill>
                  </a:rPr>
                  <a:t> is a monotone increasing function of  </a:t>
                </a:r>
                <a14:m>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f>
                          <m:fPr>
                            <m:ctrlPr>
                              <a:rPr lang="en-NZ" altLang="ja-JP" sz="1800" b="1" i="1" smtClean="0">
                                <a:solidFill>
                                  <a:schemeClr val="tx1"/>
                                </a:solidFill>
                                <a:latin typeface="Cambria Math" panose="02040503050406030204" pitchFamily="18" charset="0"/>
                              </a:rPr>
                            </m:ctrlPr>
                          </m:fPr>
                          <m:num>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𝑻</m:t>
                                </m:r>
                              </m:e>
                              <m:sub>
                                <m:r>
                                  <a:rPr lang="en-NZ" altLang="ja-JP" sz="1800" b="1" i="1" smtClean="0">
                                    <a:solidFill>
                                      <a:schemeClr val="tx1"/>
                                    </a:solidFill>
                                    <a:latin typeface="Cambria Math" panose="02040503050406030204" pitchFamily="18" charset="0"/>
                                  </a:rPr>
                                  <m:t>𝒊</m:t>
                                </m:r>
                              </m:sub>
                              <m:sup>
                                <m:r>
                                  <a:rPr lang="en-NZ" altLang="ja-JP" sz="1800" b="1" i="1" smtClean="0">
                                    <a:solidFill>
                                      <a:schemeClr val="tx1"/>
                                    </a:solidFill>
                                    <a:latin typeface="Cambria Math" panose="02040503050406030204" pitchFamily="18" charset="0"/>
                                  </a:rPr>
                                  <m:t>𝟐</m:t>
                                </m:r>
                              </m:sup>
                            </m:sSubSup>
                          </m:num>
                          <m:den>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den>
                        </m:f>
                      </m:e>
                    </m:nary>
                  </m:oMath>
                </a14:m>
                <a:r>
                  <a:rPr lang="en-US" altLang="ja-JP" sz="1800" b="1" i="1" dirty="0">
                    <a:solidFill>
                      <a:schemeClr val="tx1"/>
                    </a:solidFill>
                  </a:rPr>
                  <a:t>. </a:t>
                </a:r>
              </a:p>
              <a:p>
                <a:pPr algn="just">
                  <a:lnSpc>
                    <a:spcPct val="100000"/>
                  </a:lnSpc>
                </a:pPr>
                <a:r>
                  <a:rPr lang="en-US" altLang="ja-JP" sz="1800" dirty="0">
                    <a:solidFill>
                      <a:schemeClr val="tx1"/>
                    </a:solidFill>
                  </a:rPr>
                  <a:t>This implies that that </a:t>
                </a:r>
                <a:r>
                  <a:rPr lang="en-US" altLang="ja-JP" sz="1800" b="1" i="1" dirty="0">
                    <a:solidFill>
                      <a:schemeClr val="tx1"/>
                    </a:solidFill>
                  </a:rPr>
                  <a:t>F </a:t>
                </a:r>
                <a:r>
                  <a:rPr lang="en-US" altLang="ja-JP" sz="1800" i="1" dirty="0">
                    <a:solidFill>
                      <a:schemeClr val="tx1"/>
                    </a:solidFill>
                  </a:rPr>
                  <a:t>and</a:t>
                </a:r>
                <a:r>
                  <a:rPr lang="en-US" altLang="ja-JP" sz="1800" b="1" i="1" dirty="0">
                    <a:solidFill>
                      <a:schemeClr val="tx1"/>
                    </a:solidFill>
                  </a:rPr>
                  <a:t> X</a:t>
                </a:r>
                <a:r>
                  <a:rPr lang="en-US" altLang="ja-JP" sz="1800" dirty="0">
                    <a:solidFill>
                      <a:schemeClr val="tx1"/>
                    </a:solidFill>
                  </a:rPr>
                  <a:t> are equivalent.</a:t>
                </a:r>
              </a:p>
              <a:p>
                <a:pPr algn="just">
                  <a:lnSpc>
                    <a:spcPct val="100000"/>
                  </a:lnSpc>
                </a:pPr>
                <a:r>
                  <a:rPr lang="en-US" altLang="ja-JP" sz="1800" dirty="0">
                    <a:solidFill>
                      <a:schemeClr val="tx1"/>
                    </a:solidFill>
                  </a:rPr>
                  <a:t>Their application to any set of re-ordered samples will endow those samples with the same ordering.</a:t>
                </a:r>
              </a:p>
            </p:txBody>
          </p:sp>
        </mc:Choice>
        <mc:Fallback xmlns="">
          <p:sp>
            <p:nvSpPr>
              <p:cNvPr id="16" name="Text Placeholder 5">
                <a:extLst>
                  <a:ext uri="{FF2B5EF4-FFF2-40B4-BE49-F238E27FC236}">
                    <a16:creationId xmlns:a16="http://schemas.microsoft.com/office/drawing/2014/main" id="{C0A8DE6A-2756-47E6-9372-08FDDF6339E5}"/>
                  </a:ext>
                </a:extLst>
              </p:cNvPr>
              <p:cNvSpPr txBox="1">
                <a:spLocks noRot="1" noChangeAspect="1" noMove="1" noResize="1" noEditPoints="1" noAdjustHandles="1" noChangeArrowheads="1" noChangeShapeType="1" noTextEdit="1"/>
              </p:cNvSpPr>
              <p:nvPr/>
            </p:nvSpPr>
            <p:spPr>
              <a:xfrm>
                <a:off x="319463" y="1034228"/>
                <a:ext cx="10931856" cy="1142646"/>
              </a:xfrm>
              <a:prstGeom prst="rect">
                <a:avLst/>
              </a:prstGeom>
              <a:blipFill>
                <a:blip r:embed="rId3"/>
                <a:stretch>
                  <a:fillRect l="-446" b="-6952"/>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ECBE08B9-ACD2-478B-9D5F-B991FB08FB6B}"/>
              </a:ext>
            </a:extLst>
          </p:cNvPr>
          <p:cNvSpPr txBox="1">
            <a:spLocks/>
          </p:cNvSpPr>
          <p:nvPr/>
        </p:nvSpPr>
        <p:spPr>
          <a:xfrm>
            <a:off x="319463" y="2529700"/>
            <a:ext cx="10931856" cy="12377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If the </a:t>
            </a:r>
            <a:r>
              <a:rPr lang="en-NZ" altLang="ja-JP" sz="1800" b="1" i="1" dirty="0">
                <a:solidFill>
                  <a:srgbClr val="C00000"/>
                </a:solidFill>
              </a:rPr>
              <a:t>F </a:t>
            </a:r>
            <a:r>
              <a:rPr lang="en-NZ" altLang="ja-JP" sz="1800" dirty="0">
                <a:solidFill>
                  <a:srgbClr val="C00000"/>
                </a:solidFill>
              </a:rPr>
              <a:t>statistic for sample S1 is greater than the </a:t>
            </a:r>
            <a:r>
              <a:rPr lang="en-NZ" altLang="ja-JP" sz="1800" b="1" i="1" dirty="0">
                <a:solidFill>
                  <a:srgbClr val="C00000"/>
                </a:solidFill>
              </a:rPr>
              <a:t>F</a:t>
            </a:r>
            <a:r>
              <a:rPr lang="en-NZ" altLang="ja-JP" sz="1800" dirty="0">
                <a:solidFill>
                  <a:srgbClr val="C00000"/>
                </a:solidFill>
              </a:rPr>
              <a:t> statistic for sample S2 </a:t>
            </a:r>
          </a:p>
          <a:p>
            <a:pPr algn="ctr">
              <a:lnSpc>
                <a:spcPct val="100000"/>
              </a:lnSpc>
            </a:pPr>
            <a:r>
              <a:rPr lang="en-NZ" altLang="ja-JP" sz="3000" dirty="0">
                <a:solidFill>
                  <a:srgbClr val="C00000"/>
                </a:solidFill>
                <a:sym typeface="Wingdings" panose="05000000000000000000" pitchFamily="2" charset="2"/>
              </a:rPr>
              <a:t></a:t>
            </a:r>
            <a:br>
              <a:rPr lang="en-NZ" altLang="ja-JP" sz="1800" dirty="0">
                <a:solidFill>
                  <a:srgbClr val="C00000"/>
                </a:solidFill>
                <a:sym typeface="Wingdings" panose="05000000000000000000" pitchFamily="2" charset="2"/>
              </a:rPr>
            </a:br>
            <a:r>
              <a:rPr lang="en-NZ" altLang="ja-JP" sz="1800" dirty="0">
                <a:solidFill>
                  <a:srgbClr val="C00000"/>
                </a:solidFill>
                <a:sym typeface="Wingdings" panose="05000000000000000000" pitchFamily="2" charset="2"/>
              </a:rPr>
              <a:t> the </a:t>
            </a:r>
            <a:r>
              <a:rPr lang="en-NZ" altLang="ja-JP" sz="1800" b="1" i="1" dirty="0">
                <a:solidFill>
                  <a:srgbClr val="C00000"/>
                </a:solidFill>
                <a:sym typeface="Wingdings" panose="05000000000000000000" pitchFamily="2" charset="2"/>
              </a:rPr>
              <a:t>X </a:t>
            </a:r>
            <a:r>
              <a:rPr lang="en-NZ" altLang="ja-JP" sz="1800" i="1" dirty="0">
                <a:solidFill>
                  <a:srgbClr val="C00000"/>
                </a:solidFill>
                <a:sym typeface="Wingdings" panose="05000000000000000000" pitchFamily="2" charset="2"/>
              </a:rPr>
              <a:t>statistic</a:t>
            </a:r>
            <a:r>
              <a:rPr lang="en-NZ" altLang="ja-JP" sz="1800" b="1" i="1" dirty="0">
                <a:solidFill>
                  <a:srgbClr val="C00000"/>
                </a:solidFill>
                <a:sym typeface="Wingdings" panose="05000000000000000000" pitchFamily="2" charset="2"/>
              </a:rPr>
              <a:t> </a:t>
            </a:r>
            <a:r>
              <a:rPr lang="en-US" altLang="ja-JP" sz="1800" dirty="0">
                <a:solidFill>
                  <a:srgbClr val="C00000"/>
                </a:solidFill>
              </a:rPr>
              <a:t>for sample S1 is greater than the </a:t>
            </a:r>
            <a:r>
              <a:rPr lang="en-US" altLang="ja-JP" sz="1800" b="1" i="1" dirty="0">
                <a:solidFill>
                  <a:srgbClr val="C00000"/>
                </a:solidFill>
              </a:rPr>
              <a:t>X</a:t>
            </a:r>
            <a:r>
              <a:rPr lang="en-US" altLang="ja-JP" sz="1800" i="1" dirty="0">
                <a:solidFill>
                  <a:srgbClr val="C00000"/>
                </a:solidFill>
              </a:rPr>
              <a:t> statistic </a:t>
            </a:r>
            <a:r>
              <a:rPr lang="en-US" altLang="ja-JP" sz="1800" dirty="0">
                <a:solidFill>
                  <a:srgbClr val="C00000"/>
                </a:solidFill>
              </a:rPr>
              <a:t>for sample S2</a:t>
            </a: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824BAAF9-F6CD-44DD-8823-5052CE69852A}"/>
                  </a:ext>
                </a:extLst>
              </p:cNvPr>
              <p:cNvSpPr txBox="1">
                <a:spLocks/>
              </p:cNvSpPr>
              <p:nvPr/>
            </p:nvSpPr>
            <p:spPr>
              <a:xfrm>
                <a:off x="630072" y="4245138"/>
                <a:ext cx="10931856" cy="20401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Since   </a:t>
                </a:r>
                <a14:m>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f>
                          <m:fPr>
                            <m:ctrlPr>
                              <a:rPr lang="en-NZ" altLang="ja-JP" sz="1800" b="1" i="1" smtClean="0">
                                <a:solidFill>
                                  <a:schemeClr val="tx1"/>
                                </a:solidFill>
                                <a:latin typeface="Cambria Math" panose="02040503050406030204" pitchFamily="18" charset="0"/>
                              </a:rPr>
                            </m:ctrlPr>
                          </m:fPr>
                          <m:num>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𝑻</m:t>
                                </m:r>
                              </m:e>
                              <m:sub>
                                <m:r>
                                  <a:rPr lang="en-NZ" altLang="ja-JP" sz="1800" b="1" i="1" smtClean="0">
                                    <a:solidFill>
                                      <a:schemeClr val="tx1"/>
                                    </a:solidFill>
                                    <a:latin typeface="Cambria Math" panose="02040503050406030204" pitchFamily="18" charset="0"/>
                                  </a:rPr>
                                  <m:t>𝒊</m:t>
                                </m:r>
                              </m:sub>
                              <m:sup>
                                <m:r>
                                  <a:rPr lang="en-NZ" altLang="ja-JP" sz="1800" b="1" i="1" smtClean="0">
                                    <a:solidFill>
                                      <a:schemeClr val="tx1"/>
                                    </a:solidFill>
                                    <a:latin typeface="Cambria Math" panose="02040503050406030204" pitchFamily="18" charset="0"/>
                                  </a:rPr>
                                  <m:t>𝟐</m:t>
                                </m:r>
                              </m:sup>
                            </m:sSubSup>
                          </m:num>
                          <m:den>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𝒏</m:t>
                                </m:r>
                              </m:e>
                              <m:sub>
                                <m:r>
                                  <a:rPr lang="en-NZ" altLang="ja-JP" sz="1800" b="1" i="1" smtClean="0">
                                    <a:solidFill>
                                      <a:schemeClr val="tx1"/>
                                    </a:solidFill>
                                    <a:latin typeface="Cambria Math" panose="02040503050406030204" pitchFamily="18" charset="0"/>
                                  </a:rPr>
                                  <m:t>𝒊</m:t>
                                </m:r>
                              </m:sub>
                            </m:sSub>
                          </m:den>
                        </m:f>
                      </m:e>
                    </m:nary>
                  </m:oMath>
                </a14:m>
                <a:r>
                  <a:rPr lang="en-US" altLang="ja-JP" sz="1800" dirty="0">
                    <a:solidFill>
                      <a:schemeClr val="tx1"/>
                    </a:solidFill>
                  </a:rPr>
                  <a:t>    is  computationally simpler than   </a:t>
                </a:r>
                <a14:m>
                  <m:oMath xmlns:m="http://schemas.openxmlformats.org/officeDocument/2006/math">
                    <m:r>
                      <a:rPr lang="en-NZ" altLang="ja-JP" sz="1800" b="1" i="1">
                        <a:solidFill>
                          <a:schemeClr val="tx1"/>
                        </a:solidFill>
                        <a:latin typeface="Cambria Math" panose="02040503050406030204" pitchFamily="18" charset="0"/>
                      </a:rPr>
                      <m:t>𝑭</m:t>
                    </m:r>
                    <m:r>
                      <a:rPr lang="en-NZ" altLang="ja-JP" sz="1800" b="1" i="1">
                        <a:solidFill>
                          <a:schemeClr val="tx1"/>
                        </a:solidFill>
                        <a:latin typeface="Cambria Math" panose="02040503050406030204" pitchFamily="18" charset="0"/>
                      </a:rPr>
                      <m:t>  =</m:t>
                    </m:r>
                    <m:f>
                      <m:fPr>
                        <m:ctrlPr>
                          <a:rPr lang="en-NZ" altLang="ja-JP" sz="1800" i="1">
                            <a:solidFill>
                              <a:schemeClr val="tx1"/>
                            </a:solidFill>
                            <a:latin typeface="Cambria Math" panose="02040503050406030204" pitchFamily="18" charset="0"/>
                          </a:rPr>
                        </m:ctrlPr>
                      </m:fPr>
                      <m:num>
                        <m:f>
                          <m:fPr>
                            <m:type m:val="lin"/>
                            <m:ctrlPr>
                              <a:rPr lang="en-NZ" altLang="ja-JP" sz="1800" i="1">
                                <a:solidFill>
                                  <a:schemeClr val="tx1"/>
                                </a:solidFill>
                                <a:latin typeface="Cambria Math" panose="02040503050406030204" pitchFamily="18" charset="0"/>
                              </a:rPr>
                            </m:ctrlPr>
                          </m:fPr>
                          <m:num>
                            <m:d>
                              <m:dPr>
                                <m:ctrlPr>
                                  <a:rPr lang="en-NZ" altLang="ja-JP" sz="1800" i="1">
                                    <a:solidFill>
                                      <a:schemeClr val="tx1"/>
                                    </a:solidFill>
                                    <a:latin typeface="Cambria Math" panose="02040503050406030204" pitchFamily="18" charset="0"/>
                                  </a:rPr>
                                </m:ctrlPr>
                              </m:dPr>
                              <m:e>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m:t>
                                    </m:r>
                                    <m:r>
                                      <m:rPr>
                                        <m:brk m:alnAt="23"/>
                                      </m:rPr>
                                      <a:rPr lang="en-NZ" altLang="ja-JP" sz="1800" i="1">
                                        <a:solidFill>
                                          <a:schemeClr val="tx1"/>
                                        </a:solidFill>
                                        <a:latin typeface="Cambria Math" panose="02040503050406030204" pitchFamily="18" charset="0"/>
                                      </a:rPr>
                                      <m:t>1</m:t>
                                    </m:r>
                                  </m:sub>
                                  <m:sup>
                                    <m:r>
                                      <a:rPr lang="en-NZ" altLang="ja-JP" sz="1800" i="1">
                                        <a:solidFill>
                                          <a:schemeClr val="tx1"/>
                                        </a:solidFill>
                                        <a:latin typeface="Cambria Math" panose="02040503050406030204" pitchFamily="18" charset="0"/>
                                      </a:rPr>
                                      <m:t>𝑘</m:t>
                                    </m:r>
                                  </m:sup>
                                  <m:e>
                                    <m:f>
                                      <m:fPr>
                                        <m:ctrlPr>
                                          <a:rPr lang="en-NZ" altLang="ja-JP" sz="1800" i="1">
                                            <a:solidFill>
                                              <a:schemeClr val="tx1"/>
                                            </a:solidFill>
                                            <a:latin typeface="Cambria Math" panose="02040503050406030204" pitchFamily="18" charset="0"/>
                                          </a:rPr>
                                        </m:ctrlPr>
                                      </m:fPr>
                                      <m:num>
                                        <m:sSubSup>
                                          <m:sSubSupPr>
                                            <m:ctrlPr>
                                              <a:rPr lang="en-NZ" altLang="ja-JP" sz="1800" i="1">
                                                <a:solidFill>
                                                  <a:schemeClr val="tx1"/>
                                                </a:solidFill>
                                                <a:latin typeface="Cambria Math" panose="02040503050406030204" pitchFamily="18" charset="0"/>
                                              </a:rPr>
                                            </m:ctrlPr>
                                          </m:sSubSupPr>
                                          <m:e>
                                            <m:r>
                                              <a:rPr lang="en-NZ" altLang="ja-JP" sz="1800" i="1">
                                                <a:solidFill>
                                                  <a:schemeClr val="tx1"/>
                                                </a:solidFill>
                                                <a:latin typeface="Cambria Math" panose="02040503050406030204" pitchFamily="18" charset="0"/>
                                              </a:rPr>
                                              <m:t>𝑇</m:t>
                                            </m:r>
                                          </m:e>
                                          <m:sub>
                                            <m:r>
                                              <a:rPr lang="en-NZ" altLang="ja-JP" sz="1800" i="1">
                                                <a:solidFill>
                                                  <a:schemeClr val="tx1"/>
                                                </a:solidFill>
                                                <a:latin typeface="Cambria Math" panose="02040503050406030204" pitchFamily="18" charset="0"/>
                                              </a:rPr>
                                              <m:t>𝑖</m:t>
                                            </m:r>
                                          </m:sub>
                                          <m:sup>
                                            <m:r>
                                              <a:rPr lang="en-NZ" altLang="ja-JP" sz="1800" i="1">
                                                <a:solidFill>
                                                  <a:schemeClr val="tx1"/>
                                                </a:solidFill>
                                                <a:latin typeface="Cambria Math" panose="02040503050406030204" pitchFamily="18" charset="0"/>
                                              </a:rPr>
                                              <m:t>2</m:t>
                                            </m:r>
                                          </m:sup>
                                        </m:sSubSup>
                                      </m:num>
                                      <m:den>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𝑛</m:t>
                                            </m:r>
                                          </m:e>
                                          <m:sub>
                                            <m:r>
                                              <a:rPr lang="en-NZ" altLang="ja-JP" sz="1800" i="1">
                                                <a:solidFill>
                                                  <a:schemeClr val="tx1"/>
                                                </a:solidFill>
                                                <a:latin typeface="Cambria Math" panose="02040503050406030204" pitchFamily="18" charset="0"/>
                                              </a:rPr>
                                              <m:t>𝑖</m:t>
                                            </m:r>
                                          </m:sub>
                                        </m:sSub>
                                      </m:den>
                                    </m:f>
                                  </m:e>
                                </m:nary>
                                <m:r>
                                  <a:rPr lang="en-NZ" altLang="ja-JP" sz="1800" i="1">
                                    <a:solidFill>
                                      <a:schemeClr val="tx1"/>
                                    </a:solidFill>
                                    <a:latin typeface="Cambria Math" panose="02040503050406030204" pitchFamily="18" charset="0"/>
                                  </a:rPr>
                                  <m:t>   −   </m:t>
                                </m:r>
                                <m:f>
                                  <m:fPr>
                                    <m:ctrlPr>
                                      <a:rPr lang="en-NZ" altLang="ja-JP" sz="1800" i="1">
                                        <a:solidFill>
                                          <a:schemeClr val="tx1"/>
                                        </a:solidFill>
                                        <a:latin typeface="Cambria Math" panose="02040503050406030204" pitchFamily="18" charset="0"/>
                                      </a:rPr>
                                    </m:ctrlPr>
                                  </m:fPr>
                                  <m:num>
                                    <m:sSup>
                                      <m:sSupPr>
                                        <m:ctrlPr>
                                          <a:rPr lang="en-NZ" altLang="ja-JP" sz="1800" i="1">
                                            <a:solidFill>
                                              <a:schemeClr val="tx1"/>
                                            </a:solidFill>
                                            <a:latin typeface="Cambria Math" panose="02040503050406030204" pitchFamily="18" charset="0"/>
                                          </a:rPr>
                                        </m:ctrlPr>
                                      </m:sSupPr>
                                      <m:e>
                                        <m:r>
                                          <a:rPr lang="en-NZ" altLang="ja-JP" sz="1800" i="1">
                                            <a:solidFill>
                                              <a:schemeClr val="tx1"/>
                                            </a:solidFill>
                                            <a:latin typeface="Cambria Math" panose="02040503050406030204" pitchFamily="18" charset="0"/>
                                          </a:rPr>
                                          <m:t>𝐺</m:t>
                                        </m:r>
                                      </m:e>
                                      <m:sup>
                                        <m:r>
                                          <a:rPr lang="en-NZ" altLang="ja-JP" sz="1800" i="1">
                                            <a:solidFill>
                                              <a:schemeClr val="tx1"/>
                                            </a:solidFill>
                                            <a:latin typeface="Cambria Math" panose="02040503050406030204" pitchFamily="18" charset="0"/>
                                          </a:rPr>
                                          <m:t>2</m:t>
                                        </m:r>
                                      </m:sup>
                                    </m:sSup>
                                  </m:num>
                                  <m:den>
                                    <m:r>
                                      <a:rPr lang="en-NZ" altLang="ja-JP" sz="1800" i="1">
                                        <a:solidFill>
                                          <a:schemeClr val="tx1"/>
                                        </a:solidFill>
                                        <a:latin typeface="Cambria Math" panose="02040503050406030204" pitchFamily="18" charset="0"/>
                                      </a:rPr>
                                      <m:t>𝑁</m:t>
                                    </m:r>
                                  </m:den>
                                </m:f>
                              </m:e>
                            </m:d>
                            <m:r>
                              <a:rPr lang="en-NZ" altLang="ja-JP" sz="1800" i="1">
                                <a:solidFill>
                                  <a:schemeClr val="tx1"/>
                                </a:solidFill>
                                <a:latin typeface="Cambria Math" panose="02040503050406030204" pitchFamily="18" charset="0"/>
                              </a:rPr>
                              <m:t> </m:t>
                            </m:r>
                          </m:num>
                          <m:den>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−1)</m:t>
                            </m:r>
                          </m:den>
                        </m:f>
                      </m:num>
                      <m:den>
                        <m:f>
                          <m:fPr>
                            <m:type m:val="lin"/>
                            <m:ctrlPr>
                              <a:rPr lang="en-NZ" altLang="ja-JP" sz="1800" i="1">
                                <a:solidFill>
                                  <a:schemeClr val="tx1"/>
                                </a:solidFill>
                                <a:latin typeface="Cambria Math" panose="02040503050406030204" pitchFamily="18" charset="0"/>
                              </a:rPr>
                            </m:ctrlPr>
                          </m:fPr>
                          <m:num>
                            <m:d>
                              <m:dPr>
                                <m:ctrlPr>
                                  <a:rPr lang="en-NZ" altLang="ja-JP" sz="1800" i="1">
                                    <a:solidFill>
                                      <a:schemeClr val="tx1"/>
                                    </a:solidFill>
                                    <a:latin typeface="Cambria Math" panose="02040503050406030204" pitchFamily="18" charset="0"/>
                                  </a:rPr>
                                </m:ctrlPr>
                              </m:dPr>
                              <m:e>
                                <m:r>
                                  <a:rPr lang="en-NZ" altLang="ja-JP" sz="1800" i="1">
                                    <a:solidFill>
                                      <a:schemeClr val="tx1"/>
                                    </a:solidFill>
                                    <a:latin typeface="Cambria Math" panose="02040503050406030204" pitchFamily="18" charset="0"/>
                                  </a:rPr>
                                  <m:t> </m:t>
                                </m:r>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m:t>
                                    </m:r>
                                  </m:sub>
                                  <m:sup>
                                    <m:r>
                                      <a:rPr lang="en-NZ" altLang="ja-JP" sz="1800" i="1">
                                        <a:solidFill>
                                          <a:schemeClr val="tx1"/>
                                        </a:solidFill>
                                        <a:latin typeface="Cambria Math" panose="02040503050406030204" pitchFamily="18" charset="0"/>
                                      </a:rPr>
                                      <m:t>𝑘</m:t>
                                    </m:r>
                                  </m:sup>
                                  <m:e>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𝑗</m:t>
                                        </m:r>
                                        <m:r>
                                          <a:rPr lang="en-NZ" altLang="ja-JP" sz="1800" i="1">
                                            <a:solidFill>
                                              <a:schemeClr val="tx1"/>
                                            </a:solidFill>
                                            <a:latin typeface="Cambria Math" panose="02040503050406030204" pitchFamily="18" charset="0"/>
                                          </a:rPr>
                                          <m:t>=1</m:t>
                                        </m:r>
                                      </m:sub>
                                      <m:sup>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𝑛</m:t>
                                            </m:r>
                                          </m:e>
                                          <m:sub>
                                            <m:r>
                                              <a:rPr lang="en-NZ" altLang="ja-JP" sz="1800" i="1">
                                                <a:solidFill>
                                                  <a:schemeClr val="tx1"/>
                                                </a:solidFill>
                                                <a:latin typeface="Cambria Math" panose="02040503050406030204" pitchFamily="18" charset="0"/>
                                              </a:rPr>
                                              <m:t>𝑖</m:t>
                                            </m:r>
                                          </m:sub>
                                        </m:sSub>
                                      </m:sup>
                                      <m:e>
                                        <m:sSubSup>
                                          <m:sSubSupPr>
                                            <m:ctrlPr>
                                              <a:rPr lang="en-NZ" altLang="ja-JP" sz="1800" i="1">
                                                <a:solidFill>
                                                  <a:schemeClr val="tx1"/>
                                                </a:solidFill>
                                                <a:latin typeface="Cambria Math" panose="02040503050406030204" pitchFamily="18" charset="0"/>
                                              </a:rPr>
                                            </m:ctrlPr>
                                          </m:sSubSup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𝑖𝑗</m:t>
                                            </m:r>
                                          </m:sub>
                                          <m:sup>
                                            <m:r>
                                              <a:rPr lang="en-NZ" altLang="ja-JP" sz="1800" i="1">
                                                <a:solidFill>
                                                  <a:schemeClr val="tx1"/>
                                                </a:solidFill>
                                                <a:latin typeface="Cambria Math" panose="02040503050406030204" pitchFamily="18" charset="0"/>
                                              </a:rPr>
                                              <m:t>2</m:t>
                                            </m:r>
                                          </m:sup>
                                        </m:sSubSup>
                                      </m:e>
                                    </m:nary>
                                    <m:r>
                                      <a:rPr lang="en-NZ" altLang="ja-JP" sz="1800" i="1">
                                        <a:solidFill>
                                          <a:schemeClr val="tx1"/>
                                        </a:solidFill>
                                        <a:latin typeface="Cambria Math" panose="02040503050406030204" pitchFamily="18" charset="0"/>
                                      </a:rPr>
                                      <m:t>  −  </m:t>
                                    </m:r>
                                    <m:nary>
                                      <m:naryPr>
                                        <m:chr m:val="∑"/>
                                        <m:ctrlPr>
                                          <a:rPr lang="en-NZ" altLang="ja-JP" sz="1800" i="1">
                                            <a:solidFill>
                                              <a:schemeClr val="tx1"/>
                                            </a:solidFill>
                                            <a:latin typeface="Cambria Math" panose="02040503050406030204" pitchFamily="18" charset="0"/>
                                          </a:rPr>
                                        </m:ctrlPr>
                                      </m:naryPr>
                                      <m:sub>
                                        <m:r>
                                          <m:rPr>
                                            <m:brk m:alnAt="23"/>
                                          </m:rP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m:t>
                                        </m:r>
                                      </m:sub>
                                      <m:sup>
                                        <m:r>
                                          <a:rPr lang="en-NZ" altLang="ja-JP" sz="1800" i="1">
                                            <a:solidFill>
                                              <a:schemeClr val="tx1"/>
                                            </a:solidFill>
                                            <a:latin typeface="Cambria Math" panose="02040503050406030204" pitchFamily="18" charset="0"/>
                                          </a:rPr>
                                          <m:t>𝑘</m:t>
                                        </m:r>
                                      </m:sup>
                                      <m:e>
                                        <m:f>
                                          <m:fPr>
                                            <m:ctrlPr>
                                              <a:rPr lang="en-NZ" altLang="ja-JP" sz="1800" i="1">
                                                <a:solidFill>
                                                  <a:schemeClr val="tx1"/>
                                                </a:solidFill>
                                                <a:latin typeface="Cambria Math" panose="02040503050406030204" pitchFamily="18" charset="0"/>
                                              </a:rPr>
                                            </m:ctrlPr>
                                          </m:fPr>
                                          <m:num>
                                            <m:sSubSup>
                                              <m:sSubSupPr>
                                                <m:ctrlPr>
                                                  <a:rPr lang="en-NZ" altLang="ja-JP" sz="1800" i="1">
                                                    <a:solidFill>
                                                      <a:schemeClr val="tx1"/>
                                                    </a:solidFill>
                                                    <a:latin typeface="Cambria Math" panose="02040503050406030204" pitchFamily="18" charset="0"/>
                                                  </a:rPr>
                                                </m:ctrlPr>
                                              </m:sSubSupPr>
                                              <m:e>
                                                <m:r>
                                                  <a:rPr lang="en-NZ" altLang="ja-JP" sz="1800" i="1">
                                                    <a:solidFill>
                                                      <a:schemeClr val="tx1"/>
                                                    </a:solidFill>
                                                    <a:latin typeface="Cambria Math" panose="02040503050406030204" pitchFamily="18" charset="0"/>
                                                  </a:rPr>
                                                  <m:t>𝑇</m:t>
                                                </m:r>
                                              </m:e>
                                              <m:sub>
                                                <m:r>
                                                  <a:rPr lang="en-NZ" altLang="ja-JP" sz="1800" i="1">
                                                    <a:solidFill>
                                                      <a:schemeClr val="tx1"/>
                                                    </a:solidFill>
                                                    <a:latin typeface="Cambria Math" panose="02040503050406030204" pitchFamily="18" charset="0"/>
                                                  </a:rPr>
                                                  <m:t>𝑖</m:t>
                                                </m:r>
                                              </m:sub>
                                              <m:sup>
                                                <m:r>
                                                  <a:rPr lang="en-NZ" altLang="ja-JP" sz="1800" i="1">
                                                    <a:solidFill>
                                                      <a:schemeClr val="tx1"/>
                                                    </a:solidFill>
                                                    <a:latin typeface="Cambria Math" panose="02040503050406030204" pitchFamily="18" charset="0"/>
                                                  </a:rPr>
                                                  <m:t>2</m:t>
                                                </m:r>
                                              </m:sup>
                                            </m:sSubSup>
                                          </m:num>
                                          <m:den>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𝑛</m:t>
                                                </m:r>
                                              </m:e>
                                              <m:sub>
                                                <m:r>
                                                  <a:rPr lang="en-NZ" altLang="ja-JP" sz="1800" i="1">
                                                    <a:solidFill>
                                                      <a:schemeClr val="tx1"/>
                                                    </a:solidFill>
                                                    <a:latin typeface="Cambria Math" panose="02040503050406030204" pitchFamily="18" charset="0"/>
                                                  </a:rPr>
                                                  <m:t>𝑖</m:t>
                                                </m:r>
                                              </m:sub>
                                            </m:sSub>
                                          </m:den>
                                        </m:f>
                                      </m:e>
                                    </m:nary>
                                  </m:e>
                                </m:nary>
                                <m:r>
                                  <a:rPr lang="en-NZ" altLang="ja-JP" sz="1800" i="1">
                                    <a:solidFill>
                                      <a:schemeClr val="tx1"/>
                                    </a:solidFill>
                                    <a:latin typeface="Cambria Math" panose="02040503050406030204" pitchFamily="18" charset="0"/>
                                  </a:rPr>
                                  <m:t>  </m:t>
                                </m:r>
                              </m:e>
                            </m:d>
                            <m:r>
                              <a:rPr lang="en-NZ" altLang="ja-JP" sz="1800" i="1">
                                <a:solidFill>
                                  <a:schemeClr val="tx1"/>
                                </a:solidFill>
                                <a:latin typeface="Cambria Math" panose="02040503050406030204" pitchFamily="18" charset="0"/>
                              </a:rPr>
                              <m:t> </m:t>
                            </m:r>
                          </m:num>
                          <m:den>
                            <m:r>
                              <a:rPr lang="en-NZ" altLang="ja-JP" sz="1800" i="1">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𝑁</m:t>
                            </m:r>
                            <m:r>
                              <a:rPr lang="en-NZ" altLang="ja-JP" sz="1800" i="1">
                                <a:solidFill>
                                  <a:schemeClr val="tx1"/>
                                </a:solidFill>
                                <a:latin typeface="Cambria Math" panose="02040503050406030204" pitchFamily="18" charset="0"/>
                              </a:rPr>
                              <m:t>−</m:t>
                            </m:r>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den>
                        </m:f>
                      </m:den>
                    </m:f>
                  </m:oMath>
                </a14:m>
                <a:endParaRPr lang="en-US" altLang="ja-JP" sz="1800" dirty="0">
                  <a:solidFill>
                    <a:schemeClr val="tx1"/>
                  </a:solidFill>
                </a:endParaRPr>
              </a:p>
              <a:p>
                <a:pPr algn="ctr">
                  <a:lnSpc>
                    <a:spcPct val="100000"/>
                  </a:lnSpc>
                </a:pPr>
                <a:endParaRPr lang="en-US" altLang="ja-JP" sz="1800" dirty="0">
                  <a:solidFill>
                    <a:schemeClr val="tx1"/>
                  </a:solidFill>
                </a:endParaRPr>
              </a:p>
              <a:p>
                <a:pPr>
                  <a:lnSpc>
                    <a:spcPct val="100000"/>
                  </a:lnSpc>
                </a:pPr>
                <a:r>
                  <a:rPr lang="en-US" altLang="ja-JP" sz="1800" dirty="0">
                    <a:solidFill>
                      <a:schemeClr val="tx1"/>
                    </a:solidFill>
                  </a:rPr>
                  <a:t>the former should be preferred as a permutation test statistic as it will speed up the algorithm.</a:t>
                </a:r>
              </a:p>
            </p:txBody>
          </p:sp>
        </mc:Choice>
        <mc:Fallback xmlns="">
          <p:sp>
            <p:nvSpPr>
              <p:cNvPr id="25" name="Text Placeholder 5">
                <a:extLst>
                  <a:ext uri="{FF2B5EF4-FFF2-40B4-BE49-F238E27FC236}">
                    <a16:creationId xmlns:a16="http://schemas.microsoft.com/office/drawing/2014/main" id="{824BAAF9-F6CD-44DD-8823-5052CE69852A}"/>
                  </a:ext>
                </a:extLst>
              </p:cNvPr>
              <p:cNvSpPr txBox="1">
                <a:spLocks noRot="1" noChangeAspect="1" noMove="1" noResize="1" noEditPoints="1" noAdjustHandles="1" noChangeArrowheads="1" noChangeShapeType="1" noTextEdit="1"/>
              </p:cNvSpPr>
              <p:nvPr/>
            </p:nvSpPr>
            <p:spPr>
              <a:xfrm>
                <a:off x="630072" y="4245138"/>
                <a:ext cx="10931856" cy="2040160"/>
              </a:xfrm>
              <a:prstGeom prst="rect">
                <a:avLst/>
              </a:prstGeom>
              <a:blipFill>
                <a:blip r:embed="rId4"/>
                <a:stretch>
                  <a:fillRect l="-446"/>
                </a:stretch>
              </a:blipFill>
            </p:spPr>
            <p:txBody>
              <a:bodyPr/>
              <a:lstStyle/>
              <a:p>
                <a:r>
                  <a:rPr lang="en-NZ">
                    <a:noFill/>
                  </a:rPr>
                  <a:t> </a:t>
                </a:r>
              </a:p>
            </p:txBody>
          </p:sp>
        </mc:Fallback>
      </mc:AlternateContent>
      <p:sp>
        <p:nvSpPr>
          <p:cNvPr id="2" name="Footer Placeholder 2">
            <a:extLst>
              <a:ext uri="{FF2B5EF4-FFF2-40B4-BE49-F238E27FC236}">
                <a16:creationId xmlns:a16="http://schemas.microsoft.com/office/drawing/2014/main" id="{5A1A20AF-E2D6-006E-8315-03F6E54D581A}"/>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
        <p:nvSpPr>
          <p:cNvPr id="3" name="Title 6">
            <a:extLst>
              <a:ext uri="{FF2B5EF4-FFF2-40B4-BE49-F238E27FC236}">
                <a16:creationId xmlns:a16="http://schemas.microsoft.com/office/drawing/2014/main" id="{ABB345F7-E57B-8757-78AC-7EBACDE60F45}"/>
              </a:ext>
            </a:extLst>
          </p:cNvPr>
          <p:cNvSpPr txBox="1">
            <a:spLocks/>
          </p:cNvSpPr>
          <p:nvPr/>
        </p:nvSpPr>
        <p:spPr>
          <a:xfrm>
            <a:off x="319463" y="196889"/>
            <a:ext cx="6599952"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6.5b – Transport Study Example:</a:t>
            </a:r>
            <a:endParaRPr lang="ja-JP" altLang="en-US" b="1" u="sng" dirty="0">
              <a:latin typeface="+mn-lt"/>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A53188C6-EE64-6EC1-AD6D-E6B9D845A931}"/>
                  </a:ext>
                </a:extLst>
              </p:cNvPr>
              <p:cNvSpPr txBox="1">
                <a:spLocks/>
              </p:cNvSpPr>
              <p:nvPr/>
            </p:nvSpPr>
            <p:spPr>
              <a:xfrm flipH="1">
                <a:off x="7267933" y="928937"/>
                <a:ext cx="1889879" cy="893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𝑇</m:t>
                          </m:r>
                        </m:e>
                        <m:sub>
                          <m:r>
                            <a:rPr lang="en-NZ" altLang="ja-JP" sz="1800" b="0" i="1" smtClean="0">
                              <a:solidFill>
                                <a:schemeClr val="bg2">
                                  <a:lumMod val="50000"/>
                                </a:schemeClr>
                              </a:solidFill>
                              <a:latin typeface="Cambria Math" panose="02040503050406030204" pitchFamily="18" charset="0"/>
                            </a:rPr>
                            <m:t>𝑖</m:t>
                          </m:r>
                        </m:sub>
                      </m:sSub>
                      <m:r>
                        <a:rPr lang="en-NZ" altLang="ja-JP" sz="1800" b="0" i="1" smtClean="0">
                          <a:solidFill>
                            <a:schemeClr val="bg2">
                              <a:lumMod val="50000"/>
                            </a:schemeClr>
                          </a:solidFill>
                          <a:latin typeface="Cambria Math" panose="02040503050406030204" pitchFamily="18" charset="0"/>
                        </a:rPr>
                        <m:t>= </m:t>
                      </m:r>
                      <m:nary>
                        <m:naryPr>
                          <m:chr m:val="∑"/>
                          <m:ctrlPr>
                            <a:rPr lang="en-NZ" altLang="ja-JP" sz="1800" b="0" i="1" smtClean="0">
                              <a:solidFill>
                                <a:schemeClr val="bg2">
                                  <a:lumMod val="50000"/>
                                </a:schemeClr>
                              </a:solidFill>
                              <a:latin typeface="Cambria Math" panose="02040503050406030204" pitchFamily="18" charset="0"/>
                            </a:rPr>
                          </m:ctrlPr>
                        </m:naryPr>
                        <m:sub>
                          <m:r>
                            <m:rPr>
                              <m:brk m:alnAt="23"/>
                            </m:rPr>
                            <a:rPr lang="en-NZ" altLang="ja-JP" sz="1800" b="0" i="1" smtClean="0">
                              <a:solidFill>
                                <a:schemeClr val="bg2">
                                  <a:lumMod val="50000"/>
                                </a:schemeClr>
                              </a:solidFill>
                              <a:latin typeface="Cambria Math" panose="02040503050406030204" pitchFamily="18" charset="0"/>
                            </a:rPr>
                            <m:t>𝑗</m:t>
                          </m:r>
                          <m:r>
                            <a:rPr lang="en-NZ" altLang="ja-JP" sz="1800" b="0" i="1" smtClean="0">
                              <a:solidFill>
                                <a:schemeClr val="bg2">
                                  <a:lumMod val="50000"/>
                                </a:schemeClr>
                              </a:solidFill>
                              <a:latin typeface="Cambria Math" panose="02040503050406030204" pitchFamily="18" charset="0"/>
                            </a:rPr>
                            <m:t>=</m:t>
                          </m:r>
                          <m:r>
                            <m:rPr>
                              <m:brk m:alnAt="23"/>
                            </m:rPr>
                            <a:rPr lang="en-NZ" altLang="ja-JP" sz="1800" b="0" i="1" smtClean="0">
                              <a:solidFill>
                                <a:schemeClr val="bg2">
                                  <a:lumMod val="50000"/>
                                </a:schemeClr>
                              </a:solidFill>
                              <a:latin typeface="Cambria Math" panose="02040503050406030204" pitchFamily="18" charset="0"/>
                            </a:rPr>
                            <m:t>1</m:t>
                          </m:r>
                        </m:sub>
                        <m:sup>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𝑛</m:t>
                              </m:r>
                            </m:e>
                            <m:sub>
                              <m:r>
                                <a:rPr lang="en-NZ" altLang="ja-JP" sz="1800" b="0" i="1" smtClean="0">
                                  <a:solidFill>
                                    <a:schemeClr val="bg2">
                                      <a:lumMod val="50000"/>
                                    </a:schemeClr>
                                  </a:solidFill>
                                  <a:latin typeface="Cambria Math" panose="02040503050406030204" pitchFamily="18" charset="0"/>
                                </a:rPr>
                                <m:t>𝑖</m:t>
                              </m:r>
                            </m:sub>
                          </m:sSub>
                        </m:sup>
                        <m:e>
                          <m:sSub>
                            <m:sSubPr>
                              <m:ctrlPr>
                                <a:rPr lang="en-NZ" altLang="ja-JP" sz="1800" b="0" i="1" smtClean="0">
                                  <a:solidFill>
                                    <a:schemeClr val="bg2">
                                      <a:lumMod val="50000"/>
                                    </a:schemeClr>
                                  </a:solidFill>
                                  <a:latin typeface="Cambria Math" panose="02040503050406030204" pitchFamily="18" charset="0"/>
                                </a:rPr>
                              </m:ctrlPr>
                            </m:sSubPr>
                            <m:e>
                              <m:r>
                                <a:rPr lang="en-NZ" altLang="ja-JP" sz="1800" b="0" i="1" smtClean="0">
                                  <a:solidFill>
                                    <a:schemeClr val="bg2">
                                      <a:lumMod val="50000"/>
                                    </a:schemeClr>
                                  </a:solidFill>
                                  <a:latin typeface="Cambria Math" panose="02040503050406030204" pitchFamily="18" charset="0"/>
                                </a:rPr>
                                <m:t>𝑌</m:t>
                              </m:r>
                            </m:e>
                            <m:sub>
                              <m:r>
                                <a:rPr lang="en-NZ" altLang="ja-JP" sz="1800" b="0" i="1" smtClean="0">
                                  <a:solidFill>
                                    <a:schemeClr val="bg2">
                                      <a:lumMod val="50000"/>
                                    </a:schemeClr>
                                  </a:solidFill>
                                  <a:latin typeface="Cambria Math" panose="02040503050406030204" pitchFamily="18" charset="0"/>
                                </a:rPr>
                                <m:t>𝑖𝑗</m:t>
                              </m:r>
                            </m:sub>
                          </m:sSub>
                        </m:e>
                      </m:nary>
                    </m:oMath>
                  </m:oMathPara>
                </a14:m>
                <a:endParaRPr lang="en-NZ" altLang="ja-JP" sz="1800" dirty="0">
                  <a:solidFill>
                    <a:schemeClr val="bg2">
                      <a:lumMod val="50000"/>
                    </a:schemeClr>
                  </a:solidFill>
                </a:endParaRPr>
              </a:p>
              <a:p>
                <a:pPr algn="just">
                  <a:lnSpc>
                    <a:spcPct val="100000"/>
                  </a:lnSpc>
                </a:pPr>
                <a:endParaRPr lang="en-NZ" altLang="ja-JP" sz="1800" i="1" dirty="0">
                  <a:solidFill>
                    <a:schemeClr val="bg2">
                      <a:lumMod val="50000"/>
                    </a:schemeClr>
                  </a:solidFill>
                </a:endParaRPr>
              </a:p>
            </p:txBody>
          </p:sp>
        </mc:Choice>
        <mc:Fallback xmlns="">
          <p:sp>
            <p:nvSpPr>
              <p:cNvPr id="6" name="Text Placeholder 5">
                <a:extLst>
                  <a:ext uri="{FF2B5EF4-FFF2-40B4-BE49-F238E27FC236}">
                    <a16:creationId xmlns:a16="http://schemas.microsoft.com/office/drawing/2014/main" id="{A53188C6-EE64-6EC1-AD6D-E6B9D845A931}"/>
                  </a:ext>
                </a:extLst>
              </p:cNvPr>
              <p:cNvSpPr txBox="1">
                <a:spLocks noRot="1" noChangeAspect="1" noMove="1" noResize="1" noEditPoints="1" noAdjustHandles="1" noChangeArrowheads="1" noChangeShapeType="1" noTextEdit="1"/>
              </p:cNvSpPr>
              <p:nvPr/>
            </p:nvSpPr>
            <p:spPr>
              <a:xfrm flipH="1">
                <a:off x="7267933" y="928937"/>
                <a:ext cx="1889879" cy="893534"/>
              </a:xfrm>
              <a:prstGeom prst="rect">
                <a:avLst/>
              </a:prstGeom>
              <a:blipFill>
                <a:blip r:embed="rId5"/>
                <a:stretch>
                  <a:fillRect/>
                </a:stretch>
              </a:blipFill>
            </p:spPr>
            <p:txBody>
              <a:bodyPr/>
              <a:lstStyle/>
              <a:p>
                <a:r>
                  <a:rPr lang="en-NZ">
                    <a:noFill/>
                  </a:rPr>
                  <a:t> </a:t>
                </a:r>
              </a:p>
            </p:txBody>
          </p:sp>
        </mc:Fallback>
      </mc:AlternateContent>
      <p:sp>
        <p:nvSpPr>
          <p:cNvPr id="7" name="Text Placeholder 5">
            <a:extLst>
              <a:ext uri="{FF2B5EF4-FFF2-40B4-BE49-F238E27FC236}">
                <a16:creationId xmlns:a16="http://schemas.microsoft.com/office/drawing/2014/main" id="{287085DD-4E06-4664-8958-CFFADC6E6889}"/>
              </a:ext>
            </a:extLst>
          </p:cNvPr>
          <p:cNvSpPr txBox="1">
            <a:spLocks/>
          </p:cNvSpPr>
          <p:nvPr/>
        </p:nvSpPr>
        <p:spPr>
          <a:xfrm flipH="1">
            <a:off x="6481589" y="1211079"/>
            <a:ext cx="1064966" cy="3292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bg2">
                    <a:lumMod val="50000"/>
                  </a:schemeClr>
                </a:solidFill>
              </a:rPr>
              <a:t>where</a:t>
            </a:r>
          </a:p>
          <a:p>
            <a:pPr algn="just">
              <a:lnSpc>
                <a:spcPct val="100000"/>
              </a:lnSpc>
            </a:pPr>
            <a:endParaRPr lang="en-NZ" altLang="ja-JP" sz="1400" i="1" dirty="0">
              <a:solidFill>
                <a:schemeClr val="bg2">
                  <a:lumMod val="50000"/>
                </a:schemeClr>
              </a:solidFill>
            </a:endParaRPr>
          </a:p>
        </p:txBody>
      </p:sp>
    </p:spTree>
    <p:extLst>
      <p:ext uri="{BB962C8B-B14F-4D97-AF65-F5344CB8AC3E}">
        <p14:creationId xmlns:p14="http://schemas.microsoft.com/office/powerpoint/2010/main" val="241884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896BAF8-5CAE-7C5C-EAB5-5151D62FDADB}"/>
              </a:ext>
            </a:extLst>
          </p:cNvPr>
          <p:cNvPicPr>
            <a:picLocks noChangeAspect="1"/>
          </p:cNvPicPr>
          <p:nvPr/>
        </p:nvPicPr>
        <p:blipFill>
          <a:blip r:embed="rId2"/>
          <a:stretch>
            <a:fillRect/>
          </a:stretch>
        </p:blipFill>
        <p:spPr>
          <a:xfrm>
            <a:off x="319463" y="1805657"/>
            <a:ext cx="7943850" cy="3934095"/>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46</a:t>
            </a:fld>
            <a:endParaRPr kumimoji="1" lang="ja-JP" altLang="en-US" dirty="0">
              <a:solidFill>
                <a:srgbClr val="575454">
                  <a:lumMod val="20000"/>
                  <a:lumOff val="80000"/>
                </a:srgbClr>
              </a:solidFill>
              <a:latin typeface="Coo Hew"/>
            </a:endParaRPr>
          </a:p>
        </p:txBody>
      </p:sp>
      <p:sp>
        <p:nvSpPr>
          <p:cNvPr id="23" name="Text Placeholder 5">
            <a:extLst>
              <a:ext uri="{FF2B5EF4-FFF2-40B4-BE49-F238E27FC236}">
                <a16:creationId xmlns:a16="http://schemas.microsoft.com/office/drawing/2014/main" id="{0A012ECD-8CC3-4768-8B4A-E9154DA374C8}"/>
              </a:ext>
            </a:extLst>
          </p:cNvPr>
          <p:cNvSpPr txBox="1">
            <a:spLocks/>
          </p:cNvSpPr>
          <p:nvPr/>
        </p:nvSpPr>
        <p:spPr>
          <a:xfrm>
            <a:off x="4033038" y="1805657"/>
            <a:ext cx="167369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err="1">
                <a:solidFill>
                  <a:srgbClr val="C00000"/>
                </a:solidFill>
              </a:rPr>
              <a:t>X</a:t>
            </a:r>
            <a:r>
              <a:rPr lang="en-NZ" altLang="ja-JP" sz="1800" b="1" i="1" baseline="-25000" dirty="0" err="1">
                <a:solidFill>
                  <a:srgbClr val="C00000"/>
                </a:solidFill>
              </a:rPr>
              <a:t>obs</a:t>
            </a:r>
            <a:r>
              <a:rPr lang="en-NZ" altLang="ja-JP" sz="1800" b="1" i="1" dirty="0">
                <a:solidFill>
                  <a:srgbClr val="C00000"/>
                </a:solidFill>
              </a:rPr>
              <a:t> = 8782.45</a:t>
            </a:r>
          </a:p>
          <a:p>
            <a:pPr algn="just">
              <a:lnSpc>
                <a:spcPct val="100000"/>
              </a:lnSpc>
            </a:pPr>
            <a:r>
              <a:rPr lang="en-NZ" altLang="ja-JP" sz="1800" b="1" i="1" dirty="0">
                <a:solidFill>
                  <a:srgbClr val="C00000"/>
                </a:solidFill>
              </a:rPr>
              <a:t>  </a:t>
            </a:r>
          </a:p>
          <a:p>
            <a:pPr algn="just">
              <a:lnSpc>
                <a:spcPct val="100000"/>
              </a:lnSpc>
            </a:pPr>
            <a:endParaRPr lang="en-NZ" altLang="ja-JP" sz="1800" b="1" i="1" dirty="0">
              <a:solidFill>
                <a:srgbClr val="C00000"/>
              </a:solidFill>
            </a:endParaRPr>
          </a:p>
          <a:p>
            <a:pPr algn="just">
              <a:lnSpc>
                <a:spcPct val="100000"/>
              </a:lnSpc>
            </a:pPr>
            <a:endParaRPr lang="en-NZ" altLang="ja-JP" sz="1800" b="1" i="1" dirty="0">
              <a:solidFill>
                <a:srgbClr val="C00000"/>
              </a:solidFill>
            </a:endParaRPr>
          </a:p>
        </p:txBody>
      </p:sp>
      <p:sp>
        <p:nvSpPr>
          <p:cNvPr id="25" name="Text Placeholder 5">
            <a:extLst>
              <a:ext uri="{FF2B5EF4-FFF2-40B4-BE49-F238E27FC236}">
                <a16:creationId xmlns:a16="http://schemas.microsoft.com/office/drawing/2014/main" id="{906A4386-971B-4F31-A2C3-9371DF782EF0}"/>
              </a:ext>
            </a:extLst>
          </p:cNvPr>
          <p:cNvSpPr txBox="1">
            <a:spLocks/>
          </p:cNvSpPr>
          <p:nvPr/>
        </p:nvSpPr>
        <p:spPr>
          <a:xfrm>
            <a:off x="7715440" y="3471311"/>
            <a:ext cx="4132719" cy="991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Permutation test yields no evidence against null hypothesis that travel time is the same across all modes</a:t>
            </a:r>
          </a:p>
        </p:txBody>
      </p:sp>
      <p:sp>
        <p:nvSpPr>
          <p:cNvPr id="16" name="Text Placeholder 5">
            <a:extLst>
              <a:ext uri="{FF2B5EF4-FFF2-40B4-BE49-F238E27FC236}">
                <a16:creationId xmlns:a16="http://schemas.microsoft.com/office/drawing/2014/main" id="{15A2A086-6DC4-4B27-A0F9-D966FBF4292E}"/>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6.5 – Transport Study Example (One Way ANOVA).</a:t>
            </a:r>
            <a:endParaRPr lang="en-US" altLang="ja-JP" sz="1200" b="1" i="1" dirty="0">
              <a:solidFill>
                <a:srgbClr val="C00000"/>
              </a:solidFill>
            </a:endParaRPr>
          </a:p>
        </p:txBody>
      </p:sp>
      <p:sp>
        <p:nvSpPr>
          <p:cNvPr id="2" name="Footer Placeholder 2">
            <a:extLst>
              <a:ext uri="{FF2B5EF4-FFF2-40B4-BE49-F238E27FC236}">
                <a16:creationId xmlns:a16="http://schemas.microsoft.com/office/drawing/2014/main" id="{F37B9474-826C-866F-9515-EEDE6BD899E6}"/>
              </a:ext>
            </a:extLst>
          </p:cNvPr>
          <p:cNvSpPr txBox="1">
            <a:spLocks/>
          </p:cNvSpPr>
          <p:nvPr/>
        </p:nvSpPr>
        <p:spPr>
          <a:xfrm>
            <a:off x="7956645" y="86139"/>
            <a:ext cx="413272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6.5 – Permutation Testing in One Way ANOVA</a:t>
            </a:r>
            <a:endParaRPr kumimoji="1" lang="ja-JP" altLang="en-US" sz="1600" dirty="0">
              <a:solidFill>
                <a:srgbClr val="DEDDDD"/>
              </a:solidFill>
              <a:latin typeface="Gidole"/>
            </a:endParaRPr>
          </a:p>
        </p:txBody>
      </p:sp>
      <p:sp>
        <p:nvSpPr>
          <p:cNvPr id="5" name="Title 6">
            <a:extLst>
              <a:ext uri="{FF2B5EF4-FFF2-40B4-BE49-F238E27FC236}">
                <a16:creationId xmlns:a16="http://schemas.microsoft.com/office/drawing/2014/main" id="{E1B5F6D1-4967-79B5-C195-06CF4A9797F9}"/>
              </a:ext>
            </a:extLst>
          </p:cNvPr>
          <p:cNvSpPr txBox="1">
            <a:spLocks/>
          </p:cNvSpPr>
          <p:nvPr/>
        </p:nvSpPr>
        <p:spPr>
          <a:xfrm>
            <a:off x="319463" y="196889"/>
            <a:ext cx="6599952"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6.5b – Transport Study Example:</a:t>
            </a:r>
            <a:endParaRPr lang="ja-JP" altLang="en-US" b="1" u="sng" dirty="0">
              <a:latin typeface="+mn-lt"/>
            </a:endParaRPr>
          </a:p>
        </p:txBody>
      </p:sp>
      <p:sp>
        <p:nvSpPr>
          <p:cNvPr id="9" name="Text Placeholder 5">
            <a:extLst>
              <a:ext uri="{FF2B5EF4-FFF2-40B4-BE49-F238E27FC236}">
                <a16:creationId xmlns:a16="http://schemas.microsoft.com/office/drawing/2014/main" id="{678A9F30-30F2-DBC2-8501-291AE68B7777}"/>
              </a:ext>
            </a:extLst>
          </p:cNvPr>
          <p:cNvSpPr txBox="1">
            <a:spLocks/>
          </p:cNvSpPr>
          <p:nvPr/>
        </p:nvSpPr>
        <p:spPr>
          <a:xfrm>
            <a:off x="319463" y="1049110"/>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a:p>
            <a:pPr algn="just">
              <a:lnSpc>
                <a:spcPct val="100000"/>
              </a:lnSpc>
            </a:pPr>
            <a:r>
              <a:rPr lang="en-NZ" altLang="ja-JP" sz="1600" b="1" dirty="0">
                <a:solidFill>
                  <a:schemeClr val="tx1"/>
                </a:solidFill>
              </a:rPr>
              <a:t>Using New Test Statistic</a:t>
            </a: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B7CA0A59-03D8-04CE-EA8E-43F54A7417FA}"/>
                  </a:ext>
                </a:extLst>
              </p:cNvPr>
              <p:cNvSpPr txBox="1">
                <a:spLocks/>
              </p:cNvSpPr>
              <p:nvPr/>
            </p:nvSpPr>
            <p:spPr>
              <a:xfrm>
                <a:off x="7715440" y="2224932"/>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i="1" dirty="0">
                    <a:solidFill>
                      <a:schemeClr val="tx1"/>
                    </a:solidFill>
                  </a:rPr>
                  <a:t>X</a:t>
                </a:r>
                <a:r>
                  <a:rPr lang="en-NZ" altLang="ja-JP" sz="1600" b="1" i="1" baseline="-25000" dirty="0" err="1">
                    <a:solidFill>
                      <a:schemeClr val="tx1"/>
                    </a:solidFill>
                  </a:rPr>
                  <a:t>Obs</a:t>
                </a:r>
                <a:r>
                  <a:rPr lang="en-NZ" altLang="ja-JP" sz="1600" b="1" i="1" dirty="0">
                    <a:solidFill>
                      <a:schemeClr val="tx1"/>
                    </a:solidFill>
                  </a:rPr>
                  <a:t>  </a:t>
                </a:r>
                <a:r>
                  <a:rPr lang="en-NZ" altLang="ja-JP" sz="1600" dirty="0">
                    <a:solidFill>
                      <a:schemeClr val="tx1"/>
                    </a:solidFill>
                  </a:rPr>
                  <a:t>lies in the 87.4</a:t>
                </a:r>
                <a:r>
                  <a:rPr lang="en-NZ" altLang="ja-JP" sz="1600" baseline="30000" dirty="0">
                    <a:solidFill>
                      <a:schemeClr val="tx1"/>
                    </a:solidFill>
                  </a:rPr>
                  <a:t>th</a:t>
                </a:r>
                <a:r>
                  <a:rPr lang="en-NZ" altLang="ja-JP" sz="1600" dirty="0">
                    <a:solidFill>
                      <a:schemeClr val="tx1"/>
                    </a:solidFill>
                  </a:rPr>
                  <a:t> percentile of test statistics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𝑿</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𝑿</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𝟏𝟐𝟔</m:t>
                      </m:r>
                    </m:oMath>
                  </m:oMathPara>
                </a14:m>
                <a:endParaRPr lang="en-NZ" altLang="ja-JP" sz="1600" b="1" dirty="0">
                  <a:solidFill>
                    <a:schemeClr val="tx1"/>
                  </a:solidFill>
                </a:endParaRPr>
              </a:p>
            </p:txBody>
          </p:sp>
        </mc:Choice>
        <mc:Fallback xmlns="">
          <p:sp>
            <p:nvSpPr>
              <p:cNvPr id="10" name="Text Placeholder 5">
                <a:extLst>
                  <a:ext uri="{FF2B5EF4-FFF2-40B4-BE49-F238E27FC236}">
                    <a16:creationId xmlns:a16="http://schemas.microsoft.com/office/drawing/2014/main" id="{B7CA0A59-03D8-04CE-EA8E-43F54A7417FA}"/>
                  </a:ext>
                </a:extLst>
              </p:cNvPr>
              <p:cNvSpPr txBox="1">
                <a:spLocks noRot="1" noChangeAspect="1" noMove="1" noResize="1" noEditPoints="1" noAdjustHandles="1" noChangeArrowheads="1" noChangeShapeType="1" noTextEdit="1"/>
              </p:cNvSpPr>
              <p:nvPr/>
            </p:nvSpPr>
            <p:spPr>
              <a:xfrm>
                <a:off x="7715440" y="2224932"/>
                <a:ext cx="4132719" cy="1169215"/>
              </a:xfrm>
              <a:prstGeom prst="rect">
                <a:avLst/>
              </a:prstGeom>
              <a:blipFill>
                <a:blip r:embed="rId4"/>
                <a:stretch>
                  <a:fillRect l="-885" t="-1563" r="-737"/>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9F181EB8-2BC1-9714-7A25-CDCB90ABC023}"/>
              </a:ext>
            </a:extLst>
          </p:cNvPr>
          <p:cNvSpPr txBox="1">
            <a:spLocks/>
          </p:cNvSpPr>
          <p:nvPr/>
        </p:nvSpPr>
        <p:spPr>
          <a:xfrm>
            <a:off x="7715439" y="4531387"/>
            <a:ext cx="4132719" cy="3555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i="1" dirty="0">
                <a:solidFill>
                  <a:schemeClr val="bg2">
                    <a:lumMod val="50000"/>
                  </a:schemeClr>
                </a:solidFill>
              </a:rPr>
              <a:t>Approx 0.089 seconds to run.</a:t>
            </a:r>
            <a:br>
              <a:rPr lang="en-NZ" altLang="ja-JP" sz="1600" i="1" dirty="0">
                <a:solidFill>
                  <a:schemeClr val="bg2">
                    <a:lumMod val="50000"/>
                  </a:schemeClr>
                </a:solidFill>
              </a:rPr>
            </a:br>
            <a:r>
              <a:rPr lang="en-NZ" altLang="ja-JP" sz="1600" i="1" dirty="0">
                <a:solidFill>
                  <a:schemeClr val="bg2">
                    <a:lumMod val="50000"/>
                  </a:schemeClr>
                </a:solidFill>
              </a:rPr>
              <a:t>Much Faster!</a:t>
            </a:r>
            <a:endParaRPr lang="en-NZ" altLang="ja-JP" sz="1600" dirty="0">
              <a:solidFill>
                <a:schemeClr val="bg2">
                  <a:lumMod val="50000"/>
                </a:schemeClr>
              </a:solidFill>
            </a:endParaRPr>
          </a:p>
        </p:txBody>
      </p:sp>
    </p:spTree>
    <p:extLst>
      <p:ext uri="{BB962C8B-B14F-4D97-AF65-F5344CB8AC3E}">
        <p14:creationId xmlns:p14="http://schemas.microsoft.com/office/powerpoint/2010/main" val="2335970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4861</TotalTime>
  <Words>6280</Words>
  <Application>Microsoft Office PowerPoint</Application>
  <PresentationFormat>Widescreen</PresentationFormat>
  <Paragraphs>1319</Paragraphs>
  <Slides>46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Calibri Light</vt:lpstr>
      <vt:lpstr>Cambria Math</vt:lpstr>
      <vt:lpstr>Coo Hew</vt:lpstr>
      <vt:lpstr>Gidole</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94</cp:revision>
  <dcterms:created xsi:type="dcterms:W3CDTF">2022-02-19T23:15:01Z</dcterms:created>
  <dcterms:modified xsi:type="dcterms:W3CDTF">2022-09-08T12:25:14Z</dcterms:modified>
</cp:coreProperties>
</file>