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325" r:id="rId5"/>
    <p:sldId id="338" r:id="rId6"/>
    <p:sldId id="327" r:id="rId7"/>
    <p:sldId id="365" r:id="rId8"/>
    <p:sldId id="316" r:id="rId9"/>
    <p:sldId id="339" r:id="rId10"/>
    <p:sldId id="340" r:id="rId11"/>
    <p:sldId id="341" r:id="rId12"/>
    <p:sldId id="342" r:id="rId13"/>
    <p:sldId id="367" r:id="rId14"/>
    <p:sldId id="343" r:id="rId15"/>
    <p:sldId id="344" r:id="rId16"/>
    <p:sldId id="366" r:id="rId17"/>
    <p:sldId id="345" r:id="rId18"/>
    <p:sldId id="346" r:id="rId19"/>
    <p:sldId id="288" r:id="rId20"/>
    <p:sldId id="261" r:id="rId21"/>
    <p:sldId id="357" r:id="rId22"/>
    <p:sldId id="290" r:id="rId23"/>
    <p:sldId id="291" r:id="rId24"/>
    <p:sldId id="292" r:id="rId25"/>
    <p:sldId id="293" r:id="rId26"/>
    <p:sldId id="294" r:id="rId27"/>
    <p:sldId id="295" r:id="rId28"/>
    <p:sldId id="347" r:id="rId29"/>
    <p:sldId id="359" r:id="rId30"/>
    <p:sldId id="348" r:id="rId31"/>
    <p:sldId id="331" r:id="rId32"/>
    <p:sldId id="332" r:id="rId33"/>
    <p:sldId id="360" r:id="rId34"/>
    <p:sldId id="334" r:id="rId35"/>
    <p:sldId id="361" r:id="rId36"/>
    <p:sldId id="362" r:id="rId37"/>
    <p:sldId id="363" r:id="rId38"/>
    <p:sldId id="364" r:id="rId39"/>
    <p:sldId id="368" r:id="rId40"/>
    <p:sldId id="358" r:id="rId41"/>
    <p:sldId id="301" r:id="rId42"/>
    <p:sldId id="355" r:id="rId43"/>
    <p:sldId id="356" r:id="rId44"/>
    <p:sldId id="303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F"/>
    <a:srgbClr val="FFFFFF"/>
    <a:srgbClr val="DEDDDD"/>
    <a:srgbClr val="FF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56" autoAdjust="0"/>
    <p:restoredTop sz="94660"/>
  </p:normalViewPr>
  <p:slideViewPr>
    <p:cSldViewPr snapToGrid="0">
      <p:cViewPr varScale="1">
        <p:scale>
          <a:sx n="87" d="100"/>
          <a:sy n="87" d="100"/>
        </p:scale>
        <p:origin x="76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wo%20Way%20Anova%20Exampl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'Drug X - Interaction1'!$F$2</c:f>
              <c:strCache>
                <c:ptCount val="1"/>
                <c:pt idx="0">
                  <c:v>Male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'Drug X - Interaction1'!$G$1:$I$1</c:f>
              <c:strCache>
                <c:ptCount val="3"/>
                <c:pt idx="0">
                  <c:v>Dosage 10mgs</c:v>
                </c:pt>
                <c:pt idx="1">
                  <c:v>Dosage 20mgs</c:v>
                </c:pt>
                <c:pt idx="2">
                  <c:v>Dosage 30mgs</c:v>
                </c:pt>
              </c:strCache>
            </c:strRef>
          </c:cat>
          <c:val>
            <c:numRef>
              <c:f>'Drug X - Interaction1'!$G$2:$I$2</c:f>
              <c:numCache>
                <c:formatCode>0.00</c:formatCode>
                <c:ptCount val="3"/>
                <c:pt idx="0">
                  <c:v>60</c:v>
                </c:pt>
                <c:pt idx="1">
                  <c:v>62.5</c:v>
                </c:pt>
                <c:pt idx="2">
                  <c:v>57.5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44-4AB2-AC30-84BFED9D4734}"/>
            </c:ext>
          </c:extLst>
        </c:ser>
        <c:ser>
          <c:idx val="1"/>
          <c:order val="1"/>
          <c:tx>
            <c:strRef>
              <c:f>'Drug X - Interaction1'!$F$3</c:f>
              <c:strCache>
                <c:ptCount val="1"/>
                <c:pt idx="0">
                  <c:v>Female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cat>
            <c:strRef>
              <c:f>'Drug X - Interaction1'!$G$1:$I$1</c:f>
              <c:strCache>
                <c:ptCount val="3"/>
                <c:pt idx="0">
                  <c:v>Dosage 10mgs</c:v>
                </c:pt>
                <c:pt idx="1">
                  <c:v>Dosage 20mgs</c:v>
                </c:pt>
                <c:pt idx="2">
                  <c:v>Dosage 30mgs</c:v>
                </c:pt>
              </c:strCache>
            </c:strRef>
          </c:cat>
          <c:val>
            <c:numRef>
              <c:f>'Drug X - Interaction1'!$G$3:$I$3</c:f>
              <c:numCache>
                <c:formatCode>0.00</c:formatCode>
                <c:ptCount val="3"/>
                <c:pt idx="0">
                  <c:v>66.875</c:v>
                </c:pt>
                <c:pt idx="1">
                  <c:v>66.875</c:v>
                </c:pt>
                <c:pt idx="2">
                  <c:v>40.625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44-4AB2-AC30-84BFED9D4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9264335"/>
        <c:axId val="199263087"/>
      </c:lineChart>
      <c:catAx>
        <c:axId val="199264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263087"/>
        <c:crosses val="autoZero"/>
        <c:auto val="1"/>
        <c:lblAlgn val="ctr"/>
        <c:lblOffset val="100"/>
        <c:noMultiLvlLbl val="0"/>
      </c:catAx>
      <c:valAx>
        <c:axId val="199263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b="1"/>
                  <a:t>Cholesterol level (mgs)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2643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317D-B4B3-49FF-A581-52DA3797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1B94-82C5-46E5-9EE1-28AB8A73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43B2-B15D-4099-8746-DD99E50D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FC5E-0CE5-4FB9-9BB4-ECE697C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D2AF-5F8C-4771-98FC-EF00D77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44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83CE-5E9A-473E-8F92-32291246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0B0-AC0C-4B6E-A4F5-4FAC675D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EB70-DC6E-4EE4-ABDB-D9F4B125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991B-0CBC-41B9-80F8-8DEAEE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D3A1-1FE1-4787-A35A-C16B93D6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992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EA0-3971-4A70-AC19-921C78D9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11F5-0784-4CBC-8768-D25827C1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5F23-A571-41AA-B1EC-A876E11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112F-CDEB-4D92-ADE3-86AB8B71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8463-30EC-4EEA-A19B-D84CED3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060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69F9-639E-4E86-B905-361A720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B1BF-80D7-4904-ACB2-42BD379A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B174-563E-4F48-B5C9-95A62720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DC02-87F0-4A1D-814B-64EFA7C0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FCFA-D637-43EC-A9A3-E703380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29AD-9E9D-4052-B7D9-D0ABBD4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183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0E-542F-4FAC-AAB5-8EC98DED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919A-1454-4109-8BB4-8CC19322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27C1-A966-4D82-8362-CDDD918F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23ED-5724-478B-AD91-AB6F0B86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8748A-2608-4871-83D6-9304E2F0E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E35C4-EDAF-4BD6-9BFC-1EA10B4A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6A4F-56CD-4B0A-B844-E166B452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0B7D-9487-4FC0-9C56-2353E1D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600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3C4-2906-41C1-88A2-14116239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0F41E-FA6F-4E2A-82C4-91AA3000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A56E-0DBD-4EA3-8EDD-71A7BE87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D2D90-D199-4D9E-8339-CDC5C773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90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5A83-8386-4308-93A9-38AC8CB4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18E28-C4E7-438B-8852-AAC55079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9BCA-AF1F-4251-9148-6DC5AFDA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98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047F-40DD-4BDF-9001-58E69C28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E97F-46A8-4EA1-BCDC-A7C11AC8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CF31-99FA-4CD7-88D6-06ACA4199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9333-1C32-4955-A275-956BBBC4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C1F9E-9626-4A35-A52E-454BC798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061-68AF-49E0-BFE2-B0BDDAE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8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4005-25DC-4DE2-9B63-AFDA0D59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A2AC-6C82-44DD-87D0-DA52CB41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6E4F4-5787-4725-861E-C195BB84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2CCB-120B-4DD2-94BC-7891091C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A5B3-8827-476F-8183-918928F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3B3C-10A8-4EA5-B6F7-D5CCA0B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49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F9CB-509B-46B8-B7D2-F360A55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ECD0-22A1-406D-8DC1-17433E09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FA5C-D24C-41B7-94F5-D416A1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7DE0-7248-42FF-9572-C708D27A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B283-1E90-4BE8-911F-1C7EFE6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6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2739-245C-4111-A3C2-73970E91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012DF-D28D-4996-81BE-C8A9519B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C28B-C11D-4ED0-8304-E677041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4285-CE19-4637-BFEA-02DA1668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C048-E851-4CE1-8616-62FDD148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08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A7951-8353-4D37-9B17-202BEBF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FE0-9436-4E6B-AF5B-C732AEE49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AF23-4F70-4BD2-943B-70BE8CCE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4C4C-8F90-4540-BA9B-F7C8969CE244}" type="datetimeFigureOut">
              <a:rPr lang="en-NZ" smtClean="0"/>
              <a:t>16/09/2022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9E8B-B066-44AE-9836-C6C32D09A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CC73-3019-45C0-9430-8C08AD9C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40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3.png"/><Relationship Id="rId7" Type="http://schemas.openxmlformats.org/officeDocument/2006/relationships/image" Target="../media/image3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30.png"/><Relationship Id="rId4" Type="http://schemas.openxmlformats.org/officeDocument/2006/relationships/image" Target="../media/image7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0.png"/><Relationship Id="rId7" Type="http://schemas.openxmlformats.org/officeDocument/2006/relationships/image" Target="../media/image7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0.png"/><Relationship Id="rId5" Type="http://schemas.openxmlformats.org/officeDocument/2006/relationships/image" Target="../media/image40.png"/><Relationship Id="rId4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510.png"/><Relationship Id="rId7" Type="http://schemas.openxmlformats.org/officeDocument/2006/relationships/image" Target="../media/image6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0.png"/><Relationship Id="rId3" Type="http://schemas.openxmlformats.org/officeDocument/2006/relationships/image" Target="../media/image510.png"/><Relationship Id="rId7" Type="http://schemas.openxmlformats.org/officeDocument/2006/relationships/image" Target="../media/image6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1.png"/><Relationship Id="rId5" Type="http://schemas.openxmlformats.org/officeDocument/2006/relationships/image" Target="../media/image811.png"/><Relationship Id="rId10" Type="http://schemas.openxmlformats.org/officeDocument/2006/relationships/image" Target="../media/image125.png"/><Relationship Id="rId4" Type="http://schemas.openxmlformats.org/officeDocument/2006/relationships/image" Target="../media/image710.png"/><Relationship Id="rId9" Type="http://schemas.openxmlformats.org/officeDocument/2006/relationships/image" Target="../media/image1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64.png"/><Relationship Id="rId7" Type="http://schemas.openxmlformats.org/officeDocument/2006/relationships/image" Target="../media/image41.png"/><Relationship Id="rId12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7.png"/><Relationship Id="rId5" Type="http://schemas.openxmlformats.org/officeDocument/2006/relationships/image" Target="../media/image381.png"/><Relationship Id="rId10" Type="http://schemas.openxmlformats.org/officeDocument/2006/relationships/image" Target="../media/image46.png"/><Relationship Id="rId4" Type="http://schemas.openxmlformats.org/officeDocument/2006/relationships/image" Target="../media/image371.png"/><Relationship Id="rId9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3" Type="http://schemas.openxmlformats.org/officeDocument/2006/relationships/image" Target="../media/image450.png"/><Relationship Id="rId7" Type="http://schemas.openxmlformats.org/officeDocument/2006/relationships/image" Target="../media/image48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5" Type="http://schemas.openxmlformats.org/officeDocument/2006/relationships/image" Target="../media/image2.png"/><Relationship Id="rId4" Type="http://schemas.openxmlformats.org/officeDocument/2006/relationships/image" Target="../media/image460.png"/><Relationship Id="rId9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5.png"/><Relationship Id="rId7" Type="http://schemas.openxmlformats.org/officeDocument/2006/relationships/image" Target="../media/image75.png"/><Relationship Id="rId12" Type="http://schemas.openxmlformats.org/officeDocument/2006/relationships/image" Target="../media/image8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81.png"/><Relationship Id="rId5" Type="http://schemas.openxmlformats.org/officeDocument/2006/relationships/image" Target="../media/image67.png"/><Relationship Id="rId10" Type="http://schemas.openxmlformats.org/officeDocument/2006/relationships/image" Target="../media/image80.png"/><Relationship Id="rId4" Type="http://schemas.openxmlformats.org/officeDocument/2006/relationships/image" Target="../media/image66.png"/><Relationship Id="rId9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6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1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13.png"/><Relationship Id="rId7" Type="http://schemas.openxmlformats.org/officeDocument/2006/relationships/image" Target="../media/image10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10" Type="http://schemas.openxmlformats.org/officeDocument/2006/relationships/image" Target="../media/image117.png"/><Relationship Id="rId4" Type="http://schemas.openxmlformats.org/officeDocument/2006/relationships/image" Target="../media/image114.png"/><Relationship Id="rId9" Type="http://schemas.openxmlformats.org/officeDocument/2006/relationships/image" Target="../media/image11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18.png"/><Relationship Id="rId7" Type="http://schemas.openxmlformats.org/officeDocument/2006/relationships/image" Target="../media/image10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5" Type="http://schemas.openxmlformats.org/officeDocument/2006/relationships/image" Target="../media/image115.png"/><Relationship Id="rId10" Type="http://schemas.openxmlformats.org/officeDocument/2006/relationships/image" Target="../media/image117.png"/><Relationship Id="rId4" Type="http://schemas.openxmlformats.org/officeDocument/2006/relationships/image" Target="../media/image114.png"/><Relationship Id="rId9" Type="http://schemas.openxmlformats.org/officeDocument/2006/relationships/image" Target="../media/image1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image" Target="../media/image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0.png"/><Relationship Id="rId3" Type="http://schemas.openxmlformats.org/officeDocument/2006/relationships/image" Target="../media/image780.png"/><Relationship Id="rId7" Type="http://schemas.openxmlformats.org/officeDocument/2006/relationships/image" Target="../media/image8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0.png"/><Relationship Id="rId11" Type="http://schemas.openxmlformats.org/officeDocument/2006/relationships/image" Target="../media/image860.png"/><Relationship Id="rId5" Type="http://schemas.openxmlformats.org/officeDocument/2006/relationships/image" Target="../media/image800.png"/><Relationship Id="rId10" Type="http://schemas.openxmlformats.org/officeDocument/2006/relationships/image" Target="../media/image850.png"/><Relationship Id="rId4" Type="http://schemas.openxmlformats.org/officeDocument/2006/relationships/image" Target="../media/image790.png"/><Relationship Id="rId9" Type="http://schemas.openxmlformats.org/officeDocument/2006/relationships/image" Target="../media/image8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7" Type="http://schemas.openxmlformats.org/officeDocument/2006/relationships/image" Target="../media/image8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0.png"/><Relationship Id="rId5" Type="http://schemas.openxmlformats.org/officeDocument/2006/relationships/image" Target="../media/image800.png"/><Relationship Id="rId4" Type="http://schemas.openxmlformats.org/officeDocument/2006/relationships/image" Target="../media/image79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780.png"/><Relationship Id="rId7" Type="http://schemas.openxmlformats.org/officeDocument/2006/relationships/image" Target="../media/image9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0.png"/><Relationship Id="rId5" Type="http://schemas.openxmlformats.org/officeDocument/2006/relationships/image" Target="../media/image800.png"/><Relationship Id="rId4" Type="http://schemas.openxmlformats.org/officeDocument/2006/relationships/image" Target="../media/image790.png"/><Relationship Id="rId9" Type="http://schemas.openxmlformats.org/officeDocument/2006/relationships/image" Target="../media/image92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0.png"/><Relationship Id="rId3" Type="http://schemas.openxmlformats.org/officeDocument/2006/relationships/image" Target="../media/image970.png"/><Relationship Id="rId7" Type="http://schemas.openxmlformats.org/officeDocument/2006/relationships/image" Target="../media/image9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0.png"/><Relationship Id="rId5" Type="http://schemas.openxmlformats.org/officeDocument/2006/relationships/image" Target="../media/image940.png"/><Relationship Id="rId4" Type="http://schemas.openxmlformats.org/officeDocument/2006/relationships/image" Target="../media/image9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500" b="1" u="sng" dirty="0">
                <a:solidFill>
                  <a:schemeClr val="bg1"/>
                </a:solidFill>
              </a:rPr>
              <a:t>STATS 432 </a:t>
            </a:r>
            <a:br>
              <a:rPr lang="en-NZ" sz="3500" b="1" dirty="0">
                <a:solidFill>
                  <a:schemeClr val="bg1"/>
                </a:solidFill>
              </a:rPr>
            </a:br>
            <a:r>
              <a:rPr lang="en-NZ" sz="3500" dirty="0">
                <a:solidFill>
                  <a:schemeClr val="bg1"/>
                </a:solidFill>
              </a:rPr>
              <a:t>Computational Statistics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15834-4C1C-48A4-9F77-1A195C7F3F70}"/>
              </a:ext>
            </a:extLst>
          </p:cNvPr>
          <p:cNvSpPr txBox="1"/>
          <p:nvPr/>
        </p:nvSpPr>
        <p:spPr>
          <a:xfrm>
            <a:off x="4038600" y="4646474"/>
            <a:ext cx="692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Chapter 6 – Permutation Testing (Part II)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844225"/>
            <a:ext cx="121045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4500" b="1" dirty="0">
                <a:solidFill>
                  <a:srgbClr val="FFC000"/>
                </a:solidFill>
              </a:rPr>
              <a:t>6.6 – Permutation Testing</a:t>
            </a:r>
            <a:br>
              <a:rPr lang="en-NZ" sz="4500" b="1" dirty="0">
                <a:solidFill>
                  <a:srgbClr val="FFC000"/>
                </a:solidFill>
              </a:rPr>
            </a:br>
            <a:r>
              <a:rPr lang="en-NZ" sz="4500" b="1" dirty="0">
                <a:solidFill>
                  <a:srgbClr val="FFC000"/>
                </a:solidFill>
              </a:rPr>
              <a:t>in Two Way ANOVA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32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F85D47BE-CEA6-B602-F7D4-0CD81EE111EA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6.6a – The Two-Way ANOVA Model: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D961E85D-8DB2-5120-53E3-4452FDB7F952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FDD0787-0856-4502-93F6-1FBDFA55BFA5}"/>
              </a:ext>
            </a:extLst>
          </p:cNvPr>
          <p:cNvSpPr txBox="1">
            <a:spLocks/>
          </p:cNvSpPr>
          <p:nvPr/>
        </p:nvSpPr>
        <p:spPr>
          <a:xfrm>
            <a:off x="251224" y="1582507"/>
            <a:ext cx="11419693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For instance, researchers may be interested in whether the level of cholesterol in patients blood stream if affected by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6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	</a:t>
            </a:r>
            <a:r>
              <a:rPr lang="en-NZ" altLang="ja-JP" sz="16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- </a:t>
            </a:r>
            <a:r>
              <a:rPr lang="en-NZ" altLang="ja-JP" sz="1600" b="1" i="1" dirty="0">
                <a:solidFill>
                  <a:prstClr val="black"/>
                </a:solidFill>
              </a:rPr>
              <a:t>Biological sex     	- Dosage of Atorvastatin (cholesterol inhibitor)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60F3C95-53F4-68A7-CEC3-CAD15956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769733"/>
              </p:ext>
            </p:extLst>
          </p:nvPr>
        </p:nvGraphicFramePr>
        <p:xfrm>
          <a:off x="617490" y="3094482"/>
          <a:ext cx="3213100" cy="3417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3869">
                  <a:extLst>
                    <a:ext uri="{9D8B030D-6E8A-4147-A177-3AD203B41FA5}">
                      <a16:colId xmlns:a16="http://schemas.microsoft.com/office/drawing/2014/main" val="1659444516"/>
                    </a:ext>
                  </a:extLst>
                </a:gridCol>
                <a:gridCol w="835831">
                  <a:extLst>
                    <a:ext uri="{9D8B030D-6E8A-4147-A177-3AD203B41FA5}">
                      <a16:colId xmlns:a16="http://schemas.microsoft.com/office/drawing/2014/main" val="1590401375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667814405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1262579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NZ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Dosage 10mgs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Dosage 20mgs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Dosage 30mgs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359673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7370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55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276624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728024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55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068172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064235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181573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55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5787106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50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445093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45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35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2019161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70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35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0439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40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571390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70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40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956229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80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85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35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120865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80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45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590744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55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749286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40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16153935"/>
                  </a:ext>
                </a:extLst>
              </a:tr>
            </a:tbl>
          </a:graphicData>
        </a:graphic>
      </p:graphicFrame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0D906E6-B60E-FC3A-ACD7-CD3A3806EB33}"/>
              </a:ext>
            </a:extLst>
          </p:cNvPr>
          <p:cNvSpPr txBox="1">
            <a:spLocks/>
          </p:cNvSpPr>
          <p:nvPr/>
        </p:nvSpPr>
        <p:spPr>
          <a:xfrm>
            <a:off x="319462" y="2392351"/>
            <a:ext cx="3875964" cy="6131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400" b="1" i="1" dirty="0">
                <a:solidFill>
                  <a:srgbClr val="0070C0"/>
                </a:solidFill>
              </a:rPr>
              <a:t>Cholesterol level in blood of male and female patients taking different dosages of Atorvastatin</a:t>
            </a:r>
          </a:p>
          <a:p>
            <a:pPr algn="ctr">
              <a:lnSpc>
                <a:spcPct val="100000"/>
              </a:lnSpc>
            </a:pPr>
            <a:endParaRPr lang="en-NZ" altLang="ja-JP" sz="1400" b="1" i="1" dirty="0">
              <a:solidFill>
                <a:srgbClr val="0070C0"/>
              </a:solidFill>
            </a:endParaRPr>
          </a:p>
          <a:p>
            <a:pPr algn="ctr">
              <a:lnSpc>
                <a:spcPct val="100000"/>
              </a:lnSpc>
            </a:pPr>
            <a:endParaRPr lang="en-NZ" altLang="ja-JP" sz="1400" b="1" i="1" dirty="0">
              <a:solidFill>
                <a:srgbClr val="0070C0"/>
              </a:solidFill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2BE0A6B6-8708-9BEB-F13A-A3B93BA51505}"/>
              </a:ext>
            </a:extLst>
          </p:cNvPr>
          <p:cNvSpPr txBox="1">
            <a:spLocks/>
          </p:cNvSpPr>
          <p:nvPr/>
        </p:nvSpPr>
        <p:spPr>
          <a:xfrm>
            <a:off x="4925802" y="3094483"/>
            <a:ext cx="6061686" cy="1394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Response Variable: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	Cholesterol Level (in mgs)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600" b="1" dirty="0">
                <a:solidFill>
                  <a:prstClr val="black"/>
                </a:solidFill>
              </a:rPr>
              <a:t>Factor A:</a:t>
            </a:r>
            <a:r>
              <a:rPr lang="en-NZ" altLang="ja-JP" sz="1600" b="1" i="1" dirty="0">
                <a:solidFill>
                  <a:prstClr val="black"/>
                </a:solidFill>
              </a:rPr>
              <a:t>		</a:t>
            </a:r>
            <a:r>
              <a:rPr lang="en-NZ" altLang="ja-JP" sz="1600" dirty="0">
                <a:solidFill>
                  <a:prstClr val="black"/>
                </a:solidFill>
              </a:rPr>
              <a:t>Biological sex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600" b="1" dirty="0">
                <a:solidFill>
                  <a:prstClr val="black"/>
                </a:solidFill>
              </a:rPr>
              <a:t>Factor A Levels:</a:t>
            </a:r>
            <a:r>
              <a:rPr lang="en-NZ" altLang="ja-JP" sz="1600" i="1" dirty="0">
                <a:solidFill>
                  <a:prstClr val="black"/>
                </a:solidFill>
              </a:rPr>
              <a:t>	</a:t>
            </a:r>
            <a:r>
              <a:rPr lang="en-NZ" altLang="ja-JP" sz="1600" dirty="0">
                <a:solidFill>
                  <a:prstClr val="black"/>
                </a:solidFill>
              </a:rPr>
              <a:t>Male, Female </a:t>
            </a:r>
            <a:r>
              <a:rPr lang="en-NZ" altLang="ja-JP" sz="1600" i="1" dirty="0">
                <a:solidFill>
                  <a:prstClr val="black"/>
                </a:solidFill>
              </a:rPr>
              <a:t>(a=2)</a:t>
            </a: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1600" b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Factor B:		</a:t>
            </a:r>
            <a:r>
              <a:rPr lang="en-NZ" altLang="ja-JP" sz="16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Dosage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B Levels: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	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10mgs, 20mgs, 30mgs </a:t>
            </a:r>
            <a:r>
              <a:rPr kumimoji="1" lang="en-NZ" altLang="ja-JP" sz="16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(b=3</a:t>
            </a:r>
            <a:r>
              <a:rPr lang="en-NZ" altLang="ja-JP" sz="1600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)</a:t>
            </a:r>
            <a:endParaRPr kumimoji="1" lang="en-NZ" altLang="ja-JP" sz="160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BF320879-A732-E03D-B523-66E2D1DDC0B4}"/>
              </a:ext>
            </a:extLst>
          </p:cNvPr>
          <p:cNvSpPr txBox="1">
            <a:spLocks/>
          </p:cNvSpPr>
          <p:nvPr/>
        </p:nvSpPr>
        <p:spPr>
          <a:xfrm>
            <a:off x="319462" y="818170"/>
            <a:ext cx="11419693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 two-way ANOVA the response variable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modelled as a function of two factors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each containing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levels respectively.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Each combination of levels is known as a </a:t>
            </a: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cell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(or treatment). There are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ab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cells in total.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91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19462" y="818170"/>
            <a:ext cx="11419693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 two-way ANOVA the response variable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modelled as a function of two factors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each containing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levels respectively.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Each combination of levels is known as a </a:t>
            </a: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cell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(or treatment). There are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ab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cells in total.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DC1EED5-986E-398F-6A6D-18043E16FDD1}"/>
              </a:ext>
            </a:extLst>
          </p:cNvPr>
          <p:cNvSpPr txBox="1">
            <a:spLocks/>
          </p:cNvSpPr>
          <p:nvPr/>
        </p:nvSpPr>
        <p:spPr>
          <a:xfrm>
            <a:off x="319462" y="1390968"/>
            <a:ext cx="11232109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two factors may (or may not) exhibit </a:t>
            </a: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interaction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Interaction occurs when the impact of a factor on the response variable depends on the level of the other factor.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3426BE44-CA40-60CA-EAB6-50B88E4CD7DB}"/>
              </a:ext>
            </a:extLst>
          </p:cNvPr>
          <p:cNvSpPr txBox="1">
            <a:spLocks/>
          </p:cNvSpPr>
          <p:nvPr/>
        </p:nvSpPr>
        <p:spPr>
          <a:xfrm>
            <a:off x="319462" y="2027225"/>
            <a:ext cx="11232109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Often, the simplest way to identify the presence of interactions is with a </a:t>
            </a: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marginal means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plot.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11F3250-CD13-0F6A-10C2-D3AC2A1E6380}"/>
              </a:ext>
            </a:extLst>
          </p:cNvPr>
          <p:cNvGraphicFramePr>
            <a:graphicFrameLocks noGrp="1"/>
          </p:cNvGraphicFramePr>
          <p:nvPr/>
        </p:nvGraphicFramePr>
        <p:xfrm>
          <a:off x="617490" y="3094482"/>
          <a:ext cx="3213100" cy="3417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3869">
                  <a:extLst>
                    <a:ext uri="{9D8B030D-6E8A-4147-A177-3AD203B41FA5}">
                      <a16:colId xmlns:a16="http://schemas.microsoft.com/office/drawing/2014/main" val="1659444516"/>
                    </a:ext>
                  </a:extLst>
                </a:gridCol>
                <a:gridCol w="835831">
                  <a:extLst>
                    <a:ext uri="{9D8B030D-6E8A-4147-A177-3AD203B41FA5}">
                      <a16:colId xmlns:a16="http://schemas.microsoft.com/office/drawing/2014/main" val="1590401375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667814405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1262579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NZ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Dosage 10mgs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Dosage 20mgs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Dosage 30mgs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359673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47370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55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276624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3728024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55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068172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064235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6181573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55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65787106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50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0445093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45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35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2019161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70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35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9600439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55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60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40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571390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70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40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9956229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80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85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35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120865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75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80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45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8590744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55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749286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Female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65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>
                          <a:effectLst/>
                        </a:rPr>
                        <a:t>60</a:t>
                      </a:r>
                      <a:endParaRPr lang="en-NZ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100" dirty="0">
                          <a:effectLst/>
                        </a:rPr>
                        <a:t>40</a:t>
                      </a:r>
                      <a:endParaRPr lang="en-NZ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16153935"/>
                  </a:ext>
                </a:extLst>
              </a:tr>
            </a:tbl>
          </a:graphicData>
        </a:graphic>
      </p:graphicFrame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CF82FE9E-DC87-D8D7-EB69-3B407F444C4C}"/>
              </a:ext>
            </a:extLst>
          </p:cNvPr>
          <p:cNvSpPr txBox="1">
            <a:spLocks/>
          </p:cNvSpPr>
          <p:nvPr/>
        </p:nvSpPr>
        <p:spPr>
          <a:xfrm>
            <a:off x="319462" y="2392351"/>
            <a:ext cx="3875964" cy="6131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Cholesterol level in blood of male and female patients taking different dosages of Atorvastatin</a:t>
            </a:r>
          </a:p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CFFC77A-E018-0CF2-5257-FB492BDDC2D9}"/>
              </a:ext>
            </a:extLst>
          </p:cNvPr>
          <p:cNvGraphicFramePr>
            <a:graphicFrameLocks noGrp="1"/>
          </p:cNvGraphicFramePr>
          <p:nvPr/>
        </p:nvGraphicFramePr>
        <p:xfrm>
          <a:off x="8526055" y="2931921"/>
          <a:ext cx="3213100" cy="7733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4813">
                  <a:extLst>
                    <a:ext uri="{9D8B030D-6E8A-4147-A177-3AD203B41FA5}">
                      <a16:colId xmlns:a16="http://schemas.microsoft.com/office/drawing/2014/main" val="3074826136"/>
                    </a:ext>
                  </a:extLst>
                </a:gridCol>
                <a:gridCol w="794887">
                  <a:extLst>
                    <a:ext uri="{9D8B030D-6E8A-4147-A177-3AD203B41FA5}">
                      <a16:colId xmlns:a16="http://schemas.microsoft.com/office/drawing/2014/main" val="387258914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306200820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65097829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NZ" sz="12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>
                          <a:effectLst/>
                        </a:rPr>
                        <a:t>Dosage 10mgs</a:t>
                      </a:r>
                      <a:endParaRPr lang="en-NZ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 dirty="0">
                          <a:effectLst/>
                        </a:rPr>
                        <a:t>Dosage 20mgs</a:t>
                      </a:r>
                      <a:endParaRPr lang="en-NZ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 dirty="0">
                          <a:effectLst/>
                        </a:rPr>
                        <a:t>Dosage 30mgs</a:t>
                      </a:r>
                      <a:endParaRPr lang="en-NZ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83843919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>
                          <a:effectLst/>
                        </a:rPr>
                        <a:t>Male</a:t>
                      </a:r>
                      <a:endParaRPr lang="en-NZ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 dirty="0">
                          <a:effectLst/>
                        </a:rPr>
                        <a:t>60.00</a:t>
                      </a:r>
                      <a:endParaRPr lang="en-NZ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 dirty="0">
                          <a:effectLst/>
                        </a:rPr>
                        <a:t>62.50</a:t>
                      </a:r>
                      <a:endParaRPr lang="en-NZ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>
                          <a:effectLst/>
                        </a:rPr>
                        <a:t>57.50</a:t>
                      </a:r>
                      <a:endParaRPr lang="en-NZ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729443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 dirty="0">
                          <a:effectLst/>
                        </a:rPr>
                        <a:t>Female</a:t>
                      </a:r>
                      <a:endParaRPr lang="en-NZ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>
                          <a:effectLst/>
                        </a:rPr>
                        <a:t>66.88</a:t>
                      </a:r>
                      <a:endParaRPr lang="en-NZ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>
                          <a:effectLst/>
                        </a:rPr>
                        <a:t>66.88</a:t>
                      </a:r>
                      <a:endParaRPr lang="en-NZ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NZ" sz="1200" dirty="0">
                          <a:effectLst/>
                        </a:rPr>
                        <a:t>40.63</a:t>
                      </a:r>
                      <a:endParaRPr lang="en-NZ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746888167"/>
                  </a:ext>
                </a:extLst>
              </a:tr>
            </a:tbl>
          </a:graphicData>
        </a:graphic>
      </p:graphicFrame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34A21AC4-E7DE-C083-1B10-8EB7D978F82C}"/>
              </a:ext>
            </a:extLst>
          </p:cNvPr>
          <p:cNvSpPr txBox="1">
            <a:spLocks/>
          </p:cNvSpPr>
          <p:nvPr/>
        </p:nvSpPr>
        <p:spPr>
          <a:xfrm>
            <a:off x="4544428" y="2437529"/>
            <a:ext cx="6805683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Marginal Means Plot and Table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62B7C796-F0A4-0078-89AE-FEBEE74E856B}"/>
              </a:ext>
            </a:extLst>
          </p:cNvPr>
          <p:cNvGraphicFramePr/>
          <p:nvPr/>
        </p:nvGraphicFramePr>
        <p:xfrm>
          <a:off x="4076566" y="2801291"/>
          <a:ext cx="4323558" cy="2343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62243DDD-21BB-17F1-7F91-225BC3E9852F}"/>
              </a:ext>
            </a:extLst>
          </p:cNvPr>
          <p:cNvSpPr txBox="1">
            <a:spLocks/>
          </p:cNvSpPr>
          <p:nvPr/>
        </p:nvSpPr>
        <p:spPr>
          <a:xfrm>
            <a:off x="8471949" y="4060369"/>
            <a:ext cx="3328344" cy="962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Intersection of marginal means plots suggests presence of interaction.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F1C5B693-E78B-36E2-2B42-37E58A673298}"/>
              </a:ext>
            </a:extLst>
          </p:cNvPr>
          <p:cNvSpPr txBox="1">
            <a:spLocks/>
          </p:cNvSpPr>
          <p:nvPr/>
        </p:nvSpPr>
        <p:spPr>
          <a:xfrm>
            <a:off x="4222725" y="5281612"/>
            <a:ext cx="7328846" cy="6753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level of cholesterol in the blood of female patients drops significantly at 30mgs. </a:t>
            </a:r>
            <a:b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=&gt; The impact of dosage on the response variable has a dependence on gender.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8475FA23-792E-FB58-BEA5-F738DCF69B40}"/>
              </a:ext>
            </a:extLst>
          </p:cNvPr>
          <p:cNvSpPr txBox="1">
            <a:spLocks/>
          </p:cNvSpPr>
          <p:nvPr/>
        </p:nvSpPr>
        <p:spPr>
          <a:xfrm>
            <a:off x="4222725" y="6039829"/>
            <a:ext cx="7328846" cy="7275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If factors exhibit interaction they are too closely intertwined to analyse their effects on the response variable separately. </a:t>
            </a:r>
            <a:endParaRPr kumimoji="1" lang="en-NZ" altLang="ja-JP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9B59DF55-0F3C-0A8B-0991-9D7FC9F10E32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6.6a – The Two-Way ANOVA Model: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8281F-127B-BCAB-7415-62C31C1290C1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408717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/>
      <p:bldGraphic spid="33" grpId="0">
        <p:bldAsOne/>
      </p:bldGraphic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19463" y="941917"/>
            <a:ext cx="11232109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 two-way ANOVA the response variable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modelled as a function of two factors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each containing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levels.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Each combination of levels is known as a </a:t>
            </a:r>
            <a:r>
              <a:rPr kumimoji="1" lang="en-NZ" altLang="ja-JP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cell 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(or treatment). There are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cells in total.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0B7C6CF-746C-47DD-979E-997C856F94B6}"/>
              </a:ext>
            </a:extLst>
          </p:cNvPr>
          <p:cNvSpPr txBox="1">
            <a:spLocks/>
          </p:cNvSpPr>
          <p:nvPr/>
        </p:nvSpPr>
        <p:spPr>
          <a:xfrm>
            <a:off x="319463" y="1758478"/>
            <a:ext cx="11232109" cy="3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It is assumed that the data in </a:t>
            </a:r>
            <a:r>
              <a:rPr kumimoji="1" lang="en-NZ" altLang="ja-JP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each of the cells 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arise from distribution that are:</a:t>
            </a: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73D247F9-398D-419A-B0A9-70A3E0FAB0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1858" y="2118330"/>
                <a:ext cx="3571164" cy="10888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Independent</a:t>
                </a:r>
              </a:p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Normally distributed</a:t>
                </a:r>
              </a:p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Have homogenous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7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7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𝝈</m:t>
                        </m:r>
                      </m:e>
                      <m:sup>
                        <m:r>
                          <a:rPr kumimoji="1" lang="en-NZ" altLang="ja-JP" sz="17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𝟐</m:t>
                        </m:r>
                      </m:sup>
                    </m:sSup>
                  </m:oMath>
                </a14:m>
                <a:endParaRPr kumimoji="1" lang="en-NZ" altLang="ja-JP" sz="1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7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73D247F9-398D-419A-B0A9-70A3E0FA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58" y="2118330"/>
                <a:ext cx="3571164" cy="1088844"/>
              </a:xfrm>
              <a:prstGeom prst="rect">
                <a:avLst/>
              </a:prstGeom>
              <a:blipFill>
                <a:blip r:embed="rId3"/>
                <a:stretch>
                  <a:fillRect l="-1195" t="-167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>
            <a:extLst>
              <a:ext uri="{FF2B5EF4-FFF2-40B4-BE49-F238E27FC236}">
                <a16:creationId xmlns:a16="http://schemas.microsoft.com/office/drawing/2014/main" id="{5FB3CB67-C6EB-4D64-904D-7E289CA0E025}"/>
              </a:ext>
            </a:extLst>
          </p:cNvPr>
          <p:cNvSpPr/>
          <p:nvPr/>
        </p:nvSpPr>
        <p:spPr>
          <a:xfrm rot="10800000">
            <a:off x="4272989" y="2143010"/>
            <a:ext cx="356383" cy="7233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F8AB422-6833-4325-AE27-668C63C16542}"/>
              </a:ext>
            </a:extLst>
          </p:cNvPr>
          <p:cNvSpPr txBox="1">
            <a:spLocks/>
          </p:cNvSpPr>
          <p:nvPr/>
        </p:nvSpPr>
        <p:spPr>
          <a:xfrm>
            <a:off x="4898662" y="2305549"/>
            <a:ext cx="3250441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ANOVA Conditions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9F6BEB8-8E60-4B33-9708-17D3734B3147}"/>
              </a:ext>
            </a:extLst>
          </p:cNvPr>
          <p:cNvSpPr txBox="1">
            <a:spLocks/>
          </p:cNvSpPr>
          <p:nvPr/>
        </p:nvSpPr>
        <p:spPr>
          <a:xfrm>
            <a:off x="319463" y="3219800"/>
            <a:ext cx="6381589" cy="3827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take a sample of data and express it in a two-way table</a:t>
            </a: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E5B38A52-5110-4455-8FCF-ACEB1B4FC1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7961" y="3602597"/>
              <a:ext cx="5155185" cy="111413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84236">
                      <a:extLst>
                        <a:ext uri="{9D8B030D-6E8A-4147-A177-3AD203B41FA5}">
                          <a16:colId xmlns:a16="http://schemas.microsoft.com/office/drawing/2014/main" val="3074826136"/>
                        </a:ext>
                      </a:extLst>
                    </a:gridCol>
                    <a:gridCol w="1477525">
                      <a:extLst>
                        <a:ext uri="{9D8B030D-6E8A-4147-A177-3AD203B41FA5}">
                          <a16:colId xmlns:a16="http://schemas.microsoft.com/office/drawing/2014/main" val="387258914"/>
                        </a:ext>
                      </a:extLst>
                    </a:gridCol>
                    <a:gridCol w="1446712">
                      <a:extLst>
                        <a:ext uri="{9D8B030D-6E8A-4147-A177-3AD203B41FA5}">
                          <a16:colId xmlns:a16="http://schemas.microsoft.com/office/drawing/2014/main" val="2306200820"/>
                        </a:ext>
                      </a:extLst>
                    </a:gridCol>
                    <a:gridCol w="1446712">
                      <a:extLst>
                        <a:ext uri="{9D8B030D-6E8A-4147-A177-3AD203B41FA5}">
                          <a16:colId xmlns:a16="http://schemas.microsoft.com/office/drawing/2014/main" val="650978296"/>
                        </a:ext>
                      </a:extLst>
                    </a:gridCol>
                  </a:tblGrid>
                  <a:tr h="44590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</a:pPr>
                          <a:endParaRPr lang="en-NZ" sz="12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1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2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3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8439194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72944342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46888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E5B38A52-5110-4455-8FCF-ACEB1B4FC1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2564984"/>
                  </p:ext>
                </p:extLst>
              </p:nvPr>
            </p:nvGraphicFramePr>
            <p:xfrm>
              <a:off x="757961" y="3602597"/>
              <a:ext cx="5155185" cy="111413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784236">
                      <a:extLst>
                        <a:ext uri="{9D8B030D-6E8A-4147-A177-3AD203B41FA5}">
                          <a16:colId xmlns:a16="http://schemas.microsoft.com/office/drawing/2014/main" val="3074826136"/>
                        </a:ext>
                      </a:extLst>
                    </a:gridCol>
                    <a:gridCol w="1477525">
                      <a:extLst>
                        <a:ext uri="{9D8B030D-6E8A-4147-A177-3AD203B41FA5}">
                          <a16:colId xmlns:a16="http://schemas.microsoft.com/office/drawing/2014/main" val="387258914"/>
                        </a:ext>
                      </a:extLst>
                    </a:gridCol>
                    <a:gridCol w="1446712">
                      <a:extLst>
                        <a:ext uri="{9D8B030D-6E8A-4147-A177-3AD203B41FA5}">
                          <a16:colId xmlns:a16="http://schemas.microsoft.com/office/drawing/2014/main" val="2306200820"/>
                        </a:ext>
                      </a:extLst>
                    </a:gridCol>
                    <a:gridCol w="1446712">
                      <a:extLst>
                        <a:ext uri="{9D8B030D-6E8A-4147-A177-3AD203B41FA5}">
                          <a16:colId xmlns:a16="http://schemas.microsoft.com/office/drawing/2014/main" val="650978296"/>
                        </a:ext>
                      </a:extLst>
                    </a:gridCol>
                  </a:tblGrid>
                  <a:tr h="44590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</a:pPr>
                          <a:endParaRPr lang="en-NZ" sz="12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1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2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3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8439194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3498" t="-136364" r="-197119" b="-1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57384" t="-136364" r="-102110" b="-1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56303" t="-136364" r="-1681" b="-14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944342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3498" t="-236364" r="-197119" b="-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57384" t="-236364" r="-102110" b="-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56303" t="-236364" r="-1681" b="-4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8881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4F64223-80CD-4E14-926C-D6BA7765C30B}"/>
              </a:ext>
            </a:extLst>
          </p:cNvPr>
          <p:cNvSpPr txBox="1">
            <a:spLocks/>
          </p:cNvSpPr>
          <p:nvPr/>
        </p:nvSpPr>
        <p:spPr>
          <a:xfrm>
            <a:off x="6603243" y="3222724"/>
            <a:ext cx="4579200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k</a:t>
            </a:r>
            <a:r>
              <a:rPr kumimoji="1" lang="en-NZ" altLang="ja-JP" sz="1800" b="1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observation in cell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i,j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)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modelled as: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640766C9-7D0A-4ECA-A5C5-F887F8995E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9901" y="3626477"/>
                <a:ext cx="5462638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𝝁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𝜶𝜷</m:t>
                              </m:r>
                            </m:e>
                          </m:d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640766C9-7D0A-4ECA-A5C5-F887F8995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901" y="3626477"/>
                <a:ext cx="5462638" cy="4749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EBF7F41F-E968-4A71-A801-F2C7DA76F2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556" y="4928811"/>
                <a:ext cx="10974132" cy="131867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defRPr/>
                </a:pPr>
                <a:r>
                  <a:rPr kumimoji="1" lang="el-GR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μ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is the overall population mean,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sub>
                    </m:sSub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 the mean of the </a:t>
                </a:r>
                <a:r>
                  <a:rPr lang="en-NZ" altLang="ja-JP" sz="1600" b="1" i="1" dirty="0" err="1">
                    <a:solidFill>
                      <a:prstClr val="black"/>
                    </a:solidFill>
                  </a:rPr>
                  <a:t>i</a:t>
                </a:r>
                <a:r>
                  <a:rPr lang="en-NZ" altLang="ja-JP" sz="1600" b="1" i="1" baseline="30000" dirty="0" err="1">
                    <a:solidFill>
                      <a:prstClr val="black"/>
                    </a:solidFill>
                  </a:rPr>
                  <a:t>th</a:t>
                </a:r>
                <a:r>
                  <a:rPr lang="en-NZ" altLang="ja-JP" sz="1600" i="1" baseline="-25000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600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600" dirty="0">
                    <a:solidFill>
                      <a:prstClr val="black"/>
                    </a:solidFill>
                  </a:rPr>
                  <a:t>level of factor A</a:t>
                </a:r>
                <a:r>
                  <a:rPr lang="en-NZ" altLang="ja-JP" sz="1600" b="1" i="1" dirty="0">
                    <a:solidFill>
                      <a:prstClr val="black"/>
                    </a:solidFill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NZ" altLang="ja-JP" sz="1600" b="1" i="1" dirty="0">
                    <a:solidFill>
                      <a:prstClr val="black"/>
                    </a:solidFill>
                  </a:rPr>
                  <a:t>  </a:t>
                </a:r>
                <a:r>
                  <a:rPr lang="en-NZ" altLang="ja-JP" sz="1600" dirty="0">
                    <a:solidFill>
                      <a:prstClr val="black"/>
                    </a:solidFill>
                  </a:rPr>
                  <a:t>is the mean of the </a:t>
                </a:r>
                <a:r>
                  <a:rPr lang="en-NZ" altLang="ja-JP" sz="1600" b="1" i="1" dirty="0" err="1">
                    <a:solidFill>
                      <a:prstClr val="black"/>
                    </a:solidFill>
                  </a:rPr>
                  <a:t>j</a:t>
                </a:r>
                <a:r>
                  <a:rPr lang="en-NZ" altLang="ja-JP" sz="1600" b="1" i="1" baseline="30000" dirty="0" err="1">
                    <a:solidFill>
                      <a:prstClr val="black"/>
                    </a:solidFill>
                  </a:rPr>
                  <a:t>th</a:t>
                </a:r>
                <a:r>
                  <a:rPr lang="en-NZ" altLang="ja-JP" sz="1600" i="1" baseline="-25000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600" i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600" dirty="0">
                    <a:solidFill>
                      <a:prstClr val="black"/>
                    </a:solidFill>
                  </a:rPr>
                  <a:t>level of factor B</a:t>
                </a:r>
                <a:r>
                  <a:rPr lang="en-NZ" altLang="ja-JP" sz="1600" b="1" i="1" dirty="0">
                    <a:solidFill>
                      <a:prstClr val="black"/>
                    </a:solidFill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𝜶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𝝁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⋅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𝝁</m:t>
                    </m:r>
                  </m:oMath>
                </a14:m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is the effect of the </a:t>
                </a:r>
                <a:r>
                  <a:rPr kumimoji="1" lang="en-NZ" altLang="ja-JP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</a:t>
                </a:r>
                <a:r>
                  <a:rPr kumimoji="1" lang="en-NZ" altLang="ja-JP" sz="1600" b="1" i="1" u="none" strike="noStrike" kern="1200" cap="none" spc="0" normalizeH="0" baseline="30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</a:t>
                </a:r>
                <a:r>
                  <a:rPr kumimoji="1" lang="en-NZ" altLang="ja-JP" sz="1600" b="0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level of factor A</a:t>
                </a: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𝝁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⋅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𝝁</m:t>
                    </m:r>
                  </m:oMath>
                </a14:m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is the effect of the </a:t>
                </a:r>
                <a:r>
                  <a:rPr kumimoji="1" lang="en-NZ" altLang="ja-JP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j</a:t>
                </a:r>
                <a:r>
                  <a:rPr kumimoji="1" lang="en-NZ" altLang="ja-JP" sz="1600" b="1" i="1" u="none" strike="noStrike" kern="1200" cap="none" spc="0" normalizeH="0" baseline="30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</a:t>
                </a:r>
                <a:r>
                  <a:rPr kumimoji="1" lang="en-NZ" altLang="ja-JP" sz="1600" b="0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level of factor B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1" lang="en-NZ" altLang="ja-JP" sz="1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1" lang="en-NZ" altLang="ja-JP" sz="1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𝜶𝜷</m:t>
                            </m:r>
                          </m:e>
                        </m:d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𝒊𝒋</m:t>
                        </m:r>
                      </m:sub>
                    </m:sSub>
                  </m:oMath>
                </a14:m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is the interaction between the </a:t>
                </a:r>
                <a:r>
                  <a:rPr kumimoji="1" lang="en-NZ" altLang="ja-JP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</a:t>
                </a:r>
                <a:r>
                  <a:rPr kumimoji="1" lang="en-NZ" altLang="ja-JP" sz="1600" b="1" i="1" u="none" strike="noStrike" kern="1200" cap="none" spc="0" normalizeH="0" baseline="30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</a:t>
                </a:r>
                <a:r>
                  <a:rPr kumimoji="1" lang="en-NZ" altLang="ja-JP" sz="1600" b="0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level of A and the </a:t>
                </a:r>
                <a:r>
                  <a:rPr kumimoji="1" lang="en-NZ" altLang="ja-JP" sz="16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j</a:t>
                </a:r>
                <a:r>
                  <a:rPr kumimoji="1" lang="en-NZ" altLang="ja-JP" sz="1600" b="1" i="1" u="none" strike="noStrike" kern="1200" cap="none" spc="0" normalizeH="0" baseline="30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</a:t>
                </a:r>
                <a:r>
                  <a:rPr kumimoji="1" lang="en-NZ" altLang="ja-JP" sz="1600" b="0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level of B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~ 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𝑵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sSup>
                            <m:sSup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𝝈</m:t>
                              </m:r>
                            </m:e>
                            <m:sup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EBF7F41F-E968-4A71-A801-F2C7DA76F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56" y="4928811"/>
                <a:ext cx="10974132" cy="1318675"/>
              </a:xfrm>
              <a:prstGeom prst="rect">
                <a:avLst/>
              </a:prstGeom>
              <a:blipFill>
                <a:blip r:embed="rId6"/>
                <a:stretch>
                  <a:fillRect l="-333" t="-926" b="-972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6">
            <a:extLst>
              <a:ext uri="{FF2B5EF4-FFF2-40B4-BE49-F238E27FC236}">
                <a16:creationId xmlns:a16="http://schemas.microsoft.com/office/drawing/2014/main" id="{1C86DEDF-908B-41F9-C01E-FEEFA874046E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6.6a – The Two-Way ANOVA Model: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7092B-9AD6-815E-9AE2-B5D2EEB687EE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CE4D094-6D19-2694-E44A-238997A08B55}"/>
              </a:ext>
            </a:extLst>
          </p:cNvPr>
          <p:cNvSpPr txBox="1">
            <a:spLocks/>
          </p:cNvSpPr>
          <p:nvPr/>
        </p:nvSpPr>
        <p:spPr>
          <a:xfrm>
            <a:off x="6621138" y="4159664"/>
            <a:ext cx="2448665" cy="444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also have the constraints: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CF89DF0-2915-1573-C407-48D33675A8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75248" y="4159664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𝒊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𝒂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𝜶</m:t>
                            </m:r>
                          </m:e>
                          <m:sub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𝒊</m:t>
                            </m:r>
                          </m:sub>
                        </m:s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CF89DF0-2915-1573-C407-48D33675A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248" y="4159664"/>
                <a:ext cx="1405094" cy="444936"/>
              </a:xfrm>
              <a:prstGeom prst="rect">
                <a:avLst/>
              </a:prstGeom>
              <a:blipFill>
                <a:blip r:embed="rId7"/>
                <a:stretch>
                  <a:fillRect l="-16522" t="-71233" b="-794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EE82E1C4-DCA6-B0DE-D863-5F7C4021B5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20594" y="4159664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𝒋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𝒃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𝜷</m:t>
                            </m:r>
                          </m:e>
                          <m:sub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𝒋</m:t>
                            </m:r>
                          </m:sub>
                        </m:s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EE82E1C4-DCA6-B0DE-D863-5F7C4021B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94" y="4159664"/>
                <a:ext cx="1405094" cy="444936"/>
              </a:xfrm>
              <a:prstGeom prst="rect">
                <a:avLst/>
              </a:prstGeom>
              <a:blipFill>
                <a:blip r:embed="rId8"/>
                <a:stretch>
                  <a:fillRect l="-16522" t="-65753" b="-849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913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1" grpId="0"/>
      <p:bldP spid="22" grpId="0"/>
      <p:bldP spid="24" grpId="0"/>
      <p:bldP spid="25" grpId="0"/>
      <p:bldP spid="26" grpId="0"/>
      <p:bldP spid="5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19463" y="941917"/>
            <a:ext cx="11232109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 two-way ANOVA the response variable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modelled as a function of two factors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each containing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levels.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Each combination of levels is known as a </a:t>
            </a:r>
            <a:r>
              <a:rPr kumimoji="1" lang="en-NZ" altLang="ja-JP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cell 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(or treatment). There are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cells in total.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0B7C6CF-746C-47DD-979E-997C856F94B6}"/>
              </a:ext>
            </a:extLst>
          </p:cNvPr>
          <p:cNvSpPr txBox="1">
            <a:spLocks/>
          </p:cNvSpPr>
          <p:nvPr/>
        </p:nvSpPr>
        <p:spPr>
          <a:xfrm>
            <a:off x="319463" y="1758478"/>
            <a:ext cx="11232109" cy="3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It is assumed that the data in each of the cells arise from distribution that are:</a:t>
            </a: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73D247F9-398D-419A-B0A9-70A3E0FAB0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1858" y="2118330"/>
                <a:ext cx="3571164" cy="10888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Independent</a:t>
                </a:r>
              </a:p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Normally distributed</a:t>
                </a:r>
              </a:p>
              <a:p>
                <a:pPr marL="400050" lvl="0" indent="-400050" algn="just">
                  <a:lnSpc>
                    <a:spcPct val="100000"/>
                  </a:lnSpc>
                  <a:buFont typeface="+mj-lt"/>
                  <a:buAutoNum type="romanUcPeriod"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Have homogenous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7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7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NZ" altLang="ja-JP" sz="17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kumimoji="1" lang="en-NZ" altLang="ja-JP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7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73D247F9-398D-419A-B0A9-70A3E0FA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58" y="2118330"/>
                <a:ext cx="3571164" cy="1088844"/>
              </a:xfrm>
              <a:prstGeom prst="rect">
                <a:avLst/>
              </a:prstGeom>
              <a:blipFill>
                <a:blip r:embed="rId3"/>
                <a:stretch>
                  <a:fillRect l="-1195" t="-167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>
            <a:extLst>
              <a:ext uri="{FF2B5EF4-FFF2-40B4-BE49-F238E27FC236}">
                <a16:creationId xmlns:a16="http://schemas.microsoft.com/office/drawing/2014/main" id="{5FB3CB67-C6EB-4D64-904D-7E289CA0E025}"/>
              </a:ext>
            </a:extLst>
          </p:cNvPr>
          <p:cNvSpPr/>
          <p:nvPr/>
        </p:nvSpPr>
        <p:spPr>
          <a:xfrm rot="10800000">
            <a:off x="4272989" y="2143010"/>
            <a:ext cx="356383" cy="7233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F8AB422-6833-4325-AE27-668C63C16542}"/>
              </a:ext>
            </a:extLst>
          </p:cNvPr>
          <p:cNvSpPr txBox="1">
            <a:spLocks/>
          </p:cNvSpPr>
          <p:nvPr/>
        </p:nvSpPr>
        <p:spPr>
          <a:xfrm>
            <a:off x="4898662" y="2305549"/>
            <a:ext cx="3250441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ANOVA Conditions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9F6BEB8-8E60-4B33-9708-17D3734B3147}"/>
              </a:ext>
            </a:extLst>
          </p:cNvPr>
          <p:cNvSpPr txBox="1">
            <a:spLocks/>
          </p:cNvSpPr>
          <p:nvPr/>
        </p:nvSpPr>
        <p:spPr>
          <a:xfrm>
            <a:off x="319463" y="3219800"/>
            <a:ext cx="6381589" cy="3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take a sample of data and express it in a two-way table </a:t>
            </a: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E5B38A52-5110-4455-8FCF-ACEB1B4FC1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7961" y="3602597"/>
              <a:ext cx="5024141" cy="111413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88702">
                      <a:extLst>
                        <a:ext uri="{9D8B030D-6E8A-4147-A177-3AD203B41FA5}">
                          <a16:colId xmlns:a16="http://schemas.microsoft.com/office/drawing/2014/main" val="3074826136"/>
                        </a:ext>
                      </a:extLst>
                    </a:gridCol>
                    <a:gridCol w="1515565">
                      <a:extLst>
                        <a:ext uri="{9D8B030D-6E8A-4147-A177-3AD203B41FA5}">
                          <a16:colId xmlns:a16="http://schemas.microsoft.com/office/drawing/2014/main" val="387258914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2306200820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650978296"/>
                        </a:ext>
                      </a:extLst>
                    </a:gridCol>
                  </a:tblGrid>
                  <a:tr h="44590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</a:pPr>
                          <a:endParaRPr lang="en-NZ" sz="12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1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2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3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8439194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72944342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46888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E5B38A52-5110-4455-8FCF-ACEB1B4FC10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4776948"/>
                  </p:ext>
                </p:extLst>
              </p:nvPr>
            </p:nvGraphicFramePr>
            <p:xfrm>
              <a:off x="757961" y="3602597"/>
              <a:ext cx="5024141" cy="111413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88702">
                      <a:extLst>
                        <a:ext uri="{9D8B030D-6E8A-4147-A177-3AD203B41FA5}">
                          <a16:colId xmlns:a16="http://schemas.microsoft.com/office/drawing/2014/main" val="3074826136"/>
                        </a:ext>
                      </a:extLst>
                    </a:gridCol>
                    <a:gridCol w="1515565">
                      <a:extLst>
                        <a:ext uri="{9D8B030D-6E8A-4147-A177-3AD203B41FA5}">
                          <a16:colId xmlns:a16="http://schemas.microsoft.com/office/drawing/2014/main" val="387258914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2306200820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650978296"/>
                        </a:ext>
                      </a:extLst>
                    </a:gridCol>
                  </a:tblGrid>
                  <a:tr h="44590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</a:pPr>
                          <a:endParaRPr lang="en-NZ" sz="12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1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2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3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8439194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5783" t="-136364" r="-187550" b="-1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57143" t="-136364" r="-102165" b="-1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56034" t="-136364" r="-1724" b="-14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944342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5783" t="-236364" r="-187550" b="-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57143" t="-236364" r="-102165" b="-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56034" t="-236364" r="-1724" b="-4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8881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4F64223-80CD-4E14-926C-D6BA7765C30B}"/>
              </a:ext>
            </a:extLst>
          </p:cNvPr>
          <p:cNvSpPr txBox="1">
            <a:spLocks/>
          </p:cNvSpPr>
          <p:nvPr/>
        </p:nvSpPr>
        <p:spPr>
          <a:xfrm>
            <a:off x="6603243" y="3222724"/>
            <a:ext cx="4579200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k</a:t>
            </a:r>
            <a:r>
              <a:rPr kumimoji="1" lang="en-NZ" altLang="ja-JP" sz="1800" b="1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observation in cell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i,j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)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modelled as: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640766C9-7D0A-4ECA-A5C5-F887F8995E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9901" y="3626477"/>
                <a:ext cx="5462638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𝝁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𝜶𝜷</m:t>
                              </m:r>
                            </m:e>
                          </m:d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640766C9-7D0A-4ECA-A5C5-F887F8995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901" y="3626477"/>
                <a:ext cx="5462638" cy="4749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9A97F0D9-2159-4921-B587-168F51D20606}"/>
              </a:ext>
            </a:extLst>
          </p:cNvPr>
          <p:cNvSpPr txBox="1">
            <a:spLocks/>
          </p:cNvSpPr>
          <p:nvPr/>
        </p:nvSpPr>
        <p:spPr>
          <a:xfrm>
            <a:off x="319463" y="4891339"/>
            <a:ext cx="4211594" cy="3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want to test the following hypotheses:</a:t>
            </a: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A9E171C8-0918-4EA2-B7DE-A9AFFE00DA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593741"/>
                <a:ext cx="3379738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𝜶𝜷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∀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𝜶𝜷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≠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𝒔𝒐𝒎𝒆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br>
                  <a:rPr lang="en-NZ" altLang="ja-JP" sz="16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endParaRPr lang="en-NZ" altLang="ja-JP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A9E171C8-0918-4EA2-B7DE-A9AFFE00D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593741"/>
                <a:ext cx="3379738" cy="6959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BA1AED94-11A6-43B7-AAAE-E88CA9E6F9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1199" y="5593741"/>
                <a:ext cx="284960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∀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𝒔𝒐𝒎𝒆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br>
                  <a:rPr lang="en-NZ" altLang="ja-JP" sz="16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endParaRPr lang="en-NZ" altLang="ja-JP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BA1AED94-11A6-43B7-AAAE-E88CA9E6F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199" y="5593741"/>
                <a:ext cx="2849601" cy="6959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72A43117-8245-4565-A695-0DFEFDC9D0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01971" y="5593741"/>
                <a:ext cx="2849601" cy="65112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∀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𝒔𝒐𝒎𝒆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br>
                  <a:rPr lang="en-NZ" altLang="ja-JP" sz="16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endParaRPr lang="en-NZ" altLang="ja-JP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72A43117-8245-4565-A695-0DFEFDC9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971" y="5593741"/>
                <a:ext cx="2849601" cy="6511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7E4C2353-D2F4-4785-869A-321135067463}"/>
              </a:ext>
            </a:extLst>
          </p:cNvPr>
          <p:cNvSpPr txBox="1">
            <a:spLocks/>
          </p:cNvSpPr>
          <p:nvPr/>
        </p:nvSpPr>
        <p:spPr>
          <a:xfrm>
            <a:off x="309349" y="5253004"/>
            <a:ext cx="3875851" cy="397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there any interaction between factors?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35A16358-DD7E-4DC5-968C-34C093C8C23C}"/>
              </a:ext>
            </a:extLst>
          </p:cNvPr>
          <p:cNvSpPr txBox="1">
            <a:spLocks/>
          </p:cNvSpPr>
          <p:nvPr/>
        </p:nvSpPr>
        <p:spPr>
          <a:xfrm>
            <a:off x="4629373" y="5253004"/>
            <a:ext cx="3377430" cy="397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Does factor A have any effect on Y?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715500E-90A8-4C2E-A80E-5ECD360FD175}"/>
              </a:ext>
            </a:extLst>
          </p:cNvPr>
          <p:cNvSpPr txBox="1">
            <a:spLocks/>
          </p:cNvSpPr>
          <p:nvPr/>
        </p:nvSpPr>
        <p:spPr>
          <a:xfrm>
            <a:off x="8711935" y="5253004"/>
            <a:ext cx="3377430" cy="397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Does factor B have any effect on Y?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A791808D-23E1-7302-3A25-99F727FE4828}"/>
              </a:ext>
            </a:extLst>
          </p:cNvPr>
          <p:cNvSpPr txBox="1">
            <a:spLocks/>
          </p:cNvSpPr>
          <p:nvPr/>
        </p:nvSpPr>
        <p:spPr>
          <a:xfrm>
            <a:off x="2217705" y="6419000"/>
            <a:ext cx="8236480" cy="3483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600" dirty="0">
                <a:solidFill>
                  <a:srgbClr val="C00000"/>
                </a:solidFill>
              </a:rPr>
              <a:t>We only proceed to tests of factors </a:t>
            </a:r>
            <a:r>
              <a:rPr lang="en-NZ" altLang="ja-JP" sz="1600" b="1" i="1" dirty="0">
                <a:solidFill>
                  <a:srgbClr val="C00000"/>
                </a:solidFill>
              </a:rPr>
              <a:t>A</a:t>
            </a:r>
            <a:r>
              <a:rPr lang="en-NZ" altLang="ja-JP" sz="1600" dirty="0">
                <a:solidFill>
                  <a:srgbClr val="C00000"/>
                </a:solidFill>
              </a:rPr>
              <a:t> and </a:t>
            </a:r>
            <a:r>
              <a:rPr lang="en-NZ" altLang="ja-JP" sz="1600" b="1" i="1" dirty="0">
                <a:solidFill>
                  <a:srgbClr val="C00000"/>
                </a:solidFill>
              </a:rPr>
              <a:t>B</a:t>
            </a:r>
            <a:r>
              <a:rPr lang="en-NZ" altLang="ja-JP" sz="1600" dirty="0">
                <a:solidFill>
                  <a:srgbClr val="C00000"/>
                </a:solidFill>
              </a:rPr>
              <a:t> (main effects) if there is no evidence of interaction.</a:t>
            </a:r>
          </a:p>
          <a:p>
            <a:pPr algn="just">
              <a:lnSpc>
                <a:spcPct val="100000"/>
              </a:lnSpc>
            </a:pPr>
            <a:endParaRPr lang="en-NZ" altLang="ja-JP" sz="1600" b="1" dirty="0">
              <a:solidFill>
                <a:srgbClr val="C00000"/>
              </a:solidFill>
            </a:endParaRPr>
          </a:p>
          <a:p>
            <a:pPr algn="just">
              <a:lnSpc>
                <a:spcPct val="100000"/>
              </a:lnSpc>
            </a:pPr>
            <a:endParaRPr lang="en-NZ" altLang="ja-JP" sz="1600" b="1" i="1" dirty="0">
              <a:solidFill>
                <a:srgbClr val="C0000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D91D8F4-F17C-57E3-B9C2-51225A7F1CD2}"/>
              </a:ext>
            </a:extLst>
          </p:cNvPr>
          <p:cNvCxnSpPr/>
          <p:nvPr/>
        </p:nvCxnSpPr>
        <p:spPr>
          <a:xfrm>
            <a:off x="2425260" y="6182657"/>
            <a:ext cx="432180" cy="23634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6">
            <a:extLst>
              <a:ext uri="{FF2B5EF4-FFF2-40B4-BE49-F238E27FC236}">
                <a16:creationId xmlns:a16="http://schemas.microsoft.com/office/drawing/2014/main" id="{CC99E4E2-639C-44FD-315A-20EAAFE02B54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6.6a – The Two-Way ANOVA Model: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4A92020-1CB1-3962-583E-7BFD0DD3B0AC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0EC3A7E-6F7C-179B-9F75-B8441AF8FC40}"/>
              </a:ext>
            </a:extLst>
          </p:cNvPr>
          <p:cNvSpPr txBox="1">
            <a:spLocks/>
          </p:cNvSpPr>
          <p:nvPr/>
        </p:nvSpPr>
        <p:spPr>
          <a:xfrm>
            <a:off x="6621138" y="4159664"/>
            <a:ext cx="2448665" cy="444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also have the constraints: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9C201121-11D1-AE4D-040E-D5621C935F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75248" y="4159664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𝒊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𝒂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𝜶</m:t>
                            </m:r>
                          </m:e>
                          <m:sub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𝒊</m:t>
                            </m:r>
                          </m:sub>
                        </m:s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9C201121-11D1-AE4D-040E-D5621C935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248" y="4159664"/>
                <a:ext cx="1405094" cy="444936"/>
              </a:xfrm>
              <a:prstGeom prst="rect">
                <a:avLst/>
              </a:prstGeom>
              <a:blipFill>
                <a:blip r:embed="rId3"/>
                <a:stretch>
                  <a:fillRect l="-16522" t="-71233" b="-794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67D8033B-6CC3-8991-4A9A-27A73F6CA1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20594" y="4159664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𝒋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𝒃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𝜷</m:t>
                            </m:r>
                          </m:e>
                          <m:sub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𝒋</m:t>
                            </m:r>
                          </m:sub>
                        </m:s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67D8033B-6CC3-8991-4A9A-27A73F6CA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94" y="4159664"/>
                <a:ext cx="1405094" cy="444936"/>
              </a:xfrm>
              <a:prstGeom prst="rect">
                <a:avLst/>
              </a:prstGeom>
              <a:blipFill>
                <a:blip r:embed="rId5"/>
                <a:stretch>
                  <a:fillRect l="-16522" t="-65753" b="-849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358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19463" y="941917"/>
            <a:ext cx="11232109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 two-way ANOVA the response variable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modelled as a function of two factors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each containing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levels.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Each combination of levels is known as a </a:t>
            </a:r>
            <a:r>
              <a:rPr kumimoji="1" lang="en-NZ" altLang="ja-JP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cell 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(or treatment). There are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cells in total.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0B7C6CF-746C-47DD-979E-997C856F94B6}"/>
              </a:ext>
            </a:extLst>
          </p:cNvPr>
          <p:cNvSpPr txBox="1">
            <a:spLocks/>
          </p:cNvSpPr>
          <p:nvPr/>
        </p:nvSpPr>
        <p:spPr>
          <a:xfrm>
            <a:off x="319463" y="1758478"/>
            <a:ext cx="11232109" cy="3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It is assumed that the data in each of the cells arise from distribution that are:</a:t>
            </a: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73D247F9-398D-419A-B0A9-70A3E0FAB0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1858" y="2118330"/>
                <a:ext cx="3571164" cy="10888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Independent</a:t>
                </a:r>
              </a:p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Normally distributed</a:t>
                </a:r>
              </a:p>
              <a:p>
                <a:pPr marL="400050" lvl="0" indent="-400050" algn="just">
                  <a:lnSpc>
                    <a:spcPct val="100000"/>
                  </a:lnSpc>
                  <a:buFont typeface="+mj-lt"/>
                  <a:buAutoNum type="romanUcPeriod"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Have homogenous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7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7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lang="en-NZ" altLang="ja-JP" sz="17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kumimoji="1" lang="en-NZ" altLang="ja-JP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7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73D247F9-398D-419A-B0A9-70A3E0FAB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58" y="2118330"/>
                <a:ext cx="3571164" cy="1088844"/>
              </a:xfrm>
              <a:prstGeom prst="rect">
                <a:avLst/>
              </a:prstGeom>
              <a:blipFill>
                <a:blip r:embed="rId3"/>
                <a:stretch>
                  <a:fillRect l="-1195" t="-167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>
            <a:extLst>
              <a:ext uri="{FF2B5EF4-FFF2-40B4-BE49-F238E27FC236}">
                <a16:creationId xmlns:a16="http://schemas.microsoft.com/office/drawing/2014/main" id="{5FB3CB67-C6EB-4D64-904D-7E289CA0E025}"/>
              </a:ext>
            </a:extLst>
          </p:cNvPr>
          <p:cNvSpPr/>
          <p:nvPr/>
        </p:nvSpPr>
        <p:spPr>
          <a:xfrm rot="10800000">
            <a:off x="4272989" y="2143010"/>
            <a:ext cx="356383" cy="7233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F8AB422-6833-4325-AE27-668C63C16542}"/>
              </a:ext>
            </a:extLst>
          </p:cNvPr>
          <p:cNvSpPr txBox="1">
            <a:spLocks/>
          </p:cNvSpPr>
          <p:nvPr/>
        </p:nvSpPr>
        <p:spPr>
          <a:xfrm>
            <a:off x="4898662" y="2305549"/>
            <a:ext cx="3250441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ANOVA Conditions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9F6BEB8-8E60-4B33-9708-17D3734B3147}"/>
              </a:ext>
            </a:extLst>
          </p:cNvPr>
          <p:cNvSpPr txBox="1">
            <a:spLocks/>
          </p:cNvSpPr>
          <p:nvPr/>
        </p:nvSpPr>
        <p:spPr>
          <a:xfrm>
            <a:off x="319463" y="3219800"/>
            <a:ext cx="6381589" cy="3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take a sample of data and express it in a two-way table </a:t>
            </a: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E5B38A52-5110-4455-8FCF-ACEB1B4FC1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7961" y="3602597"/>
              <a:ext cx="5024141" cy="111413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88702">
                      <a:extLst>
                        <a:ext uri="{9D8B030D-6E8A-4147-A177-3AD203B41FA5}">
                          <a16:colId xmlns:a16="http://schemas.microsoft.com/office/drawing/2014/main" val="3074826136"/>
                        </a:ext>
                      </a:extLst>
                    </a:gridCol>
                    <a:gridCol w="1515565">
                      <a:extLst>
                        <a:ext uri="{9D8B030D-6E8A-4147-A177-3AD203B41FA5}">
                          <a16:colId xmlns:a16="http://schemas.microsoft.com/office/drawing/2014/main" val="387258914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2306200820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650978296"/>
                        </a:ext>
                      </a:extLst>
                    </a:gridCol>
                  </a:tblGrid>
                  <a:tr h="44590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</a:pPr>
                          <a:endParaRPr lang="en-NZ" sz="12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1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2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3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8439194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72944342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46888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E5B38A52-5110-4455-8FCF-ACEB1B4FC1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7961" y="3602597"/>
              <a:ext cx="5024141" cy="111413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88702">
                      <a:extLst>
                        <a:ext uri="{9D8B030D-6E8A-4147-A177-3AD203B41FA5}">
                          <a16:colId xmlns:a16="http://schemas.microsoft.com/office/drawing/2014/main" val="3074826136"/>
                        </a:ext>
                      </a:extLst>
                    </a:gridCol>
                    <a:gridCol w="1515565">
                      <a:extLst>
                        <a:ext uri="{9D8B030D-6E8A-4147-A177-3AD203B41FA5}">
                          <a16:colId xmlns:a16="http://schemas.microsoft.com/office/drawing/2014/main" val="387258914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2306200820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650978296"/>
                        </a:ext>
                      </a:extLst>
                    </a:gridCol>
                  </a:tblGrid>
                  <a:tr h="44590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</a:pPr>
                          <a:endParaRPr lang="en-NZ" sz="12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1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2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3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8439194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5783" t="-136364" r="-187550" b="-1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57143" t="-136364" r="-102165" b="-1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56034" t="-136364" r="-1724" b="-14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944342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5783" t="-236364" r="-187550" b="-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57143" t="-236364" r="-102165" b="-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256034" t="-236364" r="-1724" b="-4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8881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4F64223-80CD-4E14-926C-D6BA7765C30B}"/>
              </a:ext>
            </a:extLst>
          </p:cNvPr>
          <p:cNvSpPr txBox="1">
            <a:spLocks/>
          </p:cNvSpPr>
          <p:nvPr/>
        </p:nvSpPr>
        <p:spPr>
          <a:xfrm>
            <a:off x="6603243" y="3222724"/>
            <a:ext cx="4579200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k</a:t>
            </a:r>
            <a:r>
              <a:rPr kumimoji="1" lang="en-NZ" altLang="ja-JP" sz="1800" b="1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observation in cell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i,j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)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modelled as: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640766C9-7D0A-4ECA-A5C5-F887F8995E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9901" y="3626477"/>
                <a:ext cx="5462638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𝝁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𝜶𝜷</m:t>
                              </m:r>
                            </m:e>
                          </m:d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640766C9-7D0A-4ECA-A5C5-F887F8995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901" y="3626477"/>
                <a:ext cx="5462638" cy="4749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9A97F0D9-2159-4921-B587-168F51D20606}"/>
              </a:ext>
            </a:extLst>
          </p:cNvPr>
          <p:cNvSpPr txBox="1">
            <a:spLocks/>
          </p:cNvSpPr>
          <p:nvPr/>
        </p:nvSpPr>
        <p:spPr>
          <a:xfrm>
            <a:off x="319463" y="4891339"/>
            <a:ext cx="4211594" cy="3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want to test the following hypotheses:</a:t>
            </a: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A9E171C8-0918-4EA2-B7DE-A9AFFE00DA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5593741"/>
                <a:ext cx="3379738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𝜶𝜷</m:t>
                          </m:r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∀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𝜶𝜷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≠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𝒔𝒐𝒎𝒆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br>
                  <a:rPr lang="en-NZ" altLang="ja-JP" sz="16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endParaRPr lang="en-NZ" altLang="ja-JP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A9E171C8-0918-4EA2-B7DE-A9AFFE00D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5593741"/>
                <a:ext cx="3379738" cy="6959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BA1AED94-11A6-43B7-AAAE-E88CA9E6F9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1199" y="5593741"/>
                <a:ext cx="284960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∀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𝒔𝒐𝒎𝒆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</m:oMath>
                  </m:oMathPara>
                </a14:m>
                <a:br>
                  <a:rPr lang="en-NZ" altLang="ja-JP" sz="16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endParaRPr lang="en-NZ" altLang="ja-JP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BA1AED94-11A6-43B7-AAAE-E88CA9E6F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199" y="5593741"/>
                <a:ext cx="2849601" cy="6959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72A43117-8245-4565-A695-0DFEFDC9D0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01971" y="5593741"/>
                <a:ext cx="2849601" cy="65112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  </m:t>
                      </m:r>
                      <m:sSub>
                        <m:sSubPr>
                          <m:ctrlP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∀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…,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sSub>
                        <m:sSubPr>
                          <m:ctrlP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NZ" altLang="ja-JP" sz="16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𝒇𝒐𝒓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𝒔𝒐𝒎𝒆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br>
                  <a:rPr lang="en-NZ" altLang="ja-JP" sz="1600" b="1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endParaRPr lang="en-NZ" altLang="ja-JP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72A43117-8245-4565-A695-0DFEFDC9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971" y="5593741"/>
                <a:ext cx="2849601" cy="6511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7E4C2353-D2F4-4785-869A-321135067463}"/>
              </a:ext>
            </a:extLst>
          </p:cNvPr>
          <p:cNvSpPr txBox="1">
            <a:spLocks/>
          </p:cNvSpPr>
          <p:nvPr/>
        </p:nvSpPr>
        <p:spPr>
          <a:xfrm>
            <a:off x="309349" y="5253004"/>
            <a:ext cx="3875851" cy="397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there any interaction between factors?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35A16358-DD7E-4DC5-968C-34C093C8C23C}"/>
              </a:ext>
            </a:extLst>
          </p:cNvPr>
          <p:cNvSpPr txBox="1">
            <a:spLocks/>
          </p:cNvSpPr>
          <p:nvPr/>
        </p:nvSpPr>
        <p:spPr>
          <a:xfrm>
            <a:off x="4629373" y="5253004"/>
            <a:ext cx="3377430" cy="397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Does factor A have any effect on Y?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715500E-90A8-4C2E-A80E-5ECD360FD175}"/>
              </a:ext>
            </a:extLst>
          </p:cNvPr>
          <p:cNvSpPr txBox="1">
            <a:spLocks/>
          </p:cNvSpPr>
          <p:nvPr/>
        </p:nvSpPr>
        <p:spPr>
          <a:xfrm>
            <a:off x="8711935" y="5253004"/>
            <a:ext cx="3377430" cy="397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Does factor B have any effect on Y?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A791808D-23E1-7302-3A25-99F727FE4828}"/>
              </a:ext>
            </a:extLst>
          </p:cNvPr>
          <p:cNvSpPr txBox="1">
            <a:spLocks/>
          </p:cNvSpPr>
          <p:nvPr/>
        </p:nvSpPr>
        <p:spPr>
          <a:xfrm>
            <a:off x="2217705" y="6242146"/>
            <a:ext cx="8236480" cy="5252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600" b="1" u="sng" dirty="0">
                <a:solidFill>
                  <a:srgbClr val="C00000"/>
                </a:solidFill>
              </a:rPr>
              <a:t>IF</a:t>
            </a:r>
            <a:r>
              <a:rPr lang="en-NZ" altLang="ja-JP" sz="1600" dirty="0">
                <a:solidFill>
                  <a:srgbClr val="C00000"/>
                </a:solidFill>
              </a:rPr>
              <a:t> the ANOVA conditions are satisfied in each cell, we can test between the above hypotheses using normal theory two-way ANOVA…</a:t>
            </a:r>
            <a:endParaRPr lang="en-NZ" altLang="ja-JP" sz="1600" b="1" dirty="0">
              <a:solidFill>
                <a:srgbClr val="C00000"/>
              </a:solidFill>
            </a:endParaRPr>
          </a:p>
          <a:p>
            <a:pPr algn="just">
              <a:lnSpc>
                <a:spcPct val="100000"/>
              </a:lnSpc>
            </a:pPr>
            <a:endParaRPr lang="en-NZ" altLang="ja-JP" sz="1600" b="1" i="1" dirty="0">
              <a:solidFill>
                <a:srgbClr val="C00000"/>
              </a:solidFill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CC99E4E2-639C-44FD-315A-20EAAFE02B54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6.6a – The Two-Way ANOVA Model: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4A92020-1CB1-3962-583E-7BFD0DD3B0AC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0EC3A7E-6F7C-179B-9F75-B8441AF8FC40}"/>
              </a:ext>
            </a:extLst>
          </p:cNvPr>
          <p:cNvSpPr txBox="1">
            <a:spLocks/>
          </p:cNvSpPr>
          <p:nvPr/>
        </p:nvSpPr>
        <p:spPr>
          <a:xfrm>
            <a:off x="6621138" y="4159664"/>
            <a:ext cx="2448665" cy="444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also have the constraints: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9C201121-11D1-AE4D-040E-D5621C935F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75248" y="4159664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𝒊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𝒂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𝜶</m:t>
                            </m:r>
                          </m:e>
                          <m:sub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𝒊</m:t>
                            </m:r>
                          </m:sub>
                        </m:s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9C201121-11D1-AE4D-040E-D5621C935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5248" y="4159664"/>
                <a:ext cx="1405094" cy="444936"/>
              </a:xfrm>
              <a:prstGeom prst="rect">
                <a:avLst/>
              </a:prstGeom>
              <a:blipFill>
                <a:blip r:embed="rId9"/>
                <a:stretch>
                  <a:fillRect l="-16522" t="-71233" b="-7945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67D8033B-6CC3-8991-4A9A-27A73F6CA1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20594" y="4159664"/>
                <a:ext cx="1405094" cy="4449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𝒋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𝒃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𝜷</m:t>
                            </m:r>
                          </m:e>
                          <m:sub>
                            <m:r>
                              <a:rPr kumimoji="1" lang="en-NZ" altLang="ja-JP" sz="1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𝒋</m:t>
                            </m:r>
                          </m:sub>
                        </m:s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=</m:t>
                        </m:r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𝟎</m:t>
                        </m:r>
                      </m:e>
                    </m:nary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67D8033B-6CC3-8991-4A9A-27A73F6CA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594" y="4159664"/>
                <a:ext cx="1405094" cy="444936"/>
              </a:xfrm>
              <a:prstGeom prst="rect">
                <a:avLst/>
              </a:prstGeom>
              <a:blipFill>
                <a:blip r:embed="rId10"/>
                <a:stretch>
                  <a:fillRect l="-16522" t="-65753" b="-849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003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19463" y="941918"/>
            <a:ext cx="11335725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By default R uses </a:t>
            </a: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Type I factorial ANOVA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analysis. Testing is done in the order that variables are entered into the model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AEAF6403-EF16-40AE-8519-D305B88AA7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1263696"/>
                <a:ext cx="5494474" cy="54630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𝒂𝒐𝒗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𝒍𝒎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AEAF6403-EF16-40AE-8519-D305B88AA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1263696"/>
                <a:ext cx="5494474" cy="5463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49598C4E-91DF-4A9F-8D1A-DB53F8904AD6}"/>
              </a:ext>
            </a:extLst>
          </p:cNvPr>
          <p:cNvSpPr txBox="1">
            <a:spLocks/>
          </p:cNvSpPr>
          <p:nvPr/>
        </p:nvSpPr>
        <p:spPr>
          <a:xfrm>
            <a:off x="319463" y="1809998"/>
            <a:ext cx="5494477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Creates sequential F statistics for the hypotheses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28EBDA-79F2-4283-B7D7-0146F4CC683B}"/>
              </a:ext>
            </a:extLst>
          </p:cNvPr>
          <p:cNvCxnSpPr>
            <a:cxnSpLocks/>
          </p:cNvCxnSpPr>
          <p:nvPr/>
        </p:nvCxnSpPr>
        <p:spPr>
          <a:xfrm>
            <a:off x="6095999" y="1444872"/>
            <a:ext cx="0" cy="353718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80A98CB2-1C3F-4AD0-BF9F-836DB92EC5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157" y="2379187"/>
                <a:ext cx="284960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…,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𝒂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80A98CB2-1C3F-4AD0-BF9F-836DB92EC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57" y="2379187"/>
                <a:ext cx="2849601" cy="6959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eft Brace 27">
            <a:extLst>
              <a:ext uri="{FF2B5EF4-FFF2-40B4-BE49-F238E27FC236}">
                <a16:creationId xmlns:a16="http://schemas.microsoft.com/office/drawing/2014/main" id="{CC713EC5-7D78-476D-98E4-E1B87356C83C}"/>
              </a:ext>
            </a:extLst>
          </p:cNvPr>
          <p:cNvSpPr/>
          <p:nvPr/>
        </p:nvSpPr>
        <p:spPr>
          <a:xfrm rot="10800000">
            <a:off x="3302756" y="2540249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56FF97A0-E47C-457A-9059-CCAC1F9C24B3}"/>
              </a:ext>
            </a:extLst>
          </p:cNvPr>
          <p:cNvSpPr txBox="1">
            <a:spLocks/>
          </p:cNvSpPr>
          <p:nvPr/>
        </p:nvSpPr>
        <p:spPr>
          <a:xfrm>
            <a:off x="3832896" y="2379187"/>
            <a:ext cx="2263104" cy="824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How much variance is explained by factor A.</a:t>
            </a:r>
            <a:b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 for significance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31428708-6341-4C40-9C24-92617C64D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157" y="3343498"/>
                <a:ext cx="284960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…,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𝒃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31428708-6341-4C40-9C24-92617C64D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57" y="3343498"/>
                <a:ext cx="2849601" cy="6959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Left Brace 30">
            <a:extLst>
              <a:ext uri="{FF2B5EF4-FFF2-40B4-BE49-F238E27FC236}">
                <a16:creationId xmlns:a16="http://schemas.microsoft.com/office/drawing/2014/main" id="{FCB388B2-1633-46A1-A42E-5894A41CE693}"/>
              </a:ext>
            </a:extLst>
          </p:cNvPr>
          <p:cNvSpPr/>
          <p:nvPr/>
        </p:nvSpPr>
        <p:spPr>
          <a:xfrm rot="10800000">
            <a:off x="3302755" y="3485992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816F00FF-C452-49D0-9482-863A99CDD2F8}"/>
              </a:ext>
            </a:extLst>
          </p:cNvPr>
          <p:cNvSpPr txBox="1">
            <a:spLocks/>
          </p:cNvSpPr>
          <p:nvPr/>
        </p:nvSpPr>
        <p:spPr>
          <a:xfrm>
            <a:off x="3832895" y="3324930"/>
            <a:ext cx="2263104" cy="824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How much of</a:t>
            </a:r>
            <a:r>
              <a:rPr kumimoji="1" lang="en-NZ" altLang="ja-JP" sz="1400" b="1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remaining </a:t>
            </a: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variance is explained by factor B. Test for significance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Placeholder 5">
                <a:extLst>
                  <a:ext uri="{FF2B5EF4-FFF2-40B4-BE49-F238E27FC236}">
                    <a16:creationId xmlns:a16="http://schemas.microsoft.com/office/drawing/2014/main" id="{388812FA-B196-44BD-96C6-59E10666C5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157" y="4193249"/>
                <a:ext cx="3379738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𝜶𝜷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𝜶𝜷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≠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3" name="Text Placeholder 5">
                <a:extLst>
                  <a:ext uri="{FF2B5EF4-FFF2-40B4-BE49-F238E27FC236}">
                    <a16:creationId xmlns:a16="http://schemas.microsoft.com/office/drawing/2014/main" id="{388812FA-B196-44BD-96C6-59E10666C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57" y="4193249"/>
                <a:ext cx="3379738" cy="6959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Left Brace 33">
            <a:extLst>
              <a:ext uri="{FF2B5EF4-FFF2-40B4-BE49-F238E27FC236}">
                <a16:creationId xmlns:a16="http://schemas.microsoft.com/office/drawing/2014/main" id="{4D85EF9E-E289-4050-9383-FFA38EB349EC}"/>
              </a:ext>
            </a:extLst>
          </p:cNvPr>
          <p:cNvSpPr/>
          <p:nvPr/>
        </p:nvSpPr>
        <p:spPr>
          <a:xfrm rot="10800000">
            <a:off x="3302755" y="4318899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C1304798-8F0F-44B9-A70F-E81BDC445483}"/>
              </a:ext>
            </a:extLst>
          </p:cNvPr>
          <p:cNvSpPr txBox="1">
            <a:spLocks/>
          </p:cNvSpPr>
          <p:nvPr/>
        </p:nvSpPr>
        <p:spPr>
          <a:xfrm>
            <a:off x="3832895" y="4318899"/>
            <a:ext cx="2263104" cy="6631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Invariant to order of variables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5913B2C1-C3AB-4F43-A665-AC486242C472}"/>
              </a:ext>
            </a:extLst>
          </p:cNvPr>
          <p:cNvSpPr txBox="1">
            <a:spLocks/>
          </p:cNvSpPr>
          <p:nvPr/>
        </p:nvSpPr>
        <p:spPr>
          <a:xfrm>
            <a:off x="687520" y="3046375"/>
            <a:ext cx="2380873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Conditional on A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49540097-6634-4873-9C70-E1F652E179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307044"/>
                <a:ext cx="5494474" cy="50606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𝒂𝒐𝒗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altLang="ja-JP" sz="1400" b="1" dirty="0">
                  <a:solidFill>
                    <a:srgbClr val="C00000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𝒍𝒎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altLang="ja-JP" sz="1400" b="1" dirty="0">
                  <a:solidFill>
                    <a:srgbClr val="C00000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49540097-6634-4873-9C70-E1F652E17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307044"/>
                <a:ext cx="5494474" cy="506065"/>
              </a:xfrm>
              <a:prstGeom prst="rect">
                <a:avLst/>
              </a:prstGeom>
              <a:blipFill>
                <a:blip r:embed="rId7"/>
                <a:stretch>
                  <a:fillRect b="-722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73E35A0D-CF22-4CAC-87FB-298DCB707C97}"/>
              </a:ext>
            </a:extLst>
          </p:cNvPr>
          <p:cNvSpPr txBox="1">
            <a:spLocks/>
          </p:cNvSpPr>
          <p:nvPr/>
        </p:nvSpPr>
        <p:spPr>
          <a:xfrm>
            <a:off x="6096001" y="1813109"/>
            <a:ext cx="5494477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Creates sequential F statistics for the hypotheses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Placeholder 5">
                <a:extLst>
                  <a:ext uri="{FF2B5EF4-FFF2-40B4-BE49-F238E27FC236}">
                    <a16:creationId xmlns:a16="http://schemas.microsoft.com/office/drawing/2014/main" id="{576B7F71-0A17-4E00-9FBC-FB7342896C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5322" y="3343498"/>
                <a:ext cx="284960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…,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𝒂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9" name="Text Placeholder 5">
                <a:extLst>
                  <a:ext uri="{FF2B5EF4-FFF2-40B4-BE49-F238E27FC236}">
                    <a16:creationId xmlns:a16="http://schemas.microsoft.com/office/drawing/2014/main" id="{576B7F71-0A17-4E00-9FBC-FB7342896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322" y="3343498"/>
                <a:ext cx="2849601" cy="6959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eft Brace 39">
            <a:extLst>
              <a:ext uri="{FF2B5EF4-FFF2-40B4-BE49-F238E27FC236}">
                <a16:creationId xmlns:a16="http://schemas.microsoft.com/office/drawing/2014/main" id="{4DEB2E76-B870-47B1-854E-797C5E02661D}"/>
              </a:ext>
            </a:extLst>
          </p:cNvPr>
          <p:cNvSpPr/>
          <p:nvPr/>
        </p:nvSpPr>
        <p:spPr>
          <a:xfrm rot="10800000">
            <a:off x="9079294" y="2543360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912297CA-531A-4F2B-AC56-004E53C44F5E}"/>
              </a:ext>
            </a:extLst>
          </p:cNvPr>
          <p:cNvSpPr txBox="1">
            <a:spLocks/>
          </p:cNvSpPr>
          <p:nvPr/>
        </p:nvSpPr>
        <p:spPr>
          <a:xfrm>
            <a:off x="9609434" y="2382298"/>
            <a:ext cx="2263104" cy="824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How much variance is explained by factor B.</a:t>
            </a:r>
            <a:b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 for significance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Placeholder 5">
                <a:extLst>
                  <a:ext uri="{FF2B5EF4-FFF2-40B4-BE49-F238E27FC236}">
                    <a16:creationId xmlns:a16="http://schemas.microsoft.com/office/drawing/2014/main" id="{6802369E-6B16-45AD-B87E-824F395A91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29695" y="2376635"/>
                <a:ext cx="284960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…,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𝒃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42" name="Text Placeholder 5">
                <a:extLst>
                  <a:ext uri="{FF2B5EF4-FFF2-40B4-BE49-F238E27FC236}">
                    <a16:creationId xmlns:a16="http://schemas.microsoft.com/office/drawing/2014/main" id="{6802369E-6B16-45AD-B87E-824F395A9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695" y="2376635"/>
                <a:ext cx="2849601" cy="6959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Left Brace 42">
            <a:extLst>
              <a:ext uri="{FF2B5EF4-FFF2-40B4-BE49-F238E27FC236}">
                <a16:creationId xmlns:a16="http://schemas.microsoft.com/office/drawing/2014/main" id="{775DC271-A099-426A-819D-2BFFEF6182C1}"/>
              </a:ext>
            </a:extLst>
          </p:cNvPr>
          <p:cNvSpPr/>
          <p:nvPr/>
        </p:nvSpPr>
        <p:spPr>
          <a:xfrm rot="10800000">
            <a:off x="9079293" y="3489103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50E160BD-66D5-4FF8-B361-007909026217}"/>
              </a:ext>
            </a:extLst>
          </p:cNvPr>
          <p:cNvSpPr txBox="1">
            <a:spLocks/>
          </p:cNvSpPr>
          <p:nvPr/>
        </p:nvSpPr>
        <p:spPr>
          <a:xfrm>
            <a:off x="9609433" y="3328041"/>
            <a:ext cx="2263104" cy="824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How much of</a:t>
            </a:r>
            <a:r>
              <a:rPr kumimoji="1" lang="en-NZ" altLang="ja-JP" sz="1400" b="1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remaining </a:t>
            </a: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variance is explained by factor A. Test for significance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Placeholder 5">
                <a:extLst>
                  <a:ext uri="{FF2B5EF4-FFF2-40B4-BE49-F238E27FC236}">
                    <a16:creationId xmlns:a16="http://schemas.microsoft.com/office/drawing/2014/main" id="{3C76584B-3441-4D5F-8DDA-7A4FDC5056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29695" y="4196360"/>
                <a:ext cx="3379738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𝜶𝜷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𝜶𝜷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≠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45" name="Text Placeholder 5">
                <a:extLst>
                  <a:ext uri="{FF2B5EF4-FFF2-40B4-BE49-F238E27FC236}">
                    <a16:creationId xmlns:a16="http://schemas.microsoft.com/office/drawing/2014/main" id="{3C76584B-3441-4D5F-8DDA-7A4FDC505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695" y="4196360"/>
                <a:ext cx="3379738" cy="6959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Left Brace 45">
            <a:extLst>
              <a:ext uri="{FF2B5EF4-FFF2-40B4-BE49-F238E27FC236}">
                <a16:creationId xmlns:a16="http://schemas.microsoft.com/office/drawing/2014/main" id="{18DAA8F8-94C0-4561-9229-1B0831B6129F}"/>
              </a:ext>
            </a:extLst>
          </p:cNvPr>
          <p:cNvSpPr/>
          <p:nvPr/>
        </p:nvSpPr>
        <p:spPr>
          <a:xfrm rot="10800000">
            <a:off x="9079293" y="4322010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AD103D00-2712-4EB6-9BC3-1EDBCFBBF536}"/>
              </a:ext>
            </a:extLst>
          </p:cNvPr>
          <p:cNvSpPr txBox="1">
            <a:spLocks/>
          </p:cNvSpPr>
          <p:nvPr/>
        </p:nvSpPr>
        <p:spPr>
          <a:xfrm>
            <a:off x="9609433" y="4322010"/>
            <a:ext cx="2263104" cy="6631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Invariant to order of variables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CF9DA498-FA96-4C56-B9C5-A851F2AF4252}"/>
              </a:ext>
            </a:extLst>
          </p:cNvPr>
          <p:cNvSpPr txBox="1">
            <a:spLocks/>
          </p:cNvSpPr>
          <p:nvPr/>
        </p:nvSpPr>
        <p:spPr>
          <a:xfrm>
            <a:off x="6464058" y="3049486"/>
            <a:ext cx="2380873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Conditional on B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D87973F3-2FA5-4D7A-94EA-DC4D131FA040}"/>
              </a:ext>
            </a:extLst>
          </p:cNvPr>
          <p:cNvSpPr txBox="1">
            <a:spLocks/>
          </p:cNvSpPr>
          <p:nvPr/>
        </p:nvSpPr>
        <p:spPr>
          <a:xfrm>
            <a:off x="319462" y="5244601"/>
            <a:ext cx="11335725" cy="7446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For balanced designs, the order that the variables are entered into the model will have no effect.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For unbalanced designs the F-statistics</a:t>
            </a:r>
            <a:r>
              <a:rPr kumimoji="1" lang="en-NZ" altLang="ja-JP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p-values produced will differ depending on the order.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50562053-F293-402B-56F9-AA96E849E1FB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6.6a – The Two-Way ANOVA Model: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AC5DE16D-5957-F4F4-7441-2226CA7ED287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</p:spTree>
    <p:extLst>
      <p:ext uri="{BB962C8B-B14F-4D97-AF65-F5344CB8AC3E}">
        <p14:creationId xmlns:p14="http://schemas.microsoft.com/office/powerpoint/2010/main" val="61290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7" grpId="0"/>
      <p:bldP spid="28" grpId="0" animBg="1"/>
      <p:bldP spid="29" grpId="0"/>
      <p:bldP spid="30" grpId="0"/>
      <p:bldP spid="31" grpId="0" animBg="1"/>
      <p:bldP spid="32" grpId="0"/>
      <p:bldP spid="33" grpId="0"/>
      <p:bldP spid="34" grpId="0" animBg="1"/>
      <p:bldP spid="35" grpId="0"/>
      <p:bldP spid="36" grpId="0"/>
      <p:bldP spid="37" grpId="0"/>
      <p:bldP spid="38" grpId="0"/>
      <p:bldP spid="39" grpId="0"/>
      <p:bldP spid="40" grpId="0" animBg="1"/>
      <p:bldP spid="41" grpId="0"/>
      <p:bldP spid="42" grpId="0"/>
      <p:bldP spid="43" grpId="0" animBg="1"/>
      <p:bldP spid="44" grpId="0"/>
      <p:bldP spid="45" grpId="0"/>
      <p:bldP spid="46" grpId="0" animBg="1"/>
      <p:bldP spid="47" grpId="0"/>
      <p:bldP spid="48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19463" y="941918"/>
            <a:ext cx="11335725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By default R uses </a:t>
            </a: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Type I factorial ANOVA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analysis. Testing is done in the order that variables are entered into the model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AEAF6403-EF16-40AE-8519-D305B88AA7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1263696"/>
                <a:ext cx="5494474" cy="54630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𝒂𝒐𝒗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𝒍𝒎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AEAF6403-EF16-40AE-8519-D305B88AA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1263696"/>
                <a:ext cx="5494474" cy="5463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49598C4E-91DF-4A9F-8D1A-DB53F8904AD6}"/>
              </a:ext>
            </a:extLst>
          </p:cNvPr>
          <p:cNvSpPr txBox="1">
            <a:spLocks/>
          </p:cNvSpPr>
          <p:nvPr/>
        </p:nvSpPr>
        <p:spPr>
          <a:xfrm>
            <a:off x="319463" y="1809998"/>
            <a:ext cx="5494477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Creates sequential F statistics for the hypotheses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28EBDA-79F2-4283-B7D7-0146F4CC683B}"/>
              </a:ext>
            </a:extLst>
          </p:cNvPr>
          <p:cNvCxnSpPr>
            <a:cxnSpLocks/>
          </p:cNvCxnSpPr>
          <p:nvPr/>
        </p:nvCxnSpPr>
        <p:spPr>
          <a:xfrm>
            <a:off x="6095999" y="1444872"/>
            <a:ext cx="0" cy="353718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80A98CB2-1C3F-4AD0-BF9F-836DB92EC5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157" y="2379187"/>
                <a:ext cx="284960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…,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𝒂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80A98CB2-1C3F-4AD0-BF9F-836DB92EC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57" y="2379187"/>
                <a:ext cx="2849601" cy="6959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Left Brace 27">
            <a:extLst>
              <a:ext uri="{FF2B5EF4-FFF2-40B4-BE49-F238E27FC236}">
                <a16:creationId xmlns:a16="http://schemas.microsoft.com/office/drawing/2014/main" id="{CC713EC5-7D78-476D-98E4-E1B87356C83C}"/>
              </a:ext>
            </a:extLst>
          </p:cNvPr>
          <p:cNvSpPr/>
          <p:nvPr/>
        </p:nvSpPr>
        <p:spPr>
          <a:xfrm rot="10800000">
            <a:off x="3302756" y="2540249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56FF97A0-E47C-457A-9059-CCAC1F9C24B3}"/>
              </a:ext>
            </a:extLst>
          </p:cNvPr>
          <p:cNvSpPr txBox="1">
            <a:spLocks/>
          </p:cNvSpPr>
          <p:nvPr/>
        </p:nvSpPr>
        <p:spPr>
          <a:xfrm>
            <a:off x="3832896" y="2379187"/>
            <a:ext cx="2263104" cy="824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How much variance is explained by factor A.</a:t>
            </a:r>
            <a:b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 for significance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31428708-6341-4C40-9C24-92617C64D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157" y="3343498"/>
                <a:ext cx="284960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…,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𝒃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31428708-6341-4C40-9C24-92617C64D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57" y="3343498"/>
                <a:ext cx="2849601" cy="6959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Left Brace 30">
            <a:extLst>
              <a:ext uri="{FF2B5EF4-FFF2-40B4-BE49-F238E27FC236}">
                <a16:creationId xmlns:a16="http://schemas.microsoft.com/office/drawing/2014/main" id="{FCB388B2-1633-46A1-A42E-5894A41CE693}"/>
              </a:ext>
            </a:extLst>
          </p:cNvPr>
          <p:cNvSpPr/>
          <p:nvPr/>
        </p:nvSpPr>
        <p:spPr>
          <a:xfrm rot="10800000">
            <a:off x="3302755" y="3485992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816F00FF-C452-49D0-9482-863A99CDD2F8}"/>
              </a:ext>
            </a:extLst>
          </p:cNvPr>
          <p:cNvSpPr txBox="1">
            <a:spLocks/>
          </p:cNvSpPr>
          <p:nvPr/>
        </p:nvSpPr>
        <p:spPr>
          <a:xfrm>
            <a:off x="3832895" y="3324930"/>
            <a:ext cx="2263104" cy="824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How much of</a:t>
            </a:r>
            <a:r>
              <a:rPr kumimoji="1" lang="en-NZ" altLang="ja-JP" sz="1400" b="1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remaining </a:t>
            </a: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variance is explained by factor B. Test for significance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Placeholder 5">
                <a:extLst>
                  <a:ext uri="{FF2B5EF4-FFF2-40B4-BE49-F238E27FC236}">
                    <a16:creationId xmlns:a16="http://schemas.microsoft.com/office/drawing/2014/main" id="{388812FA-B196-44BD-96C6-59E10666C5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157" y="4193249"/>
                <a:ext cx="3379738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𝜶𝜷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𝜶𝜷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≠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3" name="Text Placeholder 5">
                <a:extLst>
                  <a:ext uri="{FF2B5EF4-FFF2-40B4-BE49-F238E27FC236}">
                    <a16:creationId xmlns:a16="http://schemas.microsoft.com/office/drawing/2014/main" id="{388812FA-B196-44BD-96C6-59E10666C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57" y="4193249"/>
                <a:ext cx="3379738" cy="6959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Left Brace 33">
            <a:extLst>
              <a:ext uri="{FF2B5EF4-FFF2-40B4-BE49-F238E27FC236}">
                <a16:creationId xmlns:a16="http://schemas.microsoft.com/office/drawing/2014/main" id="{4D85EF9E-E289-4050-9383-FFA38EB349EC}"/>
              </a:ext>
            </a:extLst>
          </p:cNvPr>
          <p:cNvSpPr/>
          <p:nvPr/>
        </p:nvSpPr>
        <p:spPr>
          <a:xfrm rot="10800000">
            <a:off x="3302755" y="4318899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C1304798-8F0F-44B9-A70F-E81BDC445483}"/>
              </a:ext>
            </a:extLst>
          </p:cNvPr>
          <p:cNvSpPr txBox="1">
            <a:spLocks/>
          </p:cNvSpPr>
          <p:nvPr/>
        </p:nvSpPr>
        <p:spPr>
          <a:xfrm>
            <a:off x="3832895" y="4318899"/>
            <a:ext cx="2263104" cy="6631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Invariant to order of variables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5913B2C1-C3AB-4F43-A665-AC486242C472}"/>
              </a:ext>
            </a:extLst>
          </p:cNvPr>
          <p:cNvSpPr txBox="1">
            <a:spLocks/>
          </p:cNvSpPr>
          <p:nvPr/>
        </p:nvSpPr>
        <p:spPr>
          <a:xfrm>
            <a:off x="687520" y="3046375"/>
            <a:ext cx="2380873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Conditional on A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49540097-6634-4873-9C70-E1F652E179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307044"/>
                <a:ext cx="5494474" cy="50606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𝒂𝒐𝒗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altLang="ja-JP" sz="1400" b="1" dirty="0">
                  <a:solidFill>
                    <a:srgbClr val="C00000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𝒍𝒎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 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NZ" altLang="ja-JP" sz="1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NZ" altLang="ja-JP" sz="1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altLang="ja-JP" sz="1400" b="1" dirty="0">
                  <a:solidFill>
                    <a:srgbClr val="C00000"/>
                  </a:solidFill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49540097-6634-4873-9C70-E1F652E17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307044"/>
                <a:ext cx="5494474" cy="506065"/>
              </a:xfrm>
              <a:prstGeom prst="rect">
                <a:avLst/>
              </a:prstGeom>
              <a:blipFill>
                <a:blip r:embed="rId7"/>
                <a:stretch>
                  <a:fillRect b="-722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73E35A0D-CF22-4CAC-87FB-298DCB707C97}"/>
              </a:ext>
            </a:extLst>
          </p:cNvPr>
          <p:cNvSpPr txBox="1">
            <a:spLocks/>
          </p:cNvSpPr>
          <p:nvPr/>
        </p:nvSpPr>
        <p:spPr>
          <a:xfrm>
            <a:off x="6096001" y="1813109"/>
            <a:ext cx="5494477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Creates sequential F statistics for the hypotheses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Placeholder 5">
                <a:extLst>
                  <a:ext uri="{FF2B5EF4-FFF2-40B4-BE49-F238E27FC236}">
                    <a16:creationId xmlns:a16="http://schemas.microsoft.com/office/drawing/2014/main" id="{576B7F71-0A17-4E00-9FBC-FB7342896C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5322" y="3343498"/>
                <a:ext cx="284960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…,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𝒂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9" name="Text Placeholder 5">
                <a:extLst>
                  <a:ext uri="{FF2B5EF4-FFF2-40B4-BE49-F238E27FC236}">
                    <a16:creationId xmlns:a16="http://schemas.microsoft.com/office/drawing/2014/main" id="{576B7F71-0A17-4E00-9FBC-FB7342896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322" y="3343498"/>
                <a:ext cx="2849601" cy="6959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eft Brace 39">
            <a:extLst>
              <a:ext uri="{FF2B5EF4-FFF2-40B4-BE49-F238E27FC236}">
                <a16:creationId xmlns:a16="http://schemas.microsoft.com/office/drawing/2014/main" id="{4DEB2E76-B870-47B1-854E-797C5E02661D}"/>
              </a:ext>
            </a:extLst>
          </p:cNvPr>
          <p:cNvSpPr/>
          <p:nvPr/>
        </p:nvSpPr>
        <p:spPr>
          <a:xfrm rot="10800000">
            <a:off x="9079294" y="2543360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912297CA-531A-4F2B-AC56-004E53C44F5E}"/>
              </a:ext>
            </a:extLst>
          </p:cNvPr>
          <p:cNvSpPr txBox="1">
            <a:spLocks/>
          </p:cNvSpPr>
          <p:nvPr/>
        </p:nvSpPr>
        <p:spPr>
          <a:xfrm>
            <a:off x="9609434" y="2382298"/>
            <a:ext cx="2263104" cy="824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How much variance is explained by factor B.</a:t>
            </a:r>
            <a:b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 for significance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Placeholder 5">
                <a:extLst>
                  <a:ext uri="{FF2B5EF4-FFF2-40B4-BE49-F238E27FC236}">
                    <a16:creationId xmlns:a16="http://schemas.microsoft.com/office/drawing/2014/main" id="{6802369E-6B16-45AD-B87E-824F395A91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29695" y="2376635"/>
                <a:ext cx="284960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…,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𝒃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42" name="Text Placeholder 5">
                <a:extLst>
                  <a:ext uri="{FF2B5EF4-FFF2-40B4-BE49-F238E27FC236}">
                    <a16:creationId xmlns:a16="http://schemas.microsoft.com/office/drawing/2014/main" id="{6802369E-6B16-45AD-B87E-824F395A9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695" y="2376635"/>
                <a:ext cx="2849601" cy="6959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Left Brace 42">
            <a:extLst>
              <a:ext uri="{FF2B5EF4-FFF2-40B4-BE49-F238E27FC236}">
                <a16:creationId xmlns:a16="http://schemas.microsoft.com/office/drawing/2014/main" id="{775DC271-A099-426A-819D-2BFFEF6182C1}"/>
              </a:ext>
            </a:extLst>
          </p:cNvPr>
          <p:cNvSpPr/>
          <p:nvPr/>
        </p:nvSpPr>
        <p:spPr>
          <a:xfrm rot="10800000">
            <a:off x="9079293" y="3489103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50E160BD-66D5-4FF8-B361-007909026217}"/>
              </a:ext>
            </a:extLst>
          </p:cNvPr>
          <p:cNvSpPr txBox="1">
            <a:spLocks/>
          </p:cNvSpPr>
          <p:nvPr/>
        </p:nvSpPr>
        <p:spPr>
          <a:xfrm>
            <a:off x="9609433" y="3328041"/>
            <a:ext cx="2263104" cy="8242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How much of</a:t>
            </a:r>
            <a:r>
              <a:rPr kumimoji="1" lang="en-NZ" altLang="ja-JP" sz="1400" b="1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remaining </a:t>
            </a: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variance is explained by factor A. Test for significance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Placeholder 5">
                <a:extLst>
                  <a:ext uri="{FF2B5EF4-FFF2-40B4-BE49-F238E27FC236}">
                    <a16:creationId xmlns:a16="http://schemas.microsoft.com/office/drawing/2014/main" id="{3C76584B-3441-4D5F-8DDA-7A4FDC5056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29695" y="4196360"/>
                <a:ext cx="3379738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𝜶𝜷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𝜶𝜷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≠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𝒋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45" name="Text Placeholder 5">
                <a:extLst>
                  <a:ext uri="{FF2B5EF4-FFF2-40B4-BE49-F238E27FC236}">
                    <a16:creationId xmlns:a16="http://schemas.microsoft.com/office/drawing/2014/main" id="{3C76584B-3441-4D5F-8DDA-7A4FDC505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695" y="4196360"/>
                <a:ext cx="3379738" cy="6959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Left Brace 45">
            <a:extLst>
              <a:ext uri="{FF2B5EF4-FFF2-40B4-BE49-F238E27FC236}">
                <a16:creationId xmlns:a16="http://schemas.microsoft.com/office/drawing/2014/main" id="{18DAA8F8-94C0-4561-9229-1B0831B6129F}"/>
              </a:ext>
            </a:extLst>
          </p:cNvPr>
          <p:cNvSpPr/>
          <p:nvPr/>
        </p:nvSpPr>
        <p:spPr>
          <a:xfrm rot="10800000">
            <a:off x="9079293" y="4322010"/>
            <a:ext cx="356383" cy="382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AD103D00-2712-4EB6-9BC3-1EDBCFBBF536}"/>
              </a:ext>
            </a:extLst>
          </p:cNvPr>
          <p:cNvSpPr txBox="1">
            <a:spLocks/>
          </p:cNvSpPr>
          <p:nvPr/>
        </p:nvSpPr>
        <p:spPr>
          <a:xfrm>
            <a:off x="9609433" y="4322010"/>
            <a:ext cx="2263104" cy="6631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Invariant to order of variables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CF9DA498-FA96-4C56-B9C5-A851F2AF4252}"/>
              </a:ext>
            </a:extLst>
          </p:cNvPr>
          <p:cNvSpPr txBox="1">
            <a:spLocks/>
          </p:cNvSpPr>
          <p:nvPr/>
        </p:nvSpPr>
        <p:spPr>
          <a:xfrm>
            <a:off x="6464058" y="3049486"/>
            <a:ext cx="2380873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Conditional on B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D87973F3-2FA5-4D7A-94EA-DC4D131FA040}"/>
              </a:ext>
            </a:extLst>
          </p:cNvPr>
          <p:cNvSpPr txBox="1">
            <a:spLocks/>
          </p:cNvSpPr>
          <p:nvPr/>
        </p:nvSpPr>
        <p:spPr>
          <a:xfrm>
            <a:off x="319462" y="5244601"/>
            <a:ext cx="11335725" cy="9349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There are packages</a:t>
            </a:r>
            <a:r>
              <a:rPr kumimoji="1" lang="en-NZ" altLang="ja-JP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that calculate order invariant F-statistics and p-values (</a:t>
            </a:r>
            <a:r>
              <a:rPr lang="en-NZ" altLang="ja-JP" sz="1600" b="1" dirty="0">
                <a:solidFill>
                  <a:prstClr val="black"/>
                </a:solidFill>
              </a:rPr>
              <a:t>Type II or Type III factorial ANOVA</a:t>
            </a:r>
            <a:r>
              <a:rPr lang="en-NZ" altLang="ja-JP" sz="1600" dirty="0">
                <a:solidFill>
                  <a:prstClr val="black"/>
                </a:solidFill>
              </a:rPr>
              <a:t>), e.g.</a:t>
            </a:r>
          </a:p>
          <a:p>
            <a:pPr lvl="0" algn="just">
              <a:lnSpc>
                <a:spcPct val="100000"/>
              </a:lnSpc>
              <a:defRPr/>
            </a:pPr>
            <a:endParaRPr lang="en-NZ" altLang="ja-JP" sz="200" dirty="0">
              <a:solidFill>
                <a:prstClr val="black"/>
              </a:solidFill>
            </a:endParaRPr>
          </a:p>
          <a:p>
            <a:pPr lvl="0" algn="just">
              <a:lnSpc>
                <a:spcPct val="100000"/>
              </a:lnSpc>
              <a:defRPr/>
            </a:pPr>
            <a:endParaRPr lang="en-NZ" altLang="ja-JP" sz="200" dirty="0">
              <a:solidFill>
                <a:prstClr val="black"/>
              </a:solidFill>
            </a:endParaRP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600" b="1" dirty="0">
                <a:solidFill>
                  <a:prstClr val="black"/>
                </a:solidFill>
              </a:rPr>
              <a:t>	- ANOVA()</a:t>
            </a:r>
            <a:r>
              <a:rPr lang="en-NZ" altLang="ja-JP" sz="1600" dirty="0">
                <a:solidFill>
                  <a:prstClr val="black"/>
                </a:solidFill>
              </a:rPr>
              <a:t> command in the </a:t>
            </a:r>
            <a:r>
              <a:rPr lang="en-NZ" altLang="ja-JP" sz="1600" b="1" u="sng" dirty="0">
                <a:solidFill>
                  <a:prstClr val="black"/>
                </a:solidFill>
              </a:rPr>
              <a:t>car</a:t>
            </a:r>
            <a:r>
              <a:rPr lang="en-NZ" altLang="ja-JP" sz="1600" i="1" dirty="0">
                <a:solidFill>
                  <a:prstClr val="black"/>
                </a:solidFill>
              </a:rPr>
              <a:t> </a:t>
            </a:r>
            <a:r>
              <a:rPr lang="en-NZ" altLang="ja-JP" sz="1600" dirty="0">
                <a:solidFill>
                  <a:prstClr val="black"/>
                </a:solidFill>
              </a:rPr>
              <a:t>package</a:t>
            </a:r>
          </a:p>
          <a:p>
            <a:pPr algn="just">
              <a:lnSpc>
                <a:spcPct val="100000"/>
              </a:lnSpc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	</a:t>
            </a:r>
            <a:r>
              <a:rPr lang="en-NZ" altLang="ja-JP" sz="1600" b="1" dirty="0">
                <a:solidFill>
                  <a:prstClr val="black"/>
                </a:solidFill>
              </a:rPr>
              <a:t>- </a:t>
            </a:r>
            <a:r>
              <a:rPr lang="en-NZ" altLang="ja-JP" sz="1600" b="1" dirty="0" err="1">
                <a:solidFill>
                  <a:prstClr val="black"/>
                </a:solidFill>
              </a:rPr>
              <a:t>lm</a:t>
            </a:r>
            <a:r>
              <a:rPr lang="en-NZ" altLang="ja-JP" sz="1600" b="1" dirty="0">
                <a:solidFill>
                  <a:prstClr val="black"/>
                </a:solidFill>
              </a:rPr>
              <a:t>()</a:t>
            </a:r>
            <a:r>
              <a:rPr lang="en-NZ" altLang="ja-JP" sz="1600" dirty="0">
                <a:solidFill>
                  <a:prstClr val="black"/>
                </a:solidFill>
              </a:rPr>
              <a:t> command in the </a:t>
            </a:r>
            <a:r>
              <a:rPr lang="en-NZ" altLang="ja-JP" sz="1600" b="1" u="sng" dirty="0" err="1">
                <a:solidFill>
                  <a:prstClr val="black"/>
                </a:solidFill>
              </a:rPr>
              <a:t>lmPerm</a:t>
            </a:r>
            <a:r>
              <a:rPr lang="en-NZ" altLang="ja-JP" sz="1600" i="1" dirty="0">
                <a:solidFill>
                  <a:prstClr val="black"/>
                </a:solidFill>
              </a:rPr>
              <a:t> </a:t>
            </a:r>
            <a:r>
              <a:rPr lang="en-NZ" altLang="ja-JP" sz="1600" dirty="0">
                <a:solidFill>
                  <a:prstClr val="black"/>
                </a:solidFill>
              </a:rPr>
              <a:t>package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50562053-F293-402B-56F9-AA96E849E1FB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6.6a – The Two-Way ANOVA Model: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AC5DE16D-5957-F4F4-7441-2226CA7ED287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8344615-82EA-D168-C891-7D9CA1EAED11}"/>
              </a:ext>
            </a:extLst>
          </p:cNvPr>
          <p:cNvSpPr txBox="1">
            <a:spLocks/>
          </p:cNvSpPr>
          <p:nvPr/>
        </p:nvSpPr>
        <p:spPr>
          <a:xfrm>
            <a:off x="4940461" y="5544874"/>
            <a:ext cx="1915290" cy="6180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00000"/>
              </a:lnSpc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don’t consider these in Stat 432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D9AD57C1-8C42-49B5-C596-95A97FDF4538}"/>
              </a:ext>
            </a:extLst>
          </p:cNvPr>
          <p:cNvSpPr/>
          <p:nvPr/>
        </p:nvSpPr>
        <p:spPr>
          <a:xfrm>
            <a:off x="4735773" y="5654909"/>
            <a:ext cx="191069" cy="42259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7093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19463" y="941917"/>
            <a:ext cx="11232109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 two-way ANOVA the response variable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modelled as a function of two factors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each containing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and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levels.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Each combination of levels is known as a </a:t>
            </a:r>
            <a:r>
              <a:rPr kumimoji="1" lang="en-NZ" altLang="ja-JP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cell 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(or treatment). There are </a:t>
            </a:r>
            <a:r>
              <a:rPr kumimoji="1" lang="en-NZ" altLang="ja-JP" sz="17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ab</a:t>
            </a: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cells in total.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70B7C6CF-746C-47DD-979E-997C856F94B6}"/>
              </a:ext>
            </a:extLst>
          </p:cNvPr>
          <p:cNvSpPr txBox="1">
            <a:spLocks/>
          </p:cNvSpPr>
          <p:nvPr/>
        </p:nvSpPr>
        <p:spPr>
          <a:xfrm>
            <a:off x="319463" y="1758478"/>
            <a:ext cx="11232109" cy="3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It is assumed that the data in each of the cells arise from distribution that are:</a:t>
            </a: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D247F9-398D-419A-B0A9-70A3E0FAB09A}"/>
              </a:ext>
            </a:extLst>
          </p:cNvPr>
          <p:cNvSpPr txBox="1">
            <a:spLocks/>
          </p:cNvSpPr>
          <p:nvPr/>
        </p:nvSpPr>
        <p:spPr>
          <a:xfrm>
            <a:off x="1071858" y="2118330"/>
            <a:ext cx="3571164" cy="10888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marR="0" lvl="0" indent="-40005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Independent</a:t>
            </a:r>
          </a:p>
          <a:p>
            <a:pPr marL="400050" marR="0" lvl="0" indent="-40005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Normally distributed</a:t>
            </a:r>
          </a:p>
          <a:p>
            <a:pPr marL="400050" marR="0" lvl="0" indent="-40005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Have homogenous variance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5FB3CB67-C6EB-4D64-904D-7E289CA0E025}"/>
              </a:ext>
            </a:extLst>
          </p:cNvPr>
          <p:cNvSpPr/>
          <p:nvPr/>
        </p:nvSpPr>
        <p:spPr>
          <a:xfrm rot="10800000">
            <a:off x="4272989" y="2143010"/>
            <a:ext cx="356383" cy="7233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5F8AB422-6833-4325-AE27-668C63C16542}"/>
              </a:ext>
            </a:extLst>
          </p:cNvPr>
          <p:cNvSpPr txBox="1">
            <a:spLocks/>
          </p:cNvSpPr>
          <p:nvPr/>
        </p:nvSpPr>
        <p:spPr>
          <a:xfrm>
            <a:off x="4898662" y="2305549"/>
            <a:ext cx="3250441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ANOVA Conditions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9F6BEB8-8E60-4B33-9708-17D3734B3147}"/>
              </a:ext>
            </a:extLst>
          </p:cNvPr>
          <p:cNvSpPr txBox="1">
            <a:spLocks/>
          </p:cNvSpPr>
          <p:nvPr/>
        </p:nvSpPr>
        <p:spPr>
          <a:xfrm>
            <a:off x="319463" y="3219800"/>
            <a:ext cx="6381589" cy="3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take a sample of data and express it in a two-way table </a:t>
            </a: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E5B38A52-5110-4455-8FCF-ACEB1B4FC1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7961" y="3602597"/>
              <a:ext cx="5024141" cy="111413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88702">
                      <a:extLst>
                        <a:ext uri="{9D8B030D-6E8A-4147-A177-3AD203B41FA5}">
                          <a16:colId xmlns:a16="http://schemas.microsoft.com/office/drawing/2014/main" val="3074826136"/>
                        </a:ext>
                      </a:extLst>
                    </a:gridCol>
                    <a:gridCol w="1515565">
                      <a:extLst>
                        <a:ext uri="{9D8B030D-6E8A-4147-A177-3AD203B41FA5}">
                          <a16:colId xmlns:a16="http://schemas.microsoft.com/office/drawing/2014/main" val="387258914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2306200820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650978296"/>
                        </a:ext>
                      </a:extLst>
                    </a:gridCol>
                  </a:tblGrid>
                  <a:tr h="44590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</a:pPr>
                          <a:endParaRPr lang="en-NZ" sz="12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1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2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3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8439194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13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72944342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231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  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232</m:t>
                                    </m:r>
                                  </m:sub>
                                </m:sSub>
                                <m:r>
                                  <a:rPr lang="en-NZ" sz="1200" b="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…  </m:t>
                                </m:r>
                                <m:sSub>
                                  <m:sSubPr>
                                    <m:ctrlP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</m:t>
                                    </m:r>
                                    <m:r>
                                      <a:rPr lang="en-NZ" sz="12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NZ" sz="12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746888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E5B38A52-5110-4455-8FCF-ACEB1B4FC10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57961" y="3602597"/>
              <a:ext cx="5024141" cy="111413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688702">
                      <a:extLst>
                        <a:ext uri="{9D8B030D-6E8A-4147-A177-3AD203B41FA5}">
                          <a16:colId xmlns:a16="http://schemas.microsoft.com/office/drawing/2014/main" val="3074826136"/>
                        </a:ext>
                      </a:extLst>
                    </a:gridCol>
                    <a:gridCol w="1515565">
                      <a:extLst>
                        <a:ext uri="{9D8B030D-6E8A-4147-A177-3AD203B41FA5}">
                          <a16:colId xmlns:a16="http://schemas.microsoft.com/office/drawing/2014/main" val="387258914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2306200820"/>
                        </a:ext>
                      </a:extLst>
                    </a:gridCol>
                    <a:gridCol w="1409937">
                      <a:extLst>
                        <a:ext uri="{9D8B030D-6E8A-4147-A177-3AD203B41FA5}">
                          <a16:colId xmlns:a16="http://schemas.microsoft.com/office/drawing/2014/main" val="650978296"/>
                        </a:ext>
                      </a:extLst>
                    </a:gridCol>
                  </a:tblGrid>
                  <a:tr h="44590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</a:pPr>
                          <a:endParaRPr lang="en-NZ" sz="12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1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2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dirty="0">
                              <a:effectLst/>
                            </a:rPr>
                            <a:t>b</a:t>
                          </a:r>
                          <a:r>
                            <a:rPr lang="en-NZ" sz="2000" baseline="-25000" dirty="0">
                              <a:effectLst/>
                            </a:rPr>
                            <a:t>3</a:t>
                          </a:r>
                          <a:endParaRPr lang="en-NZ" sz="20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38439194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5783" t="-136364" r="-187550" b="-1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57143" t="-136364" r="-102165" b="-1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56034" t="-136364" r="-1724" b="-14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944342"/>
                      </a:ext>
                    </a:extLst>
                  </a:tr>
                  <a:tr h="3341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8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NZ" sz="2000" baseline="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en-NZ" sz="2000" baseline="-250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en-NZ" sz="2000" baseline="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5783" t="-236364" r="-187550" b="-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57143" t="-236364" r="-102165" b="-4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56034" t="-236364" r="-1724" b="-4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68881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4F64223-80CD-4E14-926C-D6BA7765C30B}"/>
              </a:ext>
            </a:extLst>
          </p:cNvPr>
          <p:cNvSpPr txBox="1">
            <a:spLocks/>
          </p:cNvSpPr>
          <p:nvPr/>
        </p:nvSpPr>
        <p:spPr>
          <a:xfrm>
            <a:off x="6603243" y="3222724"/>
            <a:ext cx="4579200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k</a:t>
            </a:r>
            <a:r>
              <a:rPr kumimoji="1" lang="en-NZ" altLang="ja-JP" sz="1800" b="1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observation in cell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i,j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)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modelled as: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640766C9-7D0A-4ECA-A5C5-F887F8995E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09901" y="3626477"/>
                <a:ext cx="5462638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𝝁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𝜶𝜷</m:t>
                              </m:r>
                            </m:e>
                          </m:d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𝒊𝒋𝒌</m:t>
                          </m:r>
                        </m:sub>
                      </m:sSub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640766C9-7D0A-4ECA-A5C5-F887F8995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901" y="3626477"/>
                <a:ext cx="5462638" cy="4749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6">
            <a:extLst>
              <a:ext uri="{FF2B5EF4-FFF2-40B4-BE49-F238E27FC236}">
                <a16:creationId xmlns:a16="http://schemas.microsoft.com/office/drawing/2014/main" id="{CC99E4E2-639C-44FD-315A-20EAAFE02B54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6.6a – The Two-Way ANOVA Model: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4A92020-1CB1-3962-583E-7BFD0DD3B0AC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42ABC34-8EE1-9F6A-6370-F2135A39916A}"/>
              </a:ext>
            </a:extLst>
          </p:cNvPr>
          <p:cNvSpPr txBox="1">
            <a:spLocks/>
          </p:cNvSpPr>
          <p:nvPr/>
        </p:nvSpPr>
        <p:spPr>
          <a:xfrm>
            <a:off x="319463" y="5265492"/>
            <a:ext cx="11232109" cy="7281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If the ANOVA conditions are not satisfied in each cell (or can’t be shown to be satisfied)…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then normal theory two-way ANOVA must be replaced with permutation testing. 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507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19463" y="941918"/>
            <a:ext cx="11232109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There are various types of permutation test we can conduct in a two</a:t>
            </a:r>
            <a: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way ANOVA context:</a:t>
            </a: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CC99E4E2-639C-44FD-315A-20EAAFE02B54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 fontScale="85000" lnSpcReduction="100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6.6b – Permutation Testing in Two-Way ANOVA: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4A92020-1CB1-3962-583E-7BFD0DD3B0AC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730B192-149E-9BDB-C62A-9449FF3C0A88}"/>
              </a:ext>
            </a:extLst>
          </p:cNvPr>
          <p:cNvSpPr txBox="1">
            <a:spLocks/>
          </p:cNvSpPr>
          <p:nvPr/>
        </p:nvSpPr>
        <p:spPr>
          <a:xfrm>
            <a:off x="982639" y="1445352"/>
            <a:ext cx="10568933" cy="6753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can simultaneously test for the effect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A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and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B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 the response variable.</a:t>
            </a:r>
            <a:b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Hold Factor A and Factor B labels constant and permute response variable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</a:t>
            </a: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977C172-AD11-EDE1-21A3-C4E5B33E8A36}"/>
              </a:ext>
            </a:extLst>
          </p:cNvPr>
          <p:cNvSpPr txBox="1">
            <a:spLocks/>
          </p:cNvSpPr>
          <p:nvPr/>
        </p:nvSpPr>
        <p:spPr>
          <a:xfrm>
            <a:off x="982639" y="2200670"/>
            <a:ext cx="10568933" cy="6753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can test for the effect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B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 the response variable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conditional</a:t>
            </a: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A</a:t>
            </a:r>
            <a:b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Hold Factor A and response variable constant, permute Factor B labels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</a:t>
            </a: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74553C4-473E-3101-44CE-191939445338}"/>
              </a:ext>
            </a:extLst>
          </p:cNvPr>
          <p:cNvSpPr txBox="1">
            <a:spLocks/>
          </p:cNvSpPr>
          <p:nvPr/>
        </p:nvSpPr>
        <p:spPr>
          <a:xfrm>
            <a:off x="982638" y="3038403"/>
            <a:ext cx="10568933" cy="6753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can test for the effect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A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 the response variable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conditional</a:t>
            </a: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B</a:t>
            </a:r>
            <a:b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Hold Factor B and response variable constant, permute Factor A labels.</a:t>
            </a: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7D651A8-7F8E-C759-4D90-6859789FB7FF}"/>
              </a:ext>
            </a:extLst>
          </p:cNvPr>
          <p:cNvSpPr txBox="1">
            <a:spLocks/>
          </p:cNvSpPr>
          <p:nvPr/>
        </p:nvSpPr>
        <p:spPr>
          <a:xfrm>
            <a:off x="982638" y="3900260"/>
            <a:ext cx="10568933" cy="6753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can test for the effect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A (Factor B)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 the response variable alone. </a:t>
            </a:r>
            <a:b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Permutation testing within a one way ANOVA context</a:t>
            </a: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346D915-F726-D0EC-7323-19C4875B080A}"/>
              </a:ext>
            </a:extLst>
          </p:cNvPr>
          <p:cNvSpPr txBox="1">
            <a:spLocks/>
          </p:cNvSpPr>
          <p:nvPr/>
        </p:nvSpPr>
        <p:spPr>
          <a:xfrm>
            <a:off x="982638" y="4762117"/>
            <a:ext cx="10568933" cy="6753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can test for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interaction effects</a:t>
            </a:r>
            <a:r>
              <a:rPr kumimoji="1" lang="en-NZ" altLang="ja-JP" sz="1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between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A 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and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B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 </a:t>
            </a:r>
            <a:b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This is a little more complicated and should be done first!</a:t>
            </a: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168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19463" y="941917"/>
            <a:ext cx="11232109" cy="8186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There are various ways we can conduct</a:t>
            </a:r>
            <a: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permutation tests for interaction </a:t>
            </a:r>
            <a:r>
              <a:rPr lang="en-NZ" altLang="ja-JP" sz="20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effects in two way ANOVA.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</a:t>
            </a:r>
            <a: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 432</a:t>
            </a:r>
            <a: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, we focus on what is known as </a:t>
            </a:r>
            <a:r>
              <a:rPr kumimoji="1" lang="en-NZ" altLang="ja-JP" sz="2000" b="1" i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Ter </a:t>
            </a:r>
            <a:r>
              <a:rPr kumimoji="1" lang="en-NZ" altLang="ja-JP" sz="2000" b="1" i="1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Braak’s</a:t>
            </a:r>
            <a:r>
              <a:rPr kumimoji="1" lang="en-NZ" altLang="ja-JP" sz="2000" b="1" i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lang="en-NZ" altLang="ja-JP" sz="20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m</a:t>
            </a:r>
            <a:r>
              <a:rPr kumimoji="1" lang="en-NZ" altLang="ja-JP" sz="2000" b="1" i="1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ethod</a:t>
            </a:r>
            <a:r>
              <a:rPr lang="en-NZ" altLang="ja-JP" sz="2000" i="1" noProof="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r>
              <a:rPr lang="en-NZ" altLang="ja-JP" sz="2000" noProof="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which</a:t>
            </a:r>
            <a:r>
              <a:rPr lang="en-NZ" altLang="ja-JP" sz="2000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r>
              <a:rPr lang="en-NZ" altLang="ja-JP" sz="20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proceeds in the following steps:</a:t>
            </a:r>
            <a:endParaRPr kumimoji="1" lang="en-NZ" altLang="ja-JP" sz="20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CC99E4E2-639C-44FD-315A-20EAAFE02B54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 fontScale="85000" lnSpcReduction="100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6.6b – Permutation Testing in Two-Way ANOVA: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4A92020-1CB1-3962-583E-7BFD0DD3B0AC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1993FCF-2C20-C566-0036-35ED422B1E56}"/>
              </a:ext>
            </a:extLst>
          </p:cNvPr>
          <p:cNvSpPr txBox="1">
            <a:spLocks/>
          </p:cNvSpPr>
          <p:nvPr/>
        </p:nvSpPr>
        <p:spPr>
          <a:xfrm>
            <a:off x="832513" y="2063509"/>
            <a:ext cx="1173708" cy="370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1:</a:t>
            </a:r>
            <a:r>
              <a:rPr lang="en-NZ" altLang="ja-JP" sz="20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NZ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07AAD34A-24BF-BCC9-F01C-E78AE8AA9E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1119" y="1976190"/>
                <a:ext cx="8079475" cy="6753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Fit a main effects model (i.e. a model without interaction term) of the form</a:t>
                </a: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𝒀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~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𝑨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+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𝑩</m:t>
                    </m:r>
                  </m:oMath>
                </a14:m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    </a:t>
                </a:r>
                <a:r>
                  <a:rPr kumimoji="1" lang="en-NZ" altLang="ja-JP" sz="1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sym typeface="Wingdings" panose="05000000000000000000" pitchFamily="2" charset="2"/>
                  </a:rPr>
                  <a:t>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𝒊𝒋𝒌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=     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𝒊𝒋𝒌</m:t>
                        </m:r>
                      </m:sub>
                    </m:sSub>
                  </m:oMath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07AAD34A-24BF-BCC9-F01C-E78AE8AA9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119" y="1976190"/>
                <a:ext cx="8079475" cy="675344"/>
              </a:xfrm>
              <a:prstGeom prst="rect">
                <a:avLst/>
              </a:prstGeom>
              <a:blipFill>
                <a:blip r:embed="rId3"/>
                <a:stretch>
                  <a:fillRect l="-603" t="-4505" b="-90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9237892-0FAB-74F8-336F-DB8CA2B33008}"/>
              </a:ext>
            </a:extLst>
          </p:cNvPr>
          <p:cNvSpPr txBox="1">
            <a:spLocks/>
          </p:cNvSpPr>
          <p:nvPr/>
        </p:nvSpPr>
        <p:spPr>
          <a:xfrm>
            <a:off x="832513" y="2869374"/>
            <a:ext cx="1173708" cy="370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2:</a:t>
            </a:r>
            <a:r>
              <a:rPr lang="en-NZ" altLang="ja-JP" sz="20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NZ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2857DB5-757A-3154-1BC8-22F8212800EF}"/>
              </a:ext>
            </a:extLst>
          </p:cNvPr>
          <p:cNvSpPr txBox="1">
            <a:spLocks/>
          </p:cNvSpPr>
          <p:nvPr/>
        </p:nvSpPr>
        <p:spPr>
          <a:xfrm>
            <a:off x="2141118" y="2891293"/>
            <a:ext cx="8079475" cy="370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Extract the residuals from the main effects model</a:t>
            </a:r>
            <a:endParaRPr kumimoji="1" lang="en-NZ" altLang="ja-JP" sz="18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3E21B82-3280-AAC1-7013-A259184DB9F9}"/>
              </a:ext>
            </a:extLst>
          </p:cNvPr>
          <p:cNvSpPr txBox="1">
            <a:spLocks/>
          </p:cNvSpPr>
          <p:nvPr/>
        </p:nvSpPr>
        <p:spPr>
          <a:xfrm>
            <a:off x="832513" y="3633102"/>
            <a:ext cx="1173708" cy="370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3:</a:t>
            </a:r>
            <a:r>
              <a:rPr lang="en-NZ" altLang="ja-JP" sz="20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NZ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D33EE79B-78F1-FF1A-8CFE-368028EA73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1118" y="3633102"/>
                <a:ext cx="7994619" cy="91677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Use the residuals as a response variable in a model with interaction term</a:t>
                </a: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𝑹𝒆𝒔𝒊𝒅𝒖𝒂𝒍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~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𝑨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+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𝑩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+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𝑨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∗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𝑩</m:t>
                      </m:r>
                    </m:oMath>
                  </m:oMathPara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Calculate F-statistic from initial sample</a:t>
                </a:r>
                <a:endParaRPr kumimoji="1" lang="en-NZ" altLang="ja-JP" sz="1800" b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D33EE79B-78F1-FF1A-8CFE-368028EA7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118" y="3633102"/>
                <a:ext cx="7994619" cy="916772"/>
              </a:xfrm>
              <a:prstGeom prst="rect">
                <a:avLst/>
              </a:prstGeom>
              <a:blipFill>
                <a:blip r:embed="rId4"/>
                <a:stretch>
                  <a:fillRect l="-610" t="-4000" b="-10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0685503-769C-91F1-7106-4357C09831E3}"/>
              </a:ext>
            </a:extLst>
          </p:cNvPr>
          <p:cNvSpPr txBox="1">
            <a:spLocks/>
          </p:cNvSpPr>
          <p:nvPr/>
        </p:nvSpPr>
        <p:spPr>
          <a:xfrm>
            <a:off x="301266" y="5441772"/>
            <a:ext cx="11232109" cy="8186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idea here is that if there is a significant interaction effect between levels of </a:t>
            </a:r>
            <a:r>
              <a:rPr kumimoji="1" lang="en-NZ" altLang="ja-JP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A </a:t>
            </a: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and </a:t>
            </a:r>
            <a:r>
              <a:rPr kumimoji="1" lang="en-NZ" altLang="ja-JP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B</a:t>
            </a: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,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then this will be captured in the residuals of the main effects model.</a:t>
            </a:r>
            <a:endParaRPr kumimoji="1" lang="en-NZ" altLang="ja-JP" sz="2000" b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C331E0DA-02A6-92A0-AA32-457FC42B45DB}"/>
              </a:ext>
            </a:extLst>
          </p:cNvPr>
          <p:cNvSpPr txBox="1">
            <a:spLocks/>
          </p:cNvSpPr>
          <p:nvPr/>
        </p:nvSpPr>
        <p:spPr>
          <a:xfrm>
            <a:off x="832513" y="4705611"/>
            <a:ext cx="1173708" cy="370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4:</a:t>
            </a:r>
            <a:r>
              <a:rPr lang="en-NZ" altLang="ja-JP" sz="20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NZ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C5BEFA4-34A0-6861-A648-45D5215D6CA2}"/>
              </a:ext>
            </a:extLst>
          </p:cNvPr>
          <p:cNvSpPr txBox="1">
            <a:spLocks/>
          </p:cNvSpPr>
          <p:nvPr/>
        </p:nvSpPr>
        <p:spPr>
          <a:xfrm>
            <a:off x="2098690" y="4705611"/>
            <a:ext cx="9065179" cy="451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Conduct permutation test, holding Factor A and Factor B constant whilst</a:t>
            </a:r>
            <a:r>
              <a:rPr kumimoji="1" lang="en-NZ" altLang="ja-JP" sz="1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permuting residuals</a:t>
            </a:r>
            <a:endParaRPr kumimoji="1" lang="en-NZ" altLang="ja-JP" sz="18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070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19463" y="941917"/>
            <a:ext cx="11335725" cy="12138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kumimoji="1" lang="en-NZ" altLang="ja-JP" sz="17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 unbalanced design study is conducted to test whether drugs A and B have any effect on the level of chemical X within patients’ blood streams. The table below shows the level of chemical X in patients’ blood streams two hours after taking the drugs broken down by their genotype. </a:t>
            </a:r>
            <a:r>
              <a:rPr lang="en-NZ" altLang="ja-JP" sz="1700" dirty="0">
                <a:solidFill>
                  <a:srgbClr val="0070C0"/>
                </a:solidFill>
              </a:rPr>
              <a:t>Since the level of chemical X in a patient’s blood stream is likely to be strongly affected by their genotype, the effect of the drugs must be assessed after controlling for genotype.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0F40E0-2DC1-41D5-8083-1163E913ABB3}"/>
              </a:ext>
            </a:extLst>
          </p:cNvPr>
          <p:cNvGraphicFramePr>
            <a:graphicFrameLocks noGrp="1"/>
          </p:cNvGraphicFramePr>
          <p:nvPr/>
        </p:nvGraphicFramePr>
        <p:xfrm>
          <a:off x="903816" y="2464286"/>
          <a:ext cx="5968624" cy="1434602"/>
        </p:xfrm>
        <a:graphic>
          <a:graphicData uri="http://schemas.openxmlformats.org/drawingml/2006/table">
            <a:tbl>
              <a:tblPr/>
              <a:tblGrid>
                <a:gridCol w="1492156">
                  <a:extLst>
                    <a:ext uri="{9D8B030D-6E8A-4147-A177-3AD203B41FA5}">
                      <a16:colId xmlns:a16="http://schemas.microsoft.com/office/drawing/2014/main" val="2096338109"/>
                    </a:ext>
                  </a:extLst>
                </a:gridCol>
                <a:gridCol w="1492156">
                  <a:extLst>
                    <a:ext uri="{9D8B030D-6E8A-4147-A177-3AD203B41FA5}">
                      <a16:colId xmlns:a16="http://schemas.microsoft.com/office/drawing/2014/main" val="2684607110"/>
                    </a:ext>
                  </a:extLst>
                </a:gridCol>
                <a:gridCol w="1492156">
                  <a:extLst>
                    <a:ext uri="{9D8B030D-6E8A-4147-A177-3AD203B41FA5}">
                      <a16:colId xmlns:a16="http://schemas.microsoft.com/office/drawing/2014/main" val="3096380320"/>
                    </a:ext>
                  </a:extLst>
                </a:gridCol>
                <a:gridCol w="1492156">
                  <a:extLst>
                    <a:ext uri="{9D8B030D-6E8A-4147-A177-3AD203B41FA5}">
                      <a16:colId xmlns:a16="http://schemas.microsoft.com/office/drawing/2014/main" val="3961303757"/>
                    </a:ext>
                  </a:extLst>
                </a:gridCol>
              </a:tblGrid>
              <a:tr h="286920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Genotype AA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Genotype Aa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Genotype aa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985857"/>
                  </a:ext>
                </a:extLst>
              </a:tr>
              <a:tr h="573841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Drug 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13, 7, 5, 9,</a:t>
                      </a:r>
                      <a:br>
                        <a:rPr lang="en-NZ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NZ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12, 10, 5, 9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11, 12, 9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813750"/>
                  </a:ext>
                </a:extLst>
              </a:tr>
              <a:tr h="573841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Drug 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6, 8, 9, 12,</a:t>
                      </a:r>
                      <a:br>
                        <a:rPr lang="en-NZ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NZ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9, 5, 10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13, 9, 9, 12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32202"/>
                  </a:ext>
                </a:extLst>
              </a:tr>
            </a:tbl>
          </a:graphicData>
        </a:graphic>
      </p:graphicFrame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40E4A2C1-D07D-4EFD-BD39-CDB1CFB82BEC}"/>
              </a:ext>
            </a:extLst>
          </p:cNvPr>
          <p:cNvSpPr txBox="1">
            <a:spLocks/>
          </p:cNvSpPr>
          <p:nvPr/>
        </p:nvSpPr>
        <p:spPr>
          <a:xfrm>
            <a:off x="319463" y="4395460"/>
            <a:ext cx="10810302" cy="16282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Conduct permutation tests to:</a:t>
            </a:r>
          </a:p>
          <a:p>
            <a:pPr marL="1085793" marR="0" lvl="1" indent="-400050" defTabSz="91432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 whether there is any interaction between Genotype and Drug.</a:t>
            </a:r>
          </a:p>
          <a:p>
            <a:pPr marL="1085793" marR="0" lvl="1" indent="-400050" algn="just" defTabSz="91432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 the effect of Genotype alone on the level of chemical X.</a:t>
            </a:r>
          </a:p>
          <a:p>
            <a:pPr marL="1085793" marR="0" lvl="1" indent="-400050" algn="just" defTabSz="914324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 the effect of drug</a:t>
            </a:r>
            <a:r>
              <a:rPr kumimoji="1" lang="en-NZ" altLang="ja-JP" sz="1600" b="0" i="0" u="none" strike="noStrike" kern="120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on the level of chemical X conditional on Genotype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</a:t>
            </a: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3B91A315-4EC6-49FE-81EA-25F41A1801E5}"/>
              </a:ext>
            </a:extLst>
          </p:cNvPr>
          <p:cNvSpPr txBox="1">
            <a:spLocks/>
          </p:cNvSpPr>
          <p:nvPr/>
        </p:nvSpPr>
        <p:spPr>
          <a:xfrm>
            <a:off x="3011606" y="6520328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6.6 - Drug Study Example (Two Way ANOVA)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D579DA39-D7FA-36CD-B5F6-9FC05B380B7A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6.6c – Drug Study Example: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3729B-2127-B690-5BD8-C40AE5187888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BAADECB-484A-A0AD-5895-3D0DE64D5481}"/>
              </a:ext>
            </a:extLst>
          </p:cNvPr>
          <p:cNvSpPr txBox="1">
            <a:spLocks/>
          </p:cNvSpPr>
          <p:nvPr/>
        </p:nvSpPr>
        <p:spPr>
          <a:xfrm>
            <a:off x="7136258" y="2504254"/>
            <a:ext cx="4758560" cy="13946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Response Variable: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	Level of chemical X (mgs)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600" b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Factor A:		</a:t>
            </a:r>
            <a:r>
              <a:rPr lang="en-NZ" altLang="ja-JP" sz="1600" dirty="0">
                <a:solidFill>
                  <a:prstClr val="black"/>
                </a:solidFill>
              </a:rPr>
              <a:t>Genotype</a:t>
            </a:r>
            <a:endParaRPr lang="en-NZ" altLang="ja-JP" sz="1600" dirty="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A Levels: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	</a:t>
            </a:r>
            <a:r>
              <a:rPr lang="en-NZ" altLang="ja-JP" sz="1600" noProof="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AA, Aa, aa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6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(a=3)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1600" b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Factor B:</a:t>
            </a:r>
            <a:r>
              <a:rPr lang="en-NZ" altLang="ja-JP" sz="16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		</a:t>
            </a:r>
            <a:r>
              <a:rPr lang="en-NZ" altLang="ja-JP" sz="16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Drug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</a:t>
            </a:r>
            <a:r>
              <a:rPr lang="en-NZ" altLang="ja-JP" sz="1600" b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r B Levels:</a:t>
            </a:r>
            <a:r>
              <a:rPr lang="en-NZ" altLang="ja-JP" sz="1600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	</a:t>
            </a:r>
            <a:r>
              <a:rPr lang="en-NZ" altLang="ja-JP" sz="16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Drug A, Drug B </a:t>
            </a:r>
            <a:r>
              <a:rPr lang="en-NZ" altLang="ja-JP" sz="1600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(b=2)</a:t>
            </a:r>
            <a:endParaRPr kumimoji="1" lang="en-NZ" altLang="ja-JP" sz="1600" b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1D6E56C-DEB3-12EA-04F0-B7C16C0A58C4}"/>
              </a:ext>
            </a:extLst>
          </p:cNvPr>
          <p:cNvSpPr txBox="1">
            <a:spLocks/>
          </p:cNvSpPr>
          <p:nvPr/>
        </p:nvSpPr>
        <p:spPr>
          <a:xfrm>
            <a:off x="7787076" y="4699728"/>
            <a:ext cx="4271055" cy="4124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NZ" altLang="ja-JP" sz="15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</a:t>
            </a:r>
            <a:r>
              <a:rPr kumimoji="1" lang="en-NZ" altLang="ja-JP" sz="1500" i="0" u="none" strike="noStrike" kern="1200" cap="none" spc="0" normalizeH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for interaction effects (Ter </a:t>
            </a:r>
            <a:r>
              <a:rPr kumimoji="1" lang="en-NZ" altLang="ja-JP" sz="1500" i="0" u="none" strike="noStrike" kern="1200" cap="none" spc="0" normalizeH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Braak’s</a:t>
            </a:r>
            <a:r>
              <a:rPr kumimoji="1" lang="en-NZ" altLang="ja-JP" sz="1500" i="0" u="none" strike="noStrike" kern="1200" cap="none" spc="0" normalizeH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method)</a:t>
            </a:r>
            <a:endParaRPr kumimoji="1" lang="en-NZ" altLang="ja-JP" sz="15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50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F352CB1-4B9B-540A-962C-361798AC1CFD}"/>
              </a:ext>
            </a:extLst>
          </p:cNvPr>
          <p:cNvSpPr txBox="1">
            <a:spLocks/>
          </p:cNvSpPr>
          <p:nvPr/>
        </p:nvSpPr>
        <p:spPr>
          <a:xfrm>
            <a:off x="7787076" y="5045539"/>
            <a:ext cx="3693300" cy="4124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NZ" altLang="ja-JP" sz="15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</a:t>
            </a:r>
            <a:r>
              <a:rPr kumimoji="1" lang="en-NZ" altLang="ja-JP" sz="1500" i="0" u="none" strike="noStrike" kern="1200" cap="none" spc="0" normalizeH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for the effect of Factor A alone</a:t>
            </a:r>
            <a:endParaRPr kumimoji="1" lang="en-NZ" altLang="ja-JP" sz="15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50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D87E36C-3D2D-B127-124D-DB7AAD86EF88}"/>
              </a:ext>
            </a:extLst>
          </p:cNvPr>
          <p:cNvSpPr txBox="1">
            <a:spLocks/>
          </p:cNvSpPr>
          <p:nvPr/>
        </p:nvSpPr>
        <p:spPr>
          <a:xfrm>
            <a:off x="7792872" y="5360434"/>
            <a:ext cx="4235355" cy="4124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NZ" altLang="ja-JP" sz="15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</a:t>
            </a:r>
            <a:r>
              <a:rPr kumimoji="1" lang="en-NZ" altLang="ja-JP" sz="1500" i="0" u="none" strike="noStrike" kern="1200" cap="none" spc="0" normalizeH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for effect of Factor B conditional on Factor A</a:t>
            </a:r>
            <a:endParaRPr kumimoji="1" lang="en-NZ" altLang="ja-JP" sz="150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50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42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8" grpId="0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5152488" y="958370"/>
            <a:ext cx="4061468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Normal Theory Two</a:t>
            </a:r>
            <a: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 Way ANOVA</a:t>
            </a:r>
            <a:endParaRPr lang="en-NZ" altLang="ja-JP" sz="2000" dirty="0">
              <a:solidFill>
                <a:srgbClr val="0070C0"/>
              </a:solidFill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3B91A315-4EC6-49FE-81EA-25F41A1801E5}"/>
              </a:ext>
            </a:extLst>
          </p:cNvPr>
          <p:cNvSpPr txBox="1">
            <a:spLocks/>
          </p:cNvSpPr>
          <p:nvPr/>
        </p:nvSpPr>
        <p:spPr>
          <a:xfrm>
            <a:off x="3011606" y="6520328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6.6 - Drug Study Example (Two Way ANOVA)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D579DA39-D7FA-36CD-B5F6-9FC05B380B7A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6.6c – Drug Study Example: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3729B-2127-B690-5BD8-C40AE5187888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C5EEA2-7CE0-3D0A-0A1C-713E226F5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370750"/>
              </p:ext>
            </p:extLst>
          </p:nvPr>
        </p:nvGraphicFramePr>
        <p:xfrm>
          <a:off x="581734" y="1060086"/>
          <a:ext cx="2147817" cy="4969725"/>
        </p:xfrm>
        <a:graphic>
          <a:graphicData uri="http://schemas.openxmlformats.org/drawingml/2006/table">
            <a:tbl>
              <a:tblPr/>
              <a:tblGrid>
                <a:gridCol w="715939">
                  <a:extLst>
                    <a:ext uri="{9D8B030D-6E8A-4147-A177-3AD203B41FA5}">
                      <a16:colId xmlns:a16="http://schemas.microsoft.com/office/drawing/2014/main" val="1828119243"/>
                    </a:ext>
                  </a:extLst>
                </a:gridCol>
                <a:gridCol w="715939">
                  <a:extLst>
                    <a:ext uri="{9D8B030D-6E8A-4147-A177-3AD203B41FA5}">
                      <a16:colId xmlns:a16="http://schemas.microsoft.com/office/drawing/2014/main" val="3209559150"/>
                    </a:ext>
                  </a:extLst>
                </a:gridCol>
                <a:gridCol w="715939">
                  <a:extLst>
                    <a:ext uri="{9D8B030D-6E8A-4147-A177-3AD203B41FA5}">
                      <a16:colId xmlns:a16="http://schemas.microsoft.com/office/drawing/2014/main" val="605371155"/>
                    </a:ext>
                  </a:extLst>
                </a:gridCol>
              </a:tblGrid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chem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drug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genotype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099868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959971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371290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981594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832262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502622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925327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285915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122471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263443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97194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87272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895784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956391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745401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083571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52273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545306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42391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782346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667438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095735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17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672930"/>
                  </a:ext>
                </a:extLst>
              </a:tr>
              <a:tr h="198789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aa</a:t>
                      </a:r>
                    </a:p>
                  </a:txBody>
                  <a:tcPr marL="8703" marR="8703" marT="870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079547"/>
                  </a:ext>
                </a:extLst>
              </a:tr>
            </a:tbl>
          </a:graphicData>
        </a:graphic>
      </p:graphicFrame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9B928FB-9434-6734-FFA5-FCD237AFDD2D}"/>
              </a:ext>
            </a:extLst>
          </p:cNvPr>
          <p:cNvSpPr txBox="1">
            <a:spLocks/>
          </p:cNvSpPr>
          <p:nvPr/>
        </p:nvSpPr>
        <p:spPr>
          <a:xfrm>
            <a:off x="3242034" y="1525541"/>
            <a:ext cx="7882376" cy="6072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Constructing a two way ANOVA model, entering genotype first so that the effect of drug on</a:t>
            </a:r>
            <a:r>
              <a:rPr kumimoji="1" lang="en-NZ" altLang="ja-JP" sz="160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the response variable (chem) is conditional on genotype</a:t>
            </a: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endParaRPr kumimoji="1" lang="en-NZ" altLang="ja-JP" sz="16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47FC2D1-5085-2266-DA85-D172177D0021}"/>
              </a:ext>
            </a:extLst>
          </p:cNvPr>
          <p:cNvSpPr txBox="1">
            <a:spLocks/>
          </p:cNvSpPr>
          <p:nvPr/>
        </p:nvSpPr>
        <p:spPr>
          <a:xfrm>
            <a:off x="3242034" y="2232404"/>
            <a:ext cx="7882376" cy="675343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defRPr/>
            </a:pPr>
            <a:r>
              <a:rPr lang="en-NZ" altLang="ja-JP" sz="1800" dirty="0">
                <a:solidFill>
                  <a:prstClr val="black"/>
                </a:solidFill>
              </a:rPr>
              <a:t>ex3.aov &lt;- </a:t>
            </a:r>
            <a:r>
              <a:rPr lang="en-NZ" altLang="ja-JP" sz="1800" dirty="0" err="1">
                <a:solidFill>
                  <a:prstClr val="black"/>
                </a:solidFill>
              </a:rPr>
              <a:t>aov</a:t>
            </a:r>
            <a:r>
              <a:rPr lang="en-NZ" altLang="ja-JP" sz="1800" dirty="0">
                <a:solidFill>
                  <a:prstClr val="black"/>
                </a:solidFill>
              </a:rPr>
              <a:t>(chem ~ genotype + drug + genotype * drug, data=ex3.df)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800" dirty="0">
                <a:solidFill>
                  <a:schemeClr val="tx1"/>
                </a:solidFill>
              </a:rPr>
              <a:t>summary(ex3.aov)</a:t>
            </a:r>
            <a:endParaRPr kumimoji="1" lang="en-NZ" altLang="ja-JP" sz="18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EFFF6-6359-3594-7AD3-281C9000F812}"/>
              </a:ext>
            </a:extLst>
          </p:cNvPr>
          <p:cNvSpPr txBox="1"/>
          <p:nvPr/>
        </p:nvSpPr>
        <p:spPr>
          <a:xfrm>
            <a:off x="3339276" y="3129466"/>
            <a:ext cx="73878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600" dirty="0"/>
              <a:t> 		</a:t>
            </a:r>
            <a:r>
              <a:rPr lang="en-NZ" sz="1600" b="1" dirty="0" err="1"/>
              <a:t>Df</a:t>
            </a:r>
            <a:r>
              <a:rPr lang="en-NZ" sz="1600" b="1" dirty="0"/>
              <a:t>    Sum </a:t>
            </a:r>
            <a:r>
              <a:rPr lang="en-NZ" sz="1600" b="1" dirty="0" err="1"/>
              <a:t>Sq</a:t>
            </a:r>
            <a:r>
              <a:rPr lang="en-NZ" sz="1600" b="1" dirty="0"/>
              <a:t>      Mean </a:t>
            </a:r>
            <a:r>
              <a:rPr lang="en-NZ" sz="1600" b="1" dirty="0" err="1"/>
              <a:t>Sq</a:t>
            </a:r>
            <a:r>
              <a:rPr lang="en-NZ" sz="1600" b="1" dirty="0"/>
              <a:t>      F value    </a:t>
            </a:r>
            <a:r>
              <a:rPr lang="en-NZ" sz="1600" b="1" dirty="0" err="1"/>
              <a:t>Pr</a:t>
            </a:r>
            <a:r>
              <a:rPr lang="en-NZ" sz="1600" b="1" dirty="0"/>
              <a:t>(&gt;F)    </a:t>
            </a:r>
          </a:p>
          <a:p>
            <a:r>
              <a:rPr lang="en-NZ" sz="1600" b="1" dirty="0"/>
              <a:t>genotype</a:t>
            </a:r>
            <a:r>
              <a:rPr lang="en-NZ" sz="1600" dirty="0"/>
              <a:t>       	2      145.43       72.71           11.621     0.000575</a:t>
            </a:r>
          </a:p>
          <a:p>
            <a:r>
              <a:rPr lang="en-NZ" sz="1600" b="1" dirty="0"/>
              <a:t>drug</a:t>
            </a:r>
            <a:r>
              <a:rPr lang="en-NZ" sz="1600" dirty="0"/>
              <a:t>           		1      0.03            0.03             0.005       0.942930    </a:t>
            </a:r>
          </a:p>
          <a:p>
            <a:r>
              <a:rPr lang="en-NZ" sz="1600" b="1" dirty="0" err="1"/>
              <a:t>genotype:drug</a:t>
            </a:r>
            <a:r>
              <a:rPr lang="en-NZ" sz="1600" b="1" dirty="0"/>
              <a:t>  </a:t>
            </a:r>
            <a:r>
              <a:rPr lang="en-NZ" sz="1600" dirty="0"/>
              <a:t>	2      4.86            2.43             0.389       0.683480    </a:t>
            </a:r>
          </a:p>
          <a:p>
            <a:r>
              <a:rPr lang="en-NZ" sz="1600" b="1" dirty="0"/>
              <a:t>Residuals </a:t>
            </a:r>
            <a:r>
              <a:rPr lang="en-NZ" sz="1600" dirty="0"/>
              <a:t>    	18    112.63       6.26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66DB06B-8E2B-0651-6752-B15B0F13AAFE}"/>
              </a:ext>
            </a:extLst>
          </p:cNvPr>
          <p:cNvSpPr txBox="1">
            <a:spLocks/>
          </p:cNvSpPr>
          <p:nvPr/>
        </p:nvSpPr>
        <p:spPr>
          <a:xfrm>
            <a:off x="3736544" y="4766209"/>
            <a:ext cx="7387865" cy="8430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NZ" altLang="ja-JP" sz="16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No evidence for existence of interaction between genotype and drug.</a:t>
            </a:r>
          </a:p>
          <a:p>
            <a:pPr marL="285750" marR="0" lvl="0" indent="-28575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NZ" altLang="ja-JP" sz="16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Strong evidence for effect of genotype on level of chemical X.</a:t>
            </a:r>
          </a:p>
          <a:p>
            <a:pPr marL="285750" marR="0" lvl="0" indent="-28575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No evidence fo</a:t>
            </a:r>
            <a:r>
              <a:rPr lang="en-NZ" altLang="ja-JP" sz="1600" noProof="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r the effect of drug after controlling for genotype</a:t>
            </a:r>
            <a:endParaRPr kumimoji="1" lang="en-NZ" altLang="ja-JP" sz="16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EA3FD3D9-C324-5BC7-83F6-05CF5E06C1BB}"/>
              </a:ext>
            </a:extLst>
          </p:cNvPr>
          <p:cNvSpPr txBox="1">
            <a:spLocks/>
          </p:cNvSpPr>
          <p:nvPr/>
        </p:nvSpPr>
        <p:spPr>
          <a:xfrm>
            <a:off x="3242034" y="5809528"/>
            <a:ext cx="7882376" cy="6340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Sample</a:t>
            </a:r>
            <a:r>
              <a:rPr kumimoji="1" lang="en-NZ" altLang="ja-JP" sz="160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size is so small that we have no hope of determining whether the ANOVA conditions hold in each cell. Must conduct permutation tests.</a:t>
            </a:r>
            <a:endParaRPr kumimoji="1" lang="en-NZ" altLang="ja-JP" sz="160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437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3454300" y="958370"/>
            <a:ext cx="5283401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Permutation Test for Interaction Effects</a:t>
            </a:r>
            <a:endParaRPr lang="en-NZ" altLang="ja-JP" sz="2000" dirty="0">
              <a:solidFill>
                <a:srgbClr val="0070C0"/>
              </a:solidFill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3B91A315-4EC6-49FE-81EA-25F41A1801E5}"/>
              </a:ext>
            </a:extLst>
          </p:cNvPr>
          <p:cNvSpPr txBox="1">
            <a:spLocks/>
          </p:cNvSpPr>
          <p:nvPr/>
        </p:nvSpPr>
        <p:spPr>
          <a:xfrm>
            <a:off x="3011606" y="6520328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6.6 - Drug Study Example (Two Way ANOVA)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D579DA39-D7FA-36CD-B5F6-9FC05B380B7A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6.6c – Drug Study Example: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3729B-2127-B690-5BD8-C40AE5187888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BCFACB68-12BC-3E72-7A01-1795D8C2CE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76506" y="1287951"/>
                <a:ext cx="4438988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NZ" altLang="ja-JP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NZ" altLang="ja-JP" sz="1400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No interaction between genotype and drug</a:t>
                </a:r>
                <a:b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NZ" altLang="ja-JP" sz="1400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an interaction between genotype and drug</a:t>
                </a:r>
                <a:b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</a:br>
                <a:endParaRPr lang="en-NZ" altLang="ja-JP" sz="1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BCFACB68-12BC-3E72-7A01-1795D8C2C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506" y="1287951"/>
                <a:ext cx="4438988" cy="695961"/>
              </a:xfrm>
              <a:prstGeom prst="rect">
                <a:avLst/>
              </a:prstGeom>
              <a:blipFill>
                <a:blip r:embed="rId5"/>
                <a:stretch>
                  <a:fillRect t="-175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F58A66E-746F-C6C8-D7BE-663AEB68D008}"/>
              </a:ext>
            </a:extLst>
          </p:cNvPr>
          <p:cNvSpPr txBox="1">
            <a:spLocks/>
          </p:cNvSpPr>
          <p:nvPr/>
        </p:nvSpPr>
        <p:spPr>
          <a:xfrm>
            <a:off x="832513" y="2063509"/>
            <a:ext cx="1173708" cy="370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1:</a:t>
            </a:r>
            <a:r>
              <a:rPr lang="en-NZ" altLang="ja-JP" sz="20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NZ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B45B36D-59CA-5356-7743-9F5CABC0B9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1119" y="1976190"/>
                <a:ext cx="8079475" cy="6753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Fit a main effects model (i.e. a model without interaction term) of the form</a:t>
                </a: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𝒀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 ~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𝑨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+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𝑩</m:t>
                    </m:r>
                  </m:oMath>
                </a14:m>
                <a:r>
                  <a:rPr kumimoji="1" lang="en-NZ" altLang="ja-JP" sz="1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     </a:t>
                </a:r>
                <a:r>
                  <a:rPr kumimoji="1" lang="en-NZ" altLang="ja-JP" sz="18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sym typeface="Wingdings" panose="05000000000000000000" pitchFamily="2" charset="2"/>
                  </a:rPr>
                  <a:t>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𝒊𝒋𝒌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=     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𝒊𝒋𝒌</m:t>
                        </m:r>
                      </m:sub>
                    </m:sSub>
                  </m:oMath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B45B36D-59CA-5356-7743-9F5CABC0B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119" y="1976190"/>
                <a:ext cx="8079475" cy="675344"/>
              </a:xfrm>
              <a:prstGeom prst="rect">
                <a:avLst/>
              </a:prstGeom>
              <a:blipFill>
                <a:blip r:embed="rId6"/>
                <a:stretch>
                  <a:fillRect l="-603" t="-4505" b="-90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F10F3B5-FBAC-9240-2DBF-E8C57DEA3E33}"/>
              </a:ext>
            </a:extLst>
          </p:cNvPr>
          <p:cNvSpPr txBox="1">
            <a:spLocks/>
          </p:cNvSpPr>
          <p:nvPr/>
        </p:nvSpPr>
        <p:spPr>
          <a:xfrm>
            <a:off x="832513" y="2869374"/>
            <a:ext cx="1173708" cy="370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2:</a:t>
            </a:r>
            <a:r>
              <a:rPr lang="en-NZ" altLang="ja-JP" sz="20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NZ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54CADDC-9AB4-F6DA-25D2-F5194CE1EDEB}"/>
              </a:ext>
            </a:extLst>
          </p:cNvPr>
          <p:cNvSpPr txBox="1">
            <a:spLocks/>
          </p:cNvSpPr>
          <p:nvPr/>
        </p:nvSpPr>
        <p:spPr>
          <a:xfrm>
            <a:off x="2141118" y="2891293"/>
            <a:ext cx="8079475" cy="370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Extract the residuals from the main effects model</a:t>
            </a:r>
            <a:endParaRPr kumimoji="1" lang="en-NZ" altLang="ja-JP" sz="1800" b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831DC9F-68A3-D2EF-1369-34C252A8A989}"/>
              </a:ext>
            </a:extLst>
          </p:cNvPr>
          <p:cNvSpPr txBox="1">
            <a:spLocks/>
          </p:cNvSpPr>
          <p:nvPr/>
        </p:nvSpPr>
        <p:spPr>
          <a:xfrm>
            <a:off x="832513" y="3633102"/>
            <a:ext cx="1173708" cy="370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3:</a:t>
            </a:r>
            <a:r>
              <a:rPr lang="en-NZ" altLang="ja-JP" sz="20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NZ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1F5DE24A-489F-EE4C-7E47-DFEAB55BE2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1118" y="3633102"/>
                <a:ext cx="7994619" cy="91677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Use the residuals as a response variable in a model with interaction term</a:t>
                </a: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𝑹𝒆𝒔𝒊𝒅𝒖𝒂𝒍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~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𝑨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+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𝑩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+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𝑨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∗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𝑩</m:t>
                      </m:r>
                    </m:oMath>
                  </m:oMathPara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Calculate F-statistic from initial sample</a:t>
                </a:r>
                <a:endParaRPr kumimoji="1" lang="en-NZ" altLang="ja-JP" sz="1800" b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1F5DE24A-489F-EE4C-7E47-DFEAB55BE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118" y="3633102"/>
                <a:ext cx="7994619" cy="916772"/>
              </a:xfrm>
              <a:prstGeom prst="rect">
                <a:avLst/>
              </a:prstGeom>
              <a:blipFill>
                <a:blip r:embed="rId7"/>
                <a:stretch>
                  <a:fillRect l="-610" t="-4000" b="-10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0773F2B-5011-6EEB-F905-E180BDF17102}"/>
              </a:ext>
            </a:extLst>
          </p:cNvPr>
          <p:cNvSpPr txBox="1">
            <a:spLocks/>
          </p:cNvSpPr>
          <p:nvPr/>
        </p:nvSpPr>
        <p:spPr>
          <a:xfrm>
            <a:off x="832513" y="4705611"/>
            <a:ext cx="1173708" cy="3700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4:</a:t>
            </a:r>
            <a:r>
              <a:rPr lang="en-NZ" altLang="ja-JP" sz="20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NZ" altLang="ja-JP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C404AB6-CDF6-FDF3-C790-1179DA5A8138}"/>
              </a:ext>
            </a:extLst>
          </p:cNvPr>
          <p:cNvSpPr txBox="1">
            <a:spLocks/>
          </p:cNvSpPr>
          <p:nvPr/>
        </p:nvSpPr>
        <p:spPr>
          <a:xfrm>
            <a:off x="2098690" y="4705611"/>
            <a:ext cx="9065179" cy="4515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Conduct permutation test, holding Factor A and Factor B constant whilst</a:t>
            </a:r>
            <a:r>
              <a:rPr kumimoji="1" lang="en-NZ" altLang="ja-JP" sz="1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permuting residuals</a:t>
            </a:r>
            <a:endParaRPr kumimoji="1" lang="en-NZ" altLang="ja-JP" sz="1800" b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298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163773" y="924612"/>
            <a:ext cx="5283401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Permutation Test for Interaction Effects</a:t>
            </a:r>
            <a:endParaRPr lang="en-NZ" altLang="ja-JP" sz="2000" dirty="0">
              <a:solidFill>
                <a:srgbClr val="0070C0"/>
              </a:solidFill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3B91A315-4EC6-49FE-81EA-25F41A1801E5}"/>
              </a:ext>
            </a:extLst>
          </p:cNvPr>
          <p:cNvSpPr txBox="1">
            <a:spLocks/>
          </p:cNvSpPr>
          <p:nvPr/>
        </p:nvSpPr>
        <p:spPr>
          <a:xfrm>
            <a:off x="3011606" y="6520328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6.6 - Drug Study Example (Two Way ANOVA)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D579DA39-D7FA-36CD-B5F6-9FC05B380B7A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6.6c – Drug Study Example: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3729B-2127-B690-5BD8-C40AE5187888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99B928FB-9434-6734-FFA5-FCD237AFDD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6645" y="2182591"/>
                <a:ext cx="3331538" cy="299533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</a:t>
                </a:r>
                <a:r>
                  <a:rPr lang="en-NZ" altLang="ja-JP" sz="1600" b="1" i="1" baseline="-25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obs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lies in the 30.6</a:t>
                </a:r>
                <a:r>
                  <a:rPr lang="en-NZ" altLang="ja-JP" sz="1600" baseline="30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percentile of </a:t>
                </a:r>
                <a:b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F-statistics produced from 1,000 reordered samples.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𝑭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≥</m:t>
                          </m:r>
                          <m:sSub>
                            <m:sSubPr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𝑭</m:t>
                              </m:r>
                            </m:e>
                            <m:sub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𝑶𝒃𝒔</m:t>
                              </m:r>
                            </m:sub>
                          </m:s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𝟔𝟗𝟒</m:t>
                      </m:r>
                    </m:oMath>
                  </m:oMathPara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NZ" altLang="ja-JP" sz="1600" b="1" i="1" dirty="0">
                  <a:solidFill>
                    <a:srgbClr val="C0000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algn="just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Permutation test yields no evidence against the null hypothesis.</a:t>
                </a:r>
                <a:b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b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We conclude that there is no interaction between genotype and drug.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99B928FB-9434-6734-FFA5-FCD237AF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645" y="2182591"/>
                <a:ext cx="3331538" cy="2995337"/>
              </a:xfrm>
              <a:prstGeom prst="rect">
                <a:avLst/>
              </a:prstGeom>
              <a:blipFill>
                <a:blip r:embed="rId3"/>
                <a:stretch>
                  <a:fillRect l="-914" t="-611" r="-914" b="-346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FFD477B-1681-24FD-3134-629C161C7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71" y="2314064"/>
            <a:ext cx="7403974" cy="3727803"/>
          </a:xfrm>
          <a:prstGeom prst="rect">
            <a:avLst/>
          </a:prstGeom>
        </p:spPr>
      </p:pic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353550B-439A-EB2D-44FC-9D2178EE6358}"/>
              </a:ext>
            </a:extLst>
          </p:cNvPr>
          <p:cNvSpPr txBox="1">
            <a:spLocks/>
          </p:cNvSpPr>
          <p:nvPr/>
        </p:nvSpPr>
        <p:spPr>
          <a:xfrm>
            <a:off x="552671" y="1983912"/>
            <a:ext cx="6044473" cy="397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Histogram of F-Statistics formed from 1,000 Reordered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BCFACB68-12BC-3E72-7A01-1795D8C2CE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5979" y="1254193"/>
                <a:ext cx="4438988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NZ" altLang="ja-JP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NZ" altLang="ja-JP" sz="1400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No interaction between genotype and drug</a:t>
                </a:r>
                <a:b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1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NZ" altLang="ja-JP" sz="1400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an interaction between genotype and drug</a:t>
                </a:r>
                <a:b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</a:br>
                <a:endParaRPr lang="en-NZ" altLang="ja-JP" sz="1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BCFACB68-12BC-3E72-7A01-1795D8C2C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79" y="1254193"/>
                <a:ext cx="4438988" cy="695961"/>
              </a:xfrm>
              <a:prstGeom prst="rect">
                <a:avLst/>
              </a:prstGeom>
              <a:blipFill>
                <a:blip r:embed="rId5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452EAD4-E1BE-BD55-2D47-95B759DAB00A}"/>
              </a:ext>
            </a:extLst>
          </p:cNvPr>
          <p:cNvSpPr txBox="1">
            <a:spLocks/>
          </p:cNvSpPr>
          <p:nvPr/>
        </p:nvSpPr>
        <p:spPr>
          <a:xfrm>
            <a:off x="5380279" y="1201537"/>
            <a:ext cx="2576366" cy="6753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NZ" altLang="ja-JP" sz="120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Test for interaction effects</a:t>
            </a:r>
            <a:br>
              <a:rPr lang="en-NZ" altLang="ja-JP" sz="120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</a:br>
            <a:r>
              <a:rPr lang="en-NZ" altLang="ja-JP" sz="120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=&gt; Ter </a:t>
            </a:r>
            <a:r>
              <a:rPr lang="en-NZ" altLang="ja-JP" sz="1200" dirty="0" err="1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Braak’s</a:t>
            </a:r>
            <a:r>
              <a:rPr lang="en-NZ" altLang="ja-JP" sz="120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 method</a:t>
            </a:r>
            <a:endParaRPr kumimoji="1" lang="en-NZ" altLang="ja-JP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200" b="0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15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251224" y="907342"/>
            <a:ext cx="5580518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Permutation Test for the Effect of Genotype Alone</a:t>
            </a:r>
            <a:endParaRPr lang="en-NZ" altLang="ja-JP" sz="2000" dirty="0">
              <a:solidFill>
                <a:srgbClr val="0070C0"/>
              </a:solidFill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3B91A315-4EC6-49FE-81EA-25F41A1801E5}"/>
              </a:ext>
            </a:extLst>
          </p:cNvPr>
          <p:cNvSpPr txBox="1">
            <a:spLocks/>
          </p:cNvSpPr>
          <p:nvPr/>
        </p:nvSpPr>
        <p:spPr>
          <a:xfrm>
            <a:off x="3011606" y="6520328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6.6 - Drug Study Example (Two Way ANOVA)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D579DA39-D7FA-36CD-B5F6-9FC05B380B7A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6.6c – Drug Study Example: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3729B-2127-B690-5BD8-C40AE5187888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99B928FB-9434-6734-FFA5-FCD237AFDD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6645" y="2091613"/>
                <a:ext cx="3331538" cy="366059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</a:t>
                </a:r>
                <a:r>
                  <a:rPr lang="en-NZ" altLang="ja-JP" sz="1600" b="1" i="1" baseline="-25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obs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is greater than all F-statistics produced from 1,000 reordered samples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𝑭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≥</m:t>
                          </m:r>
                          <m:sSub>
                            <m:sSubPr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𝑭</m:t>
                              </m:r>
                            </m:e>
                            <m:sub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𝑶𝒃𝒔</m:t>
                              </m:r>
                            </m:sub>
                          </m:s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NZ" altLang="ja-JP" sz="1600" b="1" i="1" dirty="0">
                  <a:solidFill>
                    <a:srgbClr val="C0000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algn="just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Permutation test yields very strong evidence against the null hypothesis that there is no effect of genotype on the level of chemical X.</a:t>
                </a:r>
              </a:p>
              <a:p>
                <a:pPr algn="just">
                  <a:lnSpc>
                    <a:spcPct val="100000"/>
                  </a:lnSpc>
                  <a:defRPr/>
                </a:pPr>
                <a:endParaRPr lang="en-NZ" altLang="ja-JP" sz="16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algn="just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We reject the null hypothesis at the 5% level and conclude that genotype has an effect on the response variable.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99B928FB-9434-6734-FFA5-FCD237AF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645" y="2091613"/>
                <a:ext cx="3331538" cy="3660597"/>
              </a:xfrm>
              <a:prstGeom prst="rect">
                <a:avLst/>
              </a:prstGeom>
              <a:blipFill>
                <a:blip r:embed="rId3"/>
                <a:stretch>
                  <a:fillRect l="-914" t="-499" r="-255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353550B-439A-EB2D-44FC-9D2178EE6358}"/>
              </a:ext>
            </a:extLst>
          </p:cNvPr>
          <p:cNvSpPr txBox="1">
            <a:spLocks/>
          </p:cNvSpPr>
          <p:nvPr/>
        </p:nvSpPr>
        <p:spPr>
          <a:xfrm>
            <a:off x="552671" y="1926536"/>
            <a:ext cx="6044473" cy="397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Histogram of F-Statistics formed from 1,000 Reordered Samples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CD07BB-8C84-55A6-0734-2BA04FF7B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71" y="2256688"/>
            <a:ext cx="7391592" cy="36605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F5ED5BA-5AD5-91D9-8769-0FFC90C1BA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9910" y="1232881"/>
                <a:ext cx="4843146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NZ" altLang="ja-JP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NZ" altLang="ja-JP" sz="1400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There is no effect of genotype on the level of chemical X</a:t>
                </a:r>
                <a:b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NZ" altLang="ja-JP" sz="1400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There is an effect of genotype on the level of chemical X</a:t>
                </a:r>
                <a:b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</a:br>
                <a:endParaRPr lang="en-NZ" altLang="ja-JP" sz="1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AF5ED5BA-5AD5-91D9-8769-0FFC90C1B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10" y="1232881"/>
                <a:ext cx="4843146" cy="695961"/>
              </a:xfrm>
              <a:prstGeom prst="rect">
                <a:avLst/>
              </a:prstGeom>
              <a:blipFill>
                <a:blip r:embed="rId5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78D988B-E4D2-C37F-EBBD-48C43A9F8E05}"/>
              </a:ext>
            </a:extLst>
          </p:cNvPr>
          <p:cNvSpPr txBox="1">
            <a:spLocks/>
          </p:cNvSpPr>
          <p:nvPr/>
        </p:nvSpPr>
        <p:spPr>
          <a:xfrm>
            <a:off x="5874037" y="1285603"/>
            <a:ext cx="4217413" cy="5305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NZ" altLang="ja-JP" sz="120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Test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for the effect of </a:t>
            </a:r>
            <a:r>
              <a:rPr kumimoji="1" lang="en-NZ" altLang="ja-JP" sz="1200" b="1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A </a:t>
            </a:r>
            <a:r>
              <a:rPr kumimoji="1" lang="en-NZ" altLang="ja-JP" sz="120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alone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 the response variable</a:t>
            </a:r>
            <a:b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=&gt; One-Way ANOVA Permutation testing</a:t>
            </a:r>
            <a:r>
              <a:rPr kumimoji="1" lang="en-NZ" altLang="ja-JP" sz="1200" b="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</a:t>
            </a:r>
            <a:endParaRPr kumimoji="1" lang="en-NZ" altLang="ja-JP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200" b="0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19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EF5F39-7A66-9D19-5BE6-22B7DE64E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89" y="2326681"/>
            <a:ext cx="7157048" cy="3715186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92D5C0D-78E6-4805-B226-457FC79E5FF6}"/>
              </a:ext>
            </a:extLst>
          </p:cNvPr>
          <p:cNvSpPr txBox="1">
            <a:spLocks/>
          </p:cNvSpPr>
          <p:nvPr/>
        </p:nvSpPr>
        <p:spPr>
          <a:xfrm>
            <a:off x="0" y="958370"/>
            <a:ext cx="7494187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</a:rPr>
              <a:t>Permutation Test for the Effect of Drug Controlling for Genotype</a:t>
            </a:r>
            <a:endParaRPr lang="en-NZ" altLang="ja-JP" sz="2000" dirty="0">
              <a:solidFill>
                <a:srgbClr val="0070C0"/>
              </a:solidFill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0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</a:endParaRPr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3B91A315-4EC6-49FE-81EA-25F41A1801E5}"/>
              </a:ext>
            </a:extLst>
          </p:cNvPr>
          <p:cNvSpPr txBox="1">
            <a:spLocks/>
          </p:cNvSpPr>
          <p:nvPr/>
        </p:nvSpPr>
        <p:spPr>
          <a:xfrm>
            <a:off x="3011606" y="6520328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6.6 - Drug Study Example (Two Way ANOVA)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D579DA39-D7FA-36CD-B5F6-9FC05B380B7A}"/>
              </a:ext>
            </a:extLst>
          </p:cNvPr>
          <p:cNvSpPr txBox="1">
            <a:spLocks/>
          </p:cNvSpPr>
          <p:nvPr/>
        </p:nvSpPr>
        <p:spPr>
          <a:xfrm>
            <a:off x="251224" y="237833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6.6c – Drug Study Example: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3729B-2127-B690-5BD8-C40AE5187888}"/>
              </a:ext>
            </a:extLst>
          </p:cNvPr>
          <p:cNvSpPr txBox="1">
            <a:spLocks/>
          </p:cNvSpPr>
          <p:nvPr/>
        </p:nvSpPr>
        <p:spPr>
          <a:xfrm>
            <a:off x="7956645" y="86139"/>
            <a:ext cx="4132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6.6 – Permutation Testing in Two Way ANOVA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99B928FB-9434-6734-FFA5-FCD237AFDD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56645" y="2544508"/>
                <a:ext cx="3331538" cy="303477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600" b="1" i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</a:t>
                </a:r>
                <a:r>
                  <a:rPr lang="en-NZ" altLang="ja-JP" sz="1600" b="1" i="1" baseline="-25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obs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lies in the 2.9</a:t>
                </a:r>
                <a:r>
                  <a:rPr lang="en-NZ" altLang="ja-JP" sz="1600" baseline="300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percentile of </a:t>
                </a:r>
                <a:b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F-statistics produced from 1,000 reordered samples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𝑷</m:t>
                      </m:r>
                      <m:d>
                        <m:d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𝑭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≥</m:t>
                          </m:r>
                          <m:sSub>
                            <m:sSubPr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𝑭</m:t>
                              </m:r>
                            </m:e>
                            <m:sub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  <m:t>𝑶𝒃𝒔</m:t>
                              </m:r>
                            </m:sub>
                          </m:s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 </m:t>
                          </m:r>
                        </m:e>
                      </m:d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𝟗𝟕𝟏</m:t>
                      </m:r>
                    </m:oMath>
                  </m:oMathPara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NZ" altLang="ja-JP" sz="1600" b="1" i="1" dirty="0">
                  <a:solidFill>
                    <a:srgbClr val="C0000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algn="just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Permutation test yields no evidence against the null hypothesis that there is no effect of drug on the level of chemical X after controlling for genotype.</a:t>
                </a: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99B928FB-9434-6734-FFA5-FCD237AF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645" y="2544508"/>
                <a:ext cx="3331538" cy="3034771"/>
              </a:xfrm>
              <a:prstGeom prst="rect">
                <a:avLst/>
              </a:prstGeom>
              <a:blipFill>
                <a:blip r:embed="rId4"/>
                <a:stretch>
                  <a:fillRect l="-914" t="-602" r="-91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353550B-439A-EB2D-44FC-9D2178EE6358}"/>
              </a:ext>
            </a:extLst>
          </p:cNvPr>
          <p:cNvSpPr txBox="1">
            <a:spLocks/>
          </p:cNvSpPr>
          <p:nvPr/>
        </p:nvSpPr>
        <p:spPr>
          <a:xfrm>
            <a:off x="552671" y="2107070"/>
            <a:ext cx="6044473" cy="397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Histogram of F-Statistics formed from 1,000 Reordered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E4AE32FB-B082-79DF-C245-19E3CD5D77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3566" y="1280628"/>
                <a:ext cx="6807055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NZ" altLang="ja-JP" sz="14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NZ" altLang="ja-JP" sz="1400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There is no effect of drug on the level of chemical X after controlling for genotype</a:t>
                </a:r>
                <a:b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NZ" altLang="ja-JP" sz="14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NZ" altLang="ja-JP" sz="1400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There is an effect of drug on the level of chemical X after controlling for genotype</a:t>
                </a:r>
                <a:br>
                  <a:rPr lang="en-NZ" altLang="ja-JP" sz="1400" b="1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</a:br>
                <a:endParaRPr lang="en-NZ" altLang="ja-JP" sz="1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E4AE32FB-B082-79DF-C245-19E3CD5D7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66" y="1280628"/>
                <a:ext cx="6807055" cy="695961"/>
              </a:xfrm>
              <a:prstGeom prst="rect">
                <a:avLst/>
              </a:prstGeom>
              <a:blipFill>
                <a:blip r:embed="rId5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9C67FBCF-8C5A-5585-E0F7-4CEBC335AB10}"/>
              </a:ext>
            </a:extLst>
          </p:cNvPr>
          <p:cNvSpPr txBox="1">
            <a:spLocks/>
          </p:cNvSpPr>
          <p:nvPr/>
        </p:nvSpPr>
        <p:spPr>
          <a:xfrm>
            <a:off x="7150621" y="1346238"/>
            <a:ext cx="4877606" cy="495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NZ" altLang="ja-JP" sz="120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Test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for effect of </a:t>
            </a:r>
            <a:r>
              <a:rPr kumimoji="1" lang="en-NZ" altLang="ja-JP" sz="1200" b="1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B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 the response variable </a:t>
            </a:r>
            <a:r>
              <a:rPr kumimoji="1" lang="en-NZ" altLang="ja-JP" sz="1200" b="1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conditional</a:t>
            </a:r>
            <a:r>
              <a:rPr kumimoji="1" lang="en-NZ" altLang="ja-JP" sz="1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 </a:t>
            </a:r>
            <a:r>
              <a:rPr kumimoji="1" lang="en-NZ" altLang="ja-JP" sz="1200" b="1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Factor A  =&gt; </a:t>
            </a:r>
            <a:r>
              <a:rPr kumimoji="1" lang="en-NZ" altLang="ja-JP" sz="120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</a:t>
            </a:r>
            <a:r>
              <a:rPr lang="en-NZ" altLang="ja-JP" sz="1200" i="1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old</a:t>
            </a:r>
            <a:r>
              <a:rPr kumimoji="1" lang="en-NZ" altLang="ja-JP" sz="1200" b="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Factor A and response variable constant</a:t>
            </a:r>
            <a:r>
              <a:rPr lang="en-NZ" altLang="ja-JP" sz="1200" i="1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,</a:t>
            </a:r>
            <a:r>
              <a:rPr kumimoji="1" lang="en-NZ" altLang="ja-JP" sz="1200" b="0" i="1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permute Factor B labels.</a:t>
            </a:r>
            <a:endParaRPr kumimoji="1" lang="en-NZ" altLang="ja-JP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342900" marR="0" lvl="0" indent="-34290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NZ" altLang="ja-JP" sz="1200" b="0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304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84422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6.7 – General Linear Models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470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6.7 – General Linear Models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6.7a – Review of the GLM: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D3A5DF6-61A2-49DF-9336-17B980807688}"/>
              </a:ext>
            </a:extLst>
          </p:cNvPr>
          <p:cNvSpPr txBox="1">
            <a:spLocks/>
          </p:cNvSpPr>
          <p:nvPr/>
        </p:nvSpPr>
        <p:spPr>
          <a:xfrm>
            <a:off x="445827" y="941696"/>
            <a:ext cx="11300347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Suppose we want to model a response variable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as a linear function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independent variables.</a:t>
            </a: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11C6D720-0012-4350-9B18-A9E7A67CD6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9643" y="1306822"/>
                <a:ext cx="8094608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𝒀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…  + 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+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𝝐</m:t>
                      </m:r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11C6D720-0012-4350-9B18-A9E7A67CD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643" y="1306822"/>
                <a:ext cx="8094608" cy="365126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473D723-3B0B-4EA1-9BD3-39241755F327}"/>
              </a:ext>
            </a:extLst>
          </p:cNvPr>
          <p:cNvSpPr txBox="1">
            <a:spLocks/>
          </p:cNvSpPr>
          <p:nvPr/>
        </p:nvSpPr>
        <p:spPr>
          <a:xfrm>
            <a:off x="445827" y="1977408"/>
            <a:ext cx="11300347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 order to determine the optimal coefficients for the model we take a sample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observations:</a:t>
            </a: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83BF2555-19D1-4106-A226-F434AC32B4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827" y="2459053"/>
                <a:ext cx="11300347" cy="146824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1,1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2,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kumimoji="1" lang="en-NZ" altLang="ja-JP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1,2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,2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⋯</m:t>
                            </m:r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r>
                              <a:rPr kumimoji="1" lang="en-NZ" altLang="ja-JP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⋯</m:t>
                            </m:r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⋯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⋯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kumimoji="1" lang="en-NZ" altLang="ja-JP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1,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𝑝</m:t>
                                </m:r>
                              </m:sub>
                            </m:sSub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𝑝</m:t>
                                </m:r>
                              </m:sub>
                            </m:sSub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𝑝</m:t>
                                      </m:r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NZ" altLang="ja-JP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r>
                                          <a:rPr kumimoji="1" lang="en-NZ" altLang="ja-JP" sz="16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   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NZ" altLang="ja-JP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NZ" altLang="ja-JP" sz="16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+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𝜖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𝑝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83BF2555-19D1-4106-A226-F434AC32B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7" y="2459053"/>
                <a:ext cx="11300347" cy="14682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7C68D98A-6D69-48FD-83FC-555B641E03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827" y="3740904"/>
                <a:ext cx="11300347" cy="146824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1,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𝑛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⋯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𝑛</m:t>
                                                      </m:r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𝑝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d>
                        <m:dPr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d>
                        <m:dPr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7C68D98A-6D69-48FD-83FC-555B641E0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7" y="3740904"/>
                <a:ext cx="11300347" cy="14682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7FA34E0-205F-41EF-94BD-4504A336BD07}"/>
              </a:ext>
            </a:extLst>
          </p:cNvPr>
          <p:cNvSpPr txBox="1">
            <a:spLocks/>
          </p:cNvSpPr>
          <p:nvPr/>
        </p:nvSpPr>
        <p:spPr>
          <a:xfrm>
            <a:off x="3436684" y="5026589"/>
            <a:ext cx="862361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(n,1)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8186912-6D40-414C-8F26-F18CDF9ED62A}"/>
              </a:ext>
            </a:extLst>
          </p:cNvPr>
          <p:cNvSpPr txBox="1">
            <a:spLocks/>
          </p:cNvSpPr>
          <p:nvPr/>
        </p:nvSpPr>
        <p:spPr>
          <a:xfrm>
            <a:off x="5335997" y="5026589"/>
            <a:ext cx="862361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(n, p+1)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DB8A8CC-2659-42A0-B2AB-4A4B95D47019}"/>
              </a:ext>
            </a:extLst>
          </p:cNvPr>
          <p:cNvSpPr txBox="1">
            <a:spLocks/>
          </p:cNvSpPr>
          <p:nvPr/>
        </p:nvSpPr>
        <p:spPr>
          <a:xfrm>
            <a:off x="6858721" y="5026589"/>
            <a:ext cx="862361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(p+1,1)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CCDF012B-14F4-4692-9908-16D4CFAD11E2}"/>
              </a:ext>
            </a:extLst>
          </p:cNvPr>
          <p:cNvSpPr txBox="1">
            <a:spLocks/>
          </p:cNvSpPr>
          <p:nvPr/>
        </p:nvSpPr>
        <p:spPr>
          <a:xfrm>
            <a:off x="7965471" y="5026589"/>
            <a:ext cx="862361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(n,1)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FECA405-CF8A-417B-8D82-7115A9BF04BE}"/>
              </a:ext>
            </a:extLst>
          </p:cNvPr>
          <p:cNvSpPr txBox="1">
            <a:spLocks/>
          </p:cNvSpPr>
          <p:nvPr/>
        </p:nvSpPr>
        <p:spPr>
          <a:xfrm>
            <a:off x="2296357" y="4109902"/>
            <a:ext cx="801685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=&gt; 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884483C-4200-4C68-920F-94C82C571ACC}"/>
              </a:ext>
            </a:extLst>
          </p:cNvPr>
          <p:cNvSpPr txBox="1">
            <a:spLocks/>
          </p:cNvSpPr>
          <p:nvPr/>
        </p:nvSpPr>
        <p:spPr>
          <a:xfrm>
            <a:off x="2350948" y="5551178"/>
            <a:ext cx="801685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=&gt; 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27FC6C21-7B70-4800-99C5-43E4BF33D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51496" y="5634968"/>
                <a:ext cx="5889009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  </m:t>
                      </m: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𝑿</m:t>
                      </m: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</m:bar>
                      <m:r>
                        <a:rPr kumimoji="1" lang="en-NZ" altLang="ja-JP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 </m:t>
                      </m:r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27FC6C21-7B70-4800-99C5-43E4BF33D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496" y="5634968"/>
                <a:ext cx="5889009" cy="365126"/>
              </a:xfrm>
              <a:prstGeom prst="rect">
                <a:avLst/>
              </a:prstGeom>
              <a:blipFill>
                <a:blip r:embed="rId6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EED83433-1380-BD5C-1BB4-CE122CB34F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60918" y="1337167"/>
                <a:ext cx="2559676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𝜖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~ 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𝑁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(0, </m:t>
                      </m:r>
                      <m:sSup>
                        <m:sSupPr>
                          <m:ctrlP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1" lang="en-NZ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EED83433-1380-BD5C-1BB4-CE122CB34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918" y="1337167"/>
                <a:ext cx="2559676" cy="3651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77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6.7 – General Linear Models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6.7a – Review of the GLM: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D3A5DF6-61A2-49DF-9336-17B980807688}"/>
              </a:ext>
            </a:extLst>
          </p:cNvPr>
          <p:cNvSpPr txBox="1">
            <a:spLocks/>
          </p:cNvSpPr>
          <p:nvPr/>
        </p:nvSpPr>
        <p:spPr>
          <a:xfrm>
            <a:off x="445827" y="941696"/>
            <a:ext cx="11300347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Suppose we want to model a response variable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as a linear function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independent variables.</a:t>
            </a: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11C6D720-0012-4350-9B18-A9E7A67CD6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9643" y="1306822"/>
                <a:ext cx="8094608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𝒀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…  + 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+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𝝐</m:t>
                      </m:r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11C6D720-0012-4350-9B18-A9E7A67CD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643" y="1306822"/>
                <a:ext cx="8094608" cy="365126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473D723-3B0B-4EA1-9BD3-39241755F327}"/>
              </a:ext>
            </a:extLst>
          </p:cNvPr>
          <p:cNvSpPr txBox="1">
            <a:spLocks/>
          </p:cNvSpPr>
          <p:nvPr/>
        </p:nvSpPr>
        <p:spPr>
          <a:xfrm>
            <a:off x="445827" y="1977408"/>
            <a:ext cx="11300347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 order to determine the optimal coefficients for the model we take a sample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observations:</a:t>
            </a: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83BF2555-19D1-4106-A226-F434AC32B4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827" y="2459053"/>
                <a:ext cx="11300347" cy="146824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=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1,1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2,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kumimoji="1" lang="en-NZ" altLang="ja-JP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1,2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,2</m:t>
                                </m:r>
                              </m:sub>
                            </m:sSub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𝑛</m:t>
                                      </m:r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⋯</m:t>
                            </m:r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r>
                              <a:rPr kumimoji="1" lang="en-NZ" altLang="ja-JP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⋯</m:t>
                            </m:r>
                          </m:e>
                          <m:e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⋯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⋯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kumimoji="1" lang="en-NZ" altLang="ja-JP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1,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𝑝</m:t>
                                </m:r>
                              </m:sub>
                            </m:sSub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𝑝</m:t>
                                </m:r>
                              </m:sub>
                            </m:sSub>
                            <m:r>
                              <a:rPr kumimoji="1" lang="en-NZ" altLang="ja-JP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𝑝</m:t>
                                </m:r>
                              </m:sub>
                            </m:sSub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+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𝜖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𝑝</m:t>
                                      </m:r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</m:t>
                                      </m:r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NZ" altLang="ja-JP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⋮</m:t>
                                        </m:r>
                                      </m:e>
                                      <m:e>
                                        <m:r>
                                          <a:rPr kumimoji="1" lang="en-NZ" altLang="ja-JP" sz="16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   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NZ" altLang="ja-JP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kumimoji="1" lang="en-NZ" altLang="ja-JP" sz="16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+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𝜖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𝑝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mr>
                      </m:m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83BF2555-19D1-4106-A226-F434AC32B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7" y="2459053"/>
                <a:ext cx="11300347" cy="14682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7C68D98A-6D69-48FD-83FC-555B641E03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827" y="3740904"/>
                <a:ext cx="11300347" cy="146824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1,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𝑛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⋯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𝑛</m:t>
                                                      </m:r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𝑝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d>
                        <m:dPr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d>
                        <m:dPr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7C68D98A-6D69-48FD-83FC-555B641E0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7" y="3740904"/>
                <a:ext cx="11300347" cy="14682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7FA34E0-205F-41EF-94BD-4504A336BD07}"/>
              </a:ext>
            </a:extLst>
          </p:cNvPr>
          <p:cNvSpPr txBox="1">
            <a:spLocks/>
          </p:cNvSpPr>
          <p:nvPr/>
        </p:nvSpPr>
        <p:spPr>
          <a:xfrm>
            <a:off x="3436684" y="5026589"/>
            <a:ext cx="862361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(n,1)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8186912-6D40-414C-8F26-F18CDF9ED62A}"/>
              </a:ext>
            </a:extLst>
          </p:cNvPr>
          <p:cNvSpPr txBox="1">
            <a:spLocks/>
          </p:cNvSpPr>
          <p:nvPr/>
        </p:nvSpPr>
        <p:spPr>
          <a:xfrm>
            <a:off x="5335997" y="5026589"/>
            <a:ext cx="862361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(n, p+1)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FDB8A8CC-2659-42A0-B2AB-4A4B95D47019}"/>
              </a:ext>
            </a:extLst>
          </p:cNvPr>
          <p:cNvSpPr txBox="1">
            <a:spLocks/>
          </p:cNvSpPr>
          <p:nvPr/>
        </p:nvSpPr>
        <p:spPr>
          <a:xfrm>
            <a:off x="6858721" y="5026589"/>
            <a:ext cx="862361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(p+1,1)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CCDF012B-14F4-4692-9908-16D4CFAD11E2}"/>
              </a:ext>
            </a:extLst>
          </p:cNvPr>
          <p:cNvSpPr txBox="1">
            <a:spLocks/>
          </p:cNvSpPr>
          <p:nvPr/>
        </p:nvSpPr>
        <p:spPr>
          <a:xfrm>
            <a:off x="7965471" y="5026589"/>
            <a:ext cx="862361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(n,1)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FECA405-CF8A-417B-8D82-7115A9BF04BE}"/>
              </a:ext>
            </a:extLst>
          </p:cNvPr>
          <p:cNvSpPr txBox="1">
            <a:spLocks/>
          </p:cNvSpPr>
          <p:nvPr/>
        </p:nvSpPr>
        <p:spPr>
          <a:xfrm>
            <a:off x="2296357" y="4109902"/>
            <a:ext cx="801685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=&gt; 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884483C-4200-4C68-920F-94C82C571ACC}"/>
              </a:ext>
            </a:extLst>
          </p:cNvPr>
          <p:cNvSpPr txBox="1">
            <a:spLocks/>
          </p:cNvSpPr>
          <p:nvPr/>
        </p:nvSpPr>
        <p:spPr>
          <a:xfrm>
            <a:off x="2350948" y="5551178"/>
            <a:ext cx="801685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=&gt; 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27FC6C21-7B70-4800-99C5-43E4BF33D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51496" y="5634968"/>
                <a:ext cx="5889009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  </m:t>
                      </m: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𝑿</m:t>
                      </m: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</m:bar>
                      <m:r>
                        <a:rPr kumimoji="1" lang="en-NZ" altLang="ja-JP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 </m:t>
                      </m:r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27FC6C21-7B70-4800-99C5-43E4BF33D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496" y="5634968"/>
                <a:ext cx="5889009" cy="365126"/>
              </a:xfrm>
              <a:prstGeom prst="rect">
                <a:avLst/>
              </a:prstGeom>
              <a:blipFill>
                <a:blip r:embed="rId6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EED83433-1380-BD5C-1BB4-CE122CB34F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60918" y="1337167"/>
                <a:ext cx="2559676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𝜖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~ 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𝑁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(0, </m:t>
                      </m:r>
                      <m:sSup>
                        <m:sSupPr>
                          <m:ctrlP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</m:e>
                        <m:sup>
                          <m:r>
                            <a:rPr kumimoji="1" lang="en-NZ" altLang="ja-JP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1" lang="en-NZ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EED83433-1380-BD5C-1BB4-CE122CB34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918" y="1337167"/>
                <a:ext cx="2559676" cy="36512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6836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6.7a – Review of the GLM: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D3A5DF6-61A2-49DF-9336-17B980807688}"/>
              </a:ext>
            </a:extLst>
          </p:cNvPr>
          <p:cNvSpPr txBox="1">
            <a:spLocks/>
          </p:cNvSpPr>
          <p:nvPr/>
        </p:nvSpPr>
        <p:spPr>
          <a:xfrm>
            <a:off x="445827" y="941696"/>
            <a:ext cx="11300347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will use the term Residual Sum of Squares </a:t>
            </a: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(RSS)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and Sum of Square Errors </a:t>
            </a: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(SSE)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interchangeably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</a:t>
            </a: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4279A085-E7DA-439C-B0E0-15E4B5982E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826" y="1294522"/>
                <a:ext cx="11300347" cy="100814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𝑅𝑆𝑆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≡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𝑆𝑆𝐸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𝜖</m:t>
                              </m:r>
                            </m:e>
                            <m:sub>
                              <m: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</m:t>
                      </m:r>
                      <m:nary>
                        <m:naryPr>
                          <m:chr m:val="∑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NZ" altLang="ja-JP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−  </m:t>
                                  </m:r>
                                  <m:d>
                                    <m:dPr>
                                      <m:ctrl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+  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𝑗</m:t>
                                          </m:r>
                                          <m: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  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1" lang="en-NZ" altLang="ja-JP" sz="18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4279A085-E7DA-439C-B0E0-15E4B5982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6" y="1294522"/>
                <a:ext cx="11300347" cy="10081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04013942-202C-4C53-A2B8-5B981F54E1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53636" y="2345052"/>
                <a:ext cx="5307400" cy="4323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 </m:t>
                      </m:r>
                      <m:sSup>
                        <m:sSupPr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bar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𝜖</m:t>
                              </m:r>
                            </m:e>
                          </m:bar>
                        </m:e>
                        <m:sup>
                          <m: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  <m:bar>
                        <m:bar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𝜖</m:t>
                          </m:r>
                        </m:e>
                      </m:ba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 </m:t>
                      </m:r>
                      <m:sSup>
                        <m:sSupPr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bar>
                                <m:bar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NZ" altLang="ja-JP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bar>
                              <m:r>
                                <a:rPr lang="en-NZ" altLang="ja-JP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− </m:t>
                              </m:r>
                              <m:r>
                                <a:rPr lang="en-NZ" altLang="ja-JP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NZ" altLang="ja-JP" sz="1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bar>
                                <m:barPr>
                                  <m:ctrlPr>
                                    <a:rPr lang="en-NZ" altLang="ja-JP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NZ" altLang="ja-JP" sz="1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bar>
                              <m:r>
                                <a:rPr lang="en-NZ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NZ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bar>
                            <m:bar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− </m:t>
                          </m:r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bar>
                            <m:barPr>
                              <m:ctrlP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NZ" altLang="ja-JP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bar>
                          <m:r>
                            <a:rPr lang="en-NZ" altLang="ja-JP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1" lang="en-NZ" altLang="ja-JP" sz="180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04013942-202C-4C53-A2B8-5B981F54E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636" y="2345052"/>
                <a:ext cx="5307400" cy="432373"/>
              </a:xfrm>
              <a:prstGeom prst="rect">
                <a:avLst/>
              </a:prstGeom>
              <a:blipFill>
                <a:blip r:embed="rId4"/>
                <a:stretch>
                  <a:fillRect b="-1831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5A4B24A1-E437-4B6C-BF6F-F0D9AA3A4D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304" y="3636480"/>
                <a:ext cx="7592703" cy="4323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Residual sum of squares is minimised when  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</m:ba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=  </m:t>
                    </m:r>
                    <m:acc>
                      <m:accPr>
                        <m:chr m:val="̂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bar>
                          <m:barPr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barPr>
                          <m:e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𝜷</m:t>
                            </m:r>
                          </m:e>
                        </m:bar>
                      </m:e>
                    </m:acc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≡  </m:t>
                    </m:r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C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𝑻</m:t>
                        </m:r>
                      </m:sup>
                    </m:sSup>
                    <m:bar>
                      <m:bar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𝒀</m:t>
                        </m:r>
                      </m:e>
                    </m:bar>
                  </m:oMath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5A4B24A1-E437-4B6C-BF6F-F0D9AA3A4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4" y="3636480"/>
                <a:ext cx="7592703" cy="432373"/>
              </a:xfrm>
              <a:prstGeom prst="rect">
                <a:avLst/>
              </a:prstGeom>
              <a:blipFill>
                <a:blip r:embed="rId5"/>
                <a:stretch>
                  <a:fillRect l="-642" b="-2857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9BD00D5F-1B96-42ED-9E32-36C4BE2CC720}"/>
              </a:ext>
            </a:extLst>
          </p:cNvPr>
          <p:cNvSpPr txBox="1">
            <a:spLocks/>
          </p:cNvSpPr>
          <p:nvPr/>
        </p:nvSpPr>
        <p:spPr>
          <a:xfrm>
            <a:off x="8293985" y="3750134"/>
            <a:ext cx="3250441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Make sure you can prove this! * 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E9086B30-A09C-49B9-9943-6D9DD1E7F3A9}"/>
              </a:ext>
            </a:extLst>
          </p:cNvPr>
          <p:cNvSpPr txBox="1">
            <a:spLocks/>
          </p:cNvSpPr>
          <p:nvPr/>
        </p:nvSpPr>
        <p:spPr>
          <a:xfrm>
            <a:off x="9115915" y="2909149"/>
            <a:ext cx="545121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85A4C48C-87A6-45BF-A6C9-4492CADE36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826" y="4619088"/>
                <a:ext cx="7444983" cy="4323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Substituting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bar>
                          <m:barPr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barPr>
                          <m:e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𝜷</m:t>
                            </m:r>
                          </m:e>
                        </m:bar>
                      </m:e>
                    </m:acc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back into equation (1) gives:</a:t>
                </a: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85A4C48C-87A6-45BF-A6C9-4492CADE3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6" y="4619088"/>
                <a:ext cx="7444983" cy="432373"/>
              </a:xfrm>
              <a:prstGeom prst="rect">
                <a:avLst/>
              </a:prstGeom>
              <a:blipFill>
                <a:blip r:embed="rId6"/>
                <a:stretch>
                  <a:fillRect l="-655" t="-2817" b="-1267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97408C39-122C-41AA-98A0-12668742F1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0420" y="5167311"/>
                <a:ext cx="10142561" cy="6131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𝑹𝑺𝑺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sz="18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acc>
                            <m:accPr>
                              <m:chr m:val="̂"/>
                              <m:ctrlP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bar>
                                <m:barPr>
                                  <m:ctrlPr>
                                    <a:rPr lang="en-NZ" altLang="ja-JP" sz="1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NZ" altLang="ja-JP" sz="1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bar>
                            </m:e>
                          </m:acc>
                        </m:sub>
                      </m:sSub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𝑺𝑺𝑬</m:t>
                      </m:r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sz="18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acc>
                            <m:accPr>
                              <m:chr m:val="̂"/>
                              <m:ctrlP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bar>
                                <m:barPr>
                                  <m:ctrlPr>
                                    <a:rPr lang="en-NZ" altLang="ja-JP" sz="1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NZ" altLang="ja-JP" sz="1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bar>
                            </m:e>
                          </m:acc>
                        </m:sub>
                      </m:sSub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=    </m:t>
                      </m:r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ba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C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C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bar>
                        <m:barPr>
                          <m:ctrlPr>
                            <a:rPr kumimoji="1" lang="en-NZ" altLang="ja-JP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kumimoji="1" lang="en-NZ" altLang="ja-JP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bar>
                    </m:oMath>
                  </m:oMathPara>
                </a14:m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97408C39-122C-41AA-98A0-12668742F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20" y="5167311"/>
                <a:ext cx="10142561" cy="613136"/>
              </a:xfrm>
              <a:prstGeom prst="rect">
                <a:avLst/>
              </a:prstGeom>
              <a:blipFill>
                <a:blip r:embed="rId7"/>
                <a:stretch>
                  <a:fillRect t="-141000" b="-194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29F4C277-9C2F-42E8-8FE4-812ED6D4087D}"/>
              </a:ext>
            </a:extLst>
          </p:cNvPr>
          <p:cNvSpPr txBox="1">
            <a:spLocks/>
          </p:cNvSpPr>
          <p:nvPr/>
        </p:nvSpPr>
        <p:spPr>
          <a:xfrm>
            <a:off x="8899036" y="5348074"/>
            <a:ext cx="3250441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Make sure you can prove this! *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B866476-D934-A707-BE91-DD336EE165AF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6.7 – General Linear Models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5D6F6AC-11B3-9CC4-753D-8C9E4DC779A0}"/>
              </a:ext>
            </a:extLst>
          </p:cNvPr>
          <p:cNvSpPr txBox="1">
            <a:spLocks/>
          </p:cNvSpPr>
          <p:nvPr/>
        </p:nvSpPr>
        <p:spPr>
          <a:xfrm>
            <a:off x="1886173" y="6359857"/>
            <a:ext cx="8255880" cy="4981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200" dirty="0">
                <a:solidFill>
                  <a:schemeClr val="bg2">
                    <a:lumMod val="25000"/>
                  </a:schemeClr>
                </a:solidFill>
              </a:rPr>
              <a:t>*A proof of these statements is not examinable content for Stat 432 but is something you should know. </a:t>
            </a:r>
          </a:p>
          <a:p>
            <a:pPr algn="just">
              <a:lnSpc>
                <a:spcPct val="100000"/>
              </a:lnSpc>
            </a:pPr>
            <a:r>
              <a:rPr lang="en-NZ" altLang="ja-JP" sz="1200" dirty="0">
                <a:solidFill>
                  <a:schemeClr val="bg2">
                    <a:lumMod val="25000"/>
                  </a:schemeClr>
                </a:solidFill>
              </a:rPr>
              <a:t>  Proofs are available as supplementary material on the intranet. </a:t>
            </a:r>
            <a:endParaRPr lang="en-NZ" altLang="ja-JP" sz="1200" i="1" dirty="0">
              <a:solidFill>
                <a:schemeClr val="bg2">
                  <a:lumMod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FA5E83CF-2E72-D894-B0B4-D7A1B7D3F1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53636" y="2919653"/>
                <a:ext cx="5457525" cy="4323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 </m:t>
                      </m:r>
                      <m:sSup>
                        <m:sSupPr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bar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𝑌</m:t>
                              </m:r>
                            </m:e>
                          </m:bar>
                        </m:e>
                        <m:sup>
                          <m: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  <m:bar>
                        <m:bar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𝑌</m:t>
                          </m:r>
                        </m:e>
                      </m:ba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−   2</m:t>
                      </m:r>
                      <m:bar>
                        <m:bar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p>
                              <m: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𝑇</m:t>
                              </m:r>
                            </m:sup>
                          </m:sSup>
                        </m:e>
                      </m:ba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  <m:sup>
                          <m: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  <m:bar>
                        <m:bar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𝑌</m:t>
                          </m:r>
                        </m:e>
                      </m:ba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+   </m:t>
                      </m:r>
                      <m:bar>
                        <m:bar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p>
                            <m:sSupPr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p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𝑇</m:t>
                              </m:r>
                            </m:sup>
                          </m:sSup>
                        </m:e>
                      </m:bar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p>
                        <m:sSup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𝑋</m:t>
                          </m:r>
                        </m:e>
                        <m:sup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𝑋</m:t>
                      </m:r>
                      <m:bar>
                        <m:bar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</m:bar>
                    </m:oMath>
                  </m:oMathPara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FA5E83CF-2E72-D894-B0B4-D7A1B7D3F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636" y="2919653"/>
                <a:ext cx="5457525" cy="4323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A9C8F747-3EE0-55BC-EAF6-800512304A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10711" y="2564575"/>
                <a:ext cx="2165979" cy="71015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kumimoji="1" lang="en-NZ" altLang="ja-JP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kumimoji="1" lang="en-NZ" altLang="ja-JP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kumimoji="1" lang="en-NZ" altLang="ja-JP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kumimoji="1" lang="en-NZ" altLang="ja-JP" sz="1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kumimoji="1" lang="en-NZ" altLang="ja-JP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bar>
                      <m:r>
                        <a:rPr kumimoji="1" lang="en-NZ" altLang="ja-JP" sz="12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+ </m:t>
                      </m:r>
                      <m:bar>
                        <m:barPr>
                          <m:ctrlPr>
                            <a:rPr kumimoji="1" lang="en-NZ" altLang="ja-JP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kumimoji="1" lang="en-NZ" altLang="ja-JP" sz="1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12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sym typeface="Wingdings" panose="05000000000000000000" pitchFamily="2" charset="2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20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sym typeface="Wingdings" panose="05000000000000000000" pitchFamily="2" charset="2"/>
                  </a:rPr>
                  <a:t></a:t>
                </a:r>
              </a:p>
              <a:p>
                <a:pPr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NZ" altLang="ja-JP" sz="12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2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bar>
                      <m:r>
                        <a:rPr lang="en-NZ" altLang="ja-JP" sz="12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200" b="1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ctrlPr>
                            <a:rPr lang="en-NZ" altLang="ja-JP" sz="12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2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bar>
                      <m:r>
                        <a:rPr lang="en-NZ" altLang="ja-JP" sz="12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NZ" altLang="ja-JP" sz="1200" b="1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NZ" altLang="ja-JP" sz="1200" b="1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NZ" altLang="ja-JP" sz="12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NZ" altLang="ja-JP" sz="12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bar>
                    </m:oMath>
                  </m:oMathPara>
                </a14:m>
                <a:endParaRPr lang="en-NZ" altLang="ja-JP" sz="1200" dirty="0">
                  <a:solidFill>
                    <a:schemeClr val="bg2">
                      <a:lumMod val="50000"/>
                    </a:schemeClr>
                  </a:solidFill>
                  <a:sym typeface="Wingdings" panose="05000000000000000000" pitchFamily="2" charset="2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20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sym typeface="Wingdings" panose="05000000000000000000" pitchFamily="2" charset="2"/>
                  </a:rPr>
                  <a:t>     </a:t>
                </a:r>
                <a:endParaRPr kumimoji="1" lang="en-NZ" altLang="ja-JP" sz="120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200" b="1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A9C8F747-3EE0-55BC-EAF6-800512304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711" y="2564575"/>
                <a:ext cx="2165979" cy="7101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604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29" grpId="0"/>
      <p:bldP spid="30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6.7b – The Effect of Adding Variables to RSS: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0E0DC00D-440D-4B74-A353-D9B2A3AD66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827" y="937757"/>
                <a:ext cx="11300347" cy="46402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marR="0" lvl="0" indent="-28575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Consider Model 1: 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𝒀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=  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</m:t>
                    </m:r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𝒑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𝜷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𝒋</m:t>
                            </m:r>
                          </m:sub>
                        </m:s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𝑿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𝒋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𝝐</m:t>
                    </m:r>
                  </m:oMath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0E0DC00D-440D-4B74-A353-D9B2A3AD6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7" y="937757"/>
                <a:ext cx="11300347" cy="464024"/>
              </a:xfrm>
              <a:prstGeom prst="rect">
                <a:avLst/>
              </a:prstGeom>
              <a:blipFill>
                <a:blip r:embed="rId3"/>
                <a:stretch>
                  <a:fillRect l="-324" t="-90789" b="-13289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2EBC69D3-97E4-4699-BA17-33D39E5A9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0878" y="1401781"/>
                <a:ext cx="9744501" cy="147395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RSS for this model is minimised by finding the p+1 column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</m:bar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which minimises </a:t>
                </a: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𝜖</m:t>
                              </m:r>
                            </m:e>
                            <m:sub>
                              <m: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kumimoji="1" lang="en-NZ" altLang="ja-JP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</m:t>
                      </m:r>
                      <m:nary>
                        <m:naryPr>
                          <m:chr m:val="∑"/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−  </m:t>
                                  </m:r>
                                  <m:d>
                                    <m:d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+  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𝑗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  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2EBC69D3-97E4-4699-BA17-33D39E5A9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878" y="1401781"/>
                <a:ext cx="9744501" cy="1473958"/>
              </a:xfrm>
              <a:prstGeom prst="rect">
                <a:avLst/>
              </a:prstGeom>
              <a:blipFill>
                <a:blip r:embed="rId4"/>
                <a:stretch>
                  <a:fillRect l="-500" t="-206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DA70D2D6-298A-4698-AC0A-E5057BD2B2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45456" y="2019267"/>
                <a:ext cx="4775138" cy="4323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NZ" altLang="ja-JP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kumimoji="1" lang="en-NZ" altLang="ja-JP" sz="16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barPr>
                              <m:e>
                                <m:r>
                                  <a:rPr kumimoji="1" lang="en-NZ" altLang="ja-JP" sz="16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𝜷</m:t>
                                </m:r>
                              </m:e>
                            </m:bar>
                          </m:e>
                          <m:sub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be the minimising vector for Model 1</a:t>
                </a:r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.</a:t>
                </a: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DA70D2D6-298A-4698-AC0A-E5057BD2B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456" y="2019267"/>
                <a:ext cx="4775138" cy="432373"/>
              </a:xfrm>
              <a:prstGeom prst="rect">
                <a:avLst/>
              </a:prstGeom>
              <a:blipFill>
                <a:blip r:embed="rId5"/>
                <a:stretch>
                  <a:fillRect l="-638" b="-140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34926E0-40B2-43E2-B460-65E9B4135C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827" y="3061039"/>
                <a:ext cx="11300347" cy="46402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marR="0" lvl="0" indent="-28575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Consider Model 2: 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𝒀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=  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</m:t>
                    </m:r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𝒑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𝜷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𝒋</m:t>
                            </m:r>
                          </m:sub>
                        </m:s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𝑿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𝒋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𝝐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</m:t>
                    </m:r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𝒑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𝜷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𝒋</m:t>
                            </m:r>
                          </m:sub>
                        </m:s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𝑿</m:t>
                            </m:r>
                          </m:e>
                          <m:sub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𝒋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  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𝒑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𝒑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𝝐</m:t>
                    </m:r>
                  </m:oMath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285750" marR="0" lvl="0" indent="-28575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F34926E0-40B2-43E2-B460-65E9B4135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7" y="3061039"/>
                <a:ext cx="11300347" cy="464024"/>
              </a:xfrm>
              <a:prstGeom prst="rect">
                <a:avLst/>
              </a:prstGeom>
              <a:blipFill>
                <a:blip r:embed="rId6"/>
                <a:stretch>
                  <a:fillRect l="-324" t="-84211" b="-13947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A08D554F-C0AC-4266-8805-43C2925AF3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0879" y="3658730"/>
                <a:ext cx="9744501" cy="147395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RSS for this model is minimised by finding the p+2 column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</m:bar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which minimises </a:t>
                </a: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𝜖</m:t>
                              </m:r>
                            </m:e>
                            <m:sub>
                              <m: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kumimoji="1" lang="en-NZ" altLang="ja-JP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</m:t>
                      </m:r>
                      <m:nary>
                        <m:naryPr>
                          <m:chr m:val="∑"/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−  </m:t>
                                  </m:r>
                                  <m:d>
                                    <m:d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+  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𝑗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+1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  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A08D554F-C0AC-4266-8805-43C2925AF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879" y="3658730"/>
                <a:ext cx="9744501" cy="1473958"/>
              </a:xfrm>
              <a:prstGeom prst="rect">
                <a:avLst/>
              </a:prstGeom>
              <a:blipFill>
                <a:blip r:embed="rId7"/>
                <a:stretch>
                  <a:fillRect l="-500" t="-165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EB1391AA-71B8-4421-B84D-4AD363F44F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45456" y="4276326"/>
                <a:ext cx="4339989" cy="43237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NZ" altLang="ja-JP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kumimoji="1" lang="en-NZ" altLang="ja-JP" sz="16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barPr>
                              <m:e>
                                <m:r>
                                  <a:rPr kumimoji="1" lang="en-NZ" altLang="ja-JP" sz="16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𝜷</m:t>
                                </m:r>
                              </m:e>
                            </m:bar>
                          </m:e>
                          <m:sub>
                            <m:r>
                              <a:rPr kumimoji="1" lang="en-NZ" altLang="ja-JP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be</a:t>
                </a:r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minimising vector for Model 2</a:t>
                </a:r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.</a:t>
                </a: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EB1391AA-71B8-4421-B84D-4AD363F44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5456" y="4276326"/>
                <a:ext cx="4339989" cy="432373"/>
              </a:xfrm>
              <a:prstGeom prst="rect">
                <a:avLst/>
              </a:prstGeom>
              <a:blipFill>
                <a:blip r:embed="rId8"/>
                <a:stretch>
                  <a:fillRect l="-702" b="-140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BEA5E56C-8428-42F4-AC5C-B3784D15D7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826" y="5425659"/>
                <a:ext cx="11300347" cy="92054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lvl="0" indent="-28575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Consider the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p+2 column vector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bar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𝜷</m:t>
                                </m:r>
                              </m:e>
                            </m:ba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2,</m:t>
                            </m:r>
                            <m: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  </m:t>
                    </m:r>
                    <m:acc>
                      <m:accPr>
                        <m:chr m:val="̂"/>
                        <m:ctrlP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1,</m:t>
                            </m:r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for all  </a:t>
                </a:r>
                <a:r>
                  <a:rPr kumimoji="1" lang="en-NZ" altLang="ja-JP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j = 0, … , p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2,   </m:t>
                            </m:r>
                            <m: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𝑝</m:t>
                            </m:r>
                            <m: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+1</m:t>
                            </m:r>
                          </m:sub>
                        </m:sSub>
                      </m:e>
                    </m:acc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0.</m:t>
                    </m:r>
                  </m:oMath>
                </a14:m>
                <a:b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Then, by definition,  </a:t>
                </a:r>
                <a14:m>
                  <m:oMath xmlns:m="http://schemas.openxmlformats.org/officeDocument/2006/math"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𝑅𝑆𝑆</m:t>
                    </m:r>
                    <m:d>
                      <m:dPr>
                        <m:ctrlP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1" lang="en-NZ" sz="1067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44546A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NZ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bar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𝜷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kumimoji="1" lang="en-NZ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sub>
                    </m:sSub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≤</m:t>
                    </m:r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𝑅𝑆𝑆</m:t>
                    </m:r>
                    <m:d>
                      <m:dPr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𝑀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​</m:t>
                            </m:r>
                          </m:e>
                        </m:d>
                      </m:e>
                      <m:sub>
                        <m:acc>
                          <m:accPr>
                            <m:chr m:val="̃"/>
                            <m:ctrlPr>
                              <a:rPr kumimoji="1" lang="en-NZ" altLang="ja-JP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NZ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bar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𝜷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kumimoji="1" lang="en-NZ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sub>
                    </m:sSub>
                  </m:oMath>
                </a14:m>
                <a:r>
                  <a:rPr kumimoji="1" lang="en-NZ" altLang="ja-JP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BEA5E56C-8428-42F4-AC5C-B3784D15D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6" y="5425659"/>
                <a:ext cx="11300347" cy="920549"/>
              </a:xfrm>
              <a:prstGeom prst="rect">
                <a:avLst/>
              </a:prstGeom>
              <a:blipFill>
                <a:blip r:embed="rId9"/>
                <a:stretch>
                  <a:fillRect l="-324" t="-9272" b="-5364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49CC3B1-CBD0-49CD-A4BD-07B9239CFCFF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6.7 – General Linear Models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14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4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 fontScale="92500"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6.7b – The Effect of Adding Variables to RSS: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FB48CB4-036D-4E97-8859-3D55B23A6C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4192" y="1046939"/>
                <a:ext cx="4112525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𝑅𝑆𝑆</m:t>
                      </m:r>
                      <m:d>
                        <m:d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44546A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-NZ" altLang="ja-JP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𝜷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kumimoji="1" lang="en-NZ" altLang="ja-JP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sub>
                      </m:sSub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≤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𝑅𝑆𝑆</m:t>
                      </m:r>
                      <m:d>
                        <m:d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acc>
                            <m:accPr>
                              <m:chr m:val="̃"/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-NZ" altLang="ja-JP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𝜷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kumimoji="1" lang="en-NZ" altLang="ja-JP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sub>
                      </m:sSub>
                    </m:oMath>
                  </m:oMathPara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FB48CB4-036D-4E97-8859-3D55B23A6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92" y="1046939"/>
                <a:ext cx="4112525" cy="607201"/>
              </a:xfrm>
              <a:prstGeom prst="rect">
                <a:avLst/>
              </a:prstGeom>
              <a:blipFill>
                <a:blip r:embed="rId3"/>
                <a:stretch>
                  <a:fillRect t="-144444" b="-19494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7A0D3635-9492-493D-8793-C012AAC023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053" y="1787807"/>
                <a:ext cx="9744501" cy="11737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−  </m:t>
                                  </m:r>
                                  <m:d>
                                    <m:d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+  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𝑗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2,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  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+  </m:t>
                                      </m:r>
                                      <m:acc>
                                        <m:accPr>
                                          <m:chr m:val="̃"/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2,   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+1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𝑖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   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7A0D3635-9492-493D-8793-C012AAC02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053" y="1787807"/>
                <a:ext cx="9744501" cy="11737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4FD155C0-4866-400D-8144-BA887786A8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053" y="2868341"/>
                <a:ext cx="9744501" cy="11737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NZ" altLang="ja-JP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−  </m:t>
                                  </m:r>
                                  <m:d>
                                    <m:dPr>
                                      <m:ctrl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+  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𝑗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1,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  </m:t>
                                          </m:r>
                                          <m:sSub>
                                            <m:sSubPr>
                                              <m:ctrlP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1" lang="en-NZ" altLang="ja-JP" sz="1600" b="0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4FD155C0-4866-400D-8144-BA887786A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053" y="2868341"/>
                <a:ext cx="9744501" cy="11737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Left Brace 1">
            <a:extLst>
              <a:ext uri="{FF2B5EF4-FFF2-40B4-BE49-F238E27FC236}">
                <a16:creationId xmlns:a16="http://schemas.microsoft.com/office/drawing/2014/main" id="{AD8BB445-2705-4E96-A027-1D36D54096BE}"/>
              </a:ext>
            </a:extLst>
          </p:cNvPr>
          <p:cNvSpPr/>
          <p:nvPr/>
        </p:nvSpPr>
        <p:spPr>
          <a:xfrm rot="5571181">
            <a:off x="5703285" y="1638031"/>
            <a:ext cx="356383" cy="5920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E26014D-9C9D-44F7-AA4E-8E8BB569BDCB}"/>
              </a:ext>
            </a:extLst>
          </p:cNvPr>
          <p:cNvSpPr txBox="1">
            <a:spLocks/>
          </p:cNvSpPr>
          <p:nvPr/>
        </p:nvSpPr>
        <p:spPr>
          <a:xfrm>
            <a:off x="5647260" y="1442514"/>
            <a:ext cx="702525" cy="4640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3BF1CC83-81FF-42B3-98CF-DE521E9DF2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94946" y="3268376"/>
                <a:ext cx="3075714" cy="92054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en-NZ" altLang="ja-JP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NZ" altLang="ja-JP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2,</m:t>
                            </m:r>
                            <m:r>
                              <a:rPr kumimoji="1" lang="en-NZ" altLang="ja-JP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kumimoji="1" lang="en-NZ" altLang="ja-JP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  </m:t>
                    </m:r>
                    <m:acc>
                      <m:accPr>
                        <m:chr m:val="̂"/>
                        <m:ctrlPr>
                          <a:rPr kumimoji="1" lang="en-NZ" altLang="ja-JP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NZ" altLang="ja-JP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1,</m:t>
                            </m:r>
                            <m:r>
                              <a:rPr kumimoji="1" lang="en-NZ" altLang="ja-JP" sz="1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for all  </a:t>
                </a:r>
                <a:r>
                  <a:rPr kumimoji="1" lang="en-NZ" altLang="ja-JP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j = 0, … , p</a:t>
                </a: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3BF1CC83-81FF-42B3-98CF-DE521E9DF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46" y="3268376"/>
                <a:ext cx="3075714" cy="9205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3DE7D611-53C8-4ADC-B33A-68E8F689A0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9053" y="4188925"/>
                <a:ext cx="4112525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𝑅𝑆𝑆</m:t>
                      </m:r>
                      <m:d>
                        <m:d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44546A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-NZ" altLang="ja-JP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𝜷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kumimoji="1" lang="en-NZ" altLang="ja-JP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sub>
                      </m:sSub>
                    </m:oMath>
                  </m:oMathPara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3DE7D611-53C8-4ADC-B33A-68E8F689A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053" y="4188925"/>
                <a:ext cx="4112525" cy="607201"/>
              </a:xfrm>
              <a:prstGeom prst="rect">
                <a:avLst/>
              </a:prstGeom>
              <a:blipFill>
                <a:blip r:embed="rId7"/>
                <a:stretch>
                  <a:fillRect t="-143000" b="-192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567F3299-9E31-484A-AE71-E5263C1EA0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252" y="5091213"/>
                <a:ext cx="4112525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⇒ 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𝑅𝑆𝑆</m:t>
                      </m:r>
                      <m:d>
                        <m:d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44546A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acc>
                            <m:accPr>
                              <m:chr m:val="̂"/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-NZ" altLang="ja-JP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𝜷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kumimoji="1" lang="en-NZ" altLang="ja-JP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</m:sub>
                      </m:sSub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≤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𝑅𝑆𝑆</m:t>
                      </m:r>
                      <m:d>
                        <m:d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acc>
                            <m:accPr>
                              <m:chr m:val="̂"/>
                              <m:ctrlPr>
                                <a:rPr kumimoji="1" lang="en-NZ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-NZ" altLang="ja-JP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bar>
                                    <m:bar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𝜷</m:t>
                                      </m:r>
                                    </m:e>
                                  </m:bar>
                                </m:e>
                                <m:sub>
                                  <m:r>
                                    <a:rPr kumimoji="1" lang="en-NZ" altLang="ja-JP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sub>
                      </m:sSub>
                    </m:oMath>
                  </m:oMathPara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567F3299-9E31-484A-AE71-E5263C1EA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52" y="5091213"/>
                <a:ext cx="4112525" cy="607201"/>
              </a:xfrm>
              <a:prstGeom prst="rect">
                <a:avLst/>
              </a:prstGeom>
              <a:blipFill>
                <a:blip r:embed="rId8"/>
                <a:stretch>
                  <a:fillRect t="-143000" b="-192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65D7ECC-63F2-496A-B91A-76D541FF7AA8}"/>
              </a:ext>
            </a:extLst>
          </p:cNvPr>
          <p:cNvSpPr txBox="1">
            <a:spLocks/>
          </p:cNvSpPr>
          <p:nvPr/>
        </p:nvSpPr>
        <p:spPr>
          <a:xfrm>
            <a:off x="5442543" y="5122632"/>
            <a:ext cx="5857803" cy="6753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minimal RSS either decreases or stays the same when we add new variables into the model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C2653-F7A8-60C9-588D-3F43538A5E7E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6.7 – General Linear Models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337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" grpId="0" animBg="1"/>
      <p:bldP spid="16" grpId="0"/>
      <p:bldP spid="17" grpId="0"/>
      <p:bldP spid="22" grpId="0"/>
      <p:bldP spid="23" grpId="0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6.7c – Likelihood Ratio Test for a GLM: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04EE7A2-E10A-42E2-99A8-1B1AA534C99F}"/>
              </a:ext>
            </a:extLst>
          </p:cNvPr>
          <p:cNvSpPr txBox="1">
            <a:spLocks/>
          </p:cNvSpPr>
          <p:nvPr/>
        </p:nvSpPr>
        <p:spPr>
          <a:xfrm>
            <a:off x="450374" y="999006"/>
            <a:ext cx="11277883" cy="4879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 </a:t>
            </a: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Likelihood Ratio Test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used to test the hypothesis that a given subset of predictors are not required in the model.</a:t>
            </a:r>
            <a:b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Suppose that we have the model…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4C3EF874-6415-46BD-AE18-D2EDC07350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827" y="1580549"/>
                <a:ext cx="11300347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𝒀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…  +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 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…   +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+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𝝐</m:t>
                      </m:r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4C3EF874-6415-46BD-AE18-D2EDC0735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27" y="1580549"/>
                <a:ext cx="11300347" cy="365126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F7AD140-A9BB-4126-9DFB-3A6CA46FFB06}"/>
              </a:ext>
            </a:extLst>
          </p:cNvPr>
          <p:cNvSpPr txBox="1">
            <a:spLocks/>
          </p:cNvSpPr>
          <p:nvPr/>
        </p:nvSpPr>
        <p:spPr>
          <a:xfrm>
            <a:off x="450375" y="1969815"/>
            <a:ext cx="10824442" cy="4879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It may (or may not) be the case that the variables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NZ" altLang="ja-JP" sz="1800" b="1" i="1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k+1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, … , 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NZ" altLang="ja-JP" sz="1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are useless as predictors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30E4D10-130E-4813-9B8F-DBE7A41AA86D}"/>
              </a:ext>
            </a:extLst>
          </p:cNvPr>
          <p:cNvSpPr txBox="1">
            <a:spLocks/>
          </p:cNvSpPr>
          <p:nvPr/>
        </p:nvSpPr>
        <p:spPr>
          <a:xfrm>
            <a:off x="450375" y="2699042"/>
            <a:ext cx="10824442" cy="4879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To test whether the variables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NZ" altLang="ja-JP" sz="1800" b="1" i="1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k+1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, … , 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NZ" altLang="ja-JP" sz="1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have any predictive power, we consider the following two models:</a:t>
            </a: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F673C361-E886-4E58-BED6-C346255FF7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3816" y="3117497"/>
                <a:ext cx="4910130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Reduced Model:</a:t>
                </a:r>
                <a14:m>
                  <m:oMath xmlns:m="http://schemas.openxmlformats.org/officeDocument/2006/math">
                    <m:r>
                      <a:rPr kumimoji="1" lang="en-NZ" altLang="ja-JP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=  </m:t>
                    </m:r>
                    <m:sSub>
                      <m:sSubPr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</m:t>
                    </m:r>
                    <m:nary>
                      <m:naryPr>
                        <m:chr m:val="∑"/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𝑗</m:t>
                        </m:r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</m:t>
                    </m:r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𝜖</m:t>
                    </m:r>
                  </m:oMath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F673C361-E886-4E58-BED6-C346255FF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6" y="3117497"/>
                <a:ext cx="4910130" cy="487908"/>
              </a:xfrm>
              <a:prstGeom prst="rect">
                <a:avLst/>
              </a:prstGeom>
              <a:blipFill>
                <a:blip r:embed="rId4"/>
                <a:stretch>
                  <a:fillRect l="-993" t="-86250" b="-1212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D2BFB5AE-D790-4FB9-BBB3-B028DAEAAF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1732" y="3557225"/>
                <a:ext cx="4755737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Complete Model:</a:t>
                </a:r>
                <a14:m>
                  <m:oMath xmlns:m="http://schemas.openxmlformats.org/officeDocument/2006/math">
                    <m:r>
                      <a:rPr kumimoji="1" lang="en-NZ" altLang="ja-JP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=  </m:t>
                    </m:r>
                    <m:sSub>
                      <m:sSubPr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</m:t>
                    </m:r>
                    <m:nary>
                      <m:naryPr>
                        <m:chr m:val="∑"/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𝑗</m:t>
                        </m:r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</m:t>
                    </m:r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𝜖</m:t>
                    </m:r>
                  </m:oMath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D2BFB5AE-D790-4FB9-BBB3-B028DAEAA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32" y="3557225"/>
                <a:ext cx="4755737" cy="487908"/>
              </a:xfrm>
              <a:prstGeom prst="rect">
                <a:avLst/>
              </a:prstGeom>
              <a:blipFill>
                <a:blip r:embed="rId5"/>
                <a:stretch>
                  <a:fillRect l="-1026" t="-87500" b="-120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78D29AE1-B75F-4291-9F5C-9CD96CC753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21479" y="3060552"/>
                <a:ext cx="5016945" cy="89693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Note that the Reduced Model is simply the Complete Model with the condition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</m:sub>
                    </m:sSub>
                    <m:r>
                      <a:rPr kumimoji="1" lang="en-NZ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𝟎</m:t>
                    </m:r>
                  </m:oMath>
                </a14:m>
                <a:r>
                  <a:rPr kumimoji="1" lang="en-NZ" altLang="ja-JP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for all 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j = k+1, … , p</a:t>
                </a:r>
                <a:r>
                  <a:rPr kumimoji="1" lang="en-NZ" altLang="ja-JP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.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NZ" altLang="ja-JP" sz="200" i="1" dirty="0">
                  <a:solidFill>
                    <a:schemeClr val="bg2">
                      <a:lumMod val="50000"/>
                    </a:schemeClr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lvl="0" algn="just">
                  <a:lnSpc>
                    <a:spcPct val="100000"/>
                  </a:lnSpc>
                  <a:defRPr/>
                </a:pP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There are </a:t>
                </a:r>
                <a14:m>
                  <m:oMath xmlns:m="http://schemas.openxmlformats.org/officeDocument/2006/math">
                    <m:r>
                      <a:rPr lang="en-NZ" altLang="ja-JP" sz="1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NZ" altLang="ja-JP" sz="1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NZ" altLang="ja-JP" sz="1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NZ" altLang="ja-JP" sz="1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NZ" altLang="ja-JP" sz="1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NZ" altLang="ja-JP" sz="1400" i="1" dirty="0">
                    <a:solidFill>
                      <a:schemeClr val="bg2">
                        <a:lumMod val="50000"/>
                      </a:schemeClr>
                    </a:solidFill>
                  </a:rPr>
                  <a:t> 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extra variables in the complete model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78D29AE1-B75F-4291-9F5C-9CD96CC75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479" y="3060552"/>
                <a:ext cx="5016945" cy="896930"/>
              </a:xfrm>
              <a:prstGeom prst="rect">
                <a:avLst/>
              </a:prstGeom>
              <a:blipFill>
                <a:blip r:embed="rId6"/>
                <a:stretch>
                  <a:fillRect l="-365" t="-1361" r="-365" b="-204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B164571-D4A1-46F0-A012-125228980000}"/>
              </a:ext>
            </a:extLst>
          </p:cNvPr>
          <p:cNvSpPr txBox="1">
            <a:spLocks/>
          </p:cNvSpPr>
          <p:nvPr/>
        </p:nvSpPr>
        <p:spPr>
          <a:xfrm>
            <a:off x="413982" y="4461316"/>
            <a:ext cx="10824442" cy="4879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then look to test the hypotheses: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6DF920CB-C14D-4CA4-A2D4-83F0A085DC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5468" y="4842562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6DF920CB-C14D-4CA4-A2D4-83F0A085D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468" y="4842562"/>
                <a:ext cx="4189864" cy="695961"/>
              </a:xfrm>
              <a:prstGeom prst="rect">
                <a:avLst/>
              </a:prstGeom>
              <a:blipFill>
                <a:blip r:embed="rId7"/>
                <a:stretch>
                  <a:fillRect t="-347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5096C601-F145-4281-BA62-C2A370C902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89677" y="4842562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  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𝟎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for all  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𝒋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𝒌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𝟏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𝒑</m:t>
                    </m:r>
                  </m:oMath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mbria Math" panose="02040503050406030204" pitchFamily="18" charset="0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   </m:t>
                        </m:r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𝟎</m:t>
                    </m:r>
                  </m:oMath>
                </a14:m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for some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𝒋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𝒌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𝟏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𝒑</m:t>
                    </m:r>
                  </m:oMath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5096C601-F145-4281-BA62-C2A370C90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677" y="4842562"/>
                <a:ext cx="4189864" cy="695961"/>
              </a:xfrm>
              <a:prstGeom prst="rect">
                <a:avLst/>
              </a:prstGeom>
              <a:blipFill>
                <a:blip r:embed="rId8"/>
                <a:stretch>
                  <a:fillRect t="-173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D4B37FB1-3B18-440D-8E30-E92C458841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64276" y="4852082"/>
                <a:ext cx="1123854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D4B37FB1-3B18-440D-8E30-E92C45884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276" y="4852082"/>
                <a:ext cx="1123854" cy="4879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A21CF79-4A72-CBD2-0255-C0EEDA2AAD97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6.7 – General Linear Models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D3DDF2AB-543B-E883-2826-346C94E6C576}"/>
              </a:ext>
            </a:extLst>
          </p:cNvPr>
          <p:cNvSpPr/>
          <p:nvPr/>
        </p:nvSpPr>
        <p:spPr>
          <a:xfrm>
            <a:off x="5677469" y="3065977"/>
            <a:ext cx="418531" cy="8060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58A897F5-D028-703F-E380-1ED63BBAE9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5468" y="5572907"/>
                <a:ext cx="10776906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</m:oMath>
                </a14:m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 extra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predictors in the complete model have no relationship with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when the other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k = p - 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variables are accounted for.</a:t>
                </a: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58A897F5-D028-703F-E380-1ED63BBAE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468" y="5572907"/>
                <a:ext cx="10776906" cy="365125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0E776DEE-2F34-7AFA-E589-CEF2FB0C71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5469" y="5866916"/>
                <a:ext cx="10715768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</m:oMath>
                </a14:m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 extra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predictors in the complete model have some relationship with </a:t>
                </a:r>
                <a:r>
                  <a:rPr kumimoji="1" lang="en-NZ" altLang="ja-JP" sz="1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 even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when the other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k = p - 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variables are accounted for.</a:t>
                </a: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0E776DEE-2F34-7AFA-E589-CEF2FB0C7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469" y="5866916"/>
                <a:ext cx="10715768" cy="365125"/>
              </a:xfrm>
              <a:prstGeom prst="rect">
                <a:avLst/>
              </a:prstGeom>
              <a:blipFill>
                <a:blip r:embed="rId11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B5CAB32A-8071-42B8-7CEE-DBE5059750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316" y="5608998"/>
                <a:ext cx="1123854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B5CAB32A-8071-42B8-7CEE-DBE505975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6" y="5608998"/>
                <a:ext cx="1123854" cy="4879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93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5" grpId="0" animBg="1"/>
      <p:bldP spid="3" grpId="0"/>
      <p:bldP spid="7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6.7c – Likelihood Ratio Test for a GLM: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404EE7A2-E10A-42E2-99A8-1B1AA534C9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4" y="999005"/>
                <a:ext cx="11232109" cy="77520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We compute the (minimal) RSS for the reduced model 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𝑹𝑺𝑺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𝜷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𝟎</m:t>
                                    </m:r>
                                  </m:sub>
                                </m:sSub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and for the complete model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𝑹𝑺𝑺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acc>
                      <m:accPr>
                        <m:chr m:val="̂"/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𝜷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𝑯</m:t>
                                </m:r>
                              </m:e>
                              <m:sub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e>
                    </m:acc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and calculate the test statistic*:</a:t>
                </a:r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404EE7A2-E10A-42E2-99A8-1B1AA534C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4" y="999005"/>
                <a:ext cx="11232109" cy="775203"/>
              </a:xfrm>
              <a:prstGeom prst="rect">
                <a:avLst/>
              </a:prstGeom>
              <a:blipFill>
                <a:blip r:embed="rId3"/>
                <a:stretch>
                  <a:fillRect l="-489" t="-1575" b="-157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13F5A622-5829-4CC6-A5B5-3D2227D8BF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8660" y="1847293"/>
                <a:ext cx="8875590" cy="77520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𝑭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</m:t>
                      </m:r>
                      <m:f>
                        <m:f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𝑹𝑺𝑺</m:t>
                                  </m:r>
                                  <m:d>
                                    <m:d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𝑯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𝟎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kumimoji="1" lang="en-NZ" altLang="ja-JP" sz="18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   −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800" b="1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 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𝑹𝑺𝑺</m:t>
                                  </m:r>
                                  <m:d>
                                    <m:d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𝑯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𝑹𝑺𝑺</m:t>
                              </m:r>
                              <m:d>
                                <m:dPr>
                                  <m:ctrlP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𝑯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≡    </m:t>
                      </m:r>
                      <m:f>
                        <m:fPr>
                          <m:ctrlPr>
                            <a:rPr kumimoji="1" lang="en-NZ" altLang="ja-JP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8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− 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𝑪</m:t>
                                      </m:r>
                                    </m:sub>
                                  </m:s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𝑺𝑺</m:t>
                              </m:r>
                              <m:sSub>
                                <m:sSub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𝑪</m:t>
                                  </m:r>
                                </m:sub>
                              </m:sSub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13F5A622-5829-4CC6-A5B5-3D2227D8B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60" y="1847293"/>
                <a:ext cx="8875590" cy="7752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4621FDF0-EB3E-41F3-AB3E-0579B1C4FE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8660" y="3165708"/>
                <a:ext cx="11232109" cy="145613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If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</a:t>
                </a:r>
                <a:r>
                  <a:rPr kumimoji="1" lang="en-NZ" altLang="ja-JP" sz="18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0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 true then the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q = p - k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variables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X</a:t>
                </a:r>
                <a:r>
                  <a:rPr kumimoji="1" lang="en-NZ" altLang="ja-JP" sz="18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k+1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, … , </a:t>
                </a:r>
                <a:r>
                  <a:rPr kumimoji="1" lang="en-NZ" altLang="ja-JP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X</a:t>
                </a:r>
                <a:r>
                  <a:rPr kumimoji="1" lang="en-NZ" altLang="ja-JP" sz="1800" b="1" i="1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p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have no predictive power and so the accuracy of the reduced model will be very similar to the accuracy of the complete model. Consequently,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𝑹𝑺𝑺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𝜷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𝟎</m:t>
                                    </m:r>
                                  </m:sub>
                                </m:sSub>
                              </m:sub>
                            </m:sSub>
                          </m:e>
                        </m:acc>
                      </m:e>
                    </m:d>
                    <m:r>
                      <m:rPr>
                        <m:nor/>
                      </m:rPr>
                      <a:rPr kumimoji="1" lang="en-NZ" altLang="ja-JP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≈</m:t>
                    </m:r>
                    <m:r>
                      <m:rPr>
                        <m:nor/>
                      </m:rPr>
                      <a:rPr kumimoji="1" lang="en-NZ" altLang="ja-JP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kumimoji="1" lang="en-NZ" altLang="ja-JP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𝑹𝑺𝑺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𝜷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   =&gt;    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 is small</a:t>
                </a:r>
              </a:p>
              <a:p>
                <a:pPr lvl="0" algn="ctr">
                  <a:lnSpc>
                    <a:spcPct val="100000"/>
                  </a:lnSpc>
                  <a:defRPr/>
                </a:pPr>
                <a:br>
                  <a:rPr kumimoji="1" lang="en-NZ" altLang="ja-JP" sz="2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2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𝑺𝑺</m:t>
                      </m:r>
                      <m:sSub>
                        <m:sSubPr>
                          <m:ctrlPr>
                            <a:rPr lang="en-NZ" altLang="ja-JP" sz="1800" b="1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NZ" altLang="ja-JP" sz="18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NZ" altLang="ja-JP" sz="18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NZ" altLang="ja-JP" sz="18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𝑺𝑺</m:t>
                      </m:r>
                      <m:sSub>
                        <m:sSubPr>
                          <m:ctrlPr>
                            <a:rPr lang="en-NZ" altLang="ja-JP" sz="1800" b="1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4621FDF0-EB3E-41F3-AB3E-0579B1C4F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60" y="3165708"/>
                <a:ext cx="11232109" cy="1456135"/>
              </a:xfrm>
              <a:prstGeom prst="rect">
                <a:avLst/>
              </a:prstGeom>
              <a:blipFill>
                <a:blip r:embed="rId5"/>
                <a:stretch>
                  <a:fillRect l="-434" t="-2092" r="-488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31FCF34-7B61-4550-A682-E11002D0BFDE}"/>
              </a:ext>
            </a:extLst>
          </p:cNvPr>
          <p:cNvSpPr txBox="1">
            <a:spLocks/>
          </p:cNvSpPr>
          <p:nvPr/>
        </p:nvSpPr>
        <p:spPr>
          <a:xfrm>
            <a:off x="9155655" y="1850455"/>
            <a:ext cx="2872572" cy="9766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Q: Why is F always non-negative?</a:t>
            </a:r>
            <a:b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A: Because the complete model has more variables,</a:t>
            </a:r>
            <a:r>
              <a:rPr kumimoji="1" lang="en-NZ" altLang="ja-JP" sz="1400" b="0" i="1" u="none" strike="noStrike" kern="1200" cap="none" spc="0" normalizeH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so </a:t>
            </a:r>
            <a:r>
              <a:rPr kumimoji="1" lang="en-NZ" altLang="ja-JP" sz="1400" b="0" i="1" u="none" strike="noStrike" kern="1200" cap="none" spc="0" normalizeH="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SSE</a:t>
            </a:r>
            <a:r>
              <a:rPr kumimoji="1" lang="en-NZ" altLang="ja-JP" sz="1400" b="0" i="1" u="none" strike="noStrike" kern="1200" cap="none" spc="0" normalizeH="0" baseline="-25000" noProof="0" dirty="0" err="1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</a:t>
            </a:r>
            <a:r>
              <a:rPr kumimoji="1" lang="en-NZ" altLang="ja-JP" sz="1400" b="0" i="1" u="none" strike="noStrike" kern="1200" cap="none" spc="0" normalizeH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≤ SSE</a:t>
            </a:r>
            <a:r>
              <a:rPr kumimoji="1" lang="en-NZ" altLang="ja-JP" sz="1400" b="0" i="1" u="none" strike="noStrike" kern="1200" cap="none" spc="0" normalizeH="0" baseline="-2500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E6383A3C-630B-4274-80D4-74B1AB2B9D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9518" y="4826418"/>
                <a:ext cx="11232109" cy="162302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If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</a:t>
                </a:r>
                <a:r>
                  <a:rPr kumimoji="1" lang="en-NZ" altLang="ja-JP" sz="18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 true then the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q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variables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X</a:t>
                </a:r>
                <a:r>
                  <a:rPr kumimoji="1" lang="en-NZ" altLang="ja-JP" sz="18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k+1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, … , </a:t>
                </a:r>
                <a:r>
                  <a:rPr kumimoji="1" lang="en-NZ" altLang="ja-JP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X</a:t>
                </a:r>
                <a:r>
                  <a:rPr kumimoji="1" lang="en-NZ" altLang="ja-JP" sz="1800" b="1" i="1" u="none" strike="noStrike" kern="1200" cap="none" spc="0" normalizeH="0" baseline="-2500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p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have some predictive power and so the accuracy of the reduced model will be degraded as a result of omitting them. Consequently,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𝑹𝑺𝑺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𝜷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𝟎</m:t>
                                    </m:r>
                                  </m:sub>
                                </m:sSub>
                              </m:sub>
                            </m:sSub>
                          </m:e>
                        </m:acc>
                      </m:e>
                    </m:d>
                    <m:r>
                      <m:rPr>
                        <m:nor/>
                      </m:rPr>
                      <a:rPr kumimoji="1" lang="en-NZ" altLang="ja-JP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 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≫</m:t>
                    </m:r>
                    <m:r>
                      <m:rPr>
                        <m:nor/>
                      </m:rPr>
                      <a:rPr kumimoji="1" lang="en-NZ" altLang="ja-JP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kumimoji="1" lang="en-NZ" altLang="ja-JP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𝑹𝑺𝑺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𝜷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   =&gt;  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 is large</a:t>
                </a: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NZ" altLang="ja-JP" sz="200" b="1" i="1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1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𝑺𝑺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NZ" altLang="ja-JP" sz="18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NZ" altLang="ja-JP" sz="18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NZ" altLang="ja-JP" sz="1800" b="1" i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𝑺𝑺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NZ" altLang="ja-JP" sz="1800" b="1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en-NZ" altLang="ja-JP" sz="18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E6383A3C-630B-4274-80D4-74B1AB2B9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18" y="4826418"/>
                <a:ext cx="11232109" cy="1623021"/>
              </a:xfrm>
              <a:prstGeom prst="rect">
                <a:avLst/>
              </a:prstGeom>
              <a:blipFill>
                <a:blip r:embed="rId6"/>
                <a:stretch>
                  <a:fillRect l="-489" t="-2256" r="-48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41E56B6-69AB-4160-BE1A-18A7B4E2125E}"/>
              </a:ext>
            </a:extLst>
          </p:cNvPr>
          <p:cNvSpPr txBox="1">
            <a:spLocks/>
          </p:cNvSpPr>
          <p:nvPr/>
        </p:nvSpPr>
        <p:spPr>
          <a:xfrm>
            <a:off x="1807634" y="6449439"/>
            <a:ext cx="9410826" cy="3763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2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* SSE</a:t>
            </a:r>
            <a:r>
              <a:rPr kumimoji="1" lang="en-NZ" altLang="ja-JP" sz="1200" b="0" i="1" u="none" strike="noStrike" kern="1200" cap="none" spc="0" normalizeH="0" baseline="-2500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</a:t>
            </a:r>
            <a:r>
              <a:rPr kumimoji="1" lang="en-NZ" altLang="ja-JP" sz="12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= SSE for reduced model,   SSE</a:t>
            </a:r>
            <a:r>
              <a:rPr kumimoji="1" lang="en-NZ" altLang="ja-JP" sz="1200" b="0" i="1" u="none" strike="noStrike" kern="1200" cap="none" spc="0" normalizeH="0" baseline="-2500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</a:t>
            </a:r>
            <a:r>
              <a:rPr kumimoji="1" lang="en-NZ" altLang="ja-JP" sz="12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= SSE for complete model.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598F48E-A194-B301-D7EC-7617D385B9FF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6.7 – General Linear Models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49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 Distribution - MATLAB &amp; Simulink">
            <a:extLst>
              <a:ext uri="{FF2B5EF4-FFF2-40B4-BE49-F238E27FC236}">
                <a16:creationId xmlns:a16="http://schemas.microsoft.com/office/drawing/2014/main" id="{D899C94A-FB94-FD99-939E-9BD99E4B1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134" y="2222081"/>
            <a:ext cx="6563733" cy="2797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5C3BB232-8B18-2122-22CE-49284DE524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15531" y="3847703"/>
                <a:ext cx="809159" cy="39884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𝑭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𝒐𝒃𝒔</m:t>
                          </m:r>
                        </m:sub>
                      </m:sSub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5C3BB232-8B18-2122-22CE-49284DE524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531" y="3847703"/>
                <a:ext cx="809159" cy="3988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B7A6AD48-538F-4586-F4C9-3C995187C9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12018" y="3881992"/>
                <a:ext cx="1344639" cy="398844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𝑷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𝑭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≥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𝑭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𝒐𝒃𝒔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B7A6AD48-538F-4586-F4C9-3C995187C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2018" y="3881992"/>
                <a:ext cx="1344639" cy="3988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4BC2A4-DE0A-2936-BC55-F3AF19863B62}"/>
              </a:ext>
            </a:extLst>
          </p:cNvPr>
          <p:cNvCxnSpPr>
            <a:cxnSpLocks/>
          </p:cNvCxnSpPr>
          <p:nvPr/>
        </p:nvCxnSpPr>
        <p:spPr>
          <a:xfrm>
            <a:off x="4711767" y="4280836"/>
            <a:ext cx="0" cy="46233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6.7c – Likelihood Ratio Test for a GLM: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404EE7A2-E10A-42E2-99A8-1B1AA534C9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4" y="914941"/>
                <a:ext cx="7820169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Under the assumption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~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𝑵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𝟎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, </m:t>
                    </m:r>
                    <m:sSup>
                      <m:sSup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𝝈</m:t>
                        </m:r>
                      </m:e>
                      <m:sup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it can be shown that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𝑭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~ 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𝑭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𝒒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   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𝒏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 −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𝒑</m:t>
                        </m:r>
                      </m:sub>
                    </m:sSub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.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404EE7A2-E10A-42E2-99A8-1B1AA534C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4" y="914941"/>
                <a:ext cx="7820169" cy="474953"/>
              </a:xfrm>
              <a:prstGeom prst="rect">
                <a:avLst/>
              </a:prstGeom>
              <a:blipFill>
                <a:blip r:embed="rId6"/>
                <a:stretch>
                  <a:fillRect l="-468" t="-256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2E22019D-B2E4-4CB9-9427-1752B5AEC3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4" y="1336366"/>
                <a:ext cx="10658904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To test between 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</a:t>
                </a:r>
                <a:r>
                  <a:rPr kumimoji="1" lang="en-NZ" altLang="ja-JP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0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and 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</a:t>
                </a:r>
                <a:r>
                  <a:rPr kumimoji="1" lang="en-NZ" altLang="ja-JP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we calculate 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</a:t>
                </a:r>
                <a:r>
                  <a:rPr kumimoji="1" lang="en-NZ" altLang="ja-JP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obs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and see where this lies in the distribution of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𝑭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~ 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𝑭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𝒒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   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𝒏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 −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𝒑</m:t>
                        </m:r>
                      </m:sub>
                    </m:sSub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.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2E22019D-B2E4-4CB9-9427-1752B5AEC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4" y="1336366"/>
                <a:ext cx="10658904" cy="474953"/>
              </a:xfrm>
              <a:prstGeom prst="rect">
                <a:avLst/>
              </a:prstGeom>
              <a:blipFill>
                <a:blip r:embed="rId7"/>
                <a:stretch>
                  <a:fillRect l="-343" t="-256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B5C9265A-9854-4B5E-8D1F-5F052B478D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4" y="1776298"/>
                <a:ext cx="11068336" cy="44578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The bigger the value of 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F</a:t>
                </a:r>
                <a:r>
                  <a:rPr kumimoji="1" lang="en-NZ" altLang="ja-JP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obs</a:t>
                </a:r>
                <a:r>
                  <a:rPr kumimoji="1" lang="en-NZ" altLang="ja-JP" sz="160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the smaller the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p-value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𝒐𝒃𝒔</m:t>
                            </m:r>
                          </m:sub>
                        </m:s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of the test and the more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evidence we have against 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H</a:t>
                </a:r>
                <a:r>
                  <a:rPr kumimoji="1" lang="en-NZ" altLang="ja-JP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0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</a:t>
                </a: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B5C9265A-9854-4B5E-8D1F-5F052B478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4" y="1776298"/>
                <a:ext cx="11068336" cy="445783"/>
              </a:xfrm>
              <a:prstGeom prst="rect">
                <a:avLst/>
              </a:prstGeom>
              <a:blipFill>
                <a:blip r:embed="rId8"/>
                <a:stretch>
                  <a:fillRect l="-330" t="-405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D616C89-041B-4B07-F2B1-EF291EBFCF35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6.7 – General Linear Models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F17CE97F-EACE-B910-EC06-CAD45D40E2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4" y="5298742"/>
                <a:ext cx="11068336" cy="88391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However, if the assumption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~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𝑵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𝟎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, </m:t>
                    </m:r>
                    <m:sSup>
                      <m:sSup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𝝈</m:t>
                        </m:r>
                      </m:e>
                      <m:sup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is violated, then although we will still be able to calculate </a:t>
                </a:r>
                <a:r>
                  <a:rPr lang="en-NZ" altLang="ja-JP" sz="1600" b="1" i="1" dirty="0">
                    <a:solidFill>
                      <a:srgbClr val="C00000"/>
                    </a:solidFill>
                  </a:rPr>
                  <a:t>F</a:t>
                </a:r>
                <a:r>
                  <a:rPr lang="en-NZ" altLang="ja-JP" sz="1600" b="1" i="1" baseline="-25000" dirty="0">
                    <a:solidFill>
                      <a:srgbClr val="C00000"/>
                    </a:solidFill>
                  </a:rPr>
                  <a:t>obs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this will no longer</a:t>
                </a:r>
                <a:r>
                  <a:rPr kumimoji="1" lang="en-NZ" altLang="ja-JP" sz="1600" i="0" u="none" strike="noStrike" kern="1200" cap="none" spc="0" normalizeH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follow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 </m:t>
                        </m:r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</m:t>
                        </m:r>
                        <m:r>
                          <a:rPr lang="en-NZ" altLang="ja-JP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kumimoji="1" lang="en-NZ" altLang="ja-JP" sz="1600" i="0" u="none" strike="noStrike" kern="1200" cap="none" spc="0" normalizeH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distribution such that the p-value produced will be meaningless.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In such instances we must decide between 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</a:t>
                </a:r>
                <a:r>
                  <a:rPr kumimoji="1" lang="en-NZ" altLang="ja-JP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0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and 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</a:t>
                </a:r>
                <a:r>
                  <a:rPr kumimoji="1" lang="en-NZ" altLang="ja-JP" sz="16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1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lang="en-NZ" altLang="ja-JP" sz="1600" dirty="0">
                    <a:solidFill>
                      <a:srgbClr val="C0000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using a permutation test.</a:t>
                </a:r>
                <a:r>
                  <a:rPr kumimoji="1" lang="en-NZ" altLang="ja-JP" sz="1600" i="0" u="none" strike="noStrike" kern="1200" cap="none" spc="0" normalizeH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:endParaRPr kumimoji="1" lang="en-NZ" altLang="ja-JP" sz="160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F17CE97F-EACE-B910-EC06-CAD45D40E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4" y="5298742"/>
                <a:ext cx="11068336" cy="883915"/>
              </a:xfrm>
              <a:prstGeom prst="rect">
                <a:avLst/>
              </a:prstGeom>
              <a:blipFill>
                <a:blip r:embed="rId9"/>
                <a:stretch>
                  <a:fillRect l="-330" t="-1379" b="-551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150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7037E-7 L 0.16732 0.0085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59" y="4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0.17448 0.0050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24" y="2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11111E-6 L 0.1763 0.0046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15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690336"/>
            <a:ext cx="121045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6.8 – Permutation Based </a:t>
            </a:r>
            <a:b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Likelihood Ratio Tests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655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04EE7A2-E10A-42E2-99A8-1B1AA534C99F}"/>
              </a:ext>
            </a:extLst>
          </p:cNvPr>
          <p:cNvSpPr txBox="1">
            <a:spLocks/>
          </p:cNvSpPr>
          <p:nvPr/>
        </p:nvSpPr>
        <p:spPr>
          <a:xfrm>
            <a:off x="454922" y="913255"/>
            <a:ext cx="11277883" cy="4879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 </a:t>
            </a: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Likelihood Ratio Test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used to test the hypothesis that a given subset of predictors are not required in the model.</a:t>
            </a:r>
            <a:b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Suppose that we have the model…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4C3EF874-6415-46BD-AE18-D2EDC07350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5" y="1494798"/>
                <a:ext cx="11300347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𝒀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…  +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 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…   +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+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𝝐</m:t>
                      </m:r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4C3EF874-6415-46BD-AE18-D2EDC0735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5" y="1494798"/>
                <a:ext cx="11300347" cy="365126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F7AD140-A9BB-4126-9DFB-3A6CA46FFB06}"/>
              </a:ext>
            </a:extLst>
          </p:cNvPr>
          <p:cNvSpPr txBox="1">
            <a:spLocks/>
          </p:cNvSpPr>
          <p:nvPr/>
        </p:nvSpPr>
        <p:spPr>
          <a:xfrm>
            <a:off x="454923" y="1884064"/>
            <a:ext cx="10824442" cy="4879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It may (or may not) be the case that the variables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NZ" altLang="ja-JP" sz="1800" b="1" i="1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k+1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, … , 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NZ" altLang="ja-JP" sz="1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are useless as predictors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30E4D10-130E-4813-9B8F-DBE7A41AA86D}"/>
              </a:ext>
            </a:extLst>
          </p:cNvPr>
          <p:cNvSpPr txBox="1">
            <a:spLocks/>
          </p:cNvSpPr>
          <p:nvPr/>
        </p:nvSpPr>
        <p:spPr>
          <a:xfrm>
            <a:off x="413982" y="2509264"/>
            <a:ext cx="10824442" cy="4879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To test whether the variables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NZ" altLang="ja-JP" sz="1800" b="1" i="1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k+1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, … , 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X</a:t>
            </a:r>
            <a:r>
              <a:rPr kumimoji="1" lang="en-NZ" altLang="ja-JP" sz="1800" b="1" i="1" u="none" strike="noStrike" kern="1200" cap="none" spc="0" normalizeH="0" baseline="-2500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have any predictive power, we consider the following two models: </a:t>
            </a: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F673C361-E886-4E58-BED6-C346255FF7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364" y="2899923"/>
                <a:ext cx="4987469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Reduced Model:</a:t>
                </a:r>
                <a14:m>
                  <m:oMath xmlns:m="http://schemas.openxmlformats.org/officeDocument/2006/math">
                    <m:r>
                      <a:rPr kumimoji="1" lang="en-NZ" altLang="ja-JP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=  </m:t>
                    </m:r>
                    <m:sSub>
                      <m:sSubPr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</m:t>
                    </m:r>
                    <m:nary>
                      <m:naryPr>
                        <m:chr m:val="∑"/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𝑗</m:t>
                        </m:r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</m:t>
                    </m:r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𝜖</m:t>
                    </m:r>
                  </m:oMath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F673C361-E886-4E58-BED6-C346255FF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64" y="2899923"/>
                <a:ext cx="4987469" cy="487908"/>
              </a:xfrm>
              <a:prstGeom prst="rect">
                <a:avLst/>
              </a:prstGeom>
              <a:blipFill>
                <a:blip r:embed="rId4"/>
                <a:stretch>
                  <a:fillRect l="-978" t="-86250" b="-1212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D2BFB5AE-D790-4FB9-BBB3-B028DAEAAF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6280" y="3339651"/>
                <a:ext cx="496955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Complete Model:</a:t>
                </a:r>
                <a14:m>
                  <m:oMath xmlns:m="http://schemas.openxmlformats.org/officeDocument/2006/math">
                    <m:r>
                      <a:rPr kumimoji="1" lang="en-NZ" altLang="ja-JP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=  </m:t>
                    </m:r>
                    <m:sSub>
                      <m:sSubPr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</m:t>
                    </m:r>
                    <m:nary>
                      <m:naryPr>
                        <m:chr m:val="∑"/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𝑗</m:t>
                        </m:r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</m:t>
                    </m:r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𝜖</m:t>
                    </m:r>
                  </m:oMath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D2BFB5AE-D790-4FB9-BBB3-B028DAEAA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80" y="3339651"/>
                <a:ext cx="4969553" cy="487908"/>
              </a:xfrm>
              <a:prstGeom prst="rect">
                <a:avLst/>
              </a:prstGeom>
              <a:blipFill>
                <a:blip r:embed="rId5"/>
                <a:stretch>
                  <a:fillRect l="-1104" t="-87500" b="-120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B164571-D4A1-46F0-A012-125228980000}"/>
              </a:ext>
            </a:extLst>
          </p:cNvPr>
          <p:cNvSpPr txBox="1">
            <a:spLocks/>
          </p:cNvSpPr>
          <p:nvPr/>
        </p:nvSpPr>
        <p:spPr>
          <a:xfrm>
            <a:off x="450375" y="3915277"/>
            <a:ext cx="4076131" cy="4879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then look to test the hypotheses: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6DF920CB-C14D-4CA4-A2D4-83F0A085DC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2459" y="4328501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6DF920CB-C14D-4CA4-A2D4-83F0A085D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459" y="4328501"/>
                <a:ext cx="4189864" cy="695961"/>
              </a:xfrm>
              <a:prstGeom prst="rect">
                <a:avLst/>
              </a:prstGeom>
              <a:blipFill>
                <a:blip r:embed="rId6"/>
                <a:stretch>
                  <a:fillRect t="-35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5096C601-F145-4281-BA62-C2A370C902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2459" y="4963091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𝟎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for all  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𝒋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𝒌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𝟏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𝒑</m:t>
                    </m:r>
                  </m:oMath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mbria Math" panose="02040503050406030204" pitchFamily="18" charset="0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 </m:t>
                        </m:r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𝟎</m:t>
                    </m:r>
                  </m:oMath>
                </a14:m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for some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𝒋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𝒌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𝟏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𝒑</m:t>
                    </m:r>
                  </m:oMath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5096C601-F145-4281-BA62-C2A370C90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459" y="4963091"/>
                <a:ext cx="4189864" cy="695961"/>
              </a:xfrm>
              <a:prstGeom prst="rect">
                <a:avLst/>
              </a:prstGeom>
              <a:blipFill>
                <a:blip r:embed="rId7"/>
                <a:stretch>
                  <a:fillRect t="-175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D4B37FB1-3B18-440D-8E30-E92C458841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982" y="5013398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D4B37FB1-3B18-440D-8E30-E92C45884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82" y="5013398"/>
                <a:ext cx="841663" cy="4879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6">
            <a:extLst>
              <a:ext uri="{FF2B5EF4-FFF2-40B4-BE49-F238E27FC236}">
                <a16:creationId xmlns:a16="http://schemas.microsoft.com/office/drawing/2014/main" id="{EE5D8385-2F4B-6D7C-6812-0098798EEADA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6.8a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Permutation Based L-R Tests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404EE348-167C-3698-4D5E-B101547BF819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964E6862-CEED-694F-A992-14C2B012FD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2459" y="5598029"/>
                <a:ext cx="10776906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</m:oMath>
                </a14:m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 extra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predictors in the complete model have no relationship with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when the other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k = p - 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variables are accounted for.</a:t>
                </a: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964E6862-CEED-694F-A992-14C2B012F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459" y="5598029"/>
                <a:ext cx="10776906" cy="365125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8467CA8B-B703-48EF-A391-FE6B521DFD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2460" y="5892038"/>
                <a:ext cx="10715768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</m:oMath>
                </a14:m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 extra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predictors in the complete model have some relationship with </a:t>
                </a:r>
                <a:r>
                  <a:rPr kumimoji="1" lang="en-NZ" altLang="ja-JP" sz="1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 even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when the other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k = p - 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variables are accounted for.</a:t>
                </a: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8467CA8B-B703-48EF-A391-FE6B521DF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2460" y="5892038"/>
                <a:ext cx="10715768" cy="365125"/>
              </a:xfrm>
              <a:prstGeom prst="rect">
                <a:avLst/>
              </a:prstGeom>
              <a:blipFill>
                <a:blip r:embed="rId10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105D4000-FB26-F32E-8E84-7D6721F9E7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58656" y="2945539"/>
                <a:ext cx="5016945" cy="100942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  <a:defRPr/>
                </a:pPr>
                <a:r>
                  <a:rPr lang="en-NZ" altLang="ja-JP" sz="1400" dirty="0">
                    <a:solidFill>
                      <a:schemeClr val="bg2">
                        <a:lumMod val="50000"/>
                      </a:schemeClr>
                    </a:solidFill>
                  </a:rPr>
                  <a:t>The Reduced Model is simply the Complete Model with the condition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4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4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400" b="1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4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NZ" altLang="ja-JP" sz="1400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NZ" altLang="ja-JP" sz="1400" b="1" dirty="0">
                    <a:solidFill>
                      <a:schemeClr val="bg2">
                        <a:lumMod val="50000"/>
                      </a:schemeClr>
                    </a:solidFill>
                  </a:rPr>
                  <a:t>  </a:t>
                </a:r>
                <a:r>
                  <a:rPr lang="en-NZ" altLang="ja-JP" sz="1400" dirty="0">
                    <a:solidFill>
                      <a:schemeClr val="bg2">
                        <a:lumMod val="50000"/>
                      </a:schemeClr>
                    </a:solidFill>
                  </a:rPr>
                  <a:t>for all  </a:t>
                </a:r>
                <a:r>
                  <a:rPr lang="en-NZ" altLang="ja-JP" sz="1400" b="1" i="1" dirty="0">
                    <a:solidFill>
                      <a:schemeClr val="bg2">
                        <a:lumMod val="50000"/>
                      </a:schemeClr>
                    </a:solidFill>
                  </a:rPr>
                  <a:t>j = k+1, … , p</a:t>
                </a:r>
                <a:r>
                  <a:rPr lang="en-NZ" altLang="ja-JP" sz="1400" i="1" dirty="0">
                    <a:solidFill>
                      <a:schemeClr val="bg2">
                        <a:lumMod val="50000"/>
                      </a:schemeClr>
                    </a:solidFill>
                  </a:rPr>
                  <a:t>.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NZ" altLang="ja-JP" sz="200" i="1" dirty="0">
                  <a:solidFill>
                    <a:schemeClr val="bg2">
                      <a:lumMod val="50000"/>
                    </a:schemeClr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There are </a:t>
                </a:r>
                <a14:m>
                  <m:oMath xmlns:m="http://schemas.openxmlformats.org/officeDocument/2006/math">
                    <m:r>
                      <a:rPr kumimoji="1" lang="en-NZ" altLang="ja-JP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𝑞</m:t>
                    </m:r>
                    <m:r>
                      <a:rPr kumimoji="1" lang="en-NZ" altLang="ja-JP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≡</m:t>
                    </m:r>
                    <m:r>
                      <a:rPr kumimoji="1" lang="en-NZ" altLang="ja-JP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𝑝</m:t>
                    </m:r>
                    <m:r>
                      <a:rPr kumimoji="1" lang="en-NZ" altLang="ja-JP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−</m:t>
                    </m:r>
                    <m:r>
                      <a:rPr kumimoji="1" lang="en-NZ" altLang="ja-JP" sz="1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𝑘</m:t>
                    </m:r>
                  </m:oMath>
                </a14:m>
                <a:r>
                  <a:rPr kumimoji="1" lang="en-NZ" altLang="ja-JP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extra variables in the complete model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105D4000-FB26-F32E-8E84-7D6721F9E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656" y="2945539"/>
                <a:ext cx="5016945" cy="1009420"/>
              </a:xfrm>
              <a:prstGeom prst="rect">
                <a:avLst/>
              </a:prstGeom>
              <a:blipFill>
                <a:blip r:embed="rId11"/>
                <a:stretch>
                  <a:fillRect l="-365" t="-1205" r="-36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Brace 24">
            <a:extLst>
              <a:ext uri="{FF2B5EF4-FFF2-40B4-BE49-F238E27FC236}">
                <a16:creationId xmlns:a16="http://schemas.microsoft.com/office/drawing/2014/main" id="{7A31C8E3-0CA0-AC91-ED4B-443FA8726169}"/>
              </a:ext>
            </a:extLst>
          </p:cNvPr>
          <p:cNvSpPr/>
          <p:nvPr/>
        </p:nvSpPr>
        <p:spPr>
          <a:xfrm>
            <a:off x="5677469" y="3065978"/>
            <a:ext cx="218364" cy="58053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460376A1-EAF4-6AA8-3094-451956F0E8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981" y="5619664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460376A1-EAF4-6AA8-3094-451956F0E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81" y="5619664"/>
                <a:ext cx="841663" cy="4879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631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  <p:bldP spid="23" grpId="0"/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FD3A5DF6-61A2-49DF-9336-17B9808076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2067831"/>
                <a:ext cx="11300347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To facilitate the desired hypothesis test, we partition the matrix 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X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and the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</m:bar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as follows:</a:t>
                </a: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FD3A5DF6-61A2-49DF-9336-17B980807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2067831"/>
                <a:ext cx="11300347" cy="365125"/>
              </a:xfrm>
              <a:prstGeom prst="rect">
                <a:avLst/>
              </a:prstGeom>
              <a:blipFill>
                <a:blip r:embed="rId3"/>
                <a:stretch>
                  <a:fillRect l="-431" t="-6667" b="-2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D62D1670-E1B9-467C-97A2-800D3BA70D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860" y="2484011"/>
                <a:ext cx="4400266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=  </m:t>
                      </m: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𝑿</m:t>
                      </m: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</m:bar>
                      <m:r>
                        <a:rPr kumimoji="1" lang="en-NZ" altLang="ja-JP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 </m:t>
                      </m:r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D62D1670-E1B9-467C-97A2-800D3BA70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60" y="2484011"/>
                <a:ext cx="4400266" cy="365126"/>
              </a:xfrm>
              <a:prstGeom prst="rect">
                <a:avLst/>
              </a:prstGeom>
              <a:blipFill>
                <a:blip r:embed="rId4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3F648A75-709F-439C-B5A2-2286840138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162" y="3555356"/>
                <a:ext cx="11300347" cy="146824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  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1,1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1,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𝑞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,1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𝑞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𝑛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⋯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𝑛</m:t>
                                                      </m:r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𝑝</m:t>
                                                      </m:r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𝑞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d>
                        <m:dPr>
                          <m:ctrlPr>
                            <a:rPr kumimoji="1" lang="en-NZ" altLang="ja-JP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𝑞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+    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𝑝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𝑞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𝑝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𝑞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+2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+3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1,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𝑝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𝑞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𝑝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𝑞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+2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+3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2,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𝑛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6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𝑛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,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+2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𝑛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𝑞</m:t>
                                                </m:r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+3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⋯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kumimoji="1" lang="en-NZ" altLang="ja-JP" sz="1600" b="0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⋮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𝑋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𝑛</m:t>
                                                      </m:r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,</m:t>
                                                      </m:r>
                                                      <m:r>
                                                        <a:rPr kumimoji="1" lang="en-NZ" altLang="ja-JP" sz="1600" b="0" i="1" u="none" strike="noStrike" kern="1200" cap="none" spc="0" normalizeH="0" baseline="0" noProof="0">
                                                          <a:ln>
                                                            <a:noFill/>
                                                          </a:ln>
                                                          <a:solidFill>
                                                            <a:prstClr val="black"/>
                                                          </a:solidFill>
                                                          <a:effectLst/>
                                                          <a:uLnTx/>
                                                          <a:uFillTx/>
                                                          <a:latin typeface="Cambria Math" panose="02040503050406030204" pitchFamily="18" charset="0"/>
                                                          <a:cs typeface="+mn-cs"/>
                                                        </a:rPr>
                                                        <m:t>𝑝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</m:t>
                      </m:r>
                      <m:d>
                        <m:dPr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𝑝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𝑞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𝑝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𝑞</m:t>
                                    </m:r>
                                    <m:r>
                                      <a:rPr kumimoji="1" lang="en-NZ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+2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𝑝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𝑞</m:t>
                                          </m:r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+3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6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+mn-cs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𝛽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NZ" altLang="ja-JP" sz="1600" b="0" i="1" u="none" strike="noStrike" kern="120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cs typeface="+mn-cs"/>
                                                  </a:rPr>
                                                  <m:t>𝑝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+     </m:t>
                      </m:r>
                      <m:d>
                        <m:dPr>
                          <m:ctrlPr>
                            <a:rPr kumimoji="1" lang="en-NZ" altLang="ja-JP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𝜖</m:t>
                                          </m:r>
                                        </m:e>
                                        <m:sub>
                                          <m:r>
                                            <a:rPr kumimoji="1" lang="en-NZ" altLang="ja-JP" sz="16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kumimoji="1" lang="en-NZ" altLang="ja-JP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3F648A75-709F-439C-B5A2-228684013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62" y="3555356"/>
                <a:ext cx="11300347" cy="14682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0A5E8A4-CD99-441B-A1E0-0D7E7F91C8F6}"/>
              </a:ext>
            </a:extLst>
          </p:cNvPr>
          <p:cNvSpPr txBox="1">
            <a:spLocks/>
          </p:cNvSpPr>
          <p:nvPr/>
        </p:nvSpPr>
        <p:spPr>
          <a:xfrm>
            <a:off x="1920878" y="4967956"/>
            <a:ext cx="1162032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(n, p-q+1)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FC91871-B028-4EF3-8397-84DC24ADB72D}"/>
              </a:ext>
            </a:extLst>
          </p:cNvPr>
          <p:cNvSpPr txBox="1">
            <a:spLocks/>
          </p:cNvSpPr>
          <p:nvPr/>
        </p:nvSpPr>
        <p:spPr>
          <a:xfrm>
            <a:off x="3786071" y="4981974"/>
            <a:ext cx="1162032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(p-q+1, 1)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F9C2105D-5EDA-4F55-AAD7-A40C2F2B53AC}"/>
              </a:ext>
            </a:extLst>
          </p:cNvPr>
          <p:cNvSpPr txBox="1">
            <a:spLocks/>
          </p:cNvSpPr>
          <p:nvPr/>
        </p:nvSpPr>
        <p:spPr>
          <a:xfrm>
            <a:off x="6372323" y="4967956"/>
            <a:ext cx="1162032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(n, q)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D6E54A2-B418-4B48-A3D6-D6D03D47D114}"/>
              </a:ext>
            </a:extLst>
          </p:cNvPr>
          <p:cNvSpPr txBox="1">
            <a:spLocks/>
          </p:cNvSpPr>
          <p:nvPr/>
        </p:nvSpPr>
        <p:spPr>
          <a:xfrm>
            <a:off x="9074428" y="4967956"/>
            <a:ext cx="1162032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(q, 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BD34A87-4BA8-4987-A11E-7F8DB0011575}"/>
              </a:ext>
            </a:extLst>
          </p:cNvPr>
          <p:cNvSpPr txBox="1">
            <a:spLocks/>
          </p:cNvSpPr>
          <p:nvPr/>
        </p:nvSpPr>
        <p:spPr>
          <a:xfrm>
            <a:off x="10506804" y="4967956"/>
            <a:ext cx="1162032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(n, 1)</a:t>
            </a: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52708E0B-99CB-4A77-94C7-529AA8BEB7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7464" y="3006930"/>
                <a:ext cx="4113662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kumimoji="1" lang="en-NZ" altLang="ja-JP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kumimoji="1" lang="en-NZ" altLang="ja-JP" sz="20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1" lang="en-NZ" altLang="ja-JP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 </m:t>
                      </m:r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52708E0B-99CB-4A77-94C7-529AA8BEB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64" y="3006930"/>
                <a:ext cx="4113662" cy="365126"/>
              </a:xfrm>
              <a:prstGeom prst="rect">
                <a:avLst/>
              </a:prstGeom>
              <a:blipFill>
                <a:blip r:embed="rId6"/>
                <a:stretch>
                  <a:fillRect b="-7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BFFBAC67-AA38-4238-A2BA-CE7AA705AC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7464" y="5309272"/>
                <a:ext cx="4113662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</m:t>
                      </m: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1" lang="en-NZ" altLang="ja-JP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</m:t>
                      </m:r>
                      <m:bar>
                        <m:barPr>
                          <m:ctrlP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BFFBAC67-AA38-4238-A2BA-CE7AA705A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64" y="5309272"/>
                <a:ext cx="4113662" cy="365126"/>
              </a:xfrm>
              <a:prstGeom prst="rect">
                <a:avLst/>
              </a:prstGeom>
              <a:blipFill>
                <a:blip r:embed="rId7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6">
            <a:extLst>
              <a:ext uri="{FF2B5EF4-FFF2-40B4-BE49-F238E27FC236}">
                <a16:creationId xmlns:a16="http://schemas.microsoft.com/office/drawing/2014/main" id="{D10A5FCB-43E6-EFFE-DE17-FBEBF2F49521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6.8a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Permutation Based L-R Tests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3DE3AAA-E755-D37F-B0E1-402FF9658A20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BD520B0F-C466-1BD9-BA17-7093929C1A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547" y="961735"/>
                <a:ext cx="4987469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Reduced Model:</a:t>
                </a:r>
                <a14:m>
                  <m:oMath xmlns:m="http://schemas.openxmlformats.org/officeDocument/2006/math">
                    <m:r>
                      <a:rPr kumimoji="1" lang="en-NZ" altLang="ja-JP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=  </m:t>
                    </m:r>
                    <m:sSub>
                      <m:sSubPr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</m:t>
                    </m:r>
                    <m:nary>
                      <m:naryPr>
                        <m:chr m:val="∑"/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𝑗</m:t>
                        </m:r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</m:t>
                    </m:r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𝜖</m:t>
                    </m:r>
                  </m:oMath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BD520B0F-C466-1BD9-BA17-7093929C1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47" y="961735"/>
                <a:ext cx="4987469" cy="487908"/>
              </a:xfrm>
              <a:prstGeom prst="rect">
                <a:avLst/>
              </a:prstGeom>
              <a:blipFill>
                <a:blip r:embed="rId8"/>
                <a:stretch>
                  <a:fillRect l="-977" t="-86250" b="-1212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886DFECC-4DF6-0923-C9E0-A2A8439A66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1401463"/>
                <a:ext cx="496955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Complete Model:</a:t>
                </a:r>
                <a14:m>
                  <m:oMath xmlns:m="http://schemas.openxmlformats.org/officeDocument/2006/math">
                    <m:r>
                      <a:rPr kumimoji="1" lang="en-NZ" altLang="ja-JP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1" lang="en-NZ" altLang="ja-JP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=  </m:t>
                    </m:r>
                    <m:sSub>
                      <m:sSubPr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</m:t>
                    </m:r>
                    <m:nary>
                      <m:naryPr>
                        <m:chr m:val="∑"/>
                        <m:ctrl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𝑗</m:t>
                        </m:r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1" lang="en-NZ" altLang="ja-JP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  <m:r>
                          <a:rPr kumimoji="1" lang="en-NZ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1" lang="en-NZ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</m:t>
                    </m:r>
                    <m:r>
                      <a:rPr kumimoji="1" lang="en-NZ" altLang="ja-JP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𝜖</m:t>
                    </m:r>
                  </m:oMath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886DFECC-4DF6-0923-C9E0-A2A8439A6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1401463"/>
                <a:ext cx="4969553" cy="487908"/>
              </a:xfrm>
              <a:prstGeom prst="rect">
                <a:avLst/>
              </a:prstGeom>
              <a:blipFill>
                <a:blip r:embed="rId9"/>
                <a:stretch>
                  <a:fillRect l="-980" t="-87500" b="-120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BE8F24B5-C37A-A6DE-7B15-01694C990D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7149" y="5961848"/>
                <a:ext cx="390704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</m:t>
                      </m:r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</m:t>
                      </m:r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BE8F24B5-C37A-A6DE-7B15-01694C990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7149" y="5961848"/>
                <a:ext cx="3907041" cy="6959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DE88B3C0-15A8-F01A-B4C4-6E835C3547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82459" y="6001482"/>
                <a:ext cx="4189864" cy="58535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DE88B3C0-15A8-F01A-B4C4-6E835C354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2459" y="6001482"/>
                <a:ext cx="4189864" cy="585354"/>
              </a:xfrm>
              <a:prstGeom prst="rect">
                <a:avLst/>
              </a:prstGeom>
              <a:blipFill>
                <a:blip r:embed="rId11"/>
                <a:stretch>
                  <a:fillRect t="-4124" b="-412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E2FE28EB-5C85-5D2C-84BC-596BB97F85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69636" y="6026043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E2FE28EB-5C85-5D2C-84BC-596BB97F8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636" y="6026043"/>
                <a:ext cx="841663" cy="4879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92685738-0609-0990-8823-94286FDF35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89016" y="1246579"/>
                <a:ext cx="2743974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𝑞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≡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𝑝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−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𝑘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   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↔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   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kumimoji="1" lang="en-NZ" altLang="ja-JP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kumimoji="1" lang="en-NZ" altLang="ja-JP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4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92685738-0609-0990-8823-94286FDF3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016" y="1246579"/>
                <a:ext cx="2743974" cy="36512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813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16" grpId="0"/>
      <p:bldP spid="17" grpId="0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79BA235-E9F9-45C8-BBA6-9EC81CA8275B}"/>
              </a:ext>
            </a:extLst>
          </p:cNvPr>
          <p:cNvSpPr txBox="1">
            <a:spLocks/>
          </p:cNvSpPr>
          <p:nvPr/>
        </p:nvSpPr>
        <p:spPr>
          <a:xfrm>
            <a:off x="319461" y="965330"/>
            <a:ext cx="1045313" cy="4938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1: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D37E8AD9-7C35-48B3-8EC0-D95EAB9388B9}"/>
              </a:ext>
            </a:extLst>
          </p:cNvPr>
          <p:cNvSpPr txBox="1">
            <a:spLocks/>
          </p:cNvSpPr>
          <p:nvPr/>
        </p:nvSpPr>
        <p:spPr>
          <a:xfrm>
            <a:off x="319460" y="4583261"/>
            <a:ext cx="1045313" cy="4938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C815B6F-1CBD-4741-8BA8-62AA34C5CC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8066" y="5104255"/>
                <a:ext cx="8115868" cy="77520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𝑭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𝑶𝒃𝒔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  </m:t>
                      </m:r>
                      <m:f>
                        <m:f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𝑹𝑺𝑺</m:t>
                                  </m:r>
                                  <m:d>
                                    <m:d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𝑯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𝟎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kumimoji="1" lang="en-NZ" altLang="ja-JP" sz="18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   −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800" b="1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 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𝑹𝑺𝑺</m:t>
                                  </m:r>
                                  <m:d>
                                    <m:d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𝑯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𝑹𝑺𝑺</m:t>
                              </m:r>
                              <m:d>
                                <m:dPr>
                                  <m:ctrlP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𝑯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≡    </m:t>
                      </m:r>
                      <m:f>
                        <m:fPr>
                          <m:ctrlPr>
                            <a:rPr kumimoji="1" lang="en-NZ" altLang="ja-JP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8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− 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𝑪</m:t>
                                      </m:r>
                                    </m:sub>
                                  </m:s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𝑺𝑺</m:t>
                              </m:r>
                              <m:sSub>
                                <m:sSub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𝑪</m:t>
                                  </m:r>
                                </m:sub>
                              </m:sSub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C815B6F-1CBD-4741-8BA8-62AA34C5C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8066" y="5104255"/>
                <a:ext cx="8115868" cy="7752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A89503B-76FA-49BF-98F3-3146D2A7BEDB}"/>
              </a:ext>
            </a:extLst>
          </p:cNvPr>
          <p:cNvSpPr txBox="1">
            <a:spLocks/>
          </p:cNvSpPr>
          <p:nvPr/>
        </p:nvSpPr>
        <p:spPr>
          <a:xfrm>
            <a:off x="1364774" y="4627683"/>
            <a:ext cx="10276764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Calculate the usual F-statistic from the initial sample of data*…</a:t>
            </a: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45FFB24E-C876-655E-76BB-6764411D61BF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6.8a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Permutation Based L-R Tests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68B17302-FB6E-7198-61E9-E61A13481959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1BE93F29-E941-5AC1-14F5-3035ADBC2A05}"/>
              </a:ext>
            </a:extLst>
          </p:cNvPr>
          <p:cNvSpPr txBox="1">
            <a:spLocks/>
          </p:cNvSpPr>
          <p:nvPr/>
        </p:nvSpPr>
        <p:spPr>
          <a:xfrm>
            <a:off x="1255590" y="991203"/>
            <a:ext cx="10385947" cy="4879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then look to test between the hypotheses: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ECA55015-9553-B3FD-EE0A-8AF679B803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08242" y="1592388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ECA55015-9553-B3FD-EE0A-8AF679B80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242" y="1592388"/>
                <a:ext cx="4189864" cy="695961"/>
              </a:xfrm>
              <a:prstGeom prst="rect">
                <a:avLst/>
              </a:prstGeom>
              <a:blipFill>
                <a:blip r:embed="rId4"/>
                <a:stretch>
                  <a:fillRect t="-35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6E8E29C9-5F36-1124-44F6-E0E1803216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08242" y="2226978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𝟎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for all  </a:t>
                </a: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𝒋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𝒌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𝟏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𝒑</m:t>
                    </m:r>
                  </m:oMath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mbria Math" panose="02040503050406030204" pitchFamily="18" charset="0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 </m:t>
                        </m:r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𝒋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𝟎</m:t>
                    </m:r>
                  </m:oMath>
                </a14:m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for some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𝒋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𝒌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𝟏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𝒑</m:t>
                    </m:r>
                  </m:oMath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6E8E29C9-5F36-1124-44F6-E0E180321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242" y="2226978"/>
                <a:ext cx="4189864" cy="695961"/>
              </a:xfrm>
              <a:prstGeom prst="rect">
                <a:avLst/>
              </a:prstGeom>
              <a:blipFill>
                <a:blip r:embed="rId5"/>
                <a:stretch>
                  <a:fillRect t="-175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58A4E107-6D86-5BF2-F95B-D63A870FE5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9765" y="2277285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5" name="Text Placeholder 5">
                <a:extLst>
                  <a:ext uri="{FF2B5EF4-FFF2-40B4-BE49-F238E27FC236}">
                    <a16:creationId xmlns:a16="http://schemas.microsoft.com/office/drawing/2014/main" id="{58A4E107-6D86-5BF2-F95B-D63A870FE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65" y="2277285"/>
                <a:ext cx="841663" cy="4879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371EAF0E-B6DE-95DC-CCB1-D7967A91A2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08242" y="2861916"/>
                <a:ext cx="10097069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</m:oMath>
                </a14:m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 extra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predictors in the complete model have no relationship with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when the other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p - 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variables are accounted for.</a:t>
                </a: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371EAF0E-B6DE-95DC-CCB1-D7967A91A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242" y="2861916"/>
                <a:ext cx="10097069" cy="365125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0FF635B1-9114-F203-D237-C1E07C685B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08243" y="3155925"/>
                <a:ext cx="10276764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</m:oMath>
                </a14:m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 extra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predictors in the complete model have some relationship with </a:t>
                </a:r>
                <a:r>
                  <a:rPr kumimoji="1" lang="en-NZ" altLang="ja-JP" sz="1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 even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when the other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p - q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variables are accounted for.</a:t>
                </a: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0FF635B1-9114-F203-D237-C1E07C685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243" y="3155925"/>
                <a:ext cx="10276764" cy="365125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1BABBBAE-F136-052A-C902-B017C6176D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9764" y="2883551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1BABBBAE-F136-052A-C902-B017C6176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64" y="2883551"/>
                <a:ext cx="841663" cy="4879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A81B0979-A7B5-C3B9-3E25-560E5355F1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08242" y="3540884"/>
                <a:ext cx="3786076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</m:t>
                      </m:r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</m:t>
                      </m:r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A81B0979-A7B5-C3B9-3E25-560E5355F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242" y="3540884"/>
                <a:ext cx="3786076" cy="6959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066CD314-A641-8648-5062-9918B91E9E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9764" y="3605079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066CD314-A641-8648-5062-9918B91E9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64" y="3605079"/>
                <a:ext cx="841663" cy="4879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Placeholder 5">
                <a:extLst>
                  <a:ext uri="{FF2B5EF4-FFF2-40B4-BE49-F238E27FC236}">
                    <a16:creationId xmlns:a16="http://schemas.microsoft.com/office/drawing/2014/main" id="{0CA108A8-2AF3-FF6A-BE8F-E9D6CEB962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4249" y="6478548"/>
                <a:ext cx="9357815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* Note that what we refer to as</a:t>
                </a:r>
                <a:r>
                  <a:rPr kumimoji="1" lang="en-NZ" altLang="ja-JP" sz="1200" b="0" i="0" u="none" strike="noStrike" kern="1200" cap="none" spc="0" normalizeH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2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2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1" lang="en-NZ" altLang="ja-JP" sz="12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𝑂𝑏𝑠</m:t>
                        </m:r>
                      </m:sub>
                    </m:sSub>
                  </m:oMath>
                </a14:m>
                <a:r>
                  <a:rPr kumimoji="1" lang="en-NZ" altLang="ja-JP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lang="en-NZ" altLang="ja-JP" sz="1200" dirty="0">
                    <a:solidFill>
                      <a:schemeClr val="bg2">
                        <a:lumMod val="50000"/>
                      </a:schemeClr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here is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2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2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𝐹</m:t>
                        </m:r>
                      </m:e>
                      <m:sub>
                        <m:r>
                          <a:rPr lang="en-NZ" altLang="ja-JP" sz="12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2|1</m:t>
                        </m:r>
                      </m:sub>
                    </m:sSub>
                  </m:oMath>
                </a14:m>
                <a:r>
                  <a:rPr kumimoji="1" lang="en-NZ" altLang="ja-JP" sz="12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2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50000"/>
                      </a:schemeClr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in the course notes.</a:t>
                </a:r>
              </a:p>
            </p:txBody>
          </p:sp>
        </mc:Choice>
        <mc:Fallback xmlns="">
          <p:sp>
            <p:nvSpPr>
              <p:cNvPr id="32" name="Text Placeholder 5">
                <a:extLst>
                  <a:ext uri="{FF2B5EF4-FFF2-40B4-BE49-F238E27FC236}">
                    <a16:creationId xmlns:a16="http://schemas.microsoft.com/office/drawing/2014/main" id="{0CA108A8-2AF3-FF6A-BE8F-E9D6CEB96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249" y="6478548"/>
                <a:ext cx="9357815" cy="3651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B31038A8-9080-A87E-C889-F80B9B5AFF78}"/>
              </a:ext>
            </a:extLst>
          </p:cNvPr>
          <p:cNvSpPr txBox="1">
            <a:spLocks/>
          </p:cNvSpPr>
          <p:nvPr/>
        </p:nvSpPr>
        <p:spPr>
          <a:xfrm>
            <a:off x="1364773" y="5829843"/>
            <a:ext cx="10276764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know that this test statistic helps us to determine between the null and alternative hypotheses.</a:t>
            </a: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547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32" grpId="0"/>
      <p:bldP spid="3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79BA235-E9F9-45C8-BBA6-9EC81CA8275B}"/>
              </a:ext>
            </a:extLst>
          </p:cNvPr>
          <p:cNvSpPr txBox="1">
            <a:spLocks/>
          </p:cNvSpPr>
          <p:nvPr/>
        </p:nvSpPr>
        <p:spPr>
          <a:xfrm>
            <a:off x="163773" y="1613902"/>
            <a:ext cx="1091821" cy="4938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3: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2CAEB59-46A7-4C37-8ED9-89E27104FB6C}"/>
              </a:ext>
            </a:extLst>
          </p:cNvPr>
          <p:cNvSpPr txBox="1">
            <a:spLocks/>
          </p:cNvSpPr>
          <p:nvPr/>
        </p:nvSpPr>
        <p:spPr>
          <a:xfrm>
            <a:off x="808355" y="2512640"/>
            <a:ext cx="1394346" cy="4938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3a: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804B846E-0E9A-4A80-88A4-00EFA9C3A6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2697" y="2475212"/>
                <a:ext cx="9083844" cy="49385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Create a new design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p>
                    </m:sSup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=[  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sSubSup>
                      <m:sSubSup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𝟐</m:t>
                        </m:r>
                      </m:sub>
                      <m:sup>
                        <m:d>
                          <m:dPr>
                            <m:ctrlP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𝒊</m:t>
                            </m:r>
                          </m:e>
                        </m:d>
                      </m:sup>
                    </m:sSubSup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]</m:t>
                    </m:r>
                  </m:oMath>
                </a14:m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by permuting the rows of </a:t>
                </a:r>
                <a:r>
                  <a:rPr lang="en-NZ" altLang="ja-JP" sz="1600" b="1" i="1" dirty="0">
                    <a:solidFill>
                      <a:prstClr val="black"/>
                    </a:solidFill>
                  </a:rPr>
                  <a:t>X</a:t>
                </a:r>
                <a:r>
                  <a:rPr lang="en-NZ" altLang="ja-JP" sz="1600" b="1" i="1" baseline="-25000" dirty="0">
                    <a:solidFill>
                      <a:prstClr val="black"/>
                    </a:solidFill>
                  </a:rPr>
                  <a:t>2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1" name="Text Placeholder 5">
                <a:extLst>
                  <a:ext uri="{FF2B5EF4-FFF2-40B4-BE49-F238E27FC236}">
                    <a16:creationId xmlns:a16="http://schemas.microsoft.com/office/drawing/2014/main" id="{804B846E-0E9A-4A80-88A4-00EFA9C3A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697" y="2475212"/>
                <a:ext cx="9083844" cy="493859"/>
              </a:xfrm>
              <a:prstGeom prst="rect">
                <a:avLst/>
              </a:prstGeom>
              <a:blipFill>
                <a:blip r:embed="rId3"/>
                <a:stretch>
                  <a:fillRect l="-33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573ACB30-5950-4824-981B-E1F917F000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64556" y="2847904"/>
                <a:ext cx="4222847" cy="36512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bar>
                      <m:bar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𝒀</m:t>
                        </m:r>
                      </m:e>
                    </m:ba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=  </m:t>
                    </m:r>
                    <m:sSup>
                      <m:sSup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p>
                    </m:sSup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bar>
                      <m:bar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</m:bar>
                    <m:r>
                      <a:rPr kumimoji="1" lang="en-NZ" altLang="ja-JP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 </m:t>
                    </m:r>
                    <m:bar>
                      <m:bar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</m:bar>
                  </m:oMath>
                </a14:m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  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bar>
                      <m:bar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kumimoji="1" lang="en-NZ" altLang="ja-JP" sz="1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𝜷</m:t>
                            </m:r>
                          </m:e>
                          <m:sub>
                            <m:r>
                              <a:rPr kumimoji="1" lang="en-NZ" altLang="ja-JP" sz="1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𝟏</m:t>
                            </m:r>
                          </m:sub>
                        </m:sSub>
                      </m:e>
                    </m:bar>
                    <m:r>
                      <a:rPr kumimoji="1" lang="en-NZ" altLang="ja-JP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</m:t>
                    </m: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sSubSup>
                      <m:sSubSup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𝟐</m:t>
                        </m:r>
                      </m:sub>
                      <m:sup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p>
                    </m:sSubSup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bar>
                      <m:bar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kumimoji="1" lang="en-NZ" altLang="ja-JP" sz="1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𝜷</m:t>
                            </m:r>
                          </m:e>
                          <m:sub>
                            <m:r>
                              <a:rPr kumimoji="1" lang="en-NZ" altLang="ja-JP" sz="1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sub>
                        </m:sSub>
                      </m:e>
                    </m:bar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+  </m:t>
                    </m:r>
                    <m:bar>
                      <m:bar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bar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</m:bar>
                  </m:oMath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573ACB30-5950-4824-981B-E1F917F00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556" y="2847904"/>
                <a:ext cx="4222847" cy="365126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1DDFCCE8-0B2C-4C86-BBAA-45C9E4EF380A}"/>
              </a:ext>
            </a:extLst>
          </p:cNvPr>
          <p:cNvSpPr txBox="1">
            <a:spLocks/>
          </p:cNvSpPr>
          <p:nvPr/>
        </p:nvSpPr>
        <p:spPr>
          <a:xfrm>
            <a:off x="808355" y="3435748"/>
            <a:ext cx="1394347" cy="4938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3b: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1FDBC8E8-D74F-4D04-847F-A4C9D6F1D550}"/>
              </a:ext>
            </a:extLst>
          </p:cNvPr>
          <p:cNvSpPr txBox="1">
            <a:spLocks/>
          </p:cNvSpPr>
          <p:nvPr/>
        </p:nvSpPr>
        <p:spPr>
          <a:xfrm>
            <a:off x="2202697" y="3435748"/>
            <a:ext cx="3706784" cy="4938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For this new model calculate: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9D8F77B5-A6F3-4CA6-AF56-D8305838DC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43034" y="3797646"/>
                <a:ext cx="3939488" cy="61313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𝑺𝑺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𝑹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bar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𝒀</m:t>
                              </m:r>
                            </m:e>
                          </m:bar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𝑻</m:t>
                          </m:r>
                        </m:sup>
                      </m:sSup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𝑰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−</m:t>
                          </m:r>
                          <m:sSup>
                            <m:sSup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kumimoji="1" lang="en-NZ" altLang="ja-JP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NZ" altLang="ja-JP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𝑻</m:t>
                                      </m:r>
                                    </m:sup>
                                  </m:sSubSup>
                                  <m:r>
                                    <a:rPr kumimoji="1" lang="en-NZ" altLang="ja-JP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p>
                          </m:sSup>
                          <m:sSubSup>
                            <m:sSubSupPr>
                              <m:ctrlP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𝑿</m:t>
                              </m:r>
                            </m:e>
                            <m:sub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  <m:sup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𝑻</m:t>
                              </m:r>
                            </m:sup>
                          </m:sSubSup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e>
                      </m:d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</m:oMath>
                  </m:oMathPara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9D8F77B5-A6F3-4CA6-AF56-D8305838D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034" y="3797646"/>
                <a:ext cx="3939488" cy="613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FC29BA7-A78F-452A-8180-FCDD46CD219E}"/>
              </a:ext>
            </a:extLst>
          </p:cNvPr>
          <p:cNvSpPr txBox="1">
            <a:spLocks/>
          </p:cNvSpPr>
          <p:nvPr/>
        </p:nvSpPr>
        <p:spPr>
          <a:xfrm>
            <a:off x="6447238" y="3893974"/>
            <a:ext cx="3566449" cy="3524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4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Will always  be the same value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0CC6543E-D964-4607-AD4B-E0380A2918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43033" y="4335472"/>
                <a:ext cx="5719897" cy="46930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𝑺𝑺</m:t>
                      </m:r>
                      <m:sSubSup>
                        <m:sSubSup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𝑪</m:t>
                          </m:r>
                        </m:sub>
                        <m:sup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sup>
                      </m:sSubSup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bar>
                            <m:bar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barPr>
                            <m:e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𝒀</m:t>
                              </m:r>
                            </m:e>
                          </m:bar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𝑻</m:t>
                          </m:r>
                        </m:sup>
                      </m:sSup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𝑰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−</m:t>
                          </m:r>
                          <m:sSup>
                            <m:sSup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(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𝒊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kumimoji="1" lang="en-NZ" altLang="ja-JP" sz="16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NZ" altLang="ja-JP" sz="16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𝒊</m:t>
                                          </m:r>
                                        </m:e>
                                      </m:d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</m:t>
                                      </m:r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(</m:t>
                                      </m:r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𝒊</m:t>
                                      </m:r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𝑿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  <m:bar>
                        <m:bar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</m:oMath>
                  </m:oMathPara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9" name="Text Placeholder 5">
                <a:extLst>
                  <a:ext uri="{FF2B5EF4-FFF2-40B4-BE49-F238E27FC236}">
                    <a16:creationId xmlns:a16="http://schemas.microsoft.com/office/drawing/2014/main" id="{0CC6543E-D964-4607-AD4B-E0380A291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033" y="4335472"/>
                <a:ext cx="5719897" cy="4693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37E46553-FD10-4E55-B6F3-F93798F9F9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4395" y="4804778"/>
                <a:ext cx="3495086" cy="77520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𝑭</m:t>
                          </m:r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sup>
                      </m:sSup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</m:t>
                      </m:r>
                      <m:f>
                        <m:f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kumimoji="1" lang="en-NZ" altLang="ja-JP" sz="1600" b="1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6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Sup>
                                    <m:sSubSupPr>
                                      <m:ctrlP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𝑪</m:t>
                                      </m:r>
                                    </m:sub>
                                    <m:sup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(</m:t>
                                      </m:r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𝒊</m:t>
                                      </m:r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𝑺𝑺</m:t>
                              </m:r>
                              <m:sSubSup>
                                <m:sSubSupPr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𝑪</m:t>
                                  </m:r>
                                </m:sub>
                                <m:sup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(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𝒊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)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0" name="Text Placeholder 5">
                <a:extLst>
                  <a:ext uri="{FF2B5EF4-FFF2-40B4-BE49-F238E27FC236}">
                    <a16:creationId xmlns:a16="http://schemas.microsoft.com/office/drawing/2014/main" id="{37E46553-FD10-4E55-B6F3-F93798F9F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395" y="4804778"/>
                <a:ext cx="3495086" cy="775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53DEB1F-EB11-4E6D-B5CB-85DD936AAA1A}"/>
              </a:ext>
            </a:extLst>
          </p:cNvPr>
          <p:cNvSpPr txBox="1">
            <a:spLocks/>
          </p:cNvSpPr>
          <p:nvPr/>
        </p:nvSpPr>
        <p:spPr>
          <a:xfrm>
            <a:off x="1129073" y="1623121"/>
            <a:ext cx="10034796" cy="4938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Create a distribution of similar </a:t>
            </a:r>
            <a:r>
              <a:rPr kumimoji="1" lang="en-NZ" altLang="ja-JP" sz="18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</a:t>
            </a: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-statistics </a:t>
            </a:r>
            <a:r>
              <a:rPr lang="en-NZ" altLang="ja-JP" sz="1800" noProof="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by keeping </a:t>
            </a:r>
            <a:r>
              <a:rPr lang="en-NZ" altLang="ja-JP" sz="1800" b="1" i="1" u="sng" dirty="0">
                <a:solidFill>
                  <a:prstClr val="black"/>
                </a:solidFill>
              </a:rPr>
              <a:t>Y</a:t>
            </a:r>
            <a:r>
              <a:rPr lang="en-NZ" altLang="ja-JP" sz="1800" i="1" dirty="0">
                <a:solidFill>
                  <a:prstClr val="black"/>
                </a:solidFill>
              </a:rPr>
              <a:t>,</a:t>
            </a:r>
            <a:r>
              <a:rPr lang="en-NZ" altLang="ja-JP" sz="1800" b="1" i="1" dirty="0">
                <a:solidFill>
                  <a:prstClr val="black"/>
                </a:solidFill>
              </a:rPr>
              <a:t> X</a:t>
            </a:r>
            <a:r>
              <a:rPr lang="en-NZ" altLang="ja-JP" sz="1800" b="1" i="1" baseline="-25000" dirty="0">
                <a:solidFill>
                  <a:prstClr val="black"/>
                </a:solidFill>
              </a:rPr>
              <a:t>1</a:t>
            </a:r>
            <a:r>
              <a:rPr lang="en-NZ" altLang="ja-JP" sz="1800" baseline="-25000" dirty="0">
                <a:solidFill>
                  <a:prstClr val="black"/>
                </a:solidFill>
              </a:rPr>
              <a:t> </a:t>
            </a:r>
            <a:r>
              <a:rPr lang="en-NZ" altLang="ja-JP" sz="1800" dirty="0">
                <a:solidFill>
                  <a:prstClr val="black"/>
                </a:solidFill>
              </a:rPr>
              <a:t>and </a:t>
            </a:r>
            <a:r>
              <a:rPr lang="el-GR" altLang="ja-JP" sz="1800" b="1" i="1" u="sng" dirty="0">
                <a:solidFill>
                  <a:prstClr val="black"/>
                </a:solidFill>
              </a:rPr>
              <a:t>ε</a:t>
            </a:r>
            <a:r>
              <a:rPr lang="en-NZ" altLang="ja-JP" sz="1800" dirty="0">
                <a:solidFill>
                  <a:prstClr val="black"/>
                </a:solidFill>
              </a:rPr>
              <a:t>  constant, but permuting rows of </a:t>
            </a:r>
            <a:r>
              <a:rPr lang="en-NZ" altLang="ja-JP" sz="1800" b="1" i="1" dirty="0">
                <a:solidFill>
                  <a:prstClr val="black"/>
                </a:solidFill>
              </a:rPr>
              <a:t>X</a:t>
            </a:r>
            <a:r>
              <a:rPr lang="en-NZ" altLang="ja-JP" sz="1800" b="1" i="1" baseline="-25000" dirty="0">
                <a:solidFill>
                  <a:prstClr val="black"/>
                </a:solidFill>
              </a:rPr>
              <a:t>2</a:t>
            </a:r>
            <a:br>
              <a:rPr lang="en-NZ" altLang="ja-JP" sz="1800" b="1" i="1" dirty="0">
                <a:solidFill>
                  <a:prstClr val="black"/>
                </a:solidFill>
              </a:rPr>
            </a:br>
            <a:r>
              <a:rPr lang="en-NZ" altLang="ja-JP" sz="1800" dirty="0">
                <a:solidFill>
                  <a:prstClr val="black"/>
                </a:solidFill>
              </a:rPr>
              <a:t>i.e. for </a:t>
            </a:r>
            <a:r>
              <a:rPr lang="en-NZ" altLang="ja-JP" sz="1800" i="1" dirty="0" err="1">
                <a:solidFill>
                  <a:prstClr val="black"/>
                </a:solidFill>
              </a:rPr>
              <a:t>i</a:t>
            </a:r>
            <a:r>
              <a:rPr lang="en-NZ" altLang="ja-JP" sz="1800" i="1" dirty="0">
                <a:solidFill>
                  <a:prstClr val="black"/>
                </a:solidFill>
              </a:rPr>
              <a:t> = 1, … , L  do…</a:t>
            </a:r>
            <a:r>
              <a:rPr lang="en-NZ" altLang="ja-JP" sz="1800" noProof="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</a:t>
            </a: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B2131711-B899-EDEB-F2D0-2A3E262396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44387" y="865625"/>
                <a:ext cx="3786076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B2131711-B899-EDEB-F2D0-2A3E26239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387" y="865625"/>
                <a:ext cx="3786076" cy="6959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6">
            <a:extLst>
              <a:ext uri="{FF2B5EF4-FFF2-40B4-BE49-F238E27FC236}">
                <a16:creationId xmlns:a16="http://schemas.microsoft.com/office/drawing/2014/main" id="{043FF056-1CFD-31A1-3639-93E32B4ECE5C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6.8a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Permutation Based L-R Tests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E162E433-0673-5E5A-42B7-B59F894BB61A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7DD2553-30DB-7024-2AAA-229A2524A8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53896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7DD2553-30DB-7024-2AAA-229A2524A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53896"/>
                <a:ext cx="4189864" cy="695961"/>
              </a:xfrm>
              <a:prstGeom prst="rect">
                <a:avLst/>
              </a:prstGeom>
              <a:blipFill>
                <a:blip r:embed="rId9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C4678B62-094E-CD9A-6FA9-2EFB358D4E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66247" y="877870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C4678B62-094E-CD9A-6FA9-2EFB358D4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47" y="877870"/>
                <a:ext cx="841663" cy="4879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36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3206831-115F-FD02-DC84-F7E88B7A2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92" y="2517857"/>
            <a:ext cx="7514408" cy="350115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D97ED7-9F79-5212-7270-FD7AD88E3FA6}"/>
              </a:ext>
            </a:extLst>
          </p:cNvPr>
          <p:cNvSpPr txBox="1">
            <a:spLocks/>
          </p:cNvSpPr>
          <p:nvPr/>
        </p:nvSpPr>
        <p:spPr>
          <a:xfrm>
            <a:off x="1807633" y="2472316"/>
            <a:ext cx="608021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i="1" dirty="0">
                <a:solidFill>
                  <a:srgbClr val="FF0000"/>
                </a:solidFill>
              </a:rPr>
              <a:t>F</a:t>
            </a:r>
            <a:r>
              <a:rPr lang="en-NZ" altLang="ja-JP" sz="1800" b="1" i="1" baseline="-25000" dirty="0">
                <a:solidFill>
                  <a:srgbClr val="FF0000"/>
                </a:solidFill>
              </a:rPr>
              <a:t>obs</a:t>
            </a:r>
            <a:endParaRPr lang="en-NZ" altLang="ja-JP" sz="18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NZ" altLang="ja-JP" sz="1800" b="1" i="1" dirty="0">
                <a:solidFill>
                  <a:srgbClr val="FF0000"/>
                </a:solidFill>
              </a:rPr>
              <a:t>  </a:t>
            </a:r>
          </a:p>
          <a:p>
            <a:pPr algn="just">
              <a:lnSpc>
                <a:spcPct val="100000"/>
              </a:lnSpc>
            </a:pPr>
            <a:endParaRPr lang="en-NZ" altLang="ja-JP" sz="1800" b="1" i="1" dirty="0">
              <a:solidFill>
                <a:srgbClr val="FF0000"/>
              </a:solidFill>
            </a:endParaRPr>
          </a:p>
          <a:p>
            <a:pPr algn="just">
              <a:lnSpc>
                <a:spcPct val="100000"/>
              </a:lnSpc>
            </a:pPr>
            <a:endParaRPr lang="en-NZ" altLang="ja-JP" sz="1800" b="1" i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478D871-4474-4F86-9D9A-B04F28995C5B}"/>
              </a:ext>
            </a:extLst>
          </p:cNvPr>
          <p:cNvSpPr txBox="1">
            <a:spLocks/>
          </p:cNvSpPr>
          <p:nvPr/>
        </p:nvSpPr>
        <p:spPr>
          <a:xfrm>
            <a:off x="7740400" y="1744718"/>
            <a:ext cx="1547508" cy="4938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Step 4: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Placeholder 5">
                <a:extLst>
                  <a:ext uri="{FF2B5EF4-FFF2-40B4-BE49-F238E27FC236}">
                    <a16:creationId xmlns:a16="http://schemas.microsoft.com/office/drawing/2014/main" id="{B6F66186-881F-41D1-A211-431CA4D0AD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40400" y="2119314"/>
                <a:ext cx="4035449" cy="339438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Determine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𝑶𝒃𝒔</m:t>
                        </m:r>
                      </m:sub>
                    </m:sSub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lies in the distribution of 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6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6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bSup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.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16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Calculate the p-value of the test</a:t>
                </a:r>
                <a:r>
                  <a:rPr kumimoji="1" lang="en-NZ" altLang="ja-JP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as the proportion of F-Statistics produced that are greater than or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𝑶𝒃𝒔</m:t>
                        </m:r>
                      </m:sub>
                    </m:sSub>
                  </m:oMath>
                </a14:m>
                <a:r>
                  <a:rPr kumimoji="1" lang="en-NZ" altLang="ja-JP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, i.e.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endParaRPr kumimoji="1" lang="en-NZ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2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kumimoji="1" lang="en-NZ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 algn="ctr">
                  <a:lnSpc>
                    <a:spcPct val="100000"/>
                  </a:lnSpc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16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𝒑𝒗𝒂𝒍𝒖𝒆</m:t>
                    </m:r>
                    <m:r>
                      <a:rPr lang="en-NZ" altLang="ja-JP" sz="16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lin"/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# </m:t>
                            </m:r>
                            <m:sSup>
                              <m:sSup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6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6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≥</m:t>
                            </m:r>
                            <m:sSub>
                              <m:sSub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𝑶𝒃𝒔</m:t>
                                </m:r>
                              </m:sub>
                            </m:sSub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</m:oMath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1600" b="1" i="1" dirty="0">
                  <a:solidFill>
                    <a:srgbClr val="C0000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prstClr val="black"/>
                    </a:solidFill>
                  </a:rPr>
                  <a:t>Decide whether to accept or reject the null hypothesis (i.e. whether to include the extra </a:t>
                </a:r>
                <a:r>
                  <a:rPr lang="en-NZ" altLang="ja-JP" sz="1600" b="1" i="1" dirty="0">
                    <a:solidFill>
                      <a:prstClr val="black"/>
                    </a:solidFill>
                  </a:rPr>
                  <a:t>q</a:t>
                </a:r>
                <a:r>
                  <a:rPr lang="en-NZ" altLang="ja-JP" sz="1600" dirty="0">
                    <a:solidFill>
                      <a:prstClr val="black"/>
                    </a:solidFill>
                  </a:rPr>
                  <a:t> variables of the complete model) based on the calculated p-value.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33" name="Text Placeholder 5">
                <a:extLst>
                  <a:ext uri="{FF2B5EF4-FFF2-40B4-BE49-F238E27FC236}">
                    <a16:creationId xmlns:a16="http://schemas.microsoft.com/office/drawing/2014/main" id="{B6F66186-881F-41D1-A211-431CA4D0A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400" y="2119314"/>
                <a:ext cx="4035449" cy="3394382"/>
              </a:xfrm>
              <a:prstGeom prst="rect">
                <a:avLst/>
              </a:prstGeom>
              <a:blipFill>
                <a:blip r:embed="rId4"/>
                <a:stretch>
                  <a:fillRect l="-906" t="-540" r="-166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B2131711-B899-EDEB-F2D0-2A3E262396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44387" y="865625"/>
                <a:ext cx="3786076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B2131711-B899-EDEB-F2D0-2A3E26239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387" y="865625"/>
                <a:ext cx="3786076" cy="6959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6">
            <a:extLst>
              <a:ext uri="{FF2B5EF4-FFF2-40B4-BE49-F238E27FC236}">
                <a16:creationId xmlns:a16="http://schemas.microsoft.com/office/drawing/2014/main" id="{043FF056-1CFD-31A1-3639-93E32B4ECE5C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6.8a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Permutation Based L-R Tests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E162E433-0673-5E5A-42B7-B59F894BB61A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7DD2553-30DB-7024-2AAA-229A2524A8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53896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7DD2553-30DB-7024-2AAA-229A2524A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53896"/>
                <a:ext cx="4189864" cy="695961"/>
              </a:xfrm>
              <a:prstGeom prst="rect">
                <a:avLst/>
              </a:prstGeom>
              <a:blipFill>
                <a:blip r:embed="rId6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C4678B62-094E-CD9A-6FA9-2EFB358D4E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66247" y="877870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8" name="Text Placeholder 5">
                <a:extLst>
                  <a:ext uri="{FF2B5EF4-FFF2-40B4-BE49-F238E27FC236}">
                    <a16:creationId xmlns:a16="http://schemas.microsoft.com/office/drawing/2014/main" id="{C4678B62-094E-CD9A-6FA9-2EFB358D4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47" y="877870"/>
                <a:ext cx="841663" cy="4879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D315C3D-1BC7-7C56-EC7F-D4A649D3C771}"/>
              </a:ext>
            </a:extLst>
          </p:cNvPr>
          <p:cNvSpPr txBox="1">
            <a:spLocks/>
          </p:cNvSpPr>
          <p:nvPr/>
        </p:nvSpPr>
        <p:spPr>
          <a:xfrm>
            <a:off x="319463" y="2033155"/>
            <a:ext cx="5875988" cy="397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Histogram of F-Statistics Produced from L Reordered Samples</a:t>
            </a:r>
          </a:p>
        </p:txBody>
      </p:sp>
    </p:spTree>
    <p:extLst>
      <p:ext uri="{BB962C8B-B14F-4D97-AF65-F5344CB8AC3E}">
        <p14:creationId xmlns:p14="http://schemas.microsoft.com/office/powerpoint/2010/main" val="1354976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53DEB1F-EB11-4E6D-B5CB-85DD936AAA1A}"/>
              </a:ext>
            </a:extLst>
          </p:cNvPr>
          <p:cNvSpPr txBox="1">
            <a:spLocks/>
          </p:cNvSpPr>
          <p:nvPr/>
        </p:nvSpPr>
        <p:spPr>
          <a:xfrm>
            <a:off x="319463" y="1686030"/>
            <a:ext cx="2696692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Why does this work?</a:t>
            </a:r>
            <a:endParaRPr kumimoji="1" lang="en-NZ" altLang="ja-JP" sz="20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38A81C5C-ECC5-40B2-A4E9-D3539C463E6A}"/>
              </a:ext>
            </a:extLst>
          </p:cNvPr>
          <p:cNvSpPr txBox="1">
            <a:spLocks/>
          </p:cNvSpPr>
          <p:nvPr/>
        </p:nvSpPr>
        <p:spPr>
          <a:xfrm>
            <a:off x="382701" y="2979530"/>
            <a:ext cx="11477768" cy="6959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If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</a:t>
            </a:r>
            <a:r>
              <a:rPr kumimoji="1" lang="en-NZ" altLang="ja-JP" sz="1600" b="1" i="1" u="none" strike="noStrike" kern="1200" cap="none" spc="0" normalizeH="0" baseline="-25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</a:t>
            </a: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true,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b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extra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q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variables in the complete model have no relationship with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once the other variables in the model have be accounted for.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E43CB145-87DF-4149-8592-9E62C98565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6032" y="3535325"/>
                <a:ext cx="3820810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=&gt; 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𝑺𝑺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𝑬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𝑹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≈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𝑺𝑺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𝑬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𝑪</m:t>
                        </m:r>
                      </m:sub>
                    </m:sSub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𝑭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𝑶𝒃𝒔</m:t>
                        </m:r>
                      </m:sub>
                    </m:sSub>
                  </m:oMath>
                </a14:m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will be small.</a:t>
                </a: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E43CB145-87DF-4149-8592-9E62C9856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32" y="3535325"/>
                <a:ext cx="3820810" cy="365125"/>
              </a:xfrm>
              <a:prstGeom prst="rect">
                <a:avLst/>
              </a:prstGeom>
              <a:blipFill>
                <a:blip r:embed="rId3"/>
                <a:stretch>
                  <a:fillRect l="-797" t="-5000" b="-1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EBF36DF5-2AC6-474D-98C3-C885D1EC26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44797" y="2051083"/>
                <a:ext cx="3284561" cy="77520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𝑭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𝑶𝒃𝒔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7E6E6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</m:t>
                      </m:r>
                      <m:f>
                        <m:f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6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−   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𝑪</m:t>
                                      </m:r>
                                    </m:sub>
                                  </m:sSub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𝑺𝑺</m:t>
                              </m:r>
                              <m:sSub>
                                <m:sSubPr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𝑪</m:t>
                                  </m:r>
                                </m:sub>
                              </m:sSub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EBF36DF5-2AC6-474D-98C3-C885D1EC2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797" y="2051083"/>
                <a:ext cx="3284561" cy="7752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83083A63-431C-43F0-B834-A2616EBDB0B8}"/>
              </a:ext>
            </a:extLst>
          </p:cNvPr>
          <p:cNvSpPr txBox="1">
            <a:spLocks/>
          </p:cNvSpPr>
          <p:nvPr/>
        </p:nvSpPr>
        <p:spPr>
          <a:xfrm>
            <a:off x="382701" y="4193450"/>
            <a:ext cx="11477768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Randomly permuting the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q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variables will effectively be the same as omitting them from the model </a:t>
            </a: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6ADE8394-4910-495D-9905-9EAA5B8623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6032" y="4530873"/>
                <a:ext cx="4989968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=&gt; </a:t>
                </a:r>
                <a14:m>
                  <m:oMath xmlns:m="http://schemas.openxmlformats.org/officeDocument/2006/math">
                    <m:r>
                      <a:rPr lang="en-NZ" altLang="ja-JP" sz="16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𝑺𝑺</m:t>
                    </m:r>
                    <m:sSub>
                      <m:sSub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NZ" altLang="ja-JP" sz="16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𝑺𝑺</m:t>
                    </m:r>
                    <m:sSubSup>
                      <m:sSubSup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𝑬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𝑪</m:t>
                        </m:r>
                      </m:sub>
                      <m:sup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will 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tend to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be small.</a:t>
                </a: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6ADE8394-4910-495D-9905-9EAA5B862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32" y="4530873"/>
                <a:ext cx="4989968" cy="365125"/>
              </a:xfrm>
              <a:prstGeom prst="rect">
                <a:avLst/>
              </a:prstGeom>
              <a:blipFill>
                <a:blip r:embed="rId5"/>
                <a:stretch>
                  <a:fillRect l="-611" b="-2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Placeholder 5">
                <a:extLst>
                  <a:ext uri="{FF2B5EF4-FFF2-40B4-BE49-F238E27FC236}">
                    <a16:creationId xmlns:a16="http://schemas.microsoft.com/office/drawing/2014/main" id="{905608AF-03CF-43CC-9E09-96001BE224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701" y="5299573"/>
                <a:ext cx="11477768" cy="76121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𝑭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𝑶𝒃𝒔</m:t>
                        </m:r>
                      </m:sub>
                    </m:sSub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will likely be a </a:t>
                </a:r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typical value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in the distribution of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6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6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bSup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.</a:t>
                </a:r>
                <a:b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We are</a:t>
                </a:r>
                <a:r>
                  <a:rPr kumimoji="1" lang="en-NZ" altLang="ja-JP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likely to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observe a large p-value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accept the null hypothesis.</a:t>
                </a: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8" name="Text Placeholder 5">
                <a:extLst>
                  <a:ext uri="{FF2B5EF4-FFF2-40B4-BE49-F238E27FC236}">
                    <a16:creationId xmlns:a16="http://schemas.microsoft.com/office/drawing/2014/main" id="{905608AF-03CF-43CC-9E09-96001BE22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01" y="5299573"/>
                <a:ext cx="11477768" cy="761212"/>
              </a:xfrm>
              <a:prstGeom prst="rect">
                <a:avLst/>
              </a:prstGeom>
              <a:blipFill>
                <a:blip r:embed="rId6"/>
                <a:stretch>
                  <a:fillRect l="-319" b="-24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6">
            <a:extLst>
              <a:ext uri="{FF2B5EF4-FFF2-40B4-BE49-F238E27FC236}">
                <a16:creationId xmlns:a16="http://schemas.microsoft.com/office/drawing/2014/main" id="{6B430BA0-73CC-6858-A63F-19C12BF17074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6.8a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Permutation Based L-R Tests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CAEDC112-A4B8-AF8B-BF90-5BDA3E1663F9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D9662B27-8BCA-EBDE-87CE-F469B2736F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44387" y="865625"/>
                <a:ext cx="3786076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D9662B27-8BCA-EBDE-87CE-F469B2736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387" y="865625"/>
                <a:ext cx="3786076" cy="6959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6667E874-218C-9468-D1A1-F1E36FD12F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53896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6667E874-218C-9468-D1A1-F1E36FD12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53896"/>
                <a:ext cx="4189864" cy="695961"/>
              </a:xfrm>
              <a:prstGeom prst="rect">
                <a:avLst/>
              </a:prstGeom>
              <a:blipFill>
                <a:blip r:embed="rId8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D3E34A58-D196-C0F7-08F7-65794934F0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66247" y="877870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D3E34A58-D196-C0F7-08F7-65794934F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47" y="877870"/>
                <a:ext cx="841663" cy="4879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5BD74116-D5A8-6DFE-E5CB-A1F08ED251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0662" y="2051082"/>
                <a:ext cx="3284561" cy="77520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𝑭</m:t>
                          </m:r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sup>
                      </m:sSup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7E6E6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</m:t>
                      </m:r>
                      <m:f>
                        <m:f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6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−   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Sup>
                                    <m:sSubSupPr>
                                      <m:ctrlP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𝑪</m:t>
                                      </m:r>
                                    </m:sub>
                                    <m:sup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(</m:t>
                                      </m:r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𝒊</m:t>
                                      </m:r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en-NZ" altLang="ja-JP" sz="1600" b="1" i="1"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𝑺𝑺</m:t>
                              </m:r>
                              <m:sSubSup>
                                <m:sSubSupPr>
                                  <m:ctrlP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  <m:sup>
                                  <m: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5BD74116-D5A8-6DFE-E5CB-A1F08ED25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662" y="2051082"/>
                <a:ext cx="3284561" cy="77520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40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953DEB1F-EB11-4E6D-B5CB-85DD936AAA1A}"/>
              </a:ext>
            </a:extLst>
          </p:cNvPr>
          <p:cNvSpPr txBox="1">
            <a:spLocks/>
          </p:cNvSpPr>
          <p:nvPr/>
        </p:nvSpPr>
        <p:spPr>
          <a:xfrm>
            <a:off x="319463" y="1686030"/>
            <a:ext cx="2696692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Why does this work?</a:t>
            </a:r>
            <a:endParaRPr kumimoji="1" lang="en-NZ" altLang="ja-JP" sz="20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38A81C5C-ECC5-40B2-A4E9-D3539C463E6A}"/>
              </a:ext>
            </a:extLst>
          </p:cNvPr>
          <p:cNvSpPr txBox="1">
            <a:spLocks/>
          </p:cNvSpPr>
          <p:nvPr/>
        </p:nvSpPr>
        <p:spPr>
          <a:xfrm>
            <a:off x="382701" y="2979530"/>
            <a:ext cx="11477768" cy="920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If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</a:t>
            </a:r>
            <a:r>
              <a:rPr lang="en-NZ" altLang="ja-JP" sz="1600" b="1" i="1" baseline="-25000" dirty="0">
                <a:solidFill>
                  <a:srgbClr val="C00000"/>
                </a:solidFill>
                <a:latin typeface="Calibri" panose="020F0502020204030204"/>
                <a:ea typeface="游ゴシック" panose="020B0400000000000000" pitchFamily="34" charset="-128"/>
              </a:rPr>
              <a:t>1</a:t>
            </a: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is true,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b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extra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q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variables in the complete model </a:t>
            </a:r>
            <a:r>
              <a:rPr kumimoji="1" lang="en-NZ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do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have a relationship with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once the other variables in the model have be accounted for.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E43CB145-87DF-4149-8592-9E62C98565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6032" y="3535325"/>
                <a:ext cx="3820810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=&gt;  </a:t>
                </a:r>
                <a14:m>
                  <m:oMath xmlns:m="http://schemas.openxmlformats.org/officeDocument/2006/math"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𝑺𝑺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𝑬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𝑹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≫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𝑺𝑺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𝑬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𝑪</m:t>
                        </m:r>
                      </m:sub>
                    </m:sSub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𝑭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𝑶𝒃𝒔</m:t>
                        </m:r>
                      </m:sub>
                    </m:sSub>
                  </m:oMath>
                </a14:m>
                <a:r>
                  <a:rPr kumimoji="1" lang="en-NZ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will be large.</a:t>
                </a: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E43CB145-87DF-4149-8592-9E62C9856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32" y="3535325"/>
                <a:ext cx="3820810" cy="365125"/>
              </a:xfrm>
              <a:prstGeom prst="rect">
                <a:avLst/>
              </a:prstGeom>
              <a:blipFill>
                <a:blip r:embed="rId3"/>
                <a:stretch>
                  <a:fillRect l="-797" t="-5000" b="-13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EBF36DF5-2AC6-474D-98C3-C885D1EC26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44797" y="2051083"/>
                <a:ext cx="3284561" cy="77520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𝑭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𝑶𝒃𝒔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7E6E6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</m:t>
                      </m:r>
                      <m:f>
                        <m:f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6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−   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𝑪</m:t>
                                      </m:r>
                                    </m:sub>
                                  </m:sSub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𝑺𝑺</m:t>
                              </m:r>
                              <m:sSub>
                                <m:sSubPr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𝑪</m:t>
                                  </m:r>
                                </m:sub>
                              </m:sSub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EBF36DF5-2AC6-474D-98C3-C885D1EC2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797" y="2051083"/>
                <a:ext cx="3284561" cy="7752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83083A63-431C-43F0-B834-A2616EBDB0B8}"/>
              </a:ext>
            </a:extLst>
          </p:cNvPr>
          <p:cNvSpPr txBox="1">
            <a:spLocks/>
          </p:cNvSpPr>
          <p:nvPr/>
        </p:nvSpPr>
        <p:spPr>
          <a:xfrm>
            <a:off x="382701" y="4193450"/>
            <a:ext cx="11477768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Randomly permuting the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q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variables will effectively be the same as omitting them from the model </a:t>
            </a:r>
            <a:endParaRPr kumimoji="1" lang="en-NZ" altLang="ja-JP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6ADE8394-4910-495D-9905-9EAA5B8623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06032" y="4530873"/>
                <a:ext cx="4989968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=&gt; </a:t>
                </a:r>
                <a14:m>
                  <m:oMath xmlns:m="http://schemas.openxmlformats.org/officeDocument/2006/math">
                    <m:r>
                      <a:rPr lang="en-NZ" altLang="ja-JP" sz="16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𝑺𝑺</m:t>
                    </m:r>
                    <m:sSub>
                      <m:sSub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NZ" altLang="ja-JP" sz="16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𝑺𝑺</m:t>
                    </m:r>
                    <m:sSubSup>
                      <m:sSubSup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Sup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𝑬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𝑪</m:t>
                        </m:r>
                      </m:sub>
                      <m:sup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p>
                    </m:sSubSup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p>
                        <m: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will 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tend to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be small.</a:t>
                </a: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6ADE8394-4910-495D-9905-9EAA5B862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32" y="4530873"/>
                <a:ext cx="4989968" cy="365125"/>
              </a:xfrm>
              <a:prstGeom prst="rect">
                <a:avLst/>
              </a:prstGeom>
              <a:blipFill>
                <a:blip r:embed="rId5"/>
                <a:stretch>
                  <a:fillRect l="-611" b="-2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Placeholder 5">
                <a:extLst>
                  <a:ext uri="{FF2B5EF4-FFF2-40B4-BE49-F238E27FC236}">
                    <a16:creationId xmlns:a16="http://schemas.microsoft.com/office/drawing/2014/main" id="{905608AF-03CF-43CC-9E09-96001BE224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2701" y="5299573"/>
                <a:ext cx="11477768" cy="76121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𝑭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𝑶𝒃𝒔</m:t>
                        </m:r>
                      </m:sub>
                    </m:sSub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will likely be an </a:t>
                </a:r>
                <a:r>
                  <a:rPr kumimoji="1" lang="en-NZ" altLang="ja-JP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extremal value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in the distribution of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6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6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p>
                    </m:sSubSup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.</a:t>
                </a:r>
                <a:b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We are</a:t>
                </a:r>
                <a:r>
                  <a:rPr kumimoji="1" lang="en-NZ" altLang="ja-JP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likely to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observe a small p-value</a:t>
                </a:r>
                <a:r>
                  <a:rPr lang="en-NZ" altLang="ja-JP" sz="1600" noProof="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, </a:t>
                </a:r>
                <a:r>
                  <a:rPr lang="en-NZ" altLang="ja-JP" sz="16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reject the null hypothesis and accept the alternative.</a:t>
                </a: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8" name="Text Placeholder 5">
                <a:extLst>
                  <a:ext uri="{FF2B5EF4-FFF2-40B4-BE49-F238E27FC236}">
                    <a16:creationId xmlns:a16="http://schemas.microsoft.com/office/drawing/2014/main" id="{905608AF-03CF-43CC-9E09-96001BE224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01" y="5299573"/>
                <a:ext cx="11477768" cy="761212"/>
              </a:xfrm>
              <a:prstGeom prst="rect">
                <a:avLst/>
              </a:prstGeom>
              <a:blipFill>
                <a:blip r:embed="rId6"/>
                <a:stretch>
                  <a:fillRect l="-319" b="-24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6">
            <a:extLst>
              <a:ext uri="{FF2B5EF4-FFF2-40B4-BE49-F238E27FC236}">
                <a16:creationId xmlns:a16="http://schemas.microsoft.com/office/drawing/2014/main" id="{6B430BA0-73CC-6858-A63F-19C12BF17074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6.8a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Permutation Based L-R Tests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CAEDC112-A4B8-AF8B-BF90-5BDA3E1663F9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D9662B27-8BCA-EBDE-87CE-F469B2736F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44387" y="865625"/>
                <a:ext cx="3786076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𝟐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𝜷</m:t>
                              </m:r>
                            </m:e>
                            <m:sub>
                              <m:r>
                                <a:rPr kumimoji="1" lang="en-NZ" altLang="ja-JP" sz="1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e>
                      </m:bar>
                      <m:r>
                        <a:rPr kumimoji="1" lang="en-NZ" altLang="ja-JP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</m:t>
                      </m:r>
                      <m:bar>
                        <m:bar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</m:bar>
                    </m:oMath>
                  </m:oMathPara>
                </a14:m>
                <a:endParaRPr kumimoji="1" lang="en-NZ" altLang="ja-JP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D9662B27-8BCA-EBDE-87CE-F469B2736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387" y="865625"/>
                <a:ext cx="3786076" cy="6959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6667E874-218C-9468-D1A1-F1E36FD12F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853896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6667E874-218C-9468-D1A1-F1E36FD12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853896"/>
                <a:ext cx="4189864" cy="695961"/>
              </a:xfrm>
              <a:prstGeom prst="rect">
                <a:avLst/>
              </a:prstGeom>
              <a:blipFill>
                <a:blip r:embed="rId8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D3E34A58-D196-C0F7-08F7-65794934F0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66247" y="877870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D3E34A58-D196-C0F7-08F7-65794934F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47" y="877870"/>
                <a:ext cx="841663" cy="4879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5BD74116-D5A8-6DFE-E5CB-A1F08ED251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0662" y="2051082"/>
                <a:ext cx="3284561" cy="77520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𝑭</m:t>
                          </m:r>
                        </m:e>
                        <m:sup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sup>
                      </m:sSup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E7E6E6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</m:t>
                      </m:r>
                      <m:f>
                        <m:f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E7E6E6">
                                  <a:lumMod val="50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6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−   </m:t>
                                  </m:r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Sup>
                                    <m:sSubSupPr>
                                      <m:ctrlP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6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𝑪</m:t>
                                      </m:r>
                                    </m:sub>
                                    <m:sup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(</m:t>
                                      </m:r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𝒊</m:t>
                                      </m:r>
                                      <m:r>
                                        <a:rPr kumimoji="1" lang="en-NZ" altLang="ja-JP" sz="16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E7E6E6">
                                              <a:lumMod val="50000"/>
                                            </a:srgbClr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kumimoji="1" lang="en-NZ" altLang="ja-JP" sz="16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en-NZ" altLang="ja-JP" sz="1600" b="1" i="1"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  <m:t>𝑺𝑺</m:t>
                              </m:r>
                              <m:sSubSup>
                                <m:sSubSupPr>
                                  <m:ctrlP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sub>
                                <m:sup>
                                  <m: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NZ" altLang="ja-JP" sz="1600" b="1" i="1">
                                      <a:solidFill>
                                        <a:srgbClr val="E7E6E6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6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E7E6E6">
                                      <a:lumMod val="50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3" name="Text Placeholder 5">
                <a:extLst>
                  <a:ext uri="{FF2B5EF4-FFF2-40B4-BE49-F238E27FC236}">
                    <a16:creationId xmlns:a16="http://schemas.microsoft.com/office/drawing/2014/main" id="{5BD74116-D5A8-6DFE-E5CB-A1F08ED25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662" y="2051082"/>
                <a:ext cx="3284561" cy="77520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57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3AA63CAF-8BC6-90B3-FAB3-62109FA27A6E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6.8b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Computational Example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E00C4B9-E178-731B-EBE9-683CCA12EF23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84B4E2F-2E74-AE69-4443-4E5B60BCC543}"/>
              </a:ext>
            </a:extLst>
          </p:cNvPr>
          <p:cNvSpPr txBox="1">
            <a:spLocks/>
          </p:cNvSpPr>
          <p:nvPr/>
        </p:nvSpPr>
        <p:spPr>
          <a:xfrm>
            <a:off x="3011606" y="6520328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6.8 - Likelihood Ratio Testing Example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8CBB2B85-F0DF-FA42-DBB0-9399DD56C3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3" y="941918"/>
                <a:ext cx="11335725" cy="125537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kumimoji="1" lang="en-NZ" altLang="ja-JP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 response variable </a:t>
                </a:r>
                <a:r>
                  <a:rPr kumimoji="1" lang="en-NZ" altLang="ja-JP" sz="17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</a:t>
                </a:r>
                <a:r>
                  <a:rPr kumimoji="1" lang="en-NZ" altLang="ja-JP" sz="170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lang="en-NZ" altLang="ja-JP" sz="17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can be modelled as a function of five dependent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, 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𝟐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, 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𝟑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, 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NZ" altLang="ja-JP" sz="1700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NZ" altLang="ja-JP" sz="1700" dirty="0">
                    <a:solidFill>
                      <a:srgbClr val="0070C0"/>
                    </a:solidFill>
                  </a:rPr>
                  <a:t>. 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NZ" altLang="ja-JP" sz="1700" dirty="0">
                    <a:solidFill>
                      <a:srgbClr val="0070C0"/>
                    </a:solidFill>
                  </a:rPr>
                  <a:t>A researcher interested in the quantity that </a:t>
                </a:r>
                <a:r>
                  <a:rPr lang="en-NZ" altLang="ja-JP" sz="1700" b="1" i="1" dirty="0">
                    <a:solidFill>
                      <a:srgbClr val="0070C0"/>
                    </a:solidFill>
                  </a:rPr>
                  <a:t>Y</a:t>
                </a:r>
                <a:r>
                  <a:rPr lang="en-NZ" altLang="ja-JP" sz="1700" i="1" dirty="0">
                    <a:solidFill>
                      <a:srgbClr val="0070C0"/>
                    </a:solidFill>
                  </a:rPr>
                  <a:t> </a:t>
                </a:r>
                <a:r>
                  <a:rPr lang="en-NZ" altLang="ja-JP" sz="1700" dirty="0">
                    <a:solidFill>
                      <a:srgbClr val="0070C0"/>
                    </a:solidFill>
                  </a:rPr>
                  <a:t>represents creates two models:</a:t>
                </a:r>
              </a:p>
              <a:p>
                <a:pPr algn="just">
                  <a:lnSpc>
                    <a:spcPct val="100000"/>
                  </a:lnSpc>
                </a:pPr>
                <a:endParaRPr lang="en-NZ" altLang="ja-JP" sz="200" dirty="0">
                  <a:solidFill>
                    <a:srgbClr val="0070C0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NZ" altLang="ja-JP" sz="200" dirty="0">
                  <a:solidFill>
                    <a:srgbClr val="0070C0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NZ" altLang="ja-JP" sz="1700" dirty="0">
                    <a:solidFill>
                      <a:srgbClr val="0070C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+ 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NZ" altLang="ja-JP" sz="17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NZ" altLang="ja-JP" sz="1700" b="1" dirty="0">
                    <a:solidFill>
                      <a:srgbClr val="0070C0"/>
                    </a:solidFill>
                  </a:rPr>
                  <a:t>   			   </a:t>
                </a:r>
                <a:r>
                  <a:rPr lang="en-NZ" altLang="ja-JP" sz="1700" dirty="0">
                    <a:solidFill>
                      <a:srgbClr val="0070C0"/>
                    </a:solidFill>
                  </a:rPr>
                  <a:t>(Reduced model)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NZ" altLang="ja-JP" sz="1700" dirty="0">
                    <a:solidFill>
                      <a:srgbClr val="0070C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+ 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NZ" altLang="ja-JP" sz="17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NZ" altLang="ja-JP" sz="17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NZ" altLang="ja-JP" sz="17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+ </m:t>
                    </m:r>
                    <m:sSub>
                      <m:sSubPr>
                        <m:ctrlP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NZ" altLang="ja-JP" sz="17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7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7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NZ" altLang="ja-JP" sz="1700" dirty="0">
                    <a:solidFill>
                      <a:srgbClr val="0070C0"/>
                    </a:solidFill>
                  </a:rPr>
                  <a:t>	   (Complete model)</a:t>
                </a: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8CBB2B85-F0DF-FA42-DBB0-9399DD56C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3" y="941918"/>
                <a:ext cx="11335725" cy="1255372"/>
              </a:xfrm>
              <a:prstGeom prst="rect">
                <a:avLst/>
              </a:prstGeom>
              <a:blipFill>
                <a:blip r:embed="rId2"/>
                <a:stretch>
                  <a:fillRect l="-323" t="-1951" b="-195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63810E6-5065-2B60-5355-13667441E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135679"/>
              </p:ext>
            </p:extLst>
          </p:nvPr>
        </p:nvGraphicFramePr>
        <p:xfrm>
          <a:off x="471986" y="2491541"/>
          <a:ext cx="3117378" cy="3734536"/>
        </p:xfrm>
        <a:graphic>
          <a:graphicData uri="http://schemas.openxmlformats.org/drawingml/2006/table">
            <a:tbl>
              <a:tblPr/>
              <a:tblGrid>
                <a:gridCol w="519563">
                  <a:extLst>
                    <a:ext uri="{9D8B030D-6E8A-4147-A177-3AD203B41FA5}">
                      <a16:colId xmlns:a16="http://schemas.microsoft.com/office/drawing/2014/main" val="1225904161"/>
                    </a:ext>
                  </a:extLst>
                </a:gridCol>
                <a:gridCol w="519563">
                  <a:extLst>
                    <a:ext uri="{9D8B030D-6E8A-4147-A177-3AD203B41FA5}">
                      <a16:colId xmlns:a16="http://schemas.microsoft.com/office/drawing/2014/main" val="1845103686"/>
                    </a:ext>
                  </a:extLst>
                </a:gridCol>
                <a:gridCol w="519563">
                  <a:extLst>
                    <a:ext uri="{9D8B030D-6E8A-4147-A177-3AD203B41FA5}">
                      <a16:colId xmlns:a16="http://schemas.microsoft.com/office/drawing/2014/main" val="2437999864"/>
                    </a:ext>
                  </a:extLst>
                </a:gridCol>
                <a:gridCol w="519563">
                  <a:extLst>
                    <a:ext uri="{9D8B030D-6E8A-4147-A177-3AD203B41FA5}">
                      <a16:colId xmlns:a16="http://schemas.microsoft.com/office/drawing/2014/main" val="3050148994"/>
                    </a:ext>
                  </a:extLst>
                </a:gridCol>
                <a:gridCol w="519563">
                  <a:extLst>
                    <a:ext uri="{9D8B030D-6E8A-4147-A177-3AD203B41FA5}">
                      <a16:colId xmlns:a16="http://schemas.microsoft.com/office/drawing/2014/main" val="360548354"/>
                    </a:ext>
                  </a:extLst>
                </a:gridCol>
                <a:gridCol w="519563">
                  <a:extLst>
                    <a:ext uri="{9D8B030D-6E8A-4147-A177-3AD203B41FA5}">
                      <a16:colId xmlns:a16="http://schemas.microsoft.com/office/drawing/2014/main" val="3918380551"/>
                    </a:ext>
                  </a:extLst>
                </a:gridCol>
              </a:tblGrid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X1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X2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X3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X4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X5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028618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779112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115815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529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067983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314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94343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383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135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711421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187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991025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341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203710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085341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341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933324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182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265032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434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193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541980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5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10340" marR="10340" marT="1034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909004"/>
                  </a:ext>
                </a:extLst>
              </a:tr>
            </a:tbl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F3D2647-1B86-FF55-A9ED-CD9FB98A6B30}"/>
              </a:ext>
            </a:extLst>
          </p:cNvPr>
          <p:cNvSpPr txBox="1">
            <a:spLocks/>
          </p:cNvSpPr>
          <p:nvPr/>
        </p:nvSpPr>
        <p:spPr>
          <a:xfrm>
            <a:off x="3875965" y="2417969"/>
            <a:ext cx="7844049" cy="11470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700" dirty="0">
                <a:solidFill>
                  <a:srgbClr val="0070C0"/>
                </a:solidFill>
              </a:rPr>
              <a:t>The data pertaining to this experiment can be found in the data set entitled ‘Regression Coefficients.csv’. A snapshot is shown below. Conduct a normal theory and permutation based likelihood ratio test to determine whether the researcher should use the reduced or complete model.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7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5EE19225-781D-DF1F-8FE1-7DED518536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9984" y="3850946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5EE19225-781D-DF1F-8FE1-7DED51853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984" y="3850946"/>
                <a:ext cx="4189864" cy="695961"/>
              </a:xfrm>
              <a:prstGeom prst="rect">
                <a:avLst/>
              </a:prstGeom>
              <a:blipFill>
                <a:blip r:embed="rId3"/>
                <a:stretch>
                  <a:fillRect t="-35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3BBC6611-D521-DED9-5AC1-83D59FEDC8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5942" y="4627496"/>
                <a:ext cx="6967182" cy="52507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</m:oMath>
                </a14:m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	The extra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predictors in the complete model have no relationship with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when 	the other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 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variables are accounted for.</a:t>
                </a: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3BBC6611-D521-DED9-5AC1-83D59FEDC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942" y="4627496"/>
                <a:ext cx="6967182" cy="525075"/>
              </a:xfrm>
              <a:prstGeom prst="rect">
                <a:avLst/>
              </a:prstGeom>
              <a:blipFill>
                <a:blip r:embed="rId4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6E49E9D4-BF7A-12A2-EB90-45103D826C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9984" y="5114742"/>
                <a:ext cx="6967182" cy="62947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</m:t>
                    </m:r>
                  </m:oMath>
                </a14:m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	The extra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2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predictors in the complete model have some relationship with </a:t>
                </a:r>
                <a:r>
                  <a:rPr kumimoji="1" lang="en-NZ" altLang="ja-JP" sz="1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 even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	when the other </a:t>
                </a:r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3 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variables are accounted for.</a:t>
                </a:r>
                <a:endParaRPr kumimoji="1" lang="en-NZ" altLang="ja-JP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6E49E9D4-BF7A-12A2-EB90-45103D826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984" y="5114742"/>
                <a:ext cx="6967182" cy="6294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84229A92-13BF-033F-C553-0D5BEF3C4B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73150" y="4832806"/>
                <a:ext cx="841663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84229A92-13BF-033F-C553-0D5BEF3C4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150" y="4832806"/>
                <a:ext cx="841663" cy="4879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C36E6104-5F5D-4901-E826-9C5300C39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1A05F1B7-2E15-E3A8-0E9A-8D1F1594C7FD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03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6" grpId="0"/>
      <p:bldP spid="2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8894634-BE31-2A90-4F8E-4F535519B326}"/>
              </a:ext>
            </a:extLst>
          </p:cNvPr>
          <p:cNvSpPr txBox="1">
            <a:spLocks/>
          </p:cNvSpPr>
          <p:nvPr/>
        </p:nvSpPr>
        <p:spPr>
          <a:xfrm>
            <a:off x="545862" y="1050280"/>
            <a:ext cx="7175220" cy="397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Correlation plot of all variables:</a:t>
            </a: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3AA63CAF-8BC6-90B3-FAB3-62109FA27A6E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6.8b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Computational Example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E00C4B9-E178-731B-EBE9-683CCA12EF23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B86EB06-E13B-4207-5128-6A1897DD2CCE}"/>
              </a:ext>
            </a:extLst>
          </p:cNvPr>
          <p:cNvSpPr txBox="1">
            <a:spLocks/>
          </p:cNvSpPr>
          <p:nvPr/>
        </p:nvSpPr>
        <p:spPr>
          <a:xfrm>
            <a:off x="3011606" y="6520328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6.8 - Likelihood Ratio Testing Example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712B3B-2F3D-FA84-DA6A-AEDB456E6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381" y="1447638"/>
            <a:ext cx="7695238" cy="46000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77EDDCC5-A6C5-40FE-8110-9F78D1765CAE}"/>
              </a:ext>
            </a:extLst>
          </p:cNvPr>
          <p:cNvSpPr/>
          <p:nvPr/>
        </p:nvSpPr>
        <p:spPr>
          <a:xfrm>
            <a:off x="2579427" y="4844241"/>
            <a:ext cx="1364777" cy="8367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0F52DD2-BDF7-DFBB-CAF1-68303CBD2F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9427" y="5861410"/>
                <a:ext cx="2653265" cy="55384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seems to exhibit no relationship with variable</a:t>
                </a:r>
                <a:r>
                  <a:rPr kumimoji="1" lang="en-NZ" altLang="ja-JP" sz="160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𝟓</m:t>
                        </m:r>
                      </m:sub>
                    </m:sSub>
                  </m:oMath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E0F52DD2-BDF7-DFBB-CAF1-68303CBD2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427" y="5861410"/>
                <a:ext cx="2653265" cy="553847"/>
              </a:xfrm>
              <a:prstGeom prst="rect">
                <a:avLst/>
              </a:prstGeom>
              <a:blipFill>
                <a:blip r:embed="rId3"/>
                <a:stretch>
                  <a:fillRect l="-1149" t="-3333" b="-20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5CF34B18-6541-71A8-549C-EF0AA16715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10484" y="983529"/>
                <a:ext cx="2671297" cy="60720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seems to exhibit strong relationship with variable</a:t>
                </a:r>
                <a:r>
                  <a:rPr kumimoji="1" lang="en-NZ" altLang="ja-JP" sz="160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𝟒</m:t>
                        </m:r>
                      </m:sub>
                    </m:sSub>
                  </m:oMath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5CF34B18-6541-71A8-549C-EF0AA1671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484" y="983529"/>
                <a:ext cx="2671297" cy="607201"/>
              </a:xfrm>
              <a:prstGeom prst="rect">
                <a:avLst/>
              </a:prstGeom>
              <a:blipFill>
                <a:blip r:embed="rId4"/>
                <a:stretch>
                  <a:fillRect l="-1139" t="-3000" b="-80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C462682F-9339-4613-7602-7554D512BC76}"/>
              </a:ext>
            </a:extLst>
          </p:cNvPr>
          <p:cNvSpPr/>
          <p:nvPr/>
        </p:nvSpPr>
        <p:spPr>
          <a:xfrm>
            <a:off x="7110484" y="1767806"/>
            <a:ext cx="1364777" cy="8367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221D5238-768B-10AF-58BC-88DED9ACD5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3619" y="3763711"/>
                <a:ext cx="1929049" cy="683616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𝟒</m:t>
                        </m:r>
                      </m:sub>
                    </m:sSub>
                  </m:oMath>
                </a14:m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</a:t>
                </a:r>
                <a:r>
                  <a:rPr kumimoji="1" lang="en-NZ" altLang="ja-JP" sz="160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very strongly correlated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𝟑</m:t>
                        </m:r>
                      </m:sub>
                    </m:sSub>
                  </m:oMath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221D5238-768B-10AF-58BC-88DED9ACD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3619" y="3763711"/>
                <a:ext cx="1929049" cy="683616"/>
              </a:xfrm>
              <a:prstGeom prst="rect">
                <a:avLst/>
              </a:prstGeom>
              <a:blipFill>
                <a:blip r:embed="rId5"/>
                <a:stretch>
                  <a:fillRect l="-1577" t="-265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24CC99D4-8497-5ED7-6732-6CB9A4FAFCEF}"/>
              </a:ext>
            </a:extLst>
          </p:cNvPr>
          <p:cNvSpPr/>
          <p:nvPr/>
        </p:nvSpPr>
        <p:spPr>
          <a:xfrm>
            <a:off x="7110484" y="3610557"/>
            <a:ext cx="1364777" cy="8367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F78D79-D51A-0B2D-E2AA-62596999DE1E}"/>
              </a:ext>
            </a:extLst>
          </p:cNvPr>
          <p:cNvSpPr/>
          <p:nvPr/>
        </p:nvSpPr>
        <p:spPr>
          <a:xfrm>
            <a:off x="2579427" y="2482377"/>
            <a:ext cx="1364777" cy="18891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29579BCD-6E15-5B6E-1B30-41E38BBF9D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049" y="2598173"/>
                <a:ext cx="2413378" cy="101238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Y</a:t>
                </a:r>
                <a:r>
                  <a:rPr kumimoji="1" lang="en-NZ" altLang="ja-JP" sz="16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seems to exhibit strong relationships with variables</a:t>
                </a:r>
                <a:r>
                  <a:rPr kumimoji="1" lang="en-NZ" altLang="ja-JP" sz="160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, 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𝟐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 &amp; 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𝑿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𝟑</m:t>
                        </m:r>
                      </m:sub>
                    </m:sSub>
                  </m:oMath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29579BCD-6E15-5B6E-1B30-41E38BBF9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49" y="2598173"/>
                <a:ext cx="2413378" cy="1012384"/>
              </a:xfrm>
              <a:prstGeom prst="rect">
                <a:avLst/>
              </a:prstGeom>
              <a:blipFill>
                <a:blip r:embed="rId6"/>
                <a:stretch>
                  <a:fillRect l="-1263" t="-180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7B8B22C-4788-2584-ED39-9EBE7BC1B25B}"/>
              </a:ext>
            </a:extLst>
          </p:cNvPr>
          <p:cNvCxnSpPr>
            <a:stCxn id="19" idx="6"/>
          </p:cNvCxnSpPr>
          <p:nvPr/>
        </p:nvCxnSpPr>
        <p:spPr>
          <a:xfrm>
            <a:off x="8475261" y="4028942"/>
            <a:ext cx="1468358" cy="107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A18F11EB-C6E5-29BC-E8A1-2228DCDD3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D9C54688-88B7-F3F5-ECC2-0981A590A3FE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49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4" grpId="0"/>
      <p:bldP spid="16" grpId="0" animBg="1"/>
      <p:bldP spid="17" grpId="0"/>
      <p:bldP spid="19" grpId="0" animBg="1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E712A0F9-592E-B152-63A8-264376B7D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422" y="1950816"/>
            <a:ext cx="5048250" cy="3581400"/>
          </a:xfrm>
          <a:prstGeom prst="rect">
            <a:avLst/>
          </a:prstGeom>
        </p:spPr>
      </p:pic>
      <p:sp>
        <p:nvSpPr>
          <p:cNvPr id="9" name="Title 6">
            <a:extLst>
              <a:ext uri="{FF2B5EF4-FFF2-40B4-BE49-F238E27FC236}">
                <a16:creationId xmlns:a16="http://schemas.microsoft.com/office/drawing/2014/main" id="{3AA63CAF-8BC6-90B3-FAB3-62109FA27A6E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6.8b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Computational Example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E00C4B9-E178-731B-EBE9-683CCA12EF23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F63F8B81-C135-6642-2B9C-63C0B1625C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060" y="888919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F63F8B81-C135-6642-2B9C-63C0B1625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60" y="888919"/>
                <a:ext cx="4189864" cy="695961"/>
              </a:xfrm>
              <a:prstGeom prst="rect">
                <a:avLst/>
              </a:prstGeom>
              <a:blipFill>
                <a:blip r:embed="rId3"/>
                <a:stretch>
                  <a:fillRect t="-263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67E0F21-7A18-7F0F-E458-9CAEE26F4CF8}"/>
              </a:ext>
            </a:extLst>
          </p:cNvPr>
          <p:cNvSpPr txBox="1">
            <a:spLocks/>
          </p:cNvSpPr>
          <p:nvPr/>
        </p:nvSpPr>
        <p:spPr>
          <a:xfrm>
            <a:off x="3011606" y="6520328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6.8 - Likelihood Ratio Testing Example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8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C1F0B78D-EA51-10BD-CB75-8C731301A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61599A0-2A4D-74B7-AC89-BA0102779DCC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F94800-0E29-DCF7-A6DB-A98A58159437}"/>
              </a:ext>
            </a:extLst>
          </p:cNvPr>
          <p:cNvSpPr txBox="1">
            <a:spLocks/>
          </p:cNvSpPr>
          <p:nvPr/>
        </p:nvSpPr>
        <p:spPr>
          <a:xfrm>
            <a:off x="563060" y="1524914"/>
            <a:ext cx="5336520" cy="3215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defRPr/>
            </a:pPr>
            <a:r>
              <a:rPr lang="en-NZ" altLang="ja-JP" sz="1600" dirty="0">
                <a:solidFill>
                  <a:prstClr val="black"/>
                </a:solidFill>
              </a:rPr>
              <a:t>Conducting a normal theory likelihood ratio test yields… 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834F28A-8466-595F-8F08-494BC3600E65}"/>
              </a:ext>
            </a:extLst>
          </p:cNvPr>
          <p:cNvSpPr txBox="1">
            <a:spLocks/>
          </p:cNvSpPr>
          <p:nvPr/>
        </p:nvSpPr>
        <p:spPr>
          <a:xfrm>
            <a:off x="563060" y="5326590"/>
            <a:ext cx="5336520" cy="9182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F-Statistic = 1.267167  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on   </a:t>
            </a:r>
            <a:r>
              <a:rPr kumimoji="1" lang="en-NZ" altLang="ja-JP" sz="1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df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=(2, 95)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-&gt; 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p-value = 0.2863446</a:t>
            </a:r>
            <a:endParaRPr lang="en-NZ" altLang="ja-JP" sz="1600" b="1" i="1" dirty="0">
              <a:solidFill>
                <a:prstClr val="black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No evidence against </a:t>
            </a:r>
            <a:r>
              <a:rPr kumimoji="1" lang="en-NZ" altLang="ja-JP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</a:t>
            </a:r>
            <a:r>
              <a:rPr kumimoji="1" lang="en-NZ" altLang="ja-JP" sz="16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</a:t>
            </a:r>
            <a:endParaRPr kumimoji="1" lang="en-NZ" altLang="ja-JP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52BBE002-4416-7ECE-BC06-A91596AEDAAC}"/>
              </a:ext>
            </a:extLst>
          </p:cNvPr>
          <p:cNvSpPr txBox="1">
            <a:spLocks/>
          </p:cNvSpPr>
          <p:nvPr/>
        </p:nvSpPr>
        <p:spPr>
          <a:xfrm>
            <a:off x="563060" y="1962064"/>
            <a:ext cx="5336520" cy="3248895"/>
          </a:xfrm>
          <a:prstGeom prst="rect">
            <a:avLst/>
          </a:prstGeom>
          <a:solidFill>
            <a:srgbClr val="F3F3FF"/>
          </a:solidFill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chemeClr val="accent6">
                    <a:lumMod val="75000"/>
                  </a:schemeClr>
                </a:solidFill>
              </a:rPr>
              <a:t># 1.1b - Obtain SSE for complete model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prstClr val="black"/>
                </a:solidFill>
              </a:rPr>
              <a:t>&gt; Reg1b &lt;- </a:t>
            </a:r>
            <a:r>
              <a:rPr lang="en-NZ" altLang="ja-JP" sz="1400" dirty="0" err="1">
                <a:solidFill>
                  <a:prstClr val="black"/>
                </a:solidFill>
              </a:rPr>
              <a:t>lm</a:t>
            </a:r>
            <a:r>
              <a:rPr lang="en-NZ" altLang="ja-JP" sz="1400" dirty="0">
                <a:solidFill>
                  <a:prstClr val="black"/>
                </a:solidFill>
              </a:rPr>
              <a:t>(Y ~ X1 + X2 + X3 + X4 + X5, data = Reg1a)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prstClr val="black"/>
                </a:solidFill>
              </a:rPr>
              <a:t>       &gt; Reg1b1 &lt;- sum( </a:t>
            </a:r>
            <a:r>
              <a:rPr lang="en-NZ" altLang="ja-JP" sz="1400" dirty="0" err="1">
                <a:solidFill>
                  <a:prstClr val="black"/>
                </a:solidFill>
              </a:rPr>
              <a:t>resid</a:t>
            </a:r>
            <a:r>
              <a:rPr lang="en-NZ" altLang="ja-JP" sz="1400" dirty="0">
                <a:solidFill>
                  <a:prstClr val="black"/>
                </a:solidFill>
              </a:rPr>
              <a:t>(Reg1b)^2 )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prstClr val="black"/>
                </a:solidFill>
              </a:rPr>
              <a:t>  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chemeClr val="accent6">
                    <a:lumMod val="75000"/>
                  </a:schemeClr>
                </a:solidFill>
              </a:rPr>
              <a:t># 1.1c - Obtain SSE for reduced model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prstClr val="black"/>
                </a:solidFill>
              </a:rPr>
              <a:t>&gt; Reg1c &lt;- </a:t>
            </a:r>
            <a:r>
              <a:rPr lang="en-NZ" altLang="ja-JP" sz="1400" dirty="0" err="1">
                <a:solidFill>
                  <a:prstClr val="black"/>
                </a:solidFill>
              </a:rPr>
              <a:t>lm</a:t>
            </a:r>
            <a:r>
              <a:rPr lang="en-NZ" altLang="ja-JP" sz="1400" dirty="0">
                <a:solidFill>
                  <a:prstClr val="black"/>
                </a:solidFill>
              </a:rPr>
              <a:t>(Y ~ X1 + X2 + X3, data = Reg1a)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prstClr val="black"/>
                </a:solidFill>
              </a:rPr>
              <a:t>       &gt; Reg1c1 &lt;- sum( </a:t>
            </a:r>
            <a:r>
              <a:rPr lang="en-NZ" altLang="ja-JP" sz="1400" dirty="0" err="1">
                <a:solidFill>
                  <a:prstClr val="black"/>
                </a:solidFill>
              </a:rPr>
              <a:t>resid</a:t>
            </a:r>
            <a:r>
              <a:rPr lang="en-NZ" altLang="ja-JP" sz="1400" dirty="0">
                <a:solidFill>
                  <a:prstClr val="black"/>
                </a:solidFill>
              </a:rPr>
              <a:t>(Reg1c)^2 )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prstClr val="black"/>
                </a:solidFill>
              </a:rPr>
              <a:t>  </a:t>
            </a:r>
          </a:p>
          <a:p>
            <a:pPr lvl="0" algn="just">
              <a:lnSpc>
                <a:spcPct val="100000"/>
              </a:lnSpc>
              <a:defRPr/>
            </a:pPr>
            <a:endParaRPr lang="en-NZ" altLang="ja-JP" sz="1400" dirty="0">
              <a:solidFill>
                <a:prstClr val="black"/>
              </a:solidFill>
            </a:endParaRP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chemeClr val="accent6">
                    <a:lumMod val="75000"/>
                  </a:schemeClr>
                </a:solidFill>
              </a:rPr>
              <a:t># 1.1d - Obtain F-statistic for initial sample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prstClr val="black"/>
                </a:solidFill>
              </a:rPr>
              <a:t>&gt; Reg1d &lt;-  ( (Reg1c1 - Reg1b1) / 2 ) / (Reg1b1 / (n - p)  )</a:t>
            </a:r>
          </a:p>
          <a:p>
            <a:pPr lvl="0" algn="just">
              <a:lnSpc>
                <a:spcPct val="100000"/>
              </a:lnSpc>
              <a:defRPr/>
            </a:pPr>
            <a:endParaRPr lang="en-NZ" altLang="ja-JP" sz="1400" dirty="0">
              <a:solidFill>
                <a:prstClr val="black"/>
              </a:solidFill>
            </a:endParaRP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schemeClr val="accent6">
                    <a:lumMod val="75000"/>
                  </a:schemeClr>
                </a:solidFill>
              </a:rPr>
              <a:t># 1.1e - Obtain p-value for the test</a:t>
            </a:r>
          </a:p>
          <a:p>
            <a:pPr lvl="0" algn="just">
              <a:lnSpc>
                <a:spcPct val="100000"/>
              </a:lnSpc>
              <a:defRPr/>
            </a:pPr>
            <a:r>
              <a:rPr lang="en-NZ" altLang="ja-JP" sz="1400" dirty="0">
                <a:solidFill>
                  <a:prstClr val="black"/>
                </a:solidFill>
              </a:rPr>
              <a:t>&gt; 1 - pf(Reg1d, 2, n-p  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E8DCB5A0-F3A3-D514-8980-D5D7D431D3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2135" y="1524914"/>
                <a:ext cx="5336520" cy="42590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prstClr val="black"/>
                    </a:solidFill>
                  </a:rPr>
                  <a:t>However, this is only valid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~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𝑵</m:t>
                    </m:r>
                    <m:d>
                      <m:d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𝟎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 </m:t>
                        </m:r>
                        <m:sSup>
                          <m:sSupPr>
                            <m:ctrlP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𝝈</m:t>
                            </m:r>
                          </m:e>
                          <m:sup>
                            <m: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NZ" altLang="ja-JP" sz="1600" dirty="0">
                    <a:solidFill>
                      <a:prstClr val="black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E8DCB5A0-F3A3-D514-8980-D5D7D431D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2135" y="1524914"/>
                <a:ext cx="5336520" cy="425902"/>
              </a:xfrm>
              <a:prstGeom prst="rect">
                <a:avLst/>
              </a:prstGeom>
              <a:blipFill>
                <a:blip r:embed="rId5"/>
                <a:stretch>
                  <a:fillRect l="-571" b="-285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210C626-3CED-0693-B71B-1CD436438DED}"/>
              </a:ext>
            </a:extLst>
          </p:cNvPr>
          <p:cNvSpPr txBox="1">
            <a:spLocks/>
          </p:cNvSpPr>
          <p:nvPr/>
        </p:nvSpPr>
        <p:spPr>
          <a:xfrm>
            <a:off x="6512135" y="5579663"/>
            <a:ext cx="5336520" cy="5878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defRPr/>
            </a:pPr>
            <a:r>
              <a:rPr lang="en-NZ" altLang="ja-JP" sz="1600" dirty="0">
                <a:solidFill>
                  <a:prstClr val="black"/>
                </a:solidFill>
              </a:rPr>
              <a:t>A normal QQ-plot of residuals suggests that this condition is not satisfied. So we must conduct a permutation test.</a:t>
            </a: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26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628D03-A434-736C-B686-4D7CA0598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63" y="2266811"/>
            <a:ext cx="8934725" cy="4162911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8894634-BE31-2A90-4F8E-4F535519B326}"/>
              </a:ext>
            </a:extLst>
          </p:cNvPr>
          <p:cNvSpPr txBox="1">
            <a:spLocks/>
          </p:cNvSpPr>
          <p:nvPr/>
        </p:nvSpPr>
        <p:spPr>
          <a:xfrm>
            <a:off x="563060" y="1950503"/>
            <a:ext cx="5875988" cy="397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600" b="1" dirty="0">
                <a:solidFill>
                  <a:schemeClr val="tx1"/>
                </a:solidFill>
              </a:rPr>
              <a:t>Histogram of F-Statistics Produced from 1,000 Reordered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8D3EF982-206E-C5A5-D7AE-913CF31DE8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15200" y="1856096"/>
                <a:ext cx="4460649" cy="339438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𝑶𝒃𝒔</m:t>
                        </m:r>
                      </m:sub>
                    </m:sSub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lies in the 70.5</a:t>
                </a:r>
                <a:r>
                  <a:rPr kumimoji="1" lang="en-NZ" altLang="ja-JP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th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percentile</a:t>
                </a:r>
                <a:r>
                  <a:rPr kumimoji="1" lang="en-NZ" altLang="ja-JP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of test statistics produced from 1,000 reordered samples.</a:t>
                </a:r>
                <a:endParaRPr kumimoji="1" lang="en-NZ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kumimoji="1" lang="en-NZ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2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kumimoji="1" lang="en-NZ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 algn="ctr">
                  <a:lnSpc>
                    <a:spcPct val="100000"/>
                  </a:lnSpc>
                  <a:defRPr/>
                </a:pP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NZ" altLang="ja-JP" sz="16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𝒑𝒗𝒂𝒍𝒖𝒆</m:t>
                    </m:r>
                    <m:r>
                      <a:rPr lang="en-NZ" altLang="ja-JP" sz="16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lin"/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# </m:t>
                            </m:r>
                            <m:sSup>
                              <m:sSup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NZ" altLang="ja-JP" sz="16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NZ" altLang="ja-JP" sz="1600" b="1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≥</m:t>
                            </m:r>
                            <m:sSub>
                              <m:sSubPr>
                                <m:ctrlP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NZ" altLang="ja-JP" sz="16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𝑶𝒃𝒔</m:t>
                                </m:r>
                              </m:sub>
                            </m:sSub>
                            <m:r>
                              <a:rPr lang="en-NZ" altLang="ja-JP" sz="16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𝟐𝟗𝟓</m:t>
                    </m:r>
                  </m:oMath>
                </a14:m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:endParaRPr lang="en-NZ" altLang="ja-JP" sz="1600" b="1" i="1" dirty="0">
                  <a:solidFill>
                    <a:srgbClr val="C0000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>
                  <a:lnSpc>
                    <a:spcPct val="100000"/>
                  </a:lnSpc>
                  <a:defRPr/>
                </a:pPr>
                <a:r>
                  <a:rPr lang="en-NZ" altLang="ja-JP" sz="1600" dirty="0">
                    <a:solidFill>
                      <a:prstClr val="black"/>
                    </a:solidFill>
                  </a:rPr>
                  <a:t>Permutation test yields no evidence against the null hypothesis that the true model is the reduced model.</a:t>
                </a:r>
              </a:p>
              <a:p>
                <a:pPr>
                  <a:lnSpc>
                    <a:spcPct val="100000"/>
                  </a:lnSpc>
                  <a:defRPr/>
                </a:pPr>
                <a:endParaRPr lang="en-NZ" altLang="ja-JP" sz="1600" dirty="0">
                  <a:solidFill>
                    <a:prstClr val="black"/>
                  </a:solidFill>
                </a:endParaRPr>
              </a:p>
              <a:p>
                <a:pPr>
                  <a:lnSpc>
                    <a:spcPct val="100000"/>
                  </a:lnSpc>
                  <a:defRPr/>
                </a:pPr>
                <a:r>
                  <a:rPr lang="en-NZ" altLang="ja-JP" sz="1600" b="1" u="sng" dirty="0">
                    <a:solidFill>
                      <a:prstClr val="black"/>
                    </a:solidFill>
                  </a:rPr>
                  <a:t>Conclusion:</a:t>
                </a:r>
                <a:br>
                  <a:rPr lang="en-NZ" altLang="ja-JP" sz="1600" dirty="0">
                    <a:solidFill>
                      <a:prstClr val="black"/>
                    </a:solidFill>
                  </a:rPr>
                </a:br>
                <a:r>
                  <a:rPr lang="en-NZ" altLang="ja-JP" sz="1600" dirty="0">
                    <a:solidFill>
                      <a:prstClr val="black"/>
                    </a:solidFill>
                  </a:rPr>
                  <a:t>Do not include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NZ" altLang="ja-JP" sz="1600" b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600" dirty="0">
                    <a:solidFill>
                      <a:prstClr val="black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NZ" altLang="ja-JP" sz="1600" b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600" dirty="0">
                    <a:solidFill>
                      <a:prstClr val="black"/>
                    </a:solidFill>
                  </a:rPr>
                  <a:t>in model as they have no explanatory power once variables </a:t>
                </a:r>
                <a:endParaRPr lang="en-NZ" altLang="ja-JP" sz="1600" b="1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NZ" altLang="ja-JP" sz="1600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NZ" altLang="ja-JP" sz="1600" b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600" dirty="0">
                    <a:solidFill>
                      <a:prstClr val="black"/>
                    </a:solidFill>
                  </a:rPr>
                  <a:t>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6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NZ" altLang="ja-JP" sz="16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NZ" altLang="ja-JP" sz="1600" b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600" dirty="0">
                    <a:solidFill>
                      <a:prstClr val="black"/>
                    </a:solidFill>
                  </a:rPr>
                  <a:t>have been accounted for. </a:t>
                </a:r>
              </a:p>
              <a:p>
                <a:pPr lvl="0">
                  <a:lnSpc>
                    <a:spcPct val="100000"/>
                  </a:lnSpc>
                  <a:defRPr/>
                </a:pPr>
                <a:endParaRPr kumimoji="1" lang="en-NZ" altLang="ja-JP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8D3EF982-206E-C5A5-D7AE-913CF31DE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856096"/>
                <a:ext cx="4460649" cy="3394382"/>
              </a:xfrm>
              <a:prstGeom prst="rect">
                <a:avLst/>
              </a:prstGeom>
              <a:blipFill>
                <a:blip r:embed="rId3"/>
                <a:stretch>
                  <a:fillRect l="-683" t="-539" r="-123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6">
            <a:extLst>
              <a:ext uri="{FF2B5EF4-FFF2-40B4-BE49-F238E27FC236}">
                <a16:creationId xmlns:a16="http://schemas.microsoft.com/office/drawing/2014/main" id="{3AA63CAF-8BC6-90B3-FAB3-62109FA27A6E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72104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6.8b – </a:t>
            </a: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Computational Example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E00C4B9-E178-731B-EBE9-683CCA12EF23}"/>
              </a:ext>
            </a:extLst>
          </p:cNvPr>
          <p:cNvSpPr txBox="1">
            <a:spLocks/>
          </p:cNvSpPr>
          <p:nvPr/>
        </p:nvSpPr>
        <p:spPr>
          <a:xfrm>
            <a:off x="7721082" y="86139"/>
            <a:ext cx="43682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6.8 – </a:t>
            </a:r>
            <a:r>
              <a:rPr kumimoji="1" lang="en-NZ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Permutation Based Likelihood Ratio Tests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F63F8B81-C135-6642-2B9C-63C0B1625C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3060" y="1105241"/>
                <a:ext cx="4189864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</m:t>
                    </m:r>
                  </m:oMath>
                </a14:m>
                <a: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The true model is the reduced model</a:t>
                </a:r>
                <a:br>
                  <a:rPr kumimoji="1" lang="en-NZ" altLang="ja-JP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F63F8B81-C135-6642-2B9C-63C0B1625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60" y="1105241"/>
                <a:ext cx="4189864" cy="695961"/>
              </a:xfrm>
              <a:prstGeom prst="rect">
                <a:avLst/>
              </a:prstGeom>
              <a:blipFill>
                <a:blip r:embed="rId4"/>
                <a:stretch>
                  <a:fillRect t="-175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67E0F21-7A18-7F0F-E458-9CAEE26F4CF8}"/>
              </a:ext>
            </a:extLst>
          </p:cNvPr>
          <p:cNvSpPr txBox="1">
            <a:spLocks/>
          </p:cNvSpPr>
          <p:nvPr/>
        </p:nvSpPr>
        <p:spPr>
          <a:xfrm>
            <a:off x="3011606" y="6520328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6.8 - Likelihood Ratio Testing Example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8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C1F0B78D-EA51-10BD-CB75-8C731301A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61599A0-2A4D-74B7-AC89-BA0102779DCC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9241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844225"/>
            <a:ext cx="121045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6.9 – </a:t>
            </a:r>
            <a:r>
              <a:rPr lang="en-NZ" sz="4500" b="1" dirty="0">
                <a:solidFill>
                  <a:srgbClr val="FFC000"/>
                </a:solidFill>
                <a:latin typeface="Calibri" panose="020F0502020204030204"/>
              </a:rPr>
              <a:t>ANOVA in the Generalised</a:t>
            </a:r>
            <a:br>
              <a:rPr lang="en-NZ" sz="4500" b="1" dirty="0">
                <a:solidFill>
                  <a:srgbClr val="FFC000"/>
                </a:solidFill>
                <a:latin typeface="Calibri" panose="020F0502020204030204"/>
              </a:rPr>
            </a:br>
            <a:r>
              <a:rPr lang="en-NZ" sz="4500" b="1" dirty="0">
                <a:solidFill>
                  <a:srgbClr val="FFC000"/>
                </a:solidFill>
                <a:latin typeface="Calibri" panose="020F0502020204030204"/>
              </a:rPr>
              <a:t>Linear Model Framework</a:t>
            </a:r>
            <a:endParaRPr kumimoji="0" lang="en-NZ" sz="45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1005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647116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6.9a – One-Way ANOVA (GLM Framework):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04EE7A2-E10A-42E2-99A8-1B1AA534C99F}"/>
              </a:ext>
            </a:extLst>
          </p:cNvPr>
          <p:cNvSpPr txBox="1">
            <a:spLocks/>
          </p:cNvSpPr>
          <p:nvPr/>
        </p:nvSpPr>
        <p:spPr>
          <a:xfrm>
            <a:off x="450374" y="999005"/>
            <a:ext cx="11232109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Suppose that we have a total of 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= 1, …, p - 1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population groups that are:</a:t>
            </a: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89B1FAF-0C94-41B0-BA8D-2B272D7F35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9893" y="1354105"/>
                <a:ext cx="3571164" cy="10888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Independent</a:t>
                </a:r>
              </a:p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Normally distributed</a:t>
                </a:r>
              </a:p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Have homogenous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𝝈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89B1FAF-0C94-41B0-BA8D-2B272D7F3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93" y="1354105"/>
                <a:ext cx="3571164" cy="1088844"/>
              </a:xfrm>
              <a:prstGeom prst="rect">
                <a:avLst/>
              </a:prstGeom>
              <a:blipFill>
                <a:blip r:embed="rId3"/>
                <a:stretch>
                  <a:fillRect l="-1365" t="-279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0C63D6FA-7320-4A48-AD12-BBC4E6F004CE}"/>
              </a:ext>
            </a:extLst>
          </p:cNvPr>
          <p:cNvSpPr/>
          <p:nvPr/>
        </p:nvSpPr>
        <p:spPr>
          <a:xfrm rot="10800000">
            <a:off x="4464827" y="1473958"/>
            <a:ext cx="356383" cy="7233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36D8EFD-683A-42C0-9C97-3217D66EFF82}"/>
              </a:ext>
            </a:extLst>
          </p:cNvPr>
          <p:cNvSpPr txBox="1">
            <a:spLocks/>
          </p:cNvSpPr>
          <p:nvPr/>
        </p:nvSpPr>
        <p:spPr>
          <a:xfrm>
            <a:off x="4912309" y="1636496"/>
            <a:ext cx="3250441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ANOVA Conditions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577E44-D06D-45FD-8DB4-9F586C0B1356}"/>
              </a:ext>
            </a:extLst>
          </p:cNvPr>
          <p:cNvSpPr txBox="1">
            <a:spLocks/>
          </p:cNvSpPr>
          <p:nvPr/>
        </p:nvSpPr>
        <p:spPr>
          <a:xfrm>
            <a:off x="450373" y="2237762"/>
            <a:ext cx="11232109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Further suppose that we are interested in whether or not the means of these groups are the same.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0F00C90-115D-460E-B368-BB54B6577575}"/>
              </a:ext>
            </a:extLst>
          </p:cNvPr>
          <p:cNvSpPr txBox="1">
            <a:spLocks/>
          </p:cNvSpPr>
          <p:nvPr/>
        </p:nvSpPr>
        <p:spPr>
          <a:xfrm>
            <a:off x="450372" y="2834750"/>
            <a:ext cx="11232109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take a sample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observations 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</a:t>
            </a:r>
            <a:r>
              <a:rPr kumimoji="1" lang="en-NZ" altLang="ja-JP" sz="18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from each group)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model the </a:t>
            </a:r>
            <a:r>
              <a:rPr lang="en-NZ" altLang="ja-JP" sz="18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j</a:t>
            </a:r>
            <a:r>
              <a:rPr kumimoji="1" lang="en-NZ" altLang="ja-JP" sz="1800" b="1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observation in group </a:t>
            </a:r>
            <a:r>
              <a:rPr lang="en-NZ" altLang="ja-JP" sz="18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as: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54F5D7F-47CE-4930-8A92-E54B47DB71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2" y="3272504"/>
                <a:ext cx="11232108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NZ" altLang="ja-JP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+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…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54F5D7F-47CE-4930-8A92-E54B47DB7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2" y="3272504"/>
                <a:ext cx="11232108" cy="4749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8928387-1E18-CEA2-96DE-770C1E762B4F}"/>
              </a:ext>
            </a:extLst>
          </p:cNvPr>
          <p:cNvSpPr txBox="1">
            <a:spLocks/>
          </p:cNvSpPr>
          <p:nvPr/>
        </p:nvSpPr>
        <p:spPr>
          <a:xfrm>
            <a:off x="8549089" y="86139"/>
            <a:ext cx="3540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6.9 – ANOVA in</a:t>
            </a:r>
            <a:r>
              <a:rPr kumimoji="1" lang="en-US" altLang="ja-JP" sz="1600" b="0" i="0" u="none" strike="noStrike" kern="1200" cap="none" spc="0" normalizeH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 the GLM Framework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8EBD266-0575-BFB8-713F-0B7D0DF8DA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922" y="3842321"/>
                <a:ext cx="10372299" cy="7999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(0, </m:t>
                    </m:r>
                    <m:sSup>
                      <m:sSupPr>
                        <m:ctrlPr>
                          <a:rPr lang="en-NZ" altLang="ja-JP" sz="18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i="1" dirty="0">
                    <a:solidFill>
                      <a:schemeClr val="bg2">
                        <a:lumMod val="50000"/>
                      </a:schemeClr>
                    </a:solidFill>
                  </a:rPr>
                  <a:t> 	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NZ" altLang="ja-JP" sz="18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NZ" altLang="ja-JP" sz="18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  <m:mr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NZ" altLang="ja-JP" sz="1800" i="1" dirty="0">
                    <a:solidFill>
                      <a:schemeClr val="bg2">
                        <a:lumMod val="50000"/>
                      </a:schemeClr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       …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NZ" altLang="ja-JP" sz="18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en-NZ" altLang="ja-JP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8EBD266-0575-BFB8-713F-0B7D0DF8D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22" y="3842321"/>
                <a:ext cx="10372299" cy="799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E262E45-7E06-5AB0-0F6D-E9C3E127E67B}"/>
              </a:ext>
            </a:extLst>
          </p:cNvPr>
          <p:cNvSpPr txBox="1">
            <a:spLocks/>
          </p:cNvSpPr>
          <p:nvPr/>
        </p:nvSpPr>
        <p:spPr>
          <a:xfrm>
            <a:off x="450371" y="3659218"/>
            <a:ext cx="1357262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180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w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here…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082F0380-ECB7-008B-1240-D8BB9376D4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944" y="4666502"/>
                <a:ext cx="11232109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 </a:t>
                </a:r>
                <a:r>
                  <a:rPr kumimoji="1" lang="en-NZ" altLang="ja-JP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= 1 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we have…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+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082F0380-ECB7-008B-1240-D8BB9376D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44" y="4666502"/>
                <a:ext cx="11232109" cy="474953"/>
              </a:xfrm>
              <a:prstGeom prst="rect">
                <a:avLst/>
              </a:prstGeom>
              <a:blipFill>
                <a:blip r:embed="rId6"/>
                <a:stretch>
                  <a:fillRect l="-489" t="-649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F069C849-E469-FE05-50AC-F06EBA8626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944" y="5058428"/>
                <a:ext cx="11232109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 </a:t>
                </a:r>
                <a:r>
                  <a:rPr kumimoji="1" lang="en-NZ" altLang="ja-JP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= 2 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we have…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 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+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F069C849-E469-FE05-50AC-F06EBA862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44" y="5058428"/>
                <a:ext cx="11232109" cy="474953"/>
              </a:xfrm>
              <a:prstGeom prst="rect">
                <a:avLst/>
              </a:prstGeom>
              <a:blipFill>
                <a:blip r:embed="rId7"/>
                <a:stretch>
                  <a:fillRect l="-489" t="-641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49F985D9-C2DB-4BDD-BD1E-D86EB85694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9893" y="5398016"/>
                <a:ext cx="479948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49F985D9-C2DB-4BDD-BD1E-D86EB8569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93" y="5398016"/>
                <a:ext cx="479948" cy="4749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22A7FAB-DF2B-309D-0A5C-0407FE722D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1" y="5717669"/>
                <a:ext cx="11232109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 </a:t>
                </a:r>
                <a:r>
                  <a:rPr kumimoji="1" lang="en-NZ" altLang="ja-JP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</a:t>
                </a:r>
                <a:r>
                  <a:rPr kumimoji="1" lang="en-NZ" altLang="ja-JP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= p-1 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we have…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   </m:t>
                        </m:r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=  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+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222A7FAB-DF2B-309D-0A5C-0407FE722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1" y="5717669"/>
                <a:ext cx="11232109" cy="474953"/>
              </a:xfrm>
              <a:prstGeom prst="rect">
                <a:avLst/>
              </a:prstGeom>
              <a:blipFill>
                <a:blip r:embed="rId9"/>
                <a:stretch>
                  <a:fillRect l="-489" t="-641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C527353C-5260-8694-881E-C7737EA4DA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36041" y="5427950"/>
                <a:ext cx="479948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C527353C-5260-8694-881E-C7737EA4D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041" y="5427950"/>
                <a:ext cx="479948" cy="4749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33E176F3-DAAB-4C52-0B75-B0B44CF422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8640" y="5427949"/>
                <a:ext cx="479948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7" name="Text Placeholder 5">
                <a:extLst>
                  <a:ext uri="{FF2B5EF4-FFF2-40B4-BE49-F238E27FC236}">
                    <a16:creationId xmlns:a16="http://schemas.microsoft.com/office/drawing/2014/main" id="{33E176F3-DAAB-4C52-0B75-B0B44CF42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640" y="5427949"/>
                <a:ext cx="479948" cy="4749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14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7" grpId="0"/>
      <p:bldP spid="9" grpId="0"/>
      <p:bldP spid="11" grpId="0"/>
      <p:bldP spid="12" grpId="0"/>
      <p:bldP spid="13" grpId="0"/>
      <p:bldP spid="15" grpId="0"/>
      <p:bldP spid="16" grpId="0"/>
      <p:bldP spid="1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04EE7A2-E10A-42E2-99A8-1B1AA534C99F}"/>
              </a:ext>
            </a:extLst>
          </p:cNvPr>
          <p:cNvSpPr txBox="1">
            <a:spLocks/>
          </p:cNvSpPr>
          <p:nvPr/>
        </p:nvSpPr>
        <p:spPr>
          <a:xfrm>
            <a:off x="450374" y="999005"/>
            <a:ext cx="11232109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Suppose that we have a total of 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= 1, …, p - 1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population groups that are:</a:t>
            </a: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89B1FAF-0C94-41B0-BA8D-2B272D7F35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9893" y="1354105"/>
                <a:ext cx="3571164" cy="10888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Independent</a:t>
                </a:r>
              </a:p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Normally distributed</a:t>
                </a:r>
              </a:p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Have homogenous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𝝈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89B1FAF-0C94-41B0-BA8D-2B272D7F3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93" y="1354105"/>
                <a:ext cx="3571164" cy="1088844"/>
              </a:xfrm>
              <a:prstGeom prst="rect">
                <a:avLst/>
              </a:prstGeom>
              <a:blipFill>
                <a:blip r:embed="rId3"/>
                <a:stretch>
                  <a:fillRect l="-1365" t="-279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0C63D6FA-7320-4A48-AD12-BBC4E6F004CE}"/>
              </a:ext>
            </a:extLst>
          </p:cNvPr>
          <p:cNvSpPr/>
          <p:nvPr/>
        </p:nvSpPr>
        <p:spPr>
          <a:xfrm rot="10800000">
            <a:off x="4464827" y="1473958"/>
            <a:ext cx="356383" cy="7233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36D8EFD-683A-42C0-9C97-3217D66EFF82}"/>
              </a:ext>
            </a:extLst>
          </p:cNvPr>
          <p:cNvSpPr txBox="1">
            <a:spLocks/>
          </p:cNvSpPr>
          <p:nvPr/>
        </p:nvSpPr>
        <p:spPr>
          <a:xfrm>
            <a:off x="4912309" y="1636496"/>
            <a:ext cx="3250441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ANOVA Conditions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577E44-D06D-45FD-8DB4-9F586C0B1356}"/>
              </a:ext>
            </a:extLst>
          </p:cNvPr>
          <p:cNvSpPr txBox="1">
            <a:spLocks/>
          </p:cNvSpPr>
          <p:nvPr/>
        </p:nvSpPr>
        <p:spPr>
          <a:xfrm>
            <a:off x="450373" y="2237762"/>
            <a:ext cx="11232109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Further suppose that we are interested in whether or not the means of these groups are the same.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0F00C90-115D-460E-B368-BB54B6577575}"/>
              </a:ext>
            </a:extLst>
          </p:cNvPr>
          <p:cNvSpPr txBox="1">
            <a:spLocks/>
          </p:cNvSpPr>
          <p:nvPr/>
        </p:nvSpPr>
        <p:spPr>
          <a:xfrm>
            <a:off x="450372" y="2834750"/>
            <a:ext cx="11232109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take a sample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observations 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</a:t>
            </a:r>
            <a:r>
              <a:rPr kumimoji="1" lang="en-NZ" altLang="ja-JP" sz="18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from each group)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model the </a:t>
            </a:r>
            <a:r>
              <a:rPr lang="en-NZ" altLang="ja-JP" sz="18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j</a:t>
            </a:r>
            <a:r>
              <a:rPr kumimoji="1" lang="en-NZ" altLang="ja-JP" sz="1800" b="1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observation in group </a:t>
            </a:r>
            <a:r>
              <a:rPr lang="en-NZ" altLang="ja-JP" sz="18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as: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54F5D7F-47CE-4930-8A92-E54B47DB71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2" y="3272504"/>
                <a:ext cx="11232108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NZ" altLang="ja-JP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+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…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54F5D7F-47CE-4930-8A92-E54B47DB7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2" y="3272504"/>
                <a:ext cx="11232108" cy="4749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8EBD266-0575-BFB8-713F-0B7D0DF8DA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922" y="3842321"/>
                <a:ext cx="10372299" cy="7999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(0, </m:t>
                    </m:r>
                    <m:sSup>
                      <m:sSupPr>
                        <m:ctrlPr>
                          <a:rPr lang="en-NZ" altLang="ja-JP" sz="18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i="1" dirty="0">
                    <a:solidFill>
                      <a:schemeClr val="bg2">
                        <a:lumMod val="50000"/>
                      </a:schemeClr>
                    </a:solidFill>
                  </a:rPr>
                  <a:t> 	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NZ" altLang="ja-JP" sz="18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NZ" altLang="ja-JP" sz="18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  <m:mr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NZ" altLang="ja-JP" sz="1800" i="1" dirty="0">
                    <a:solidFill>
                      <a:schemeClr val="bg2">
                        <a:lumMod val="50000"/>
                      </a:schemeClr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       …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NZ" altLang="ja-JP" sz="18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en-NZ" altLang="ja-JP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8EBD266-0575-BFB8-713F-0B7D0DF8D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22" y="3842321"/>
                <a:ext cx="10372299" cy="799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E262E45-7E06-5AB0-0F6D-E9C3E127E67B}"/>
              </a:ext>
            </a:extLst>
          </p:cNvPr>
          <p:cNvSpPr txBox="1">
            <a:spLocks/>
          </p:cNvSpPr>
          <p:nvPr/>
        </p:nvSpPr>
        <p:spPr>
          <a:xfrm>
            <a:off x="450371" y="3659218"/>
            <a:ext cx="1357262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180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w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here…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C59CDB8E-1C08-0F74-E12E-3C42550CE7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218" y="5031180"/>
                <a:ext cx="11232107" cy="43415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𝝁</m:t>
                    </m:r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 the population mean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NZ" altLang="ja-JP" sz="1800" dirty="0">
                    <a:solidFill>
                      <a:prstClr val="black"/>
                    </a:solidFill>
                  </a:rPr>
                  <a:t> is the ‘effect’ of group </a:t>
                </a:r>
                <a:r>
                  <a:rPr lang="en-NZ" altLang="ja-JP" sz="1800" i="1" dirty="0" err="1">
                    <a:solidFill>
                      <a:prstClr val="black"/>
                    </a:solidFill>
                  </a:rPr>
                  <a:t>i</a:t>
                </a: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C59CDB8E-1C08-0F74-E12E-3C42550CE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18" y="5031180"/>
                <a:ext cx="11232107" cy="434157"/>
              </a:xfrm>
              <a:prstGeom prst="rect">
                <a:avLst/>
              </a:prstGeom>
              <a:blipFill>
                <a:blip r:embed="rId6"/>
                <a:stretch>
                  <a:fillRect t="-6944" b="-5556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4FFCD69-2802-E065-CD51-8D88B0C31758}"/>
              </a:ext>
            </a:extLst>
          </p:cNvPr>
          <p:cNvSpPr txBox="1">
            <a:spLocks/>
          </p:cNvSpPr>
          <p:nvPr/>
        </p:nvSpPr>
        <p:spPr>
          <a:xfrm>
            <a:off x="450371" y="5503895"/>
            <a:ext cx="10986452" cy="4341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… and </a:t>
            </a:r>
            <a:r>
              <a:rPr kumimoji="1" lang="en-NZ" altLang="ja-JP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model collapses to the usual one-way ANOVA model</a:t>
            </a: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D5AB72EE-FC2A-D0BE-4FA3-DD258D3F58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97204" y="5920933"/>
                <a:ext cx="7997592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=     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≡    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NZ" altLang="ja-JP" sz="1800" b="1" dirty="0">
                    <a:solidFill>
                      <a:srgbClr val="C00000"/>
                    </a:solidFill>
                  </a:rPr>
                  <a:t>  </a:t>
                </a:r>
              </a:p>
              <a:p>
                <a:pPr algn="just">
                  <a:lnSpc>
                    <a:spcPct val="100000"/>
                  </a:lnSpc>
                </a:pPr>
                <a:endParaRPr lang="en-NZ" altLang="ja-JP" sz="1800" b="1" dirty="0">
                  <a:solidFill>
                    <a:srgbClr val="C00000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NZ" altLang="ja-JP" sz="1800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D5AB72EE-FC2A-D0BE-4FA3-DD258D3F5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204" y="5920933"/>
                <a:ext cx="7997592" cy="4749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0735C1B-8F8F-E691-97C9-A458A81070F5}"/>
              </a:ext>
            </a:extLst>
          </p:cNvPr>
          <p:cNvSpPr txBox="1">
            <a:spLocks/>
          </p:cNvSpPr>
          <p:nvPr/>
        </p:nvSpPr>
        <p:spPr>
          <a:xfrm>
            <a:off x="450372" y="4666543"/>
            <a:ext cx="4258106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In which case model coefficients become</a:t>
            </a:r>
            <a:r>
              <a:rPr lang="en-NZ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…</a:t>
            </a:r>
            <a:endParaRPr kumimoji="1" lang="en-NZ" altLang="ja-JP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4" name="Title 6">
            <a:extLst>
              <a:ext uri="{FF2B5EF4-FFF2-40B4-BE49-F238E27FC236}">
                <a16:creationId xmlns:a16="http://schemas.microsoft.com/office/drawing/2014/main" id="{428EEB75-3310-1153-6767-D62BD3111117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647116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6.9a – One-Way ANOVA (GLM Framework):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140D3B5E-BA8A-5FB9-EC40-02E0D10BC066}"/>
              </a:ext>
            </a:extLst>
          </p:cNvPr>
          <p:cNvSpPr txBox="1">
            <a:spLocks/>
          </p:cNvSpPr>
          <p:nvPr/>
        </p:nvSpPr>
        <p:spPr>
          <a:xfrm>
            <a:off x="8549089" y="86139"/>
            <a:ext cx="3540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6.9 – ANOVA in</a:t>
            </a:r>
            <a:r>
              <a:rPr kumimoji="1" lang="en-US" altLang="ja-JP" sz="1600" b="0" i="0" u="none" strike="noStrike" kern="1200" cap="none" spc="0" normalizeH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 the GLM Framework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006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04EE7A2-E10A-42E2-99A8-1B1AA534C99F}"/>
              </a:ext>
            </a:extLst>
          </p:cNvPr>
          <p:cNvSpPr txBox="1">
            <a:spLocks/>
          </p:cNvSpPr>
          <p:nvPr/>
        </p:nvSpPr>
        <p:spPr>
          <a:xfrm>
            <a:off x="450374" y="999005"/>
            <a:ext cx="11232109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Suppose that we have a total of 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= 1, …, p - 1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population groups that are:</a:t>
            </a: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89B1FAF-0C94-41B0-BA8D-2B272D7F35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9893" y="1354105"/>
                <a:ext cx="3571164" cy="108884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Independent</a:t>
                </a:r>
              </a:p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Normally distributed</a:t>
                </a:r>
              </a:p>
              <a:p>
                <a:pPr marL="400050" marR="0" lvl="0" indent="-40005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romanUcPeriod"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Have homogenous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𝝈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4" name="Text Placeholder 5">
                <a:extLst>
                  <a:ext uri="{FF2B5EF4-FFF2-40B4-BE49-F238E27FC236}">
                    <a16:creationId xmlns:a16="http://schemas.microsoft.com/office/drawing/2014/main" id="{189B1FAF-0C94-41B0-BA8D-2B272D7F3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93" y="1354105"/>
                <a:ext cx="3571164" cy="1088844"/>
              </a:xfrm>
              <a:prstGeom prst="rect">
                <a:avLst/>
              </a:prstGeom>
              <a:blipFill>
                <a:blip r:embed="rId3"/>
                <a:stretch>
                  <a:fillRect l="-1365" t="-279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0C63D6FA-7320-4A48-AD12-BBC4E6F004CE}"/>
              </a:ext>
            </a:extLst>
          </p:cNvPr>
          <p:cNvSpPr/>
          <p:nvPr/>
        </p:nvSpPr>
        <p:spPr>
          <a:xfrm rot="10800000">
            <a:off x="4464827" y="1473958"/>
            <a:ext cx="356383" cy="7233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36D8EFD-683A-42C0-9C97-3217D66EFF82}"/>
              </a:ext>
            </a:extLst>
          </p:cNvPr>
          <p:cNvSpPr txBox="1">
            <a:spLocks/>
          </p:cNvSpPr>
          <p:nvPr/>
        </p:nvSpPr>
        <p:spPr>
          <a:xfrm>
            <a:off x="4912309" y="1636496"/>
            <a:ext cx="3250441" cy="4323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ANOVA Conditions</a:t>
            </a:r>
            <a:endParaRPr kumimoji="1" lang="en-NZ" altLang="ja-JP" sz="16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6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577E44-D06D-45FD-8DB4-9F586C0B1356}"/>
              </a:ext>
            </a:extLst>
          </p:cNvPr>
          <p:cNvSpPr txBox="1">
            <a:spLocks/>
          </p:cNvSpPr>
          <p:nvPr/>
        </p:nvSpPr>
        <p:spPr>
          <a:xfrm>
            <a:off x="450373" y="2237762"/>
            <a:ext cx="11232109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Further suppose that we are interested in whether or not the means of these groups are the same.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0F00C90-115D-460E-B368-BB54B6577575}"/>
              </a:ext>
            </a:extLst>
          </p:cNvPr>
          <p:cNvSpPr txBox="1">
            <a:spLocks/>
          </p:cNvSpPr>
          <p:nvPr/>
        </p:nvSpPr>
        <p:spPr>
          <a:xfrm>
            <a:off x="450372" y="2834750"/>
            <a:ext cx="11232109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take a sample of 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observations </a:t>
            </a:r>
            <a:r>
              <a:rPr kumimoji="1" lang="en-NZ" altLang="ja-JP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(</a:t>
            </a:r>
            <a:r>
              <a:rPr kumimoji="1" lang="en-NZ" altLang="ja-JP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</a:t>
            </a:r>
            <a:r>
              <a:rPr kumimoji="1" lang="en-NZ" altLang="ja-JP" sz="1800" b="1" i="1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from each group)</a:t>
            </a:r>
            <a:r>
              <a:rPr kumimoji="1" lang="en-NZ" altLang="ja-JP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. 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model the </a:t>
            </a:r>
            <a:r>
              <a:rPr lang="en-NZ" altLang="ja-JP" sz="18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j</a:t>
            </a:r>
            <a:r>
              <a:rPr kumimoji="1" lang="en-NZ" altLang="ja-JP" sz="1800" b="1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observation in group </a:t>
            </a:r>
            <a:r>
              <a:rPr lang="en-NZ" altLang="ja-JP" sz="1800" b="1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i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as: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54F5D7F-47CE-4930-8A92-E54B47DB71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2" y="3272504"/>
                <a:ext cx="11232108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NZ" altLang="ja-JP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NZ" altLang="ja-JP" sz="1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+ 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…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𝜷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𝒑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+   </m:t>
                      </m:r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𝝐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𝒊𝒋</m:t>
                          </m:r>
                        </m:sub>
                      </m:sSub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2" name="Text Placeholder 5">
                <a:extLst>
                  <a:ext uri="{FF2B5EF4-FFF2-40B4-BE49-F238E27FC236}">
                    <a16:creationId xmlns:a16="http://schemas.microsoft.com/office/drawing/2014/main" id="{B54F5D7F-47CE-4930-8A92-E54B47DB7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2" y="3272504"/>
                <a:ext cx="11232108" cy="4749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8EBD266-0575-BFB8-713F-0B7D0DF8DA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922" y="3842321"/>
                <a:ext cx="10372299" cy="79999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(0, </m:t>
                    </m:r>
                    <m:sSup>
                      <m:sSupPr>
                        <m:ctrlPr>
                          <a:rPr lang="en-NZ" altLang="ja-JP" sz="18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altLang="ja-JP" sz="1800" i="1" dirty="0">
                    <a:solidFill>
                      <a:schemeClr val="bg2">
                        <a:lumMod val="50000"/>
                      </a:schemeClr>
                    </a:solidFill>
                  </a:rPr>
                  <a:t> 	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NZ" altLang="ja-JP" sz="18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NZ" altLang="ja-JP" sz="180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  <m:mr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NZ" altLang="ja-JP" sz="1800" i="1" dirty="0">
                    <a:solidFill>
                      <a:schemeClr val="bg2">
                        <a:lumMod val="50000"/>
                      </a:schemeClr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        …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NZ" altLang="ja-JP" sz="18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NZ" altLang="ja-JP" sz="1800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NZ" altLang="ja-JP" sz="1800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NZ" altLang="ja-JP" sz="1800" i="1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NZ" altLang="ja-JP" sz="1800" b="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en-NZ" altLang="ja-JP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i="1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50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8EBD266-0575-BFB8-713F-0B7D0DF8D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922" y="3842321"/>
                <a:ext cx="10372299" cy="799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E262E45-7E06-5AB0-0F6D-E9C3E127E67B}"/>
              </a:ext>
            </a:extLst>
          </p:cNvPr>
          <p:cNvSpPr txBox="1">
            <a:spLocks/>
          </p:cNvSpPr>
          <p:nvPr/>
        </p:nvSpPr>
        <p:spPr>
          <a:xfrm>
            <a:off x="450371" y="3659218"/>
            <a:ext cx="1357262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1800" dirty="0">
                <a:solidFill>
                  <a:schemeClr val="bg2">
                    <a:lumMod val="50000"/>
                  </a:schemeClr>
                </a:solidFill>
                <a:latin typeface="Calibri" panose="020F0502020204030204"/>
                <a:ea typeface="游ゴシック" panose="020B0400000000000000" pitchFamily="34" charset="-128"/>
              </a:rPr>
              <a:t>w</a:t>
            </a: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here…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D5AB72EE-FC2A-D0BE-4FA3-DD258D3F58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65275" y="4633657"/>
                <a:ext cx="7997592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=     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≡    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NZ" altLang="ja-JP" sz="1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NZ" altLang="ja-JP" sz="1800" b="1" dirty="0">
                    <a:solidFill>
                      <a:srgbClr val="C00000"/>
                    </a:solidFill>
                  </a:rPr>
                  <a:t>  </a:t>
                </a:r>
              </a:p>
              <a:p>
                <a:pPr algn="just">
                  <a:lnSpc>
                    <a:spcPct val="100000"/>
                  </a:lnSpc>
                </a:pPr>
                <a:endParaRPr lang="en-NZ" altLang="ja-JP" sz="1800" b="1" dirty="0">
                  <a:solidFill>
                    <a:srgbClr val="C00000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NZ" altLang="ja-JP" sz="1800" b="1" i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 Placeholder 5">
                <a:extLst>
                  <a:ext uri="{FF2B5EF4-FFF2-40B4-BE49-F238E27FC236}">
                    <a16:creationId xmlns:a16="http://schemas.microsoft.com/office/drawing/2014/main" id="{D5AB72EE-FC2A-D0BE-4FA3-DD258D3F5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5275" y="4633657"/>
                <a:ext cx="7997592" cy="4749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D03AC47-E338-AFE9-4EBC-899804925D0E}"/>
              </a:ext>
            </a:extLst>
          </p:cNvPr>
          <p:cNvSpPr txBox="1">
            <a:spLocks/>
          </p:cNvSpPr>
          <p:nvPr/>
        </p:nvSpPr>
        <p:spPr>
          <a:xfrm>
            <a:off x="450374" y="5102125"/>
            <a:ext cx="3600736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We wish to test the hypotheses:</a:t>
            </a:r>
            <a:endParaRPr kumimoji="1" lang="en-NZ" altLang="ja-JP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BC27EEFB-C48A-42E0-441F-8BC61AA353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51520" y="5424252"/>
                <a:ext cx="1123854" cy="4879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↔</m:t>
                      </m:r>
                    </m:oMath>
                  </m:oMathPara>
                </a14:m>
                <a:endParaRPr kumimoji="1" lang="en-NZ" altLang="ja-JP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32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BC27EEFB-C48A-42E0-441F-8BC61AA35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520" y="5424252"/>
                <a:ext cx="1123854" cy="4879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63F37BED-0CD9-6B2B-3953-4E39B7E048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24814" y="5459129"/>
                <a:ext cx="6803414" cy="116128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𝑯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:  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𝒀</m:t>
                            </m:r>
                          </m:e>
                          <m:sub>
                            <m: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𝒊</m:t>
                            </m:r>
                            <m: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,</m:t>
                            </m:r>
                            <m:r>
                              <a:rPr kumimoji="1" lang="en-NZ" altLang="ja-JP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𝒋</m:t>
                            </m:r>
                          </m:sub>
                        </m:s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= </m:t>
                        </m:r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𝜷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  <m:sub>
                        <m:r>
                          <a:rPr kumimoji="1" lang="en-NZ" altLang="ja-JP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𝒊𝒋</m:t>
                        </m:r>
                      </m:sub>
                    </m:sSub>
                    <m:r>
                      <a:rPr kumimoji="1" lang="en-NZ" altLang="ja-JP" sz="1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	</a:t>
                </a:r>
                <a:r>
                  <a:rPr kumimoji="1" lang="en-NZ" altLang="ja-JP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                   </a:t>
                </a:r>
                <a:r>
                  <a:rPr kumimoji="1" lang="en-NZ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  <a:t>reduced model is the true model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𝒀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𝒋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en-NZ" altLang="ja-JP" sz="16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NZ" altLang="ja-JP" sz="16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6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NZ" altLang="ja-JP" sz="16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NZ" altLang="ja-JP" sz="16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en-NZ" altLang="ja-JP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NZ" altLang="ja-JP" sz="16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6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en-NZ" altLang="ja-JP" sz="1600" b="1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NZ" altLang="ja-JP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NZ" altLang="ja-JP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NZ" altLang="ja-JP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NZ" altLang="ja-JP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NZ" altLang="ja-JP" sz="16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  <m:r>
                        <a:rPr lang="en-NZ" altLang="ja-JP" sz="16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+  </m:t>
                      </m:r>
                      <m:sSub>
                        <m:sSubPr>
                          <m:ctrlPr>
                            <a:rPr lang="en-NZ" altLang="ja-JP" sz="16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m:rPr>
                          <m:nor/>
                        </m:rPr>
                        <a:rPr lang="en-NZ" altLang="ja-JP" sz="16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complete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is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the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true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en-NZ" altLang="ja-JP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model</m:t>
                      </m:r>
                    </m:oMath>
                  </m:oMathPara>
                </a14:m>
                <a:br>
                  <a:rPr kumimoji="1" lang="en-NZ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游ゴシック" panose="020B0400000000000000" pitchFamily="34" charset="-128"/>
                    <a:cs typeface="+mn-cs"/>
                  </a:rPr>
                </a:br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63F37BED-0CD9-6B2B-3953-4E39B7E04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814" y="5459129"/>
                <a:ext cx="6803414" cy="1161282"/>
              </a:xfrm>
              <a:prstGeom prst="rect">
                <a:avLst/>
              </a:prstGeom>
              <a:blipFill>
                <a:blip r:embed="rId8"/>
                <a:stretch>
                  <a:fillRect t="-210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927C6EE5-8432-420A-0756-DD1186F8DB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373" y="5452304"/>
                <a:ext cx="4051111" cy="695961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  </m:t>
                      </m:r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𝜶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∀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…,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𝒑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𝑯</m:t>
                          </m:r>
                        </m:e>
                        <m:sub>
                          <m:r>
                            <a:rPr kumimoji="1" lang="en-NZ" altLang="ja-JP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: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sSub>
                        <m:sSubPr>
                          <m:ctrlPr>
                            <a:rPr lang="en-NZ" altLang="ja-JP" sz="16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6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en-NZ" altLang="ja-JP" sz="16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𝟎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𝒇𝒐𝒓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𝒔𝒐𝒎𝒆</m:t>
                      </m:r>
                      <m:r>
                        <a:rPr kumimoji="1" lang="en-NZ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</m:t>
                      </m:r>
                      <m:r>
                        <a:rPr kumimoji="1" lang="en-NZ" altLang="ja-JP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𝒊</m:t>
                      </m:r>
                    </m:oMath>
                  </m:oMathPara>
                </a14:m>
                <a:endParaRPr kumimoji="1" lang="en-NZ" altLang="ja-JP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5" name="Text Placeholder 5">
                <a:extLst>
                  <a:ext uri="{FF2B5EF4-FFF2-40B4-BE49-F238E27FC236}">
                    <a16:creationId xmlns:a16="http://schemas.microsoft.com/office/drawing/2014/main" id="{927C6EE5-8432-420A-0756-DD1186F8D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73" y="5452304"/>
                <a:ext cx="4051111" cy="6959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16F0C1E-3C90-C935-E3E2-3CB58041680C}"/>
              </a:ext>
            </a:extLst>
          </p:cNvPr>
          <p:cNvSpPr txBox="1">
            <a:spLocks/>
          </p:cNvSpPr>
          <p:nvPr/>
        </p:nvSpPr>
        <p:spPr>
          <a:xfrm>
            <a:off x="2792671" y="6481823"/>
            <a:ext cx="6606658" cy="3272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NZ" altLang="ja-JP" sz="1400" i="1" dirty="0">
                <a:solidFill>
                  <a:srgbClr val="E7E6E6">
                    <a:lumMod val="50000"/>
                  </a:srgbClr>
                </a:solidFill>
                <a:latin typeface="Calibri" panose="020F0502020204030204"/>
                <a:ea typeface="游ゴシック" panose="020B0400000000000000" pitchFamily="34" charset="-128"/>
              </a:rPr>
              <a:t>Note that q = p-1 variables have been removed from the complete model</a:t>
            </a:r>
            <a:endParaRPr kumimoji="1" lang="en-NZ" altLang="ja-JP" sz="1400" b="1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400" b="0" i="1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7" name="Title 6">
            <a:extLst>
              <a:ext uri="{FF2B5EF4-FFF2-40B4-BE49-F238E27FC236}">
                <a16:creationId xmlns:a16="http://schemas.microsoft.com/office/drawing/2014/main" id="{E3D71CC4-9336-37A3-3C67-5BFDAD1BA766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647116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6.9a – One-Way ANOVA (GLM Framework):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E083B0F0-9C39-BAB9-52E9-D0F1D949D056}"/>
              </a:ext>
            </a:extLst>
          </p:cNvPr>
          <p:cNvSpPr txBox="1">
            <a:spLocks/>
          </p:cNvSpPr>
          <p:nvPr/>
        </p:nvSpPr>
        <p:spPr>
          <a:xfrm>
            <a:off x="8549089" y="86139"/>
            <a:ext cx="3540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6.9 – ANOVA in</a:t>
            </a:r>
            <a:r>
              <a:rPr kumimoji="1" lang="en-US" altLang="ja-JP" sz="1600" b="0" i="0" u="none" strike="noStrike" kern="1200" cap="none" spc="0" normalizeH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 the GLM Framework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16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1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04EE7A2-E10A-42E2-99A8-1B1AA534C99F}"/>
              </a:ext>
            </a:extLst>
          </p:cNvPr>
          <p:cNvSpPr txBox="1">
            <a:spLocks/>
          </p:cNvSpPr>
          <p:nvPr/>
        </p:nvSpPr>
        <p:spPr>
          <a:xfrm>
            <a:off x="450374" y="999005"/>
            <a:ext cx="4299047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RSS for the reduced model is given by: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D69F3D2D-A87A-442A-80DD-D70094B611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9964" y="1289207"/>
                <a:ext cx="3723057" cy="474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NZ" altLang="ja-JP" sz="1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𝐑𝐒𝐒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NZ" altLang="ja-JP" sz="18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𝛃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kumimoji="1" lang="en-NZ" altLang="ja-JP" sz="18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𝟎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kumimoji="1" lang="en-NZ" altLang="ja-JP" sz="1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  </m:t>
                    </m:r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𝐢</m:t>
                        </m:r>
                        <m: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𝐩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kumimoji="1" lang="en-NZ" altLang="ja-JP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NZ" altLang="ja-JP" sz="1800" b="1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𝐣</m:t>
                            </m:r>
                            <m:r>
                              <a:rPr kumimoji="1" lang="en-NZ" altLang="ja-JP" sz="1800" b="1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</m:t>
                            </m:r>
                            <m:r>
                              <a:rPr kumimoji="1" lang="en-NZ" altLang="ja-JP" sz="1800" b="1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𝟏</m:t>
                            </m:r>
                          </m:sub>
                          <m:sup>
                            <m:sSub>
                              <m:sSubPr>
                                <m:ctrlPr>
                                  <a:rPr kumimoji="1" lang="en-NZ" altLang="ja-JP" sz="18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𝐧</m:t>
                                </m:r>
                              </m:e>
                              <m:sub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𝐢</m:t>
                                </m:r>
                              </m:sub>
                            </m:sSub>
                          </m:sup>
                          <m:e>
                            <m:sSubSup>
                              <m:sSubSupPr>
                                <m:ctrlPr>
                                  <a:rPr kumimoji="1" lang="en-NZ" altLang="ja-JP" sz="18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𝐘</m:t>
                                </m:r>
                              </m:e>
                              <m:sub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𝐢𝐣</m:t>
                                </m:r>
                              </m:sub>
                              <m:sup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</m:sup>
                            </m:sSubSup>
                          </m:e>
                        </m:nary>
                        <m: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 − </m:t>
                        </m:r>
                        <m:f>
                          <m:fPr>
                            <m:ctrlPr>
                              <a:rPr kumimoji="1" lang="en-NZ" altLang="ja-JP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𝐆</m:t>
                                </m:r>
                              </m:e>
                              <m:sup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NZ" altLang="ja-JP" sz="1800" b="1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𝐧</m:t>
                            </m:r>
                          </m:den>
                        </m:f>
                      </m:e>
                    </m:nary>
                  </m:oMath>
                </a14:m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D69F3D2D-A87A-442A-80DD-D70094B61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964" y="1289207"/>
                <a:ext cx="3723057" cy="474953"/>
              </a:xfrm>
              <a:prstGeom prst="rect">
                <a:avLst/>
              </a:prstGeom>
              <a:blipFill>
                <a:blip r:embed="rId3"/>
                <a:stretch>
                  <a:fillRect b="-2051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5F3D5A77-3E05-4A91-9583-37D5B5B2CB3A}"/>
              </a:ext>
            </a:extLst>
          </p:cNvPr>
          <p:cNvSpPr txBox="1">
            <a:spLocks/>
          </p:cNvSpPr>
          <p:nvPr/>
        </p:nvSpPr>
        <p:spPr>
          <a:xfrm>
            <a:off x="450374" y="2120149"/>
            <a:ext cx="4299047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The RSS for the complete model is given by: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095C8FCC-E9E6-4739-9A68-7545ECC858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9964" y="2359215"/>
                <a:ext cx="4618752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NZ" altLang="ja-JP" sz="1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𝐑𝐒𝐒</m:t>
                    </m:r>
                    <m:d>
                      <m:dPr>
                        <m:ctrlPr>
                          <a:rPr kumimoji="1" lang="en-NZ" altLang="ja-JP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1" lang="en-NZ" altLang="ja-JP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1" lang="en-NZ" altLang="ja-JP" sz="18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𝛃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kumimoji="1" lang="en-NZ" altLang="ja-JP" sz="18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𝐇</m:t>
                                </m:r>
                              </m:e>
                              <m:sub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kumimoji="1" lang="en-NZ" altLang="ja-JP" sz="18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  </m:t>
                    </m:r>
                    <m:nary>
                      <m:naryPr>
                        <m:chr m:val="∑"/>
                        <m:ctrlPr>
                          <a:rPr kumimoji="1" lang="en-NZ" altLang="ja-JP" sz="18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𝐢</m:t>
                        </m:r>
                        <m: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  <m:sup>
                        <m: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𝐩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kumimoji="1" lang="en-NZ" altLang="ja-JP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NZ" altLang="ja-JP" sz="1800" b="1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𝐣</m:t>
                            </m:r>
                            <m:r>
                              <a:rPr kumimoji="1" lang="en-NZ" altLang="ja-JP" sz="1800" b="1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</m:t>
                            </m:r>
                            <m:r>
                              <a:rPr kumimoji="1" lang="en-NZ" altLang="ja-JP" sz="1800" b="1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𝟏</m:t>
                            </m:r>
                          </m:sub>
                          <m:sup>
                            <m:sSub>
                              <m:sSubPr>
                                <m:ctrlPr>
                                  <a:rPr kumimoji="1" lang="en-NZ" altLang="ja-JP" sz="18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𝐧</m:t>
                                </m:r>
                              </m:e>
                              <m:sub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𝐢</m:t>
                                </m:r>
                              </m:sub>
                            </m:sSub>
                          </m:sup>
                          <m:e>
                            <m:sSubSup>
                              <m:sSubSupPr>
                                <m:ctrlPr>
                                  <a:rPr kumimoji="1" lang="en-NZ" altLang="ja-JP" sz="18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𝐘</m:t>
                                </m:r>
                              </m:e>
                              <m:sub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𝐢𝐣</m:t>
                                </m:r>
                              </m:sub>
                              <m:sup>
                                <m:r>
                                  <a:rPr kumimoji="1" lang="en-NZ" altLang="ja-JP" sz="1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𝟐</m:t>
                                </m:r>
                              </m:sup>
                            </m:sSubSup>
                          </m:e>
                        </m:nary>
                        <m:r>
                          <a:rPr kumimoji="1" lang="en-NZ" altLang="ja-JP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 −  </m:t>
                        </m:r>
                        <m:nary>
                          <m:naryPr>
                            <m:chr m:val="∑"/>
                            <m:ctrlPr>
                              <a:rPr kumimoji="1" lang="en-NZ" altLang="ja-JP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NZ" altLang="ja-JP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𝒊</m:t>
                            </m:r>
                            <m:r>
                              <a:rPr kumimoji="1" lang="en-NZ" altLang="ja-JP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</m:t>
                            </m:r>
                            <m:r>
                              <a:rPr kumimoji="1" lang="en-NZ" altLang="ja-JP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𝟏</m:t>
                            </m:r>
                          </m:sub>
                          <m:sup>
                            <m:r>
                              <a:rPr kumimoji="1" lang="en-NZ" altLang="ja-JP" sz="1800" b="1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𝒑</m:t>
                            </m:r>
                          </m:sup>
                          <m:e>
                            <m:f>
                              <m:fPr>
                                <m:ctrlPr>
                                  <a:rPr kumimoji="1" lang="en-NZ" altLang="ja-JP" sz="1800" b="1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kumimoji="1" lang="en-NZ" altLang="ja-JP" sz="1800" b="1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kumimoji="1" lang="en-NZ" altLang="ja-JP" sz="1800" b="1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kumimoji="1" lang="en-NZ" altLang="ja-JP" sz="1800" b="1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𝟐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kumimoji="1" lang="en-NZ" altLang="ja-JP" sz="1800" b="1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kumimoji="1" lang="en-NZ" altLang="ja-JP" sz="1800" b="1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𝒊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e>
                    </m:nary>
                  </m:oMath>
                </a14:m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</a:t>
                </a: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095C8FCC-E9E6-4739-9A68-7545ECC85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964" y="2359215"/>
                <a:ext cx="4618752" cy="6753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F0C4FCC-B866-48D2-A665-852385B1D009}"/>
              </a:ext>
            </a:extLst>
          </p:cNvPr>
          <p:cNvSpPr txBox="1">
            <a:spLocks/>
          </p:cNvSpPr>
          <p:nvPr/>
        </p:nvSpPr>
        <p:spPr>
          <a:xfrm>
            <a:off x="468571" y="3279011"/>
            <a:ext cx="10959154" cy="474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 such, the F statistic required to test between the null and alternative hypothesis is given by: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Placeholder 5">
                <a:extLst>
                  <a:ext uri="{FF2B5EF4-FFF2-40B4-BE49-F238E27FC236}">
                    <a16:creationId xmlns:a16="http://schemas.microsoft.com/office/drawing/2014/main" id="{A66FED80-4234-4C3F-AA70-E30B999CF6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684" y="3794905"/>
                <a:ext cx="9080310" cy="77520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𝑭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=    </m:t>
                      </m:r>
                      <m:f>
                        <m:f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𝑹𝑺𝑺</m:t>
                                  </m:r>
                                  <m:d>
                                    <m:d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𝑯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𝟎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kumimoji="1" lang="en-NZ" altLang="ja-JP" sz="18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   −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800" b="1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 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𝑹𝑺𝑺</m:t>
                                  </m:r>
                                  <m:d>
                                    <m:dPr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𝜷</m:t>
                                              </m:r>
                                            </m:e>
                                            <m:sub>
                                              <m:sSub>
                                                <m:sSubPr>
                                                  <m:ctrlP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𝑯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NZ" altLang="ja-JP" sz="1800" b="1" i="1" u="none" strike="noStrike" kern="1200" cap="none" spc="0" normalizeH="0" baseline="0" noProof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𝑹𝑺𝑺</m:t>
                              </m:r>
                              <m:d>
                                <m:dPr>
                                  <m:ctrlP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NZ" altLang="ja-JP" sz="18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NZ" altLang="ja-JP" sz="1800" b="1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𝑯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800" b="1" i="1" u="none" strike="noStrike" kern="1200" cap="none" spc="0" normalizeH="0" baseline="0" noProof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≡    </m:t>
                      </m:r>
                      <m:f>
                        <m:fPr>
                          <m:ctrlPr>
                            <a:rPr kumimoji="1" lang="en-NZ" altLang="ja-JP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NZ" altLang="ja-JP" sz="1800" b="1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游ゴシック" panose="020B0400000000000000" pitchFamily="34" charset="-128"/>
                                      <a:cs typeface="+mn-cs"/>
                                    </a:rPr>
                                    <m:t>−   </m:t>
                                  </m:r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𝑺𝑺</m:t>
                                  </m:r>
                                  <m:sSub>
                                    <m:sSubPr>
                                      <m:ctrlP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𝑬</m:t>
                                      </m:r>
                                    </m:e>
                                    <m:sub>
                                      <m:r>
                                        <a:rPr kumimoji="1" lang="en-NZ" altLang="ja-JP" sz="18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𝑪</m:t>
                                      </m:r>
                                    </m:sub>
                                  </m:s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𝑺𝑺</m:t>
                              </m:r>
                              <m:sSub>
                                <m:sSub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𝑪</m:t>
                                  </m:r>
                                </m:sub>
                              </m:sSub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2" name="Text Placeholder 5">
                <a:extLst>
                  <a:ext uri="{FF2B5EF4-FFF2-40B4-BE49-F238E27FC236}">
                    <a16:creationId xmlns:a16="http://schemas.microsoft.com/office/drawing/2014/main" id="{A66FED80-4234-4C3F-AA70-E30B999CF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84" y="3794905"/>
                <a:ext cx="9080310" cy="7752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74F5F7D4-2847-461F-9B6E-FEB8754BBF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92154" y="4709434"/>
                <a:ext cx="7333397" cy="156496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    </m:t>
                      </m:r>
                      <m:f>
                        <m:f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kumimoji="1" lang="en-NZ" altLang="ja-JP" sz="18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kumimoji="1" lang="en-NZ" altLang="ja-JP" sz="18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𝒊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=</m:t>
                                      </m:r>
                                      <m:r>
                                        <a:rPr kumimoji="1" lang="en-NZ" altLang="ja-JP" sz="18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kumimoji="1" lang="en-NZ" altLang="ja-JP" sz="18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𝒑</m:t>
                                      </m:r>
                                    </m:sup>
                                    <m:e>
                                      <m:f>
                                        <m:fPr>
                                          <m:ctrlPr>
                                            <a:rPr kumimoji="1" lang="en-NZ" altLang="ja-JP" sz="1800" b="1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kumimoji="1" lang="en-NZ" altLang="ja-JP" sz="1800" b="1" i="1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𝑻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800" b="1" i="1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𝒊</m:t>
                                              </m:r>
                                            </m:sub>
                                            <m:sup>
                                              <m:r>
                                                <a:rPr kumimoji="1" lang="en-NZ" altLang="ja-JP" sz="1800" b="1" i="1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𝟐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1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𝒏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800" b="1" i="1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nary>
                                  <m:r>
                                    <a:rPr kumimoji="1" lang="en-NZ" altLang="ja-JP" sz="1800" b="1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  −</m:t>
                                  </m:r>
                                  <m:f>
                                    <m:fPr>
                                      <m:ctrlPr>
                                        <a:rPr kumimoji="1" lang="en-NZ" altLang="ja-JP" sz="18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kumimoji="1" lang="en-NZ" altLang="ja-JP" sz="1800" b="1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NZ" altLang="ja-JP" sz="1800" b="1" i="0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𝐆</m:t>
                                          </m:r>
                                        </m:e>
                                        <m:sup>
                                          <m:r>
                                            <a:rPr kumimoji="1" lang="en-NZ" altLang="ja-JP" sz="1800" b="1" i="0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kumimoji="1" lang="en-NZ" altLang="ja-JP" sz="1800" b="1" i="0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𝐧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( 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)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kumimoji="1" lang="en-NZ" altLang="ja-JP" sz="1800" b="1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kumimoji="1" lang="en-NZ" altLang="ja-JP" sz="1800" b="1" i="0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𝐢</m:t>
                                      </m:r>
                                      <m:r>
                                        <a:rPr kumimoji="1" lang="en-NZ" altLang="ja-JP" sz="1800" b="1" i="0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=</m:t>
                                      </m:r>
                                      <m:r>
                                        <a:rPr kumimoji="1" lang="en-NZ" altLang="ja-JP" sz="1800" b="1" i="0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kumimoji="1" lang="en-NZ" altLang="ja-JP" sz="1800" b="1" i="0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𝐩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kumimoji="1" lang="en-NZ" altLang="ja-JP" sz="1800" b="1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kumimoji="1" lang="en-NZ" altLang="ja-JP" sz="1800" b="1" i="0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𝐣</m:t>
                                          </m:r>
                                          <m:r>
                                            <a:rPr kumimoji="1" lang="en-NZ" altLang="ja-JP" sz="1800" b="1" i="0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=</m:t>
                                          </m:r>
                                          <m:r>
                                            <a:rPr kumimoji="1" lang="en-NZ" altLang="ja-JP" sz="1800" b="1" i="0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𝟏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kumimoji="1" lang="en-NZ" altLang="ja-JP" sz="1800" b="1" i="1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NZ" altLang="ja-JP" sz="1800" b="1" i="0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𝐧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800" b="1" i="0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𝐢</m:t>
                                              </m:r>
                                            </m:sub>
                                          </m:sSub>
                                        </m:sup>
                                        <m:e>
                                          <m:sSubSup>
                                            <m:sSubSupPr>
                                              <m:ctrlPr>
                                                <a:rPr kumimoji="1" lang="en-NZ" altLang="ja-JP" sz="1800" b="1" i="1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kumimoji="1" lang="en-NZ" altLang="ja-JP" sz="1800" b="1" i="0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𝐘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NZ" altLang="ja-JP" sz="1800" b="1" i="0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𝐢𝐣</m:t>
                                              </m:r>
                                            </m:sub>
                                            <m:sup>
                                              <m:r>
                                                <a:rPr kumimoji="1" lang="en-NZ" altLang="ja-JP" sz="1800" b="1" i="0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  <m:t>𝟐</m:t>
                                              </m:r>
                                            </m:sup>
                                          </m:sSubSup>
                                        </m:e>
                                      </m:nary>
                                      <m:r>
                                        <a:rPr kumimoji="1" lang="en-NZ" altLang="ja-JP" sz="1800" b="1" i="0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  −  </m:t>
                                      </m:r>
                                      <m:nary>
                                        <m:naryPr>
                                          <m:chr m:val="∑"/>
                                          <m:ctrlPr>
                                            <a:rPr kumimoji="1" lang="en-NZ" altLang="ja-JP" sz="1800" b="1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kumimoji="1" lang="en-NZ" altLang="ja-JP" sz="1800" b="1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𝒊</m:t>
                                          </m:r>
                                          <m:r>
                                            <a:rPr kumimoji="1" lang="en-NZ" altLang="ja-JP" sz="1800" b="1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=</m:t>
                                          </m:r>
                                          <m:r>
                                            <a:rPr kumimoji="1" lang="en-NZ" altLang="ja-JP" sz="1800" b="1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𝟏</m:t>
                                          </m:r>
                                        </m:sub>
                                        <m:sup>
                                          <m:r>
                                            <a:rPr kumimoji="1" lang="en-NZ" altLang="ja-JP" sz="1800" b="1" i="1" u="none" strike="noStrike" kern="1200" cap="none" spc="0" normalizeH="0" baseline="0" noProof="0" dirty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𝒑</m:t>
                                          </m:r>
                                        </m:sup>
                                        <m:e>
                                          <m:f>
                                            <m:fPr>
                                              <m:ctrlPr>
                                                <a:rPr kumimoji="1" lang="en-NZ" altLang="ja-JP" sz="1800" b="1" i="1" u="none" strike="noStrike" kern="1200" cap="none" spc="0" normalizeH="0" baseline="0" noProof="0" dirty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cs typeface="+mn-cs"/>
                                                </a:rPr>
                                              </m:ctrlPr>
                                            </m:fPr>
                                            <m:num>
                                              <m:sSubSup>
                                                <m:sSubSupPr>
                                                  <m:ctrlPr>
                                                    <a:rPr kumimoji="1" lang="en-NZ" altLang="ja-JP" sz="1800" b="1" i="1" u="none" strike="noStrike" kern="1200" cap="none" spc="0" normalizeH="0" baseline="0" noProof="0" dirty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kumimoji="1" lang="en-NZ" altLang="ja-JP" sz="1800" b="1" i="1" u="none" strike="noStrike" kern="1200" cap="none" spc="0" normalizeH="0" baseline="0" noProof="0" dirty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𝑻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NZ" altLang="ja-JP" sz="1800" b="1" i="1" u="none" strike="noStrike" kern="1200" cap="none" spc="0" normalizeH="0" baseline="0" noProof="0" dirty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kumimoji="1" lang="en-NZ" altLang="ja-JP" sz="1800" b="1" i="1" u="none" strike="noStrike" kern="1200" cap="none" spc="0" normalizeH="0" baseline="0" noProof="0" dirty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𝟐</m:t>
                                                  </m:r>
                                                </m:sup>
                                              </m:sSubSup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1" lang="en-NZ" altLang="ja-JP" sz="1800" b="1" i="1" u="none" strike="noStrike" kern="1200" cap="none" spc="0" normalizeH="0" baseline="0" noProof="0" dirty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NZ" altLang="ja-JP" sz="1800" b="1" i="1" u="none" strike="noStrike" kern="1200" cap="none" spc="0" normalizeH="0" baseline="0" noProof="0" dirty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NZ" altLang="ja-JP" sz="1800" b="1" i="1" u="none" strike="noStrike" kern="1200" cap="none" spc="0" normalizeH="0" baseline="0" noProof="0" dirty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cs typeface="+mn-cs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nary>
                                    </m:e>
                                  </m:nary>
                                </m:e>
                              </m:d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 </m:t>
                              </m:r>
                            </m:num>
                            <m:den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(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𝒏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−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𝒑</m:t>
                              </m:r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74F5F7D4-2847-461F-9B6E-FEB8754BB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154" y="4709434"/>
                <a:ext cx="7333397" cy="15649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35159204-17C2-3A20-76A3-94145541C650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5054899" y="1681545"/>
                <a:ext cx="1889879" cy="8935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NZ" altLang="ja-JP" sz="18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NZ" altLang="ja-JP" sz="1800" b="0" i="1" smtClean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NZ" altLang="ja-JP" sz="18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NZ" altLang="ja-JP" sz="1800" i="1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35159204-17C2-3A20-76A3-94145541C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054899" y="1681545"/>
                <a:ext cx="1889879" cy="8935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D210504-148F-1078-8EEB-F52E106B9B85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540609" y="1681545"/>
                <a:ext cx="2284942" cy="89353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8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NZ" altLang="ja-JP" sz="1800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NZ" altLang="ja-JP" sz="1800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NZ" altLang="ja-JP" sz="18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NZ" altLang="ja-JP" sz="18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NZ" altLang="ja-JP" sz="1800" i="1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NZ" altLang="ja-JP" sz="18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NZ" altLang="ja-JP" sz="1800" i="1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NZ" altLang="ja-JP" sz="18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NZ" altLang="ja-JP" sz="1800" b="0" i="1" smtClean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NZ" altLang="ja-JP" sz="18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NZ" altLang="ja-JP" sz="1800" i="1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D210504-148F-1078-8EEB-F52E106B9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40609" y="1681545"/>
                <a:ext cx="2284942" cy="8935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664669E-2B4E-C481-78CC-08C0A284043E}"/>
              </a:ext>
            </a:extLst>
          </p:cNvPr>
          <p:cNvSpPr txBox="1">
            <a:spLocks/>
          </p:cNvSpPr>
          <p:nvPr/>
        </p:nvSpPr>
        <p:spPr>
          <a:xfrm flipH="1">
            <a:off x="5900338" y="1392122"/>
            <a:ext cx="1889879" cy="3783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200" dirty="0">
                <a:solidFill>
                  <a:schemeClr val="bg2">
                    <a:lumMod val="50000"/>
                  </a:schemeClr>
                </a:solidFill>
              </a:rPr>
              <a:t>where</a:t>
            </a:r>
          </a:p>
          <a:p>
            <a:pPr algn="just">
              <a:lnSpc>
                <a:spcPct val="100000"/>
              </a:lnSpc>
            </a:pPr>
            <a:endParaRPr lang="en-NZ" altLang="ja-JP" sz="1200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E8027C-B655-30EC-8086-F0C516208E30}"/>
              </a:ext>
            </a:extLst>
          </p:cNvPr>
          <p:cNvSpPr txBox="1">
            <a:spLocks/>
          </p:cNvSpPr>
          <p:nvPr/>
        </p:nvSpPr>
        <p:spPr>
          <a:xfrm>
            <a:off x="6540608" y="4848525"/>
            <a:ext cx="4691499" cy="13803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Conclusion:</a:t>
            </a:r>
          </a:p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NZ" altLang="ja-JP" sz="200" b="1" u="sng" dirty="0">
              <a:solidFill>
                <a:srgbClr val="C0000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NZ" altLang="ja-JP" sz="200" b="1" dirty="0">
              <a:solidFill>
                <a:srgbClr val="C0000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0" marR="0" lvl="0" indent="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You can think of one-way (or indeed two-way ANOVA) as a special case of a likelihood ratio</a:t>
            </a:r>
            <a:r>
              <a:rPr kumimoji="1" lang="en-NZ" altLang="ja-JP" sz="1800" b="1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</a:t>
            </a: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test for a GLM.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 </a:t>
            </a: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NZ" altLang="ja-JP" sz="1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04D7CA43-E81D-90B8-027D-8B2D5C5F5F4B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647116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6.9a – One-Way ANOVA (GLM Framework):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C97D07F-EA9F-CF8B-0B80-ADAFAB258C59}"/>
              </a:ext>
            </a:extLst>
          </p:cNvPr>
          <p:cNvSpPr txBox="1">
            <a:spLocks/>
          </p:cNvSpPr>
          <p:nvPr/>
        </p:nvSpPr>
        <p:spPr>
          <a:xfrm>
            <a:off x="8549089" y="86139"/>
            <a:ext cx="35402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6.9 – ANOVA in</a:t>
            </a:r>
            <a:r>
              <a:rPr kumimoji="1" lang="en-US" altLang="ja-JP" sz="1600" b="0" i="0" u="none" strike="noStrike" kern="1200" cap="none" spc="0" normalizeH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 the GLM Framework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21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5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6071</TotalTime>
  <Words>7694</Words>
  <Application>Microsoft Office PowerPoint</Application>
  <PresentationFormat>Widescreen</PresentationFormat>
  <Paragraphs>1071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113</cp:revision>
  <dcterms:created xsi:type="dcterms:W3CDTF">2022-02-19T23:15:01Z</dcterms:created>
  <dcterms:modified xsi:type="dcterms:W3CDTF">2022-09-15T12:54:31Z</dcterms:modified>
</cp:coreProperties>
</file>