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8" r:id="rId5"/>
    <p:sldId id="337" r:id="rId6"/>
    <p:sldId id="338" r:id="rId7"/>
    <p:sldId id="340" r:id="rId8"/>
    <p:sldId id="336" r:id="rId9"/>
    <p:sldId id="341" r:id="rId10"/>
    <p:sldId id="342" r:id="rId11"/>
    <p:sldId id="343" r:id="rId12"/>
    <p:sldId id="344" r:id="rId13"/>
    <p:sldId id="345" r:id="rId14"/>
    <p:sldId id="347" r:id="rId15"/>
    <p:sldId id="348" r:id="rId16"/>
    <p:sldId id="350" r:id="rId17"/>
    <p:sldId id="35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CC"/>
    <a:srgbClr val="DE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87" d="100"/>
          <a:sy n="87" d="100"/>
        </p:scale>
        <p:origin x="726" y="9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317D-B4B3-49FF-A581-52DA3797B8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617D1B94-82C5-46E5-9EE1-28AB8A733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6EE43B2-B15D-4099-8746-DD99E50DB4FB}"/>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4025FC5E-0CE5-4FB9-9BB4-ECE697CDDB9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B777D2AF-5F8C-4771-98FC-EF00D77150BD}"/>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084452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383CE-5E9A-473E-8F92-32291246D8F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833230B0-AC0C-4B6E-A4F5-4FAC675DD8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EBAEB70-DC6E-4EE4-ABDB-D9F4B1250064}"/>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0AC9991B-0CBC-41B9-80F8-8DEAEE723B5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B4DD3A1-1FE1-4787-A35A-C16B93D6A33E}"/>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439920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14EA0-3971-4A70-AC19-921C78D902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62611F5-0784-4CBC-8768-D25827C13B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1B5F23-A571-41AA-B1EC-A876E11F8012}"/>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05AC112F-CDEB-4D92-ADE3-86AB8B71919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C9C8463-30EC-4EEA-A19B-D84CED3241F4}"/>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69060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969F9-639E-4E86-B905-361A72031D1E}"/>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42E7B1BF-80D7-4904-ACB2-42BD379AA3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9F29B174-563E-4F48-B5C9-95A627200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2711DC02-87F0-4A1D-814B-64EFA7C0B0B8}"/>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6" name="Footer Placeholder 5">
            <a:extLst>
              <a:ext uri="{FF2B5EF4-FFF2-40B4-BE49-F238E27FC236}">
                <a16:creationId xmlns:a16="http://schemas.microsoft.com/office/drawing/2014/main" id="{7248FCFA-D637-43EC-A9A3-E70338057CEA}"/>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384529AD-9E9D-4052-B7D9-D0ABBD46544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27183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600E-542F-4FAC-AAB5-8EC98DEDC74F}"/>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42A7919A-1454-4109-8BB4-8CC19322D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8D27C1-A966-4D82-8362-CDDD918F28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D60123ED-5724-478B-AD91-AB6F0B8609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8748A-2608-4871-83D6-9304E2F0E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59AE35C4-EDAF-4BD6-9BFC-1EA10B4AD446}"/>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8" name="Footer Placeholder 7">
            <a:extLst>
              <a:ext uri="{FF2B5EF4-FFF2-40B4-BE49-F238E27FC236}">
                <a16:creationId xmlns:a16="http://schemas.microsoft.com/office/drawing/2014/main" id="{C3FD6A4F-56CD-4B0A-B844-E166B45261DE}"/>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EF330B7D-9487-4FC0-9C56-2353E1DE7A65}"/>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960082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5C3C4-2906-41C1-88A2-141162399764}"/>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8C00F41E-FA6F-4E2A-82C4-91AA30005091}"/>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4" name="Footer Placeholder 3">
            <a:extLst>
              <a:ext uri="{FF2B5EF4-FFF2-40B4-BE49-F238E27FC236}">
                <a16:creationId xmlns:a16="http://schemas.microsoft.com/office/drawing/2014/main" id="{7FF7A56E-0DBD-4EA3-8EDD-71A7BE875146}"/>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2F5D2D90-D199-4D9E-8339-CDC5C773A0D2}"/>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371906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15A83-8386-4308-93A9-38AC8CB47362}"/>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3" name="Footer Placeholder 2">
            <a:extLst>
              <a:ext uri="{FF2B5EF4-FFF2-40B4-BE49-F238E27FC236}">
                <a16:creationId xmlns:a16="http://schemas.microsoft.com/office/drawing/2014/main" id="{02A18E28-C4E7-438B-8852-AAC550790CF8}"/>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A7789BCA-AF1F-4251-9148-6DC5AFDAD1EF}"/>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89886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047F-40DD-4BDF-9001-58E69C283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4302E97F-46A8-4EA1-BCDC-A7C11AC8A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CD83CF31-99FA-4CD7-88D6-06ACA4199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09333-1C32-4955-A275-956BBBC468CF}"/>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6" name="Footer Placeholder 5">
            <a:extLst>
              <a:ext uri="{FF2B5EF4-FFF2-40B4-BE49-F238E27FC236}">
                <a16:creationId xmlns:a16="http://schemas.microsoft.com/office/drawing/2014/main" id="{4A3C1F9E-9626-4A35-A52E-454BC798DD5B}"/>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12912061-68AF-49E0-BFE2-B0BDDAE2C13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138086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44005-25DC-4DE2-9B63-AFDA0D59C4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4FA3A2AC-6C82-44DD-87D0-DA52CB41B2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3F6E4F4-5787-4725-861E-C195BB844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202CCB-120B-4DD2-94BC-7891091CC8C4}"/>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6" name="Footer Placeholder 5">
            <a:extLst>
              <a:ext uri="{FF2B5EF4-FFF2-40B4-BE49-F238E27FC236}">
                <a16:creationId xmlns:a16="http://schemas.microsoft.com/office/drawing/2014/main" id="{E466A5B3-8827-476F-8183-918928FCD4B7}"/>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91A53B3C-10A8-4EA5-B6F7-D5CCA0B99E2B}"/>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403499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FF9CB-509B-46B8-B7D2-F360A55F5A7E}"/>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BBF0ECD0-22A1-406D-8DC1-17433E09BB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CDCFA5C-D24C-41B7-94F5-D416A1233975}"/>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44157DE0-7248-42FF-9572-C708D27A7A8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1AFB283-1E90-4BE8-911F-1C7EFE656FE8}"/>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296164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E2739-245C-4111-A3C2-73970E9127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44D012DF-D28D-4996-81BE-C8A9519B43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B93C28B-C11D-4ED0-8304-E677041EB680}"/>
              </a:ext>
            </a:extLst>
          </p:cNvPr>
          <p:cNvSpPr>
            <a:spLocks noGrp="1"/>
          </p:cNvSpPr>
          <p:nvPr>
            <p:ph type="dt" sz="half" idx="10"/>
          </p:nvPr>
        </p:nvSpPr>
        <p:spPr/>
        <p:txBody>
          <a:body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83E24285-CE19-4637-BFEA-02DA1668BA8D}"/>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9482C048-E851-4CE1-8616-62FDD1483A5A}"/>
              </a:ext>
            </a:extLst>
          </p:cNvPr>
          <p:cNvSpPr>
            <a:spLocks noGrp="1"/>
          </p:cNvSpPr>
          <p:nvPr>
            <p:ph type="sldNum" sz="quarter" idx="12"/>
          </p:nvPr>
        </p:nvSpPr>
        <p:spPr/>
        <p:txBody>
          <a:bodyPr/>
          <a:lstStyle/>
          <a:p>
            <a:fld id="{59492C7C-3FC3-4F92-9C7C-A099A49FCCC9}" type="slidenum">
              <a:rPr lang="en-NZ" smtClean="0"/>
              <a:t>‹#›</a:t>
            </a:fld>
            <a:endParaRPr lang="en-NZ"/>
          </a:p>
        </p:txBody>
      </p:sp>
    </p:spTree>
    <p:extLst>
      <p:ext uri="{BB962C8B-B14F-4D97-AF65-F5344CB8AC3E}">
        <p14:creationId xmlns:p14="http://schemas.microsoft.com/office/powerpoint/2010/main" val="7808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A7951-8353-4D37-9B17-202BEBF3FE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B06BFE0-9436-4E6B-AF5B-C732AEE495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234AF23-4F70-4BD2-943B-70BE8CCE5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A4C4C-8F90-4540-BA9B-F7C8969CE244}" type="datetimeFigureOut">
              <a:rPr lang="en-NZ" smtClean="0"/>
              <a:t>11/09/2022</a:t>
            </a:fld>
            <a:endParaRPr lang="en-NZ"/>
          </a:p>
        </p:txBody>
      </p:sp>
      <p:sp>
        <p:nvSpPr>
          <p:cNvPr id="5" name="Footer Placeholder 4">
            <a:extLst>
              <a:ext uri="{FF2B5EF4-FFF2-40B4-BE49-F238E27FC236}">
                <a16:creationId xmlns:a16="http://schemas.microsoft.com/office/drawing/2014/main" id="{D8C99E8B-B066-44AE-9836-C6C32D09A7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E0E5CC73-3019-45C0-9430-8C08AD9C2C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492C7C-3FC3-4F92-9C7C-A099A49FCCC9}" type="slidenum">
              <a:rPr lang="en-NZ" smtClean="0"/>
              <a:t>‹#›</a:t>
            </a:fld>
            <a:endParaRPr lang="en-NZ"/>
          </a:p>
        </p:txBody>
      </p:sp>
    </p:spTree>
    <p:extLst>
      <p:ext uri="{BB962C8B-B14F-4D97-AF65-F5344CB8AC3E}">
        <p14:creationId xmlns:p14="http://schemas.microsoft.com/office/powerpoint/2010/main" val="974031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7.png"/><Relationship Id="rId12"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9.png"/><Relationship Id="rId5" Type="http://schemas.openxmlformats.org/officeDocument/2006/relationships/image" Target="../media/image19.png"/><Relationship Id="rId10" Type="http://schemas.openxmlformats.org/officeDocument/2006/relationships/image" Target="../media/image6.png"/><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Programmes and courses | Study at Wellington | Victoria University of  Wellington">
            <a:extLst>
              <a:ext uri="{FF2B5EF4-FFF2-40B4-BE49-F238E27FC236}">
                <a16:creationId xmlns:a16="http://schemas.microsoft.com/office/drawing/2014/main" id="{087F352A-9067-4A20-840B-9F57464891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 r="1" b="1"/>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6EF4C4-5CC1-4D9D-A4EE-9A6C2CC6D81C}"/>
              </a:ext>
            </a:extLst>
          </p:cNvPr>
          <p:cNvSpPr txBox="1"/>
          <p:nvPr/>
        </p:nvSpPr>
        <p:spPr>
          <a:xfrm>
            <a:off x="3858329" y="913501"/>
            <a:ext cx="6923403" cy="1169551"/>
          </a:xfrm>
          <a:prstGeom prst="rect">
            <a:avLst/>
          </a:prstGeom>
          <a:noFill/>
        </p:spPr>
        <p:txBody>
          <a:bodyPr wrap="square" rtlCol="0">
            <a:spAutoFit/>
          </a:bodyPr>
          <a:lstStyle/>
          <a:p>
            <a:pPr algn="ctr"/>
            <a:r>
              <a:rPr lang="en-NZ" sz="3500" b="1" u="sng" dirty="0">
                <a:solidFill>
                  <a:schemeClr val="bg1"/>
                </a:solidFill>
              </a:rPr>
              <a:t>STATS 432 </a:t>
            </a:r>
            <a:br>
              <a:rPr lang="en-NZ" sz="3500" b="1" dirty="0">
                <a:solidFill>
                  <a:schemeClr val="bg1"/>
                </a:solidFill>
              </a:rPr>
            </a:br>
            <a:r>
              <a:rPr lang="en-NZ" sz="3500" dirty="0">
                <a:solidFill>
                  <a:schemeClr val="bg1"/>
                </a:solidFill>
              </a:rPr>
              <a:t>Computational Statistics</a:t>
            </a:r>
          </a:p>
        </p:txBody>
      </p:sp>
      <p:sp>
        <p:nvSpPr>
          <p:cNvPr id="17" name="TextBox 16">
            <a:extLst>
              <a:ext uri="{FF2B5EF4-FFF2-40B4-BE49-F238E27FC236}">
                <a16:creationId xmlns:a16="http://schemas.microsoft.com/office/drawing/2014/main" id="{15E15834-4C1C-48A4-9F77-1A195C7F3F70}"/>
              </a:ext>
            </a:extLst>
          </p:cNvPr>
          <p:cNvSpPr txBox="1"/>
          <p:nvPr/>
        </p:nvSpPr>
        <p:spPr>
          <a:xfrm>
            <a:off x="4038600" y="4646474"/>
            <a:ext cx="6923403" cy="523220"/>
          </a:xfrm>
          <a:prstGeom prst="rect">
            <a:avLst/>
          </a:prstGeom>
          <a:noFill/>
        </p:spPr>
        <p:txBody>
          <a:bodyPr wrap="square" rtlCol="0">
            <a:spAutoFit/>
          </a:bodyPr>
          <a:lstStyle/>
          <a:p>
            <a:pPr algn="ctr"/>
            <a:r>
              <a:rPr lang="en-NZ" sz="2800" dirty="0">
                <a:solidFill>
                  <a:schemeClr val="bg1"/>
                </a:solidFill>
              </a:rPr>
              <a:t>Tutorial 1 – Permutation Testing (Part I)</a:t>
            </a:r>
          </a:p>
        </p:txBody>
      </p:sp>
    </p:spTree>
    <p:extLst>
      <p:ext uri="{BB962C8B-B14F-4D97-AF65-F5344CB8AC3E}">
        <p14:creationId xmlns:p14="http://schemas.microsoft.com/office/powerpoint/2010/main" val="2477869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Question 1</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326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3</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1"/>
            <a:ext cx="11615496" cy="107865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US" altLang="ja-JP" sz="1600" dirty="0">
                <a:solidFill>
                  <a:srgbClr val="0070C0"/>
                </a:solidFill>
              </a:rPr>
              <a:t>A researcher is interested in whether alcohol consumption affects the level of the chemical secretin produced by the pancreas.</a:t>
            </a:r>
          </a:p>
          <a:p>
            <a:pPr algn="just">
              <a:lnSpc>
                <a:spcPct val="100000"/>
              </a:lnSpc>
            </a:pPr>
            <a:r>
              <a:rPr lang="en-US" altLang="ja-JP" sz="1600" dirty="0">
                <a:solidFill>
                  <a:srgbClr val="0070C0"/>
                </a:solidFill>
              </a:rPr>
              <a:t>He takes a random sample of 300 study participants and classifies them as ‘Non-Drinkers’, ‘Moderate Drinkers’ or ‘Heavy Drinkers’ based on their weekly alcohol consumption. 100 study participants are assigned to each group. The level of secretin (in mgs) produced by each study participant over the course of 1 hour is then measured. The results of this process are recorded in the data set entitled ‘Secretin.csv’.</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2186170"/>
            <a:ext cx="11466386" cy="15541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400" dirty="0">
                <a:solidFill>
                  <a:srgbClr val="0070C0"/>
                </a:solidFill>
              </a:rPr>
              <a:t>Read the data into R and create a histogram of the data in each group.</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Create a linear model, modelling secretin production as a function of  alcohol consumption. Construct a QQ-Plot of the residuals of this model. What does this tell us about whether the data in each group is normally distributed?</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Conduct a Shapiro-Wilks test on the residuals of the linear model. What do you conclude?</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endParaRPr lang="en-US" altLang="ja-JP" sz="1400" dirty="0">
              <a:solidFill>
                <a:srgbClr val="0070C0"/>
              </a:solidFill>
            </a:endParaRPr>
          </a:p>
        </p:txBody>
      </p:sp>
      <p:sp>
        <p:nvSpPr>
          <p:cNvPr id="15" name="Text Placeholder 5">
            <a:extLst>
              <a:ext uri="{FF2B5EF4-FFF2-40B4-BE49-F238E27FC236}">
                <a16:creationId xmlns:a16="http://schemas.microsoft.com/office/drawing/2014/main" id="{502534FC-984B-32CD-6FE7-E0FEB1D460D7}"/>
              </a:ext>
            </a:extLst>
          </p:cNvPr>
          <p:cNvSpPr txBox="1">
            <a:spLocks/>
          </p:cNvSpPr>
          <p:nvPr/>
        </p:nvSpPr>
        <p:spPr>
          <a:xfrm>
            <a:off x="319463" y="1888948"/>
            <a:ext cx="19051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Normality</a:t>
            </a:r>
          </a:p>
        </p:txBody>
      </p:sp>
      <p:sp>
        <p:nvSpPr>
          <p:cNvPr id="21" name="Text Placeholder 5">
            <a:extLst>
              <a:ext uri="{FF2B5EF4-FFF2-40B4-BE49-F238E27FC236}">
                <a16:creationId xmlns:a16="http://schemas.microsoft.com/office/drawing/2014/main" id="{1527AF04-9253-12C2-08B3-6841BD31BBEE}"/>
              </a:ext>
            </a:extLst>
          </p:cNvPr>
          <p:cNvSpPr txBox="1">
            <a:spLocks/>
          </p:cNvSpPr>
          <p:nvPr/>
        </p:nvSpPr>
        <p:spPr>
          <a:xfrm>
            <a:off x="319463" y="3667578"/>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Homogeneity of Variance</a:t>
            </a:r>
          </a:p>
        </p:txBody>
      </p:sp>
      <p:sp>
        <p:nvSpPr>
          <p:cNvPr id="22" name="Text Placeholder 5">
            <a:extLst>
              <a:ext uri="{FF2B5EF4-FFF2-40B4-BE49-F238E27FC236}">
                <a16:creationId xmlns:a16="http://schemas.microsoft.com/office/drawing/2014/main" id="{C13B368B-C374-DC90-1508-FF70455C7053}"/>
              </a:ext>
            </a:extLst>
          </p:cNvPr>
          <p:cNvSpPr txBox="1">
            <a:spLocks/>
          </p:cNvSpPr>
          <p:nvPr/>
        </p:nvSpPr>
        <p:spPr>
          <a:xfrm>
            <a:off x="319463" y="3991720"/>
            <a:ext cx="11466386" cy="13979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400" dirty="0">
                <a:solidFill>
                  <a:srgbClr val="0070C0"/>
                </a:solidFill>
              </a:rPr>
              <a:t>Construct a box plot of the data from each group.</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Construct a residual-vs-fitted value plot using the output of the model constructed in part b). What does this tell you as to whether the data in each group arises from distributions with the same variance?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Conduct a </a:t>
            </a:r>
            <a:r>
              <a:rPr lang="en-US" altLang="ja-JP" sz="1400" dirty="0" err="1">
                <a:solidFill>
                  <a:srgbClr val="0070C0"/>
                </a:solidFill>
              </a:rPr>
              <a:t>Levene’s</a:t>
            </a:r>
            <a:r>
              <a:rPr lang="en-US" altLang="ja-JP" sz="1400" dirty="0">
                <a:solidFill>
                  <a:srgbClr val="0070C0"/>
                </a:solidFill>
              </a:rPr>
              <a:t> test to test whether the data in each group arises from distributions with the same variance? What do you conclude?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endParaRPr lang="en-US" altLang="ja-JP" sz="1400" dirty="0">
              <a:solidFill>
                <a:srgbClr val="0070C0"/>
              </a:solidFill>
            </a:endParaRPr>
          </a:p>
        </p:txBody>
      </p:sp>
      <p:sp>
        <p:nvSpPr>
          <p:cNvPr id="23" name="Text Placeholder 5">
            <a:extLst>
              <a:ext uri="{FF2B5EF4-FFF2-40B4-BE49-F238E27FC236}">
                <a16:creationId xmlns:a16="http://schemas.microsoft.com/office/drawing/2014/main" id="{13443187-A36F-AB98-25A8-6740295DD293}"/>
              </a:ext>
            </a:extLst>
          </p:cNvPr>
          <p:cNvSpPr txBox="1">
            <a:spLocks/>
          </p:cNvSpPr>
          <p:nvPr/>
        </p:nvSpPr>
        <p:spPr>
          <a:xfrm>
            <a:off x="319463" y="5486806"/>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One Way ANOVA</a:t>
            </a:r>
          </a:p>
        </p:txBody>
      </p:sp>
      <p:sp>
        <p:nvSpPr>
          <p:cNvPr id="24" name="Text Placeholder 5">
            <a:extLst>
              <a:ext uri="{FF2B5EF4-FFF2-40B4-BE49-F238E27FC236}">
                <a16:creationId xmlns:a16="http://schemas.microsoft.com/office/drawing/2014/main" id="{21B4666A-AA7B-D42E-B79E-49571F603676}"/>
              </a:ext>
            </a:extLst>
          </p:cNvPr>
          <p:cNvSpPr txBox="1">
            <a:spLocks/>
          </p:cNvSpPr>
          <p:nvPr/>
        </p:nvSpPr>
        <p:spPr>
          <a:xfrm>
            <a:off x="319463" y="5795361"/>
            <a:ext cx="11655565" cy="544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400" dirty="0">
                <a:solidFill>
                  <a:srgbClr val="0070C0"/>
                </a:solidFill>
              </a:rPr>
              <a:t>Given that the conditions of one-way ANOVA are satisfied, test whether the mean level of secretin produced by study participants in each group is the same. Specify the hypotheses being tested, the F-statistic, degrees of freedom, p-value and conclusion you reach.</a:t>
            </a:r>
          </a:p>
          <a:p>
            <a:pPr marL="342900" indent="-342900" algn="just">
              <a:lnSpc>
                <a:spcPct val="100000"/>
              </a:lnSpc>
              <a:buFont typeface="+mj-lt"/>
              <a:buAutoNum type="alphaLcParenR" startAt="7"/>
            </a:pPr>
            <a:endParaRPr lang="en-US" altLang="ja-JP" sz="1400" dirty="0">
              <a:solidFill>
                <a:srgbClr val="0070C0"/>
              </a:solidFill>
            </a:endParaRPr>
          </a:p>
          <a:p>
            <a:pPr marL="342900" indent="-342900" algn="just">
              <a:lnSpc>
                <a:spcPct val="100000"/>
              </a:lnSpc>
              <a:buFont typeface="+mj-lt"/>
              <a:buAutoNum type="alphaLcParenR" startAt="7"/>
            </a:pPr>
            <a:endParaRPr lang="en-US" altLang="ja-JP" sz="1400" dirty="0">
              <a:solidFill>
                <a:srgbClr val="0070C0"/>
              </a:solidFill>
            </a:endParaRPr>
          </a:p>
        </p:txBody>
      </p:sp>
    </p:spTree>
    <p:extLst>
      <p:ext uri="{BB962C8B-B14F-4D97-AF65-F5344CB8AC3E}">
        <p14:creationId xmlns:p14="http://schemas.microsoft.com/office/powerpoint/2010/main" val="136083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1" grpId="0"/>
      <p:bldP spid="22" grpId="0"/>
      <p:bldP spid="23"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4</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46638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600" dirty="0">
                <a:solidFill>
                  <a:srgbClr val="0070C0"/>
                </a:solidFill>
              </a:rPr>
              <a:t>Read the data into R and create a histogram of the data in each group.</a:t>
            </a:r>
          </a:p>
        </p:txBody>
      </p:sp>
      <p:pic>
        <p:nvPicPr>
          <p:cNvPr id="26" name="Picture 25">
            <a:extLst>
              <a:ext uri="{FF2B5EF4-FFF2-40B4-BE49-F238E27FC236}">
                <a16:creationId xmlns:a16="http://schemas.microsoft.com/office/drawing/2014/main" id="{026FA2FF-668E-633E-CE60-2260F035E1BD}"/>
              </a:ext>
            </a:extLst>
          </p:cNvPr>
          <p:cNvPicPr>
            <a:picLocks noChangeAspect="1"/>
          </p:cNvPicPr>
          <p:nvPr/>
        </p:nvPicPr>
        <p:blipFill>
          <a:blip r:embed="rId3"/>
          <a:stretch>
            <a:fillRect/>
          </a:stretch>
        </p:blipFill>
        <p:spPr>
          <a:xfrm>
            <a:off x="585291" y="1684927"/>
            <a:ext cx="9118267" cy="4292443"/>
          </a:xfrm>
          <a:prstGeom prst="rect">
            <a:avLst/>
          </a:prstGeom>
        </p:spPr>
      </p:pic>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50627" y="1373446"/>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1.1a of the code</a:t>
            </a:r>
            <a:endParaRPr lang="en-US" altLang="ja-JP" sz="1200" b="1" i="1" dirty="0">
              <a:solidFill>
                <a:schemeClr val="tx1"/>
              </a:solidFill>
            </a:endParaRPr>
          </a:p>
        </p:txBody>
      </p:sp>
    </p:spTree>
    <p:extLst>
      <p:ext uri="{BB962C8B-B14F-4D97-AF65-F5344CB8AC3E}">
        <p14:creationId xmlns:p14="http://schemas.microsoft.com/office/powerpoint/2010/main" val="383591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1F57983C-2061-4166-B162-70D678F80918}"/>
              </a:ext>
            </a:extLst>
          </p:cNvPr>
          <p:cNvSpPr txBox="1">
            <a:spLocks/>
          </p:cNvSpPr>
          <p:nvPr/>
        </p:nvSpPr>
        <p:spPr>
          <a:xfrm>
            <a:off x="251219" y="182071"/>
            <a:ext cx="8660764"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What do QQ-Plots Show?</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p:sp>
        <p:nvSpPr>
          <p:cNvPr id="19" name="Text Placeholder 5">
            <a:extLst>
              <a:ext uri="{FF2B5EF4-FFF2-40B4-BE49-F238E27FC236}">
                <a16:creationId xmlns:a16="http://schemas.microsoft.com/office/drawing/2014/main" id="{81D57042-C610-9F27-D09B-4935A1A3C2D6}"/>
              </a:ext>
            </a:extLst>
          </p:cNvPr>
          <p:cNvSpPr txBox="1">
            <a:spLocks/>
          </p:cNvSpPr>
          <p:nvPr/>
        </p:nvSpPr>
        <p:spPr>
          <a:xfrm>
            <a:off x="251223" y="815333"/>
            <a:ext cx="5844775" cy="4759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one-way ANOVA we fit the model…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5200DC65-347B-C9B4-5DA5-679EC9B3C03E}"/>
                  </a:ext>
                </a:extLst>
              </p:cNvPr>
              <p:cNvSpPr txBox="1">
                <a:spLocks/>
              </p:cNvSpPr>
              <p:nvPr/>
            </p:nvSpPr>
            <p:spPr>
              <a:xfrm>
                <a:off x="251224" y="1157790"/>
                <a:ext cx="445538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oMath>
                  </m:oMathPara>
                </a14:m>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20" name="Text Placeholder 5">
                <a:extLst>
                  <a:ext uri="{FF2B5EF4-FFF2-40B4-BE49-F238E27FC236}">
                    <a16:creationId xmlns:a16="http://schemas.microsoft.com/office/drawing/2014/main" id="{5200DC65-347B-C9B4-5DA5-679EC9B3C03E}"/>
                  </a:ext>
                </a:extLst>
              </p:cNvPr>
              <p:cNvSpPr txBox="1">
                <a:spLocks noRot="1" noChangeAspect="1" noMove="1" noResize="1" noEditPoints="1" noAdjustHandles="1" noChangeArrowheads="1" noChangeShapeType="1" noTextEdit="1"/>
              </p:cNvSpPr>
              <p:nvPr/>
            </p:nvSpPr>
            <p:spPr>
              <a:xfrm>
                <a:off x="251224" y="1157790"/>
                <a:ext cx="4455382" cy="474953"/>
              </a:xfrm>
              <a:prstGeom prst="rect">
                <a:avLst/>
              </a:prstGeom>
              <a:blipFill>
                <a:blip r:embed="rId2"/>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21" name="Text Placeholder 5">
                <a:extLst>
                  <a:ext uri="{FF2B5EF4-FFF2-40B4-BE49-F238E27FC236}">
                    <a16:creationId xmlns:a16="http://schemas.microsoft.com/office/drawing/2014/main" id="{74BB1ADB-F4E7-54C0-C32E-EEA2706CCC81}"/>
                  </a:ext>
                </a:extLst>
              </p:cNvPr>
              <p:cNvSpPr txBox="1">
                <a:spLocks/>
              </p:cNvSpPr>
              <p:nvPr/>
            </p:nvSpPr>
            <p:spPr>
              <a:xfrm>
                <a:off x="251219" y="1753893"/>
                <a:ext cx="6203665" cy="79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nSpc>
                    <a:spcPct val="100000"/>
                  </a:lnSpc>
                  <a:defRPr/>
                </a:pPr>
                <a14:m>
                  <m:oMath xmlns:m="http://schemas.openxmlformats.org/officeDocument/2006/math">
                    <m:r>
                      <a:rPr lang="en-NZ" altLang="ja-JP" sz="1600" b="1" i="1" smtClean="0">
                        <a:solidFill>
                          <a:prstClr val="black"/>
                        </a:solidFill>
                        <a:latin typeface="Cambria Math" panose="02040503050406030204" pitchFamily="18" charset="0"/>
                      </a:rPr>
                      <m:t>𝑬</m:t>
                    </m:r>
                    <m:d>
                      <m:dPr>
                        <m:begChr m:val="["/>
                        <m:endChr m:val="]"/>
                        <m:ctrlPr>
                          <a:rPr lang="en-NZ" altLang="ja-JP" sz="1600" b="1" i="1">
                            <a:solidFill>
                              <a:prstClr val="black"/>
                            </a:solidFill>
                            <a:latin typeface="Cambria Math" panose="02040503050406030204" pitchFamily="18" charset="0"/>
                          </a:rPr>
                        </m:ctrlPr>
                      </m:dPr>
                      <m:e>
                        <m:r>
                          <a:rPr lang="en-NZ" altLang="ja-JP" sz="1600" b="1" i="1">
                            <a:solidFill>
                              <a:prstClr val="black"/>
                            </a:solidFill>
                            <a:latin typeface="Cambria Math" panose="02040503050406030204" pitchFamily="18" charset="0"/>
                          </a:rPr>
                          <m:t> </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𝒀</m:t>
                            </m:r>
                          </m:e>
                          <m:sub>
                            <m:r>
                              <a:rPr lang="en-NZ" altLang="ja-JP" sz="1600" b="1" i="1">
                                <a:solidFill>
                                  <a:prstClr val="black"/>
                                </a:solidFill>
                                <a:latin typeface="Cambria Math" panose="02040503050406030204" pitchFamily="18" charset="0"/>
                              </a:rPr>
                              <m:t>𝒊𝒋</m:t>
                            </m:r>
                          </m:sub>
                        </m:sSub>
                        <m:r>
                          <a:rPr lang="en-NZ" altLang="ja-JP" sz="1600" b="1" i="1" smtClean="0">
                            <a:solidFill>
                              <a:prstClr val="black"/>
                            </a:solidFill>
                            <a:latin typeface="Cambria Math" panose="02040503050406030204" pitchFamily="18" charset="0"/>
                          </a:rPr>
                          <m:t> </m:t>
                        </m:r>
                      </m:e>
                    </m:d>
                    <m:r>
                      <a:rPr lang="en-NZ" altLang="ja-JP" sz="1600" b="1" i="1">
                        <a:solidFill>
                          <a:prstClr val="black"/>
                        </a:solidFill>
                        <a:latin typeface="Cambria Math" panose="02040503050406030204" pitchFamily="18" charset="0"/>
                      </a:rPr>
                      <m:t>=</m:t>
                    </m:r>
                    <m:sSub>
                      <m:sSubPr>
                        <m:ctrlPr>
                          <a:rPr lang="en-NZ" altLang="ja-JP" sz="1600" b="1" i="1">
                            <a:solidFill>
                              <a:prstClr val="black"/>
                            </a:solidFill>
                            <a:latin typeface="Cambria Math" panose="02040503050406030204" pitchFamily="18" charset="0"/>
                          </a:rPr>
                        </m:ctrlPr>
                      </m:sSubPr>
                      <m:e>
                        <m:r>
                          <a:rPr lang="en-NZ" altLang="ja-JP" sz="1600" b="1" i="1">
                            <a:solidFill>
                              <a:prstClr val="black"/>
                            </a:solidFill>
                            <a:latin typeface="Cambria Math" panose="02040503050406030204" pitchFamily="18" charset="0"/>
                          </a:rPr>
                          <m:t>𝝁</m:t>
                        </m:r>
                      </m:e>
                      <m:sub>
                        <m:r>
                          <a:rPr lang="en-NZ" altLang="ja-JP" sz="1600" b="1" i="1">
                            <a:solidFill>
                              <a:prstClr val="black"/>
                            </a:solidFill>
                            <a:latin typeface="Cambria Math" panose="02040503050406030204" pitchFamily="18" charset="0"/>
                          </a:rPr>
                          <m:t>𝒊</m:t>
                        </m:r>
                      </m:sub>
                    </m:sSub>
                    <m:r>
                      <a:rPr lang="en-NZ" altLang="ja-JP" sz="1600" b="1" i="1" smtClean="0">
                        <a:solidFill>
                          <a:prstClr val="black"/>
                        </a:solidFill>
                        <a:latin typeface="Cambria Math" panose="02040503050406030204" pitchFamily="18" charset="0"/>
                      </a:rPr>
                      <m:t>.</m:t>
                    </m:r>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Therefore, the fitted value for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given by   </a:t>
                </a:r>
                <a14:m>
                  <m:oMath xmlns:m="http://schemas.openxmlformats.org/officeDocument/2006/math">
                    <m:sSub>
                      <m:sSubPr>
                        <m:ctrlP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𝒀</m:t>
                            </m:r>
                          </m:e>
                        </m:acc>
                      </m:e>
                      <m:sub>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𝒊</m:t>
                        </m:r>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residual associated to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given by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21" name="Text Placeholder 5">
                <a:extLst>
                  <a:ext uri="{FF2B5EF4-FFF2-40B4-BE49-F238E27FC236}">
                    <a16:creationId xmlns:a16="http://schemas.microsoft.com/office/drawing/2014/main" id="{74BB1ADB-F4E7-54C0-C32E-EEA2706CCC81}"/>
                  </a:ext>
                </a:extLst>
              </p:cNvPr>
              <p:cNvSpPr txBox="1">
                <a:spLocks noRot="1" noChangeAspect="1" noMove="1" noResize="1" noEditPoints="1" noAdjustHandles="1" noChangeArrowheads="1" noChangeShapeType="1" noTextEdit="1"/>
              </p:cNvSpPr>
              <p:nvPr/>
            </p:nvSpPr>
            <p:spPr>
              <a:xfrm>
                <a:off x="251219" y="1753893"/>
                <a:ext cx="6203665" cy="794327"/>
              </a:xfrm>
              <a:prstGeom prst="rect">
                <a:avLst/>
              </a:prstGeom>
              <a:blipFill>
                <a:blip r:embed="rId3"/>
                <a:stretch>
                  <a:fillRect l="-491"/>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graphicFrame>
            <p:nvGraphicFramePr>
              <p:cNvPr id="23" name="Table 2">
                <a:extLst>
                  <a:ext uri="{FF2B5EF4-FFF2-40B4-BE49-F238E27FC236}">
                    <a16:creationId xmlns:a16="http://schemas.microsoft.com/office/drawing/2014/main" id="{266F1727-8B0C-A0F8-3617-81A5023D9AC2}"/>
                  </a:ext>
                </a:extLst>
              </p:cNvPr>
              <p:cNvGraphicFramePr>
                <a:graphicFrameLocks noGrp="1"/>
              </p:cNvGraphicFramePr>
              <p:nvPr>
                <p:extLst>
                  <p:ext uri="{D42A27DB-BD31-4B8C-83A1-F6EECF244321}">
                    <p14:modId xmlns:p14="http://schemas.microsoft.com/office/powerpoint/2010/main" val="552714091"/>
                  </p:ext>
                </p:extLst>
              </p:nvPr>
            </p:nvGraphicFramePr>
            <p:xfrm>
              <a:off x="8602991" y="825393"/>
              <a:ext cx="3358920"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tblGrid>
                  <a:tr h="295770">
                    <a:tc>
                      <a:txBody>
                        <a:bodyPr/>
                        <a:lstStyle/>
                        <a:p>
                          <a:pPr algn="ctr"/>
                          <a:r>
                            <a:rPr lang="en-NZ" sz="1600" dirty="0"/>
                            <a:t>Parameter</a:t>
                          </a:r>
                        </a:p>
                      </a:txBody>
                      <a:tcPr anchor="ctr"/>
                    </a:tc>
                    <a:tc>
                      <a:txBody>
                        <a:bodyPr/>
                        <a:lstStyle/>
                        <a:p>
                          <a:pPr algn="ctr"/>
                          <a:r>
                            <a:rPr lang="en-NZ" sz="1600" dirty="0"/>
                            <a:t>Estimator</a:t>
                          </a:r>
                        </a:p>
                      </a:txBody>
                      <a:tcPr anchor="ctr"/>
                    </a:tc>
                    <a:extLst>
                      <a:ext uri="{0D108BD9-81ED-4DB2-BD59-A6C34878D82A}">
                        <a16:rowId xmlns:a16="http://schemas.microsoft.com/office/drawing/2014/main" val="3666350365"/>
                      </a:ext>
                    </a:extLst>
                  </a:tr>
                  <a:tr h="692260">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𝑛</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𝑗</m:t>
                                    </m:r>
                                    <m:r>
                                      <a:rPr lang="en-NZ" sz="1600" b="0" i="1" smtClean="0">
                                        <a:latin typeface="Cambria Math" panose="02040503050406030204" pitchFamily="18" charset="0"/>
                                      </a:rPr>
                                      <m:t>=1</m:t>
                                    </m:r>
                                  </m:sub>
                                  <m:sup>
                                    <m:r>
                                      <a:rPr lang="en-NZ" sz="1600" b="0" i="1" smtClean="0">
                                        <a:latin typeface="Cambria Math" panose="02040503050406030204" pitchFamily="18" charset="0"/>
                                      </a:rPr>
                                      <m:t>𝑛</m:t>
                                    </m:r>
                                  </m:sup>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𝑌</m:t>
                                        </m:r>
                                      </m:e>
                                      <m:sub>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sub>
                                    </m:sSub>
                                  </m:e>
                                </m:nary>
                              </m:oMath>
                            </m:oMathPara>
                          </a14:m>
                          <a:endParaRPr lang="en-NZ" sz="1600" dirty="0"/>
                        </a:p>
                      </a:txBody>
                      <a:tcPr anchor="ctr"/>
                    </a:tc>
                    <a:extLst>
                      <a:ext uri="{0D108BD9-81ED-4DB2-BD59-A6C34878D82A}">
                        <a16:rowId xmlns:a16="http://schemas.microsoft.com/office/drawing/2014/main" val="3427382577"/>
                      </a:ext>
                    </a:extLst>
                  </a:tr>
                </a:tbl>
              </a:graphicData>
            </a:graphic>
          </p:graphicFrame>
        </mc:Choice>
        <mc:Fallback xmlns="">
          <p:graphicFrame>
            <p:nvGraphicFramePr>
              <p:cNvPr id="23" name="Table 2">
                <a:extLst>
                  <a:ext uri="{FF2B5EF4-FFF2-40B4-BE49-F238E27FC236}">
                    <a16:creationId xmlns:a16="http://schemas.microsoft.com/office/drawing/2014/main" id="{266F1727-8B0C-A0F8-3617-81A5023D9AC2}"/>
                  </a:ext>
                </a:extLst>
              </p:cNvPr>
              <p:cNvGraphicFramePr>
                <a:graphicFrameLocks noGrp="1"/>
              </p:cNvGraphicFramePr>
              <p:nvPr>
                <p:extLst>
                  <p:ext uri="{D42A27DB-BD31-4B8C-83A1-F6EECF244321}">
                    <p14:modId xmlns:p14="http://schemas.microsoft.com/office/powerpoint/2010/main" val="552714091"/>
                  </p:ext>
                </p:extLst>
              </p:nvPr>
            </p:nvGraphicFramePr>
            <p:xfrm>
              <a:off x="8602991" y="825393"/>
              <a:ext cx="3358920"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tblGrid>
                  <a:tr h="335280">
                    <a:tc>
                      <a:txBody>
                        <a:bodyPr/>
                        <a:lstStyle/>
                        <a:p>
                          <a:pPr algn="ctr"/>
                          <a:r>
                            <a:rPr lang="en-NZ" sz="1600" dirty="0"/>
                            <a:t>Parameter</a:t>
                          </a:r>
                        </a:p>
                      </a:txBody>
                      <a:tcPr anchor="ctr"/>
                    </a:tc>
                    <a:tc>
                      <a:txBody>
                        <a:bodyPr/>
                        <a:lstStyle/>
                        <a:p>
                          <a:pPr algn="ctr"/>
                          <a:r>
                            <a:rPr lang="en-NZ" sz="1600" dirty="0"/>
                            <a:t>Estimator</a:t>
                          </a:r>
                        </a:p>
                      </a:txBody>
                      <a:tcPr anchor="ctr"/>
                    </a:tc>
                    <a:extLst>
                      <a:ext uri="{0D108BD9-81ED-4DB2-BD59-A6C34878D82A}">
                        <a16:rowId xmlns:a16="http://schemas.microsoft.com/office/drawing/2014/main" val="3666350365"/>
                      </a:ext>
                    </a:extLst>
                  </a:tr>
                  <a:tr h="784733">
                    <a:tc>
                      <a:txBody>
                        <a:bodyPr/>
                        <a:lstStyle/>
                        <a:p>
                          <a:endParaRPr lang="en-US"/>
                        </a:p>
                      </a:txBody>
                      <a:tcPr anchor="ctr">
                        <a:blipFill>
                          <a:blip r:embed="rId4"/>
                          <a:stretch>
                            <a:fillRect l="-408" t="-44615" r="-126939" b="-1538"/>
                          </a:stretch>
                        </a:blipFill>
                      </a:tcPr>
                    </a:tc>
                    <a:tc>
                      <a:txBody>
                        <a:bodyPr/>
                        <a:lstStyle/>
                        <a:p>
                          <a:endParaRPr lang="en-US"/>
                        </a:p>
                      </a:txBody>
                      <a:tcPr anchor="ctr">
                        <a:blipFill>
                          <a:blip r:embed="rId4"/>
                          <a:stretch>
                            <a:fillRect l="-80130" t="-44615" r="-1303" b="-1538"/>
                          </a:stretch>
                        </a:blipFill>
                      </a:tcPr>
                    </a:tc>
                    <a:extLst>
                      <a:ext uri="{0D108BD9-81ED-4DB2-BD59-A6C34878D82A}">
                        <a16:rowId xmlns:a16="http://schemas.microsoft.com/office/drawing/2014/main" val="3427382577"/>
                      </a:ext>
                    </a:extLst>
                  </a:tr>
                </a:tbl>
              </a:graphicData>
            </a:graphic>
          </p:graphicFrame>
        </mc:Fallback>
      </mc:AlternateContent>
      <mc:AlternateContent xmlns:mc="http://schemas.openxmlformats.org/markup-compatibility/2006" xmlns:a14="http://schemas.microsoft.com/office/drawing/2010/main">
        <mc:Choice Requires="a14">
          <p:sp>
            <p:nvSpPr>
              <p:cNvPr id="29" name="Text Placeholder 5">
                <a:extLst>
                  <a:ext uri="{FF2B5EF4-FFF2-40B4-BE49-F238E27FC236}">
                    <a16:creationId xmlns:a16="http://schemas.microsoft.com/office/drawing/2014/main" id="{3D883778-7B27-7AEB-05AB-B554B3E17F36}"/>
                  </a:ext>
                </a:extLst>
              </p:cNvPr>
              <p:cNvSpPr txBox="1">
                <a:spLocks/>
              </p:cNvSpPr>
              <p:nvPr/>
            </p:nvSpPr>
            <p:spPr>
              <a:xfrm>
                <a:off x="251219" y="2550730"/>
                <a:ext cx="10530511" cy="90634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Note if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 </m:t>
                        </m:r>
                        <m:sSup>
                          <m:sSup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e>
                    </m:d>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𝑵</m:t>
                    </m:r>
                    <m:d>
                      <m:d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d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p>
                          <m:sSup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𝝈</m:t>
                            </m:r>
                          </m:e>
                          <m:sup>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e>
                    </m:d>
                  </m:oMath>
                </a14:m>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To show that the data in each group is normally distributed, it suffices to show that residuals are normally distributed.</a:t>
                </a:r>
              </a:p>
            </p:txBody>
          </p:sp>
        </mc:Choice>
        <mc:Fallback xmlns="">
          <p:sp>
            <p:nvSpPr>
              <p:cNvPr id="29" name="Text Placeholder 5">
                <a:extLst>
                  <a:ext uri="{FF2B5EF4-FFF2-40B4-BE49-F238E27FC236}">
                    <a16:creationId xmlns:a16="http://schemas.microsoft.com/office/drawing/2014/main" id="{3D883778-7B27-7AEB-05AB-B554B3E17F36}"/>
                  </a:ext>
                </a:extLst>
              </p:cNvPr>
              <p:cNvSpPr txBox="1">
                <a:spLocks noRot="1" noChangeAspect="1" noMove="1" noResize="1" noEditPoints="1" noAdjustHandles="1" noChangeArrowheads="1" noChangeShapeType="1" noTextEdit="1"/>
              </p:cNvSpPr>
              <p:nvPr/>
            </p:nvSpPr>
            <p:spPr>
              <a:xfrm>
                <a:off x="251219" y="2550730"/>
                <a:ext cx="10530511" cy="906349"/>
              </a:xfrm>
              <a:prstGeom prst="rect">
                <a:avLst/>
              </a:prstGeom>
              <a:blipFill>
                <a:blip r:embed="rId5"/>
                <a:stretch>
                  <a:fillRect l="-289"/>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30" name="Text Placeholder 5">
                <a:extLst>
                  <a:ext uri="{FF2B5EF4-FFF2-40B4-BE49-F238E27FC236}">
                    <a16:creationId xmlns:a16="http://schemas.microsoft.com/office/drawing/2014/main" id="{55547DB4-8B65-1A1C-DD77-EB5F65359416}"/>
                  </a:ext>
                </a:extLst>
              </p:cNvPr>
              <p:cNvSpPr txBox="1">
                <a:spLocks/>
              </p:cNvSpPr>
              <p:nvPr/>
            </p:nvSpPr>
            <p:spPr>
              <a:xfrm>
                <a:off x="2545102" y="2534871"/>
                <a:ext cx="628508"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1" lang="en-NZ" altLang="ja-JP"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m:oMathPara>
                </a14:m>
                <a:endParaRPr kumimoji="1" lang="en-NZ" altLang="ja-JP" sz="24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30" name="Text Placeholder 5">
                <a:extLst>
                  <a:ext uri="{FF2B5EF4-FFF2-40B4-BE49-F238E27FC236}">
                    <a16:creationId xmlns:a16="http://schemas.microsoft.com/office/drawing/2014/main" id="{55547DB4-8B65-1A1C-DD77-EB5F65359416}"/>
                  </a:ext>
                </a:extLst>
              </p:cNvPr>
              <p:cNvSpPr txBox="1">
                <a:spLocks noRot="1" noChangeAspect="1" noMove="1" noResize="1" noEditPoints="1" noAdjustHandles="1" noChangeArrowheads="1" noChangeShapeType="1" noTextEdit="1"/>
              </p:cNvSpPr>
              <p:nvPr/>
            </p:nvSpPr>
            <p:spPr>
              <a:xfrm>
                <a:off x="2545102" y="2534871"/>
                <a:ext cx="628508" cy="365125"/>
              </a:xfrm>
              <a:prstGeom prst="rect">
                <a:avLst/>
              </a:prstGeom>
              <a:blipFill>
                <a:blip r:embed="rId6"/>
                <a:stretch>
                  <a:fillRect b="-15000"/>
                </a:stretch>
              </a:blipFill>
            </p:spPr>
            <p:txBody>
              <a:bodyPr/>
              <a:lstStyle/>
              <a:p>
                <a:r>
                  <a:rPr lang="en-NZ">
                    <a:noFill/>
                  </a:rPr>
                  <a:t> </a:t>
                </a:r>
              </a:p>
            </p:txBody>
          </p:sp>
        </mc:Fallback>
      </mc:AlternateContent>
      <p:sp>
        <p:nvSpPr>
          <p:cNvPr id="31" name="Text Placeholder 5">
            <a:extLst>
              <a:ext uri="{FF2B5EF4-FFF2-40B4-BE49-F238E27FC236}">
                <a16:creationId xmlns:a16="http://schemas.microsoft.com/office/drawing/2014/main" id="{49A1F838-1A76-D442-DC0C-6C8D4BC6551A}"/>
              </a:ext>
            </a:extLst>
          </p:cNvPr>
          <p:cNvSpPr txBox="1">
            <a:spLocks/>
          </p:cNvSpPr>
          <p:nvPr/>
        </p:nvSpPr>
        <p:spPr>
          <a:xfrm>
            <a:off x="251219" y="3317961"/>
            <a:ext cx="11689562" cy="77957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Normal QQ-plots plot the percentiles of your data (or residuals of your data) against the percentiles of the standard normal distribution.</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QQ-plot follows a straight line, this suggest that your data (or residuals of your data) are normally distributed.</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QQ-plot does not follow a straight line, this suggests that your data (or the residuals of your data) are not normally distributed.</a:t>
            </a:r>
          </a:p>
        </p:txBody>
      </p:sp>
      <p:pic>
        <p:nvPicPr>
          <p:cNvPr id="4" name="Picture 3">
            <a:extLst>
              <a:ext uri="{FF2B5EF4-FFF2-40B4-BE49-F238E27FC236}">
                <a16:creationId xmlns:a16="http://schemas.microsoft.com/office/drawing/2014/main" id="{1943BC1E-4837-9D54-4EC9-37D359C13392}"/>
              </a:ext>
            </a:extLst>
          </p:cNvPr>
          <p:cNvPicPr>
            <a:picLocks noChangeAspect="1"/>
          </p:cNvPicPr>
          <p:nvPr/>
        </p:nvPicPr>
        <p:blipFill>
          <a:blip r:embed="rId7"/>
          <a:stretch>
            <a:fillRect/>
          </a:stretch>
        </p:blipFill>
        <p:spPr>
          <a:xfrm>
            <a:off x="1127035" y="4289369"/>
            <a:ext cx="2101357" cy="2016255"/>
          </a:xfrm>
          <a:prstGeom prst="rect">
            <a:avLst/>
          </a:prstGeom>
        </p:spPr>
      </p:pic>
      <p:sp>
        <p:nvSpPr>
          <p:cNvPr id="35" name="Text Placeholder 5">
            <a:extLst>
              <a:ext uri="{FF2B5EF4-FFF2-40B4-BE49-F238E27FC236}">
                <a16:creationId xmlns:a16="http://schemas.microsoft.com/office/drawing/2014/main" id="{2CF06CC2-2F56-B398-7C70-42FB53C20780}"/>
              </a:ext>
            </a:extLst>
          </p:cNvPr>
          <p:cNvSpPr txBox="1">
            <a:spLocks/>
          </p:cNvSpPr>
          <p:nvPr/>
        </p:nvSpPr>
        <p:spPr>
          <a:xfrm>
            <a:off x="3151763" y="4620551"/>
            <a:ext cx="1717692" cy="107965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QQ-Plot of residuals vs standard normal suggests data is normally distributed</a:t>
            </a:r>
          </a:p>
        </p:txBody>
      </p:sp>
      <p:sp>
        <p:nvSpPr>
          <p:cNvPr id="36" name="Text Placeholder 5">
            <a:extLst>
              <a:ext uri="{FF2B5EF4-FFF2-40B4-BE49-F238E27FC236}">
                <a16:creationId xmlns:a16="http://schemas.microsoft.com/office/drawing/2014/main" id="{DA420450-8C3F-6B39-5702-71F85D9D0958}"/>
              </a:ext>
            </a:extLst>
          </p:cNvPr>
          <p:cNvSpPr txBox="1">
            <a:spLocks/>
          </p:cNvSpPr>
          <p:nvPr/>
        </p:nvSpPr>
        <p:spPr>
          <a:xfrm rot="16200000">
            <a:off x="252316" y="4906542"/>
            <a:ext cx="1179443" cy="5699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Sample Quartiles</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7" name="Text Placeholder 5">
            <a:extLst>
              <a:ext uri="{FF2B5EF4-FFF2-40B4-BE49-F238E27FC236}">
                <a16:creationId xmlns:a16="http://schemas.microsoft.com/office/drawing/2014/main" id="{968B301B-302A-CF4D-F314-788A0F78165D}"/>
              </a:ext>
            </a:extLst>
          </p:cNvPr>
          <p:cNvSpPr txBox="1">
            <a:spLocks/>
          </p:cNvSpPr>
          <p:nvPr/>
        </p:nvSpPr>
        <p:spPr>
          <a:xfrm>
            <a:off x="969150" y="6211662"/>
            <a:ext cx="2744463" cy="251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Theoretical Quartiles</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pic>
        <p:nvPicPr>
          <p:cNvPr id="8" name="Picture 7">
            <a:extLst>
              <a:ext uri="{FF2B5EF4-FFF2-40B4-BE49-F238E27FC236}">
                <a16:creationId xmlns:a16="http://schemas.microsoft.com/office/drawing/2014/main" id="{7AE9B1D5-E96A-48CE-EA70-B13ECD6BBFA6}"/>
              </a:ext>
            </a:extLst>
          </p:cNvPr>
          <p:cNvPicPr>
            <a:picLocks noChangeAspect="1"/>
          </p:cNvPicPr>
          <p:nvPr/>
        </p:nvPicPr>
        <p:blipFill>
          <a:blip r:embed="rId8"/>
          <a:stretch>
            <a:fillRect/>
          </a:stretch>
        </p:blipFill>
        <p:spPr>
          <a:xfrm>
            <a:off x="8222605" y="4379302"/>
            <a:ext cx="2377858" cy="1830018"/>
          </a:xfrm>
          <a:prstGeom prst="rect">
            <a:avLst/>
          </a:prstGeom>
        </p:spPr>
      </p:pic>
      <p:sp>
        <p:nvSpPr>
          <p:cNvPr id="38" name="Text Placeholder 5">
            <a:extLst>
              <a:ext uri="{FF2B5EF4-FFF2-40B4-BE49-F238E27FC236}">
                <a16:creationId xmlns:a16="http://schemas.microsoft.com/office/drawing/2014/main" id="{496DD956-3C8C-712B-BE0D-68CEED7F8807}"/>
              </a:ext>
            </a:extLst>
          </p:cNvPr>
          <p:cNvSpPr txBox="1">
            <a:spLocks/>
          </p:cNvSpPr>
          <p:nvPr/>
        </p:nvSpPr>
        <p:spPr>
          <a:xfrm rot="16200000">
            <a:off x="7347886" y="4875857"/>
            <a:ext cx="1179443" cy="56999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Sample Quartiles</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9" name="Text Placeholder 5">
            <a:extLst>
              <a:ext uri="{FF2B5EF4-FFF2-40B4-BE49-F238E27FC236}">
                <a16:creationId xmlns:a16="http://schemas.microsoft.com/office/drawing/2014/main" id="{1088E41D-F87D-AB3E-8EDD-61E25B5046F0}"/>
              </a:ext>
            </a:extLst>
          </p:cNvPr>
          <p:cNvSpPr txBox="1">
            <a:spLocks/>
          </p:cNvSpPr>
          <p:nvPr/>
        </p:nvSpPr>
        <p:spPr>
          <a:xfrm>
            <a:off x="8119237" y="6149616"/>
            <a:ext cx="2744463" cy="2515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Theoretical Quartiles</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40" name="Text Placeholder 5">
            <a:extLst>
              <a:ext uri="{FF2B5EF4-FFF2-40B4-BE49-F238E27FC236}">
                <a16:creationId xmlns:a16="http://schemas.microsoft.com/office/drawing/2014/main" id="{DF7A1134-9A67-83A6-D9F9-64D8911C632D}"/>
              </a:ext>
            </a:extLst>
          </p:cNvPr>
          <p:cNvSpPr txBox="1">
            <a:spLocks/>
          </p:cNvSpPr>
          <p:nvPr/>
        </p:nvSpPr>
        <p:spPr>
          <a:xfrm>
            <a:off x="5789239" y="4620551"/>
            <a:ext cx="1863370" cy="124920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QQ-Plot of residuals vs standard normal suggests data is not normally distributed</a:t>
            </a:r>
          </a:p>
        </p:txBody>
      </p:sp>
      <p:sp>
        <p:nvSpPr>
          <p:cNvPr id="2" name="Footer Placeholder 2">
            <a:extLst>
              <a:ext uri="{FF2B5EF4-FFF2-40B4-BE49-F238E27FC236}">
                <a16:creationId xmlns:a16="http://schemas.microsoft.com/office/drawing/2014/main" id="{06AA5D8A-8849-8C7A-0381-9FB2200649A0}"/>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mc:AlternateContent xmlns:mc="http://schemas.openxmlformats.org/markup-compatibility/2006" xmlns:a14="http://schemas.microsoft.com/office/drawing/2010/main">
        <mc:Choice Requires="a14">
          <p:sp>
            <p:nvSpPr>
              <p:cNvPr id="3" name="Text Placeholder 5">
                <a:extLst>
                  <a:ext uri="{FF2B5EF4-FFF2-40B4-BE49-F238E27FC236}">
                    <a16:creationId xmlns:a16="http://schemas.microsoft.com/office/drawing/2014/main" id="{FCEFE7D2-32AA-5711-40AF-7053FB143DB3}"/>
                  </a:ext>
                </a:extLst>
              </p:cNvPr>
              <p:cNvSpPr txBox="1">
                <a:spLocks/>
              </p:cNvSpPr>
              <p:nvPr/>
            </p:nvSpPr>
            <p:spPr>
              <a:xfrm>
                <a:off x="6580536" y="876160"/>
                <a:ext cx="1846914" cy="10382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d>
                        <m:dPr>
                          <m:begChr m:val="["/>
                          <m:endChr m:val="]"/>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
                              </m:e>
                            </m:mr>
                          </m:m>
                        </m:e>
                      </m:d>
                    </m:oMath>
                  </m:oMathPara>
                </a14:m>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3" name="Text Placeholder 5">
                <a:extLst>
                  <a:ext uri="{FF2B5EF4-FFF2-40B4-BE49-F238E27FC236}">
                    <a16:creationId xmlns:a16="http://schemas.microsoft.com/office/drawing/2014/main" id="{FCEFE7D2-32AA-5711-40AF-7053FB143DB3}"/>
                  </a:ext>
                </a:extLst>
              </p:cNvPr>
              <p:cNvSpPr txBox="1">
                <a:spLocks noRot="1" noChangeAspect="1" noMove="1" noResize="1" noEditPoints="1" noAdjustHandles="1" noChangeArrowheads="1" noChangeShapeType="1" noTextEdit="1"/>
              </p:cNvSpPr>
              <p:nvPr/>
            </p:nvSpPr>
            <p:spPr>
              <a:xfrm>
                <a:off x="6580536" y="876160"/>
                <a:ext cx="1846914" cy="1038211"/>
              </a:xfrm>
              <a:prstGeom prst="rect">
                <a:avLst/>
              </a:prstGeom>
              <a:blipFill>
                <a:blip r:embed="rId9"/>
                <a:stretch>
                  <a:fillRect/>
                </a:stretch>
              </a:blipFill>
            </p:spPr>
            <p:txBody>
              <a:bodyPr/>
              <a:lstStyle/>
              <a:p>
                <a:r>
                  <a:rPr lang="en-NZ">
                    <a:noFill/>
                  </a:rPr>
                  <a:t> </a:t>
                </a:r>
              </a:p>
            </p:txBody>
          </p:sp>
        </mc:Fallback>
      </mc:AlternateContent>
      <p:sp>
        <p:nvSpPr>
          <p:cNvPr id="5" name="Text Placeholder 5">
            <a:extLst>
              <a:ext uri="{FF2B5EF4-FFF2-40B4-BE49-F238E27FC236}">
                <a16:creationId xmlns:a16="http://schemas.microsoft.com/office/drawing/2014/main" id="{ECDD29F3-4FBF-6EC2-2B83-6B443EBA29FC}"/>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FA7F2E3-982E-70D0-7754-660906AD4FCE}"/>
                  </a:ext>
                </a:extLst>
              </p:cNvPr>
              <p:cNvSpPr txBox="1">
                <a:spLocks/>
              </p:cNvSpPr>
              <p:nvPr/>
            </p:nvSpPr>
            <p:spPr>
              <a:xfrm>
                <a:off x="4469861" y="1158372"/>
                <a:ext cx="171435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𝜖</m:t>
                          </m:r>
                        </m:e>
                        <m:sub>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𝑗</m:t>
                          </m:r>
                        </m:sub>
                      </m:sSub>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 ~ </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𝑁</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(0, </m:t>
                      </m:r>
                      <m:sSup>
                        <m:sSupPr>
                          <m:ctrlPr>
                            <a:rPr kumimoji="1" lang="en-NZ" altLang="ja-JP" sz="160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ctrlPr>
                        </m:sSupPr>
                        <m:e>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𝜎</m:t>
                          </m:r>
                        </m:e>
                        <m:sup>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2</m:t>
                          </m:r>
                        </m:sup>
                      </m:sSup>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m:t>
                      </m:r>
                    </m:oMath>
                  </m:oMathPara>
                </a14:m>
                <a:endParaRPr kumimoji="1" lang="en-NZ" altLang="ja-JP" sz="16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6" name="Text Placeholder 5">
                <a:extLst>
                  <a:ext uri="{FF2B5EF4-FFF2-40B4-BE49-F238E27FC236}">
                    <a16:creationId xmlns:a16="http://schemas.microsoft.com/office/drawing/2014/main" id="{0FA7F2E3-982E-70D0-7754-660906AD4FCE}"/>
                  </a:ext>
                </a:extLst>
              </p:cNvPr>
              <p:cNvSpPr txBox="1">
                <a:spLocks noRot="1" noChangeAspect="1" noMove="1" noResize="1" noEditPoints="1" noAdjustHandles="1" noChangeArrowheads="1" noChangeShapeType="1" noTextEdit="1"/>
              </p:cNvSpPr>
              <p:nvPr/>
            </p:nvSpPr>
            <p:spPr>
              <a:xfrm>
                <a:off x="4469861" y="1158372"/>
                <a:ext cx="1714357" cy="474953"/>
              </a:xfrm>
              <a:prstGeom prst="rect">
                <a:avLst/>
              </a:prstGeom>
              <a:blipFill>
                <a:blip r:embed="rId10"/>
                <a:stretch>
                  <a:fillRect/>
                </a:stretch>
              </a:blipFill>
            </p:spPr>
            <p:txBody>
              <a:bodyPr/>
              <a:lstStyle/>
              <a:p>
                <a:r>
                  <a:rPr lang="en-NZ">
                    <a:noFill/>
                  </a:rPr>
                  <a:t> </a:t>
                </a:r>
              </a:p>
            </p:txBody>
          </p:sp>
        </mc:Fallback>
      </mc:AlternateContent>
    </p:spTree>
    <p:extLst>
      <p:ext uri="{BB962C8B-B14F-4D97-AF65-F5344CB8AC3E}">
        <p14:creationId xmlns:p14="http://schemas.microsoft.com/office/powerpoint/2010/main" val="213100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5" grpId="0"/>
      <p:bldP spid="36" grpId="0"/>
      <p:bldP spid="37" grpId="0"/>
      <p:bldP spid="38" grpId="0"/>
      <p:bldP spid="39" grpId="0"/>
      <p:bldP spid="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2CE671-9E28-B16F-7998-E9B8A75E10C6}"/>
              </a:ext>
            </a:extLst>
          </p:cNvPr>
          <p:cNvPicPr>
            <a:picLocks noChangeAspect="1"/>
          </p:cNvPicPr>
          <p:nvPr/>
        </p:nvPicPr>
        <p:blipFill>
          <a:blip r:embed="rId2"/>
          <a:stretch>
            <a:fillRect/>
          </a:stretch>
        </p:blipFill>
        <p:spPr>
          <a:xfrm>
            <a:off x="514421" y="2229936"/>
            <a:ext cx="4553449" cy="3474784"/>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6</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5276119" cy="1077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2"/>
            </a:pPr>
            <a:r>
              <a:rPr lang="en-US" altLang="ja-JP" sz="1600" dirty="0">
                <a:solidFill>
                  <a:srgbClr val="0070C0"/>
                </a:solidFill>
              </a:rPr>
              <a:t>Create a linear model, modelling secretin production as a function of  alcohol consumption. Construct a QQ-Plot of the residuals of this model. What does this tell us about whether the data in each group is normally distributed?</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36980" y="2056208"/>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1.1b of the code</a:t>
            </a:r>
            <a:endParaRPr lang="en-US" altLang="ja-JP" sz="1200" b="1" i="1" dirty="0">
              <a:solidFill>
                <a:schemeClr val="tx1"/>
              </a:solidFill>
            </a:endParaRPr>
          </a:p>
        </p:txBody>
      </p:sp>
      <p:sp>
        <p:nvSpPr>
          <p:cNvPr id="10" name="Text Placeholder 5">
            <a:extLst>
              <a:ext uri="{FF2B5EF4-FFF2-40B4-BE49-F238E27FC236}">
                <a16:creationId xmlns:a16="http://schemas.microsoft.com/office/drawing/2014/main" id="{46590C46-1BA3-4A58-6ABE-A718FBE0F1B0}"/>
              </a:ext>
            </a:extLst>
          </p:cNvPr>
          <p:cNvSpPr txBox="1">
            <a:spLocks/>
          </p:cNvSpPr>
          <p:nvPr/>
        </p:nvSpPr>
        <p:spPr>
          <a:xfrm>
            <a:off x="736980" y="5826490"/>
            <a:ext cx="4553450" cy="418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Suggests residuals are normally distributed.</a:t>
            </a:r>
            <a:br>
              <a:rPr lang="en-NZ" altLang="ja-JP" sz="1400" dirty="0">
                <a:solidFill>
                  <a:schemeClr val="tx1"/>
                </a:solidFill>
              </a:rPr>
            </a:br>
            <a:r>
              <a:rPr lang="en-NZ" altLang="ja-JP" sz="1400" dirty="0">
                <a:solidFill>
                  <a:schemeClr val="tx1"/>
                </a:solidFill>
                <a:sym typeface="Wingdings" panose="05000000000000000000" pitchFamily="2" charset="2"/>
              </a:rPr>
              <a:t> Data in each group is normally distributed</a:t>
            </a:r>
            <a:endParaRPr lang="en-US" altLang="ja-JP" sz="1400" b="1" i="1" dirty="0">
              <a:solidFill>
                <a:schemeClr val="tx1"/>
              </a:solidFill>
            </a:endParaRPr>
          </a:p>
        </p:txBody>
      </p:sp>
      <p:sp>
        <p:nvSpPr>
          <p:cNvPr id="12" name="Text Placeholder 5">
            <a:extLst>
              <a:ext uri="{FF2B5EF4-FFF2-40B4-BE49-F238E27FC236}">
                <a16:creationId xmlns:a16="http://schemas.microsoft.com/office/drawing/2014/main" id="{49FD9C64-71BD-0E3F-FFEB-E0EC9AEC649B}"/>
              </a:ext>
            </a:extLst>
          </p:cNvPr>
          <p:cNvSpPr txBox="1">
            <a:spLocks/>
          </p:cNvSpPr>
          <p:nvPr/>
        </p:nvSpPr>
        <p:spPr>
          <a:xfrm>
            <a:off x="6096000" y="979110"/>
            <a:ext cx="548058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3"/>
            </a:pPr>
            <a:r>
              <a:rPr lang="en-US" altLang="ja-JP" sz="1600" dirty="0">
                <a:solidFill>
                  <a:srgbClr val="0070C0"/>
                </a:solidFill>
              </a:rPr>
              <a:t>Conduct a Shapiro-Wilks test on the residuals of the linear model. What do you conclude?</a:t>
            </a:r>
          </a:p>
        </p:txBody>
      </p:sp>
      <p:sp>
        <p:nvSpPr>
          <p:cNvPr id="13" name="Text Placeholder 5">
            <a:extLst>
              <a:ext uri="{FF2B5EF4-FFF2-40B4-BE49-F238E27FC236}">
                <a16:creationId xmlns:a16="http://schemas.microsoft.com/office/drawing/2014/main" id="{37BAAEF2-0C08-9CDF-42FF-1542AF76571B}"/>
              </a:ext>
            </a:extLst>
          </p:cNvPr>
          <p:cNvSpPr txBox="1">
            <a:spLocks/>
          </p:cNvSpPr>
          <p:nvPr/>
        </p:nvSpPr>
        <p:spPr>
          <a:xfrm>
            <a:off x="6418075" y="1652465"/>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1.1c of the code</a:t>
            </a:r>
            <a:endParaRPr lang="en-US" altLang="ja-JP" sz="1200" b="1" i="1" dirty="0">
              <a:solidFill>
                <a:schemeClr val="tx1"/>
              </a:solidFill>
            </a:endParaRPr>
          </a:p>
        </p:txBody>
      </p:sp>
      <p:sp>
        <p:nvSpPr>
          <p:cNvPr id="14" name="Text Placeholder 5">
            <a:extLst>
              <a:ext uri="{FF2B5EF4-FFF2-40B4-BE49-F238E27FC236}">
                <a16:creationId xmlns:a16="http://schemas.microsoft.com/office/drawing/2014/main" id="{5C81C584-519C-D28F-06EC-7D59B0434239}"/>
              </a:ext>
            </a:extLst>
          </p:cNvPr>
          <p:cNvSpPr txBox="1">
            <a:spLocks/>
          </p:cNvSpPr>
          <p:nvPr/>
        </p:nvSpPr>
        <p:spPr>
          <a:xfrm>
            <a:off x="6418075" y="2075657"/>
            <a:ext cx="4553450" cy="1353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Shapiro-Wilks tests is designed to test between the following null and alternative hypotheses…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H0: Data is normally distributed</a:t>
            </a:r>
            <a:br>
              <a:rPr lang="en-NZ" altLang="ja-JP" sz="1400" dirty="0">
                <a:solidFill>
                  <a:schemeClr val="tx1"/>
                </a:solidFill>
              </a:rPr>
            </a:br>
            <a:r>
              <a:rPr lang="en-NZ" altLang="ja-JP" sz="1400" dirty="0">
                <a:solidFill>
                  <a:schemeClr val="tx1"/>
                </a:solidFill>
              </a:rPr>
              <a:t>H1: Data is not normally distributed</a:t>
            </a:r>
            <a:endParaRPr lang="en-US" altLang="ja-JP" sz="1400" dirty="0">
              <a:solidFill>
                <a:schemeClr val="tx1"/>
              </a:solidFill>
            </a:endParaRPr>
          </a:p>
        </p:txBody>
      </p:sp>
      <p:sp>
        <p:nvSpPr>
          <p:cNvPr id="3" name="Text Placeholder 5">
            <a:extLst>
              <a:ext uri="{FF2B5EF4-FFF2-40B4-BE49-F238E27FC236}">
                <a16:creationId xmlns:a16="http://schemas.microsoft.com/office/drawing/2014/main" id="{172DC634-6EF4-6C62-3FA5-3E61EFDC97AE}"/>
              </a:ext>
            </a:extLst>
          </p:cNvPr>
          <p:cNvSpPr txBox="1">
            <a:spLocks/>
          </p:cNvSpPr>
          <p:nvPr/>
        </p:nvSpPr>
        <p:spPr>
          <a:xfrm>
            <a:off x="6418075" y="3543636"/>
            <a:ext cx="4694941" cy="23324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In this case the Shapiro-Wilks test is applied to the residuals of our model and gives the following results…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	W = 0.99254, p-value = 0.1382</a:t>
            </a:r>
            <a:br>
              <a:rPr lang="en-NZ" altLang="ja-JP" sz="1400" dirty="0">
                <a:solidFill>
                  <a:schemeClr val="tx1"/>
                </a:solidFill>
              </a:rPr>
            </a:br>
            <a:endParaRPr lang="en-NZ" altLang="ja-JP" sz="1400" dirty="0">
              <a:solidFill>
                <a:schemeClr val="tx1"/>
              </a:solidFill>
            </a:endParaRPr>
          </a:p>
          <a:p>
            <a:pPr>
              <a:lnSpc>
                <a:spcPct val="100000"/>
              </a:lnSpc>
            </a:pPr>
            <a:r>
              <a:rPr lang="en-NZ" altLang="ja-JP" sz="1400" dirty="0">
                <a:solidFill>
                  <a:schemeClr val="tx1"/>
                </a:solidFill>
              </a:rPr>
              <a:t>No evidence against the null hypothesis that the residuals of our model are normally distributed.</a:t>
            </a:r>
          </a:p>
          <a:p>
            <a:pPr>
              <a:lnSpc>
                <a:spcPct val="100000"/>
              </a:lnSpc>
            </a:pPr>
            <a:endParaRPr lang="en-NZ" altLang="ja-JP" sz="1400" dirty="0">
              <a:solidFill>
                <a:schemeClr val="tx1"/>
              </a:solidFill>
            </a:endParaRPr>
          </a:p>
          <a:p>
            <a:pPr>
              <a:lnSpc>
                <a:spcPct val="100000"/>
              </a:lnSpc>
            </a:pPr>
            <a:r>
              <a:rPr lang="en-NZ" altLang="ja-JP" sz="1400" dirty="0">
                <a:solidFill>
                  <a:schemeClr val="tx1"/>
                </a:solidFill>
                <a:sym typeface="Wingdings" panose="05000000000000000000" pitchFamily="2" charset="2"/>
              </a:rPr>
              <a:t> No evidence against the null hypothesis that the data in each group is normally distributed.</a:t>
            </a:r>
            <a:endParaRPr lang="en-US" altLang="ja-JP" sz="1400" dirty="0">
              <a:solidFill>
                <a:schemeClr val="tx1"/>
              </a:solidFill>
            </a:endParaRPr>
          </a:p>
        </p:txBody>
      </p:sp>
    </p:spTree>
    <p:extLst>
      <p:ext uri="{BB962C8B-B14F-4D97-AF65-F5344CB8AC3E}">
        <p14:creationId xmlns:p14="http://schemas.microsoft.com/office/powerpoint/2010/main" val="562780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p:bldP spid="12" grpId="0"/>
      <p:bldP spid="13" grpId="0"/>
      <p:bldP spid="14"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BB12F5E-96E0-AACA-2F06-2440588732CF}"/>
              </a:ext>
            </a:extLst>
          </p:cNvPr>
          <p:cNvPicPr>
            <a:picLocks noChangeAspect="1"/>
          </p:cNvPicPr>
          <p:nvPr/>
        </p:nvPicPr>
        <p:blipFill>
          <a:blip r:embed="rId2"/>
          <a:stretch>
            <a:fillRect/>
          </a:stretch>
        </p:blipFill>
        <p:spPr>
          <a:xfrm>
            <a:off x="1110406" y="1373446"/>
            <a:ext cx="7651456" cy="4965963"/>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7</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46638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600" dirty="0">
                <a:solidFill>
                  <a:srgbClr val="0070C0"/>
                </a:solidFill>
              </a:rPr>
              <a:t>Construct a box plot of the data from each group.</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50627" y="1373446"/>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2.1a of the code</a:t>
            </a:r>
            <a:endParaRPr lang="en-US" altLang="ja-JP" sz="1200" b="1" i="1" dirty="0">
              <a:solidFill>
                <a:schemeClr val="tx1"/>
              </a:solidFill>
            </a:endParaRPr>
          </a:p>
        </p:txBody>
      </p:sp>
    </p:spTree>
    <p:extLst>
      <p:ext uri="{BB962C8B-B14F-4D97-AF65-F5344CB8AC3E}">
        <p14:creationId xmlns:p14="http://schemas.microsoft.com/office/powerpoint/2010/main" val="212724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368E9AF-0D06-9E8A-ABDA-E8DD94A64F5D}"/>
              </a:ext>
            </a:extLst>
          </p:cNvPr>
          <p:cNvPicPr>
            <a:picLocks noChangeAspect="1"/>
          </p:cNvPicPr>
          <p:nvPr/>
        </p:nvPicPr>
        <p:blipFill>
          <a:blip r:embed="rId2"/>
          <a:stretch>
            <a:fillRect/>
          </a:stretch>
        </p:blipFill>
        <p:spPr>
          <a:xfrm>
            <a:off x="6788742" y="4436305"/>
            <a:ext cx="2778339" cy="1673531"/>
          </a:xfrm>
          <a:prstGeom prst="rect">
            <a:avLst/>
          </a:prstGeom>
        </p:spPr>
      </p:pic>
      <p:sp>
        <p:nvSpPr>
          <p:cNvPr id="22" name="Slide Number Placeholder 3">
            <a:extLst>
              <a:ext uri="{FF2B5EF4-FFF2-40B4-BE49-F238E27FC236}">
                <a16:creationId xmlns:a16="http://schemas.microsoft.com/office/drawing/2014/main" id="{2A4E77AE-A8F4-4CFE-A7E4-1FE18F612BEC}"/>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54AD89C-DF1E-4948-B597-5DD47B34A9CA}" type="slidenum">
              <a:rPr kumimoji="1" lang="ja-JP" altLang="en-US" sz="4000" b="0" i="0" u="none" strike="noStrike" kern="1200" cap="none" spc="0" normalizeH="0" baseline="0" noProof="0" smtClean="0">
                <a:ln>
                  <a:noFill/>
                </a:ln>
                <a:solidFill>
                  <a:srgbClr val="575454">
                    <a:lumMod val="20000"/>
                    <a:lumOff val="80000"/>
                  </a:srgbClr>
                </a:solidFill>
                <a:effectLst/>
                <a:uLnTx/>
                <a:uFillTx/>
                <a:latin typeface="Coo Hew"/>
                <a:ea typeface="游ゴシック" panose="020B0400000000000000"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4000" b="0" i="0" u="none" strike="noStrike" kern="1200" cap="none" spc="0" normalizeH="0" baseline="0" noProof="0" dirty="0">
              <a:ln>
                <a:noFill/>
              </a:ln>
              <a:solidFill>
                <a:srgbClr val="575454">
                  <a:lumMod val="20000"/>
                  <a:lumOff val="80000"/>
                </a:srgbClr>
              </a:solidFill>
              <a:effectLst/>
              <a:uLnTx/>
              <a:uFillTx/>
              <a:latin typeface="Coo Hew"/>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14" name="Text Placeholder 5">
                <a:extLst>
                  <a:ext uri="{FF2B5EF4-FFF2-40B4-BE49-F238E27FC236}">
                    <a16:creationId xmlns:a16="http://schemas.microsoft.com/office/drawing/2014/main" id="{B66D493F-B398-0328-0C6C-BAC9C4331885}"/>
                  </a:ext>
                </a:extLst>
              </p:cNvPr>
              <p:cNvSpPr txBox="1">
                <a:spLocks/>
              </p:cNvSpPr>
              <p:nvPr/>
            </p:nvSpPr>
            <p:spPr>
              <a:xfrm>
                <a:off x="251219" y="1753893"/>
                <a:ext cx="6203665" cy="79432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fitted value for  </a:t>
                </a:r>
                <a14:m>
                  <m:oMath xmlns:m="http://schemas.openxmlformats.org/officeDocument/2006/math">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given by   </a:t>
                </a:r>
                <a14:m>
                  <m:oMath xmlns:m="http://schemas.openxmlformats.org/officeDocument/2006/math">
                    <m:sSub>
                      <m:sSubPr>
                        <m:ctrlP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acc>
                          <m:accPr>
                            <m:chr m:val="̅"/>
                            <m:ctrlP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𝒀</m:t>
                            </m:r>
                          </m:e>
                        </m:acc>
                      </m:e>
                      <m:sub>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𝒊</m:t>
                        </m:r>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The residual associated to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is given by   </a:t>
                </a:r>
                <a14:m>
                  <m:oMath xmlns:m="http://schemas.openxmlformats.org/officeDocument/2006/math">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𝝐</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acc>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4" name="Text Placeholder 5">
                <a:extLst>
                  <a:ext uri="{FF2B5EF4-FFF2-40B4-BE49-F238E27FC236}">
                    <a16:creationId xmlns:a16="http://schemas.microsoft.com/office/drawing/2014/main" id="{B66D493F-B398-0328-0C6C-BAC9C4331885}"/>
                  </a:ext>
                </a:extLst>
              </p:cNvPr>
              <p:cNvSpPr txBox="1">
                <a:spLocks noRot="1" noChangeAspect="1" noMove="1" noResize="1" noEditPoints="1" noAdjustHandles="1" noChangeArrowheads="1" noChangeShapeType="1" noTextEdit="1"/>
              </p:cNvSpPr>
              <p:nvPr/>
            </p:nvSpPr>
            <p:spPr>
              <a:xfrm>
                <a:off x="251219" y="1753893"/>
                <a:ext cx="6203665" cy="794327"/>
              </a:xfrm>
              <a:prstGeom prst="rect">
                <a:avLst/>
              </a:prstGeom>
              <a:blipFill>
                <a:blip r:embed="rId3"/>
                <a:stretch>
                  <a:fillRect l="-491" t="-1538"/>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16" name="Text Placeholder 5">
                <a:extLst>
                  <a:ext uri="{FF2B5EF4-FFF2-40B4-BE49-F238E27FC236}">
                    <a16:creationId xmlns:a16="http://schemas.microsoft.com/office/drawing/2014/main" id="{7E346CDA-3C65-30CF-FFC5-1930D0204E13}"/>
                  </a:ext>
                </a:extLst>
              </p:cNvPr>
              <p:cNvSpPr txBox="1">
                <a:spLocks/>
              </p:cNvSpPr>
              <p:nvPr/>
            </p:nvSpPr>
            <p:spPr>
              <a:xfrm>
                <a:off x="251218" y="3079415"/>
                <a:ext cx="11390321" cy="624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Since the data in each group is assigned the same fitted value (</a:t>
                </a:r>
                <a14:m>
                  <m:oMath xmlns:m="http://schemas.openxmlformats.org/officeDocument/2006/math">
                    <m:sSub>
                      <m:sSubPr>
                        <m:ctrlPr>
                          <a:rPr kumimoji="1" lang="en-NZ" sz="16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𝒀</m:t>
                            </m:r>
                          </m:e>
                        </m:acc>
                      </m:e>
                      <m:sub>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𝒊</m:t>
                        </m:r>
                        <m:r>
                          <a:rPr kumimoji="1" lang="en-NZ" sz="16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oMath>
                </a14:m>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if we were to construct a plot of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residuals</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on the </a:t>
                </a:r>
                <a:b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b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y-axis and</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1"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fitted values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on the x-axis</a:t>
                </a:r>
                <a:r>
                  <a:rPr kumimoji="1" lang="en-NZ" altLang="ja-JP" sz="1600" b="0" i="1"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this will result in a series of vertical ‘bands’ visualising the distribution of residuals in each group.</a:t>
                </a:r>
                <a:endPar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mc:Choice>
        <mc:Fallback xmlns="">
          <p:sp>
            <p:nvSpPr>
              <p:cNvPr id="16" name="Text Placeholder 5">
                <a:extLst>
                  <a:ext uri="{FF2B5EF4-FFF2-40B4-BE49-F238E27FC236}">
                    <a16:creationId xmlns:a16="http://schemas.microsoft.com/office/drawing/2014/main" id="{7E346CDA-3C65-30CF-FFC5-1930D0204E13}"/>
                  </a:ext>
                </a:extLst>
              </p:cNvPr>
              <p:cNvSpPr txBox="1">
                <a:spLocks noRot="1" noChangeAspect="1" noMove="1" noResize="1" noEditPoints="1" noAdjustHandles="1" noChangeArrowheads="1" noChangeShapeType="1" noTextEdit="1"/>
              </p:cNvSpPr>
              <p:nvPr/>
            </p:nvSpPr>
            <p:spPr>
              <a:xfrm>
                <a:off x="251218" y="3079415"/>
                <a:ext cx="11390321" cy="624140"/>
              </a:xfrm>
              <a:prstGeom prst="rect">
                <a:avLst/>
              </a:prstGeom>
              <a:blipFill>
                <a:blip r:embed="rId5"/>
                <a:stretch>
                  <a:fillRect l="-268" t="-2913" r="-268" b="-4854"/>
                </a:stretch>
              </a:blipFill>
            </p:spPr>
            <p:txBody>
              <a:bodyPr/>
              <a:lstStyle/>
              <a:p>
                <a:r>
                  <a:rPr lang="en-NZ">
                    <a:noFill/>
                  </a:rPr>
                  <a:t> </a:t>
                </a:r>
              </a:p>
            </p:txBody>
          </p:sp>
        </mc:Fallback>
      </mc:AlternateContent>
      <p:pic>
        <p:nvPicPr>
          <p:cNvPr id="3" name="Picture 2">
            <a:extLst>
              <a:ext uri="{FF2B5EF4-FFF2-40B4-BE49-F238E27FC236}">
                <a16:creationId xmlns:a16="http://schemas.microsoft.com/office/drawing/2014/main" id="{208C40EB-1477-7556-46CF-264D6BBE509B}"/>
              </a:ext>
            </a:extLst>
          </p:cNvPr>
          <p:cNvPicPr>
            <a:picLocks noChangeAspect="1"/>
          </p:cNvPicPr>
          <p:nvPr/>
        </p:nvPicPr>
        <p:blipFill>
          <a:blip r:embed="rId6"/>
          <a:stretch>
            <a:fillRect/>
          </a:stretch>
        </p:blipFill>
        <p:spPr>
          <a:xfrm>
            <a:off x="1300399" y="4395458"/>
            <a:ext cx="3067050" cy="1933575"/>
          </a:xfrm>
          <a:prstGeom prst="rect">
            <a:avLst/>
          </a:prstGeom>
        </p:spPr>
      </p:pic>
      <p:sp>
        <p:nvSpPr>
          <p:cNvPr id="26" name="Text Placeholder 5">
            <a:extLst>
              <a:ext uri="{FF2B5EF4-FFF2-40B4-BE49-F238E27FC236}">
                <a16:creationId xmlns:a16="http://schemas.microsoft.com/office/drawing/2014/main" id="{2F7583C9-E1DF-A054-7033-3E1954F1E9DC}"/>
              </a:ext>
            </a:extLst>
          </p:cNvPr>
          <p:cNvSpPr txBox="1">
            <a:spLocks/>
          </p:cNvSpPr>
          <p:nvPr/>
        </p:nvSpPr>
        <p:spPr>
          <a:xfrm rot="16200000">
            <a:off x="546579" y="4988966"/>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Residual</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27" name="Text Placeholder 5">
            <a:extLst>
              <a:ext uri="{FF2B5EF4-FFF2-40B4-BE49-F238E27FC236}">
                <a16:creationId xmlns:a16="http://schemas.microsoft.com/office/drawing/2014/main" id="{6289D9A7-D9F2-0F5D-127B-A2AFAF57E876}"/>
              </a:ext>
            </a:extLst>
          </p:cNvPr>
          <p:cNvSpPr txBox="1">
            <a:spLocks/>
          </p:cNvSpPr>
          <p:nvPr/>
        </p:nvSpPr>
        <p:spPr>
          <a:xfrm>
            <a:off x="2244202" y="6291970"/>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Fitted</a:t>
            </a:r>
          </a:p>
        </p:txBody>
      </p:sp>
      <p:sp>
        <p:nvSpPr>
          <p:cNvPr id="32" name="Text Placeholder 5">
            <a:extLst>
              <a:ext uri="{FF2B5EF4-FFF2-40B4-BE49-F238E27FC236}">
                <a16:creationId xmlns:a16="http://schemas.microsoft.com/office/drawing/2014/main" id="{B662FDBB-96B9-900E-1696-7F82BD808B72}"/>
              </a:ext>
            </a:extLst>
          </p:cNvPr>
          <p:cNvSpPr txBox="1">
            <a:spLocks/>
          </p:cNvSpPr>
          <p:nvPr/>
        </p:nvSpPr>
        <p:spPr>
          <a:xfrm>
            <a:off x="411725" y="3897596"/>
            <a:ext cx="5139813" cy="52409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Bands have the same ‘height’ </a:t>
            </a:r>
            <a:b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suggests constant variance</a:t>
            </a:r>
          </a:p>
        </p:txBody>
      </p:sp>
      <p:sp>
        <p:nvSpPr>
          <p:cNvPr id="33" name="Text Placeholder 5">
            <a:extLst>
              <a:ext uri="{FF2B5EF4-FFF2-40B4-BE49-F238E27FC236}">
                <a16:creationId xmlns:a16="http://schemas.microsoft.com/office/drawing/2014/main" id="{13DFD32F-4B25-8C18-C4D3-3C4C1B28AB53}"/>
              </a:ext>
            </a:extLst>
          </p:cNvPr>
          <p:cNvSpPr txBox="1">
            <a:spLocks/>
          </p:cNvSpPr>
          <p:nvPr/>
        </p:nvSpPr>
        <p:spPr>
          <a:xfrm rot="16200000">
            <a:off x="6034922" y="4861930"/>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Residual</a:t>
            </a:r>
            <a:endParaRPr kumimoji="1" lang="en-NZ" altLang="ja-JP" sz="14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p:txBody>
      </p:sp>
      <p:sp>
        <p:nvSpPr>
          <p:cNvPr id="34" name="Text Placeholder 5">
            <a:extLst>
              <a:ext uri="{FF2B5EF4-FFF2-40B4-BE49-F238E27FC236}">
                <a16:creationId xmlns:a16="http://schemas.microsoft.com/office/drawing/2014/main" id="{66193979-FD29-848E-B07F-F78F355A077E}"/>
              </a:ext>
            </a:extLst>
          </p:cNvPr>
          <p:cNvSpPr txBox="1">
            <a:spLocks/>
          </p:cNvSpPr>
          <p:nvPr/>
        </p:nvSpPr>
        <p:spPr>
          <a:xfrm>
            <a:off x="7732545" y="6164934"/>
            <a:ext cx="1179443" cy="32819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Fitted</a:t>
            </a:r>
          </a:p>
        </p:txBody>
      </p:sp>
      <mc:AlternateContent xmlns:mc="http://schemas.openxmlformats.org/markup-compatibility/2006" xmlns:a14="http://schemas.microsoft.com/office/drawing/2010/main">
        <mc:Choice Requires="a14">
          <p:sp>
            <p:nvSpPr>
              <p:cNvPr id="35" name="Text Placeholder 5">
                <a:extLst>
                  <a:ext uri="{FF2B5EF4-FFF2-40B4-BE49-F238E27FC236}">
                    <a16:creationId xmlns:a16="http://schemas.microsoft.com/office/drawing/2014/main" id="{0693ACA3-B856-1A5F-888E-CADF902F4654}"/>
                  </a:ext>
                </a:extLst>
              </p:cNvPr>
              <p:cNvSpPr txBox="1">
                <a:spLocks/>
              </p:cNvSpPr>
              <p:nvPr/>
            </p:nvSpPr>
            <p:spPr>
              <a:xfrm>
                <a:off x="251218" y="2442137"/>
                <a:ext cx="11390321" cy="62414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Since  </a:t>
                </a:r>
                <a14:m>
                  <m:oMath xmlns:m="http://schemas.openxmlformats.org/officeDocument/2006/math">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𝑽𝒂𝒓</m:t>
                    </m:r>
                    <m:d>
                      <m:dPr>
                        <m:begChr m:val="["/>
                        <m:endChr m:val="]"/>
                        <m:ctrlPr>
                          <a:rPr kumimoji="1" lang="en-NZ" altLang="ja-JP" sz="16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1" lang="en-NZ" altLang="ja-JP" sz="1600" b="0" i="0"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e>
                    </m:d>
                    <m:r>
                      <a:rPr kumimoji="1" lang="en-NZ" altLang="ja-JP" sz="1600" b="1" i="1" u="none" strike="noStrike" kern="1200" cap="none" spc="0" normalizeH="0" baseline="0" noProof="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𝑽𝒂𝒓</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sSub>
                      <m:sSubPr>
                        <m:ctrlP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prstClr val="black"/>
                        </a:solidFill>
                        <a:effectLst/>
                        <a:uLnTx/>
                        <a:uFillTx/>
                        <a:latin typeface="Cambria Math" panose="02040503050406030204" pitchFamily="18" charset="0"/>
                        <a:cs typeface="+mn-cs"/>
                      </a:rPr>
                      <m:t> ]</m:t>
                    </m:r>
                  </m:oMath>
                </a14:m>
                <a:r>
                  <a:rPr kumimoji="1" lang="en-NZ" altLang="ja-JP" sz="1600" b="1"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  </a:t>
                </a: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if the variance of the residuals in each group appears to be different this would suggest that the data in each group arises from populations with different variance.</a:t>
                </a:r>
              </a:p>
            </p:txBody>
          </p:sp>
        </mc:Choice>
        <mc:Fallback xmlns="">
          <p:sp>
            <p:nvSpPr>
              <p:cNvPr id="35" name="Text Placeholder 5">
                <a:extLst>
                  <a:ext uri="{FF2B5EF4-FFF2-40B4-BE49-F238E27FC236}">
                    <a16:creationId xmlns:a16="http://schemas.microsoft.com/office/drawing/2014/main" id="{0693ACA3-B856-1A5F-888E-CADF902F4654}"/>
                  </a:ext>
                </a:extLst>
              </p:cNvPr>
              <p:cNvSpPr txBox="1">
                <a:spLocks noRot="1" noChangeAspect="1" noMove="1" noResize="1" noEditPoints="1" noAdjustHandles="1" noChangeArrowheads="1" noChangeShapeType="1" noTextEdit="1"/>
              </p:cNvSpPr>
              <p:nvPr/>
            </p:nvSpPr>
            <p:spPr>
              <a:xfrm>
                <a:off x="251218" y="2442137"/>
                <a:ext cx="11390321" cy="624140"/>
              </a:xfrm>
              <a:prstGeom prst="rect">
                <a:avLst/>
              </a:prstGeom>
              <a:blipFill>
                <a:blip r:embed="rId8"/>
                <a:stretch>
                  <a:fillRect l="-268" r="-268" b="-12745"/>
                </a:stretch>
              </a:blipFill>
            </p:spPr>
            <p:txBody>
              <a:bodyPr/>
              <a:lstStyle/>
              <a:p>
                <a:r>
                  <a:rPr lang="en-NZ">
                    <a:noFill/>
                  </a:rPr>
                  <a:t> </a:t>
                </a:r>
              </a:p>
            </p:txBody>
          </p:sp>
        </mc:Fallback>
      </mc:AlternateContent>
      <p:sp>
        <p:nvSpPr>
          <p:cNvPr id="28" name="Text Placeholder 5">
            <a:extLst>
              <a:ext uri="{FF2B5EF4-FFF2-40B4-BE49-F238E27FC236}">
                <a16:creationId xmlns:a16="http://schemas.microsoft.com/office/drawing/2014/main" id="{4A8955AA-CDC6-EB9E-A3B9-BBF62F1820E7}"/>
              </a:ext>
            </a:extLst>
          </p:cNvPr>
          <p:cNvSpPr txBox="1">
            <a:spLocks/>
          </p:cNvSpPr>
          <p:nvPr/>
        </p:nvSpPr>
        <p:spPr>
          <a:xfrm>
            <a:off x="5946378" y="3894850"/>
            <a:ext cx="4504268" cy="705767"/>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Bands with differing ‘heights’ </a:t>
            </a:r>
            <a:b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br>
            <a:r>
              <a:rPr kumimoji="1" lang="en-NZ" altLang="ja-JP" sz="1400" b="0" i="0" u="none" strike="noStrike" kern="1200" cap="none" spc="0" normalizeH="0" baseline="0" noProof="0" dirty="0">
                <a:ln>
                  <a:noFill/>
                </a:ln>
                <a:solidFill>
                  <a:srgbClr val="0070C0"/>
                </a:solidFill>
                <a:effectLst/>
                <a:uLnTx/>
                <a:uFillTx/>
                <a:latin typeface="Calibri" panose="020F0502020204030204"/>
                <a:ea typeface="游ゴシック" panose="020B0400000000000000" pitchFamily="34" charset="-128"/>
                <a:cs typeface="+mn-cs"/>
              </a:rPr>
              <a:t>suggests non-constant variance</a:t>
            </a:r>
          </a:p>
        </p:txBody>
      </p:sp>
      <p:sp>
        <p:nvSpPr>
          <p:cNvPr id="2" name="Text Placeholder 5">
            <a:extLst>
              <a:ext uri="{FF2B5EF4-FFF2-40B4-BE49-F238E27FC236}">
                <a16:creationId xmlns:a16="http://schemas.microsoft.com/office/drawing/2014/main" id="{CBF6CB0A-EF97-6B0B-6224-5B9533BBB5FC}"/>
              </a:ext>
            </a:extLst>
          </p:cNvPr>
          <p:cNvSpPr txBox="1">
            <a:spLocks/>
          </p:cNvSpPr>
          <p:nvPr/>
        </p:nvSpPr>
        <p:spPr>
          <a:xfrm>
            <a:off x="251223" y="815333"/>
            <a:ext cx="5844775" cy="47594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NZ" altLang="ja-JP" sz="16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In one-way ANOVA we fit the model…</a:t>
            </a:r>
            <a:endParaRPr kumimoji="1" lang="en-NZ" altLang="ja-JP" sz="16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AlternateContent xmlns:mc="http://schemas.openxmlformats.org/markup-compatibility/2006" xmlns:a14="http://schemas.microsoft.com/office/drawing/2010/main">
        <mc:Choice Requires="a14">
          <p:sp>
            <p:nvSpPr>
              <p:cNvPr id="4" name="Text Placeholder 5">
                <a:extLst>
                  <a:ext uri="{FF2B5EF4-FFF2-40B4-BE49-F238E27FC236}">
                    <a16:creationId xmlns:a16="http://schemas.microsoft.com/office/drawing/2014/main" id="{30107DA5-1B9F-8A52-7A74-1FE51411430D}"/>
                  </a:ext>
                </a:extLst>
              </p:cNvPr>
              <p:cNvSpPr txBox="1">
                <a:spLocks/>
              </p:cNvSpPr>
              <p:nvPr/>
            </p:nvSpPr>
            <p:spPr>
              <a:xfrm>
                <a:off x="251224" y="1157790"/>
                <a:ext cx="4455382"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𝒀</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𝜶</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𝝁</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sub>
                      </m:s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  +   </m:t>
                      </m:r>
                      <m:sSub>
                        <m:sSubPr>
                          <m:ctrlP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ctrlPr>
                        </m:sSubPr>
                        <m:e>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𝝐</m:t>
                          </m:r>
                        </m:e>
                        <m:sub>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𝒊</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m:t>
                          </m:r>
                          <m:r>
                            <a:rPr kumimoji="1" lang="en-NZ" altLang="ja-JP" sz="1600" b="1" i="1" u="none" strike="noStrike" kern="1200" cap="none" spc="0" normalizeH="0" baseline="0" noProof="0" smtClean="0">
                              <a:ln>
                                <a:noFill/>
                              </a:ln>
                              <a:solidFill>
                                <a:srgbClr val="C00000"/>
                              </a:solidFill>
                              <a:effectLst/>
                              <a:uLnTx/>
                              <a:uFillTx/>
                              <a:latin typeface="Cambria Math" panose="02040503050406030204" pitchFamily="18" charset="0"/>
                              <a:cs typeface="+mn-cs"/>
                            </a:rPr>
                            <m:t>𝒋</m:t>
                          </m:r>
                        </m:sub>
                      </m:sSub>
                    </m:oMath>
                  </m:oMathPara>
                </a14:m>
                <a:endParaRPr kumimoji="1" lang="en-NZ" altLang="ja-JP" sz="1600" b="1"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4" name="Text Placeholder 5">
                <a:extLst>
                  <a:ext uri="{FF2B5EF4-FFF2-40B4-BE49-F238E27FC236}">
                    <a16:creationId xmlns:a16="http://schemas.microsoft.com/office/drawing/2014/main" id="{30107DA5-1B9F-8A52-7A74-1FE51411430D}"/>
                  </a:ext>
                </a:extLst>
              </p:cNvPr>
              <p:cNvSpPr txBox="1">
                <a:spLocks noRot="1" noChangeAspect="1" noMove="1" noResize="1" noEditPoints="1" noAdjustHandles="1" noChangeArrowheads="1" noChangeShapeType="1" noTextEdit="1"/>
              </p:cNvSpPr>
              <p:nvPr/>
            </p:nvSpPr>
            <p:spPr>
              <a:xfrm>
                <a:off x="251224" y="1157790"/>
                <a:ext cx="4455382" cy="474953"/>
              </a:xfrm>
              <a:prstGeom prst="rect">
                <a:avLst/>
              </a:prstGeom>
              <a:blipFill>
                <a:blip r:embed="rId9"/>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graphicFrame>
            <p:nvGraphicFramePr>
              <p:cNvPr id="6" name="Table 2">
                <a:extLst>
                  <a:ext uri="{FF2B5EF4-FFF2-40B4-BE49-F238E27FC236}">
                    <a16:creationId xmlns:a16="http://schemas.microsoft.com/office/drawing/2014/main" id="{073981EA-454B-C11E-88CE-5B7D2C702616}"/>
                  </a:ext>
                </a:extLst>
              </p:cNvPr>
              <p:cNvGraphicFramePr>
                <a:graphicFrameLocks noGrp="1"/>
              </p:cNvGraphicFramePr>
              <p:nvPr>
                <p:extLst>
                  <p:ext uri="{D42A27DB-BD31-4B8C-83A1-F6EECF244321}">
                    <p14:modId xmlns:p14="http://schemas.microsoft.com/office/powerpoint/2010/main" val="935207316"/>
                  </p:ext>
                </p:extLst>
              </p:nvPr>
            </p:nvGraphicFramePr>
            <p:xfrm>
              <a:off x="8602991" y="825393"/>
              <a:ext cx="3358920"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tblGrid>
                  <a:tr h="295770">
                    <a:tc>
                      <a:txBody>
                        <a:bodyPr/>
                        <a:lstStyle/>
                        <a:p>
                          <a:pPr algn="ctr"/>
                          <a:r>
                            <a:rPr lang="en-NZ" sz="1600" dirty="0"/>
                            <a:t>Parameter</a:t>
                          </a:r>
                        </a:p>
                      </a:txBody>
                      <a:tcPr anchor="ctr"/>
                    </a:tc>
                    <a:tc>
                      <a:txBody>
                        <a:bodyPr/>
                        <a:lstStyle/>
                        <a:p>
                          <a:pPr algn="ctr"/>
                          <a:r>
                            <a:rPr lang="en-NZ" sz="1600" dirty="0"/>
                            <a:t>Estimator</a:t>
                          </a:r>
                        </a:p>
                      </a:txBody>
                      <a:tcPr anchor="ctr"/>
                    </a:tc>
                    <a:extLst>
                      <a:ext uri="{0D108BD9-81ED-4DB2-BD59-A6C34878D82A}">
                        <a16:rowId xmlns:a16="http://schemas.microsoft.com/office/drawing/2014/main" val="3666350365"/>
                      </a:ext>
                    </a:extLst>
                  </a:tr>
                  <a:tr h="692260">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𝜇</m:t>
                                    </m:r>
                                  </m:e>
                                  <m:sub>
                                    <m:r>
                                      <a:rPr lang="en-NZ" sz="1600" b="0" i="1" smtClean="0">
                                        <a:latin typeface="Cambria Math" panose="02040503050406030204" pitchFamily="18" charset="0"/>
                                      </a:rPr>
                                      <m:t>𝑖</m:t>
                                    </m:r>
                                  </m:sub>
                                </m:sSub>
                              </m:oMath>
                            </m:oMathPara>
                          </a14:m>
                          <a:endParaRPr lang="en-NZ" sz="16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NZ" sz="1600" b="0" i="1" smtClean="0">
                                        <a:latin typeface="Cambria Math" panose="02040503050406030204" pitchFamily="18" charset="0"/>
                                      </a:rPr>
                                    </m:ctrlPr>
                                  </m:sSubPr>
                                  <m:e>
                                    <m:acc>
                                      <m:accPr>
                                        <m:chr m:val="̅"/>
                                        <m:ctrlPr>
                                          <a:rPr lang="en-NZ" sz="1600" i="1" smtClean="0">
                                            <a:latin typeface="Cambria Math" panose="02040503050406030204" pitchFamily="18" charset="0"/>
                                          </a:rPr>
                                        </m:ctrlPr>
                                      </m:accPr>
                                      <m:e>
                                        <m:r>
                                          <a:rPr lang="en-NZ" sz="1600" b="0" i="1" smtClean="0">
                                            <a:latin typeface="Cambria Math" panose="02040503050406030204" pitchFamily="18" charset="0"/>
                                          </a:rPr>
                                          <m:t>𝑌</m:t>
                                        </m:r>
                                      </m:e>
                                    </m:acc>
                                  </m:e>
                                  <m:sub>
                                    <m:r>
                                      <a:rPr lang="en-NZ" sz="1600" b="0" i="1" smtClean="0">
                                        <a:latin typeface="Cambria Math" panose="02040503050406030204" pitchFamily="18" charset="0"/>
                                      </a:rPr>
                                      <m:t>𝑖</m:t>
                                    </m:r>
                                    <m:r>
                                      <a:rPr lang="en-NZ" sz="1600" b="0" i="1" smtClean="0">
                                        <a:latin typeface="Cambria Math" panose="02040503050406030204" pitchFamily="18" charset="0"/>
                                        <a:ea typeface="Cambria Math" panose="02040503050406030204" pitchFamily="18" charset="0"/>
                                      </a:rPr>
                                      <m:t>∙</m:t>
                                    </m:r>
                                  </m:sub>
                                </m:sSub>
                                <m:r>
                                  <a:rPr lang="en-NZ" sz="1600" b="0" i="1" smtClean="0">
                                    <a:latin typeface="Cambria Math" panose="02040503050406030204" pitchFamily="18" charset="0"/>
                                  </a:rPr>
                                  <m:t>=</m:t>
                                </m:r>
                                <m:f>
                                  <m:fPr>
                                    <m:ctrlPr>
                                      <a:rPr lang="en-NZ" sz="1600" b="0" i="1" smtClean="0">
                                        <a:latin typeface="Cambria Math" panose="02040503050406030204" pitchFamily="18" charset="0"/>
                                      </a:rPr>
                                    </m:ctrlPr>
                                  </m:fPr>
                                  <m:num>
                                    <m:r>
                                      <a:rPr lang="en-NZ" sz="1600" b="0" i="1" smtClean="0">
                                        <a:latin typeface="Cambria Math" panose="02040503050406030204" pitchFamily="18" charset="0"/>
                                      </a:rPr>
                                      <m:t>1</m:t>
                                    </m:r>
                                  </m:num>
                                  <m:den>
                                    <m:r>
                                      <a:rPr lang="en-NZ" sz="1600" b="0" i="1" smtClean="0">
                                        <a:latin typeface="Cambria Math" panose="02040503050406030204" pitchFamily="18" charset="0"/>
                                      </a:rPr>
                                      <m:t>𝑛</m:t>
                                    </m:r>
                                  </m:den>
                                </m:f>
                                <m:r>
                                  <a:rPr lang="en-NZ" sz="1600" b="0" i="1" smtClean="0">
                                    <a:latin typeface="Cambria Math" panose="02040503050406030204" pitchFamily="18" charset="0"/>
                                  </a:rPr>
                                  <m:t> </m:t>
                                </m:r>
                                <m:nary>
                                  <m:naryPr>
                                    <m:chr m:val="∑"/>
                                    <m:ctrlPr>
                                      <a:rPr lang="en-NZ" sz="1600" b="0" i="1" smtClean="0">
                                        <a:latin typeface="Cambria Math" panose="02040503050406030204" pitchFamily="18" charset="0"/>
                                      </a:rPr>
                                    </m:ctrlPr>
                                  </m:naryPr>
                                  <m:sub>
                                    <m:r>
                                      <m:rPr>
                                        <m:brk m:alnAt="23"/>
                                      </m:rPr>
                                      <a:rPr lang="en-NZ" sz="1600" b="0" i="1" smtClean="0">
                                        <a:latin typeface="Cambria Math" panose="02040503050406030204" pitchFamily="18" charset="0"/>
                                      </a:rPr>
                                      <m:t>𝑗</m:t>
                                    </m:r>
                                    <m:r>
                                      <a:rPr lang="en-NZ" sz="1600" b="0" i="1" smtClean="0">
                                        <a:latin typeface="Cambria Math" panose="02040503050406030204" pitchFamily="18" charset="0"/>
                                      </a:rPr>
                                      <m:t>=1</m:t>
                                    </m:r>
                                  </m:sub>
                                  <m:sup>
                                    <m:r>
                                      <a:rPr lang="en-NZ" sz="1600" b="0" i="1" smtClean="0">
                                        <a:latin typeface="Cambria Math" panose="02040503050406030204" pitchFamily="18" charset="0"/>
                                      </a:rPr>
                                      <m:t>𝑛</m:t>
                                    </m:r>
                                  </m:sup>
                                  <m:e>
                                    <m:sSub>
                                      <m:sSubPr>
                                        <m:ctrlPr>
                                          <a:rPr lang="en-NZ" sz="1600" b="0" i="1" smtClean="0">
                                            <a:latin typeface="Cambria Math" panose="02040503050406030204" pitchFamily="18" charset="0"/>
                                          </a:rPr>
                                        </m:ctrlPr>
                                      </m:sSubPr>
                                      <m:e>
                                        <m:r>
                                          <a:rPr lang="en-NZ" sz="1600" b="0" i="1" smtClean="0">
                                            <a:latin typeface="Cambria Math" panose="02040503050406030204" pitchFamily="18" charset="0"/>
                                          </a:rPr>
                                          <m:t>𝑌</m:t>
                                        </m:r>
                                      </m:e>
                                      <m:sub>
                                        <m:r>
                                          <a:rPr lang="en-NZ" sz="1600" b="0" i="1" smtClean="0">
                                            <a:latin typeface="Cambria Math" panose="02040503050406030204" pitchFamily="18" charset="0"/>
                                          </a:rPr>
                                          <m:t>𝑖</m:t>
                                        </m:r>
                                        <m:r>
                                          <a:rPr lang="en-NZ" sz="1600" b="0" i="1" smtClean="0">
                                            <a:latin typeface="Cambria Math" panose="02040503050406030204" pitchFamily="18" charset="0"/>
                                          </a:rPr>
                                          <m:t>,</m:t>
                                        </m:r>
                                        <m:r>
                                          <a:rPr lang="en-NZ" sz="1600" b="0" i="1" smtClean="0">
                                            <a:latin typeface="Cambria Math" panose="02040503050406030204" pitchFamily="18" charset="0"/>
                                          </a:rPr>
                                          <m:t>𝑗</m:t>
                                        </m:r>
                                      </m:sub>
                                    </m:sSub>
                                  </m:e>
                                </m:nary>
                              </m:oMath>
                            </m:oMathPara>
                          </a14:m>
                          <a:endParaRPr lang="en-NZ" sz="1600" dirty="0"/>
                        </a:p>
                      </a:txBody>
                      <a:tcPr anchor="ctr"/>
                    </a:tc>
                    <a:extLst>
                      <a:ext uri="{0D108BD9-81ED-4DB2-BD59-A6C34878D82A}">
                        <a16:rowId xmlns:a16="http://schemas.microsoft.com/office/drawing/2014/main" val="3427382577"/>
                      </a:ext>
                    </a:extLst>
                  </a:tr>
                </a:tbl>
              </a:graphicData>
            </a:graphic>
          </p:graphicFrame>
        </mc:Choice>
        <mc:Fallback xmlns="">
          <p:graphicFrame>
            <p:nvGraphicFramePr>
              <p:cNvPr id="6" name="Table 2">
                <a:extLst>
                  <a:ext uri="{FF2B5EF4-FFF2-40B4-BE49-F238E27FC236}">
                    <a16:creationId xmlns:a16="http://schemas.microsoft.com/office/drawing/2014/main" id="{073981EA-454B-C11E-88CE-5B7D2C702616}"/>
                  </a:ext>
                </a:extLst>
              </p:cNvPr>
              <p:cNvGraphicFramePr>
                <a:graphicFrameLocks noGrp="1"/>
              </p:cNvGraphicFramePr>
              <p:nvPr>
                <p:extLst>
                  <p:ext uri="{D42A27DB-BD31-4B8C-83A1-F6EECF244321}">
                    <p14:modId xmlns:p14="http://schemas.microsoft.com/office/powerpoint/2010/main" val="935207316"/>
                  </p:ext>
                </p:extLst>
              </p:nvPr>
            </p:nvGraphicFramePr>
            <p:xfrm>
              <a:off x="8602991" y="825393"/>
              <a:ext cx="3358920" cy="1120013"/>
            </p:xfrm>
            <a:graphic>
              <a:graphicData uri="http://schemas.openxmlformats.org/drawingml/2006/table">
                <a:tbl>
                  <a:tblPr firstRow="1" bandRow="1">
                    <a:tableStyleId>{5C22544A-7EE6-4342-B048-85BDC9FD1C3A}</a:tableStyleId>
                  </a:tblPr>
                  <a:tblGrid>
                    <a:gridCol w="1488612">
                      <a:extLst>
                        <a:ext uri="{9D8B030D-6E8A-4147-A177-3AD203B41FA5}">
                          <a16:colId xmlns:a16="http://schemas.microsoft.com/office/drawing/2014/main" val="4198110682"/>
                        </a:ext>
                      </a:extLst>
                    </a:gridCol>
                    <a:gridCol w="1870308">
                      <a:extLst>
                        <a:ext uri="{9D8B030D-6E8A-4147-A177-3AD203B41FA5}">
                          <a16:colId xmlns:a16="http://schemas.microsoft.com/office/drawing/2014/main" val="292302729"/>
                        </a:ext>
                      </a:extLst>
                    </a:gridCol>
                  </a:tblGrid>
                  <a:tr h="335280">
                    <a:tc>
                      <a:txBody>
                        <a:bodyPr/>
                        <a:lstStyle/>
                        <a:p>
                          <a:pPr algn="ctr"/>
                          <a:r>
                            <a:rPr lang="en-NZ" sz="1600" dirty="0"/>
                            <a:t>Parameter</a:t>
                          </a:r>
                        </a:p>
                      </a:txBody>
                      <a:tcPr anchor="ctr"/>
                    </a:tc>
                    <a:tc>
                      <a:txBody>
                        <a:bodyPr/>
                        <a:lstStyle/>
                        <a:p>
                          <a:pPr algn="ctr"/>
                          <a:r>
                            <a:rPr lang="en-NZ" sz="1600" dirty="0"/>
                            <a:t>Estimator</a:t>
                          </a:r>
                        </a:p>
                      </a:txBody>
                      <a:tcPr anchor="ctr"/>
                    </a:tc>
                    <a:extLst>
                      <a:ext uri="{0D108BD9-81ED-4DB2-BD59-A6C34878D82A}">
                        <a16:rowId xmlns:a16="http://schemas.microsoft.com/office/drawing/2014/main" val="3666350365"/>
                      </a:ext>
                    </a:extLst>
                  </a:tr>
                  <a:tr h="784733">
                    <a:tc>
                      <a:txBody>
                        <a:bodyPr/>
                        <a:lstStyle/>
                        <a:p>
                          <a:endParaRPr lang="en-US"/>
                        </a:p>
                      </a:txBody>
                      <a:tcPr anchor="ctr">
                        <a:blipFill>
                          <a:blip r:embed="rId10"/>
                          <a:stretch>
                            <a:fillRect l="-408" t="-44615" r="-126939" b="-1538"/>
                          </a:stretch>
                        </a:blipFill>
                      </a:tcPr>
                    </a:tc>
                    <a:tc>
                      <a:txBody>
                        <a:bodyPr/>
                        <a:lstStyle/>
                        <a:p>
                          <a:endParaRPr lang="en-US"/>
                        </a:p>
                      </a:txBody>
                      <a:tcPr anchor="ctr">
                        <a:blipFill>
                          <a:blip r:embed="rId10"/>
                          <a:stretch>
                            <a:fillRect l="-80130" t="-44615" r="-1303" b="-1538"/>
                          </a:stretch>
                        </a:blipFill>
                      </a:tcPr>
                    </a:tc>
                    <a:extLst>
                      <a:ext uri="{0D108BD9-81ED-4DB2-BD59-A6C34878D82A}">
                        <a16:rowId xmlns:a16="http://schemas.microsoft.com/office/drawing/2014/main" val="3427382577"/>
                      </a:ext>
                    </a:extLst>
                  </a:tr>
                </a:tbl>
              </a:graphicData>
            </a:graphic>
          </p:graphicFrame>
        </mc:Fallback>
      </mc:AlternateContent>
      <mc:AlternateContent xmlns:mc="http://schemas.openxmlformats.org/markup-compatibility/2006" xmlns:a14="http://schemas.microsoft.com/office/drawing/2010/main">
        <mc:Choice Requires="a14">
          <p:sp>
            <p:nvSpPr>
              <p:cNvPr id="8" name="Text Placeholder 5">
                <a:extLst>
                  <a:ext uri="{FF2B5EF4-FFF2-40B4-BE49-F238E27FC236}">
                    <a16:creationId xmlns:a16="http://schemas.microsoft.com/office/drawing/2014/main" id="{333A6313-F4ED-3AFB-5AA0-FFA48CA56F98}"/>
                  </a:ext>
                </a:extLst>
              </p:cNvPr>
              <p:cNvSpPr txBox="1">
                <a:spLocks/>
              </p:cNvSpPr>
              <p:nvPr/>
            </p:nvSpPr>
            <p:spPr>
              <a:xfrm>
                <a:off x="6580536" y="876160"/>
                <a:ext cx="1846914" cy="103821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d>
                        <m:dPr>
                          <m:begChr m:val="["/>
                          <m:endChr m:val="]"/>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m>
                            <m:mPr>
                              <m:mcs>
                                <m:mc>
                                  <m:mcPr>
                                    <m:count m:val="3"/>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sub>
                                </m:sSub>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2</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r>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,1</m:t>
                                          </m:r>
                                        </m:sub>
                                      </m:sSub>
                                    </m:e>
                                  </m:mr>
                                </m:m>
                              </m:e>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e>
                                  </m:mr>
                                </m:m>
                              </m:e>
                              <m:e>
                                <m:m>
                                  <m:mPr>
                                    <m:mcs>
                                      <m:mc>
                                        <m:mcPr>
                                          <m:count m:val="2"/>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e>
                                    <m:e>
                                      <m:m>
                                        <m:mPr>
                                          <m:mcs>
                                            <m:mc>
                                              <m:mcPr>
                                                <m:count m:val="1"/>
                                                <m:mcJc m:val="center"/>
                                              </m:mcPr>
                                            </m:mc>
                                          </m:mcs>
                                          <m:ctrlP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mPr>
                                        <m:mr>
                                          <m:e>
                                            <m:r>
                                              <m:rPr>
                                                <m:brk m:alnAt="7"/>
                                              </m:r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e>
                                        </m:mr>
                                        <m:mr>
                                          <m:e>
                                            <m:sSub>
                                              <m:sSubPr>
                                                <m:ctrlP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𝑌</m:t>
                                                </m:r>
                                              </m:e>
                                              <m:sub>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𝑘</m:t>
                                                </m:r>
                                                <m:r>
                                                  <a:rPr kumimoji="1" lang="en-NZ" altLang="ja-JP" sz="1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1" lang="en-NZ" altLang="ja-JP" sz="1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𝑛</m:t>
                                                </m:r>
                                              </m:sub>
                                            </m:sSub>
                                          </m:e>
                                        </m:mr>
                                      </m:m>
                                    </m:e>
                                  </m:mr>
                                </m:m>
                              </m:e>
                            </m:mr>
                          </m:m>
                        </m:e>
                      </m:d>
                    </m:oMath>
                  </m:oMathPara>
                </a14:m>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endParaRPr>
              </a:p>
              <a:p>
                <a:pPr marL="0" marR="0" lvl="0" indent="0" algn="just" defTabSz="914324"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NZ" altLang="ja-JP" sz="1400" b="0" i="1" u="none" strike="noStrike" kern="1200" cap="none" spc="0" normalizeH="0" baseline="0" noProof="0" dirty="0">
                  <a:ln>
                    <a:noFill/>
                  </a:ln>
                  <a:solidFill>
                    <a:srgbClr val="C00000"/>
                  </a:solidFill>
                  <a:effectLst/>
                  <a:uLnTx/>
                  <a:uFillTx/>
                  <a:latin typeface="Calibri" panose="020F0502020204030204"/>
                  <a:ea typeface="游ゴシック" panose="020B0400000000000000" pitchFamily="34" charset="-128"/>
                  <a:cs typeface="+mn-cs"/>
                </a:endParaRPr>
              </a:p>
            </p:txBody>
          </p:sp>
        </mc:Choice>
        <mc:Fallback xmlns="">
          <p:sp>
            <p:nvSpPr>
              <p:cNvPr id="8" name="Text Placeholder 5">
                <a:extLst>
                  <a:ext uri="{FF2B5EF4-FFF2-40B4-BE49-F238E27FC236}">
                    <a16:creationId xmlns:a16="http://schemas.microsoft.com/office/drawing/2014/main" id="{333A6313-F4ED-3AFB-5AA0-FFA48CA56F98}"/>
                  </a:ext>
                </a:extLst>
              </p:cNvPr>
              <p:cNvSpPr txBox="1">
                <a:spLocks noRot="1" noChangeAspect="1" noMove="1" noResize="1" noEditPoints="1" noAdjustHandles="1" noChangeArrowheads="1" noChangeShapeType="1" noTextEdit="1"/>
              </p:cNvSpPr>
              <p:nvPr/>
            </p:nvSpPr>
            <p:spPr>
              <a:xfrm>
                <a:off x="6580536" y="876160"/>
                <a:ext cx="1846914" cy="1038211"/>
              </a:xfrm>
              <a:prstGeom prst="rect">
                <a:avLst/>
              </a:prstGeom>
              <a:blipFill>
                <a:blip r:embed="rId11"/>
                <a:stretch>
                  <a:fillRect/>
                </a:stretch>
              </a:blipFill>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8044DC76-5CBE-4FE9-27C8-A2F2DD4D2532}"/>
                  </a:ext>
                </a:extLst>
              </p:cNvPr>
              <p:cNvSpPr txBox="1">
                <a:spLocks/>
              </p:cNvSpPr>
              <p:nvPr/>
            </p:nvSpPr>
            <p:spPr>
              <a:xfrm>
                <a:off x="4469861" y="1158372"/>
                <a:ext cx="1714357"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324" rtl="0" eaLnBrk="1" fontAlgn="auto" latinLnBrk="0" hangingPunct="1">
                  <a:lnSpc>
                    <a:spcPct val="100000"/>
                  </a:lnSpc>
                  <a:spcBef>
                    <a:spcPts val="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
                        <m:sSubPr>
                          <m:ctrlPr>
                            <a:rPr kumimoji="1" lang="en-NZ" altLang="ja-JP" sz="160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ctrlPr>
                        </m:sSubPr>
                        <m:e>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𝜖</m:t>
                          </m:r>
                        </m:e>
                        <m:sub>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𝑖</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𝑗</m:t>
                          </m:r>
                        </m:sub>
                      </m:sSub>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 ~ </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𝑁</m:t>
                      </m:r>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(0, </m:t>
                      </m:r>
                      <m:sSup>
                        <m:sSupPr>
                          <m:ctrlPr>
                            <a:rPr kumimoji="1" lang="en-NZ" altLang="ja-JP" sz="160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ctrlPr>
                        </m:sSupPr>
                        <m:e>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𝜎</m:t>
                          </m:r>
                        </m:e>
                        <m:sup>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2</m:t>
                          </m:r>
                        </m:sup>
                      </m:sSup>
                      <m:r>
                        <a:rPr kumimoji="1" lang="en-NZ" altLang="ja-JP" sz="1600" b="0" i="1" u="none" strike="noStrike" kern="1200" cap="none" spc="0" normalizeH="0" baseline="0" noProof="0" smtClean="0">
                          <a:ln>
                            <a:noFill/>
                          </a:ln>
                          <a:solidFill>
                            <a:schemeClr val="bg2">
                              <a:lumMod val="50000"/>
                            </a:schemeClr>
                          </a:solidFill>
                          <a:effectLst/>
                          <a:uLnTx/>
                          <a:uFillTx/>
                          <a:latin typeface="Cambria Math" panose="02040503050406030204" pitchFamily="18" charset="0"/>
                          <a:cs typeface="+mn-cs"/>
                        </a:rPr>
                        <m:t>)</m:t>
                      </m:r>
                    </m:oMath>
                  </m:oMathPara>
                </a14:m>
                <a:endParaRPr kumimoji="1" lang="en-NZ" altLang="ja-JP" sz="1600" i="1" u="none" strike="noStrike" kern="1200" cap="none" spc="0" normalizeH="0" baseline="0" noProof="0" dirty="0">
                  <a:ln>
                    <a:noFill/>
                  </a:ln>
                  <a:solidFill>
                    <a:schemeClr val="bg2">
                      <a:lumMod val="50000"/>
                    </a:schemeClr>
                  </a:solidFill>
                  <a:effectLst/>
                  <a:uLnTx/>
                  <a:uFillTx/>
                  <a:latin typeface="Calibri" panose="020F0502020204030204"/>
                  <a:ea typeface="游ゴシック" panose="020B0400000000000000" pitchFamily="34" charset="-128"/>
                  <a:cs typeface="+mn-cs"/>
                </a:endParaRPr>
              </a:p>
            </p:txBody>
          </p:sp>
        </mc:Choice>
        <mc:Fallback xmlns="">
          <p:sp>
            <p:nvSpPr>
              <p:cNvPr id="9" name="Text Placeholder 5">
                <a:extLst>
                  <a:ext uri="{FF2B5EF4-FFF2-40B4-BE49-F238E27FC236}">
                    <a16:creationId xmlns:a16="http://schemas.microsoft.com/office/drawing/2014/main" id="{8044DC76-5CBE-4FE9-27C8-A2F2DD4D2532}"/>
                  </a:ext>
                </a:extLst>
              </p:cNvPr>
              <p:cNvSpPr txBox="1">
                <a:spLocks noRot="1" noChangeAspect="1" noMove="1" noResize="1" noEditPoints="1" noAdjustHandles="1" noChangeArrowheads="1" noChangeShapeType="1" noTextEdit="1"/>
              </p:cNvSpPr>
              <p:nvPr/>
            </p:nvSpPr>
            <p:spPr>
              <a:xfrm>
                <a:off x="4469861" y="1158372"/>
                <a:ext cx="1714357" cy="474953"/>
              </a:xfrm>
              <a:prstGeom prst="rect">
                <a:avLst/>
              </a:prstGeom>
              <a:blipFill>
                <a:blip r:embed="rId12"/>
                <a:stretch>
                  <a:fillRect/>
                </a:stretch>
              </a:blipFill>
            </p:spPr>
            <p:txBody>
              <a:bodyPr/>
              <a:lstStyle/>
              <a:p>
                <a:r>
                  <a:rPr lang="en-NZ">
                    <a:noFill/>
                  </a:rPr>
                  <a:t> </a:t>
                </a:r>
              </a:p>
            </p:txBody>
          </p:sp>
        </mc:Fallback>
      </mc:AlternateContent>
      <p:sp>
        <p:nvSpPr>
          <p:cNvPr id="10" name="Title 6">
            <a:extLst>
              <a:ext uri="{FF2B5EF4-FFF2-40B4-BE49-F238E27FC236}">
                <a16:creationId xmlns:a16="http://schemas.microsoft.com/office/drawing/2014/main" id="{4C15A79D-E579-D7AB-8C36-F5F548829DB0}"/>
              </a:ext>
            </a:extLst>
          </p:cNvPr>
          <p:cNvSpPr txBox="1">
            <a:spLocks/>
          </p:cNvSpPr>
          <p:nvPr/>
        </p:nvSpPr>
        <p:spPr>
          <a:xfrm>
            <a:off x="251219" y="182071"/>
            <a:ext cx="8660764" cy="607201"/>
          </a:xfrm>
          <a:prstGeom prst="rect">
            <a:avLst/>
          </a:prstGeom>
        </p:spPr>
        <p:txBody>
          <a:bodyPr anchor="t">
            <a:normAutofit fontScale="92500"/>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pPr marL="0" marR="0" lvl="0" indent="0" algn="l" defTabSz="914324" rtl="0" eaLnBrk="1" fontAlgn="auto" latinLnBrk="0" hangingPunct="1">
              <a:lnSpc>
                <a:spcPct val="90000"/>
              </a:lnSpc>
              <a:spcBef>
                <a:spcPct val="0"/>
              </a:spcBef>
              <a:spcAft>
                <a:spcPts val="0"/>
              </a:spcAft>
              <a:buClrTx/>
              <a:buSzTx/>
              <a:buFontTx/>
              <a:buNone/>
              <a:tabLst/>
              <a:defRPr/>
            </a:pPr>
            <a:r>
              <a:rPr lang="en-US" altLang="ja-JP" b="1" u="sng" dirty="0">
                <a:solidFill>
                  <a:prstClr val="black"/>
                </a:solidFill>
                <a:latin typeface="Calibri" panose="020F0502020204030204"/>
                <a:ea typeface="游ゴシック Light" panose="020B0300000000000000" pitchFamily="34" charset="-128"/>
              </a:rPr>
              <a:t>What do Residual-vs-Fitted-Value Plots Show?</a:t>
            </a:r>
            <a:endParaRPr kumimoji="1" lang="ja-JP" altLang="en-US" sz="3600" b="1" i="0" u="sng" strike="noStrike" kern="1200" cap="none" spc="0" normalizeH="0" baseline="0" noProof="0" dirty="0">
              <a:ln>
                <a:noFill/>
              </a:ln>
              <a:solidFill>
                <a:prstClr val="black"/>
              </a:solidFill>
              <a:effectLst/>
              <a:uLnTx/>
              <a:uFillTx/>
              <a:latin typeface="Calibri" panose="020F0502020204030204"/>
              <a:ea typeface="游ゴシック Light" panose="020B0300000000000000" pitchFamily="34" charset="-128"/>
              <a:cs typeface="+mj-cs"/>
            </a:endParaRPr>
          </a:p>
        </p:txBody>
      </p:sp>
      <p:sp>
        <p:nvSpPr>
          <p:cNvPr id="11" name="Footer Placeholder 2">
            <a:extLst>
              <a:ext uri="{FF2B5EF4-FFF2-40B4-BE49-F238E27FC236}">
                <a16:creationId xmlns:a16="http://schemas.microsoft.com/office/drawing/2014/main" id="{5122FC11-8F15-9023-7906-85CC3C839199}"/>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Tree>
    <p:extLst>
      <p:ext uri="{BB962C8B-B14F-4D97-AF65-F5344CB8AC3E}">
        <p14:creationId xmlns:p14="http://schemas.microsoft.com/office/powerpoint/2010/main" val="376516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14" grpId="0"/>
      <p:bldP spid="16" grpId="0"/>
      <p:bldP spid="26" grpId="0"/>
      <p:bldP spid="27" grpId="0"/>
      <p:bldP spid="32" grpId="0"/>
      <p:bldP spid="33" grpId="0"/>
      <p:bldP spid="34" grpId="0"/>
      <p:bldP spid="35" grpId="0"/>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9995B9-F058-0F30-0559-8648A3DED7CC}"/>
              </a:ext>
            </a:extLst>
          </p:cNvPr>
          <p:cNvPicPr>
            <a:picLocks noChangeAspect="1"/>
          </p:cNvPicPr>
          <p:nvPr/>
        </p:nvPicPr>
        <p:blipFill>
          <a:blip r:embed="rId2"/>
          <a:stretch>
            <a:fillRect/>
          </a:stretch>
        </p:blipFill>
        <p:spPr>
          <a:xfrm>
            <a:off x="319463" y="2362777"/>
            <a:ext cx="4757503" cy="3155158"/>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9</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5276119" cy="1077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5"/>
            </a:pPr>
            <a:r>
              <a:rPr lang="en-US" altLang="ja-JP" sz="1600" dirty="0">
                <a:solidFill>
                  <a:srgbClr val="0070C0"/>
                </a:solidFill>
              </a:rPr>
              <a:t>Construct a residual-vs-fitted value plot using the output of the model constructed in part b). What does this tell you as to whether the data in each group arises from distributions with the same variance?</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36980" y="2056208"/>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2.1b of the code</a:t>
            </a:r>
            <a:endParaRPr lang="en-US" altLang="ja-JP" sz="1200" b="1" i="1" dirty="0">
              <a:solidFill>
                <a:schemeClr val="tx1"/>
              </a:solidFill>
            </a:endParaRPr>
          </a:p>
        </p:txBody>
      </p:sp>
      <p:sp>
        <p:nvSpPr>
          <p:cNvPr id="10" name="Text Placeholder 5">
            <a:extLst>
              <a:ext uri="{FF2B5EF4-FFF2-40B4-BE49-F238E27FC236}">
                <a16:creationId xmlns:a16="http://schemas.microsoft.com/office/drawing/2014/main" id="{46590C46-1BA3-4A58-6ABE-A718FBE0F1B0}"/>
              </a:ext>
            </a:extLst>
          </p:cNvPr>
          <p:cNvSpPr txBox="1">
            <a:spLocks/>
          </p:cNvSpPr>
          <p:nvPr/>
        </p:nvSpPr>
        <p:spPr>
          <a:xfrm>
            <a:off x="736980" y="5610496"/>
            <a:ext cx="4553450" cy="418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Bands roughly the same height</a:t>
            </a:r>
            <a:br>
              <a:rPr lang="en-NZ" altLang="ja-JP" sz="1400" dirty="0">
                <a:solidFill>
                  <a:schemeClr val="tx1"/>
                </a:solidFill>
              </a:rPr>
            </a:br>
            <a:r>
              <a:rPr lang="en-NZ" altLang="ja-JP" sz="1400" dirty="0">
                <a:solidFill>
                  <a:schemeClr val="tx1"/>
                </a:solidFill>
                <a:sym typeface="Wingdings" panose="05000000000000000000" pitchFamily="2" charset="2"/>
              </a:rPr>
              <a:t> Suggests residuals (and therefore the data) in each group has the same variance</a:t>
            </a:r>
            <a:endParaRPr lang="en-US" altLang="ja-JP" sz="1400" b="1" i="1" dirty="0">
              <a:solidFill>
                <a:schemeClr val="tx1"/>
              </a:solidFill>
            </a:endParaRPr>
          </a:p>
        </p:txBody>
      </p:sp>
      <p:sp>
        <p:nvSpPr>
          <p:cNvPr id="12" name="Text Placeholder 5">
            <a:extLst>
              <a:ext uri="{FF2B5EF4-FFF2-40B4-BE49-F238E27FC236}">
                <a16:creationId xmlns:a16="http://schemas.microsoft.com/office/drawing/2014/main" id="{49FD9C64-71BD-0E3F-FFEB-E0EC9AEC649B}"/>
              </a:ext>
            </a:extLst>
          </p:cNvPr>
          <p:cNvSpPr txBox="1">
            <a:spLocks/>
          </p:cNvSpPr>
          <p:nvPr/>
        </p:nvSpPr>
        <p:spPr>
          <a:xfrm>
            <a:off x="6096000" y="979110"/>
            <a:ext cx="548058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6"/>
            </a:pPr>
            <a:r>
              <a:rPr lang="en-US" altLang="ja-JP" sz="1600" dirty="0">
                <a:solidFill>
                  <a:srgbClr val="0070C0"/>
                </a:solidFill>
              </a:rPr>
              <a:t>Conduct a </a:t>
            </a:r>
            <a:r>
              <a:rPr lang="en-US" altLang="ja-JP" sz="1600" dirty="0" err="1">
                <a:solidFill>
                  <a:srgbClr val="0070C0"/>
                </a:solidFill>
              </a:rPr>
              <a:t>Levene’s</a:t>
            </a:r>
            <a:r>
              <a:rPr lang="en-US" altLang="ja-JP" sz="1600" dirty="0">
                <a:solidFill>
                  <a:srgbClr val="0070C0"/>
                </a:solidFill>
              </a:rPr>
              <a:t> test to test whether the data in each group arises from distributions with the same variance? What do you conclude?</a:t>
            </a:r>
          </a:p>
        </p:txBody>
      </p:sp>
      <p:sp>
        <p:nvSpPr>
          <p:cNvPr id="13" name="Text Placeholder 5">
            <a:extLst>
              <a:ext uri="{FF2B5EF4-FFF2-40B4-BE49-F238E27FC236}">
                <a16:creationId xmlns:a16="http://schemas.microsoft.com/office/drawing/2014/main" id="{37BAAEF2-0C08-9CDF-42FF-1542AF76571B}"/>
              </a:ext>
            </a:extLst>
          </p:cNvPr>
          <p:cNvSpPr txBox="1">
            <a:spLocks/>
          </p:cNvSpPr>
          <p:nvPr/>
        </p:nvSpPr>
        <p:spPr>
          <a:xfrm>
            <a:off x="6418075" y="1767101"/>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2.1c of the code</a:t>
            </a:r>
            <a:endParaRPr lang="en-US" altLang="ja-JP" sz="1200" b="1" i="1" dirty="0">
              <a:solidFill>
                <a:schemeClr val="tx1"/>
              </a:solidFill>
            </a:endParaRPr>
          </a:p>
        </p:txBody>
      </p:sp>
      <p:sp>
        <p:nvSpPr>
          <p:cNvPr id="14" name="Text Placeholder 5">
            <a:extLst>
              <a:ext uri="{FF2B5EF4-FFF2-40B4-BE49-F238E27FC236}">
                <a16:creationId xmlns:a16="http://schemas.microsoft.com/office/drawing/2014/main" id="{5C81C584-519C-D28F-06EC-7D59B0434239}"/>
              </a:ext>
            </a:extLst>
          </p:cNvPr>
          <p:cNvSpPr txBox="1">
            <a:spLocks/>
          </p:cNvSpPr>
          <p:nvPr/>
        </p:nvSpPr>
        <p:spPr>
          <a:xfrm>
            <a:off x="6418075" y="2362778"/>
            <a:ext cx="4553450" cy="120668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err="1">
                <a:solidFill>
                  <a:schemeClr val="tx1"/>
                </a:solidFill>
              </a:rPr>
              <a:t>Levene’s</a:t>
            </a:r>
            <a:r>
              <a:rPr lang="en-NZ" altLang="ja-JP" sz="1400" dirty="0">
                <a:solidFill>
                  <a:schemeClr val="tx1"/>
                </a:solidFill>
              </a:rPr>
              <a:t> tests is designed to test between the following null and alternative hypotheses…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H0: Data arise from distributions with the same variance</a:t>
            </a:r>
            <a:br>
              <a:rPr lang="en-NZ" altLang="ja-JP" sz="1400" dirty="0">
                <a:solidFill>
                  <a:schemeClr val="tx1"/>
                </a:solidFill>
              </a:rPr>
            </a:br>
            <a:r>
              <a:rPr lang="en-NZ" altLang="ja-JP" sz="1400" dirty="0">
                <a:solidFill>
                  <a:schemeClr val="tx1"/>
                </a:solidFill>
              </a:rPr>
              <a:t>H1: Data arise from distributions with different variances</a:t>
            </a:r>
          </a:p>
        </p:txBody>
      </p:sp>
      <p:sp>
        <p:nvSpPr>
          <p:cNvPr id="3" name="Text Placeholder 5">
            <a:extLst>
              <a:ext uri="{FF2B5EF4-FFF2-40B4-BE49-F238E27FC236}">
                <a16:creationId xmlns:a16="http://schemas.microsoft.com/office/drawing/2014/main" id="{391E9230-98CA-B935-1940-DA9F8E452851}"/>
              </a:ext>
            </a:extLst>
          </p:cNvPr>
          <p:cNvSpPr txBox="1">
            <a:spLocks/>
          </p:cNvSpPr>
          <p:nvPr/>
        </p:nvSpPr>
        <p:spPr>
          <a:xfrm>
            <a:off x="6418075" y="3774473"/>
            <a:ext cx="4553450" cy="1494492"/>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In this case </a:t>
            </a:r>
            <a:r>
              <a:rPr lang="en-NZ" altLang="ja-JP" sz="1400" dirty="0" err="1">
                <a:solidFill>
                  <a:schemeClr val="tx1"/>
                </a:solidFill>
              </a:rPr>
              <a:t>Levene’s</a:t>
            </a:r>
            <a:r>
              <a:rPr lang="en-NZ" altLang="ja-JP" sz="1400" dirty="0">
                <a:solidFill>
                  <a:schemeClr val="tx1"/>
                </a:solidFill>
              </a:rPr>
              <a:t> test is applied to the data in each group</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	F = 0.1397,  p-value = 0.8697</a:t>
            </a:r>
            <a:br>
              <a:rPr lang="en-NZ" altLang="ja-JP" sz="1400" dirty="0">
                <a:solidFill>
                  <a:schemeClr val="tx1"/>
                </a:solidFill>
              </a:rPr>
            </a:br>
            <a:endParaRPr lang="en-NZ" altLang="ja-JP" sz="1400" dirty="0">
              <a:solidFill>
                <a:schemeClr val="tx1"/>
              </a:solidFill>
            </a:endParaRPr>
          </a:p>
          <a:p>
            <a:pPr>
              <a:lnSpc>
                <a:spcPct val="100000"/>
              </a:lnSpc>
            </a:pPr>
            <a:r>
              <a:rPr lang="en-NZ" altLang="ja-JP" sz="1400" dirty="0">
                <a:solidFill>
                  <a:schemeClr val="tx1"/>
                </a:solidFill>
              </a:rPr>
              <a:t>No evidence against the null hypothesis that the data from each group arise from distributions with the same variance.</a:t>
            </a:r>
          </a:p>
        </p:txBody>
      </p:sp>
    </p:spTree>
    <p:extLst>
      <p:ext uri="{BB962C8B-B14F-4D97-AF65-F5344CB8AC3E}">
        <p14:creationId xmlns:p14="http://schemas.microsoft.com/office/powerpoint/2010/main" val="412217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p:bldP spid="12" grpId="0"/>
      <p:bldP spid="13" grpId="0"/>
      <p:bldP spid="14"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10</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1</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1:</a:t>
            </a:r>
            <a:endParaRPr lang="ja-JP" altLang="en-US" b="1" u="sng" dirty="0">
              <a:latin typeface="+mn-lt"/>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Q1</a:t>
            </a:r>
            <a:endParaRPr lang="en-US" altLang="ja-JP" sz="1200" b="1" i="1" dirty="0">
              <a:solidFill>
                <a:srgbClr val="C00000"/>
              </a:solidFill>
            </a:endParaRP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696036" y="1854677"/>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3.1a of the code</a:t>
            </a:r>
            <a:endParaRPr lang="en-US" altLang="ja-JP" sz="1200" b="1" i="1" dirty="0">
              <a:solidFill>
                <a:schemeClr val="tx1"/>
              </a:solidFill>
            </a:endParaRPr>
          </a:p>
        </p:txBody>
      </p:sp>
      <p:sp>
        <p:nvSpPr>
          <p:cNvPr id="3" name="Text Placeholder 5">
            <a:extLst>
              <a:ext uri="{FF2B5EF4-FFF2-40B4-BE49-F238E27FC236}">
                <a16:creationId xmlns:a16="http://schemas.microsoft.com/office/drawing/2014/main" id="{ED81E4F6-7AF9-9282-743C-D2BD1AF02951}"/>
              </a:ext>
            </a:extLst>
          </p:cNvPr>
          <p:cNvSpPr txBox="1">
            <a:spLocks/>
          </p:cNvSpPr>
          <p:nvPr/>
        </p:nvSpPr>
        <p:spPr>
          <a:xfrm>
            <a:off x="372662" y="880630"/>
            <a:ext cx="11068711" cy="544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600" dirty="0">
                <a:solidFill>
                  <a:srgbClr val="0070C0"/>
                </a:solidFill>
              </a:rPr>
              <a:t>Given that the conditions of one-way ANOVA are satisfied, test whether the mean level of secretin produced by study participants in each group is the same. Specify the hypotheses being tested, the F-statistic, degrees of freedom, p-value and conclusion you reach.</a:t>
            </a:r>
          </a:p>
        </p:txBody>
      </p:sp>
      <p:pic>
        <p:nvPicPr>
          <p:cNvPr id="8" name="Picture 7">
            <a:extLst>
              <a:ext uri="{FF2B5EF4-FFF2-40B4-BE49-F238E27FC236}">
                <a16:creationId xmlns:a16="http://schemas.microsoft.com/office/drawing/2014/main" id="{E3B1C39F-380F-8D7A-FFA8-D482BD8A2590}"/>
              </a:ext>
            </a:extLst>
          </p:cNvPr>
          <p:cNvPicPr>
            <a:picLocks noChangeAspect="1"/>
          </p:cNvPicPr>
          <p:nvPr/>
        </p:nvPicPr>
        <p:blipFill>
          <a:blip r:embed="rId3"/>
          <a:stretch>
            <a:fillRect/>
          </a:stretch>
        </p:blipFill>
        <p:spPr>
          <a:xfrm>
            <a:off x="903816" y="2703686"/>
            <a:ext cx="5584849" cy="2083899"/>
          </a:xfrm>
          <a:prstGeom prst="rect">
            <a:avLst/>
          </a:prstGeom>
          <a:ln>
            <a:noFill/>
          </a:ln>
        </p:spPr>
      </p:pic>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68461551-6935-9F6C-CAF1-46928BAFA115}"/>
                  </a:ext>
                </a:extLst>
              </p:cNvPr>
              <p:cNvSpPr txBox="1">
                <a:spLocks/>
              </p:cNvSpPr>
              <p:nvPr/>
            </p:nvSpPr>
            <p:spPr>
              <a:xfrm>
                <a:off x="7509164" y="2258204"/>
                <a:ext cx="2978726" cy="5446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Para xmlns:m="http://schemas.openxmlformats.org/officeDocument/2006/math">
                    <m:oMathParaPr>
                      <m:jc m:val="left"/>
                    </m:oMathParaPr>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𝝁</m:t>
                          </m:r>
                        </m:e>
                        <m:sub>
                          <m:r>
                            <a:rPr lang="en-NZ" altLang="ja-JP" sz="1600" b="1" i="1" smtClean="0">
                              <a:solidFill>
                                <a:schemeClr val="tx1"/>
                              </a:solidFill>
                              <a:latin typeface="Cambria Math" panose="02040503050406030204" pitchFamily="18" charset="0"/>
                            </a:rPr>
                            <m:t>𝒋</m:t>
                          </m:r>
                        </m:sub>
                      </m:sSub>
                      <m:r>
                        <a:rPr lang="en-NZ" altLang="ja-JP" sz="1600" b="1" i="1" smtClean="0">
                          <a:solidFill>
                            <a:schemeClr val="tx1"/>
                          </a:solidFill>
                          <a:latin typeface="Cambria Math" panose="02040503050406030204" pitchFamily="18" charset="0"/>
                        </a:rPr>
                        <m:t>    ∀ </m:t>
                      </m:r>
                      <m:r>
                        <a:rPr lang="en-NZ" altLang="ja-JP" sz="1600" b="1" i="1" smtClean="0">
                          <a:solidFill>
                            <a:schemeClr val="tx1"/>
                          </a:solidFill>
                          <a:latin typeface="Cambria Math" panose="02040503050406030204" pitchFamily="18" charset="0"/>
                        </a:rPr>
                        <m:t>𝒊</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𝒋</m:t>
                      </m:r>
                      <m:r>
                        <a:rPr lang="en-NZ" altLang="ja-JP" sz="1600" b="1" i="1" smtClean="0">
                          <a:solidFill>
                            <a:schemeClr val="tx1"/>
                          </a:solidFill>
                          <a:latin typeface="Cambria Math" panose="02040503050406030204" pitchFamily="18" charset="0"/>
                        </a:rPr>
                        <m:t>=</m:t>
                      </m:r>
                      <m:r>
                        <a:rPr lang="en-NZ" altLang="ja-JP" sz="1600" b="1" i="1" smtClean="0">
                          <a:solidFill>
                            <a:schemeClr val="tx1"/>
                          </a:solidFill>
                          <a:latin typeface="Cambria Math" panose="02040503050406030204" pitchFamily="18" charset="0"/>
                        </a:rPr>
                        <m:t>𝟏</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𝟑</m:t>
                      </m:r>
                    </m:oMath>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𝒊</m:t>
                          </m:r>
                        </m:sub>
                      </m:sSub>
                      <m:r>
                        <a:rPr lang="en-NZ" altLang="ja-JP" sz="1600" b="1" i="1" smtClean="0">
                          <a:solidFill>
                            <a:schemeClr val="tx1"/>
                          </a:solidFill>
                          <a:latin typeface="Cambria Math" panose="02040503050406030204" pitchFamily="18" charset="0"/>
                        </a:rPr>
                        <m:t>≠</m:t>
                      </m:r>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𝝁</m:t>
                          </m:r>
                        </m:e>
                        <m:sub>
                          <m:r>
                            <a:rPr lang="en-NZ" altLang="ja-JP" sz="1600" b="1" i="1">
                              <a:solidFill>
                                <a:schemeClr val="tx1"/>
                              </a:solidFill>
                              <a:latin typeface="Cambria Math" panose="02040503050406030204" pitchFamily="18" charset="0"/>
                            </a:rPr>
                            <m:t>𝒋</m:t>
                          </m:r>
                        </m:sub>
                      </m:sSub>
                      <m:r>
                        <a:rPr lang="en-NZ" altLang="ja-JP" sz="1600" b="1" i="1">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𝒇𝒐𝒓</m:t>
                      </m:r>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𝒔𝒐𝒎𝒆</m:t>
                      </m:r>
                      <m:r>
                        <a:rPr lang="en-NZ" altLang="ja-JP" sz="1600" b="1" i="1">
                          <a:solidFill>
                            <a:schemeClr val="tx1"/>
                          </a:solidFill>
                          <a:latin typeface="Cambria Math" panose="02040503050406030204" pitchFamily="18" charset="0"/>
                        </a:rPr>
                        <m:t> </m:t>
                      </m:r>
                      <m:r>
                        <a:rPr lang="en-NZ" altLang="ja-JP" sz="1600" b="1" i="1">
                          <a:solidFill>
                            <a:schemeClr val="tx1"/>
                          </a:solidFill>
                          <a:latin typeface="Cambria Math" panose="02040503050406030204" pitchFamily="18" charset="0"/>
                        </a:rPr>
                        <m:t>𝒊</m:t>
                      </m:r>
                      <m:r>
                        <a:rPr lang="en-NZ" altLang="ja-JP" sz="1600" b="1" i="1">
                          <a:solidFill>
                            <a:schemeClr val="tx1"/>
                          </a:solidFill>
                          <a:latin typeface="Cambria Math" panose="02040503050406030204" pitchFamily="18" charset="0"/>
                        </a:rPr>
                        <m:t>,</m:t>
                      </m:r>
                      <m:r>
                        <a:rPr lang="en-NZ" altLang="ja-JP" sz="1600" b="1" i="1">
                          <a:solidFill>
                            <a:schemeClr val="tx1"/>
                          </a:solidFill>
                          <a:latin typeface="Cambria Math" panose="02040503050406030204" pitchFamily="18" charset="0"/>
                        </a:rPr>
                        <m:t>𝒋</m:t>
                      </m:r>
                    </m:oMath>
                  </m:oMathPara>
                </a14:m>
                <a:endParaRPr lang="en-US" altLang="ja-JP" sz="1600" b="1" i="1" dirty="0">
                  <a:solidFill>
                    <a:schemeClr val="tx1"/>
                  </a:solidFill>
                </a:endParaRPr>
              </a:p>
            </p:txBody>
          </p:sp>
        </mc:Choice>
        <mc:Fallback xmlns="">
          <p:sp>
            <p:nvSpPr>
              <p:cNvPr id="9" name="Text Placeholder 5">
                <a:extLst>
                  <a:ext uri="{FF2B5EF4-FFF2-40B4-BE49-F238E27FC236}">
                    <a16:creationId xmlns:a16="http://schemas.microsoft.com/office/drawing/2014/main" id="{68461551-6935-9F6C-CAF1-46928BAFA115}"/>
                  </a:ext>
                </a:extLst>
              </p:cNvPr>
              <p:cNvSpPr txBox="1">
                <a:spLocks noRot="1" noChangeAspect="1" noMove="1" noResize="1" noEditPoints="1" noAdjustHandles="1" noChangeArrowheads="1" noChangeShapeType="1" noTextEdit="1"/>
              </p:cNvSpPr>
              <p:nvPr/>
            </p:nvSpPr>
            <p:spPr>
              <a:xfrm>
                <a:off x="7509164" y="2258204"/>
                <a:ext cx="2978726" cy="544680"/>
              </a:xfrm>
              <a:prstGeom prst="rect">
                <a:avLst/>
              </a:prstGeom>
              <a:blipFill>
                <a:blip r:embed="rId4"/>
                <a:stretch>
                  <a:fillRect b="-17778"/>
                </a:stretch>
              </a:blipFill>
            </p:spPr>
            <p:txBody>
              <a:bodyPr/>
              <a:lstStyle/>
              <a:p>
                <a:r>
                  <a:rPr lang="en-NZ">
                    <a:noFill/>
                  </a:rPr>
                  <a:t> </a:t>
                </a:r>
              </a:p>
            </p:txBody>
          </p:sp>
        </mc:Fallback>
      </mc:AlternateContent>
      <p:sp>
        <p:nvSpPr>
          <p:cNvPr id="10" name="Text Placeholder 5">
            <a:extLst>
              <a:ext uri="{FF2B5EF4-FFF2-40B4-BE49-F238E27FC236}">
                <a16:creationId xmlns:a16="http://schemas.microsoft.com/office/drawing/2014/main" id="{A49F1BB6-9478-EBB7-B400-BC241D5871D2}"/>
              </a:ext>
            </a:extLst>
          </p:cNvPr>
          <p:cNvSpPr txBox="1">
            <a:spLocks/>
          </p:cNvSpPr>
          <p:nvPr/>
        </p:nvSpPr>
        <p:spPr>
          <a:xfrm>
            <a:off x="7509164" y="3059118"/>
            <a:ext cx="4249934" cy="20838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F-Statistic = 0.4683</a:t>
            </a:r>
            <a:br>
              <a:rPr lang="en-NZ" altLang="ja-JP" sz="1600" dirty="0">
                <a:solidFill>
                  <a:schemeClr val="tx1"/>
                </a:solidFill>
              </a:rPr>
            </a:br>
            <a:r>
              <a:rPr lang="en-NZ" altLang="ja-JP" sz="1600" dirty="0" err="1">
                <a:solidFill>
                  <a:schemeClr val="tx1"/>
                </a:solidFill>
              </a:rPr>
              <a:t>df</a:t>
            </a:r>
            <a:r>
              <a:rPr lang="en-NZ" altLang="ja-JP" sz="1600" dirty="0">
                <a:solidFill>
                  <a:schemeClr val="tx1"/>
                </a:solidFill>
              </a:rPr>
              <a:t> = (2, 297)</a:t>
            </a:r>
          </a:p>
          <a:p>
            <a:pPr>
              <a:lnSpc>
                <a:spcPct val="100000"/>
              </a:lnSpc>
            </a:pPr>
            <a:r>
              <a:rPr lang="en-NZ" altLang="ja-JP" sz="1600" dirty="0">
                <a:solidFill>
                  <a:schemeClr val="tx1"/>
                </a:solidFill>
              </a:rPr>
              <a:t>P-value = 0.625</a:t>
            </a:r>
            <a:br>
              <a:rPr lang="en-NZ" altLang="ja-JP" sz="1600" dirty="0">
                <a:solidFill>
                  <a:schemeClr val="tx1"/>
                </a:solidFill>
              </a:rPr>
            </a:br>
            <a:br>
              <a:rPr lang="en-NZ" altLang="ja-JP" sz="1600" dirty="0">
                <a:solidFill>
                  <a:schemeClr val="tx1"/>
                </a:solidFill>
              </a:rPr>
            </a:br>
            <a:r>
              <a:rPr lang="en-NZ" altLang="ja-JP" sz="1600" dirty="0">
                <a:solidFill>
                  <a:schemeClr val="tx1"/>
                </a:solidFill>
              </a:rPr>
              <a:t>No evidence against H</a:t>
            </a:r>
            <a:r>
              <a:rPr lang="en-NZ" altLang="ja-JP" sz="1600" baseline="-25000" dirty="0">
                <a:solidFill>
                  <a:schemeClr val="tx1"/>
                </a:solidFill>
              </a:rPr>
              <a:t>0</a:t>
            </a:r>
            <a:r>
              <a:rPr lang="en-NZ" altLang="ja-JP" sz="1600" dirty="0">
                <a:solidFill>
                  <a:schemeClr val="tx1"/>
                </a:solidFill>
              </a:rPr>
              <a:t>.</a:t>
            </a:r>
            <a:br>
              <a:rPr lang="en-NZ" altLang="ja-JP" sz="1600" dirty="0">
                <a:solidFill>
                  <a:schemeClr val="tx1"/>
                </a:solidFill>
              </a:rPr>
            </a:br>
            <a:r>
              <a:rPr lang="en-NZ" altLang="ja-JP" sz="1600" dirty="0">
                <a:solidFill>
                  <a:schemeClr val="tx1"/>
                </a:solidFill>
              </a:rPr>
              <a:t>Conclude that alcohol consumption has no effect on the mean level of secretin produced by the pancreas.</a:t>
            </a:r>
            <a:endParaRPr lang="en-US" altLang="ja-JP" sz="1600" dirty="0">
              <a:solidFill>
                <a:schemeClr val="tx1"/>
              </a:solidFill>
            </a:endParaRPr>
          </a:p>
        </p:txBody>
      </p:sp>
      <p:sp>
        <p:nvSpPr>
          <p:cNvPr id="12" name="Rectangle 11">
            <a:extLst>
              <a:ext uri="{FF2B5EF4-FFF2-40B4-BE49-F238E27FC236}">
                <a16:creationId xmlns:a16="http://schemas.microsoft.com/office/drawing/2014/main" id="{2ACF68E0-B645-8B67-FC3A-472F080478F6}"/>
              </a:ext>
            </a:extLst>
          </p:cNvPr>
          <p:cNvSpPr/>
          <p:nvPr/>
        </p:nvSpPr>
        <p:spPr>
          <a:xfrm>
            <a:off x="696036" y="2355273"/>
            <a:ext cx="5792629" cy="2432312"/>
          </a:xfrm>
          <a:prstGeom prst="rect">
            <a:avLst/>
          </a:prstGeom>
          <a:noFill/>
          <a:ln w="63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139107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9" grpId="0"/>
      <p:bldP spid="10" grpId="0"/>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0" name="Rectangle 72">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0"/>
            <a:ext cx="8157458"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1" name="Rectangle 74">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4537" y="1839884"/>
            <a:ext cx="8157460"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2" name="Rectangle 7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63179" y="-33131"/>
            <a:ext cx="6857999" cy="6923403"/>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7F14062D-E1C1-4F63-B0FD-D013BDA5782B}"/>
              </a:ext>
            </a:extLst>
          </p:cNvPr>
          <p:cNvSpPr txBox="1"/>
          <p:nvPr/>
        </p:nvSpPr>
        <p:spPr>
          <a:xfrm>
            <a:off x="43707" y="2844225"/>
            <a:ext cx="12104586" cy="784830"/>
          </a:xfrm>
          <a:prstGeom prst="rect">
            <a:avLst/>
          </a:prstGeom>
          <a:noFill/>
        </p:spPr>
        <p:txBody>
          <a:bodyPr wrap="square" rtlCol="0">
            <a:spAutoFit/>
          </a:bodyPr>
          <a:lstStyle/>
          <a:p>
            <a:pPr algn="ctr"/>
            <a:r>
              <a:rPr lang="en-NZ" sz="4500" b="1" dirty="0">
                <a:solidFill>
                  <a:srgbClr val="FFC000"/>
                </a:solidFill>
              </a:rPr>
              <a:t>Question 2</a:t>
            </a:r>
          </a:p>
        </p:txBody>
      </p:sp>
      <p:pic>
        <p:nvPicPr>
          <p:cNvPr id="10" name="Picture 2" descr="Te Herenga Waka—Victoria University of Wellington | Universities New  Zealand - Te Pōkai Tara">
            <a:extLst>
              <a:ext uri="{FF2B5EF4-FFF2-40B4-BE49-F238E27FC236}">
                <a16:creationId xmlns:a16="http://schemas.microsoft.com/office/drawing/2014/main" id="{078A8151-9BD3-4B62-8210-A87BCD0941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16733"/>
            <a:ext cx="2185386" cy="74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9303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12</a:t>
            </a:fld>
            <a:endParaRPr kumimoji="1" lang="ja-JP" altLang="en-US" dirty="0">
              <a:solidFill>
                <a:srgbClr val="575454">
                  <a:lumMod val="20000"/>
                  <a:lumOff val="80000"/>
                </a:srgbClr>
              </a:solidFill>
              <a:latin typeface="Coo Hew"/>
            </a:endParaRPr>
          </a:p>
        </p:txBody>
      </p:sp>
      <p:sp>
        <p:nvSpPr>
          <p:cNvPr id="5" name="Footer Placeholder 2">
            <a:extLst>
              <a:ext uri="{FF2B5EF4-FFF2-40B4-BE49-F238E27FC236}">
                <a16:creationId xmlns:a16="http://schemas.microsoft.com/office/drawing/2014/main" id="{E01D7A31-5FF0-43DC-9F4D-F2B96A58DE6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6" name="Title 6">
            <a:extLst>
              <a:ext uri="{FF2B5EF4-FFF2-40B4-BE49-F238E27FC236}">
                <a16:creationId xmlns:a16="http://schemas.microsoft.com/office/drawing/2014/main" id="{4F3E9ADB-6AEC-42EA-808B-5A433C8B4560}"/>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
        <p:nvSpPr>
          <p:cNvPr id="7" name="Text Placeholder 5">
            <a:extLst>
              <a:ext uri="{FF2B5EF4-FFF2-40B4-BE49-F238E27FC236}">
                <a16:creationId xmlns:a16="http://schemas.microsoft.com/office/drawing/2014/main" id="{65B06D6C-CCB3-4D8F-9171-6B4779FED53B}"/>
              </a:ext>
            </a:extLst>
          </p:cNvPr>
          <p:cNvSpPr txBox="1">
            <a:spLocks/>
          </p:cNvSpPr>
          <p:nvPr/>
        </p:nvSpPr>
        <p:spPr>
          <a:xfrm>
            <a:off x="319463" y="745051"/>
            <a:ext cx="11615496" cy="89245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dirty="0">
                <a:solidFill>
                  <a:srgbClr val="0070C0"/>
                </a:solidFill>
              </a:rPr>
              <a:t>A company is interested in whether the mean hourly number of incoming calls differs across its three call Centres (A, B &amp; C). The company records the number of incoming calls at each Centre over 50 separate 1-hour periods. The data pertaining to this experiment is recorded in the data set called ‘Incoming Calls.csv’ </a:t>
            </a:r>
            <a:r>
              <a:rPr lang="en-US" altLang="ja-JP" sz="1600" dirty="0">
                <a:solidFill>
                  <a:srgbClr val="0070C0"/>
                </a:solidFill>
              </a:rPr>
              <a:t>. </a:t>
            </a: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2010003"/>
            <a:ext cx="11466386" cy="155410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400" dirty="0">
                <a:solidFill>
                  <a:srgbClr val="0070C0"/>
                </a:solidFill>
              </a:rPr>
              <a:t>Read the data into R and create a histogram of the data in each group.</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Create a linear model, modelling the number of incoming calls as a function of call </a:t>
            </a:r>
            <a:r>
              <a:rPr lang="en-US" altLang="ja-JP" sz="1400" dirty="0" err="1">
                <a:solidFill>
                  <a:srgbClr val="0070C0"/>
                </a:solidFill>
              </a:rPr>
              <a:t>centre</a:t>
            </a:r>
            <a:r>
              <a:rPr lang="en-US" altLang="ja-JP" sz="1400" dirty="0">
                <a:solidFill>
                  <a:srgbClr val="0070C0"/>
                </a:solidFill>
              </a:rPr>
              <a:t>. Construct a QQ-Plot of the residuals of this model. What does this tell us about whether the data in each group is normally distributed?</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r>
              <a:rPr lang="en-US" altLang="ja-JP" sz="1400" dirty="0">
                <a:solidFill>
                  <a:srgbClr val="0070C0"/>
                </a:solidFill>
              </a:rPr>
              <a:t>Conduct a Shapiro-Wilks test on the residuals of the linear model. What do you conclude?</a:t>
            </a:r>
          </a:p>
          <a:p>
            <a:pPr marL="342900" indent="-342900" algn="just">
              <a:lnSpc>
                <a:spcPct val="100000"/>
              </a:lnSpc>
              <a:buFont typeface="+mj-lt"/>
              <a:buAutoNum type="alphaLcParenR"/>
            </a:pPr>
            <a:endParaRPr lang="en-US" altLang="ja-JP" sz="1400" dirty="0">
              <a:solidFill>
                <a:srgbClr val="0070C0"/>
              </a:solidFill>
            </a:endParaRPr>
          </a:p>
          <a:p>
            <a:pPr marL="342900" indent="-342900" algn="just">
              <a:lnSpc>
                <a:spcPct val="100000"/>
              </a:lnSpc>
              <a:buFont typeface="+mj-lt"/>
              <a:buAutoNum type="alphaLcParenR"/>
            </a:pPr>
            <a:endParaRPr lang="en-US" altLang="ja-JP" sz="1400" dirty="0">
              <a:solidFill>
                <a:srgbClr val="0070C0"/>
              </a:solidFill>
            </a:endParaRPr>
          </a:p>
        </p:txBody>
      </p:sp>
      <p:sp>
        <p:nvSpPr>
          <p:cNvPr id="15" name="Text Placeholder 5">
            <a:extLst>
              <a:ext uri="{FF2B5EF4-FFF2-40B4-BE49-F238E27FC236}">
                <a16:creationId xmlns:a16="http://schemas.microsoft.com/office/drawing/2014/main" id="{502534FC-984B-32CD-6FE7-E0FEB1D460D7}"/>
              </a:ext>
            </a:extLst>
          </p:cNvPr>
          <p:cNvSpPr txBox="1">
            <a:spLocks/>
          </p:cNvSpPr>
          <p:nvPr/>
        </p:nvSpPr>
        <p:spPr>
          <a:xfrm>
            <a:off x="319463" y="1695321"/>
            <a:ext cx="1905123" cy="3651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Normality</a:t>
            </a:r>
          </a:p>
        </p:txBody>
      </p:sp>
      <p:sp>
        <p:nvSpPr>
          <p:cNvPr id="21" name="Text Placeholder 5">
            <a:extLst>
              <a:ext uri="{FF2B5EF4-FFF2-40B4-BE49-F238E27FC236}">
                <a16:creationId xmlns:a16="http://schemas.microsoft.com/office/drawing/2014/main" id="{1527AF04-9253-12C2-08B3-6841BD31BBEE}"/>
              </a:ext>
            </a:extLst>
          </p:cNvPr>
          <p:cNvSpPr txBox="1">
            <a:spLocks/>
          </p:cNvSpPr>
          <p:nvPr/>
        </p:nvSpPr>
        <p:spPr>
          <a:xfrm>
            <a:off x="319463" y="3667578"/>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Testing Homogeneity of Variance</a:t>
            </a:r>
          </a:p>
        </p:txBody>
      </p:sp>
      <p:sp>
        <p:nvSpPr>
          <p:cNvPr id="22" name="Text Placeholder 5">
            <a:extLst>
              <a:ext uri="{FF2B5EF4-FFF2-40B4-BE49-F238E27FC236}">
                <a16:creationId xmlns:a16="http://schemas.microsoft.com/office/drawing/2014/main" id="{C13B368B-C374-DC90-1508-FF70455C7053}"/>
              </a:ext>
            </a:extLst>
          </p:cNvPr>
          <p:cNvSpPr txBox="1">
            <a:spLocks/>
          </p:cNvSpPr>
          <p:nvPr/>
        </p:nvSpPr>
        <p:spPr>
          <a:xfrm>
            <a:off x="319463" y="3991720"/>
            <a:ext cx="11466386" cy="139791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400" dirty="0">
                <a:solidFill>
                  <a:srgbClr val="0070C0"/>
                </a:solidFill>
              </a:rPr>
              <a:t>Construct a box plot of the data from each group.</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Construct a residual-vs-fitted value plot using the output of the model constructed in part b). What does this tell you as to whether the data in each group arises from distributions with the same variance?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r>
              <a:rPr lang="en-US" altLang="ja-JP" sz="1400" dirty="0">
                <a:solidFill>
                  <a:srgbClr val="0070C0"/>
                </a:solidFill>
              </a:rPr>
              <a:t>Conduct a </a:t>
            </a:r>
            <a:r>
              <a:rPr lang="en-US" altLang="ja-JP" sz="1400" dirty="0" err="1">
                <a:solidFill>
                  <a:srgbClr val="0070C0"/>
                </a:solidFill>
              </a:rPr>
              <a:t>Levene’s</a:t>
            </a:r>
            <a:r>
              <a:rPr lang="en-US" altLang="ja-JP" sz="1400" dirty="0">
                <a:solidFill>
                  <a:srgbClr val="0070C0"/>
                </a:solidFill>
              </a:rPr>
              <a:t> test to test whether the data in each group arises from distributions with the same variance? What do you conclude?</a:t>
            </a:r>
          </a:p>
          <a:p>
            <a:pPr marL="342900" indent="-342900" algn="just">
              <a:lnSpc>
                <a:spcPct val="100000"/>
              </a:lnSpc>
              <a:buFont typeface="+mj-lt"/>
              <a:buAutoNum type="alphaLcParenR" startAt="4"/>
            </a:pPr>
            <a:endParaRPr lang="en-US" altLang="ja-JP" sz="1400" dirty="0">
              <a:solidFill>
                <a:srgbClr val="0070C0"/>
              </a:solidFill>
            </a:endParaRPr>
          </a:p>
          <a:p>
            <a:pPr marL="342900" indent="-342900" algn="just">
              <a:lnSpc>
                <a:spcPct val="100000"/>
              </a:lnSpc>
              <a:buFont typeface="+mj-lt"/>
              <a:buAutoNum type="alphaLcParenR" startAt="4"/>
            </a:pPr>
            <a:endParaRPr lang="en-US" altLang="ja-JP" sz="1400" dirty="0">
              <a:solidFill>
                <a:srgbClr val="0070C0"/>
              </a:solidFill>
            </a:endParaRPr>
          </a:p>
        </p:txBody>
      </p:sp>
      <p:sp>
        <p:nvSpPr>
          <p:cNvPr id="23" name="Text Placeholder 5">
            <a:extLst>
              <a:ext uri="{FF2B5EF4-FFF2-40B4-BE49-F238E27FC236}">
                <a16:creationId xmlns:a16="http://schemas.microsoft.com/office/drawing/2014/main" id="{13443187-A36F-AB98-25A8-6740295DD293}"/>
              </a:ext>
            </a:extLst>
          </p:cNvPr>
          <p:cNvSpPr txBox="1">
            <a:spLocks/>
          </p:cNvSpPr>
          <p:nvPr/>
        </p:nvSpPr>
        <p:spPr>
          <a:xfrm>
            <a:off x="319463" y="5486806"/>
            <a:ext cx="3242604"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US" altLang="ja-JP" sz="1400" dirty="0">
                <a:solidFill>
                  <a:srgbClr val="C00000"/>
                </a:solidFill>
              </a:rPr>
              <a:t>Permutation Test</a:t>
            </a:r>
          </a:p>
        </p:txBody>
      </p:sp>
      <p:sp>
        <p:nvSpPr>
          <p:cNvPr id="24" name="Text Placeholder 5">
            <a:extLst>
              <a:ext uri="{FF2B5EF4-FFF2-40B4-BE49-F238E27FC236}">
                <a16:creationId xmlns:a16="http://schemas.microsoft.com/office/drawing/2014/main" id="{21B4666A-AA7B-D42E-B79E-49571F603676}"/>
              </a:ext>
            </a:extLst>
          </p:cNvPr>
          <p:cNvSpPr txBox="1">
            <a:spLocks/>
          </p:cNvSpPr>
          <p:nvPr/>
        </p:nvSpPr>
        <p:spPr>
          <a:xfrm>
            <a:off x="319463" y="5795361"/>
            <a:ext cx="11655565" cy="5446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400" dirty="0">
                <a:solidFill>
                  <a:srgbClr val="0070C0"/>
                </a:solidFill>
              </a:rPr>
              <a:t>Given that the conditions of one-way ANOVA are violated, conduct a permutation test to test whether the mean hourly number of incoming calls is the same across all three call </a:t>
            </a:r>
            <a:r>
              <a:rPr lang="en-US" altLang="ja-JP" sz="1400" dirty="0" err="1">
                <a:solidFill>
                  <a:srgbClr val="0070C0"/>
                </a:solidFill>
              </a:rPr>
              <a:t>centres</a:t>
            </a:r>
            <a:r>
              <a:rPr lang="en-US" altLang="ja-JP" sz="1400" dirty="0">
                <a:solidFill>
                  <a:srgbClr val="0070C0"/>
                </a:solidFill>
              </a:rPr>
              <a:t>. Specify the hypotheses being tested, the p-value of the test and the conclusion you reach.</a:t>
            </a:r>
          </a:p>
          <a:p>
            <a:pPr marL="342900" indent="-342900" algn="just">
              <a:lnSpc>
                <a:spcPct val="100000"/>
              </a:lnSpc>
              <a:buFont typeface="+mj-lt"/>
              <a:buAutoNum type="alphaLcParenR" startAt="7"/>
            </a:pPr>
            <a:endParaRPr lang="en-US" altLang="ja-JP" sz="1400" dirty="0">
              <a:solidFill>
                <a:srgbClr val="0070C0"/>
              </a:solidFill>
            </a:endParaRPr>
          </a:p>
          <a:p>
            <a:pPr marL="342900" indent="-342900" algn="just">
              <a:lnSpc>
                <a:spcPct val="100000"/>
              </a:lnSpc>
              <a:buFont typeface="+mj-lt"/>
              <a:buAutoNum type="alphaLcParenR" startAt="7"/>
            </a:pPr>
            <a:endParaRPr lang="en-US" altLang="ja-JP" sz="1400" dirty="0">
              <a:solidFill>
                <a:srgbClr val="0070C0"/>
              </a:solidFill>
            </a:endParaRPr>
          </a:p>
        </p:txBody>
      </p:sp>
    </p:spTree>
    <p:extLst>
      <p:ext uri="{BB962C8B-B14F-4D97-AF65-F5344CB8AC3E}">
        <p14:creationId xmlns:p14="http://schemas.microsoft.com/office/powerpoint/2010/main" val="105114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1" grpId="0"/>
      <p:bldP spid="22"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83708BA-24A6-C9F0-06C8-C7A0DCE50590}"/>
              </a:ext>
            </a:extLst>
          </p:cNvPr>
          <p:cNvPicPr>
            <a:picLocks noChangeAspect="1"/>
          </p:cNvPicPr>
          <p:nvPr/>
        </p:nvPicPr>
        <p:blipFill>
          <a:blip r:embed="rId2"/>
          <a:stretch>
            <a:fillRect/>
          </a:stretch>
        </p:blipFill>
        <p:spPr>
          <a:xfrm>
            <a:off x="750627" y="1519253"/>
            <a:ext cx="9095238" cy="4800000"/>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13</a:t>
            </a:fld>
            <a:endParaRPr kumimoji="1" lang="ja-JP" altLang="en-US" dirty="0">
              <a:solidFill>
                <a:srgbClr val="575454">
                  <a:lumMod val="20000"/>
                  <a:lumOff val="80000"/>
                </a:srgbClr>
              </a:solidFill>
              <a:latin typeface="Coo Hew"/>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Q2</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46638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a:pPr>
            <a:r>
              <a:rPr lang="en-US" altLang="ja-JP" sz="1600" dirty="0">
                <a:solidFill>
                  <a:srgbClr val="0070C0"/>
                </a:solidFill>
              </a:rPr>
              <a:t>Read the data into R and create a histogram of the data in each group.</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50627" y="1373446"/>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1.1a of the code</a:t>
            </a:r>
            <a:endParaRPr lang="en-US" altLang="ja-JP" sz="1200" b="1" i="1" dirty="0">
              <a:solidFill>
                <a:schemeClr val="tx1"/>
              </a:solidFill>
            </a:endParaRPr>
          </a:p>
        </p:txBody>
      </p:sp>
      <p:sp>
        <p:nvSpPr>
          <p:cNvPr id="3" name="Footer Placeholder 2">
            <a:extLst>
              <a:ext uri="{FF2B5EF4-FFF2-40B4-BE49-F238E27FC236}">
                <a16:creationId xmlns:a16="http://schemas.microsoft.com/office/drawing/2014/main" id="{B30E216A-DC65-4BD4-24B4-FA90A599BE54}"/>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7" name="Title 6">
            <a:extLst>
              <a:ext uri="{FF2B5EF4-FFF2-40B4-BE49-F238E27FC236}">
                <a16:creationId xmlns:a16="http://schemas.microsoft.com/office/drawing/2014/main" id="{62952621-7737-F173-2B2B-41129E1E2D08}"/>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Tree>
    <p:extLst>
      <p:ext uri="{BB962C8B-B14F-4D97-AF65-F5344CB8AC3E}">
        <p14:creationId xmlns:p14="http://schemas.microsoft.com/office/powerpoint/2010/main" val="3769979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05D10D4-92AA-D11E-6038-7EDF42F6F199}"/>
              </a:ext>
            </a:extLst>
          </p:cNvPr>
          <p:cNvPicPr>
            <a:picLocks noChangeAspect="1"/>
          </p:cNvPicPr>
          <p:nvPr/>
        </p:nvPicPr>
        <p:blipFill>
          <a:blip r:embed="rId2"/>
          <a:stretch>
            <a:fillRect/>
          </a:stretch>
        </p:blipFill>
        <p:spPr>
          <a:xfrm>
            <a:off x="736980" y="2253916"/>
            <a:ext cx="4553450" cy="3536826"/>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14</a:t>
            </a:fld>
            <a:endParaRPr kumimoji="1" lang="ja-JP" altLang="en-US" dirty="0">
              <a:solidFill>
                <a:srgbClr val="575454">
                  <a:lumMod val="20000"/>
                  <a:lumOff val="80000"/>
                </a:srgbClr>
              </a:solidFill>
              <a:latin typeface="Coo Hew"/>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Q2</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5276119" cy="1077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2"/>
            </a:pPr>
            <a:r>
              <a:rPr lang="en-NZ" altLang="ja-JP" sz="1600" dirty="0">
                <a:solidFill>
                  <a:srgbClr val="0070C0"/>
                </a:solidFill>
              </a:rPr>
              <a:t>Create a linear model, modelling the number of incoming calls as a function of call centre. Construct a QQ-Plot of the residuals of this model. What does this tell us about whether the data in each group is normally distributed?</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36980" y="2056208"/>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1.1b of the code</a:t>
            </a:r>
            <a:endParaRPr lang="en-US" altLang="ja-JP" sz="1200" b="1" i="1" dirty="0">
              <a:solidFill>
                <a:schemeClr val="tx1"/>
              </a:solidFill>
            </a:endParaRPr>
          </a:p>
        </p:txBody>
      </p:sp>
      <p:sp>
        <p:nvSpPr>
          <p:cNvPr id="10" name="Text Placeholder 5">
            <a:extLst>
              <a:ext uri="{FF2B5EF4-FFF2-40B4-BE49-F238E27FC236}">
                <a16:creationId xmlns:a16="http://schemas.microsoft.com/office/drawing/2014/main" id="{46590C46-1BA3-4A58-6ABE-A718FBE0F1B0}"/>
              </a:ext>
            </a:extLst>
          </p:cNvPr>
          <p:cNvSpPr txBox="1">
            <a:spLocks/>
          </p:cNvSpPr>
          <p:nvPr/>
        </p:nvSpPr>
        <p:spPr>
          <a:xfrm>
            <a:off x="736980" y="5826490"/>
            <a:ext cx="4553450" cy="418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Suggests residuals are NOT normally distributed.</a:t>
            </a:r>
            <a:br>
              <a:rPr lang="en-NZ" altLang="ja-JP" sz="1400" dirty="0">
                <a:solidFill>
                  <a:schemeClr val="tx1"/>
                </a:solidFill>
              </a:rPr>
            </a:br>
            <a:r>
              <a:rPr lang="en-NZ" altLang="ja-JP" sz="1400" dirty="0">
                <a:solidFill>
                  <a:schemeClr val="tx1"/>
                </a:solidFill>
                <a:sym typeface="Wingdings" panose="05000000000000000000" pitchFamily="2" charset="2"/>
              </a:rPr>
              <a:t> Data in each group is NOT normally distributed</a:t>
            </a:r>
            <a:endParaRPr lang="en-US" altLang="ja-JP" sz="1400" b="1" i="1" dirty="0">
              <a:solidFill>
                <a:schemeClr val="tx1"/>
              </a:solidFill>
            </a:endParaRPr>
          </a:p>
        </p:txBody>
      </p:sp>
      <p:sp>
        <p:nvSpPr>
          <p:cNvPr id="12" name="Text Placeholder 5">
            <a:extLst>
              <a:ext uri="{FF2B5EF4-FFF2-40B4-BE49-F238E27FC236}">
                <a16:creationId xmlns:a16="http://schemas.microsoft.com/office/drawing/2014/main" id="{49FD9C64-71BD-0E3F-FFEB-E0EC9AEC649B}"/>
              </a:ext>
            </a:extLst>
          </p:cNvPr>
          <p:cNvSpPr txBox="1">
            <a:spLocks/>
          </p:cNvSpPr>
          <p:nvPr/>
        </p:nvSpPr>
        <p:spPr>
          <a:xfrm>
            <a:off x="6096000" y="979110"/>
            <a:ext cx="548058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3"/>
            </a:pPr>
            <a:r>
              <a:rPr lang="en-US" altLang="ja-JP" sz="1600" dirty="0">
                <a:solidFill>
                  <a:srgbClr val="0070C0"/>
                </a:solidFill>
              </a:rPr>
              <a:t>Conduct a Shapiro-Wilks test on the residuals of the linear model. What do you conclude?</a:t>
            </a:r>
          </a:p>
        </p:txBody>
      </p:sp>
      <p:sp>
        <p:nvSpPr>
          <p:cNvPr id="13" name="Text Placeholder 5">
            <a:extLst>
              <a:ext uri="{FF2B5EF4-FFF2-40B4-BE49-F238E27FC236}">
                <a16:creationId xmlns:a16="http://schemas.microsoft.com/office/drawing/2014/main" id="{37BAAEF2-0C08-9CDF-42FF-1542AF76571B}"/>
              </a:ext>
            </a:extLst>
          </p:cNvPr>
          <p:cNvSpPr txBox="1">
            <a:spLocks/>
          </p:cNvSpPr>
          <p:nvPr/>
        </p:nvSpPr>
        <p:spPr>
          <a:xfrm>
            <a:off x="6418075" y="1652465"/>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1.1c of the code</a:t>
            </a:r>
            <a:endParaRPr lang="en-US" altLang="ja-JP" sz="1200" b="1" i="1" dirty="0">
              <a:solidFill>
                <a:schemeClr val="tx1"/>
              </a:solidFill>
            </a:endParaRPr>
          </a:p>
        </p:txBody>
      </p:sp>
      <p:sp>
        <p:nvSpPr>
          <p:cNvPr id="14" name="Text Placeholder 5">
            <a:extLst>
              <a:ext uri="{FF2B5EF4-FFF2-40B4-BE49-F238E27FC236}">
                <a16:creationId xmlns:a16="http://schemas.microsoft.com/office/drawing/2014/main" id="{5C81C584-519C-D28F-06EC-7D59B0434239}"/>
              </a:ext>
            </a:extLst>
          </p:cNvPr>
          <p:cNvSpPr txBox="1">
            <a:spLocks/>
          </p:cNvSpPr>
          <p:nvPr/>
        </p:nvSpPr>
        <p:spPr>
          <a:xfrm>
            <a:off x="6418075" y="2075657"/>
            <a:ext cx="4553450" cy="126245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Shapiro-Wilks tests is designed to test between the following null and alternative hypotheses…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H0: Data is normally distributed</a:t>
            </a:r>
            <a:br>
              <a:rPr lang="en-NZ" altLang="ja-JP" sz="1400" dirty="0">
                <a:solidFill>
                  <a:schemeClr val="tx1"/>
                </a:solidFill>
              </a:rPr>
            </a:br>
            <a:r>
              <a:rPr lang="en-NZ" altLang="ja-JP" sz="1400" dirty="0">
                <a:solidFill>
                  <a:schemeClr val="tx1"/>
                </a:solidFill>
              </a:rPr>
              <a:t>H1: Data is not normally distributed</a:t>
            </a:r>
            <a:endParaRPr lang="en-US" altLang="ja-JP" sz="1400" dirty="0">
              <a:solidFill>
                <a:schemeClr val="tx1"/>
              </a:solidFill>
            </a:endParaRPr>
          </a:p>
        </p:txBody>
      </p:sp>
      <p:sp>
        <p:nvSpPr>
          <p:cNvPr id="3" name="Footer Placeholder 2">
            <a:extLst>
              <a:ext uri="{FF2B5EF4-FFF2-40B4-BE49-F238E27FC236}">
                <a16:creationId xmlns:a16="http://schemas.microsoft.com/office/drawing/2014/main" id="{36E277FC-156E-E092-2C24-48365C63B67D}"/>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7" name="Title 6">
            <a:extLst>
              <a:ext uri="{FF2B5EF4-FFF2-40B4-BE49-F238E27FC236}">
                <a16:creationId xmlns:a16="http://schemas.microsoft.com/office/drawing/2014/main" id="{F4B030B6-928A-F3C1-7CC8-8DC47AA218D7}"/>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
        <p:nvSpPr>
          <p:cNvPr id="5" name="Text Placeholder 5">
            <a:extLst>
              <a:ext uri="{FF2B5EF4-FFF2-40B4-BE49-F238E27FC236}">
                <a16:creationId xmlns:a16="http://schemas.microsoft.com/office/drawing/2014/main" id="{5748B8F8-A6F1-FD06-C225-EAB564D6AAB7}"/>
              </a:ext>
            </a:extLst>
          </p:cNvPr>
          <p:cNvSpPr txBox="1">
            <a:spLocks/>
          </p:cNvSpPr>
          <p:nvPr/>
        </p:nvSpPr>
        <p:spPr>
          <a:xfrm>
            <a:off x="6418075" y="3459981"/>
            <a:ext cx="4553450" cy="199623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In this case the Shapiro-Wilks test is applied to the residuals of our model and gives the following results…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	W = 0.84233, p-value = 2.095e-11</a:t>
            </a:r>
            <a:br>
              <a:rPr lang="en-NZ" altLang="ja-JP" sz="1400" dirty="0">
                <a:solidFill>
                  <a:schemeClr val="tx1"/>
                </a:solidFill>
              </a:rPr>
            </a:br>
            <a:endParaRPr lang="en-NZ" altLang="ja-JP" sz="1400" dirty="0">
              <a:solidFill>
                <a:schemeClr val="tx1"/>
              </a:solidFill>
            </a:endParaRPr>
          </a:p>
          <a:p>
            <a:pPr>
              <a:lnSpc>
                <a:spcPct val="100000"/>
              </a:lnSpc>
            </a:pPr>
            <a:r>
              <a:rPr lang="en-NZ" altLang="ja-JP" sz="1400" dirty="0">
                <a:solidFill>
                  <a:schemeClr val="tx1"/>
                </a:solidFill>
              </a:rPr>
              <a:t>Very strong evidence against the null hypothesis that the residuals of our model are normally distributed.</a:t>
            </a:r>
          </a:p>
          <a:p>
            <a:pPr>
              <a:lnSpc>
                <a:spcPct val="100000"/>
              </a:lnSpc>
            </a:pPr>
            <a:endParaRPr lang="en-NZ" altLang="ja-JP" sz="1400" dirty="0">
              <a:solidFill>
                <a:schemeClr val="tx1"/>
              </a:solidFill>
            </a:endParaRPr>
          </a:p>
          <a:p>
            <a:pPr>
              <a:lnSpc>
                <a:spcPct val="100000"/>
              </a:lnSpc>
            </a:pPr>
            <a:r>
              <a:rPr lang="en-NZ" altLang="ja-JP" sz="1400" dirty="0">
                <a:solidFill>
                  <a:schemeClr val="tx1"/>
                </a:solidFill>
                <a:sym typeface="Wingdings" panose="05000000000000000000" pitchFamily="2" charset="2"/>
              </a:rPr>
              <a:t> Very strong evidence against the null hypothesis that the data in each group is normally distributed.</a:t>
            </a:r>
            <a:endParaRPr lang="en-US" altLang="ja-JP" sz="1400" dirty="0">
              <a:solidFill>
                <a:schemeClr val="tx1"/>
              </a:solidFill>
            </a:endParaRPr>
          </a:p>
        </p:txBody>
      </p:sp>
    </p:spTree>
    <p:extLst>
      <p:ext uri="{BB962C8B-B14F-4D97-AF65-F5344CB8AC3E}">
        <p14:creationId xmlns:p14="http://schemas.microsoft.com/office/powerpoint/2010/main" val="40886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p:bldP spid="12" grpId="0"/>
      <p:bldP spid="13" grpId="0"/>
      <p:bldP spid="1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F584E99-B959-C4BD-FBCF-24FCF52BAC2A}"/>
              </a:ext>
            </a:extLst>
          </p:cNvPr>
          <p:cNvPicPr>
            <a:picLocks noChangeAspect="1"/>
          </p:cNvPicPr>
          <p:nvPr/>
        </p:nvPicPr>
        <p:blipFill>
          <a:blip r:embed="rId2"/>
          <a:stretch>
            <a:fillRect/>
          </a:stretch>
        </p:blipFill>
        <p:spPr>
          <a:xfrm>
            <a:off x="649131" y="1261528"/>
            <a:ext cx="6990476" cy="5361905"/>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15</a:t>
            </a:fld>
            <a:endParaRPr kumimoji="1" lang="ja-JP" altLang="en-US" dirty="0">
              <a:solidFill>
                <a:srgbClr val="575454">
                  <a:lumMod val="20000"/>
                  <a:lumOff val="80000"/>
                </a:srgbClr>
              </a:solidFill>
              <a:latin typeface="Coo Hew"/>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Q2</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11466386" cy="36512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4"/>
            </a:pPr>
            <a:r>
              <a:rPr lang="en-US" altLang="ja-JP" sz="1600" dirty="0">
                <a:solidFill>
                  <a:srgbClr val="0070C0"/>
                </a:solidFill>
              </a:rPr>
              <a:t>Construct a box plot of the data from each group.</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50627" y="1373446"/>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2.1a of the code</a:t>
            </a:r>
            <a:endParaRPr lang="en-US" altLang="ja-JP" sz="1200" b="1" i="1" dirty="0">
              <a:solidFill>
                <a:schemeClr val="tx1"/>
              </a:solidFill>
            </a:endParaRPr>
          </a:p>
        </p:txBody>
      </p:sp>
      <p:sp>
        <p:nvSpPr>
          <p:cNvPr id="3" name="Footer Placeholder 2">
            <a:extLst>
              <a:ext uri="{FF2B5EF4-FFF2-40B4-BE49-F238E27FC236}">
                <a16:creationId xmlns:a16="http://schemas.microsoft.com/office/drawing/2014/main" id="{4A449FAA-0542-F487-ED9E-8A7F6FCA28B7}"/>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7" name="Title 6">
            <a:extLst>
              <a:ext uri="{FF2B5EF4-FFF2-40B4-BE49-F238E27FC236}">
                <a16:creationId xmlns:a16="http://schemas.microsoft.com/office/drawing/2014/main" id="{5F80297F-09B9-4FF6-7469-1A95E499E23E}"/>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Tree>
    <p:extLst>
      <p:ext uri="{BB962C8B-B14F-4D97-AF65-F5344CB8AC3E}">
        <p14:creationId xmlns:p14="http://schemas.microsoft.com/office/powerpoint/2010/main" val="609062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196A3D6-C9FB-6698-E680-B49BF0CCCE88}"/>
              </a:ext>
            </a:extLst>
          </p:cNvPr>
          <p:cNvPicPr>
            <a:picLocks noChangeAspect="1"/>
          </p:cNvPicPr>
          <p:nvPr/>
        </p:nvPicPr>
        <p:blipFill>
          <a:blip r:embed="rId2"/>
          <a:stretch>
            <a:fillRect/>
          </a:stretch>
        </p:blipFill>
        <p:spPr>
          <a:xfrm>
            <a:off x="736980" y="2333548"/>
            <a:ext cx="4553450" cy="3180148"/>
          </a:xfrm>
          <a:prstGeom prst="rect">
            <a:avLst/>
          </a:prstGeom>
        </p:spPr>
      </p:pic>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16</a:t>
            </a:fld>
            <a:endParaRPr kumimoji="1" lang="ja-JP" altLang="en-US" dirty="0">
              <a:solidFill>
                <a:srgbClr val="575454">
                  <a:lumMod val="20000"/>
                  <a:lumOff val="80000"/>
                </a:srgbClr>
              </a:solidFill>
              <a:latin typeface="Coo Hew"/>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Q2</a:t>
            </a:r>
            <a:endParaRPr lang="en-US" altLang="ja-JP" sz="1200" b="1" i="1" dirty="0">
              <a:solidFill>
                <a:srgbClr val="C00000"/>
              </a:solidFill>
            </a:endParaRPr>
          </a:p>
        </p:txBody>
      </p:sp>
      <p:sp>
        <p:nvSpPr>
          <p:cNvPr id="11" name="Text Placeholder 5">
            <a:extLst>
              <a:ext uri="{FF2B5EF4-FFF2-40B4-BE49-F238E27FC236}">
                <a16:creationId xmlns:a16="http://schemas.microsoft.com/office/drawing/2014/main" id="{05874648-046D-469D-60D7-12D5B79C8354}"/>
              </a:ext>
            </a:extLst>
          </p:cNvPr>
          <p:cNvSpPr txBox="1">
            <a:spLocks/>
          </p:cNvSpPr>
          <p:nvPr/>
        </p:nvSpPr>
        <p:spPr>
          <a:xfrm>
            <a:off x="319463" y="979109"/>
            <a:ext cx="5276119" cy="1077099"/>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5"/>
            </a:pPr>
            <a:r>
              <a:rPr lang="en-US" altLang="ja-JP" sz="1600" dirty="0">
                <a:solidFill>
                  <a:srgbClr val="0070C0"/>
                </a:solidFill>
              </a:rPr>
              <a:t>Construct a residual-vs-fitted value plot using the output of the model constructed in part b). What does this tell you as to whether the data in each group arises from distributions with the same variance?</a:t>
            </a: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736980" y="2056208"/>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2.1b of the code</a:t>
            </a:r>
            <a:endParaRPr lang="en-US" altLang="ja-JP" sz="1200" b="1" i="1" dirty="0">
              <a:solidFill>
                <a:schemeClr val="tx1"/>
              </a:solidFill>
            </a:endParaRPr>
          </a:p>
        </p:txBody>
      </p:sp>
      <p:sp>
        <p:nvSpPr>
          <p:cNvPr id="10" name="Text Placeholder 5">
            <a:extLst>
              <a:ext uri="{FF2B5EF4-FFF2-40B4-BE49-F238E27FC236}">
                <a16:creationId xmlns:a16="http://schemas.microsoft.com/office/drawing/2014/main" id="{46590C46-1BA3-4A58-6ABE-A718FBE0F1B0}"/>
              </a:ext>
            </a:extLst>
          </p:cNvPr>
          <p:cNvSpPr txBox="1">
            <a:spLocks/>
          </p:cNvSpPr>
          <p:nvPr/>
        </p:nvSpPr>
        <p:spPr>
          <a:xfrm>
            <a:off x="736980" y="5610496"/>
            <a:ext cx="4553450" cy="418374"/>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Bands roughly the same height</a:t>
            </a:r>
            <a:br>
              <a:rPr lang="en-NZ" altLang="ja-JP" sz="1400" dirty="0">
                <a:solidFill>
                  <a:schemeClr val="tx1"/>
                </a:solidFill>
              </a:rPr>
            </a:br>
            <a:r>
              <a:rPr lang="en-NZ" altLang="ja-JP" sz="1400" dirty="0">
                <a:solidFill>
                  <a:schemeClr val="tx1"/>
                </a:solidFill>
                <a:sym typeface="Wingdings" panose="05000000000000000000" pitchFamily="2" charset="2"/>
              </a:rPr>
              <a:t> Suggests residuals (and therefore the data) in each group has the same variance</a:t>
            </a:r>
            <a:endParaRPr lang="en-US" altLang="ja-JP" sz="1400" b="1" i="1" dirty="0">
              <a:solidFill>
                <a:schemeClr val="tx1"/>
              </a:solidFill>
            </a:endParaRPr>
          </a:p>
        </p:txBody>
      </p:sp>
      <p:sp>
        <p:nvSpPr>
          <p:cNvPr id="12" name="Text Placeholder 5">
            <a:extLst>
              <a:ext uri="{FF2B5EF4-FFF2-40B4-BE49-F238E27FC236}">
                <a16:creationId xmlns:a16="http://schemas.microsoft.com/office/drawing/2014/main" id="{49FD9C64-71BD-0E3F-FFEB-E0EC9AEC649B}"/>
              </a:ext>
            </a:extLst>
          </p:cNvPr>
          <p:cNvSpPr txBox="1">
            <a:spLocks/>
          </p:cNvSpPr>
          <p:nvPr/>
        </p:nvSpPr>
        <p:spPr>
          <a:xfrm>
            <a:off x="6096000" y="979110"/>
            <a:ext cx="5480583" cy="67534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6"/>
            </a:pPr>
            <a:r>
              <a:rPr lang="en-US" altLang="ja-JP" sz="1600" dirty="0">
                <a:solidFill>
                  <a:srgbClr val="0070C0"/>
                </a:solidFill>
              </a:rPr>
              <a:t>Conduct a </a:t>
            </a:r>
            <a:r>
              <a:rPr lang="en-US" altLang="ja-JP" sz="1600" dirty="0" err="1">
                <a:solidFill>
                  <a:srgbClr val="0070C0"/>
                </a:solidFill>
              </a:rPr>
              <a:t>Levene’s</a:t>
            </a:r>
            <a:r>
              <a:rPr lang="en-US" altLang="ja-JP" sz="1600" dirty="0">
                <a:solidFill>
                  <a:srgbClr val="0070C0"/>
                </a:solidFill>
              </a:rPr>
              <a:t> test to test whether the data in each group arises from distributions with the same variance? What do you conclude?</a:t>
            </a:r>
          </a:p>
        </p:txBody>
      </p:sp>
      <p:sp>
        <p:nvSpPr>
          <p:cNvPr id="13" name="Text Placeholder 5">
            <a:extLst>
              <a:ext uri="{FF2B5EF4-FFF2-40B4-BE49-F238E27FC236}">
                <a16:creationId xmlns:a16="http://schemas.microsoft.com/office/drawing/2014/main" id="{37BAAEF2-0C08-9CDF-42FF-1542AF76571B}"/>
              </a:ext>
            </a:extLst>
          </p:cNvPr>
          <p:cNvSpPr txBox="1">
            <a:spLocks/>
          </p:cNvSpPr>
          <p:nvPr/>
        </p:nvSpPr>
        <p:spPr>
          <a:xfrm>
            <a:off x="6418075" y="1767101"/>
            <a:ext cx="4553450"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2.1c of the code</a:t>
            </a:r>
            <a:endParaRPr lang="en-US" altLang="ja-JP" sz="1200" b="1" i="1" dirty="0">
              <a:solidFill>
                <a:schemeClr val="tx1"/>
              </a:solidFill>
            </a:endParaRPr>
          </a:p>
        </p:txBody>
      </p:sp>
      <p:sp>
        <p:nvSpPr>
          <p:cNvPr id="14" name="Text Placeholder 5">
            <a:extLst>
              <a:ext uri="{FF2B5EF4-FFF2-40B4-BE49-F238E27FC236}">
                <a16:creationId xmlns:a16="http://schemas.microsoft.com/office/drawing/2014/main" id="{5C81C584-519C-D28F-06EC-7D59B0434239}"/>
              </a:ext>
            </a:extLst>
          </p:cNvPr>
          <p:cNvSpPr txBox="1">
            <a:spLocks/>
          </p:cNvSpPr>
          <p:nvPr/>
        </p:nvSpPr>
        <p:spPr>
          <a:xfrm>
            <a:off x="6418075" y="2362777"/>
            <a:ext cx="4553450" cy="128380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err="1">
                <a:solidFill>
                  <a:schemeClr val="tx1"/>
                </a:solidFill>
              </a:rPr>
              <a:t>Levene’s</a:t>
            </a:r>
            <a:r>
              <a:rPr lang="en-NZ" altLang="ja-JP" sz="1400" dirty="0">
                <a:solidFill>
                  <a:schemeClr val="tx1"/>
                </a:solidFill>
              </a:rPr>
              <a:t> tests is designed to test between the following null and alternative hypotheses…</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H0: Data arise from distributions with the same variance</a:t>
            </a:r>
            <a:br>
              <a:rPr lang="en-NZ" altLang="ja-JP" sz="1400" dirty="0">
                <a:solidFill>
                  <a:schemeClr val="tx1"/>
                </a:solidFill>
              </a:rPr>
            </a:br>
            <a:r>
              <a:rPr lang="en-NZ" altLang="ja-JP" sz="1400" dirty="0">
                <a:solidFill>
                  <a:schemeClr val="tx1"/>
                </a:solidFill>
              </a:rPr>
              <a:t>H1: Data arise from distributions with different variances</a:t>
            </a:r>
          </a:p>
        </p:txBody>
      </p:sp>
      <p:sp>
        <p:nvSpPr>
          <p:cNvPr id="3" name="Footer Placeholder 2">
            <a:extLst>
              <a:ext uri="{FF2B5EF4-FFF2-40B4-BE49-F238E27FC236}">
                <a16:creationId xmlns:a16="http://schemas.microsoft.com/office/drawing/2014/main" id="{3A304036-05A0-463F-A8AF-1C9B4E6A0D5A}"/>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8" name="Title 6">
            <a:extLst>
              <a:ext uri="{FF2B5EF4-FFF2-40B4-BE49-F238E27FC236}">
                <a16:creationId xmlns:a16="http://schemas.microsoft.com/office/drawing/2014/main" id="{3E322F61-39E9-D41E-A743-F95ED2CAB9B3}"/>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sp>
        <p:nvSpPr>
          <p:cNvPr id="5" name="Text Placeholder 5">
            <a:extLst>
              <a:ext uri="{FF2B5EF4-FFF2-40B4-BE49-F238E27FC236}">
                <a16:creationId xmlns:a16="http://schemas.microsoft.com/office/drawing/2014/main" id="{19B8CEDF-3FCC-F187-CE57-100411EEECBC}"/>
              </a:ext>
            </a:extLst>
          </p:cNvPr>
          <p:cNvSpPr txBox="1">
            <a:spLocks/>
          </p:cNvSpPr>
          <p:nvPr/>
        </p:nvSpPr>
        <p:spPr>
          <a:xfrm>
            <a:off x="6418075" y="3735419"/>
            <a:ext cx="4553450" cy="145352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400" dirty="0">
                <a:solidFill>
                  <a:schemeClr val="tx1"/>
                </a:solidFill>
              </a:rPr>
              <a:t>In this case </a:t>
            </a:r>
            <a:r>
              <a:rPr lang="en-NZ" altLang="ja-JP" sz="1400" dirty="0" err="1">
                <a:solidFill>
                  <a:schemeClr val="tx1"/>
                </a:solidFill>
              </a:rPr>
              <a:t>Levene’s</a:t>
            </a:r>
            <a:r>
              <a:rPr lang="en-NZ" altLang="ja-JP" sz="1400" dirty="0">
                <a:solidFill>
                  <a:schemeClr val="tx1"/>
                </a:solidFill>
              </a:rPr>
              <a:t> test is applied to the data in each group</a:t>
            </a:r>
            <a:br>
              <a:rPr lang="en-NZ" altLang="ja-JP" sz="1400" dirty="0">
                <a:solidFill>
                  <a:schemeClr val="tx1"/>
                </a:solidFill>
              </a:rPr>
            </a:br>
            <a:br>
              <a:rPr lang="en-NZ" altLang="ja-JP" sz="1400" dirty="0">
                <a:solidFill>
                  <a:schemeClr val="tx1"/>
                </a:solidFill>
              </a:rPr>
            </a:br>
            <a:r>
              <a:rPr lang="en-NZ" altLang="ja-JP" sz="1400" dirty="0">
                <a:solidFill>
                  <a:schemeClr val="tx1"/>
                </a:solidFill>
              </a:rPr>
              <a:t>	F = 1.0602,  p-value = 0.349</a:t>
            </a:r>
            <a:br>
              <a:rPr lang="en-NZ" altLang="ja-JP" sz="1400" dirty="0">
                <a:solidFill>
                  <a:schemeClr val="tx1"/>
                </a:solidFill>
              </a:rPr>
            </a:br>
            <a:endParaRPr lang="en-NZ" altLang="ja-JP" sz="1400" dirty="0">
              <a:solidFill>
                <a:schemeClr val="tx1"/>
              </a:solidFill>
            </a:endParaRPr>
          </a:p>
          <a:p>
            <a:pPr>
              <a:lnSpc>
                <a:spcPct val="100000"/>
              </a:lnSpc>
            </a:pPr>
            <a:r>
              <a:rPr lang="en-NZ" altLang="ja-JP" sz="1400" dirty="0">
                <a:solidFill>
                  <a:schemeClr val="tx1"/>
                </a:solidFill>
              </a:rPr>
              <a:t>No evidence against the null hypothesis that the data from each group arise from distributions with the same variance.</a:t>
            </a:r>
          </a:p>
        </p:txBody>
      </p:sp>
    </p:spTree>
    <p:extLst>
      <p:ext uri="{BB962C8B-B14F-4D97-AF65-F5344CB8AC3E}">
        <p14:creationId xmlns:p14="http://schemas.microsoft.com/office/powerpoint/2010/main" val="71980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0" grpId="0"/>
      <p:bldP spid="12" grpId="0"/>
      <p:bldP spid="13" grpId="0"/>
      <p:bldP spid="1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 Herenga Waka—Victoria University of Wellington | Universities New  Zealand - Te Pōkai Tara">
            <a:extLst>
              <a:ext uri="{FF2B5EF4-FFF2-40B4-BE49-F238E27FC236}">
                <a16:creationId xmlns:a16="http://schemas.microsoft.com/office/drawing/2014/main" id="{B1142CEC-3289-4C4A-9152-123B70899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44864"/>
            <a:ext cx="1807633" cy="61313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F9331CF9-2501-4656-A309-CB7129AD346F}"/>
              </a:ext>
            </a:extLst>
          </p:cNvPr>
          <p:cNvSpPr txBox="1">
            <a:spLocks/>
          </p:cNvSpPr>
          <p:nvPr/>
        </p:nvSpPr>
        <p:spPr>
          <a:xfrm>
            <a:off x="10220594" y="6182657"/>
            <a:ext cx="1807633" cy="675343"/>
          </a:xfrm>
          <a:prstGeom prst="rect">
            <a:avLst/>
          </a:prstGeom>
        </p:spPr>
        <p:txBody>
          <a:bodyPr vert="horz" lIns="91440" tIns="45720" rIns="91440" bIns="45720" rtlCol="0" anchor="b"/>
          <a:lstStyle>
            <a:defPPr>
              <a:defRPr lang="en-US"/>
            </a:defPPr>
            <a:lvl1pPr marL="0" algn="r" defTabSz="914400" rtl="0" eaLnBrk="1" latinLnBrk="0" hangingPunct="1">
              <a:defRPr sz="4000" kern="1200">
                <a:solidFill>
                  <a:schemeClr val="tx2">
                    <a:lumMod val="20000"/>
                    <a:lumOff val="8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54AD89C-DF1E-4948-B597-5DD47B34A9CA}" type="slidenum">
              <a:rPr kumimoji="1" lang="ja-JP" altLang="en-US" smtClean="0">
                <a:solidFill>
                  <a:srgbClr val="575454">
                    <a:lumMod val="20000"/>
                    <a:lumOff val="80000"/>
                  </a:srgbClr>
                </a:solidFill>
                <a:latin typeface="Coo Hew"/>
              </a:rPr>
              <a:pPr/>
              <a:t>17</a:t>
            </a:fld>
            <a:endParaRPr kumimoji="1" lang="ja-JP" altLang="en-US" dirty="0">
              <a:solidFill>
                <a:srgbClr val="575454">
                  <a:lumMod val="20000"/>
                  <a:lumOff val="80000"/>
                </a:srgbClr>
              </a:solidFill>
              <a:latin typeface="Coo Hew"/>
            </a:endParaRPr>
          </a:p>
        </p:txBody>
      </p:sp>
      <p:sp>
        <p:nvSpPr>
          <p:cNvPr id="2" name="Text Placeholder 5">
            <a:extLst>
              <a:ext uri="{FF2B5EF4-FFF2-40B4-BE49-F238E27FC236}">
                <a16:creationId xmlns:a16="http://schemas.microsoft.com/office/drawing/2014/main" id="{34516B62-317B-D195-420A-3A3D488B2EB7}"/>
              </a:ext>
            </a:extLst>
          </p:cNvPr>
          <p:cNvSpPr txBox="1">
            <a:spLocks/>
          </p:cNvSpPr>
          <p:nvPr/>
        </p:nvSpPr>
        <p:spPr>
          <a:xfrm>
            <a:off x="3011606" y="6551432"/>
            <a:ext cx="6168789" cy="308556"/>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lnSpc>
                <a:spcPct val="100000"/>
              </a:lnSpc>
            </a:pPr>
            <a:r>
              <a:rPr lang="en-US" altLang="ja-JP" sz="1200" dirty="0">
                <a:solidFill>
                  <a:srgbClr val="C00000"/>
                </a:solidFill>
              </a:rPr>
              <a:t>Associated code = </a:t>
            </a:r>
            <a:r>
              <a:rPr lang="en-NZ" altLang="ja-JP" sz="1200" dirty="0">
                <a:solidFill>
                  <a:srgbClr val="C00000"/>
                </a:solidFill>
              </a:rPr>
              <a:t>Tutorial 1 – Q2</a:t>
            </a:r>
            <a:endParaRPr lang="en-US" altLang="ja-JP" sz="1200" b="1" i="1" dirty="0">
              <a:solidFill>
                <a:srgbClr val="C00000"/>
              </a:solidFill>
            </a:endParaRPr>
          </a:p>
        </p:txBody>
      </p:sp>
      <p:sp>
        <p:nvSpPr>
          <p:cNvPr id="27" name="Text Placeholder 5">
            <a:extLst>
              <a:ext uri="{FF2B5EF4-FFF2-40B4-BE49-F238E27FC236}">
                <a16:creationId xmlns:a16="http://schemas.microsoft.com/office/drawing/2014/main" id="{71FA2251-5C86-A66D-0FC6-49608B669505}"/>
              </a:ext>
            </a:extLst>
          </p:cNvPr>
          <p:cNvSpPr txBox="1">
            <a:spLocks/>
          </p:cNvSpPr>
          <p:nvPr/>
        </p:nvSpPr>
        <p:spPr>
          <a:xfrm>
            <a:off x="3011606" y="1512820"/>
            <a:ext cx="5101989" cy="26665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200" dirty="0">
                <a:solidFill>
                  <a:schemeClr val="tx1"/>
                </a:solidFill>
              </a:rPr>
              <a:t>See Section 3 of the code</a:t>
            </a:r>
            <a:endParaRPr lang="en-US" altLang="ja-JP" sz="1200" b="1" i="1" dirty="0">
              <a:solidFill>
                <a:schemeClr val="tx1"/>
              </a:solidFill>
            </a:endParaRPr>
          </a:p>
        </p:txBody>
      </p:sp>
      <p:sp>
        <p:nvSpPr>
          <p:cNvPr id="3" name="Text Placeholder 5">
            <a:extLst>
              <a:ext uri="{FF2B5EF4-FFF2-40B4-BE49-F238E27FC236}">
                <a16:creationId xmlns:a16="http://schemas.microsoft.com/office/drawing/2014/main" id="{ED81E4F6-7AF9-9282-743C-D2BD1AF02951}"/>
              </a:ext>
            </a:extLst>
          </p:cNvPr>
          <p:cNvSpPr txBox="1">
            <a:spLocks/>
          </p:cNvSpPr>
          <p:nvPr/>
        </p:nvSpPr>
        <p:spPr>
          <a:xfrm>
            <a:off x="372662" y="880630"/>
            <a:ext cx="11068711" cy="79804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gn="just">
              <a:lnSpc>
                <a:spcPct val="100000"/>
              </a:lnSpc>
              <a:buFont typeface="+mj-lt"/>
              <a:buAutoNum type="alphaLcParenR" startAt="7"/>
            </a:pPr>
            <a:r>
              <a:rPr lang="en-US" altLang="ja-JP" sz="1600" dirty="0">
                <a:solidFill>
                  <a:srgbClr val="0070C0"/>
                </a:solidFill>
              </a:rPr>
              <a:t>Given that the conditions of one-way ANOVA are violated, conduct a permutation test to test whether the mean hourly number of incoming calls is the same across all three call </a:t>
            </a:r>
            <a:r>
              <a:rPr lang="en-US" altLang="ja-JP" sz="1600" dirty="0" err="1">
                <a:solidFill>
                  <a:srgbClr val="0070C0"/>
                </a:solidFill>
              </a:rPr>
              <a:t>centres</a:t>
            </a:r>
            <a:r>
              <a:rPr lang="en-US" altLang="ja-JP" sz="1600" dirty="0">
                <a:solidFill>
                  <a:srgbClr val="0070C0"/>
                </a:solidFill>
              </a:rPr>
              <a:t>. Specify the hypotheses being tested, the p-value of the test and the conclusion you reach.</a:t>
            </a:r>
          </a:p>
        </p:txBody>
      </p:sp>
      <mc:AlternateContent xmlns:mc="http://schemas.openxmlformats.org/markup-compatibility/2006" xmlns:a14="http://schemas.microsoft.com/office/drawing/2010/main">
        <mc:Choice Requires="a14">
          <p:sp>
            <p:nvSpPr>
              <p:cNvPr id="9" name="Text Placeholder 5">
                <a:extLst>
                  <a:ext uri="{FF2B5EF4-FFF2-40B4-BE49-F238E27FC236}">
                    <a16:creationId xmlns:a16="http://schemas.microsoft.com/office/drawing/2014/main" id="{68461551-6935-9F6C-CAF1-46928BAFA115}"/>
                  </a:ext>
                </a:extLst>
              </p:cNvPr>
              <p:cNvSpPr txBox="1">
                <a:spLocks/>
              </p:cNvSpPr>
              <p:nvPr/>
            </p:nvSpPr>
            <p:spPr>
              <a:xfrm>
                <a:off x="6744888" y="2411660"/>
                <a:ext cx="4812214" cy="544680"/>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14:m>
                  <m:oMath xmlns:m="http://schemas.openxmlformats.org/officeDocument/2006/math">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𝟎</m:t>
                        </m:r>
                      </m:sub>
                    </m:sSub>
                    <m:r>
                      <a:rPr lang="en-NZ" altLang="ja-JP" sz="1600" b="1" i="1" smtClean="0">
                        <a:solidFill>
                          <a:schemeClr val="tx1"/>
                        </a:solidFill>
                        <a:latin typeface="Cambria Math" panose="02040503050406030204" pitchFamily="18" charset="0"/>
                      </a:rPr>
                      <m:t> :</m:t>
                    </m:r>
                  </m:oMath>
                </a14:m>
                <a:r>
                  <a:rPr lang="en-NZ" altLang="ja-JP" sz="1600" b="1" i="1" dirty="0">
                    <a:solidFill>
                      <a:schemeClr val="tx1"/>
                    </a:solidFill>
                    <a:latin typeface="Cambria Math" panose="02040503050406030204" pitchFamily="18" charset="0"/>
                  </a:rPr>
                  <a:t> </a:t>
                </a:r>
                <a:r>
                  <a:rPr lang="en-NZ" altLang="ja-JP" sz="1600" dirty="0">
                    <a:solidFill>
                      <a:schemeClr val="tx1"/>
                    </a:solidFill>
                    <a:latin typeface="Cambria Math" panose="02040503050406030204" pitchFamily="18" charset="0"/>
                  </a:rPr>
                  <a:t>Mean # incoming calls same across all centres</a:t>
                </a:r>
                <a:br>
                  <a:rPr lang="en-NZ" altLang="ja-JP" sz="1600" b="1" i="1" dirty="0">
                    <a:solidFill>
                      <a:schemeClr val="tx1"/>
                    </a:solidFill>
                    <a:latin typeface="Cambria Math" panose="02040503050406030204" pitchFamily="18" charset="0"/>
                  </a:rPr>
                </a:br>
                <a14:m>
                  <m:oMath xmlns:m="http://schemas.openxmlformats.org/officeDocument/2006/math">
                    <m:sSub>
                      <m:sSubPr>
                        <m:ctrlPr>
                          <a:rPr lang="en-NZ" altLang="ja-JP" sz="1600" b="1" i="1">
                            <a:solidFill>
                              <a:schemeClr val="tx1"/>
                            </a:solidFill>
                            <a:latin typeface="Cambria Math" panose="02040503050406030204" pitchFamily="18" charset="0"/>
                          </a:rPr>
                        </m:ctrlPr>
                      </m:sSubPr>
                      <m:e>
                        <m:r>
                          <a:rPr lang="en-NZ" altLang="ja-JP" sz="1600" b="1" i="1">
                            <a:solidFill>
                              <a:schemeClr val="tx1"/>
                            </a:solidFill>
                            <a:latin typeface="Cambria Math" panose="02040503050406030204" pitchFamily="18" charset="0"/>
                          </a:rPr>
                          <m:t>𝑯</m:t>
                        </m:r>
                      </m:e>
                      <m:sub>
                        <m:r>
                          <a:rPr lang="en-NZ" altLang="ja-JP" sz="1600" b="1" i="1" smtClean="0">
                            <a:solidFill>
                              <a:schemeClr val="tx1"/>
                            </a:solidFill>
                            <a:latin typeface="Cambria Math" panose="02040503050406030204" pitchFamily="18" charset="0"/>
                          </a:rPr>
                          <m:t>𝟏</m:t>
                        </m:r>
                      </m:sub>
                    </m:sSub>
                    <m:r>
                      <a:rPr lang="en-NZ" altLang="ja-JP" sz="1600" b="1" i="1">
                        <a:solidFill>
                          <a:schemeClr val="tx1"/>
                        </a:solidFill>
                        <a:latin typeface="Cambria Math" panose="02040503050406030204" pitchFamily="18" charset="0"/>
                      </a:rPr>
                      <m:t> :</m:t>
                    </m:r>
                  </m:oMath>
                </a14:m>
                <a:r>
                  <a:rPr lang="en-US" altLang="ja-JP" sz="1600" b="1" i="1" dirty="0">
                    <a:solidFill>
                      <a:schemeClr val="tx1"/>
                    </a:solidFill>
                  </a:rPr>
                  <a:t> </a:t>
                </a:r>
                <a:r>
                  <a:rPr lang="en-NZ" altLang="ja-JP" sz="1600" dirty="0">
                    <a:solidFill>
                      <a:schemeClr val="tx1"/>
                    </a:solidFill>
                  </a:rPr>
                  <a:t>Mean # incoming calls differs across centres</a:t>
                </a:r>
                <a:endParaRPr lang="en-US" altLang="ja-JP" sz="1600" dirty="0">
                  <a:solidFill>
                    <a:schemeClr val="tx1"/>
                  </a:solidFill>
                </a:endParaRPr>
              </a:p>
            </p:txBody>
          </p:sp>
        </mc:Choice>
        <mc:Fallback xmlns="">
          <p:sp>
            <p:nvSpPr>
              <p:cNvPr id="9" name="Text Placeholder 5">
                <a:extLst>
                  <a:ext uri="{FF2B5EF4-FFF2-40B4-BE49-F238E27FC236}">
                    <a16:creationId xmlns:a16="http://schemas.microsoft.com/office/drawing/2014/main" id="{68461551-6935-9F6C-CAF1-46928BAFA115}"/>
                  </a:ext>
                </a:extLst>
              </p:cNvPr>
              <p:cNvSpPr txBox="1">
                <a:spLocks noRot="1" noChangeAspect="1" noMove="1" noResize="1" noEditPoints="1" noAdjustHandles="1" noChangeArrowheads="1" noChangeShapeType="1" noTextEdit="1"/>
              </p:cNvSpPr>
              <p:nvPr/>
            </p:nvSpPr>
            <p:spPr>
              <a:xfrm>
                <a:off x="6744888" y="2411660"/>
                <a:ext cx="4812214" cy="544680"/>
              </a:xfrm>
              <a:prstGeom prst="rect">
                <a:avLst/>
              </a:prstGeom>
              <a:blipFill>
                <a:blip r:embed="rId3"/>
                <a:stretch>
                  <a:fillRect t="-4494" b="-21348"/>
                </a:stretch>
              </a:blipFill>
            </p:spPr>
            <p:txBody>
              <a:bodyPr/>
              <a:lstStyle/>
              <a:p>
                <a:r>
                  <a:rPr lang="en-NZ">
                    <a:noFill/>
                  </a:rPr>
                  <a:t> </a:t>
                </a:r>
              </a:p>
            </p:txBody>
          </p:sp>
        </mc:Fallback>
      </mc:AlternateContent>
      <p:sp>
        <p:nvSpPr>
          <p:cNvPr id="7" name="Footer Placeholder 2">
            <a:extLst>
              <a:ext uri="{FF2B5EF4-FFF2-40B4-BE49-F238E27FC236}">
                <a16:creationId xmlns:a16="http://schemas.microsoft.com/office/drawing/2014/main" id="{06FBDEA9-1D27-C13E-52EC-28848D28B374}"/>
              </a:ext>
            </a:extLst>
          </p:cNvPr>
          <p:cNvSpPr txBox="1">
            <a:spLocks/>
          </p:cNvSpPr>
          <p:nvPr/>
        </p:nvSpPr>
        <p:spPr>
          <a:xfrm>
            <a:off x="9444251" y="86139"/>
            <a:ext cx="2645114" cy="365125"/>
          </a:xfrm>
          <a:prstGeom prst="rect">
            <a:avLst/>
          </a:prstGeom>
        </p:spPr>
        <p:txBody>
          <a:bodyPr vert="horz" lIns="91440" tIns="45720" rIns="91440" bIns="45720" rtlCol="0" anchor="ctr"/>
          <a:lstStyle>
            <a:defPPr>
              <a:defRPr lang="en-US"/>
            </a:defPPr>
            <a:lvl1pPr marL="0" algn="r" defTabSz="914400" rtl="0" eaLnBrk="1" latinLnBrk="0" hangingPunct="1">
              <a:defRPr sz="933"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solidFill>
                  <a:srgbClr val="DEDDDD"/>
                </a:solidFill>
                <a:latin typeface="Gidole"/>
              </a:rPr>
              <a:t>Question 2</a:t>
            </a:r>
            <a:endParaRPr kumimoji="1" lang="ja-JP" altLang="en-US" sz="1600" dirty="0">
              <a:solidFill>
                <a:srgbClr val="DEDDDD"/>
              </a:solidFill>
              <a:latin typeface="Gidole"/>
            </a:endParaRPr>
          </a:p>
        </p:txBody>
      </p:sp>
      <p:sp>
        <p:nvSpPr>
          <p:cNvPr id="11" name="Title 6">
            <a:extLst>
              <a:ext uri="{FF2B5EF4-FFF2-40B4-BE49-F238E27FC236}">
                <a16:creationId xmlns:a16="http://schemas.microsoft.com/office/drawing/2014/main" id="{38CA79C0-94D6-F703-9440-B1AFEB0C3929}"/>
              </a:ext>
            </a:extLst>
          </p:cNvPr>
          <p:cNvSpPr txBox="1">
            <a:spLocks/>
          </p:cNvSpPr>
          <p:nvPr/>
        </p:nvSpPr>
        <p:spPr>
          <a:xfrm>
            <a:off x="319463" y="196889"/>
            <a:ext cx="8168429" cy="607201"/>
          </a:xfrm>
          <a:prstGeom prst="rect">
            <a:avLst/>
          </a:prstGeom>
        </p:spPr>
        <p:txBody>
          <a:bodyPr anchor="t">
            <a:normAutofit/>
          </a:bodyPr>
          <a:lstStyle>
            <a:lvl1pPr algn="l" defTabSz="914324" rtl="0" eaLnBrk="1" latinLnBrk="0" hangingPunct="1">
              <a:lnSpc>
                <a:spcPct val="90000"/>
              </a:lnSpc>
              <a:spcBef>
                <a:spcPct val="0"/>
              </a:spcBef>
              <a:buNone/>
              <a:defRPr kumimoji="1" sz="3600" kern="1200" baseline="0">
                <a:solidFill>
                  <a:schemeClr val="tx1"/>
                </a:solidFill>
                <a:latin typeface="+mj-lt"/>
                <a:ea typeface="+mj-ea"/>
                <a:cs typeface="+mj-cs"/>
              </a:defRPr>
            </a:lvl1pPr>
          </a:lstStyle>
          <a:p>
            <a:r>
              <a:rPr lang="en-US" altLang="ja-JP" b="1" u="sng" dirty="0">
                <a:latin typeface="+mn-lt"/>
              </a:rPr>
              <a:t>Question 2:</a:t>
            </a:r>
            <a:endParaRPr lang="ja-JP" altLang="en-US" b="1" u="sng" dirty="0">
              <a:latin typeface="+mn-lt"/>
            </a:endParaRPr>
          </a:p>
        </p:txBody>
      </p:sp>
      <p:pic>
        <p:nvPicPr>
          <p:cNvPr id="16" name="Picture 15">
            <a:extLst>
              <a:ext uri="{FF2B5EF4-FFF2-40B4-BE49-F238E27FC236}">
                <a16:creationId xmlns:a16="http://schemas.microsoft.com/office/drawing/2014/main" id="{F501C36F-79AF-F9E1-85FF-AEC0F7830825}"/>
              </a:ext>
            </a:extLst>
          </p:cNvPr>
          <p:cNvPicPr>
            <a:picLocks noChangeAspect="1"/>
          </p:cNvPicPr>
          <p:nvPr/>
        </p:nvPicPr>
        <p:blipFill>
          <a:blip r:embed="rId4"/>
          <a:stretch>
            <a:fillRect/>
          </a:stretch>
        </p:blipFill>
        <p:spPr>
          <a:xfrm>
            <a:off x="565244" y="2192497"/>
            <a:ext cx="6179644" cy="3845112"/>
          </a:xfrm>
          <a:prstGeom prst="rect">
            <a:avLst/>
          </a:prstGeom>
        </p:spPr>
      </p:pic>
      <p:sp>
        <p:nvSpPr>
          <p:cNvPr id="17" name="Text Placeholder 5">
            <a:extLst>
              <a:ext uri="{FF2B5EF4-FFF2-40B4-BE49-F238E27FC236}">
                <a16:creationId xmlns:a16="http://schemas.microsoft.com/office/drawing/2014/main" id="{E7CE95B3-0919-B513-0028-2BAA3D82FAB6}"/>
              </a:ext>
            </a:extLst>
          </p:cNvPr>
          <p:cNvSpPr txBox="1">
            <a:spLocks/>
          </p:cNvSpPr>
          <p:nvPr/>
        </p:nvSpPr>
        <p:spPr>
          <a:xfrm>
            <a:off x="565244" y="1893023"/>
            <a:ext cx="5875988" cy="397358"/>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dirty="0">
                <a:solidFill>
                  <a:schemeClr val="tx1"/>
                </a:solidFill>
              </a:rPr>
              <a:t>Histogram of F-Statistics Produced from 1,000 Reordered Samples</a:t>
            </a:r>
          </a:p>
        </p:txBody>
      </p:sp>
      <p:sp>
        <p:nvSpPr>
          <p:cNvPr id="18" name="Text Placeholder 5">
            <a:extLst>
              <a:ext uri="{FF2B5EF4-FFF2-40B4-BE49-F238E27FC236}">
                <a16:creationId xmlns:a16="http://schemas.microsoft.com/office/drawing/2014/main" id="{4A704856-A93F-76F9-86CA-B0F1A63F482F}"/>
              </a:ext>
            </a:extLst>
          </p:cNvPr>
          <p:cNvSpPr txBox="1">
            <a:spLocks/>
          </p:cNvSpPr>
          <p:nvPr/>
        </p:nvSpPr>
        <p:spPr>
          <a:xfrm>
            <a:off x="1316313" y="2560061"/>
            <a:ext cx="1357434" cy="474953"/>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800" b="1" i="1" dirty="0">
                <a:solidFill>
                  <a:srgbClr val="C00000"/>
                </a:solidFill>
              </a:rPr>
              <a:t>F</a:t>
            </a:r>
            <a:r>
              <a:rPr lang="en-NZ" altLang="ja-JP" sz="1800" b="1" i="1" baseline="-25000" dirty="0">
                <a:solidFill>
                  <a:srgbClr val="C00000"/>
                </a:solidFill>
              </a:rPr>
              <a:t>obs</a:t>
            </a:r>
            <a:r>
              <a:rPr lang="en-NZ" altLang="ja-JP" sz="1800" b="1" i="1" dirty="0">
                <a:solidFill>
                  <a:srgbClr val="C00000"/>
                </a:solidFill>
              </a:rPr>
              <a:t> = 0.108</a:t>
            </a:r>
          </a:p>
          <a:p>
            <a:pPr algn="just">
              <a:lnSpc>
                <a:spcPct val="100000"/>
              </a:lnSpc>
            </a:pPr>
            <a:r>
              <a:rPr lang="en-NZ" altLang="ja-JP" sz="1800" b="1" i="1" dirty="0">
                <a:solidFill>
                  <a:srgbClr val="C00000"/>
                </a:solidFill>
              </a:rPr>
              <a:t>  </a:t>
            </a:r>
          </a:p>
          <a:p>
            <a:pPr algn="just">
              <a:lnSpc>
                <a:spcPct val="100000"/>
              </a:lnSpc>
            </a:pPr>
            <a:endParaRPr lang="en-NZ" altLang="ja-JP" sz="1800" b="1" i="1" dirty="0">
              <a:solidFill>
                <a:srgbClr val="C00000"/>
              </a:solidFill>
            </a:endParaRPr>
          </a:p>
          <a:p>
            <a:pPr algn="just">
              <a:lnSpc>
                <a:spcPct val="100000"/>
              </a:lnSpc>
            </a:pPr>
            <a:endParaRPr lang="en-NZ" altLang="ja-JP" sz="1800" b="1" i="1" dirty="0">
              <a:solidFill>
                <a:srgbClr val="C00000"/>
              </a:solidFill>
            </a:endParaRPr>
          </a:p>
        </p:txBody>
      </p:sp>
      <p:sp>
        <p:nvSpPr>
          <p:cNvPr id="19" name="Text Placeholder 5">
            <a:extLst>
              <a:ext uri="{FF2B5EF4-FFF2-40B4-BE49-F238E27FC236}">
                <a16:creationId xmlns:a16="http://schemas.microsoft.com/office/drawing/2014/main" id="{5077C4AE-7FA6-7305-2B43-38D985E9E656}"/>
              </a:ext>
            </a:extLst>
          </p:cNvPr>
          <p:cNvSpPr txBox="1">
            <a:spLocks/>
          </p:cNvSpPr>
          <p:nvPr/>
        </p:nvSpPr>
        <p:spPr>
          <a:xfrm>
            <a:off x="7006345" y="4409255"/>
            <a:ext cx="4435028" cy="1459281"/>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en-NZ" altLang="ja-JP" sz="1600" dirty="0">
                <a:solidFill>
                  <a:schemeClr val="tx1"/>
                </a:solidFill>
              </a:rPr>
              <a:t>Permutation test yields no evidence against H</a:t>
            </a:r>
            <a:r>
              <a:rPr lang="en-NZ" altLang="ja-JP" sz="1600" baseline="-25000" dirty="0">
                <a:solidFill>
                  <a:schemeClr val="tx1"/>
                </a:solidFill>
              </a:rPr>
              <a:t>0</a:t>
            </a:r>
            <a:r>
              <a:rPr lang="en-NZ" altLang="ja-JP" sz="1600" dirty="0">
                <a:solidFill>
                  <a:schemeClr val="tx1"/>
                </a:solidFill>
              </a:rPr>
              <a:t>.</a:t>
            </a:r>
            <a:br>
              <a:rPr lang="en-NZ" altLang="ja-JP" sz="1600" dirty="0">
                <a:solidFill>
                  <a:schemeClr val="tx1"/>
                </a:solidFill>
              </a:rPr>
            </a:br>
            <a:br>
              <a:rPr lang="en-NZ" altLang="ja-JP" sz="1600" dirty="0">
                <a:solidFill>
                  <a:schemeClr val="tx1"/>
                </a:solidFill>
              </a:rPr>
            </a:br>
            <a:r>
              <a:rPr lang="en-NZ" altLang="ja-JP" sz="1600" dirty="0">
                <a:solidFill>
                  <a:schemeClr val="tx1"/>
                </a:solidFill>
              </a:rPr>
              <a:t>Conclude that there is no difference in the mean hourly number of incoming calls at each call centre.</a:t>
            </a:r>
          </a:p>
        </p:txBody>
      </p:sp>
      <mc:AlternateContent xmlns:mc="http://schemas.openxmlformats.org/markup-compatibility/2006" xmlns:a14="http://schemas.microsoft.com/office/drawing/2010/main">
        <mc:Choice Requires="a14">
          <p:sp>
            <p:nvSpPr>
              <p:cNvPr id="20" name="Text Placeholder 5">
                <a:extLst>
                  <a:ext uri="{FF2B5EF4-FFF2-40B4-BE49-F238E27FC236}">
                    <a16:creationId xmlns:a16="http://schemas.microsoft.com/office/drawing/2014/main" id="{A15CBC77-50ED-5D92-2823-2EA38FF6AEA8}"/>
                  </a:ext>
                </a:extLst>
              </p:cNvPr>
              <p:cNvSpPr txBox="1">
                <a:spLocks/>
              </p:cNvSpPr>
              <p:nvPr/>
            </p:nvSpPr>
            <p:spPr>
              <a:xfrm>
                <a:off x="7006345" y="3162877"/>
                <a:ext cx="4132719" cy="1169215"/>
              </a:xfrm>
              <a:prstGeom prst="rect">
                <a:avLst/>
              </a:prstGeom>
            </p:spPr>
            <p:txBody>
              <a:bodyPr>
                <a:noAutofit/>
              </a:bodyPr>
              <a:lstStyle>
                <a:lvl1pPr marL="0" indent="0" algn="l" defTabSz="914324" rtl="0" eaLnBrk="1" latinLnBrk="0" hangingPunct="1">
                  <a:lnSpc>
                    <a:spcPct val="160000"/>
                  </a:lnSpc>
                  <a:spcBef>
                    <a:spcPts val="0"/>
                  </a:spcBef>
                  <a:buFont typeface="Arial" panose="020B0604020202020204" pitchFamily="34" charset="0"/>
                  <a:buNone/>
                  <a:defRPr kumimoji="1" sz="1067" kern="1200" baseline="0">
                    <a:solidFill>
                      <a:schemeClr val="tx2"/>
                    </a:solidFill>
                    <a:latin typeface="+mn-lt"/>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just">
                  <a:lnSpc>
                    <a:spcPct val="100000"/>
                  </a:lnSpc>
                </a:pPr>
                <a:r>
                  <a:rPr lang="en-NZ" altLang="ja-JP" sz="1600" b="1" i="1" dirty="0">
                    <a:solidFill>
                      <a:schemeClr val="tx1"/>
                    </a:solidFill>
                  </a:rPr>
                  <a:t>F</a:t>
                </a:r>
                <a:r>
                  <a:rPr lang="en-NZ" altLang="ja-JP" sz="1600" b="1" i="1" baseline="-25000" dirty="0" err="1">
                    <a:solidFill>
                      <a:schemeClr val="tx1"/>
                    </a:solidFill>
                  </a:rPr>
                  <a:t>Obs</a:t>
                </a:r>
                <a:r>
                  <a:rPr lang="en-NZ" altLang="ja-JP" sz="1600" b="1" i="1" dirty="0">
                    <a:solidFill>
                      <a:schemeClr val="tx1"/>
                    </a:solidFill>
                  </a:rPr>
                  <a:t>  </a:t>
                </a:r>
                <a:r>
                  <a:rPr lang="en-NZ" altLang="ja-JP" sz="1600" dirty="0">
                    <a:solidFill>
                      <a:schemeClr val="tx1"/>
                    </a:solidFill>
                  </a:rPr>
                  <a:t>lies in the 8.8</a:t>
                </a:r>
                <a:r>
                  <a:rPr lang="en-NZ" altLang="ja-JP" sz="1600" baseline="30000" dirty="0">
                    <a:solidFill>
                      <a:schemeClr val="tx1"/>
                    </a:solidFill>
                  </a:rPr>
                  <a:t>th</a:t>
                </a:r>
                <a:r>
                  <a:rPr lang="en-NZ" altLang="ja-JP" sz="1600" dirty="0">
                    <a:solidFill>
                      <a:schemeClr val="tx1"/>
                    </a:solidFill>
                  </a:rPr>
                  <a:t> percentile of F-statistic  produced from 1,000 reordered samples.</a:t>
                </a:r>
              </a:p>
              <a:p>
                <a:pPr algn="just">
                  <a:lnSpc>
                    <a:spcPct val="100000"/>
                  </a:lnSpc>
                </a:pPr>
                <a:endParaRPr lang="en-NZ" altLang="ja-JP" sz="1600" dirty="0">
                  <a:solidFill>
                    <a:schemeClr val="tx1"/>
                  </a:solidFill>
                </a:endParaRPr>
              </a:p>
              <a:p>
                <a:pPr algn="just">
                  <a:lnSpc>
                    <a:spcPct val="100000"/>
                  </a:lnSpc>
                </a:pPr>
                <a14:m>
                  <m:oMathPara xmlns:m="http://schemas.openxmlformats.org/officeDocument/2006/math">
                    <m:oMathParaPr>
                      <m:jc m:val="centerGroup"/>
                    </m:oMathParaPr>
                    <m:oMath xmlns:m="http://schemas.openxmlformats.org/officeDocument/2006/math">
                      <m:r>
                        <a:rPr lang="en-NZ" altLang="ja-JP" sz="1600" b="1" i="1" smtClean="0">
                          <a:solidFill>
                            <a:schemeClr val="tx1"/>
                          </a:solidFill>
                          <a:latin typeface="Cambria Math" panose="02040503050406030204" pitchFamily="18" charset="0"/>
                        </a:rPr>
                        <m:t>𝑷</m:t>
                      </m:r>
                      <m:d>
                        <m:dPr>
                          <m:ctrlPr>
                            <a:rPr lang="en-NZ" altLang="ja-JP" sz="1600" b="1" i="1" smtClean="0">
                              <a:solidFill>
                                <a:schemeClr val="tx1"/>
                              </a:solidFill>
                              <a:latin typeface="Cambria Math" panose="02040503050406030204" pitchFamily="18" charset="0"/>
                            </a:rPr>
                          </m:ctrlPr>
                        </m:dPr>
                        <m:e>
                          <m:r>
                            <a:rPr lang="en-NZ" altLang="ja-JP" sz="1600" b="1" i="1" smtClean="0">
                              <a:solidFill>
                                <a:schemeClr val="tx1"/>
                              </a:solidFill>
                              <a:latin typeface="Cambria Math" panose="02040503050406030204" pitchFamily="18" charset="0"/>
                            </a:rPr>
                            <m:t> </m:t>
                          </m:r>
                          <m:r>
                            <a:rPr lang="en-NZ" altLang="ja-JP" sz="1600" b="1" i="1" smtClean="0">
                              <a:solidFill>
                                <a:schemeClr val="tx1"/>
                              </a:solidFill>
                              <a:latin typeface="Cambria Math" panose="02040503050406030204" pitchFamily="18" charset="0"/>
                            </a:rPr>
                            <m:t>𝑭</m:t>
                          </m:r>
                          <m:r>
                            <a:rPr lang="en-NZ" altLang="ja-JP" sz="1600" b="1" i="1" smtClean="0">
                              <a:solidFill>
                                <a:schemeClr val="tx1"/>
                              </a:solidFill>
                              <a:latin typeface="Cambria Math" panose="02040503050406030204" pitchFamily="18" charset="0"/>
                            </a:rPr>
                            <m:t>≥</m:t>
                          </m:r>
                          <m:sSub>
                            <m:sSubPr>
                              <m:ctrlPr>
                                <a:rPr lang="en-NZ" altLang="ja-JP" sz="1600" b="1" i="1" smtClean="0">
                                  <a:solidFill>
                                    <a:schemeClr val="tx1"/>
                                  </a:solidFill>
                                  <a:latin typeface="Cambria Math" panose="02040503050406030204" pitchFamily="18" charset="0"/>
                                </a:rPr>
                              </m:ctrlPr>
                            </m:sSubPr>
                            <m:e>
                              <m:r>
                                <a:rPr lang="en-NZ" altLang="ja-JP" sz="1600" b="1" i="1" smtClean="0">
                                  <a:solidFill>
                                    <a:schemeClr val="tx1"/>
                                  </a:solidFill>
                                  <a:latin typeface="Cambria Math" panose="02040503050406030204" pitchFamily="18" charset="0"/>
                                </a:rPr>
                                <m:t>𝑭</m:t>
                              </m:r>
                            </m:e>
                            <m:sub>
                              <m:r>
                                <a:rPr lang="en-NZ" altLang="ja-JP" sz="1600" b="1" i="1" smtClean="0">
                                  <a:solidFill>
                                    <a:schemeClr val="tx1"/>
                                  </a:solidFill>
                                  <a:latin typeface="Cambria Math" panose="02040503050406030204" pitchFamily="18" charset="0"/>
                                </a:rPr>
                                <m:t>𝒐𝒃𝒔</m:t>
                              </m:r>
                            </m:sub>
                          </m:sSub>
                          <m:r>
                            <a:rPr lang="en-NZ" altLang="ja-JP" sz="1600" b="1" i="1" smtClean="0">
                              <a:solidFill>
                                <a:schemeClr val="tx1"/>
                              </a:solidFill>
                              <a:latin typeface="Cambria Math" panose="02040503050406030204" pitchFamily="18" charset="0"/>
                            </a:rPr>
                            <m:t> </m:t>
                          </m:r>
                        </m:e>
                      </m:d>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𝟎</m:t>
                      </m:r>
                      <m:r>
                        <a:rPr lang="en-NZ" altLang="ja-JP" sz="1600" b="1" i="1" smtClean="0">
                          <a:solidFill>
                            <a:schemeClr val="tx1"/>
                          </a:solidFill>
                          <a:latin typeface="Cambria Math" panose="02040503050406030204" pitchFamily="18" charset="0"/>
                          <a:ea typeface="Cambria Math" panose="02040503050406030204" pitchFamily="18" charset="0"/>
                        </a:rPr>
                        <m:t>.</m:t>
                      </m:r>
                      <m:r>
                        <a:rPr lang="en-NZ" altLang="ja-JP" sz="1600" b="1" i="1" smtClean="0">
                          <a:solidFill>
                            <a:schemeClr val="tx1"/>
                          </a:solidFill>
                          <a:latin typeface="Cambria Math" panose="02040503050406030204" pitchFamily="18" charset="0"/>
                          <a:ea typeface="Cambria Math" panose="02040503050406030204" pitchFamily="18" charset="0"/>
                        </a:rPr>
                        <m:t>𝟗𝟏𝟐</m:t>
                      </m:r>
                    </m:oMath>
                  </m:oMathPara>
                </a14:m>
                <a:endParaRPr lang="en-NZ" altLang="ja-JP" sz="1600" b="1" dirty="0">
                  <a:solidFill>
                    <a:schemeClr val="tx1"/>
                  </a:solidFill>
                </a:endParaRPr>
              </a:p>
            </p:txBody>
          </p:sp>
        </mc:Choice>
        <mc:Fallback xmlns="">
          <p:sp>
            <p:nvSpPr>
              <p:cNvPr id="20" name="Text Placeholder 5">
                <a:extLst>
                  <a:ext uri="{FF2B5EF4-FFF2-40B4-BE49-F238E27FC236}">
                    <a16:creationId xmlns:a16="http://schemas.microsoft.com/office/drawing/2014/main" id="{A15CBC77-50ED-5D92-2823-2EA38FF6AEA8}"/>
                  </a:ext>
                </a:extLst>
              </p:cNvPr>
              <p:cNvSpPr txBox="1">
                <a:spLocks noRot="1" noChangeAspect="1" noMove="1" noResize="1" noEditPoints="1" noAdjustHandles="1" noChangeArrowheads="1" noChangeShapeType="1" noTextEdit="1"/>
              </p:cNvSpPr>
              <p:nvPr/>
            </p:nvSpPr>
            <p:spPr>
              <a:xfrm>
                <a:off x="7006345" y="3162877"/>
                <a:ext cx="4132719" cy="1169215"/>
              </a:xfrm>
              <a:prstGeom prst="rect">
                <a:avLst/>
              </a:prstGeom>
              <a:blipFill>
                <a:blip r:embed="rId5"/>
                <a:stretch>
                  <a:fillRect l="-737" t="-1563" r="-885"/>
                </a:stretch>
              </a:blipFill>
            </p:spPr>
            <p:txBody>
              <a:bodyPr/>
              <a:lstStyle/>
              <a:p>
                <a:r>
                  <a:rPr lang="en-NZ">
                    <a:noFill/>
                  </a:rPr>
                  <a:t> </a:t>
                </a:r>
              </a:p>
            </p:txBody>
          </p:sp>
        </mc:Fallback>
      </mc:AlternateContent>
    </p:spTree>
    <p:extLst>
      <p:ext uri="{BB962C8B-B14F-4D97-AF65-F5344CB8AC3E}">
        <p14:creationId xmlns:p14="http://schemas.microsoft.com/office/powerpoint/2010/main" val="412891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9" grpId="0"/>
      <p:bldP spid="17" grpId="0"/>
      <p:bldP spid="18" grpId="0"/>
      <p:bldP spid="19"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4494</TotalTime>
  <Words>2190</Words>
  <Application>Microsoft Office PowerPoint</Application>
  <PresentationFormat>Widescreen</PresentationFormat>
  <Paragraphs>186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Cambria Math</vt:lpstr>
      <vt:lpstr>Coo Hew</vt:lpstr>
      <vt:lpstr>Gidole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Ward</dc:creator>
  <cp:lastModifiedBy>Adam Ward</cp:lastModifiedBy>
  <cp:revision>96</cp:revision>
  <dcterms:created xsi:type="dcterms:W3CDTF">2022-02-19T23:15:01Z</dcterms:created>
  <dcterms:modified xsi:type="dcterms:W3CDTF">2022-09-11T02:28:52Z</dcterms:modified>
</cp:coreProperties>
</file>