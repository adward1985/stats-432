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5" r:id="rId3"/>
    <p:sldId id="260" r:id="rId4"/>
    <p:sldId id="266" r:id="rId5"/>
    <p:sldId id="267" r:id="rId6"/>
    <p:sldId id="268" r:id="rId7"/>
    <p:sldId id="269" r:id="rId8"/>
    <p:sldId id="270" r:id="rId9"/>
    <p:sldId id="271" r:id="rId10"/>
    <p:sldId id="27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B6BA3"/>
    <a:srgbClr val="F3F3FF"/>
    <a:srgbClr val="DEDDDD"/>
    <a:srgbClr val="FF00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338" autoAdjust="0"/>
    <p:restoredTop sz="94660"/>
  </p:normalViewPr>
  <p:slideViewPr>
    <p:cSldViewPr snapToGrid="0">
      <p:cViewPr varScale="1">
        <p:scale>
          <a:sx n="87" d="100"/>
          <a:sy n="87" d="100"/>
        </p:scale>
        <p:origin x="726" y="-1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E317D-B4B3-49FF-A581-52DA3797B8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Z"/>
          </a:p>
        </p:txBody>
      </p:sp>
      <p:sp>
        <p:nvSpPr>
          <p:cNvPr id="3" name="Subtitle 2">
            <a:extLst>
              <a:ext uri="{FF2B5EF4-FFF2-40B4-BE49-F238E27FC236}">
                <a16:creationId xmlns:a16="http://schemas.microsoft.com/office/drawing/2014/main" id="{617D1B94-82C5-46E5-9EE1-28AB8A7330C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Z"/>
          </a:p>
        </p:txBody>
      </p:sp>
      <p:sp>
        <p:nvSpPr>
          <p:cNvPr id="4" name="Date Placeholder 3">
            <a:extLst>
              <a:ext uri="{FF2B5EF4-FFF2-40B4-BE49-F238E27FC236}">
                <a16:creationId xmlns:a16="http://schemas.microsoft.com/office/drawing/2014/main" id="{C6EE43B2-B15D-4099-8746-DD99E50DB4FB}"/>
              </a:ext>
            </a:extLst>
          </p:cNvPr>
          <p:cNvSpPr>
            <a:spLocks noGrp="1"/>
          </p:cNvSpPr>
          <p:nvPr>
            <p:ph type="dt" sz="half" idx="10"/>
          </p:nvPr>
        </p:nvSpPr>
        <p:spPr/>
        <p:txBody>
          <a:bodyPr/>
          <a:lstStyle/>
          <a:p>
            <a:fld id="{B3EA4C4C-8F90-4540-BA9B-F7C8969CE244}" type="datetimeFigureOut">
              <a:rPr lang="en-NZ" smtClean="0"/>
              <a:t>24/09/2022</a:t>
            </a:fld>
            <a:endParaRPr lang="en-NZ"/>
          </a:p>
        </p:txBody>
      </p:sp>
      <p:sp>
        <p:nvSpPr>
          <p:cNvPr id="5" name="Footer Placeholder 4">
            <a:extLst>
              <a:ext uri="{FF2B5EF4-FFF2-40B4-BE49-F238E27FC236}">
                <a16:creationId xmlns:a16="http://schemas.microsoft.com/office/drawing/2014/main" id="{4025FC5E-0CE5-4FB9-9BB4-ECE697CDDB9B}"/>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B777D2AF-5F8C-4771-98FC-EF00D77150BD}"/>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2084452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383CE-5E9A-473E-8F92-32291246D8F2}"/>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833230B0-AC0C-4B6E-A4F5-4FAC675DD8A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BEBAEB70-DC6E-4EE4-ABDB-D9F4B1250064}"/>
              </a:ext>
            </a:extLst>
          </p:cNvPr>
          <p:cNvSpPr>
            <a:spLocks noGrp="1"/>
          </p:cNvSpPr>
          <p:nvPr>
            <p:ph type="dt" sz="half" idx="10"/>
          </p:nvPr>
        </p:nvSpPr>
        <p:spPr/>
        <p:txBody>
          <a:bodyPr/>
          <a:lstStyle/>
          <a:p>
            <a:fld id="{B3EA4C4C-8F90-4540-BA9B-F7C8969CE244}" type="datetimeFigureOut">
              <a:rPr lang="en-NZ" smtClean="0"/>
              <a:t>24/09/2022</a:t>
            </a:fld>
            <a:endParaRPr lang="en-NZ"/>
          </a:p>
        </p:txBody>
      </p:sp>
      <p:sp>
        <p:nvSpPr>
          <p:cNvPr id="5" name="Footer Placeholder 4">
            <a:extLst>
              <a:ext uri="{FF2B5EF4-FFF2-40B4-BE49-F238E27FC236}">
                <a16:creationId xmlns:a16="http://schemas.microsoft.com/office/drawing/2014/main" id="{0AC9991B-0CBC-41B9-80F8-8DEAEE723B52}"/>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7B4DD3A1-1FE1-4787-A35A-C16B93D6A33E}"/>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24399206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14EA0-3971-4A70-AC19-921C78D9029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Z"/>
          </a:p>
        </p:txBody>
      </p:sp>
      <p:sp>
        <p:nvSpPr>
          <p:cNvPr id="3" name="Text Placeholder 2">
            <a:extLst>
              <a:ext uri="{FF2B5EF4-FFF2-40B4-BE49-F238E27FC236}">
                <a16:creationId xmlns:a16="http://schemas.microsoft.com/office/drawing/2014/main" id="{762611F5-0784-4CBC-8768-D25827C13B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1B5F23-A571-41AA-B1EC-A876E11F8012}"/>
              </a:ext>
            </a:extLst>
          </p:cNvPr>
          <p:cNvSpPr>
            <a:spLocks noGrp="1"/>
          </p:cNvSpPr>
          <p:nvPr>
            <p:ph type="dt" sz="half" idx="10"/>
          </p:nvPr>
        </p:nvSpPr>
        <p:spPr/>
        <p:txBody>
          <a:bodyPr/>
          <a:lstStyle/>
          <a:p>
            <a:fld id="{B3EA4C4C-8F90-4540-BA9B-F7C8969CE244}" type="datetimeFigureOut">
              <a:rPr lang="en-NZ" smtClean="0"/>
              <a:t>24/09/2022</a:t>
            </a:fld>
            <a:endParaRPr lang="en-NZ"/>
          </a:p>
        </p:txBody>
      </p:sp>
      <p:sp>
        <p:nvSpPr>
          <p:cNvPr id="5" name="Footer Placeholder 4">
            <a:extLst>
              <a:ext uri="{FF2B5EF4-FFF2-40B4-BE49-F238E27FC236}">
                <a16:creationId xmlns:a16="http://schemas.microsoft.com/office/drawing/2014/main" id="{05AC112F-CDEB-4D92-ADE3-86AB8B719191}"/>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6C9C8463-30EC-4EEA-A19B-D84CED3241F4}"/>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26906012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969F9-639E-4E86-B905-361A72031D1E}"/>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42E7B1BF-80D7-4904-ACB2-42BD379AA38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Content Placeholder 3">
            <a:extLst>
              <a:ext uri="{FF2B5EF4-FFF2-40B4-BE49-F238E27FC236}">
                <a16:creationId xmlns:a16="http://schemas.microsoft.com/office/drawing/2014/main" id="{9F29B174-563E-4F48-B5C9-95A627200AB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Date Placeholder 4">
            <a:extLst>
              <a:ext uri="{FF2B5EF4-FFF2-40B4-BE49-F238E27FC236}">
                <a16:creationId xmlns:a16="http://schemas.microsoft.com/office/drawing/2014/main" id="{2711DC02-87F0-4A1D-814B-64EFA7C0B0B8}"/>
              </a:ext>
            </a:extLst>
          </p:cNvPr>
          <p:cNvSpPr>
            <a:spLocks noGrp="1"/>
          </p:cNvSpPr>
          <p:nvPr>
            <p:ph type="dt" sz="half" idx="10"/>
          </p:nvPr>
        </p:nvSpPr>
        <p:spPr/>
        <p:txBody>
          <a:bodyPr/>
          <a:lstStyle/>
          <a:p>
            <a:fld id="{B3EA4C4C-8F90-4540-BA9B-F7C8969CE244}" type="datetimeFigureOut">
              <a:rPr lang="en-NZ" smtClean="0"/>
              <a:t>24/09/2022</a:t>
            </a:fld>
            <a:endParaRPr lang="en-NZ"/>
          </a:p>
        </p:txBody>
      </p:sp>
      <p:sp>
        <p:nvSpPr>
          <p:cNvPr id="6" name="Footer Placeholder 5">
            <a:extLst>
              <a:ext uri="{FF2B5EF4-FFF2-40B4-BE49-F238E27FC236}">
                <a16:creationId xmlns:a16="http://schemas.microsoft.com/office/drawing/2014/main" id="{7248FCFA-D637-43EC-A9A3-E70338057CEA}"/>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384529AD-9E9D-4052-B7D9-D0ABBD465445}"/>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22718358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1600E-542F-4FAC-AAB5-8EC98DEDC74F}"/>
              </a:ext>
            </a:extLst>
          </p:cNvPr>
          <p:cNvSpPr>
            <a:spLocks noGrp="1"/>
          </p:cNvSpPr>
          <p:nvPr>
            <p:ph type="title"/>
          </p:nvPr>
        </p:nvSpPr>
        <p:spPr>
          <a:xfrm>
            <a:off x="839788" y="365125"/>
            <a:ext cx="10515600" cy="1325563"/>
          </a:xfrm>
        </p:spPr>
        <p:txBody>
          <a:bodyPr/>
          <a:lstStyle/>
          <a:p>
            <a:r>
              <a:rPr lang="en-US"/>
              <a:t>Click to edit Master title style</a:t>
            </a:r>
            <a:endParaRPr lang="en-NZ"/>
          </a:p>
        </p:txBody>
      </p:sp>
      <p:sp>
        <p:nvSpPr>
          <p:cNvPr id="3" name="Text Placeholder 2">
            <a:extLst>
              <a:ext uri="{FF2B5EF4-FFF2-40B4-BE49-F238E27FC236}">
                <a16:creationId xmlns:a16="http://schemas.microsoft.com/office/drawing/2014/main" id="{42A7919A-1454-4109-8BB4-8CC19322D26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58D27C1-A966-4D82-8362-CDDD918F28A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Text Placeholder 4">
            <a:extLst>
              <a:ext uri="{FF2B5EF4-FFF2-40B4-BE49-F238E27FC236}">
                <a16:creationId xmlns:a16="http://schemas.microsoft.com/office/drawing/2014/main" id="{D60123ED-5724-478B-AD91-AB6F0B8609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48748A-2608-4871-83D6-9304E2F0E5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7" name="Date Placeholder 6">
            <a:extLst>
              <a:ext uri="{FF2B5EF4-FFF2-40B4-BE49-F238E27FC236}">
                <a16:creationId xmlns:a16="http://schemas.microsoft.com/office/drawing/2014/main" id="{59AE35C4-EDAF-4BD6-9BFC-1EA10B4AD446}"/>
              </a:ext>
            </a:extLst>
          </p:cNvPr>
          <p:cNvSpPr>
            <a:spLocks noGrp="1"/>
          </p:cNvSpPr>
          <p:nvPr>
            <p:ph type="dt" sz="half" idx="10"/>
          </p:nvPr>
        </p:nvSpPr>
        <p:spPr/>
        <p:txBody>
          <a:bodyPr/>
          <a:lstStyle/>
          <a:p>
            <a:fld id="{B3EA4C4C-8F90-4540-BA9B-F7C8969CE244}" type="datetimeFigureOut">
              <a:rPr lang="en-NZ" smtClean="0"/>
              <a:t>24/09/2022</a:t>
            </a:fld>
            <a:endParaRPr lang="en-NZ"/>
          </a:p>
        </p:txBody>
      </p:sp>
      <p:sp>
        <p:nvSpPr>
          <p:cNvPr id="8" name="Footer Placeholder 7">
            <a:extLst>
              <a:ext uri="{FF2B5EF4-FFF2-40B4-BE49-F238E27FC236}">
                <a16:creationId xmlns:a16="http://schemas.microsoft.com/office/drawing/2014/main" id="{C3FD6A4F-56CD-4B0A-B844-E166B45261DE}"/>
              </a:ext>
            </a:extLst>
          </p:cNvPr>
          <p:cNvSpPr>
            <a:spLocks noGrp="1"/>
          </p:cNvSpPr>
          <p:nvPr>
            <p:ph type="ftr" sz="quarter" idx="11"/>
          </p:nvPr>
        </p:nvSpPr>
        <p:spPr/>
        <p:txBody>
          <a:bodyPr/>
          <a:lstStyle/>
          <a:p>
            <a:endParaRPr lang="en-NZ"/>
          </a:p>
        </p:txBody>
      </p:sp>
      <p:sp>
        <p:nvSpPr>
          <p:cNvPr id="9" name="Slide Number Placeholder 8">
            <a:extLst>
              <a:ext uri="{FF2B5EF4-FFF2-40B4-BE49-F238E27FC236}">
                <a16:creationId xmlns:a16="http://schemas.microsoft.com/office/drawing/2014/main" id="{EF330B7D-9487-4FC0-9C56-2353E1DE7A65}"/>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39600823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5C3C4-2906-41C1-88A2-141162399764}"/>
              </a:ext>
            </a:extLst>
          </p:cNvPr>
          <p:cNvSpPr>
            <a:spLocks noGrp="1"/>
          </p:cNvSpPr>
          <p:nvPr>
            <p:ph type="title"/>
          </p:nvPr>
        </p:nvSpPr>
        <p:spPr/>
        <p:txBody>
          <a:bodyPr/>
          <a:lstStyle/>
          <a:p>
            <a:r>
              <a:rPr lang="en-US"/>
              <a:t>Click to edit Master title style</a:t>
            </a:r>
            <a:endParaRPr lang="en-NZ"/>
          </a:p>
        </p:txBody>
      </p:sp>
      <p:sp>
        <p:nvSpPr>
          <p:cNvPr id="3" name="Date Placeholder 2">
            <a:extLst>
              <a:ext uri="{FF2B5EF4-FFF2-40B4-BE49-F238E27FC236}">
                <a16:creationId xmlns:a16="http://schemas.microsoft.com/office/drawing/2014/main" id="{8C00F41E-FA6F-4E2A-82C4-91AA30005091}"/>
              </a:ext>
            </a:extLst>
          </p:cNvPr>
          <p:cNvSpPr>
            <a:spLocks noGrp="1"/>
          </p:cNvSpPr>
          <p:nvPr>
            <p:ph type="dt" sz="half" idx="10"/>
          </p:nvPr>
        </p:nvSpPr>
        <p:spPr/>
        <p:txBody>
          <a:bodyPr/>
          <a:lstStyle/>
          <a:p>
            <a:fld id="{B3EA4C4C-8F90-4540-BA9B-F7C8969CE244}" type="datetimeFigureOut">
              <a:rPr lang="en-NZ" smtClean="0"/>
              <a:t>24/09/2022</a:t>
            </a:fld>
            <a:endParaRPr lang="en-NZ"/>
          </a:p>
        </p:txBody>
      </p:sp>
      <p:sp>
        <p:nvSpPr>
          <p:cNvPr id="4" name="Footer Placeholder 3">
            <a:extLst>
              <a:ext uri="{FF2B5EF4-FFF2-40B4-BE49-F238E27FC236}">
                <a16:creationId xmlns:a16="http://schemas.microsoft.com/office/drawing/2014/main" id="{7FF7A56E-0DBD-4EA3-8EDD-71A7BE875146}"/>
              </a:ext>
            </a:extLst>
          </p:cNvPr>
          <p:cNvSpPr>
            <a:spLocks noGrp="1"/>
          </p:cNvSpPr>
          <p:nvPr>
            <p:ph type="ftr" sz="quarter" idx="11"/>
          </p:nvPr>
        </p:nvSpPr>
        <p:spPr/>
        <p:txBody>
          <a:bodyPr/>
          <a:lstStyle/>
          <a:p>
            <a:endParaRPr lang="en-NZ"/>
          </a:p>
        </p:txBody>
      </p:sp>
      <p:sp>
        <p:nvSpPr>
          <p:cNvPr id="5" name="Slide Number Placeholder 4">
            <a:extLst>
              <a:ext uri="{FF2B5EF4-FFF2-40B4-BE49-F238E27FC236}">
                <a16:creationId xmlns:a16="http://schemas.microsoft.com/office/drawing/2014/main" id="{2F5D2D90-D199-4D9E-8339-CDC5C773A0D2}"/>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37190672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7515A83-8386-4308-93A9-38AC8CB47362}"/>
              </a:ext>
            </a:extLst>
          </p:cNvPr>
          <p:cNvSpPr>
            <a:spLocks noGrp="1"/>
          </p:cNvSpPr>
          <p:nvPr>
            <p:ph type="dt" sz="half" idx="10"/>
          </p:nvPr>
        </p:nvSpPr>
        <p:spPr/>
        <p:txBody>
          <a:bodyPr/>
          <a:lstStyle/>
          <a:p>
            <a:fld id="{B3EA4C4C-8F90-4540-BA9B-F7C8969CE244}" type="datetimeFigureOut">
              <a:rPr lang="en-NZ" smtClean="0"/>
              <a:t>24/09/2022</a:t>
            </a:fld>
            <a:endParaRPr lang="en-NZ"/>
          </a:p>
        </p:txBody>
      </p:sp>
      <p:sp>
        <p:nvSpPr>
          <p:cNvPr id="3" name="Footer Placeholder 2">
            <a:extLst>
              <a:ext uri="{FF2B5EF4-FFF2-40B4-BE49-F238E27FC236}">
                <a16:creationId xmlns:a16="http://schemas.microsoft.com/office/drawing/2014/main" id="{02A18E28-C4E7-438B-8852-AAC550790CF8}"/>
              </a:ext>
            </a:extLst>
          </p:cNvPr>
          <p:cNvSpPr>
            <a:spLocks noGrp="1"/>
          </p:cNvSpPr>
          <p:nvPr>
            <p:ph type="ftr" sz="quarter" idx="11"/>
          </p:nvPr>
        </p:nvSpPr>
        <p:spPr/>
        <p:txBody>
          <a:bodyPr/>
          <a:lstStyle/>
          <a:p>
            <a:endParaRPr lang="en-NZ"/>
          </a:p>
        </p:txBody>
      </p:sp>
      <p:sp>
        <p:nvSpPr>
          <p:cNvPr id="4" name="Slide Number Placeholder 3">
            <a:extLst>
              <a:ext uri="{FF2B5EF4-FFF2-40B4-BE49-F238E27FC236}">
                <a16:creationId xmlns:a16="http://schemas.microsoft.com/office/drawing/2014/main" id="{A7789BCA-AF1F-4251-9148-6DC5AFDAD1EF}"/>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2989886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1047F-40DD-4BDF-9001-58E69C2835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Content Placeholder 2">
            <a:extLst>
              <a:ext uri="{FF2B5EF4-FFF2-40B4-BE49-F238E27FC236}">
                <a16:creationId xmlns:a16="http://schemas.microsoft.com/office/drawing/2014/main" id="{4302E97F-46A8-4EA1-BCDC-A7C11AC8A94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Text Placeholder 3">
            <a:extLst>
              <a:ext uri="{FF2B5EF4-FFF2-40B4-BE49-F238E27FC236}">
                <a16:creationId xmlns:a16="http://schemas.microsoft.com/office/drawing/2014/main" id="{CD83CF31-99FA-4CD7-88D6-06ACA4199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009333-1C32-4955-A275-956BBBC468CF}"/>
              </a:ext>
            </a:extLst>
          </p:cNvPr>
          <p:cNvSpPr>
            <a:spLocks noGrp="1"/>
          </p:cNvSpPr>
          <p:nvPr>
            <p:ph type="dt" sz="half" idx="10"/>
          </p:nvPr>
        </p:nvSpPr>
        <p:spPr/>
        <p:txBody>
          <a:bodyPr/>
          <a:lstStyle/>
          <a:p>
            <a:fld id="{B3EA4C4C-8F90-4540-BA9B-F7C8969CE244}" type="datetimeFigureOut">
              <a:rPr lang="en-NZ" smtClean="0"/>
              <a:t>24/09/2022</a:t>
            </a:fld>
            <a:endParaRPr lang="en-NZ"/>
          </a:p>
        </p:txBody>
      </p:sp>
      <p:sp>
        <p:nvSpPr>
          <p:cNvPr id="6" name="Footer Placeholder 5">
            <a:extLst>
              <a:ext uri="{FF2B5EF4-FFF2-40B4-BE49-F238E27FC236}">
                <a16:creationId xmlns:a16="http://schemas.microsoft.com/office/drawing/2014/main" id="{4A3C1F9E-9626-4A35-A52E-454BC798DD5B}"/>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12912061-68AF-49E0-BFE2-B0BDDAE2C13A}"/>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13808616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44005-25DC-4DE2-9B63-AFDA0D59C4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Picture Placeholder 2">
            <a:extLst>
              <a:ext uri="{FF2B5EF4-FFF2-40B4-BE49-F238E27FC236}">
                <a16:creationId xmlns:a16="http://schemas.microsoft.com/office/drawing/2014/main" id="{4FA3A2AC-6C82-44DD-87D0-DA52CB41B2D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Z"/>
          </a:p>
        </p:txBody>
      </p:sp>
      <p:sp>
        <p:nvSpPr>
          <p:cNvPr id="4" name="Text Placeholder 3">
            <a:extLst>
              <a:ext uri="{FF2B5EF4-FFF2-40B4-BE49-F238E27FC236}">
                <a16:creationId xmlns:a16="http://schemas.microsoft.com/office/drawing/2014/main" id="{83F6E4F4-5787-4725-861E-C195BB8448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202CCB-120B-4DD2-94BC-7891091CC8C4}"/>
              </a:ext>
            </a:extLst>
          </p:cNvPr>
          <p:cNvSpPr>
            <a:spLocks noGrp="1"/>
          </p:cNvSpPr>
          <p:nvPr>
            <p:ph type="dt" sz="half" idx="10"/>
          </p:nvPr>
        </p:nvSpPr>
        <p:spPr/>
        <p:txBody>
          <a:bodyPr/>
          <a:lstStyle/>
          <a:p>
            <a:fld id="{B3EA4C4C-8F90-4540-BA9B-F7C8969CE244}" type="datetimeFigureOut">
              <a:rPr lang="en-NZ" smtClean="0"/>
              <a:t>24/09/2022</a:t>
            </a:fld>
            <a:endParaRPr lang="en-NZ"/>
          </a:p>
        </p:txBody>
      </p:sp>
      <p:sp>
        <p:nvSpPr>
          <p:cNvPr id="6" name="Footer Placeholder 5">
            <a:extLst>
              <a:ext uri="{FF2B5EF4-FFF2-40B4-BE49-F238E27FC236}">
                <a16:creationId xmlns:a16="http://schemas.microsoft.com/office/drawing/2014/main" id="{E466A5B3-8827-476F-8183-918928FCD4B7}"/>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91A53B3C-10A8-4EA5-B6F7-D5CCA0B99E2B}"/>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40349967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FF9CB-509B-46B8-B7D2-F360A55F5A7E}"/>
              </a:ext>
            </a:extLst>
          </p:cNvPr>
          <p:cNvSpPr>
            <a:spLocks noGrp="1"/>
          </p:cNvSpPr>
          <p:nvPr>
            <p:ph type="title"/>
          </p:nvPr>
        </p:nvSpPr>
        <p:spPr/>
        <p:txBody>
          <a:bodyPr/>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BBF0ECD0-22A1-406D-8DC1-17433E09BBD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1CDCFA5C-D24C-41B7-94F5-D416A1233975}"/>
              </a:ext>
            </a:extLst>
          </p:cNvPr>
          <p:cNvSpPr>
            <a:spLocks noGrp="1"/>
          </p:cNvSpPr>
          <p:nvPr>
            <p:ph type="dt" sz="half" idx="10"/>
          </p:nvPr>
        </p:nvSpPr>
        <p:spPr/>
        <p:txBody>
          <a:bodyPr/>
          <a:lstStyle/>
          <a:p>
            <a:fld id="{B3EA4C4C-8F90-4540-BA9B-F7C8969CE244}" type="datetimeFigureOut">
              <a:rPr lang="en-NZ" smtClean="0"/>
              <a:t>24/09/2022</a:t>
            </a:fld>
            <a:endParaRPr lang="en-NZ"/>
          </a:p>
        </p:txBody>
      </p:sp>
      <p:sp>
        <p:nvSpPr>
          <p:cNvPr id="5" name="Footer Placeholder 4">
            <a:extLst>
              <a:ext uri="{FF2B5EF4-FFF2-40B4-BE49-F238E27FC236}">
                <a16:creationId xmlns:a16="http://schemas.microsoft.com/office/drawing/2014/main" id="{44157DE0-7248-42FF-9572-C708D27A7A89}"/>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A1AFB283-1E90-4BE8-911F-1C7EFE656FE8}"/>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2961640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6FE2739-245C-4111-A3C2-73970E9127A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44D012DF-D28D-4996-81BE-C8A9519B43C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0B93C28B-C11D-4ED0-8304-E677041EB680}"/>
              </a:ext>
            </a:extLst>
          </p:cNvPr>
          <p:cNvSpPr>
            <a:spLocks noGrp="1"/>
          </p:cNvSpPr>
          <p:nvPr>
            <p:ph type="dt" sz="half" idx="10"/>
          </p:nvPr>
        </p:nvSpPr>
        <p:spPr/>
        <p:txBody>
          <a:bodyPr/>
          <a:lstStyle/>
          <a:p>
            <a:fld id="{B3EA4C4C-8F90-4540-BA9B-F7C8969CE244}" type="datetimeFigureOut">
              <a:rPr lang="en-NZ" smtClean="0"/>
              <a:t>24/09/2022</a:t>
            </a:fld>
            <a:endParaRPr lang="en-NZ"/>
          </a:p>
        </p:txBody>
      </p:sp>
      <p:sp>
        <p:nvSpPr>
          <p:cNvPr id="5" name="Footer Placeholder 4">
            <a:extLst>
              <a:ext uri="{FF2B5EF4-FFF2-40B4-BE49-F238E27FC236}">
                <a16:creationId xmlns:a16="http://schemas.microsoft.com/office/drawing/2014/main" id="{83E24285-CE19-4637-BFEA-02DA1668BA8D}"/>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9482C048-E851-4CE1-8616-62FDD1483A5A}"/>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7808271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5A7951-8353-4D37-9B17-202BEBF3FE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Z"/>
          </a:p>
        </p:txBody>
      </p:sp>
      <p:sp>
        <p:nvSpPr>
          <p:cNvPr id="3" name="Text Placeholder 2">
            <a:extLst>
              <a:ext uri="{FF2B5EF4-FFF2-40B4-BE49-F238E27FC236}">
                <a16:creationId xmlns:a16="http://schemas.microsoft.com/office/drawing/2014/main" id="{1B06BFE0-9436-4E6B-AF5B-C732AEE4955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8234AF23-4F70-4BD2-943B-70BE8CCE53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EA4C4C-8F90-4540-BA9B-F7C8969CE244}" type="datetimeFigureOut">
              <a:rPr lang="en-NZ" smtClean="0"/>
              <a:t>24/09/2022</a:t>
            </a:fld>
            <a:endParaRPr lang="en-NZ"/>
          </a:p>
        </p:txBody>
      </p:sp>
      <p:sp>
        <p:nvSpPr>
          <p:cNvPr id="5" name="Footer Placeholder 4">
            <a:extLst>
              <a:ext uri="{FF2B5EF4-FFF2-40B4-BE49-F238E27FC236}">
                <a16:creationId xmlns:a16="http://schemas.microsoft.com/office/drawing/2014/main" id="{D8C99E8B-B066-44AE-9836-C6C32D09A74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NZ"/>
          </a:p>
        </p:txBody>
      </p:sp>
      <p:sp>
        <p:nvSpPr>
          <p:cNvPr id="6" name="Slide Number Placeholder 5">
            <a:extLst>
              <a:ext uri="{FF2B5EF4-FFF2-40B4-BE49-F238E27FC236}">
                <a16:creationId xmlns:a16="http://schemas.microsoft.com/office/drawing/2014/main" id="{E0E5CC73-3019-45C0-9430-8C08AD9C2C8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492C7C-3FC3-4F92-9C7C-A099A49FCCC9}" type="slidenum">
              <a:rPr lang="en-NZ" smtClean="0"/>
              <a:t>‹#›</a:t>
            </a:fld>
            <a:endParaRPr lang="en-NZ"/>
          </a:p>
        </p:txBody>
      </p:sp>
    </p:spTree>
    <p:extLst>
      <p:ext uri="{BB962C8B-B14F-4D97-AF65-F5344CB8AC3E}">
        <p14:creationId xmlns:p14="http://schemas.microsoft.com/office/powerpoint/2010/main" val="9740316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31.png"/><Relationship Id="rId4" Type="http://schemas.openxmlformats.org/officeDocument/2006/relationships/image" Target="../media/image30.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0" name="Rectangle 72">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1" name="Rectangle 74">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2" name="Rectangle 7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26" name="Picture 2" descr="Programmes and courses | Study at Wellington | Victoria University of  Wellington">
            <a:extLst>
              <a:ext uri="{FF2B5EF4-FFF2-40B4-BE49-F238E27FC236}">
                <a16:creationId xmlns:a16="http://schemas.microsoft.com/office/drawing/2014/main" id="{087F352A-9067-4A20-840B-9F57464891D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85" r="1" b="1"/>
          <a:stretch/>
        </p:blipFill>
        <p:spPr bwMode="auto">
          <a:xfrm>
            <a:off x="457200" y="457200"/>
            <a:ext cx="11277600" cy="59436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F6EF4C4-5CC1-4D9D-A4EE-9A6C2CC6D81C}"/>
              </a:ext>
            </a:extLst>
          </p:cNvPr>
          <p:cNvSpPr txBox="1"/>
          <p:nvPr/>
        </p:nvSpPr>
        <p:spPr>
          <a:xfrm>
            <a:off x="3858329" y="913501"/>
            <a:ext cx="6923403" cy="1169551"/>
          </a:xfrm>
          <a:prstGeom prst="rect">
            <a:avLst/>
          </a:prstGeom>
          <a:noFill/>
        </p:spPr>
        <p:txBody>
          <a:bodyPr wrap="square" rtlCol="0">
            <a:spAutoFit/>
          </a:bodyPr>
          <a:lstStyle/>
          <a:p>
            <a:pPr algn="ctr"/>
            <a:r>
              <a:rPr lang="en-NZ" sz="3500" b="1" u="sng" dirty="0">
                <a:solidFill>
                  <a:schemeClr val="bg1"/>
                </a:solidFill>
              </a:rPr>
              <a:t>STATS 432 </a:t>
            </a:r>
            <a:br>
              <a:rPr lang="en-NZ" sz="3500" b="1" dirty="0">
                <a:solidFill>
                  <a:schemeClr val="bg1"/>
                </a:solidFill>
              </a:rPr>
            </a:br>
            <a:r>
              <a:rPr lang="en-NZ" sz="3500" dirty="0">
                <a:solidFill>
                  <a:schemeClr val="bg1"/>
                </a:solidFill>
              </a:rPr>
              <a:t>Computational Statistics</a:t>
            </a:r>
          </a:p>
        </p:txBody>
      </p:sp>
      <p:sp>
        <p:nvSpPr>
          <p:cNvPr id="17" name="TextBox 16">
            <a:extLst>
              <a:ext uri="{FF2B5EF4-FFF2-40B4-BE49-F238E27FC236}">
                <a16:creationId xmlns:a16="http://schemas.microsoft.com/office/drawing/2014/main" id="{15E15834-4C1C-48A4-9F77-1A195C7F3F70}"/>
              </a:ext>
            </a:extLst>
          </p:cNvPr>
          <p:cNvSpPr txBox="1"/>
          <p:nvPr/>
        </p:nvSpPr>
        <p:spPr>
          <a:xfrm>
            <a:off x="4038600" y="4646474"/>
            <a:ext cx="6923403" cy="523220"/>
          </a:xfrm>
          <a:prstGeom prst="rect">
            <a:avLst/>
          </a:prstGeom>
          <a:noFill/>
        </p:spPr>
        <p:txBody>
          <a:bodyPr wrap="square" rtlCol="0">
            <a:spAutoFit/>
          </a:bodyPr>
          <a:lstStyle/>
          <a:p>
            <a:pPr algn="ctr"/>
            <a:r>
              <a:rPr lang="en-NZ" sz="2800" dirty="0">
                <a:solidFill>
                  <a:schemeClr val="bg1"/>
                </a:solidFill>
              </a:rPr>
              <a:t>Tutorial 3 – Bootstrapping</a:t>
            </a:r>
          </a:p>
        </p:txBody>
      </p:sp>
    </p:spTree>
    <p:extLst>
      <p:ext uri="{BB962C8B-B14F-4D97-AF65-F5344CB8AC3E}">
        <p14:creationId xmlns:p14="http://schemas.microsoft.com/office/powerpoint/2010/main" val="24778699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4B6BA3"/>
        </a:solidFill>
        <a:effectLst/>
      </p:bgPr>
    </p:bg>
    <p:spTree>
      <p:nvGrpSpPr>
        <p:cNvPr id="1" name=""/>
        <p:cNvGrpSpPr/>
        <p:nvPr/>
      </p:nvGrpSpPr>
      <p:grpSpPr>
        <a:xfrm>
          <a:off x="0" y="0"/>
          <a:ext cx="0" cy="0"/>
          <a:chOff x="0" y="0"/>
          <a:chExt cx="0" cy="0"/>
        </a:xfrm>
      </p:grpSpPr>
      <p:sp>
        <p:nvSpPr>
          <p:cNvPr id="5" name="Title 6">
            <a:extLst>
              <a:ext uri="{FF2B5EF4-FFF2-40B4-BE49-F238E27FC236}">
                <a16:creationId xmlns:a16="http://schemas.microsoft.com/office/drawing/2014/main" id="{1395D581-A8B7-9DB6-663B-FC24A75A9D76}"/>
              </a:ext>
            </a:extLst>
          </p:cNvPr>
          <p:cNvSpPr txBox="1">
            <a:spLocks/>
          </p:cNvSpPr>
          <p:nvPr/>
        </p:nvSpPr>
        <p:spPr>
          <a:xfrm>
            <a:off x="1105346" y="2745247"/>
            <a:ext cx="9981308" cy="1367506"/>
          </a:xfrm>
          <a:prstGeom prst="rect">
            <a:avLst/>
          </a:prstGeom>
        </p:spPr>
        <p:txBody>
          <a:bodyPr anchor="t">
            <a:no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ctr" defTabSz="914324" rtl="0" eaLnBrk="1" fontAlgn="auto" latinLnBrk="0" hangingPunct="1">
              <a:lnSpc>
                <a:spcPct val="90000"/>
              </a:lnSpc>
              <a:spcBef>
                <a:spcPct val="0"/>
              </a:spcBef>
              <a:spcAft>
                <a:spcPts val="0"/>
              </a:spcAft>
              <a:buClrTx/>
              <a:buSzTx/>
              <a:buFontTx/>
              <a:buNone/>
              <a:tabLst/>
              <a:defRPr/>
            </a:pPr>
            <a:r>
              <a:rPr kumimoji="1" lang="en-US" altLang="ja-JP" sz="5000" b="1" i="0" u="sng" strike="noStrike" kern="1200" cap="none" spc="0" normalizeH="0" baseline="0" noProof="0" dirty="0">
                <a:ln>
                  <a:noFill/>
                </a:ln>
                <a:solidFill>
                  <a:schemeClr val="bg1"/>
                </a:solidFill>
                <a:effectLst/>
                <a:uLnTx/>
                <a:uFillTx/>
                <a:latin typeface="Calibri" panose="020F0502020204030204"/>
                <a:ea typeface="游ゴシック Light" panose="020B0300000000000000" pitchFamily="34" charset="-128"/>
                <a:cs typeface="+mj-cs"/>
              </a:rPr>
              <a:t>Question 1: </a:t>
            </a:r>
          </a:p>
          <a:p>
            <a:pPr marL="0" marR="0" lvl="0" indent="0" algn="ctr" defTabSz="914324" rtl="0" eaLnBrk="1" fontAlgn="auto" latinLnBrk="0" hangingPunct="1">
              <a:lnSpc>
                <a:spcPct val="90000"/>
              </a:lnSpc>
              <a:spcBef>
                <a:spcPct val="0"/>
              </a:spcBef>
              <a:spcAft>
                <a:spcPts val="0"/>
              </a:spcAft>
              <a:buClrTx/>
              <a:buSzTx/>
              <a:buFontTx/>
              <a:buNone/>
              <a:tabLst/>
              <a:defRPr/>
            </a:pPr>
            <a:r>
              <a:rPr kumimoji="1" lang="en-US" altLang="ja-JP" sz="5000" b="1" i="0" u="sng" strike="noStrike" kern="1200" cap="none" spc="0" normalizeH="0" baseline="0" noProof="0" dirty="0">
                <a:ln>
                  <a:noFill/>
                </a:ln>
                <a:solidFill>
                  <a:schemeClr val="bg1"/>
                </a:solidFill>
                <a:effectLst/>
                <a:uLnTx/>
                <a:uFillTx/>
                <a:latin typeface="Calibri" panose="020F0502020204030204"/>
                <a:ea typeface="游ゴシック Light" panose="020B0300000000000000" pitchFamily="34" charset="-128"/>
                <a:cs typeface="+mj-cs"/>
              </a:rPr>
              <a:t>Parametric Bootstrapping</a:t>
            </a:r>
            <a:endParaRPr kumimoji="1" lang="ja-JP" altLang="en-US" sz="5000" b="1" i="0" u="sng" strike="noStrike" kern="1200" cap="none" spc="0" normalizeH="0" baseline="0" noProof="0" dirty="0">
              <a:ln>
                <a:noFill/>
              </a:ln>
              <a:solidFill>
                <a:schemeClr val="bg1"/>
              </a:solidFill>
              <a:effectLst/>
              <a:uLnTx/>
              <a:uFillTx/>
              <a:latin typeface="Calibri" panose="020F0502020204030204"/>
              <a:ea typeface="游ゴシック Light" panose="020B0300000000000000" pitchFamily="34" charset="-128"/>
              <a:cs typeface="+mj-cs"/>
            </a:endParaRPr>
          </a:p>
        </p:txBody>
      </p:sp>
    </p:spTree>
    <p:extLst>
      <p:ext uri="{BB962C8B-B14F-4D97-AF65-F5344CB8AC3E}">
        <p14:creationId xmlns:p14="http://schemas.microsoft.com/office/powerpoint/2010/main" val="42913773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Question 1</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Question 1 : Parametric Bootstrapping</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7" name="Text Placeholder 5">
            <a:extLst>
              <a:ext uri="{FF2B5EF4-FFF2-40B4-BE49-F238E27FC236}">
                <a16:creationId xmlns:a16="http://schemas.microsoft.com/office/drawing/2014/main" id="{65B06D6C-CCB3-4D8F-9171-6B4779FED53B}"/>
              </a:ext>
            </a:extLst>
          </p:cNvPr>
          <p:cNvSpPr txBox="1">
            <a:spLocks/>
          </p:cNvSpPr>
          <p:nvPr/>
        </p:nvSpPr>
        <p:spPr>
          <a:xfrm>
            <a:off x="319463" y="745052"/>
            <a:ext cx="11615496" cy="93907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The aerospace manufacturer Boeing produces propeller blades for commercial airline engines. Over time propeller blades degrade and splinter with use and must be replaced as part of basic airplane maintenance. As such, Boeing are interested in accurately modelling the length of time until propeller blades splinter. They take a sample of 1,000 propeller blades and test them in a simulator and record the length of time in hours until each one splinters. The data pertaining to this experiment is contained in the CSV data set entitled ‘Propeller Blades.csv’.</a:t>
            </a:r>
          </a:p>
        </p:txBody>
      </p:sp>
      <mc:AlternateContent xmlns:mc="http://schemas.openxmlformats.org/markup-compatibility/2006">
        <mc:Choice xmlns:a14="http://schemas.microsoft.com/office/drawing/2010/main" Requires="a14">
          <p:sp>
            <p:nvSpPr>
              <p:cNvPr id="11" name="Text Placeholder 5">
                <a:extLst>
                  <a:ext uri="{FF2B5EF4-FFF2-40B4-BE49-F238E27FC236}">
                    <a16:creationId xmlns:a16="http://schemas.microsoft.com/office/drawing/2014/main" id="{05874648-046D-469D-60D7-12D5B79C8354}"/>
                  </a:ext>
                </a:extLst>
              </p:cNvPr>
              <p:cNvSpPr txBox="1">
                <a:spLocks/>
              </p:cNvSpPr>
              <p:nvPr/>
            </p:nvSpPr>
            <p:spPr>
              <a:xfrm>
                <a:off x="5600700" y="2307793"/>
                <a:ext cx="6003292" cy="359599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lvl="0" indent="-342900">
                  <a:lnSpc>
                    <a:spcPct val="100000"/>
                  </a:lnSpc>
                  <a:buFont typeface="+mj-lt"/>
                  <a:buAutoNum type="alphaLcParenR"/>
                  <a:defRPr/>
                </a:pPr>
                <a:r>
                  <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Given that the length of time until propeller blades splinter is assumed to follow an exponential distribution</a:t>
                </a:r>
                <a:r>
                  <a:rPr kumimoji="1" lang="en-US" altLang="ja-JP" sz="1400" b="0" i="0" u="none" strike="noStrike" kern="1200" cap="none" spc="0" normalizeH="0" noProof="0" dirty="0">
                    <a:ln>
                      <a:noFill/>
                    </a:ln>
                    <a:solidFill>
                      <a:srgbClr val="0070C0"/>
                    </a:solidFill>
                    <a:effectLst/>
                    <a:uLnTx/>
                    <a:uFillTx/>
                    <a:latin typeface="Calibri" panose="020F0502020204030204"/>
                    <a:ea typeface="游ゴシック" panose="020B0400000000000000" pitchFamily="34" charset="-128"/>
                    <a:cs typeface="+mn-cs"/>
                  </a:rPr>
                  <a:t> with (unknown) rate </a:t>
                </a:r>
                <a14:m>
                  <m:oMath xmlns:m="http://schemas.openxmlformats.org/officeDocument/2006/math">
                    <m:r>
                      <a:rPr kumimoji="1" lang="en-NZ" altLang="ja-JP" sz="1400" b="1" i="1" u="none" strike="noStrike" kern="1200" cap="none" spc="0" normalizeH="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𝝀</m:t>
                    </m:r>
                  </m:oMath>
                </a14:m>
                <a:r>
                  <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 use the data in </a:t>
                </a:r>
                <a:r>
                  <a:rPr lang="en-US" altLang="ja-JP" sz="1400" dirty="0">
                    <a:solidFill>
                      <a:srgbClr val="0070C0"/>
                    </a:solidFill>
                  </a:rPr>
                  <a:t>the ‘Propeller Blades.csv’ data </a:t>
                </a:r>
                <a:r>
                  <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set to give a point estimate </a:t>
                </a:r>
                <a14:m>
                  <m:oMath xmlns:m="http://schemas.openxmlformats.org/officeDocument/2006/math">
                    <m:acc>
                      <m:accPr>
                        <m:chr m:val="̂"/>
                        <m:ctrlPr>
                          <a:rPr kumimoji="1" lang="en-US" altLang="ja-JP" sz="14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ctrlPr>
                      </m:accPr>
                      <m:e>
                        <m:r>
                          <a:rPr kumimoji="1" lang="en-NZ" altLang="ja-JP" sz="14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𝝀</m:t>
                        </m:r>
                      </m:e>
                    </m:acc>
                  </m:oMath>
                </a14:m>
                <a:r>
                  <a:rPr kumimoji="1" lang="en-US" altLang="ja-JP" sz="1400" b="1"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 </a:t>
                </a:r>
                <a:r>
                  <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of </a:t>
                </a:r>
                <a14:m>
                  <m:oMath xmlns:m="http://schemas.openxmlformats.org/officeDocument/2006/math">
                    <m:r>
                      <a:rPr lang="en-NZ" altLang="ja-JP" sz="1400" b="1" i="1">
                        <a:solidFill>
                          <a:srgbClr val="0070C0"/>
                        </a:solidFill>
                        <a:latin typeface="Cambria Math" panose="02040503050406030204" pitchFamily="18" charset="0"/>
                      </a:rPr>
                      <m:t>𝝀</m:t>
                    </m:r>
                  </m:oMath>
                </a14:m>
                <a:r>
                  <a:rPr kumimoji="1" lang="en-US" altLang="ja-JP" sz="1400" b="1"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rPr>
                  <a:t>.</a:t>
                </a:r>
                <a:br>
                  <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br>
                <a:endPar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a:p>
                <a:pPr marL="342900" lvl="0" indent="-342900">
                  <a:lnSpc>
                    <a:spcPct val="100000"/>
                  </a:lnSpc>
                  <a:buFont typeface="+mj-lt"/>
                  <a:buAutoNum type="alphaLcParenR"/>
                  <a:defRPr/>
                </a:pPr>
                <a:r>
                  <a:rPr lang="en-US" altLang="ja-JP" sz="1400" dirty="0">
                    <a:solidFill>
                      <a:srgbClr val="0070C0"/>
                    </a:solidFill>
                    <a:latin typeface="Calibri" panose="020F0502020204030204"/>
                    <a:ea typeface="游ゴシック" panose="020B0400000000000000" pitchFamily="34" charset="-128"/>
                  </a:rPr>
                  <a:t>Use a parametric bootstrapping procedure to create</a:t>
                </a:r>
                <a:br>
                  <a:rPr lang="en-US" altLang="ja-JP" sz="1400" dirty="0">
                    <a:solidFill>
                      <a:srgbClr val="0070C0"/>
                    </a:solidFill>
                    <a:latin typeface="Calibri" panose="020F0502020204030204"/>
                    <a:ea typeface="游ゴシック" panose="020B0400000000000000" pitchFamily="34" charset="-128"/>
                  </a:rPr>
                </a:br>
                <a:r>
                  <a:rPr lang="en-US" altLang="ja-JP" sz="1400" dirty="0">
                    <a:solidFill>
                      <a:srgbClr val="0070C0"/>
                    </a:solidFill>
                    <a:latin typeface="Calibri" panose="020F0502020204030204"/>
                    <a:ea typeface="游ゴシック" panose="020B0400000000000000" pitchFamily="34" charset="-128"/>
                  </a:rPr>
                  <a:t>   - The standard 95% bootstrap confidence interval for </a:t>
                </a:r>
                <a14:m>
                  <m:oMath xmlns:m="http://schemas.openxmlformats.org/officeDocument/2006/math">
                    <m:r>
                      <a:rPr lang="en-NZ" altLang="ja-JP" sz="1400" b="1" i="1">
                        <a:solidFill>
                          <a:srgbClr val="0070C0"/>
                        </a:solidFill>
                        <a:latin typeface="Cambria Math" panose="02040503050406030204" pitchFamily="18" charset="0"/>
                      </a:rPr>
                      <m:t>𝝀</m:t>
                    </m:r>
                  </m:oMath>
                </a14:m>
                <a:r>
                  <a:rPr kumimoji="1" lang="en-US" altLang="ja-JP" sz="1400" b="1"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rPr>
                  <a:t>.</a:t>
                </a:r>
                <a:br>
                  <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br>
                <a:r>
                  <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   - </a:t>
                </a:r>
                <a:r>
                  <a:rPr kumimoji="1" lang="en-US" altLang="ja-JP" sz="1400" b="0" i="0" u="none" strike="noStrike" kern="1200" cap="none" spc="0" normalizeH="0" baseline="0" noProof="0" dirty="0" err="1">
                    <a:ln>
                      <a:noFill/>
                    </a:ln>
                    <a:solidFill>
                      <a:srgbClr val="0070C0"/>
                    </a:solidFill>
                    <a:effectLst/>
                    <a:uLnTx/>
                    <a:uFillTx/>
                    <a:latin typeface="Calibri" panose="020F0502020204030204"/>
                    <a:ea typeface="游ゴシック" panose="020B0400000000000000" pitchFamily="34" charset="-128"/>
                    <a:cs typeface="+mn-cs"/>
                  </a:rPr>
                  <a:t>Effron’s</a:t>
                </a:r>
                <a:r>
                  <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 95% confidence interval for </a:t>
                </a:r>
                <a14:m>
                  <m:oMath xmlns:m="http://schemas.openxmlformats.org/officeDocument/2006/math">
                    <m:r>
                      <a:rPr lang="en-NZ" altLang="ja-JP" sz="1400" b="1" i="1">
                        <a:solidFill>
                          <a:srgbClr val="0070C0"/>
                        </a:solidFill>
                        <a:latin typeface="Cambria Math" panose="02040503050406030204" pitchFamily="18" charset="0"/>
                      </a:rPr>
                      <m:t>𝝀</m:t>
                    </m:r>
                  </m:oMath>
                </a14:m>
                <a:r>
                  <a:rPr kumimoji="1" lang="en-US" altLang="ja-JP" sz="1400" b="1"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rPr>
                  <a:t>.</a:t>
                </a:r>
                <a:br>
                  <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br>
                <a:r>
                  <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   - Hall’s 95% confidence</a:t>
                </a:r>
                <a:r>
                  <a:rPr kumimoji="1" lang="en-US" altLang="ja-JP" sz="1400" b="0" i="0" u="none" strike="noStrike" kern="1200" cap="none" spc="0" normalizeH="0" noProof="0" dirty="0">
                    <a:ln>
                      <a:noFill/>
                    </a:ln>
                    <a:solidFill>
                      <a:srgbClr val="0070C0"/>
                    </a:solidFill>
                    <a:effectLst/>
                    <a:uLnTx/>
                    <a:uFillTx/>
                    <a:latin typeface="Calibri" panose="020F0502020204030204"/>
                    <a:ea typeface="游ゴシック" panose="020B0400000000000000" pitchFamily="34" charset="-128"/>
                    <a:cs typeface="+mn-cs"/>
                  </a:rPr>
                  <a:t> interval for </a:t>
                </a:r>
                <a14:m>
                  <m:oMath xmlns:m="http://schemas.openxmlformats.org/officeDocument/2006/math">
                    <m:r>
                      <a:rPr lang="en-NZ" altLang="ja-JP" sz="1400" b="1" i="1">
                        <a:solidFill>
                          <a:srgbClr val="0070C0"/>
                        </a:solidFill>
                        <a:latin typeface="Cambria Math" panose="02040503050406030204" pitchFamily="18" charset="0"/>
                      </a:rPr>
                      <m:t>𝝀</m:t>
                    </m:r>
                  </m:oMath>
                </a14:m>
                <a:r>
                  <a:rPr kumimoji="1" lang="en-US" altLang="ja-JP" sz="1400" b="1"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rPr>
                  <a:t>.</a:t>
                </a:r>
                <a:br>
                  <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br>
                <a:endPar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a:p>
                <a:pPr marL="342900" lvl="0" indent="-342900">
                  <a:lnSpc>
                    <a:spcPct val="100000"/>
                  </a:lnSpc>
                  <a:buFont typeface="+mj-lt"/>
                  <a:buAutoNum type="alphaLcParenR"/>
                  <a:defRPr/>
                </a:pPr>
                <a:r>
                  <a:rPr lang="en-US" altLang="ja-JP" sz="1400" dirty="0">
                    <a:solidFill>
                      <a:srgbClr val="0070C0"/>
                    </a:solidFill>
                    <a:latin typeface="Calibri" panose="020F0502020204030204"/>
                    <a:ea typeface="游ゴシック" panose="020B0400000000000000" pitchFamily="34" charset="-128"/>
                  </a:rPr>
                  <a:t>Looking at </a:t>
                </a:r>
                <a:r>
                  <a:rPr lang="en-US" altLang="ja-JP" sz="1400">
                    <a:solidFill>
                      <a:srgbClr val="0070C0"/>
                    </a:solidFill>
                    <a:latin typeface="Calibri" panose="020F0502020204030204"/>
                    <a:ea typeface="游ゴシック" panose="020B0400000000000000" pitchFamily="34" charset="-128"/>
                  </a:rPr>
                  <a:t>the empirical distribution </a:t>
                </a:r>
                <a:r>
                  <a:rPr lang="en-US" altLang="ja-JP" sz="1400" dirty="0">
                    <a:solidFill>
                      <a:srgbClr val="0070C0"/>
                    </a:solidFill>
                    <a:latin typeface="Calibri" panose="020F0502020204030204"/>
                    <a:ea typeface="游ゴシック" panose="020B0400000000000000" pitchFamily="34" charset="-128"/>
                  </a:rPr>
                  <a:t>of </a:t>
                </a:r>
                <a14:m>
                  <m:oMath xmlns:m="http://schemas.openxmlformats.org/officeDocument/2006/math">
                    <m:acc>
                      <m:accPr>
                        <m:chr m:val="̂"/>
                        <m:ctrlPr>
                          <a:rPr lang="en-US" altLang="ja-JP" sz="1400" b="1" i="1">
                            <a:solidFill>
                              <a:srgbClr val="0070C0"/>
                            </a:solidFill>
                            <a:latin typeface="Cambria Math" panose="02040503050406030204" pitchFamily="18" charset="0"/>
                          </a:rPr>
                        </m:ctrlPr>
                      </m:accPr>
                      <m:e>
                        <m:r>
                          <a:rPr lang="en-NZ" altLang="ja-JP" sz="1400" b="1" i="1">
                            <a:solidFill>
                              <a:srgbClr val="0070C0"/>
                            </a:solidFill>
                            <a:latin typeface="Cambria Math" panose="02040503050406030204" pitchFamily="18" charset="0"/>
                          </a:rPr>
                          <m:t>𝝀</m:t>
                        </m:r>
                      </m:e>
                    </m:acc>
                  </m:oMath>
                </a14:m>
                <a:r>
                  <a:rPr lang="en-US" altLang="ja-JP" sz="1400" b="1" dirty="0">
                    <a:solidFill>
                      <a:srgbClr val="0070C0"/>
                    </a:solidFill>
                  </a:rPr>
                  <a:t> </a:t>
                </a:r>
                <a:r>
                  <a:rPr lang="en-NZ" altLang="ja-JP" sz="1400" dirty="0">
                    <a:solidFill>
                      <a:srgbClr val="0070C0"/>
                    </a:solidFill>
                  </a:rPr>
                  <a:t>comment on whether it was necessary to use either of the percentile intervals or whether the standard bootstrap interval was sufficient.</a:t>
                </a:r>
                <a:br>
                  <a:rPr lang="en-NZ" altLang="ja-JP" sz="1400" dirty="0">
                    <a:solidFill>
                      <a:srgbClr val="0070C0"/>
                    </a:solidFill>
                  </a:rPr>
                </a:br>
                <a:endParaRPr lang="en-NZ" altLang="ja-JP" sz="1400" dirty="0">
                  <a:solidFill>
                    <a:srgbClr val="0070C0"/>
                  </a:solidFill>
                </a:endParaRPr>
              </a:p>
              <a:p>
                <a:pPr marL="342900" lvl="0" indent="-342900">
                  <a:lnSpc>
                    <a:spcPct val="100000"/>
                  </a:lnSpc>
                  <a:buFont typeface="+mj-lt"/>
                  <a:buAutoNum type="alphaLcParenR"/>
                  <a:defRPr/>
                </a:pPr>
                <a:r>
                  <a:rPr kumimoji="1" lang="en-NZ"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Given that it is costly to manufacture</a:t>
                </a:r>
                <a:r>
                  <a:rPr kumimoji="1" lang="en-NZ" altLang="ja-JP" sz="1400" b="0" i="0" u="none" strike="noStrike" kern="1200" cap="none" spc="0" normalizeH="0" noProof="0" dirty="0">
                    <a:ln>
                      <a:noFill/>
                    </a:ln>
                    <a:solidFill>
                      <a:srgbClr val="0070C0"/>
                    </a:solidFill>
                    <a:effectLst/>
                    <a:uLnTx/>
                    <a:uFillTx/>
                    <a:latin typeface="Calibri" panose="020F0502020204030204"/>
                    <a:ea typeface="游ゴシック" panose="020B0400000000000000" pitchFamily="34" charset="-128"/>
                    <a:cs typeface="+mn-cs"/>
                  </a:rPr>
                  <a:t> each propeller blade (and even more costly to test each one in the simulator), explain why a bootstrapped confidence interval is appropriate in this instance.</a:t>
                </a:r>
                <a:endPar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a:p>
                <a:pPr marL="342900" marR="0" lvl="0" indent="-342900" algn="l" defTabSz="914324" rtl="0" eaLnBrk="1" fontAlgn="auto" latinLnBrk="0" hangingPunct="1">
                  <a:lnSpc>
                    <a:spcPct val="100000"/>
                  </a:lnSpc>
                  <a:spcBef>
                    <a:spcPts val="0"/>
                  </a:spcBef>
                  <a:spcAft>
                    <a:spcPts val="0"/>
                  </a:spcAft>
                  <a:buClrTx/>
                  <a:buSzTx/>
                  <a:buFont typeface="+mj-lt"/>
                  <a:buAutoNum type="alphaLcParenR"/>
                  <a:tabLst/>
                  <a:defRPr/>
                </a:pPr>
                <a:endPar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p:txBody>
          </p:sp>
        </mc:Choice>
        <mc:Fallback>
          <p:sp>
            <p:nvSpPr>
              <p:cNvPr id="11" name="Text Placeholder 5">
                <a:extLst>
                  <a:ext uri="{FF2B5EF4-FFF2-40B4-BE49-F238E27FC236}">
                    <a16:creationId xmlns:a16="http://schemas.microsoft.com/office/drawing/2014/main" id="{05874648-046D-469D-60D7-12D5B79C8354}"/>
                  </a:ext>
                </a:extLst>
              </p:cNvPr>
              <p:cNvSpPr txBox="1">
                <a:spLocks noRot="1" noChangeAspect="1" noMove="1" noResize="1" noEditPoints="1" noAdjustHandles="1" noChangeArrowheads="1" noChangeShapeType="1" noTextEdit="1"/>
              </p:cNvSpPr>
              <p:nvPr/>
            </p:nvSpPr>
            <p:spPr>
              <a:xfrm>
                <a:off x="5600700" y="2307793"/>
                <a:ext cx="6003292" cy="3595992"/>
              </a:xfrm>
              <a:prstGeom prst="rect">
                <a:avLst/>
              </a:prstGeom>
              <a:blipFill>
                <a:blip r:embed="rId3"/>
                <a:stretch>
                  <a:fillRect l="-406" t="-509"/>
                </a:stretch>
              </a:blipFill>
            </p:spPr>
            <p:txBody>
              <a:bodyPr/>
              <a:lstStyle/>
              <a:p>
                <a:r>
                  <a:rPr lang="en-NZ">
                    <a:noFill/>
                  </a:rPr>
                  <a:t> </a:t>
                </a:r>
              </a:p>
            </p:txBody>
          </p:sp>
        </mc:Fallback>
      </mc:AlternateContent>
      <p:pic>
        <p:nvPicPr>
          <p:cNvPr id="1026" name="Picture 2" descr="Propeller (aeronautics) - Wikipedia">
            <a:extLst>
              <a:ext uri="{FF2B5EF4-FFF2-40B4-BE49-F238E27FC236}">
                <a16:creationId xmlns:a16="http://schemas.microsoft.com/office/drawing/2014/main" id="{10CAB182-BAB9-0D5E-6026-75197AF046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9463" y="2307793"/>
            <a:ext cx="4897874" cy="3595992"/>
          </a:xfrm>
          <a:prstGeom prst="rect">
            <a:avLst/>
          </a:prstGeom>
          <a:noFill/>
          <a:scene3d>
            <a:camera prst="orthographicFront">
              <a:rot lat="0" lon="10799999" rev="0"/>
            </a:camera>
            <a:lightRig rig="threePt" dir="t"/>
          </a:scene3d>
          <a:extLst>
            <a:ext uri="{909E8E84-426E-40DD-AFC4-6F175D3DCCD1}">
              <a14:hiddenFill xmlns:a14="http://schemas.microsoft.com/office/drawing/2010/main">
                <a:solidFill>
                  <a:srgbClr val="FFFFFF"/>
                </a:solidFill>
              </a14:hiddenFill>
            </a:ext>
          </a:extLst>
        </p:spPr>
      </p:pic>
      <p:sp>
        <p:nvSpPr>
          <p:cNvPr id="2" name="Text Placeholder 5">
            <a:extLst>
              <a:ext uri="{FF2B5EF4-FFF2-40B4-BE49-F238E27FC236}">
                <a16:creationId xmlns:a16="http://schemas.microsoft.com/office/drawing/2014/main" id="{B2416283-365D-71F1-0342-78E4EDB23A32}"/>
              </a:ext>
            </a:extLst>
          </p:cNvPr>
          <p:cNvSpPr txBox="1">
            <a:spLocks/>
          </p:cNvSpPr>
          <p:nvPr/>
        </p:nvSpPr>
        <p:spPr>
          <a:xfrm>
            <a:off x="319463" y="1962998"/>
            <a:ext cx="4897874" cy="34603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R="0" lvl="0" algn="l" defTabSz="914324" rtl="0" eaLnBrk="1" fontAlgn="auto" latinLnBrk="0" hangingPunct="1">
              <a:lnSpc>
                <a:spcPct val="100000"/>
              </a:lnSpc>
              <a:spcBef>
                <a:spcPts val="0"/>
              </a:spcBef>
              <a:spcAft>
                <a:spcPts val="0"/>
              </a:spcAft>
              <a:buClrTx/>
              <a:buSzTx/>
              <a:tabLst/>
              <a:defRPr/>
            </a:pPr>
            <a:r>
              <a:rPr kumimoji="1" lang="en-US" altLang="ja-JP" sz="1400" b="1"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Propeller</a:t>
            </a:r>
            <a:r>
              <a:rPr kumimoji="1" lang="en-US" altLang="ja-JP" sz="1400" b="1" i="0" u="none" strike="noStrike" kern="1200" cap="none" spc="0" normalizeH="0" noProof="0" dirty="0">
                <a:ln>
                  <a:noFill/>
                </a:ln>
                <a:solidFill>
                  <a:schemeClr val="tx1"/>
                </a:solidFill>
                <a:effectLst/>
                <a:uLnTx/>
                <a:uFillTx/>
                <a:latin typeface="Calibri" panose="020F0502020204030204"/>
                <a:ea typeface="游ゴシック" panose="020B0400000000000000" pitchFamily="34" charset="-128"/>
                <a:cs typeface="+mn-cs"/>
              </a:rPr>
              <a:t> Blades on a Commercial Airplane</a:t>
            </a:r>
            <a:endParaRPr kumimoji="1" lang="en-US" altLang="ja-JP" sz="1400" b="1"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endParaRPr>
          </a:p>
        </p:txBody>
      </p:sp>
      <p:sp>
        <p:nvSpPr>
          <p:cNvPr id="13" name="Text Placeholder 5">
            <a:extLst>
              <a:ext uri="{FF2B5EF4-FFF2-40B4-BE49-F238E27FC236}">
                <a16:creationId xmlns:a16="http://schemas.microsoft.com/office/drawing/2014/main" id="{13382408-ADFE-DC07-1AB5-39D0A20D1929}"/>
              </a:ext>
            </a:extLst>
          </p:cNvPr>
          <p:cNvSpPr txBox="1">
            <a:spLocks/>
          </p:cNvSpPr>
          <p:nvPr/>
        </p:nvSpPr>
        <p:spPr>
          <a:xfrm>
            <a:off x="3011606" y="6551432"/>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Tutorial 3 – Q1</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Tree>
    <p:extLst>
      <p:ext uri="{BB962C8B-B14F-4D97-AF65-F5344CB8AC3E}">
        <p14:creationId xmlns:p14="http://schemas.microsoft.com/office/powerpoint/2010/main" val="13608373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4B6BA3"/>
        </a:solidFill>
        <a:effectLst/>
      </p:bgPr>
    </p:bg>
    <p:spTree>
      <p:nvGrpSpPr>
        <p:cNvPr id="1" name=""/>
        <p:cNvGrpSpPr/>
        <p:nvPr/>
      </p:nvGrpSpPr>
      <p:grpSpPr>
        <a:xfrm>
          <a:off x="0" y="0"/>
          <a:ext cx="0" cy="0"/>
          <a:chOff x="0" y="0"/>
          <a:chExt cx="0" cy="0"/>
        </a:xfrm>
      </p:grpSpPr>
      <p:sp>
        <p:nvSpPr>
          <p:cNvPr id="5" name="Title 6">
            <a:extLst>
              <a:ext uri="{FF2B5EF4-FFF2-40B4-BE49-F238E27FC236}">
                <a16:creationId xmlns:a16="http://schemas.microsoft.com/office/drawing/2014/main" id="{1395D581-A8B7-9DB6-663B-FC24A75A9D76}"/>
              </a:ext>
            </a:extLst>
          </p:cNvPr>
          <p:cNvSpPr txBox="1">
            <a:spLocks/>
          </p:cNvSpPr>
          <p:nvPr/>
        </p:nvSpPr>
        <p:spPr>
          <a:xfrm>
            <a:off x="1105346" y="2745247"/>
            <a:ext cx="9981308" cy="1367506"/>
          </a:xfrm>
          <a:prstGeom prst="rect">
            <a:avLst/>
          </a:prstGeom>
        </p:spPr>
        <p:txBody>
          <a:bodyPr anchor="t">
            <a:no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ctr" defTabSz="914324" rtl="0" eaLnBrk="1" fontAlgn="auto" latinLnBrk="0" hangingPunct="1">
              <a:lnSpc>
                <a:spcPct val="90000"/>
              </a:lnSpc>
              <a:spcBef>
                <a:spcPct val="0"/>
              </a:spcBef>
              <a:spcAft>
                <a:spcPts val="0"/>
              </a:spcAft>
              <a:buClrTx/>
              <a:buSzTx/>
              <a:buFontTx/>
              <a:buNone/>
              <a:tabLst/>
              <a:defRPr/>
            </a:pPr>
            <a:r>
              <a:rPr kumimoji="1" lang="en-US" altLang="ja-JP" sz="5000" b="1" i="0" u="sng" strike="noStrike" kern="1200" cap="none" spc="0" normalizeH="0" baseline="0" noProof="0" dirty="0">
                <a:ln>
                  <a:noFill/>
                </a:ln>
                <a:solidFill>
                  <a:schemeClr val="bg1"/>
                </a:solidFill>
                <a:effectLst/>
                <a:uLnTx/>
                <a:uFillTx/>
                <a:latin typeface="Calibri" panose="020F0502020204030204"/>
                <a:ea typeface="游ゴシック Light" panose="020B0300000000000000" pitchFamily="34" charset="-128"/>
                <a:cs typeface="+mj-cs"/>
              </a:rPr>
              <a:t>Question 2: </a:t>
            </a:r>
          </a:p>
          <a:p>
            <a:pPr marL="0" marR="0" lvl="0" indent="0" algn="ctr" defTabSz="914324" rtl="0" eaLnBrk="1" fontAlgn="auto" latinLnBrk="0" hangingPunct="1">
              <a:lnSpc>
                <a:spcPct val="90000"/>
              </a:lnSpc>
              <a:spcBef>
                <a:spcPct val="0"/>
              </a:spcBef>
              <a:spcAft>
                <a:spcPts val="0"/>
              </a:spcAft>
              <a:buClrTx/>
              <a:buSzTx/>
              <a:buFontTx/>
              <a:buNone/>
              <a:tabLst/>
              <a:defRPr/>
            </a:pPr>
            <a:r>
              <a:rPr kumimoji="1" lang="en-US" altLang="ja-JP" sz="5000" b="1" i="0" u="sng" strike="noStrike" kern="1200" cap="none" spc="0" normalizeH="0" baseline="0" noProof="0" dirty="0">
                <a:ln>
                  <a:noFill/>
                </a:ln>
                <a:solidFill>
                  <a:schemeClr val="bg1"/>
                </a:solidFill>
                <a:effectLst/>
                <a:uLnTx/>
                <a:uFillTx/>
                <a:latin typeface="Calibri" panose="020F0502020204030204"/>
                <a:ea typeface="游ゴシック Light" panose="020B0300000000000000" pitchFamily="34" charset="-128"/>
                <a:cs typeface="+mj-cs"/>
              </a:rPr>
              <a:t>Non-Parametric Bootstrapping</a:t>
            </a:r>
            <a:endParaRPr kumimoji="1" lang="ja-JP" altLang="en-US" sz="5000" b="1" i="0" u="sng" strike="noStrike" kern="1200" cap="none" spc="0" normalizeH="0" baseline="0" noProof="0" dirty="0">
              <a:ln>
                <a:noFill/>
              </a:ln>
              <a:solidFill>
                <a:schemeClr val="bg1"/>
              </a:solidFill>
              <a:effectLst/>
              <a:uLnTx/>
              <a:uFillTx/>
              <a:latin typeface="Calibri" panose="020F0502020204030204"/>
              <a:ea typeface="游ゴシック Light" panose="020B0300000000000000" pitchFamily="34" charset="-128"/>
              <a:cs typeface="+mj-cs"/>
            </a:endParaRPr>
          </a:p>
        </p:txBody>
      </p:sp>
      <p:sp>
        <p:nvSpPr>
          <p:cNvPr id="3" name="Title 6">
            <a:extLst>
              <a:ext uri="{FF2B5EF4-FFF2-40B4-BE49-F238E27FC236}">
                <a16:creationId xmlns:a16="http://schemas.microsoft.com/office/drawing/2014/main" id="{AF836451-18BF-0B3D-2F02-402C0B02BAEB}"/>
              </a:ext>
            </a:extLst>
          </p:cNvPr>
          <p:cNvSpPr txBox="1">
            <a:spLocks/>
          </p:cNvSpPr>
          <p:nvPr/>
        </p:nvSpPr>
        <p:spPr>
          <a:xfrm>
            <a:off x="0" y="4219671"/>
            <a:ext cx="12192000" cy="407413"/>
          </a:xfrm>
          <a:prstGeom prst="rect">
            <a:avLst/>
          </a:prstGeom>
        </p:spPr>
        <p:txBody>
          <a:bodyPr anchor="t">
            <a:no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ctr" defTabSz="914324" rtl="0" eaLnBrk="1" fontAlgn="auto" latinLnBrk="0" hangingPunct="1">
              <a:lnSpc>
                <a:spcPct val="90000"/>
              </a:lnSpc>
              <a:spcBef>
                <a:spcPct val="0"/>
              </a:spcBef>
              <a:spcAft>
                <a:spcPts val="0"/>
              </a:spcAft>
              <a:buClrTx/>
              <a:buSzTx/>
              <a:buFontTx/>
              <a:buNone/>
              <a:tabLst/>
              <a:defRPr/>
            </a:pPr>
            <a:r>
              <a:rPr kumimoji="1" lang="en-US" altLang="ja-JP" sz="1600" i="0" strike="noStrike" kern="1200" cap="none" spc="0" normalizeH="0" baseline="0" noProof="0" dirty="0">
                <a:ln>
                  <a:noFill/>
                </a:ln>
                <a:solidFill>
                  <a:schemeClr val="bg1"/>
                </a:solidFill>
                <a:effectLst/>
                <a:uLnTx/>
                <a:uFillTx/>
                <a:latin typeface="Calibri" panose="020F0502020204030204"/>
                <a:ea typeface="游ゴシック Light" panose="020B0300000000000000" pitchFamily="34" charset="-128"/>
                <a:cs typeface="+mj-cs"/>
              </a:rPr>
              <a:t>Example 7.4.2 in the course notes</a:t>
            </a:r>
            <a:endParaRPr kumimoji="1" lang="ja-JP" altLang="en-US" sz="1600" i="0" strike="noStrike" kern="1200" cap="none" spc="0" normalizeH="0" baseline="0" noProof="0" dirty="0">
              <a:ln>
                <a:noFill/>
              </a:ln>
              <a:solidFill>
                <a:schemeClr val="bg1"/>
              </a:solidFill>
              <a:effectLst/>
              <a:uLnTx/>
              <a:uFillTx/>
              <a:latin typeface="Calibri" panose="020F0502020204030204"/>
              <a:ea typeface="游ゴシック Light" panose="020B0300000000000000" pitchFamily="34" charset="-128"/>
              <a:cs typeface="+mj-cs"/>
            </a:endParaRPr>
          </a:p>
        </p:txBody>
      </p:sp>
    </p:spTree>
    <p:extLst>
      <p:ext uri="{BB962C8B-B14F-4D97-AF65-F5344CB8AC3E}">
        <p14:creationId xmlns:p14="http://schemas.microsoft.com/office/powerpoint/2010/main" val="27823693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ow to make 3D scatter plots with R: scatterplot3d package | DataScience+">
            <a:extLst>
              <a:ext uri="{FF2B5EF4-FFF2-40B4-BE49-F238E27FC236}">
                <a16:creationId xmlns:a16="http://schemas.microsoft.com/office/drawing/2014/main" id="{6AB8FFDB-9BEA-92DE-8BA5-8416A4E123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7532" y="2120396"/>
            <a:ext cx="4124468" cy="4124468"/>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Question 2</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What Do We Need from a Set of Axes?</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9" name="Text Placeholder 5">
            <a:extLst>
              <a:ext uri="{FF2B5EF4-FFF2-40B4-BE49-F238E27FC236}">
                <a16:creationId xmlns:a16="http://schemas.microsoft.com/office/drawing/2014/main" id="{498B7821-D78D-713F-1426-B800E2622D82}"/>
              </a:ext>
            </a:extLst>
          </p:cNvPr>
          <p:cNvSpPr txBox="1">
            <a:spLocks/>
          </p:cNvSpPr>
          <p:nvPr/>
        </p:nvSpPr>
        <p:spPr>
          <a:xfrm>
            <a:off x="319463" y="964577"/>
            <a:ext cx="11138079"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600" dirty="0">
                <a:solidFill>
                  <a:prstClr val="black"/>
                </a:solidFill>
              </a:rPr>
              <a:t>In order to represent the location of a point in n-dimensional space we need a set of axes</a:t>
            </a:r>
            <a:r>
              <a:rPr lang="en-US" altLang="ja-JP" sz="1600" dirty="0">
                <a:solidFill>
                  <a:prstClr val="black"/>
                </a:solidFill>
                <a:latin typeface="Calibri" panose="020F0502020204030204"/>
                <a:ea typeface="游ゴシック" panose="020B0400000000000000" pitchFamily="34" charset="-128"/>
              </a:rPr>
              <a:t>.</a:t>
            </a:r>
            <a:endParaRPr lang="en-NZ" altLang="ja-JP" sz="1600" dirty="0">
              <a:solidFill>
                <a:prstClr val="black"/>
              </a:solidFill>
            </a:endParaRPr>
          </a:p>
        </p:txBody>
      </p:sp>
      <mc:AlternateContent xmlns:mc="http://schemas.openxmlformats.org/markup-compatibility/2006" xmlns:a14="http://schemas.microsoft.com/office/drawing/2010/main">
        <mc:Choice Requires="a14">
          <p:sp>
            <p:nvSpPr>
              <p:cNvPr id="12" name="Text Placeholder 5">
                <a:extLst>
                  <a:ext uri="{FF2B5EF4-FFF2-40B4-BE49-F238E27FC236}">
                    <a16:creationId xmlns:a16="http://schemas.microsoft.com/office/drawing/2014/main" id="{5C02F1DC-5A30-A3CD-A27A-BCD6ACC1E0DD}"/>
                  </a:ext>
                </a:extLst>
              </p:cNvPr>
              <p:cNvSpPr txBox="1">
                <a:spLocks/>
              </p:cNvSpPr>
              <p:nvPr/>
            </p:nvSpPr>
            <p:spPr>
              <a:xfrm>
                <a:off x="319463" y="1335544"/>
                <a:ext cx="11138079" cy="138562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600" dirty="0">
                    <a:solidFill>
                      <a:prstClr val="black"/>
                    </a:solidFill>
                  </a:rPr>
                  <a:t>Typically, we use the standard coordinate system for </a:t>
                </a:r>
                <a14:m>
                  <m:oMath xmlns:m="http://schemas.openxmlformats.org/officeDocument/2006/math">
                    <m:sSup>
                      <m:sSupPr>
                        <m:ctrlPr>
                          <a:rPr lang="en-NZ" altLang="ja-JP" sz="1600" b="0" i="1" smtClean="0">
                            <a:solidFill>
                              <a:prstClr val="black"/>
                            </a:solidFill>
                            <a:latin typeface="Cambria Math" panose="02040503050406030204" pitchFamily="18" charset="0"/>
                            <a:ea typeface="Cambria Math" panose="02040503050406030204" pitchFamily="18" charset="0"/>
                          </a:rPr>
                        </m:ctrlPr>
                      </m:sSupPr>
                      <m:e>
                        <m:r>
                          <a:rPr lang="en-NZ" altLang="ja-JP" sz="1600" i="1" smtClean="0">
                            <a:solidFill>
                              <a:prstClr val="black"/>
                            </a:solidFill>
                            <a:latin typeface="Cambria Math" panose="02040503050406030204" pitchFamily="18" charset="0"/>
                            <a:ea typeface="Cambria Math" panose="02040503050406030204" pitchFamily="18" charset="0"/>
                          </a:rPr>
                          <m:t>ℝ</m:t>
                        </m:r>
                      </m:e>
                      <m:sup>
                        <m:r>
                          <a:rPr lang="en-NZ" altLang="ja-JP" sz="1600" b="0" i="1" smtClean="0">
                            <a:solidFill>
                              <a:prstClr val="black"/>
                            </a:solidFill>
                            <a:latin typeface="Cambria Math" panose="02040503050406030204" pitchFamily="18" charset="0"/>
                            <a:ea typeface="Cambria Math" panose="02040503050406030204" pitchFamily="18" charset="0"/>
                          </a:rPr>
                          <m:t>𝑛</m:t>
                        </m:r>
                      </m:sup>
                    </m:sSup>
                  </m:oMath>
                </a14:m>
                <a:r>
                  <a:rPr lang="en-NZ" altLang="ja-JP" sz="1600" dirty="0">
                    <a:solidFill>
                      <a:prstClr val="black"/>
                    </a:solidFill>
                  </a:rPr>
                  <a:t>, i.e. we use the following vectors for our axes</a:t>
                </a:r>
              </a:p>
              <a:p>
                <a:pPr>
                  <a:lnSpc>
                    <a:spcPct val="100000"/>
                  </a:lnSpc>
                  <a:defRPr/>
                </a:pPr>
                <a14:m>
                  <m:oMathPara xmlns:m="http://schemas.openxmlformats.org/officeDocument/2006/math">
                    <m:oMathParaPr>
                      <m:jc m:val="centerGroup"/>
                    </m:oMathParaPr>
                    <m:oMath xmlns:m="http://schemas.openxmlformats.org/officeDocument/2006/math">
                      <m:r>
                        <a:rPr lang="en-NZ" sz="1600" b="1" i="1" smtClean="0">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t>𝚪</m:t>
                      </m:r>
                      <m: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t> = </m:t>
                      </m:r>
                      <m:d>
                        <m:dPr>
                          <m:begChr m:val="{"/>
                          <m:endChr m:val="}"/>
                          <m:ctrlP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m>
                            <m:mPr>
                              <m:mcs>
                                <m:mc>
                                  <m:mcPr>
                                    <m:count m:val="3"/>
                                    <m:mcJc m:val="center"/>
                                  </m:mcPr>
                                </m:mc>
                              </m:mcs>
                              <m:ctrlP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ctrlPr>
                            </m:mPr>
                            <m:mr>
                              <m:e>
                                <m: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t> </m:t>
                                </m:r>
                                <m:d>
                                  <m:dPr>
                                    <m:ctrlP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m>
                                      <m:mPr>
                                        <m:mcs>
                                          <m:mc>
                                            <m:mcPr>
                                              <m:count m:val="1"/>
                                              <m:mcJc m:val="center"/>
                                            </m:mcPr>
                                          </m:mc>
                                        </m:mcs>
                                        <m:ctrlP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ctrlPr>
                                      </m:mPr>
                                      <m:mr>
                                        <m:e>
                                          <m: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t>𝟏</m:t>
                                          </m:r>
                                        </m:e>
                                      </m:mr>
                                      <m:mr>
                                        <m:e>
                                          <m: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t>𝟎</m:t>
                                          </m:r>
                                        </m:e>
                                      </m:mr>
                                      <m:mr>
                                        <m:e>
                                          <m:m>
                                            <m:mPr>
                                              <m:mcs>
                                                <m:mc>
                                                  <m:mcPr>
                                                    <m:count m:val="1"/>
                                                    <m:mcJc m:val="center"/>
                                                  </m:mcPr>
                                                </m:mc>
                                              </m:mcs>
                                              <m:ctrlP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ctrlPr>
                                            </m:mPr>
                                            <m:mr>
                                              <m:e>
                                                <m: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t>⋮</m:t>
                                                </m:r>
                                              </m:e>
                                            </m:mr>
                                            <m:mr>
                                              <m:e>
                                                <m: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t>𝟎</m:t>
                                                </m:r>
                                              </m:e>
                                            </m:mr>
                                          </m:m>
                                        </m:e>
                                      </m:mr>
                                    </m:m>
                                  </m:e>
                                </m:d>
                              </m:e>
                              <m:e>
                                <m:d>
                                  <m:dPr>
                                    <m:ctrlP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m>
                                      <m:mPr>
                                        <m:mcs>
                                          <m:mc>
                                            <m:mcPr>
                                              <m:count m:val="1"/>
                                              <m:mcJc m:val="center"/>
                                            </m:mcPr>
                                          </m:mc>
                                        </m:mcs>
                                        <m:ctrlP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ctrlPr>
                                      </m:mPr>
                                      <m:mr>
                                        <m:e>
                                          <m: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t>𝟎</m:t>
                                          </m:r>
                                        </m:e>
                                      </m:mr>
                                      <m:mr>
                                        <m:e>
                                          <m: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t>𝟏</m:t>
                                          </m:r>
                                        </m:e>
                                      </m:mr>
                                      <m:mr>
                                        <m:e>
                                          <m:m>
                                            <m:mPr>
                                              <m:mcs>
                                                <m:mc>
                                                  <m:mcPr>
                                                    <m:count m:val="1"/>
                                                    <m:mcJc m:val="center"/>
                                                  </m:mcPr>
                                                </m:mc>
                                              </m:mcs>
                                              <m:ctrlP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ctrlPr>
                                            </m:mPr>
                                            <m:mr>
                                              <m:e>
                                                <m: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t>⋮</m:t>
                                                </m:r>
                                              </m:e>
                                            </m:mr>
                                            <m:mr>
                                              <m:e>
                                                <m: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t>𝟎</m:t>
                                                </m:r>
                                              </m:e>
                                            </m:mr>
                                          </m:m>
                                        </m:e>
                                      </m:mr>
                                    </m:m>
                                  </m:e>
                                </m:d>
                              </m:e>
                              <m:e>
                                <m:m>
                                  <m:mPr>
                                    <m:mcs>
                                      <m:mc>
                                        <m:mcPr>
                                          <m:count m:val="2"/>
                                          <m:mcJc m:val="center"/>
                                        </m:mcPr>
                                      </m:mc>
                                    </m:mcs>
                                    <m:ctrlP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ctrlPr>
                                  </m:mPr>
                                  <m:mr>
                                    <m:e>
                                      <m:m>
                                        <m:mPr>
                                          <m:mcs>
                                            <m:mc>
                                              <m:mcPr>
                                                <m:count m:val="1"/>
                                                <m:mcJc m:val="center"/>
                                              </m:mcPr>
                                            </m:mc>
                                          </m:mcs>
                                          <m:ctrlP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ctrlPr>
                                        </m:mPr>
                                        <m:mr>
                                          <m:e>
                                            <m: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t>…</m:t>
                                            </m:r>
                                          </m:e>
                                        </m:mr>
                                        <m:mr>
                                          <m:e>
                                            <m: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t>…</m:t>
                                            </m:r>
                                          </m:e>
                                        </m:mr>
                                        <m:mr>
                                          <m:e>
                                            <m:m>
                                              <m:mPr>
                                                <m:mcs>
                                                  <m:mc>
                                                    <m:mcPr>
                                                      <m:count m:val="1"/>
                                                      <m:mcJc m:val="center"/>
                                                    </m:mcPr>
                                                  </m:mc>
                                                </m:mcs>
                                                <m:ctrlP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ctrlPr>
                                              </m:mPr>
                                              <m:mr>
                                                <m:e>
                                                  <m: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t>⋱</m:t>
                                                  </m:r>
                                                </m:e>
                                              </m:mr>
                                              <m:mr>
                                                <m:e>
                                                  <m: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t>…</m:t>
                                                  </m:r>
                                                </m:e>
                                              </m:mr>
                                            </m:m>
                                          </m:e>
                                        </m:mr>
                                      </m:m>
                                    </m:e>
                                    <m:e>
                                      <m:d>
                                        <m:dPr>
                                          <m:ctrlP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m>
                                            <m:mPr>
                                              <m:mcs>
                                                <m:mc>
                                                  <m:mcPr>
                                                    <m:count m:val="1"/>
                                                    <m:mcJc m:val="center"/>
                                                  </m:mcPr>
                                                </m:mc>
                                              </m:mcs>
                                              <m:ctrlP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ctrlPr>
                                            </m:mPr>
                                            <m:mr>
                                              <m:e>
                                                <m: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t>𝟎</m:t>
                                                </m:r>
                                              </m:e>
                                            </m:mr>
                                            <m:mr>
                                              <m:e>
                                                <m: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t>𝟎</m:t>
                                                </m:r>
                                              </m:e>
                                            </m:mr>
                                            <m:mr>
                                              <m:e>
                                                <m:m>
                                                  <m:mPr>
                                                    <m:mcs>
                                                      <m:mc>
                                                        <m:mcPr>
                                                          <m:count m:val="1"/>
                                                          <m:mcJc m:val="center"/>
                                                        </m:mcPr>
                                                      </m:mc>
                                                    </m:mcs>
                                                    <m:ctrlP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ctrlPr>
                                                  </m:mPr>
                                                  <m:mr>
                                                    <m:e>
                                                      <m: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t>⋮</m:t>
                                                      </m:r>
                                                    </m:e>
                                                  </m:mr>
                                                  <m:mr>
                                                    <m:e>
                                                      <m: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t>𝟏</m:t>
                                                      </m:r>
                                                    </m:e>
                                                  </m:mr>
                                                </m:m>
                                              </m:e>
                                            </m:mr>
                                          </m:m>
                                        </m:e>
                                      </m:d>
                                    </m:e>
                                  </m:mr>
                                </m:m>
                              </m:e>
                            </m:mr>
                          </m:m>
                          <m: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t> </m:t>
                          </m:r>
                        </m:e>
                      </m:d>
                    </m:oMath>
                  </m:oMathPara>
                </a14:m>
                <a:endParaRPr lang="en-NZ" sz="1600" b="1" dirty="0">
                  <a:effectLst/>
                  <a:latin typeface="Calibri" panose="020F0502020204030204" pitchFamily="34" charset="0"/>
                  <a:ea typeface="Calibri" panose="020F0502020204030204" pitchFamily="34" charset="0"/>
                  <a:cs typeface="Times New Roman" panose="02020603050405020304" pitchFamily="18" charset="0"/>
                </a:endParaRPr>
              </a:p>
              <a:p>
                <a:pPr lvl="0">
                  <a:lnSpc>
                    <a:spcPct val="100000"/>
                  </a:lnSpc>
                  <a:defRPr/>
                </a:pPr>
                <a:endParaRPr lang="en-NZ" altLang="ja-JP" sz="1600" dirty="0">
                  <a:solidFill>
                    <a:prstClr val="black"/>
                  </a:solidFill>
                </a:endParaRPr>
              </a:p>
            </p:txBody>
          </p:sp>
        </mc:Choice>
        <mc:Fallback xmlns="">
          <p:sp>
            <p:nvSpPr>
              <p:cNvPr id="12" name="Text Placeholder 5">
                <a:extLst>
                  <a:ext uri="{FF2B5EF4-FFF2-40B4-BE49-F238E27FC236}">
                    <a16:creationId xmlns:a16="http://schemas.microsoft.com/office/drawing/2014/main" id="{5C02F1DC-5A30-A3CD-A27A-BCD6ACC1E0DD}"/>
                  </a:ext>
                </a:extLst>
              </p:cNvPr>
              <p:cNvSpPr txBox="1">
                <a:spLocks noRot="1" noChangeAspect="1" noMove="1" noResize="1" noEditPoints="1" noAdjustHandles="1" noChangeArrowheads="1" noChangeShapeType="1" noTextEdit="1"/>
              </p:cNvSpPr>
              <p:nvPr/>
            </p:nvSpPr>
            <p:spPr>
              <a:xfrm>
                <a:off x="319463" y="1335544"/>
                <a:ext cx="11138079" cy="1385621"/>
              </a:xfrm>
              <a:prstGeom prst="rect">
                <a:avLst/>
              </a:prstGeom>
              <a:blipFill>
                <a:blip r:embed="rId4"/>
                <a:stretch>
                  <a:fillRect l="-274" t="-1322"/>
                </a:stretch>
              </a:blipFill>
            </p:spPr>
            <p:txBody>
              <a:bodyPr/>
              <a:lstStyle/>
              <a:p>
                <a:r>
                  <a:rPr lang="en-NZ">
                    <a:noFill/>
                  </a:rPr>
                  <a:t> </a:t>
                </a:r>
              </a:p>
            </p:txBody>
          </p:sp>
        </mc:Fallback>
      </mc:AlternateContent>
      <p:sp>
        <p:nvSpPr>
          <p:cNvPr id="18" name="Text Placeholder 5">
            <a:extLst>
              <a:ext uri="{FF2B5EF4-FFF2-40B4-BE49-F238E27FC236}">
                <a16:creationId xmlns:a16="http://schemas.microsoft.com/office/drawing/2014/main" id="{7D1C7D91-C255-5A94-E64B-595FE31A0BAF}"/>
              </a:ext>
            </a:extLst>
          </p:cNvPr>
          <p:cNvSpPr txBox="1">
            <a:spLocks/>
          </p:cNvSpPr>
          <p:nvPr/>
        </p:nvSpPr>
        <p:spPr>
          <a:xfrm>
            <a:off x="1044741" y="2200813"/>
            <a:ext cx="3174720" cy="365126"/>
          </a:xfrm>
          <a:prstGeom prst="rect">
            <a:avLst/>
          </a:prstGeom>
          <a:solidFill>
            <a:schemeClr val="bg1"/>
          </a:solid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200" b="1" dirty="0">
                <a:solidFill>
                  <a:prstClr val="black"/>
                </a:solidFill>
              </a:rPr>
              <a:t>Illustration of Plotting Data in 3-Dimensions</a:t>
            </a:r>
          </a:p>
        </p:txBody>
      </p:sp>
      <p:sp>
        <p:nvSpPr>
          <p:cNvPr id="20" name="Text Placeholder 5">
            <a:extLst>
              <a:ext uri="{FF2B5EF4-FFF2-40B4-BE49-F238E27FC236}">
                <a16:creationId xmlns:a16="http://schemas.microsoft.com/office/drawing/2014/main" id="{5A481F2C-E291-D9B7-BBB2-8A653187FF46}"/>
              </a:ext>
            </a:extLst>
          </p:cNvPr>
          <p:cNvSpPr txBox="1">
            <a:spLocks/>
          </p:cNvSpPr>
          <p:nvPr/>
        </p:nvSpPr>
        <p:spPr>
          <a:xfrm>
            <a:off x="4913523" y="2807423"/>
            <a:ext cx="5677140" cy="122475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600" dirty="0">
                <a:solidFill>
                  <a:prstClr val="black"/>
                </a:solidFill>
              </a:rPr>
              <a:t>However, this is not the only set of axes vectors we could use. </a:t>
            </a:r>
          </a:p>
          <a:p>
            <a:pPr lvl="0">
              <a:lnSpc>
                <a:spcPct val="100000"/>
              </a:lnSpc>
              <a:defRPr/>
            </a:pPr>
            <a:r>
              <a:rPr lang="en-NZ" altLang="ja-JP" sz="1600" dirty="0">
                <a:solidFill>
                  <a:prstClr val="black"/>
                </a:solidFill>
              </a:rPr>
              <a:t>All we require from a set of axes vectors is that</a:t>
            </a:r>
          </a:p>
          <a:p>
            <a:pPr marL="1085793" lvl="1" indent="-400050">
              <a:lnSpc>
                <a:spcPct val="100000"/>
              </a:lnSpc>
              <a:buFont typeface="+mj-lt"/>
              <a:buAutoNum type="romanLcPeriod"/>
              <a:defRPr/>
            </a:pPr>
            <a:r>
              <a:rPr lang="en-NZ" altLang="ja-JP" sz="1400" dirty="0">
                <a:solidFill>
                  <a:prstClr val="black"/>
                </a:solidFill>
              </a:rPr>
              <a:t>All vectors are orthogonal</a:t>
            </a:r>
          </a:p>
          <a:p>
            <a:pPr marL="1085793" lvl="1" indent="-400050">
              <a:lnSpc>
                <a:spcPct val="100000"/>
              </a:lnSpc>
              <a:buFont typeface="+mj-lt"/>
              <a:buAutoNum type="romanLcPeriod"/>
              <a:defRPr/>
            </a:pPr>
            <a:r>
              <a:rPr lang="en-NZ" altLang="ja-JP" sz="1400" dirty="0">
                <a:solidFill>
                  <a:prstClr val="black"/>
                </a:solidFill>
              </a:rPr>
              <a:t>All vectors have length one</a:t>
            </a:r>
          </a:p>
        </p:txBody>
      </p:sp>
      <p:sp>
        <p:nvSpPr>
          <p:cNvPr id="24" name="Text Placeholder 5">
            <a:extLst>
              <a:ext uri="{FF2B5EF4-FFF2-40B4-BE49-F238E27FC236}">
                <a16:creationId xmlns:a16="http://schemas.microsoft.com/office/drawing/2014/main" id="{BFB9CB99-AB72-D021-1148-4D053E37D339}"/>
              </a:ext>
            </a:extLst>
          </p:cNvPr>
          <p:cNvSpPr txBox="1">
            <a:spLocks/>
          </p:cNvSpPr>
          <p:nvPr/>
        </p:nvSpPr>
        <p:spPr>
          <a:xfrm>
            <a:off x="8655586" y="3374727"/>
            <a:ext cx="3088882" cy="60606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1400" dirty="0">
                <a:solidFill>
                  <a:schemeClr val="bg2">
                    <a:lumMod val="50000"/>
                  </a:schemeClr>
                </a:solidFill>
              </a:rPr>
              <a:t>If these two conditions are satisfied we say the axis vectors are </a:t>
            </a:r>
            <a:r>
              <a:rPr lang="en-NZ" altLang="ja-JP" sz="1400" b="1" dirty="0">
                <a:solidFill>
                  <a:schemeClr val="bg2">
                    <a:lumMod val="50000"/>
                  </a:schemeClr>
                </a:solidFill>
              </a:rPr>
              <a:t>orthonormal</a:t>
            </a:r>
            <a:endParaRPr lang="en-NZ" altLang="ja-JP" sz="1400" dirty="0">
              <a:solidFill>
                <a:schemeClr val="bg2">
                  <a:lumMod val="50000"/>
                </a:schemeClr>
              </a:solidFill>
            </a:endParaRPr>
          </a:p>
        </p:txBody>
      </p:sp>
      <p:sp>
        <p:nvSpPr>
          <p:cNvPr id="25" name="Right Brace 24">
            <a:extLst>
              <a:ext uri="{FF2B5EF4-FFF2-40B4-BE49-F238E27FC236}">
                <a16:creationId xmlns:a16="http://schemas.microsoft.com/office/drawing/2014/main" id="{80122BC1-8697-7B1D-2697-5FDB859A98A8}"/>
              </a:ext>
            </a:extLst>
          </p:cNvPr>
          <p:cNvSpPr/>
          <p:nvPr/>
        </p:nvSpPr>
        <p:spPr>
          <a:xfrm>
            <a:off x="8251634" y="3429000"/>
            <a:ext cx="236258" cy="41996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Z"/>
          </a:p>
        </p:txBody>
      </p:sp>
      <mc:AlternateContent xmlns:mc="http://schemas.openxmlformats.org/markup-compatibility/2006" xmlns:a14="http://schemas.microsoft.com/office/drawing/2010/main">
        <mc:Choice Requires="a14">
          <p:sp>
            <p:nvSpPr>
              <p:cNvPr id="27" name="Text Placeholder 5">
                <a:extLst>
                  <a:ext uri="{FF2B5EF4-FFF2-40B4-BE49-F238E27FC236}">
                    <a16:creationId xmlns:a16="http://schemas.microsoft.com/office/drawing/2014/main" id="{F2AC00F5-0A41-35AF-42B5-5F5E1F49EC1B}"/>
                  </a:ext>
                </a:extLst>
              </p:cNvPr>
              <p:cNvSpPr txBox="1">
                <a:spLocks/>
              </p:cNvSpPr>
              <p:nvPr/>
            </p:nvSpPr>
            <p:spPr>
              <a:xfrm>
                <a:off x="4913522" y="4253166"/>
                <a:ext cx="6830946" cy="122475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600" dirty="0">
                    <a:solidFill>
                      <a:prstClr val="black"/>
                    </a:solidFill>
                  </a:rPr>
                  <a:t>The angle </a:t>
                </a:r>
                <a14:m>
                  <m:oMath xmlns:m="http://schemas.openxmlformats.org/officeDocument/2006/math">
                    <m:r>
                      <a:rPr lang="en-NZ" altLang="ja-JP" sz="1600" b="1" i="1" smtClean="0">
                        <a:solidFill>
                          <a:prstClr val="black"/>
                        </a:solidFill>
                        <a:latin typeface="Cambria Math" panose="02040503050406030204" pitchFamily="18" charset="0"/>
                      </a:rPr>
                      <m:t>𝜽</m:t>
                    </m:r>
                  </m:oMath>
                </a14:m>
                <a:r>
                  <a:rPr lang="en-NZ" altLang="ja-JP" sz="1600" dirty="0">
                    <a:solidFill>
                      <a:prstClr val="black"/>
                    </a:solidFill>
                  </a:rPr>
                  <a:t> between two vectors </a:t>
                </a:r>
                <a14:m>
                  <m:oMath xmlns:m="http://schemas.openxmlformats.org/officeDocument/2006/math">
                    <m:r>
                      <a:rPr lang="en-NZ" altLang="ja-JP" sz="1600" b="1" i="1" smtClean="0">
                        <a:solidFill>
                          <a:prstClr val="black"/>
                        </a:solidFill>
                        <a:latin typeface="Cambria Math" panose="02040503050406030204" pitchFamily="18" charset="0"/>
                      </a:rPr>
                      <m:t>𝒙</m:t>
                    </m:r>
                  </m:oMath>
                </a14:m>
                <a:r>
                  <a:rPr lang="en-NZ" altLang="ja-JP" sz="1400" b="1" dirty="0">
                    <a:solidFill>
                      <a:prstClr val="black"/>
                    </a:solidFill>
                  </a:rPr>
                  <a:t> </a:t>
                </a:r>
                <a:r>
                  <a:rPr lang="en-NZ" altLang="ja-JP" sz="1400" dirty="0">
                    <a:solidFill>
                      <a:prstClr val="black"/>
                    </a:solidFill>
                  </a:rPr>
                  <a:t>and </a:t>
                </a:r>
                <a14:m>
                  <m:oMath xmlns:m="http://schemas.openxmlformats.org/officeDocument/2006/math">
                    <m:r>
                      <a:rPr lang="en-NZ" altLang="ja-JP" sz="1400" b="1" i="1" smtClean="0">
                        <a:solidFill>
                          <a:prstClr val="black"/>
                        </a:solidFill>
                        <a:latin typeface="Cambria Math" panose="02040503050406030204" pitchFamily="18" charset="0"/>
                      </a:rPr>
                      <m:t>𝒚</m:t>
                    </m:r>
                  </m:oMath>
                </a14:m>
                <a:r>
                  <a:rPr lang="en-NZ" altLang="ja-JP" sz="1400" dirty="0">
                    <a:solidFill>
                      <a:prstClr val="black"/>
                    </a:solidFill>
                  </a:rPr>
                  <a:t> is given by…</a:t>
                </a:r>
              </a:p>
              <a:p>
                <a:pPr lvl="0">
                  <a:lnSpc>
                    <a:spcPct val="100000"/>
                  </a:lnSpc>
                  <a:defRPr/>
                </a:pPr>
                <a:endParaRPr lang="en-NZ" altLang="ja-JP" sz="200" dirty="0">
                  <a:solidFill>
                    <a:prstClr val="black"/>
                  </a:solidFill>
                </a:endParaRPr>
              </a:p>
              <a:p>
                <a:pPr lvl="0">
                  <a:lnSpc>
                    <a:spcPct val="100000"/>
                  </a:lnSpc>
                  <a:defRPr/>
                </a:pPr>
                <a:endParaRPr lang="en-NZ" altLang="ja-JP" sz="200" dirty="0">
                  <a:solidFill>
                    <a:prstClr val="black"/>
                  </a:solidFill>
                </a:endParaRPr>
              </a:p>
              <a:p>
                <a:pPr lvl="0">
                  <a:lnSpc>
                    <a:spcPct val="100000"/>
                  </a:lnSpc>
                  <a:defRPr/>
                </a:pPr>
                <a14:m>
                  <m:oMathPara xmlns:m="http://schemas.openxmlformats.org/officeDocument/2006/math">
                    <m:oMathParaPr>
                      <m:jc m:val="centerGroup"/>
                    </m:oMathParaPr>
                    <m:oMath xmlns:m="http://schemas.openxmlformats.org/officeDocument/2006/math">
                      <m:r>
                        <a:rPr lang="en-NZ" altLang="ja-JP" sz="1400" b="1" i="1" smtClean="0">
                          <a:solidFill>
                            <a:prstClr val="black"/>
                          </a:solidFill>
                          <a:latin typeface="Cambria Math" panose="02040503050406030204" pitchFamily="18" charset="0"/>
                        </a:rPr>
                        <m:t>𝜽</m:t>
                      </m:r>
                      <m:r>
                        <a:rPr lang="en-NZ" altLang="ja-JP" sz="1400" b="1" i="1" smtClean="0">
                          <a:solidFill>
                            <a:prstClr val="black"/>
                          </a:solidFill>
                          <a:latin typeface="Cambria Math" panose="02040503050406030204" pitchFamily="18" charset="0"/>
                        </a:rPr>
                        <m:t>=</m:t>
                      </m:r>
                      <m:func>
                        <m:funcPr>
                          <m:ctrlPr>
                            <a:rPr lang="en-NZ" altLang="ja-JP" sz="1400" b="1" i="1" smtClean="0">
                              <a:solidFill>
                                <a:prstClr val="black"/>
                              </a:solidFill>
                              <a:latin typeface="Cambria Math" panose="02040503050406030204" pitchFamily="18" charset="0"/>
                            </a:rPr>
                          </m:ctrlPr>
                        </m:funcPr>
                        <m:fName>
                          <m:sSup>
                            <m:sSupPr>
                              <m:ctrlPr>
                                <a:rPr lang="en-NZ" altLang="ja-JP" sz="1400" b="1" i="1" smtClean="0">
                                  <a:solidFill>
                                    <a:prstClr val="black"/>
                                  </a:solidFill>
                                  <a:latin typeface="Cambria Math" panose="02040503050406030204" pitchFamily="18" charset="0"/>
                                </a:rPr>
                              </m:ctrlPr>
                            </m:sSupPr>
                            <m:e>
                              <m:r>
                                <a:rPr lang="en-NZ" altLang="ja-JP" sz="1400" b="1" i="0" smtClean="0">
                                  <a:solidFill>
                                    <a:prstClr val="black"/>
                                  </a:solidFill>
                                  <a:latin typeface="Cambria Math" panose="02040503050406030204" pitchFamily="18" charset="0"/>
                                </a:rPr>
                                <m:t>𝐜𝐨𝐬</m:t>
                              </m:r>
                            </m:e>
                            <m:sup>
                              <m:r>
                                <a:rPr lang="en-NZ" altLang="ja-JP" sz="1400" b="1" i="1" smtClean="0">
                                  <a:solidFill>
                                    <a:prstClr val="black"/>
                                  </a:solidFill>
                                  <a:latin typeface="Cambria Math" panose="02040503050406030204" pitchFamily="18" charset="0"/>
                                </a:rPr>
                                <m:t>−</m:t>
                              </m:r>
                              <m:r>
                                <a:rPr lang="en-NZ" altLang="ja-JP" sz="1400" b="1" i="1" smtClean="0">
                                  <a:solidFill>
                                    <a:prstClr val="black"/>
                                  </a:solidFill>
                                  <a:latin typeface="Cambria Math" panose="02040503050406030204" pitchFamily="18" charset="0"/>
                                </a:rPr>
                                <m:t>𝟏</m:t>
                              </m:r>
                            </m:sup>
                          </m:sSup>
                        </m:fName>
                        <m:e>
                          <m:d>
                            <m:dPr>
                              <m:ctrlPr>
                                <a:rPr lang="en-NZ" altLang="ja-JP" sz="1400" b="1" i="1" smtClean="0">
                                  <a:solidFill>
                                    <a:prstClr val="black"/>
                                  </a:solidFill>
                                  <a:latin typeface="Cambria Math" panose="02040503050406030204" pitchFamily="18" charset="0"/>
                                </a:rPr>
                              </m:ctrlPr>
                            </m:dPr>
                            <m:e>
                              <m:f>
                                <m:fPr>
                                  <m:ctrlPr>
                                    <a:rPr lang="en-NZ" altLang="ja-JP" sz="1400" b="1" i="1" smtClean="0">
                                      <a:solidFill>
                                        <a:prstClr val="black"/>
                                      </a:solidFill>
                                      <a:latin typeface="Cambria Math" panose="02040503050406030204" pitchFamily="18" charset="0"/>
                                    </a:rPr>
                                  </m:ctrlPr>
                                </m:fPr>
                                <m:num>
                                  <m:sSup>
                                    <m:sSupPr>
                                      <m:ctrlPr>
                                        <a:rPr lang="en-NZ" altLang="ja-JP" sz="1400" b="1" i="1" smtClean="0">
                                          <a:solidFill>
                                            <a:prstClr val="black"/>
                                          </a:solidFill>
                                          <a:latin typeface="Cambria Math" panose="02040503050406030204" pitchFamily="18" charset="0"/>
                                        </a:rPr>
                                      </m:ctrlPr>
                                    </m:sSupPr>
                                    <m:e>
                                      <m:r>
                                        <a:rPr lang="en-NZ" altLang="ja-JP" sz="1400" b="1" i="1" smtClean="0">
                                          <a:solidFill>
                                            <a:prstClr val="black"/>
                                          </a:solidFill>
                                          <a:latin typeface="Cambria Math" panose="02040503050406030204" pitchFamily="18" charset="0"/>
                                        </a:rPr>
                                        <m:t>𝒙</m:t>
                                      </m:r>
                                    </m:e>
                                    <m:sup>
                                      <m:r>
                                        <a:rPr lang="en-NZ" altLang="ja-JP" sz="1400" b="1" i="1" smtClean="0">
                                          <a:solidFill>
                                            <a:prstClr val="black"/>
                                          </a:solidFill>
                                          <a:latin typeface="Cambria Math" panose="02040503050406030204" pitchFamily="18" charset="0"/>
                                        </a:rPr>
                                        <m:t>𝑻</m:t>
                                      </m:r>
                                    </m:sup>
                                  </m:sSup>
                                  <m:r>
                                    <a:rPr lang="en-NZ" altLang="ja-JP" sz="1400" b="1" i="1" smtClean="0">
                                      <a:solidFill>
                                        <a:prstClr val="black"/>
                                      </a:solidFill>
                                      <a:latin typeface="Cambria Math" panose="02040503050406030204" pitchFamily="18" charset="0"/>
                                    </a:rPr>
                                    <m:t> </m:t>
                                  </m:r>
                                  <m:r>
                                    <a:rPr lang="en-NZ" altLang="ja-JP" sz="1400" b="1" i="1" smtClean="0">
                                      <a:solidFill>
                                        <a:prstClr val="black"/>
                                      </a:solidFill>
                                      <a:latin typeface="Cambria Math" panose="02040503050406030204" pitchFamily="18" charset="0"/>
                                    </a:rPr>
                                    <m:t>𝒚</m:t>
                                  </m:r>
                                </m:num>
                                <m:den>
                                  <m:d>
                                    <m:dPr>
                                      <m:begChr m:val="|"/>
                                      <m:endChr m:val="|"/>
                                      <m:ctrlPr>
                                        <a:rPr lang="en-NZ" altLang="ja-JP" sz="1400" b="1" i="1" smtClean="0">
                                          <a:solidFill>
                                            <a:prstClr val="black"/>
                                          </a:solidFill>
                                          <a:latin typeface="Cambria Math" panose="02040503050406030204" pitchFamily="18" charset="0"/>
                                        </a:rPr>
                                      </m:ctrlPr>
                                    </m:dPr>
                                    <m:e>
                                      <m:r>
                                        <a:rPr lang="en-NZ" altLang="ja-JP" sz="1400" b="1" i="1" smtClean="0">
                                          <a:solidFill>
                                            <a:prstClr val="black"/>
                                          </a:solidFill>
                                          <a:latin typeface="Cambria Math" panose="02040503050406030204" pitchFamily="18" charset="0"/>
                                        </a:rPr>
                                        <m:t>𝒙</m:t>
                                      </m:r>
                                    </m:e>
                                  </m:d>
                                  <m:r>
                                    <a:rPr lang="en-NZ" altLang="ja-JP" sz="1400" b="1" i="1" smtClean="0">
                                      <a:solidFill>
                                        <a:prstClr val="black"/>
                                      </a:solidFill>
                                      <a:latin typeface="Cambria Math" panose="02040503050406030204" pitchFamily="18" charset="0"/>
                                    </a:rPr>
                                    <m:t> |</m:t>
                                  </m:r>
                                  <m:r>
                                    <a:rPr lang="en-NZ" altLang="ja-JP" sz="1400" b="1" i="1" smtClean="0">
                                      <a:solidFill>
                                        <a:prstClr val="black"/>
                                      </a:solidFill>
                                      <a:latin typeface="Cambria Math" panose="02040503050406030204" pitchFamily="18" charset="0"/>
                                    </a:rPr>
                                    <m:t>𝒚</m:t>
                                  </m:r>
                                  <m:r>
                                    <a:rPr lang="en-NZ" altLang="ja-JP" sz="1400" b="1" i="1" smtClean="0">
                                      <a:solidFill>
                                        <a:prstClr val="black"/>
                                      </a:solidFill>
                                      <a:latin typeface="Cambria Math" panose="02040503050406030204" pitchFamily="18" charset="0"/>
                                    </a:rPr>
                                    <m:t>|</m:t>
                                  </m:r>
                                </m:den>
                              </m:f>
                            </m:e>
                          </m:d>
                        </m:e>
                      </m:func>
                    </m:oMath>
                  </m:oMathPara>
                </a14:m>
                <a:endParaRPr lang="en-NZ" altLang="ja-JP" sz="1400" b="1" dirty="0">
                  <a:solidFill>
                    <a:prstClr val="black"/>
                  </a:solidFill>
                </a:endParaRPr>
              </a:p>
              <a:p>
                <a:pPr lvl="0">
                  <a:lnSpc>
                    <a:spcPct val="100000"/>
                  </a:lnSpc>
                  <a:defRPr/>
                </a:pPr>
                <a:r>
                  <a:rPr lang="en-NZ" altLang="ja-JP" sz="1400" dirty="0">
                    <a:solidFill>
                      <a:prstClr val="black"/>
                    </a:solidFill>
                  </a:rPr>
                  <a:t>… such that if </a:t>
                </a:r>
                <a14:m>
                  <m:oMath xmlns:m="http://schemas.openxmlformats.org/officeDocument/2006/math">
                    <m:sSup>
                      <m:sSupPr>
                        <m:ctrlPr>
                          <a:rPr lang="en-NZ" altLang="ja-JP" sz="1400" b="1" i="1" smtClean="0">
                            <a:solidFill>
                              <a:prstClr val="black"/>
                            </a:solidFill>
                            <a:latin typeface="Cambria Math" panose="02040503050406030204" pitchFamily="18" charset="0"/>
                          </a:rPr>
                        </m:ctrlPr>
                      </m:sSupPr>
                      <m:e>
                        <m:r>
                          <a:rPr lang="en-NZ" altLang="ja-JP" sz="1400" b="1" i="1" smtClean="0">
                            <a:solidFill>
                              <a:prstClr val="black"/>
                            </a:solidFill>
                            <a:latin typeface="Cambria Math" panose="02040503050406030204" pitchFamily="18" charset="0"/>
                          </a:rPr>
                          <m:t>𝒙</m:t>
                        </m:r>
                      </m:e>
                      <m:sup>
                        <m:r>
                          <a:rPr lang="en-NZ" altLang="ja-JP" sz="1400" b="1" i="1" smtClean="0">
                            <a:solidFill>
                              <a:prstClr val="black"/>
                            </a:solidFill>
                            <a:latin typeface="Cambria Math" panose="02040503050406030204" pitchFamily="18" charset="0"/>
                          </a:rPr>
                          <m:t>𝑻</m:t>
                        </m:r>
                      </m:sup>
                    </m:sSup>
                    <m:r>
                      <a:rPr lang="en-NZ" altLang="ja-JP" sz="1400" b="0" i="1" smtClean="0">
                        <a:solidFill>
                          <a:prstClr val="black"/>
                        </a:solidFill>
                        <a:latin typeface="Cambria Math" panose="02040503050406030204" pitchFamily="18" charset="0"/>
                      </a:rPr>
                      <m:t> </m:t>
                    </m:r>
                    <m:r>
                      <a:rPr lang="en-NZ" altLang="ja-JP" sz="1400" b="1" i="1" smtClean="0">
                        <a:solidFill>
                          <a:prstClr val="black"/>
                        </a:solidFill>
                        <a:latin typeface="Cambria Math" panose="02040503050406030204" pitchFamily="18" charset="0"/>
                      </a:rPr>
                      <m:t>𝒚</m:t>
                    </m:r>
                    <m:r>
                      <a:rPr lang="en-NZ" altLang="ja-JP" sz="1400" b="1" i="1" smtClean="0">
                        <a:solidFill>
                          <a:prstClr val="black"/>
                        </a:solidFill>
                        <a:latin typeface="Cambria Math" panose="02040503050406030204" pitchFamily="18" charset="0"/>
                      </a:rPr>
                      <m:t>=</m:t>
                    </m:r>
                    <m:r>
                      <a:rPr lang="en-NZ" altLang="ja-JP" sz="1400" b="1" i="1" smtClean="0">
                        <a:solidFill>
                          <a:prstClr val="black"/>
                        </a:solidFill>
                        <a:latin typeface="Cambria Math" panose="02040503050406030204" pitchFamily="18" charset="0"/>
                      </a:rPr>
                      <m:t>𝟎</m:t>
                    </m:r>
                  </m:oMath>
                </a14:m>
                <a:r>
                  <a:rPr lang="en-NZ" altLang="ja-JP" sz="1400" dirty="0">
                    <a:solidFill>
                      <a:prstClr val="black"/>
                    </a:solidFill>
                  </a:rPr>
                  <a:t> (i.e. the product of two vectors is zero) then </a:t>
                </a:r>
                <a14:m>
                  <m:oMath xmlns:m="http://schemas.openxmlformats.org/officeDocument/2006/math">
                    <m:r>
                      <a:rPr lang="en-NZ" altLang="ja-JP" sz="1400" b="1" i="1">
                        <a:solidFill>
                          <a:prstClr val="black"/>
                        </a:solidFill>
                        <a:latin typeface="Cambria Math" panose="02040503050406030204" pitchFamily="18" charset="0"/>
                      </a:rPr>
                      <m:t>𝜽</m:t>
                    </m:r>
                    <m:r>
                      <a:rPr lang="en-NZ" altLang="ja-JP" sz="1400" b="1" i="1">
                        <a:solidFill>
                          <a:prstClr val="black"/>
                        </a:solidFill>
                        <a:latin typeface="Cambria Math" panose="02040503050406030204" pitchFamily="18" charset="0"/>
                      </a:rPr>
                      <m:t>=</m:t>
                    </m:r>
                    <m:func>
                      <m:funcPr>
                        <m:ctrlPr>
                          <a:rPr lang="en-NZ" altLang="ja-JP" sz="1400" b="1" i="1">
                            <a:solidFill>
                              <a:prstClr val="black"/>
                            </a:solidFill>
                            <a:latin typeface="Cambria Math" panose="02040503050406030204" pitchFamily="18" charset="0"/>
                          </a:rPr>
                        </m:ctrlPr>
                      </m:funcPr>
                      <m:fName>
                        <m:sSup>
                          <m:sSupPr>
                            <m:ctrlPr>
                              <a:rPr lang="en-NZ" altLang="ja-JP" sz="1400" b="1" i="1">
                                <a:solidFill>
                                  <a:prstClr val="black"/>
                                </a:solidFill>
                                <a:latin typeface="Cambria Math" panose="02040503050406030204" pitchFamily="18" charset="0"/>
                              </a:rPr>
                            </m:ctrlPr>
                          </m:sSupPr>
                          <m:e>
                            <m:r>
                              <a:rPr lang="en-NZ" altLang="ja-JP" sz="1400" b="1" i="1">
                                <a:solidFill>
                                  <a:prstClr val="black"/>
                                </a:solidFill>
                                <a:latin typeface="Cambria Math" panose="02040503050406030204" pitchFamily="18" charset="0"/>
                              </a:rPr>
                              <m:t>𝒄𝒐𝒔</m:t>
                            </m:r>
                          </m:e>
                          <m:sup>
                            <m: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𝟏</m:t>
                            </m:r>
                          </m:sup>
                        </m:sSup>
                      </m:fName>
                      <m:e>
                        <m:d>
                          <m:dPr>
                            <m:ctrlPr>
                              <a:rPr lang="en-NZ" altLang="ja-JP" sz="1400" b="1" i="1">
                                <a:solidFill>
                                  <a:prstClr val="black"/>
                                </a:solidFill>
                                <a:latin typeface="Cambria Math" panose="02040503050406030204" pitchFamily="18" charset="0"/>
                              </a:rPr>
                            </m:ctrlPr>
                          </m:dPr>
                          <m:e>
                            <m:r>
                              <a:rPr lang="en-NZ" altLang="ja-JP" sz="1400" b="1" i="1" smtClean="0">
                                <a:solidFill>
                                  <a:prstClr val="black"/>
                                </a:solidFill>
                                <a:latin typeface="Cambria Math" panose="02040503050406030204" pitchFamily="18" charset="0"/>
                              </a:rPr>
                              <m:t>𝟎</m:t>
                            </m:r>
                          </m:e>
                        </m:d>
                        <m:r>
                          <a:rPr lang="en-NZ" altLang="ja-JP" sz="1400" b="1" i="1" smtClean="0">
                            <a:solidFill>
                              <a:prstClr val="black"/>
                            </a:solidFill>
                            <a:latin typeface="Cambria Math" panose="02040503050406030204" pitchFamily="18" charset="0"/>
                          </a:rPr>
                          <m:t>=</m:t>
                        </m:r>
                        <m:sSup>
                          <m:sSupPr>
                            <m:ctrlPr>
                              <a:rPr lang="en-NZ" altLang="ja-JP" sz="1400" b="1" i="1" smtClean="0">
                                <a:solidFill>
                                  <a:prstClr val="black"/>
                                </a:solidFill>
                                <a:latin typeface="Cambria Math" panose="02040503050406030204" pitchFamily="18" charset="0"/>
                              </a:rPr>
                            </m:ctrlPr>
                          </m:sSupPr>
                          <m:e>
                            <m:r>
                              <a:rPr lang="en-NZ" altLang="ja-JP" sz="1400" b="1" i="1" smtClean="0">
                                <a:solidFill>
                                  <a:prstClr val="black"/>
                                </a:solidFill>
                                <a:latin typeface="Cambria Math" panose="02040503050406030204" pitchFamily="18" charset="0"/>
                              </a:rPr>
                              <m:t>𝟗𝟎</m:t>
                            </m:r>
                          </m:e>
                          <m:sup>
                            <m:r>
                              <a:rPr lang="en-NZ" altLang="ja-JP" sz="1400" b="1" i="1" smtClean="0">
                                <a:solidFill>
                                  <a:prstClr val="black"/>
                                </a:solidFill>
                                <a:latin typeface="Cambria Math" panose="02040503050406030204" pitchFamily="18" charset="0"/>
                              </a:rPr>
                              <m:t>𝒐</m:t>
                            </m:r>
                          </m:sup>
                        </m:sSup>
                      </m:e>
                    </m:func>
                  </m:oMath>
                </a14:m>
                <a:r>
                  <a:rPr lang="en-NZ" altLang="ja-JP" sz="1400" dirty="0">
                    <a:solidFill>
                      <a:prstClr val="black"/>
                    </a:solidFill>
                  </a:rPr>
                  <a:t> and the vectors are orthogonal.  </a:t>
                </a:r>
              </a:p>
            </p:txBody>
          </p:sp>
        </mc:Choice>
        <mc:Fallback xmlns="">
          <p:sp>
            <p:nvSpPr>
              <p:cNvPr id="27" name="Text Placeholder 5">
                <a:extLst>
                  <a:ext uri="{FF2B5EF4-FFF2-40B4-BE49-F238E27FC236}">
                    <a16:creationId xmlns:a16="http://schemas.microsoft.com/office/drawing/2014/main" id="{F2AC00F5-0A41-35AF-42B5-5F5E1F49EC1B}"/>
                  </a:ext>
                </a:extLst>
              </p:cNvPr>
              <p:cNvSpPr txBox="1">
                <a:spLocks noRot="1" noChangeAspect="1" noMove="1" noResize="1" noEditPoints="1" noAdjustHandles="1" noChangeArrowheads="1" noChangeShapeType="1" noTextEdit="1"/>
              </p:cNvSpPr>
              <p:nvPr/>
            </p:nvSpPr>
            <p:spPr>
              <a:xfrm>
                <a:off x="4913522" y="4253166"/>
                <a:ext cx="6830946" cy="1224750"/>
              </a:xfrm>
              <a:prstGeom prst="rect">
                <a:avLst/>
              </a:prstGeom>
              <a:blipFill>
                <a:blip r:embed="rId5"/>
                <a:stretch>
                  <a:fillRect l="-446" t="-1493" b="-12438"/>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9" name="Text Placeholder 5">
                <a:extLst>
                  <a:ext uri="{FF2B5EF4-FFF2-40B4-BE49-F238E27FC236}">
                    <a16:creationId xmlns:a16="http://schemas.microsoft.com/office/drawing/2014/main" id="{9E6911C2-E208-90EA-E252-64E9CA52DA97}"/>
                  </a:ext>
                </a:extLst>
              </p:cNvPr>
              <p:cNvSpPr txBox="1">
                <a:spLocks/>
              </p:cNvSpPr>
              <p:nvPr/>
            </p:nvSpPr>
            <p:spPr>
              <a:xfrm>
                <a:off x="4954290" y="5750288"/>
                <a:ext cx="6830946" cy="52877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600" dirty="0">
                    <a:solidFill>
                      <a:prstClr val="black"/>
                    </a:solidFill>
                  </a:rPr>
                  <a:t>It is easy to show that the vectors in the standard coordinate system </a:t>
                </a:r>
                <a14:m>
                  <m:oMath xmlns:m="http://schemas.openxmlformats.org/officeDocument/2006/math">
                    <m:r>
                      <a:rPr lang="en-NZ" altLang="ja-JP" sz="1600" b="1" i="0" smtClean="0">
                        <a:solidFill>
                          <a:prstClr val="black"/>
                        </a:solidFill>
                        <a:latin typeface="Cambria Math" panose="02040503050406030204" pitchFamily="18" charset="0"/>
                      </a:rPr>
                      <m:t>𝚪</m:t>
                    </m:r>
                  </m:oMath>
                </a14:m>
                <a:r>
                  <a:rPr lang="en-NZ" altLang="ja-JP" sz="1600" dirty="0">
                    <a:solidFill>
                      <a:prstClr val="black"/>
                    </a:solidFill>
                  </a:rPr>
                  <a:t> are orthonormal.</a:t>
                </a:r>
              </a:p>
            </p:txBody>
          </p:sp>
        </mc:Choice>
        <mc:Fallback xmlns="">
          <p:sp>
            <p:nvSpPr>
              <p:cNvPr id="29" name="Text Placeholder 5">
                <a:extLst>
                  <a:ext uri="{FF2B5EF4-FFF2-40B4-BE49-F238E27FC236}">
                    <a16:creationId xmlns:a16="http://schemas.microsoft.com/office/drawing/2014/main" id="{9E6911C2-E208-90EA-E252-64E9CA52DA97}"/>
                  </a:ext>
                </a:extLst>
              </p:cNvPr>
              <p:cNvSpPr txBox="1">
                <a:spLocks noRot="1" noChangeAspect="1" noMove="1" noResize="1" noEditPoints="1" noAdjustHandles="1" noChangeArrowheads="1" noChangeShapeType="1" noTextEdit="1"/>
              </p:cNvSpPr>
              <p:nvPr/>
            </p:nvSpPr>
            <p:spPr>
              <a:xfrm>
                <a:off x="4954290" y="5750288"/>
                <a:ext cx="6830946" cy="528772"/>
              </a:xfrm>
              <a:prstGeom prst="rect">
                <a:avLst/>
              </a:prstGeom>
              <a:blipFill>
                <a:blip r:embed="rId6"/>
                <a:stretch>
                  <a:fillRect l="-536" t="-3448" b="-24138"/>
                </a:stretch>
              </a:blipFill>
            </p:spPr>
            <p:txBody>
              <a:bodyPr/>
              <a:lstStyle/>
              <a:p>
                <a:r>
                  <a:rPr lang="en-NZ">
                    <a:noFill/>
                  </a:rPr>
                  <a:t> </a:t>
                </a:r>
              </a:p>
            </p:txBody>
          </p:sp>
        </mc:Fallback>
      </mc:AlternateContent>
    </p:spTree>
    <p:extLst>
      <p:ext uri="{BB962C8B-B14F-4D97-AF65-F5344CB8AC3E}">
        <p14:creationId xmlns:p14="http://schemas.microsoft.com/office/powerpoint/2010/main" val="3214537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4" grpId="0"/>
      <p:bldP spid="25" grpId="0" animBg="1"/>
      <p:bldP spid="27" grpId="0"/>
      <p:bldP spid="2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D4975A2-F7B4-AFE6-CB43-ED90E4C4DA04}"/>
              </a:ext>
            </a:extLst>
          </p:cNvPr>
          <p:cNvPicPr>
            <a:picLocks noChangeAspect="1"/>
          </p:cNvPicPr>
          <p:nvPr/>
        </p:nvPicPr>
        <p:blipFill>
          <a:blip r:embed="rId2"/>
          <a:stretch>
            <a:fillRect/>
          </a:stretch>
        </p:blipFill>
        <p:spPr>
          <a:xfrm>
            <a:off x="3645653" y="2181683"/>
            <a:ext cx="4900695" cy="4150349"/>
          </a:xfrm>
          <a:prstGeom prst="rect">
            <a:avLst/>
          </a:prstGeom>
        </p:spPr>
      </p:pic>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Question 2</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The Idea of Principal Component Analysis</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mc:AlternateContent xmlns:mc="http://schemas.openxmlformats.org/markup-compatibility/2006" xmlns:a14="http://schemas.microsoft.com/office/drawing/2010/main">
        <mc:Choice Requires="a14">
          <p:sp>
            <p:nvSpPr>
              <p:cNvPr id="9" name="Text Placeholder 5">
                <a:extLst>
                  <a:ext uri="{FF2B5EF4-FFF2-40B4-BE49-F238E27FC236}">
                    <a16:creationId xmlns:a16="http://schemas.microsoft.com/office/drawing/2014/main" id="{498B7821-D78D-713F-1426-B800E2622D82}"/>
                  </a:ext>
                </a:extLst>
              </p:cNvPr>
              <p:cNvSpPr txBox="1">
                <a:spLocks/>
              </p:cNvSpPr>
              <p:nvPr/>
            </p:nvSpPr>
            <p:spPr>
              <a:xfrm>
                <a:off x="319463" y="964576"/>
                <a:ext cx="11708764" cy="91930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600" dirty="0">
                    <a:solidFill>
                      <a:prstClr val="black"/>
                    </a:solidFill>
                  </a:rPr>
                  <a:t>Suppose that we have some n-dimensional data. The basic idea behind principal component analysis is as follows…</a:t>
                </a:r>
              </a:p>
              <a:p>
                <a:pPr lvl="0" algn="ctr">
                  <a:lnSpc>
                    <a:spcPct val="100000"/>
                  </a:lnSpc>
                  <a:defRPr/>
                </a:pPr>
                <a:r>
                  <a:rPr lang="en-NZ" altLang="ja-JP" sz="1600" dirty="0">
                    <a:solidFill>
                      <a:srgbClr val="C00000"/>
                    </a:solidFill>
                  </a:rPr>
                  <a:t>Instead of representing the data in the standard coordinate system </a:t>
                </a:r>
                <a14:m>
                  <m:oMath xmlns:m="http://schemas.openxmlformats.org/officeDocument/2006/math">
                    <m:r>
                      <m:rPr>
                        <m:sty m:val="p"/>
                      </m:rPr>
                      <a:rPr lang="en-NZ" altLang="ja-JP" sz="1600" b="0" i="0" smtClean="0">
                        <a:solidFill>
                          <a:srgbClr val="C00000"/>
                        </a:solidFill>
                        <a:latin typeface="Cambria Math" panose="02040503050406030204" pitchFamily="18" charset="0"/>
                      </a:rPr>
                      <m:t>Γ</m:t>
                    </m:r>
                  </m:oMath>
                </a14:m>
                <a:endParaRPr lang="en-NZ" altLang="ja-JP" sz="1600" dirty="0">
                  <a:solidFill>
                    <a:srgbClr val="C00000"/>
                  </a:solidFill>
                </a:endParaRPr>
              </a:p>
              <a:p>
                <a:pPr algn="ctr">
                  <a:lnSpc>
                    <a:spcPct val="100000"/>
                  </a:lnSpc>
                  <a:defRPr/>
                </a:pPr>
                <a:r>
                  <a:rPr lang="en-NZ" altLang="ja-JP" sz="1600" dirty="0">
                    <a:solidFill>
                      <a:srgbClr val="C00000"/>
                    </a:solidFill>
                  </a:rPr>
                  <a:t>why not represent it in the coordinate system that ‘best fits’ the data </a:t>
                </a:r>
                <a14:m>
                  <m:oMath xmlns:m="http://schemas.openxmlformats.org/officeDocument/2006/math">
                    <m:r>
                      <m:rPr>
                        <m:sty m:val="p"/>
                      </m:rPr>
                      <a:rPr lang="en-NZ" altLang="ja-JP" sz="1600">
                        <a:solidFill>
                          <a:srgbClr val="C00000"/>
                        </a:solidFill>
                        <a:latin typeface="Cambria Math" panose="02040503050406030204" pitchFamily="18" charset="0"/>
                      </a:rPr>
                      <m:t>Γ</m:t>
                    </m:r>
                    <m:r>
                      <a:rPr lang="en-NZ" altLang="ja-JP" sz="1600" b="0" i="0" smtClean="0">
                        <a:solidFill>
                          <a:srgbClr val="C00000"/>
                        </a:solidFill>
                        <a:latin typeface="Cambria Math" panose="02040503050406030204" pitchFamily="18" charset="0"/>
                      </a:rPr>
                      <m:t>′</m:t>
                    </m:r>
                  </m:oMath>
                </a14:m>
                <a:r>
                  <a:rPr lang="en-NZ" altLang="ja-JP" sz="1600" dirty="0">
                    <a:solidFill>
                      <a:srgbClr val="C00000"/>
                    </a:solidFill>
                  </a:rPr>
                  <a:t> ?</a:t>
                </a:r>
              </a:p>
            </p:txBody>
          </p:sp>
        </mc:Choice>
        <mc:Fallback xmlns="">
          <p:sp>
            <p:nvSpPr>
              <p:cNvPr id="9" name="Text Placeholder 5">
                <a:extLst>
                  <a:ext uri="{FF2B5EF4-FFF2-40B4-BE49-F238E27FC236}">
                    <a16:creationId xmlns:a16="http://schemas.microsoft.com/office/drawing/2014/main" id="{498B7821-D78D-713F-1426-B800E2622D82}"/>
                  </a:ext>
                </a:extLst>
              </p:cNvPr>
              <p:cNvSpPr txBox="1">
                <a:spLocks noRot="1" noChangeAspect="1" noMove="1" noResize="1" noEditPoints="1" noAdjustHandles="1" noChangeArrowheads="1" noChangeShapeType="1" noTextEdit="1"/>
              </p:cNvSpPr>
              <p:nvPr/>
            </p:nvSpPr>
            <p:spPr>
              <a:xfrm>
                <a:off x="319463" y="964576"/>
                <a:ext cx="11708764" cy="919307"/>
              </a:xfrm>
              <a:prstGeom prst="rect">
                <a:avLst/>
              </a:prstGeom>
              <a:blipFill>
                <a:blip r:embed="rId4"/>
                <a:stretch>
                  <a:fillRect l="-260" t="-1987"/>
                </a:stretch>
              </a:blipFill>
            </p:spPr>
            <p:txBody>
              <a:bodyPr/>
              <a:lstStyle/>
              <a:p>
                <a:r>
                  <a:rPr lang="en-NZ">
                    <a:noFill/>
                  </a:rPr>
                  <a:t> </a:t>
                </a:r>
              </a:p>
            </p:txBody>
          </p:sp>
        </mc:Fallback>
      </mc:AlternateContent>
      <p:sp>
        <p:nvSpPr>
          <p:cNvPr id="7" name="Text Placeholder 5">
            <a:extLst>
              <a:ext uri="{FF2B5EF4-FFF2-40B4-BE49-F238E27FC236}">
                <a16:creationId xmlns:a16="http://schemas.microsoft.com/office/drawing/2014/main" id="{8CDF3E7B-B365-35E2-1B9A-68A794E70AF1}"/>
              </a:ext>
            </a:extLst>
          </p:cNvPr>
          <p:cNvSpPr txBox="1">
            <a:spLocks/>
          </p:cNvSpPr>
          <p:nvPr/>
        </p:nvSpPr>
        <p:spPr>
          <a:xfrm>
            <a:off x="4337879" y="1999120"/>
            <a:ext cx="3516242" cy="365126"/>
          </a:xfrm>
          <a:prstGeom prst="rect">
            <a:avLst/>
          </a:prstGeom>
          <a:no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1200" b="1" dirty="0">
                <a:solidFill>
                  <a:prstClr val="black"/>
                </a:solidFill>
              </a:rPr>
              <a:t>Illustration of Representing 3-Dimensional Data is the Coordinate System that Best Fits the data</a:t>
            </a:r>
          </a:p>
        </p:txBody>
      </p:sp>
    </p:spTree>
    <p:extLst>
      <p:ext uri="{BB962C8B-B14F-4D97-AF65-F5344CB8AC3E}">
        <p14:creationId xmlns:p14="http://schemas.microsoft.com/office/powerpoint/2010/main" val="27781807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39277F84-D67B-03CC-59C2-F4A408F86B9A}"/>
              </a:ext>
            </a:extLst>
          </p:cNvPr>
          <p:cNvPicPr>
            <a:picLocks noChangeAspect="1"/>
          </p:cNvPicPr>
          <p:nvPr/>
        </p:nvPicPr>
        <p:blipFill>
          <a:blip r:embed="rId2"/>
          <a:stretch>
            <a:fillRect/>
          </a:stretch>
        </p:blipFill>
        <p:spPr>
          <a:xfrm>
            <a:off x="319463" y="2433252"/>
            <a:ext cx="4094929" cy="3467954"/>
          </a:xfrm>
          <a:prstGeom prst="rect">
            <a:avLst/>
          </a:prstGeom>
        </p:spPr>
      </p:pic>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Question 2</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Principal Component Analysis Process</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mc:AlternateContent xmlns:mc="http://schemas.openxmlformats.org/markup-compatibility/2006" xmlns:a14="http://schemas.microsoft.com/office/drawing/2010/main">
        <mc:Choice Requires="a14">
          <p:sp>
            <p:nvSpPr>
              <p:cNvPr id="9" name="Text Placeholder 5">
                <a:extLst>
                  <a:ext uri="{FF2B5EF4-FFF2-40B4-BE49-F238E27FC236}">
                    <a16:creationId xmlns:a16="http://schemas.microsoft.com/office/drawing/2014/main" id="{498B7821-D78D-713F-1426-B800E2622D82}"/>
                  </a:ext>
                </a:extLst>
              </p:cNvPr>
              <p:cNvSpPr txBox="1">
                <a:spLocks/>
              </p:cNvSpPr>
              <p:nvPr/>
            </p:nvSpPr>
            <p:spPr>
              <a:xfrm>
                <a:off x="319463" y="964576"/>
                <a:ext cx="11708764"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 typeface="Arial" panose="020B0604020202020204" pitchFamily="34" charset="0"/>
                  <a:buChar char="•"/>
                  <a:defRPr/>
                </a:pPr>
                <a:r>
                  <a:rPr lang="en-NZ" altLang="ja-JP" sz="1600" dirty="0">
                    <a:solidFill>
                      <a:schemeClr val="tx1"/>
                    </a:solidFill>
                  </a:rPr>
                  <a:t>Typically the PCA process begins by normalising / standardising the data to have mean zero </a:t>
                </a:r>
                <a14:m>
                  <m:oMath xmlns:m="http://schemas.openxmlformats.org/officeDocument/2006/math">
                    <m:r>
                      <a:rPr lang="en-NZ" altLang="ja-JP" sz="1600" b="0"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𝝁</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𝟎</m:t>
                    </m:r>
                    <m:r>
                      <a:rPr lang="en-NZ" altLang="ja-JP" sz="1600" b="0" i="1" smtClean="0">
                        <a:solidFill>
                          <a:schemeClr val="tx1"/>
                        </a:solidFill>
                        <a:latin typeface="Cambria Math" panose="02040503050406030204" pitchFamily="18" charset="0"/>
                      </a:rPr>
                      <m:t>)</m:t>
                    </m:r>
                  </m:oMath>
                </a14:m>
                <a:r>
                  <a:rPr lang="en-NZ" altLang="ja-JP" sz="1600" dirty="0">
                    <a:solidFill>
                      <a:schemeClr val="tx1"/>
                    </a:solidFill>
                  </a:rPr>
                  <a:t> and variance one </a:t>
                </a:r>
                <a14:m>
                  <m:oMath xmlns:m="http://schemas.openxmlformats.org/officeDocument/2006/math">
                    <m:d>
                      <m:dPr>
                        <m:ctrlPr>
                          <a:rPr lang="en-NZ" altLang="ja-JP" sz="1600" b="0" i="1" smtClean="0">
                            <a:solidFill>
                              <a:schemeClr val="tx1"/>
                            </a:solidFill>
                            <a:latin typeface="Cambria Math" panose="02040503050406030204" pitchFamily="18" charset="0"/>
                          </a:rPr>
                        </m:ctrlPr>
                      </m:dPr>
                      <m:e>
                        <m:sSup>
                          <m:sSupPr>
                            <m:ctrlPr>
                              <a:rPr lang="en-NZ" altLang="ja-JP" sz="1600" b="1" i="1" smtClean="0">
                                <a:solidFill>
                                  <a:schemeClr val="tx1"/>
                                </a:solidFill>
                                <a:latin typeface="Cambria Math" panose="02040503050406030204" pitchFamily="18" charset="0"/>
                              </a:rPr>
                            </m:ctrlPr>
                          </m:sSupPr>
                          <m:e>
                            <m:r>
                              <a:rPr lang="en-NZ" altLang="ja-JP" sz="1600" b="1" i="1" smtClean="0">
                                <a:solidFill>
                                  <a:schemeClr val="tx1"/>
                                </a:solidFill>
                                <a:latin typeface="Cambria Math" panose="02040503050406030204" pitchFamily="18" charset="0"/>
                              </a:rPr>
                              <m:t>𝝈</m:t>
                            </m:r>
                          </m:e>
                          <m:sup>
                            <m:r>
                              <a:rPr lang="en-NZ" altLang="ja-JP" sz="1600" b="1" i="1" smtClean="0">
                                <a:solidFill>
                                  <a:schemeClr val="tx1"/>
                                </a:solidFill>
                                <a:latin typeface="Cambria Math" panose="02040503050406030204" pitchFamily="18" charset="0"/>
                              </a:rPr>
                              <m:t>𝟐</m:t>
                            </m:r>
                          </m:sup>
                        </m:sSup>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𝟏</m:t>
                        </m:r>
                      </m:e>
                    </m:d>
                    <m:r>
                      <a:rPr lang="en-NZ" altLang="ja-JP" sz="1600" b="0" i="1" smtClean="0">
                        <a:solidFill>
                          <a:schemeClr val="tx1"/>
                        </a:solidFill>
                        <a:latin typeface="Cambria Math" panose="02040503050406030204" pitchFamily="18" charset="0"/>
                      </a:rPr>
                      <m:t>.</m:t>
                    </m:r>
                  </m:oMath>
                </a14:m>
                <a:br>
                  <a:rPr lang="en-NZ" altLang="ja-JP" sz="1600" dirty="0">
                    <a:solidFill>
                      <a:schemeClr val="tx1"/>
                    </a:solidFill>
                  </a:rPr>
                </a:br>
                <a:r>
                  <a:rPr lang="en-NZ" altLang="ja-JP" sz="1600" dirty="0">
                    <a:solidFill>
                      <a:schemeClr val="tx1"/>
                    </a:solidFill>
                  </a:rPr>
                  <a:t>This is done to account for the fact that each of the variables may have different scales.</a:t>
                </a:r>
              </a:p>
            </p:txBody>
          </p:sp>
        </mc:Choice>
        <mc:Fallback xmlns="">
          <p:sp>
            <p:nvSpPr>
              <p:cNvPr id="9" name="Text Placeholder 5">
                <a:extLst>
                  <a:ext uri="{FF2B5EF4-FFF2-40B4-BE49-F238E27FC236}">
                    <a16:creationId xmlns:a16="http://schemas.microsoft.com/office/drawing/2014/main" id="{498B7821-D78D-713F-1426-B800E2622D82}"/>
                  </a:ext>
                </a:extLst>
              </p:cNvPr>
              <p:cNvSpPr txBox="1">
                <a:spLocks noRot="1" noChangeAspect="1" noMove="1" noResize="1" noEditPoints="1" noAdjustHandles="1" noChangeArrowheads="1" noChangeShapeType="1" noTextEdit="1"/>
              </p:cNvSpPr>
              <p:nvPr/>
            </p:nvSpPr>
            <p:spPr>
              <a:xfrm>
                <a:off x="319463" y="964576"/>
                <a:ext cx="11708764" cy="675343"/>
              </a:xfrm>
              <a:prstGeom prst="rect">
                <a:avLst/>
              </a:prstGeom>
              <a:blipFill>
                <a:blip r:embed="rId4"/>
                <a:stretch>
                  <a:fillRect l="-208" b="-1802"/>
                </a:stretch>
              </a:blipFill>
            </p:spPr>
            <p:txBody>
              <a:bodyPr/>
              <a:lstStyle/>
              <a:p>
                <a:r>
                  <a:rPr lang="en-NZ">
                    <a:noFill/>
                  </a:rPr>
                  <a:t> </a:t>
                </a:r>
              </a:p>
            </p:txBody>
          </p:sp>
        </mc:Fallback>
      </mc:AlternateContent>
      <p:sp>
        <p:nvSpPr>
          <p:cNvPr id="11" name="Text Placeholder 5">
            <a:extLst>
              <a:ext uri="{FF2B5EF4-FFF2-40B4-BE49-F238E27FC236}">
                <a16:creationId xmlns:a16="http://schemas.microsoft.com/office/drawing/2014/main" id="{C4CBF934-BB94-C893-07E2-5FD3D3BC30F0}"/>
              </a:ext>
            </a:extLst>
          </p:cNvPr>
          <p:cNvSpPr txBox="1">
            <a:spLocks/>
          </p:cNvSpPr>
          <p:nvPr/>
        </p:nvSpPr>
        <p:spPr>
          <a:xfrm>
            <a:off x="608806" y="1927544"/>
            <a:ext cx="3516242" cy="365126"/>
          </a:xfrm>
          <a:prstGeom prst="rect">
            <a:avLst/>
          </a:prstGeom>
          <a:no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1200" b="1" dirty="0">
                <a:solidFill>
                  <a:prstClr val="black"/>
                </a:solidFill>
              </a:rPr>
              <a:t>Illustration of Representing 3-Dimensional Data is the Coordinate System that Best Fits the data</a:t>
            </a:r>
          </a:p>
        </p:txBody>
      </p:sp>
      <mc:AlternateContent xmlns:mc="http://schemas.openxmlformats.org/markup-compatibility/2006" xmlns:a14="http://schemas.microsoft.com/office/drawing/2010/main">
        <mc:Choice Requires="a14">
          <p:sp>
            <p:nvSpPr>
              <p:cNvPr id="14" name="Text Placeholder 5">
                <a:extLst>
                  <a:ext uri="{FF2B5EF4-FFF2-40B4-BE49-F238E27FC236}">
                    <a16:creationId xmlns:a16="http://schemas.microsoft.com/office/drawing/2014/main" id="{074703DF-A4BD-6406-11D3-8BCA3993C52E}"/>
                  </a:ext>
                </a:extLst>
              </p:cNvPr>
              <p:cNvSpPr txBox="1">
                <a:spLocks/>
              </p:cNvSpPr>
              <p:nvPr/>
            </p:nvSpPr>
            <p:spPr>
              <a:xfrm>
                <a:off x="4539018" y="1815558"/>
                <a:ext cx="7208893" cy="126916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 typeface="Arial" panose="020B0604020202020204" pitchFamily="34" charset="0"/>
                  <a:buChar char="•"/>
                  <a:defRPr/>
                </a:pPr>
                <a:r>
                  <a:rPr lang="en-NZ" altLang="ja-JP" sz="1600" dirty="0">
                    <a:solidFill>
                      <a:schemeClr val="tx1"/>
                    </a:solidFill>
                  </a:rPr>
                  <a:t>The covariance matrix of the standardised data is then formed</a:t>
                </a:r>
              </a:p>
              <a:p>
                <a:pPr lvl="0">
                  <a:lnSpc>
                    <a:spcPct val="100000"/>
                  </a:lnSpc>
                  <a:defRPr/>
                </a:pPr>
                <a:endParaRPr lang="en-NZ" altLang="ja-JP" sz="200" dirty="0">
                  <a:solidFill>
                    <a:schemeClr val="tx1"/>
                  </a:solidFill>
                </a:endParaRPr>
              </a:p>
              <a:p>
                <a:pPr lvl="0">
                  <a:lnSpc>
                    <a:spcPct val="100000"/>
                  </a:lnSpc>
                  <a:defRPr/>
                </a:pPr>
                <a:endParaRPr lang="en-NZ" altLang="ja-JP" sz="200" dirty="0">
                  <a:solidFill>
                    <a:schemeClr val="tx1"/>
                  </a:solidFill>
                </a:endParaRPr>
              </a:p>
              <a:p>
                <a:pPr lvl="0">
                  <a:lnSpc>
                    <a:spcPct val="100000"/>
                  </a:lnSpc>
                  <a:defRPr/>
                </a:pPr>
                <a:endParaRPr lang="en-NZ" altLang="ja-JP" sz="200" dirty="0">
                  <a:solidFill>
                    <a:schemeClr val="tx1"/>
                  </a:solidFill>
                </a:endParaRPr>
              </a:p>
              <a:p>
                <a:pPr lvl="0">
                  <a:lnSpc>
                    <a:spcPct val="100000"/>
                  </a:lnSpc>
                  <a:defRPr/>
                </a:pPr>
                <a14:m>
                  <m:oMathPara xmlns:m="http://schemas.openxmlformats.org/officeDocument/2006/math">
                    <m:oMathParaPr>
                      <m:jc m:val="centerGroup"/>
                    </m:oMathParaPr>
                    <m:oMath xmlns:m="http://schemas.openxmlformats.org/officeDocument/2006/math">
                      <m:d>
                        <m:dPr>
                          <m:begChr m:val="["/>
                          <m:endChr m:val="]"/>
                          <m:ctrlPr>
                            <a:rPr lang="en-NZ" altLang="ja-JP" sz="1600" i="1" smtClean="0">
                              <a:solidFill>
                                <a:schemeClr val="tx1"/>
                              </a:solidFill>
                              <a:latin typeface="Cambria Math" panose="02040503050406030204" pitchFamily="18" charset="0"/>
                            </a:rPr>
                          </m:ctrlPr>
                        </m:dPr>
                        <m:e>
                          <m:m>
                            <m:mPr>
                              <m:mcs>
                                <m:mc>
                                  <m:mcPr>
                                    <m:count m:val="3"/>
                                    <m:mcJc m:val="center"/>
                                  </m:mcPr>
                                </m:mc>
                              </m:mcs>
                              <m:ctrlPr>
                                <a:rPr lang="en-NZ" altLang="ja-JP" sz="1600" i="1" smtClean="0">
                                  <a:solidFill>
                                    <a:schemeClr val="tx1"/>
                                  </a:solidFill>
                                  <a:latin typeface="Cambria Math" panose="02040503050406030204" pitchFamily="18" charset="0"/>
                                </a:rPr>
                              </m:ctrlPr>
                            </m:mPr>
                            <m:mr>
                              <m:e>
                                <m:r>
                                  <m:rPr>
                                    <m:brk m:alnAt="7"/>
                                  </m:rPr>
                                  <a:rPr lang="en-NZ" altLang="ja-JP" sz="1600" b="0" i="1" smtClean="0">
                                    <a:solidFill>
                                      <a:schemeClr val="tx1"/>
                                    </a:solidFill>
                                    <a:latin typeface="Cambria Math" panose="02040503050406030204" pitchFamily="18" charset="0"/>
                                  </a:rPr>
                                  <m:t>𝑐</m:t>
                                </m:r>
                                <m:r>
                                  <a:rPr lang="en-NZ" altLang="ja-JP" sz="1600" b="0" i="1" smtClean="0">
                                    <a:solidFill>
                                      <a:schemeClr val="tx1"/>
                                    </a:solidFill>
                                    <a:latin typeface="Cambria Math" panose="02040503050406030204" pitchFamily="18" charset="0"/>
                                  </a:rPr>
                                  <m:t>𝑜𝑣</m:t>
                                </m:r>
                                <m:r>
                                  <a:rPr lang="en-NZ" altLang="ja-JP" sz="1600" b="0" i="1" smtClean="0">
                                    <a:solidFill>
                                      <a:schemeClr val="tx1"/>
                                    </a:solidFill>
                                    <a:latin typeface="Cambria Math" panose="02040503050406030204" pitchFamily="18" charset="0"/>
                                  </a:rPr>
                                  <m:t>(</m:t>
                                </m:r>
                                <m:acc>
                                  <m:accPr>
                                    <m:chr m:val="̂"/>
                                    <m:ctrlPr>
                                      <a:rPr lang="en-NZ" altLang="ja-JP" sz="1600" b="0" i="1" smtClean="0">
                                        <a:solidFill>
                                          <a:schemeClr val="tx1"/>
                                        </a:solidFill>
                                        <a:latin typeface="Cambria Math" panose="02040503050406030204" pitchFamily="18" charset="0"/>
                                      </a:rPr>
                                    </m:ctrlPr>
                                  </m:accPr>
                                  <m:e>
                                    <m:sSub>
                                      <m:sSubPr>
                                        <m:ctrlPr>
                                          <a:rPr lang="en-NZ" altLang="ja-JP" sz="1600" b="0" i="1" smtClean="0">
                                            <a:solidFill>
                                              <a:schemeClr val="tx1"/>
                                            </a:solidFill>
                                            <a:latin typeface="Cambria Math" panose="02040503050406030204" pitchFamily="18" charset="0"/>
                                          </a:rPr>
                                        </m:ctrlPr>
                                      </m:sSubPr>
                                      <m:e>
                                        <m:r>
                                          <a:rPr lang="en-NZ" altLang="ja-JP" sz="1600" b="0" i="1" smtClean="0">
                                            <a:solidFill>
                                              <a:schemeClr val="tx1"/>
                                            </a:solidFill>
                                            <a:latin typeface="Cambria Math" panose="02040503050406030204" pitchFamily="18" charset="0"/>
                                          </a:rPr>
                                          <m:t>𝑋</m:t>
                                        </m:r>
                                      </m:e>
                                      <m:sub>
                                        <m:r>
                                          <a:rPr lang="en-NZ" altLang="ja-JP" sz="1600" b="0" i="1" smtClean="0">
                                            <a:solidFill>
                                              <a:schemeClr val="tx1"/>
                                            </a:solidFill>
                                            <a:latin typeface="Cambria Math" panose="02040503050406030204" pitchFamily="18" charset="0"/>
                                          </a:rPr>
                                          <m:t>1</m:t>
                                        </m:r>
                                      </m:sub>
                                    </m:sSub>
                                  </m:e>
                                </m:acc>
                                <m:r>
                                  <a:rPr lang="en-NZ" altLang="ja-JP" sz="1600" b="0" i="1" smtClean="0">
                                    <a:solidFill>
                                      <a:schemeClr val="tx1"/>
                                    </a:solidFill>
                                    <a:latin typeface="Cambria Math" panose="02040503050406030204" pitchFamily="18" charset="0"/>
                                  </a:rPr>
                                  <m:t>,</m:t>
                                </m:r>
                                <m:acc>
                                  <m:accPr>
                                    <m:chr m:val="̂"/>
                                    <m:ctrlPr>
                                      <a:rPr lang="en-NZ" altLang="ja-JP" sz="1600" i="1">
                                        <a:solidFill>
                                          <a:schemeClr val="tx1"/>
                                        </a:solidFill>
                                        <a:latin typeface="Cambria Math" panose="02040503050406030204" pitchFamily="18" charset="0"/>
                                      </a:rPr>
                                    </m:ctrlPr>
                                  </m:accPr>
                                  <m:e>
                                    <m:r>
                                      <a:rPr lang="en-NZ" altLang="ja-JP" sz="1600" b="0" i="1" smtClean="0">
                                        <a:solidFill>
                                          <a:schemeClr val="tx1"/>
                                        </a:solidFill>
                                        <a:latin typeface="Cambria Math" panose="02040503050406030204" pitchFamily="18" charset="0"/>
                                      </a:rPr>
                                      <m:t> </m:t>
                                    </m:r>
                                    <m:sSub>
                                      <m:sSubPr>
                                        <m:ctrlPr>
                                          <a:rPr lang="en-NZ" altLang="ja-JP" sz="1600" i="1">
                                            <a:solidFill>
                                              <a:schemeClr val="tx1"/>
                                            </a:solidFill>
                                            <a:latin typeface="Cambria Math" panose="02040503050406030204" pitchFamily="18" charset="0"/>
                                          </a:rPr>
                                        </m:ctrlPr>
                                      </m:sSubPr>
                                      <m:e>
                                        <m:r>
                                          <a:rPr lang="en-NZ" altLang="ja-JP" sz="1600" i="1">
                                            <a:solidFill>
                                              <a:schemeClr val="tx1"/>
                                            </a:solidFill>
                                            <a:latin typeface="Cambria Math" panose="02040503050406030204" pitchFamily="18" charset="0"/>
                                          </a:rPr>
                                          <m:t>𝑋</m:t>
                                        </m:r>
                                      </m:e>
                                      <m:sub>
                                        <m:r>
                                          <a:rPr lang="en-NZ" altLang="ja-JP" sz="1600" i="1">
                                            <a:solidFill>
                                              <a:schemeClr val="tx1"/>
                                            </a:solidFill>
                                            <a:latin typeface="Cambria Math" panose="02040503050406030204" pitchFamily="18" charset="0"/>
                                          </a:rPr>
                                          <m:t>1</m:t>
                                        </m:r>
                                      </m:sub>
                                    </m:sSub>
                                  </m:e>
                                </m:acc>
                                <m:r>
                                  <m:rPr>
                                    <m:brk m:alnAt="7"/>
                                  </m:rPr>
                                  <a:rPr lang="en-NZ" altLang="ja-JP" sz="1600" b="0" i="1" smtClean="0">
                                    <a:solidFill>
                                      <a:schemeClr val="tx1"/>
                                    </a:solidFill>
                                    <a:latin typeface="Cambria Math" panose="02040503050406030204" pitchFamily="18" charset="0"/>
                                  </a:rPr>
                                  <m:t>)</m:t>
                                </m:r>
                              </m:e>
                              <m:e>
                                <m:r>
                                  <m:rPr>
                                    <m:brk m:alnAt="7"/>
                                  </m:rPr>
                                  <a:rPr lang="en-NZ" altLang="ja-JP" sz="1600" i="1">
                                    <a:solidFill>
                                      <a:schemeClr val="tx1"/>
                                    </a:solidFill>
                                    <a:latin typeface="Cambria Math" panose="02040503050406030204" pitchFamily="18" charset="0"/>
                                  </a:rPr>
                                  <m:t>𝑐</m:t>
                                </m:r>
                                <m:r>
                                  <a:rPr lang="en-NZ" altLang="ja-JP" sz="1600" i="1">
                                    <a:solidFill>
                                      <a:schemeClr val="tx1"/>
                                    </a:solidFill>
                                    <a:latin typeface="Cambria Math" panose="02040503050406030204" pitchFamily="18" charset="0"/>
                                  </a:rPr>
                                  <m:t>𝑜𝑣</m:t>
                                </m:r>
                                <m:r>
                                  <a:rPr lang="en-NZ" altLang="ja-JP" sz="1600" i="1">
                                    <a:solidFill>
                                      <a:schemeClr val="tx1"/>
                                    </a:solidFill>
                                    <a:latin typeface="Cambria Math" panose="02040503050406030204" pitchFamily="18" charset="0"/>
                                  </a:rPr>
                                  <m:t>(</m:t>
                                </m:r>
                                <m:acc>
                                  <m:accPr>
                                    <m:chr m:val="̂"/>
                                    <m:ctrlPr>
                                      <a:rPr lang="en-NZ" altLang="ja-JP" sz="1600" i="1">
                                        <a:solidFill>
                                          <a:schemeClr val="tx1"/>
                                        </a:solidFill>
                                        <a:latin typeface="Cambria Math" panose="02040503050406030204" pitchFamily="18" charset="0"/>
                                      </a:rPr>
                                    </m:ctrlPr>
                                  </m:accPr>
                                  <m:e>
                                    <m:sSub>
                                      <m:sSubPr>
                                        <m:ctrlPr>
                                          <a:rPr lang="en-NZ" altLang="ja-JP" sz="1600" i="1">
                                            <a:solidFill>
                                              <a:schemeClr val="tx1"/>
                                            </a:solidFill>
                                            <a:latin typeface="Cambria Math" panose="02040503050406030204" pitchFamily="18" charset="0"/>
                                          </a:rPr>
                                        </m:ctrlPr>
                                      </m:sSubPr>
                                      <m:e>
                                        <m:r>
                                          <a:rPr lang="en-NZ" altLang="ja-JP" sz="1600" i="1">
                                            <a:solidFill>
                                              <a:schemeClr val="tx1"/>
                                            </a:solidFill>
                                            <a:latin typeface="Cambria Math" panose="02040503050406030204" pitchFamily="18" charset="0"/>
                                          </a:rPr>
                                          <m:t>𝑋</m:t>
                                        </m:r>
                                      </m:e>
                                      <m:sub>
                                        <m:r>
                                          <a:rPr lang="en-NZ" altLang="ja-JP" sz="1600" i="1">
                                            <a:solidFill>
                                              <a:schemeClr val="tx1"/>
                                            </a:solidFill>
                                            <a:latin typeface="Cambria Math" panose="02040503050406030204" pitchFamily="18" charset="0"/>
                                          </a:rPr>
                                          <m:t>1</m:t>
                                        </m:r>
                                      </m:sub>
                                    </m:sSub>
                                  </m:e>
                                </m:acc>
                                <m:r>
                                  <a:rPr lang="en-NZ" altLang="ja-JP" sz="1600" i="1">
                                    <a:solidFill>
                                      <a:schemeClr val="tx1"/>
                                    </a:solidFill>
                                    <a:latin typeface="Cambria Math" panose="02040503050406030204" pitchFamily="18" charset="0"/>
                                  </a:rPr>
                                  <m:t>,</m:t>
                                </m:r>
                                <m:acc>
                                  <m:accPr>
                                    <m:chr m:val="̂"/>
                                    <m:ctrlPr>
                                      <a:rPr lang="en-NZ" altLang="ja-JP" sz="1600" i="1" smtClean="0">
                                        <a:solidFill>
                                          <a:schemeClr val="tx1"/>
                                        </a:solidFill>
                                        <a:latin typeface="Cambria Math" panose="02040503050406030204" pitchFamily="18" charset="0"/>
                                      </a:rPr>
                                    </m:ctrlPr>
                                  </m:accPr>
                                  <m:e>
                                    <m:r>
                                      <a:rPr lang="en-NZ" altLang="ja-JP" sz="1600" i="1">
                                        <a:solidFill>
                                          <a:schemeClr val="tx1"/>
                                        </a:solidFill>
                                        <a:latin typeface="Cambria Math" panose="02040503050406030204" pitchFamily="18" charset="0"/>
                                      </a:rPr>
                                      <m:t> </m:t>
                                    </m:r>
                                    <m:sSub>
                                      <m:sSubPr>
                                        <m:ctrlPr>
                                          <a:rPr lang="en-NZ" altLang="ja-JP" sz="1600" i="1">
                                            <a:solidFill>
                                              <a:schemeClr val="tx1"/>
                                            </a:solidFill>
                                            <a:latin typeface="Cambria Math" panose="02040503050406030204" pitchFamily="18" charset="0"/>
                                          </a:rPr>
                                        </m:ctrlPr>
                                      </m:sSubPr>
                                      <m:e>
                                        <m:r>
                                          <a:rPr lang="en-NZ" altLang="ja-JP" sz="1600" i="1">
                                            <a:solidFill>
                                              <a:schemeClr val="tx1"/>
                                            </a:solidFill>
                                            <a:latin typeface="Cambria Math" panose="02040503050406030204" pitchFamily="18" charset="0"/>
                                          </a:rPr>
                                          <m:t>𝑋</m:t>
                                        </m:r>
                                      </m:e>
                                      <m:sub>
                                        <m:r>
                                          <a:rPr lang="en-NZ" altLang="ja-JP" sz="1600" b="0" i="1" smtClean="0">
                                            <a:solidFill>
                                              <a:schemeClr val="tx1"/>
                                            </a:solidFill>
                                            <a:latin typeface="Cambria Math" panose="02040503050406030204" pitchFamily="18" charset="0"/>
                                          </a:rPr>
                                          <m:t>2</m:t>
                                        </m:r>
                                      </m:sub>
                                    </m:sSub>
                                  </m:e>
                                </m:acc>
                                <m:r>
                                  <m:rPr>
                                    <m:brk m:alnAt="7"/>
                                  </m:rPr>
                                  <a:rPr lang="en-NZ" altLang="ja-JP" sz="1600" i="1">
                                    <a:solidFill>
                                      <a:schemeClr val="tx1"/>
                                    </a:solidFill>
                                    <a:latin typeface="Cambria Math" panose="02040503050406030204" pitchFamily="18" charset="0"/>
                                  </a:rPr>
                                  <m:t>)</m:t>
                                </m:r>
                              </m:e>
                              <m:e>
                                <m:r>
                                  <m:rPr>
                                    <m:brk m:alnAt="7"/>
                                  </m:rPr>
                                  <a:rPr lang="en-NZ" altLang="ja-JP" sz="1600" i="1">
                                    <a:solidFill>
                                      <a:schemeClr val="tx1"/>
                                    </a:solidFill>
                                    <a:latin typeface="Cambria Math" panose="02040503050406030204" pitchFamily="18" charset="0"/>
                                  </a:rPr>
                                  <m:t>𝑐</m:t>
                                </m:r>
                                <m:r>
                                  <a:rPr lang="en-NZ" altLang="ja-JP" sz="1600" i="1">
                                    <a:solidFill>
                                      <a:schemeClr val="tx1"/>
                                    </a:solidFill>
                                    <a:latin typeface="Cambria Math" panose="02040503050406030204" pitchFamily="18" charset="0"/>
                                  </a:rPr>
                                  <m:t>𝑜𝑣</m:t>
                                </m:r>
                                <m:r>
                                  <a:rPr lang="en-NZ" altLang="ja-JP" sz="1600" i="1">
                                    <a:solidFill>
                                      <a:schemeClr val="tx1"/>
                                    </a:solidFill>
                                    <a:latin typeface="Cambria Math" panose="02040503050406030204" pitchFamily="18" charset="0"/>
                                  </a:rPr>
                                  <m:t>(</m:t>
                                </m:r>
                                <m:acc>
                                  <m:accPr>
                                    <m:chr m:val="̂"/>
                                    <m:ctrlPr>
                                      <a:rPr lang="en-NZ" altLang="ja-JP" sz="1600" i="1">
                                        <a:solidFill>
                                          <a:schemeClr val="tx1"/>
                                        </a:solidFill>
                                        <a:latin typeface="Cambria Math" panose="02040503050406030204" pitchFamily="18" charset="0"/>
                                      </a:rPr>
                                    </m:ctrlPr>
                                  </m:accPr>
                                  <m:e>
                                    <m:sSub>
                                      <m:sSubPr>
                                        <m:ctrlPr>
                                          <a:rPr lang="en-NZ" altLang="ja-JP" sz="1600" i="1">
                                            <a:solidFill>
                                              <a:schemeClr val="tx1"/>
                                            </a:solidFill>
                                            <a:latin typeface="Cambria Math" panose="02040503050406030204" pitchFamily="18" charset="0"/>
                                          </a:rPr>
                                        </m:ctrlPr>
                                      </m:sSubPr>
                                      <m:e>
                                        <m:r>
                                          <a:rPr lang="en-NZ" altLang="ja-JP" sz="1600" i="1">
                                            <a:solidFill>
                                              <a:schemeClr val="tx1"/>
                                            </a:solidFill>
                                            <a:latin typeface="Cambria Math" panose="02040503050406030204" pitchFamily="18" charset="0"/>
                                          </a:rPr>
                                          <m:t>𝑋</m:t>
                                        </m:r>
                                      </m:e>
                                      <m:sub>
                                        <m:r>
                                          <a:rPr lang="en-NZ" altLang="ja-JP" sz="1600" i="1">
                                            <a:solidFill>
                                              <a:schemeClr val="tx1"/>
                                            </a:solidFill>
                                            <a:latin typeface="Cambria Math" panose="02040503050406030204" pitchFamily="18" charset="0"/>
                                          </a:rPr>
                                          <m:t>1</m:t>
                                        </m:r>
                                      </m:sub>
                                    </m:sSub>
                                  </m:e>
                                </m:acc>
                                <m:r>
                                  <a:rPr lang="en-NZ" altLang="ja-JP" sz="1600" i="1">
                                    <a:solidFill>
                                      <a:schemeClr val="tx1"/>
                                    </a:solidFill>
                                    <a:latin typeface="Cambria Math" panose="02040503050406030204" pitchFamily="18" charset="0"/>
                                  </a:rPr>
                                  <m:t>,</m:t>
                                </m:r>
                                <m:acc>
                                  <m:accPr>
                                    <m:chr m:val="̂"/>
                                    <m:ctrlPr>
                                      <a:rPr lang="en-NZ" altLang="ja-JP" sz="1600" i="1">
                                        <a:solidFill>
                                          <a:schemeClr val="tx1"/>
                                        </a:solidFill>
                                        <a:latin typeface="Cambria Math" panose="02040503050406030204" pitchFamily="18" charset="0"/>
                                      </a:rPr>
                                    </m:ctrlPr>
                                  </m:accPr>
                                  <m:e>
                                    <m:r>
                                      <a:rPr lang="en-NZ" altLang="ja-JP" sz="1600" i="1">
                                        <a:solidFill>
                                          <a:schemeClr val="tx1"/>
                                        </a:solidFill>
                                        <a:latin typeface="Cambria Math" panose="02040503050406030204" pitchFamily="18" charset="0"/>
                                      </a:rPr>
                                      <m:t> </m:t>
                                    </m:r>
                                    <m:sSub>
                                      <m:sSubPr>
                                        <m:ctrlPr>
                                          <a:rPr lang="en-NZ" altLang="ja-JP" sz="1600" i="1">
                                            <a:solidFill>
                                              <a:schemeClr val="tx1"/>
                                            </a:solidFill>
                                            <a:latin typeface="Cambria Math" panose="02040503050406030204" pitchFamily="18" charset="0"/>
                                          </a:rPr>
                                        </m:ctrlPr>
                                      </m:sSubPr>
                                      <m:e>
                                        <m:r>
                                          <a:rPr lang="en-NZ" altLang="ja-JP" sz="1600" i="1">
                                            <a:solidFill>
                                              <a:schemeClr val="tx1"/>
                                            </a:solidFill>
                                            <a:latin typeface="Cambria Math" panose="02040503050406030204" pitchFamily="18" charset="0"/>
                                          </a:rPr>
                                          <m:t>𝑋</m:t>
                                        </m:r>
                                      </m:e>
                                      <m:sub>
                                        <m:r>
                                          <a:rPr lang="en-NZ" altLang="ja-JP" sz="1600" b="0" i="1" smtClean="0">
                                            <a:solidFill>
                                              <a:schemeClr val="tx1"/>
                                            </a:solidFill>
                                            <a:latin typeface="Cambria Math" panose="02040503050406030204" pitchFamily="18" charset="0"/>
                                          </a:rPr>
                                          <m:t>3</m:t>
                                        </m:r>
                                      </m:sub>
                                    </m:sSub>
                                  </m:e>
                                </m:acc>
                                <m:r>
                                  <m:rPr>
                                    <m:brk m:alnAt="7"/>
                                  </m:rPr>
                                  <a:rPr lang="en-NZ" altLang="ja-JP" sz="1600" i="1">
                                    <a:solidFill>
                                      <a:schemeClr val="tx1"/>
                                    </a:solidFill>
                                    <a:latin typeface="Cambria Math" panose="02040503050406030204" pitchFamily="18" charset="0"/>
                                  </a:rPr>
                                  <m:t>)</m:t>
                                </m:r>
                              </m:e>
                            </m:mr>
                            <m:mr>
                              <m:e>
                                <m:r>
                                  <m:rPr>
                                    <m:brk m:alnAt="7"/>
                                  </m:rPr>
                                  <a:rPr lang="en-NZ" altLang="ja-JP" sz="1600" i="1">
                                    <a:solidFill>
                                      <a:schemeClr val="tx1"/>
                                    </a:solidFill>
                                    <a:latin typeface="Cambria Math" panose="02040503050406030204" pitchFamily="18" charset="0"/>
                                  </a:rPr>
                                  <m:t>𝑐</m:t>
                                </m:r>
                                <m:r>
                                  <a:rPr lang="en-NZ" altLang="ja-JP" sz="1600" i="1">
                                    <a:solidFill>
                                      <a:schemeClr val="tx1"/>
                                    </a:solidFill>
                                    <a:latin typeface="Cambria Math" panose="02040503050406030204" pitchFamily="18" charset="0"/>
                                  </a:rPr>
                                  <m:t>𝑜𝑣</m:t>
                                </m:r>
                                <m:r>
                                  <a:rPr lang="en-NZ" altLang="ja-JP" sz="1600" i="1">
                                    <a:solidFill>
                                      <a:schemeClr val="tx1"/>
                                    </a:solidFill>
                                    <a:latin typeface="Cambria Math" panose="02040503050406030204" pitchFamily="18" charset="0"/>
                                  </a:rPr>
                                  <m:t>(</m:t>
                                </m:r>
                                <m:acc>
                                  <m:accPr>
                                    <m:chr m:val="̂"/>
                                    <m:ctrlPr>
                                      <a:rPr lang="en-NZ" altLang="ja-JP" sz="1600" i="1">
                                        <a:solidFill>
                                          <a:schemeClr val="tx1"/>
                                        </a:solidFill>
                                        <a:latin typeface="Cambria Math" panose="02040503050406030204" pitchFamily="18" charset="0"/>
                                      </a:rPr>
                                    </m:ctrlPr>
                                  </m:accPr>
                                  <m:e>
                                    <m:sSub>
                                      <m:sSubPr>
                                        <m:ctrlPr>
                                          <a:rPr lang="en-NZ" altLang="ja-JP" sz="1600" i="1">
                                            <a:solidFill>
                                              <a:schemeClr val="tx1"/>
                                            </a:solidFill>
                                            <a:latin typeface="Cambria Math" panose="02040503050406030204" pitchFamily="18" charset="0"/>
                                          </a:rPr>
                                        </m:ctrlPr>
                                      </m:sSubPr>
                                      <m:e>
                                        <m:r>
                                          <a:rPr lang="en-NZ" altLang="ja-JP" sz="1600" i="1">
                                            <a:solidFill>
                                              <a:schemeClr val="tx1"/>
                                            </a:solidFill>
                                            <a:latin typeface="Cambria Math" panose="02040503050406030204" pitchFamily="18" charset="0"/>
                                          </a:rPr>
                                          <m:t>𝑋</m:t>
                                        </m:r>
                                      </m:e>
                                      <m:sub>
                                        <m:r>
                                          <a:rPr lang="en-NZ" altLang="ja-JP" sz="1600" b="0" i="1" smtClean="0">
                                            <a:solidFill>
                                              <a:schemeClr val="tx1"/>
                                            </a:solidFill>
                                            <a:latin typeface="Cambria Math" panose="02040503050406030204" pitchFamily="18" charset="0"/>
                                          </a:rPr>
                                          <m:t>2</m:t>
                                        </m:r>
                                      </m:sub>
                                    </m:sSub>
                                  </m:e>
                                </m:acc>
                                <m:r>
                                  <a:rPr lang="en-NZ" altLang="ja-JP" sz="1600" i="1">
                                    <a:solidFill>
                                      <a:schemeClr val="tx1"/>
                                    </a:solidFill>
                                    <a:latin typeface="Cambria Math" panose="02040503050406030204" pitchFamily="18" charset="0"/>
                                  </a:rPr>
                                  <m:t>,</m:t>
                                </m:r>
                                <m:acc>
                                  <m:accPr>
                                    <m:chr m:val="̂"/>
                                    <m:ctrlPr>
                                      <a:rPr lang="en-NZ" altLang="ja-JP" sz="1600" i="1">
                                        <a:solidFill>
                                          <a:schemeClr val="tx1"/>
                                        </a:solidFill>
                                        <a:latin typeface="Cambria Math" panose="02040503050406030204" pitchFamily="18" charset="0"/>
                                      </a:rPr>
                                    </m:ctrlPr>
                                  </m:accPr>
                                  <m:e>
                                    <m:r>
                                      <a:rPr lang="en-NZ" altLang="ja-JP" sz="1600" i="1">
                                        <a:solidFill>
                                          <a:schemeClr val="tx1"/>
                                        </a:solidFill>
                                        <a:latin typeface="Cambria Math" panose="02040503050406030204" pitchFamily="18" charset="0"/>
                                      </a:rPr>
                                      <m:t> </m:t>
                                    </m:r>
                                    <m:sSub>
                                      <m:sSubPr>
                                        <m:ctrlPr>
                                          <a:rPr lang="en-NZ" altLang="ja-JP" sz="1600" i="1">
                                            <a:solidFill>
                                              <a:schemeClr val="tx1"/>
                                            </a:solidFill>
                                            <a:latin typeface="Cambria Math" panose="02040503050406030204" pitchFamily="18" charset="0"/>
                                          </a:rPr>
                                        </m:ctrlPr>
                                      </m:sSubPr>
                                      <m:e>
                                        <m:r>
                                          <a:rPr lang="en-NZ" altLang="ja-JP" sz="1600" i="1">
                                            <a:solidFill>
                                              <a:schemeClr val="tx1"/>
                                            </a:solidFill>
                                            <a:latin typeface="Cambria Math" panose="02040503050406030204" pitchFamily="18" charset="0"/>
                                          </a:rPr>
                                          <m:t>𝑋</m:t>
                                        </m:r>
                                      </m:e>
                                      <m:sub>
                                        <m:r>
                                          <a:rPr lang="en-NZ" altLang="ja-JP" sz="1600" i="1">
                                            <a:solidFill>
                                              <a:schemeClr val="tx1"/>
                                            </a:solidFill>
                                            <a:latin typeface="Cambria Math" panose="02040503050406030204" pitchFamily="18" charset="0"/>
                                          </a:rPr>
                                          <m:t>1</m:t>
                                        </m:r>
                                      </m:sub>
                                    </m:sSub>
                                  </m:e>
                                </m:acc>
                                <m:r>
                                  <m:rPr>
                                    <m:brk m:alnAt="7"/>
                                  </m:rPr>
                                  <a:rPr lang="en-NZ" altLang="ja-JP" sz="1600" i="1">
                                    <a:solidFill>
                                      <a:schemeClr val="tx1"/>
                                    </a:solidFill>
                                    <a:latin typeface="Cambria Math" panose="02040503050406030204" pitchFamily="18" charset="0"/>
                                  </a:rPr>
                                  <m:t>)</m:t>
                                </m:r>
                              </m:e>
                              <m:e>
                                <m:r>
                                  <m:rPr>
                                    <m:brk m:alnAt="7"/>
                                  </m:rPr>
                                  <a:rPr lang="en-NZ" altLang="ja-JP" sz="1600" i="1">
                                    <a:solidFill>
                                      <a:schemeClr val="tx1"/>
                                    </a:solidFill>
                                    <a:latin typeface="Cambria Math" panose="02040503050406030204" pitchFamily="18" charset="0"/>
                                  </a:rPr>
                                  <m:t>𝑐</m:t>
                                </m:r>
                                <m:r>
                                  <a:rPr lang="en-NZ" altLang="ja-JP" sz="1600" i="1">
                                    <a:solidFill>
                                      <a:schemeClr val="tx1"/>
                                    </a:solidFill>
                                    <a:latin typeface="Cambria Math" panose="02040503050406030204" pitchFamily="18" charset="0"/>
                                  </a:rPr>
                                  <m:t>𝑜𝑣</m:t>
                                </m:r>
                                <m:r>
                                  <a:rPr lang="en-NZ" altLang="ja-JP" sz="1600" i="1">
                                    <a:solidFill>
                                      <a:schemeClr val="tx1"/>
                                    </a:solidFill>
                                    <a:latin typeface="Cambria Math" panose="02040503050406030204" pitchFamily="18" charset="0"/>
                                  </a:rPr>
                                  <m:t>(</m:t>
                                </m:r>
                                <m:acc>
                                  <m:accPr>
                                    <m:chr m:val="̂"/>
                                    <m:ctrlPr>
                                      <a:rPr lang="en-NZ" altLang="ja-JP" sz="1600" i="1">
                                        <a:solidFill>
                                          <a:schemeClr val="tx1"/>
                                        </a:solidFill>
                                        <a:latin typeface="Cambria Math" panose="02040503050406030204" pitchFamily="18" charset="0"/>
                                      </a:rPr>
                                    </m:ctrlPr>
                                  </m:accPr>
                                  <m:e>
                                    <m:sSub>
                                      <m:sSubPr>
                                        <m:ctrlPr>
                                          <a:rPr lang="en-NZ" altLang="ja-JP" sz="1600" i="1">
                                            <a:solidFill>
                                              <a:schemeClr val="tx1"/>
                                            </a:solidFill>
                                            <a:latin typeface="Cambria Math" panose="02040503050406030204" pitchFamily="18" charset="0"/>
                                          </a:rPr>
                                        </m:ctrlPr>
                                      </m:sSubPr>
                                      <m:e>
                                        <m:r>
                                          <a:rPr lang="en-NZ" altLang="ja-JP" sz="1600" i="1">
                                            <a:solidFill>
                                              <a:schemeClr val="tx1"/>
                                            </a:solidFill>
                                            <a:latin typeface="Cambria Math" panose="02040503050406030204" pitchFamily="18" charset="0"/>
                                          </a:rPr>
                                          <m:t>𝑋</m:t>
                                        </m:r>
                                      </m:e>
                                      <m:sub>
                                        <m:r>
                                          <a:rPr lang="en-NZ" altLang="ja-JP" sz="1600" b="0" i="1" smtClean="0">
                                            <a:solidFill>
                                              <a:schemeClr val="tx1"/>
                                            </a:solidFill>
                                            <a:latin typeface="Cambria Math" panose="02040503050406030204" pitchFamily="18" charset="0"/>
                                          </a:rPr>
                                          <m:t>2</m:t>
                                        </m:r>
                                      </m:sub>
                                    </m:sSub>
                                  </m:e>
                                </m:acc>
                                <m:r>
                                  <a:rPr lang="en-NZ" altLang="ja-JP" sz="1600" i="1">
                                    <a:solidFill>
                                      <a:schemeClr val="tx1"/>
                                    </a:solidFill>
                                    <a:latin typeface="Cambria Math" panose="02040503050406030204" pitchFamily="18" charset="0"/>
                                  </a:rPr>
                                  <m:t>,</m:t>
                                </m:r>
                                <m:acc>
                                  <m:accPr>
                                    <m:chr m:val="̂"/>
                                    <m:ctrlPr>
                                      <a:rPr lang="en-NZ" altLang="ja-JP" sz="1600" i="1">
                                        <a:solidFill>
                                          <a:schemeClr val="tx1"/>
                                        </a:solidFill>
                                        <a:latin typeface="Cambria Math" panose="02040503050406030204" pitchFamily="18" charset="0"/>
                                      </a:rPr>
                                    </m:ctrlPr>
                                  </m:accPr>
                                  <m:e>
                                    <m:r>
                                      <a:rPr lang="en-NZ" altLang="ja-JP" sz="1600" i="1">
                                        <a:solidFill>
                                          <a:schemeClr val="tx1"/>
                                        </a:solidFill>
                                        <a:latin typeface="Cambria Math" panose="02040503050406030204" pitchFamily="18" charset="0"/>
                                      </a:rPr>
                                      <m:t> </m:t>
                                    </m:r>
                                    <m:sSub>
                                      <m:sSubPr>
                                        <m:ctrlPr>
                                          <a:rPr lang="en-NZ" altLang="ja-JP" sz="1600" i="1">
                                            <a:solidFill>
                                              <a:schemeClr val="tx1"/>
                                            </a:solidFill>
                                            <a:latin typeface="Cambria Math" panose="02040503050406030204" pitchFamily="18" charset="0"/>
                                          </a:rPr>
                                        </m:ctrlPr>
                                      </m:sSubPr>
                                      <m:e>
                                        <m:r>
                                          <a:rPr lang="en-NZ" altLang="ja-JP" sz="1600" i="1">
                                            <a:solidFill>
                                              <a:schemeClr val="tx1"/>
                                            </a:solidFill>
                                            <a:latin typeface="Cambria Math" panose="02040503050406030204" pitchFamily="18" charset="0"/>
                                          </a:rPr>
                                          <m:t>𝑋</m:t>
                                        </m:r>
                                      </m:e>
                                      <m:sub>
                                        <m:r>
                                          <a:rPr lang="en-NZ" altLang="ja-JP" sz="1600" b="0" i="1" smtClean="0">
                                            <a:solidFill>
                                              <a:schemeClr val="tx1"/>
                                            </a:solidFill>
                                            <a:latin typeface="Cambria Math" panose="02040503050406030204" pitchFamily="18" charset="0"/>
                                          </a:rPr>
                                          <m:t>2</m:t>
                                        </m:r>
                                      </m:sub>
                                    </m:sSub>
                                  </m:e>
                                </m:acc>
                                <m:r>
                                  <m:rPr>
                                    <m:brk m:alnAt="7"/>
                                  </m:rPr>
                                  <a:rPr lang="en-NZ" altLang="ja-JP" sz="1600" i="1">
                                    <a:solidFill>
                                      <a:schemeClr val="tx1"/>
                                    </a:solidFill>
                                    <a:latin typeface="Cambria Math" panose="02040503050406030204" pitchFamily="18" charset="0"/>
                                  </a:rPr>
                                  <m:t>)</m:t>
                                </m:r>
                              </m:e>
                              <m:e>
                                <m:r>
                                  <m:rPr>
                                    <m:brk m:alnAt="7"/>
                                  </m:rPr>
                                  <a:rPr lang="en-NZ" altLang="ja-JP" sz="1600" i="1">
                                    <a:solidFill>
                                      <a:schemeClr val="tx1"/>
                                    </a:solidFill>
                                    <a:latin typeface="Cambria Math" panose="02040503050406030204" pitchFamily="18" charset="0"/>
                                  </a:rPr>
                                  <m:t>𝑐</m:t>
                                </m:r>
                                <m:r>
                                  <a:rPr lang="en-NZ" altLang="ja-JP" sz="1600" i="1">
                                    <a:solidFill>
                                      <a:schemeClr val="tx1"/>
                                    </a:solidFill>
                                    <a:latin typeface="Cambria Math" panose="02040503050406030204" pitchFamily="18" charset="0"/>
                                  </a:rPr>
                                  <m:t>𝑜𝑣</m:t>
                                </m:r>
                                <m:r>
                                  <a:rPr lang="en-NZ" altLang="ja-JP" sz="1600" i="1">
                                    <a:solidFill>
                                      <a:schemeClr val="tx1"/>
                                    </a:solidFill>
                                    <a:latin typeface="Cambria Math" panose="02040503050406030204" pitchFamily="18" charset="0"/>
                                  </a:rPr>
                                  <m:t>(</m:t>
                                </m:r>
                                <m:acc>
                                  <m:accPr>
                                    <m:chr m:val="̂"/>
                                    <m:ctrlPr>
                                      <a:rPr lang="en-NZ" altLang="ja-JP" sz="1600" i="1">
                                        <a:solidFill>
                                          <a:schemeClr val="tx1"/>
                                        </a:solidFill>
                                        <a:latin typeface="Cambria Math" panose="02040503050406030204" pitchFamily="18" charset="0"/>
                                      </a:rPr>
                                    </m:ctrlPr>
                                  </m:accPr>
                                  <m:e>
                                    <m:sSub>
                                      <m:sSubPr>
                                        <m:ctrlPr>
                                          <a:rPr lang="en-NZ" altLang="ja-JP" sz="1600" i="1">
                                            <a:solidFill>
                                              <a:schemeClr val="tx1"/>
                                            </a:solidFill>
                                            <a:latin typeface="Cambria Math" panose="02040503050406030204" pitchFamily="18" charset="0"/>
                                          </a:rPr>
                                        </m:ctrlPr>
                                      </m:sSubPr>
                                      <m:e>
                                        <m:r>
                                          <a:rPr lang="en-NZ" altLang="ja-JP" sz="1600" i="1">
                                            <a:solidFill>
                                              <a:schemeClr val="tx1"/>
                                            </a:solidFill>
                                            <a:latin typeface="Cambria Math" panose="02040503050406030204" pitchFamily="18" charset="0"/>
                                          </a:rPr>
                                          <m:t>𝑋</m:t>
                                        </m:r>
                                      </m:e>
                                      <m:sub>
                                        <m:r>
                                          <a:rPr lang="en-NZ" altLang="ja-JP" sz="1600" b="0" i="1" smtClean="0">
                                            <a:solidFill>
                                              <a:schemeClr val="tx1"/>
                                            </a:solidFill>
                                            <a:latin typeface="Cambria Math" panose="02040503050406030204" pitchFamily="18" charset="0"/>
                                          </a:rPr>
                                          <m:t>2</m:t>
                                        </m:r>
                                      </m:sub>
                                    </m:sSub>
                                  </m:e>
                                </m:acc>
                                <m:r>
                                  <a:rPr lang="en-NZ" altLang="ja-JP" sz="1600" i="1">
                                    <a:solidFill>
                                      <a:schemeClr val="tx1"/>
                                    </a:solidFill>
                                    <a:latin typeface="Cambria Math" panose="02040503050406030204" pitchFamily="18" charset="0"/>
                                  </a:rPr>
                                  <m:t>,</m:t>
                                </m:r>
                                <m:acc>
                                  <m:accPr>
                                    <m:chr m:val="̂"/>
                                    <m:ctrlPr>
                                      <a:rPr lang="en-NZ" altLang="ja-JP" sz="1600" i="1">
                                        <a:solidFill>
                                          <a:schemeClr val="tx1"/>
                                        </a:solidFill>
                                        <a:latin typeface="Cambria Math" panose="02040503050406030204" pitchFamily="18" charset="0"/>
                                      </a:rPr>
                                    </m:ctrlPr>
                                  </m:accPr>
                                  <m:e>
                                    <m:r>
                                      <a:rPr lang="en-NZ" altLang="ja-JP" sz="1600" i="1">
                                        <a:solidFill>
                                          <a:schemeClr val="tx1"/>
                                        </a:solidFill>
                                        <a:latin typeface="Cambria Math" panose="02040503050406030204" pitchFamily="18" charset="0"/>
                                      </a:rPr>
                                      <m:t> </m:t>
                                    </m:r>
                                    <m:sSub>
                                      <m:sSubPr>
                                        <m:ctrlPr>
                                          <a:rPr lang="en-NZ" altLang="ja-JP" sz="1600" i="1">
                                            <a:solidFill>
                                              <a:schemeClr val="tx1"/>
                                            </a:solidFill>
                                            <a:latin typeface="Cambria Math" panose="02040503050406030204" pitchFamily="18" charset="0"/>
                                          </a:rPr>
                                        </m:ctrlPr>
                                      </m:sSubPr>
                                      <m:e>
                                        <m:r>
                                          <a:rPr lang="en-NZ" altLang="ja-JP" sz="1600" i="1">
                                            <a:solidFill>
                                              <a:schemeClr val="tx1"/>
                                            </a:solidFill>
                                            <a:latin typeface="Cambria Math" panose="02040503050406030204" pitchFamily="18" charset="0"/>
                                          </a:rPr>
                                          <m:t>𝑋</m:t>
                                        </m:r>
                                      </m:e>
                                      <m:sub>
                                        <m:r>
                                          <a:rPr lang="en-NZ" altLang="ja-JP" sz="1600" b="0" i="1" smtClean="0">
                                            <a:solidFill>
                                              <a:schemeClr val="tx1"/>
                                            </a:solidFill>
                                            <a:latin typeface="Cambria Math" panose="02040503050406030204" pitchFamily="18" charset="0"/>
                                          </a:rPr>
                                          <m:t>3</m:t>
                                        </m:r>
                                      </m:sub>
                                    </m:sSub>
                                  </m:e>
                                </m:acc>
                                <m:r>
                                  <m:rPr>
                                    <m:brk m:alnAt="7"/>
                                  </m:rPr>
                                  <a:rPr lang="en-NZ" altLang="ja-JP" sz="1600" i="1">
                                    <a:solidFill>
                                      <a:schemeClr val="tx1"/>
                                    </a:solidFill>
                                    <a:latin typeface="Cambria Math" panose="02040503050406030204" pitchFamily="18" charset="0"/>
                                  </a:rPr>
                                  <m:t>)</m:t>
                                </m:r>
                              </m:e>
                            </m:mr>
                            <m:mr>
                              <m:e>
                                <m:r>
                                  <m:rPr>
                                    <m:brk m:alnAt="7"/>
                                  </m:rPr>
                                  <a:rPr lang="en-NZ" altLang="ja-JP" sz="1600" i="1">
                                    <a:solidFill>
                                      <a:schemeClr val="tx1"/>
                                    </a:solidFill>
                                    <a:latin typeface="Cambria Math" panose="02040503050406030204" pitchFamily="18" charset="0"/>
                                  </a:rPr>
                                  <m:t>𝑐</m:t>
                                </m:r>
                                <m:r>
                                  <a:rPr lang="en-NZ" altLang="ja-JP" sz="1600" i="1">
                                    <a:solidFill>
                                      <a:schemeClr val="tx1"/>
                                    </a:solidFill>
                                    <a:latin typeface="Cambria Math" panose="02040503050406030204" pitchFamily="18" charset="0"/>
                                  </a:rPr>
                                  <m:t>𝑜𝑣</m:t>
                                </m:r>
                                <m:r>
                                  <a:rPr lang="en-NZ" altLang="ja-JP" sz="1600" i="1">
                                    <a:solidFill>
                                      <a:schemeClr val="tx1"/>
                                    </a:solidFill>
                                    <a:latin typeface="Cambria Math" panose="02040503050406030204" pitchFamily="18" charset="0"/>
                                  </a:rPr>
                                  <m:t>(</m:t>
                                </m:r>
                                <m:acc>
                                  <m:accPr>
                                    <m:chr m:val="̂"/>
                                    <m:ctrlPr>
                                      <a:rPr lang="en-NZ" altLang="ja-JP" sz="1600" i="1">
                                        <a:solidFill>
                                          <a:schemeClr val="tx1"/>
                                        </a:solidFill>
                                        <a:latin typeface="Cambria Math" panose="02040503050406030204" pitchFamily="18" charset="0"/>
                                      </a:rPr>
                                    </m:ctrlPr>
                                  </m:accPr>
                                  <m:e>
                                    <m:sSub>
                                      <m:sSubPr>
                                        <m:ctrlPr>
                                          <a:rPr lang="en-NZ" altLang="ja-JP" sz="1600" i="1">
                                            <a:solidFill>
                                              <a:schemeClr val="tx1"/>
                                            </a:solidFill>
                                            <a:latin typeface="Cambria Math" panose="02040503050406030204" pitchFamily="18" charset="0"/>
                                          </a:rPr>
                                        </m:ctrlPr>
                                      </m:sSubPr>
                                      <m:e>
                                        <m:r>
                                          <a:rPr lang="en-NZ" altLang="ja-JP" sz="1600" i="1">
                                            <a:solidFill>
                                              <a:schemeClr val="tx1"/>
                                            </a:solidFill>
                                            <a:latin typeface="Cambria Math" panose="02040503050406030204" pitchFamily="18" charset="0"/>
                                          </a:rPr>
                                          <m:t>𝑋</m:t>
                                        </m:r>
                                      </m:e>
                                      <m:sub>
                                        <m:r>
                                          <a:rPr lang="en-NZ" altLang="ja-JP" sz="1600" b="0" i="1" smtClean="0">
                                            <a:solidFill>
                                              <a:schemeClr val="tx1"/>
                                            </a:solidFill>
                                            <a:latin typeface="Cambria Math" panose="02040503050406030204" pitchFamily="18" charset="0"/>
                                          </a:rPr>
                                          <m:t>3</m:t>
                                        </m:r>
                                      </m:sub>
                                    </m:sSub>
                                  </m:e>
                                </m:acc>
                                <m:r>
                                  <a:rPr lang="en-NZ" altLang="ja-JP" sz="1600" i="1">
                                    <a:solidFill>
                                      <a:schemeClr val="tx1"/>
                                    </a:solidFill>
                                    <a:latin typeface="Cambria Math" panose="02040503050406030204" pitchFamily="18" charset="0"/>
                                  </a:rPr>
                                  <m:t>,</m:t>
                                </m:r>
                                <m:acc>
                                  <m:accPr>
                                    <m:chr m:val="̂"/>
                                    <m:ctrlPr>
                                      <a:rPr lang="en-NZ" altLang="ja-JP" sz="1600" i="1">
                                        <a:solidFill>
                                          <a:schemeClr val="tx1"/>
                                        </a:solidFill>
                                        <a:latin typeface="Cambria Math" panose="02040503050406030204" pitchFamily="18" charset="0"/>
                                      </a:rPr>
                                    </m:ctrlPr>
                                  </m:accPr>
                                  <m:e>
                                    <m:r>
                                      <a:rPr lang="en-NZ" altLang="ja-JP" sz="1600" i="1">
                                        <a:solidFill>
                                          <a:schemeClr val="tx1"/>
                                        </a:solidFill>
                                        <a:latin typeface="Cambria Math" panose="02040503050406030204" pitchFamily="18" charset="0"/>
                                      </a:rPr>
                                      <m:t> </m:t>
                                    </m:r>
                                    <m:sSub>
                                      <m:sSubPr>
                                        <m:ctrlPr>
                                          <a:rPr lang="en-NZ" altLang="ja-JP" sz="1600" i="1">
                                            <a:solidFill>
                                              <a:schemeClr val="tx1"/>
                                            </a:solidFill>
                                            <a:latin typeface="Cambria Math" panose="02040503050406030204" pitchFamily="18" charset="0"/>
                                          </a:rPr>
                                        </m:ctrlPr>
                                      </m:sSubPr>
                                      <m:e>
                                        <m:r>
                                          <a:rPr lang="en-NZ" altLang="ja-JP" sz="1600" i="1">
                                            <a:solidFill>
                                              <a:schemeClr val="tx1"/>
                                            </a:solidFill>
                                            <a:latin typeface="Cambria Math" panose="02040503050406030204" pitchFamily="18" charset="0"/>
                                          </a:rPr>
                                          <m:t>𝑋</m:t>
                                        </m:r>
                                      </m:e>
                                      <m:sub>
                                        <m:r>
                                          <a:rPr lang="en-NZ" altLang="ja-JP" sz="1600" i="1">
                                            <a:solidFill>
                                              <a:schemeClr val="tx1"/>
                                            </a:solidFill>
                                            <a:latin typeface="Cambria Math" panose="02040503050406030204" pitchFamily="18" charset="0"/>
                                          </a:rPr>
                                          <m:t>1</m:t>
                                        </m:r>
                                      </m:sub>
                                    </m:sSub>
                                  </m:e>
                                </m:acc>
                                <m:r>
                                  <m:rPr>
                                    <m:brk m:alnAt="7"/>
                                  </m:rPr>
                                  <a:rPr lang="en-NZ" altLang="ja-JP" sz="1600" i="1">
                                    <a:solidFill>
                                      <a:schemeClr val="tx1"/>
                                    </a:solidFill>
                                    <a:latin typeface="Cambria Math" panose="02040503050406030204" pitchFamily="18" charset="0"/>
                                  </a:rPr>
                                  <m:t>)</m:t>
                                </m:r>
                              </m:e>
                              <m:e>
                                <m:r>
                                  <m:rPr>
                                    <m:brk m:alnAt="7"/>
                                  </m:rPr>
                                  <a:rPr lang="en-NZ" altLang="ja-JP" sz="1600" i="1">
                                    <a:solidFill>
                                      <a:schemeClr val="tx1"/>
                                    </a:solidFill>
                                    <a:latin typeface="Cambria Math" panose="02040503050406030204" pitchFamily="18" charset="0"/>
                                  </a:rPr>
                                  <m:t>𝑐</m:t>
                                </m:r>
                                <m:r>
                                  <a:rPr lang="en-NZ" altLang="ja-JP" sz="1600" i="1">
                                    <a:solidFill>
                                      <a:schemeClr val="tx1"/>
                                    </a:solidFill>
                                    <a:latin typeface="Cambria Math" panose="02040503050406030204" pitchFamily="18" charset="0"/>
                                  </a:rPr>
                                  <m:t>𝑜𝑣</m:t>
                                </m:r>
                                <m:r>
                                  <a:rPr lang="en-NZ" altLang="ja-JP" sz="1600" i="1">
                                    <a:solidFill>
                                      <a:schemeClr val="tx1"/>
                                    </a:solidFill>
                                    <a:latin typeface="Cambria Math" panose="02040503050406030204" pitchFamily="18" charset="0"/>
                                  </a:rPr>
                                  <m:t>(</m:t>
                                </m:r>
                                <m:acc>
                                  <m:accPr>
                                    <m:chr m:val="̂"/>
                                    <m:ctrlPr>
                                      <a:rPr lang="en-NZ" altLang="ja-JP" sz="1600" i="1">
                                        <a:solidFill>
                                          <a:schemeClr val="tx1"/>
                                        </a:solidFill>
                                        <a:latin typeface="Cambria Math" panose="02040503050406030204" pitchFamily="18" charset="0"/>
                                      </a:rPr>
                                    </m:ctrlPr>
                                  </m:accPr>
                                  <m:e>
                                    <m:sSub>
                                      <m:sSubPr>
                                        <m:ctrlPr>
                                          <a:rPr lang="en-NZ" altLang="ja-JP" sz="1600" i="1">
                                            <a:solidFill>
                                              <a:schemeClr val="tx1"/>
                                            </a:solidFill>
                                            <a:latin typeface="Cambria Math" panose="02040503050406030204" pitchFamily="18" charset="0"/>
                                          </a:rPr>
                                        </m:ctrlPr>
                                      </m:sSubPr>
                                      <m:e>
                                        <m:r>
                                          <a:rPr lang="en-NZ" altLang="ja-JP" sz="1600" i="1">
                                            <a:solidFill>
                                              <a:schemeClr val="tx1"/>
                                            </a:solidFill>
                                            <a:latin typeface="Cambria Math" panose="02040503050406030204" pitchFamily="18" charset="0"/>
                                          </a:rPr>
                                          <m:t>𝑋</m:t>
                                        </m:r>
                                      </m:e>
                                      <m:sub>
                                        <m:r>
                                          <a:rPr lang="en-NZ" altLang="ja-JP" sz="1600" b="0" i="1" smtClean="0">
                                            <a:solidFill>
                                              <a:schemeClr val="tx1"/>
                                            </a:solidFill>
                                            <a:latin typeface="Cambria Math" panose="02040503050406030204" pitchFamily="18" charset="0"/>
                                          </a:rPr>
                                          <m:t>3</m:t>
                                        </m:r>
                                      </m:sub>
                                    </m:sSub>
                                  </m:e>
                                </m:acc>
                                <m:r>
                                  <a:rPr lang="en-NZ" altLang="ja-JP" sz="1600" i="1">
                                    <a:solidFill>
                                      <a:schemeClr val="tx1"/>
                                    </a:solidFill>
                                    <a:latin typeface="Cambria Math" panose="02040503050406030204" pitchFamily="18" charset="0"/>
                                  </a:rPr>
                                  <m:t>,</m:t>
                                </m:r>
                                <m:acc>
                                  <m:accPr>
                                    <m:chr m:val="̂"/>
                                    <m:ctrlPr>
                                      <a:rPr lang="en-NZ" altLang="ja-JP" sz="1600" i="1">
                                        <a:solidFill>
                                          <a:schemeClr val="tx1"/>
                                        </a:solidFill>
                                        <a:latin typeface="Cambria Math" panose="02040503050406030204" pitchFamily="18" charset="0"/>
                                      </a:rPr>
                                    </m:ctrlPr>
                                  </m:accPr>
                                  <m:e>
                                    <m:r>
                                      <a:rPr lang="en-NZ" altLang="ja-JP" sz="1600" i="1">
                                        <a:solidFill>
                                          <a:schemeClr val="tx1"/>
                                        </a:solidFill>
                                        <a:latin typeface="Cambria Math" panose="02040503050406030204" pitchFamily="18" charset="0"/>
                                      </a:rPr>
                                      <m:t> </m:t>
                                    </m:r>
                                    <m:sSub>
                                      <m:sSubPr>
                                        <m:ctrlPr>
                                          <a:rPr lang="en-NZ" altLang="ja-JP" sz="1600" i="1">
                                            <a:solidFill>
                                              <a:schemeClr val="tx1"/>
                                            </a:solidFill>
                                            <a:latin typeface="Cambria Math" panose="02040503050406030204" pitchFamily="18" charset="0"/>
                                          </a:rPr>
                                        </m:ctrlPr>
                                      </m:sSubPr>
                                      <m:e>
                                        <m:r>
                                          <a:rPr lang="en-NZ" altLang="ja-JP" sz="1600" i="1">
                                            <a:solidFill>
                                              <a:schemeClr val="tx1"/>
                                            </a:solidFill>
                                            <a:latin typeface="Cambria Math" panose="02040503050406030204" pitchFamily="18" charset="0"/>
                                          </a:rPr>
                                          <m:t>𝑋</m:t>
                                        </m:r>
                                      </m:e>
                                      <m:sub>
                                        <m:r>
                                          <a:rPr lang="en-NZ" altLang="ja-JP" sz="1600" b="0" i="1" smtClean="0">
                                            <a:solidFill>
                                              <a:schemeClr val="tx1"/>
                                            </a:solidFill>
                                            <a:latin typeface="Cambria Math" panose="02040503050406030204" pitchFamily="18" charset="0"/>
                                          </a:rPr>
                                          <m:t>2</m:t>
                                        </m:r>
                                      </m:sub>
                                    </m:sSub>
                                  </m:e>
                                </m:acc>
                                <m:r>
                                  <m:rPr>
                                    <m:brk m:alnAt="7"/>
                                  </m:rPr>
                                  <a:rPr lang="en-NZ" altLang="ja-JP" sz="1600" i="1">
                                    <a:solidFill>
                                      <a:schemeClr val="tx1"/>
                                    </a:solidFill>
                                    <a:latin typeface="Cambria Math" panose="02040503050406030204" pitchFamily="18" charset="0"/>
                                  </a:rPr>
                                  <m:t>)</m:t>
                                </m:r>
                              </m:e>
                              <m:e>
                                <m:r>
                                  <m:rPr>
                                    <m:brk m:alnAt="7"/>
                                  </m:rPr>
                                  <a:rPr lang="en-NZ" altLang="ja-JP" sz="1600" i="1">
                                    <a:solidFill>
                                      <a:schemeClr val="tx1"/>
                                    </a:solidFill>
                                    <a:latin typeface="Cambria Math" panose="02040503050406030204" pitchFamily="18" charset="0"/>
                                  </a:rPr>
                                  <m:t>𝑐</m:t>
                                </m:r>
                                <m:r>
                                  <a:rPr lang="en-NZ" altLang="ja-JP" sz="1600" i="1">
                                    <a:solidFill>
                                      <a:schemeClr val="tx1"/>
                                    </a:solidFill>
                                    <a:latin typeface="Cambria Math" panose="02040503050406030204" pitchFamily="18" charset="0"/>
                                  </a:rPr>
                                  <m:t>𝑜𝑣</m:t>
                                </m:r>
                                <m:r>
                                  <a:rPr lang="en-NZ" altLang="ja-JP" sz="1600" i="1">
                                    <a:solidFill>
                                      <a:schemeClr val="tx1"/>
                                    </a:solidFill>
                                    <a:latin typeface="Cambria Math" panose="02040503050406030204" pitchFamily="18" charset="0"/>
                                  </a:rPr>
                                  <m:t>(</m:t>
                                </m:r>
                                <m:acc>
                                  <m:accPr>
                                    <m:chr m:val="̂"/>
                                    <m:ctrlPr>
                                      <a:rPr lang="en-NZ" altLang="ja-JP" sz="1600" i="1">
                                        <a:solidFill>
                                          <a:schemeClr val="tx1"/>
                                        </a:solidFill>
                                        <a:latin typeface="Cambria Math" panose="02040503050406030204" pitchFamily="18" charset="0"/>
                                      </a:rPr>
                                    </m:ctrlPr>
                                  </m:accPr>
                                  <m:e>
                                    <m:sSub>
                                      <m:sSubPr>
                                        <m:ctrlPr>
                                          <a:rPr lang="en-NZ" altLang="ja-JP" sz="1600" i="1">
                                            <a:solidFill>
                                              <a:schemeClr val="tx1"/>
                                            </a:solidFill>
                                            <a:latin typeface="Cambria Math" panose="02040503050406030204" pitchFamily="18" charset="0"/>
                                          </a:rPr>
                                        </m:ctrlPr>
                                      </m:sSubPr>
                                      <m:e>
                                        <m:r>
                                          <a:rPr lang="en-NZ" altLang="ja-JP" sz="1600" i="1">
                                            <a:solidFill>
                                              <a:schemeClr val="tx1"/>
                                            </a:solidFill>
                                            <a:latin typeface="Cambria Math" panose="02040503050406030204" pitchFamily="18" charset="0"/>
                                          </a:rPr>
                                          <m:t>𝑋</m:t>
                                        </m:r>
                                      </m:e>
                                      <m:sub>
                                        <m:r>
                                          <a:rPr lang="en-NZ" altLang="ja-JP" sz="1600" b="0" i="1" smtClean="0">
                                            <a:solidFill>
                                              <a:schemeClr val="tx1"/>
                                            </a:solidFill>
                                            <a:latin typeface="Cambria Math" panose="02040503050406030204" pitchFamily="18" charset="0"/>
                                          </a:rPr>
                                          <m:t>3</m:t>
                                        </m:r>
                                      </m:sub>
                                    </m:sSub>
                                  </m:e>
                                </m:acc>
                                <m:r>
                                  <a:rPr lang="en-NZ" altLang="ja-JP" sz="1600" i="1">
                                    <a:solidFill>
                                      <a:schemeClr val="tx1"/>
                                    </a:solidFill>
                                    <a:latin typeface="Cambria Math" panose="02040503050406030204" pitchFamily="18" charset="0"/>
                                  </a:rPr>
                                  <m:t>,</m:t>
                                </m:r>
                                <m:acc>
                                  <m:accPr>
                                    <m:chr m:val="̂"/>
                                    <m:ctrlPr>
                                      <a:rPr lang="en-NZ" altLang="ja-JP" sz="1600" i="1">
                                        <a:solidFill>
                                          <a:schemeClr val="tx1"/>
                                        </a:solidFill>
                                        <a:latin typeface="Cambria Math" panose="02040503050406030204" pitchFamily="18" charset="0"/>
                                      </a:rPr>
                                    </m:ctrlPr>
                                  </m:accPr>
                                  <m:e>
                                    <m:r>
                                      <a:rPr lang="en-NZ" altLang="ja-JP" sz="1600" i="1">
                                        <a:solidFill>
                                          <a:schemeClr val="tx1"/>
                                        </a:solidFill>
                                        <a:latin typeface="Cambria Math" panose="02040503050406030204" pitchFamily="18" charset="0"/>
                                      </a:rPr>
                                      <m:t> </m:t>
                                    </m:r>
                                    <m:sSub>
                                      <m:sSubPr>
                                        <m:ctrlPr>
                                          <a:rPr lang="en-NZ" altLang="ja-JP" sz="1600" i="1">
                                            <a:solidFill>
                                              <a:schemeClr val="tx1"/>
                                            </a:solidFill>
                                            <a:latin typeface="Cambria Math" panose="02040503050406030204" pitchFamily="18" charset="0"/>
                                          </a:rPr>
                                        </m:ctrlPr>
                                      </m:sSubPr>
                                      <m:e>
                                        <m:r>
                                          <a:rPr lang="en-NZ" altLang="ja-JP" sz="1600" i="1">
                                            <a:solidFill>
                                              <a:schemeClr val="tx1"/>
                                            </a:solidFill>
                                            <a:latin typeface="Cambria Math" panose="02040503050406030204" pitchFamily="18" charset="0"/>
                                          </a:rPr>
                                          <m:t>𝑋</m:t>
                                        </m:r>
                                      </m:e>
                                      <m:sub>
                                        <m:r>
                                          <a:rPr lang="en-NZ" altLang="ja-JP" sz="1600" b="0" i="1" smtClean="0">
                                            <a:solidFill>
                                              <a:schemeClr val="tx1"/>
                                            </a:solidFill>
                                            <a:latin typeface="Cambria Math" panose="02040503050406030204" pitchFamily="18" charset="0"/>
                                          </a:rPr>
                                          <m:t>3</m:t>
                                        </m:r>
                                      </m:sub>
                                    </m:sSub>
                                  </m:e>
                                </m:acc>
                                <m:r>
                                  <m:rPr>
                                    <m:brk m:alnAt="7"/>
                                  </m:rPr>
                                  <a:rPr lang="en-NZ" altLang="ja-JP" sz="1600" i="1">
                                    <a:solidFill>
                                      <a:schemeClr val="tx1"/>
                                    </a:solidFill>
                                    <a:latin typeface="Cambria Math" panose="02040503050406030204" pitchFamily="18" charset="0"/>
                                  </a:rPr>
                                  <m:t>)</m:t>
                                </m:r>
                              </m:e>
                            </m:mr>
                          </m:m>
                        </m:e>
                      </m:d>
                    </m:oMath>
                  </m:oMathPara>
                </a14:m>
                <a:endParaRPr lang="en-NZ" altLang="ja-JP" sz="1600" dirty="0">
                  <a:solidFill>
                    <a:schemeClr val="tx1"/>
                  </a:solidFill>
                </a:endParaRPr>
              </a:p>
            </p:txBody>
          </p:sp>
        </mc:Choice>
        <mc:Fallback xmlns="">
          <p:sp>
            <p:nvSpPr>
              <p:cNvPr id="14" name="Text Placeholder 5">
                <a:extLst>
                  <a:ext uri="{FF2B5EF4-FFF2-40B4-BE49-F238E27FC236}">
                    <a16:creationId xmlns:a16="http://schemas.microsoft.com/office/drawing/2014/main" id="{074703DF-A4BD-6406-11D3-8BCA3993C52E}"/>
                  </a:ext>
                </a:extLst>
              </p:cNvPr>
              <p:cNvSpPr txBox="1">
                <a:spLocks noRot="1" noChangeAspect="1" noMove="1" noResize="1" noEditPoints="1" noAdjustHandles="1" noChangeArrowheads="1" noChangeShapeType="1" noTextEdit="1"/>
              </p:cNvSpPr>
              <p:nvPr/>
            </p:nvSpPr>
            <p:spPr>
              <a:xfrm>
                <a:off x="4539018" y="1815558"/>
                <a:ext cx="7208893" cy="1269165"/>
              </a:xfrm>
              <a:prstGeom prst="rect">
                <a:avLst/>
              </a:prstGeom>
              <a:blipFill>
                <a:blip r:embed="rId5"/>
                <a:stretch>
                  <a:fillRect l="-338" t="-1442"/>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6" name="Text Placeholder 5">
                <a:extLst>
                  <a:ext uri="{FF2B5EF4-FFF2-40B4-BE49-F238E27FC236}">
                    <a16:creationId xmlns:a16="http://schemas.microsoft.com/office/drawing/2014/main" id="{CC2FAE99-7947-D2AD-87A9-89A177640915}"/>
                  </a:ext>
                </a:extLst>
              </p:cNvPr>
              <p:cNvSpPr txBox="1">
                <a:spLocks/>
              </p:cNvSpPr>
              <p:nvPr/>
            </p:nvSpPr>
            <p:spPr>
              <a:xfrm>
                <a:off x="4539018" y="5533040"/>
                <a:ext cx="7090384" cy="71182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 typeface="Arial" panose="020B0604020202020204" pitchFamily="34" charset="0"/>
                  <a:buChar char="•"/>
                  <a:defRPr/>
                </a:pPr>
                <a:r>
                  <a:rPr lang="en-NZ" altLang="ja-JP" sz="1600" dirty="0">
                    <a:solidFill>
                      <a:schemeClr val="tx1"/>
                    </a:solidFill>
                  </a:rPr>
                  <a:t>The matrix produced is evidently </a:t>
                </a:r>
                <a:r>
                  <a:rPr lang="en-NZ" altLang="ja-JP" sz="1600" b="1" dirty="0">
                    <a:solidFill>
                      <a:schemeClr val="tx1"/>
                    </a:solidFill>
                  </a:rPr>
                  <a:t>symmetric</a:t>
                </a:r>
                <a:r>
                  <a:rPr lang="en-NZ" altLang="ja-JP" sz="1600" dirty="0">
                    <a:solidFill>
                      <a:schemeClr val="tx1"/>
                    </a:solidFill>
                  </a:rPr>
                  <a:t> (since </a:t>
                </a:r>
                <a14:m>
                  <m:oMath xmlns:m="http://schemas.openxmlformats.org/officeDocument/2006/math">
                    <m:r>
                      <a:rPr lang="en-NZ" altLang="ja-JP" sz="1400" b="0" i="1" smtClean="0">
                        <a:solidFill>
                          <a:schemeClr val="tx1"/>
                        </a:solidFill>
                        <a:latin typeface="Cambria Math" panose="02040503050406030204" pitchFamily="18" charset="0"/>
                      </a:rPr>
                      <m:t>𝐶𝑜𝑣</m:t>
                    </m:r>
                    <m:d>
                      <m:dPr>
                        <m:ctrlPr>
                          <a:rPr lang="en-NZ" altLang="ja-JP" sz="1400" b="0" i="1" smtClean="0">
                            <a:solidFill>
                              <a:schemeClr val="tx1"/>
                            </a:solidFill>
                            <a:latin typeface="Cambria Math" panose="02040503050406030204" pitchFamily="18" charset="0"/>
                          </a:rPr>
                        </m:ctrlPr>
                      </m:dPr>
                      <m:e>
                        <m:r>
                          <a:rPr lang="en-NZ" altLang="ja-JP" sz="1400" b="0" i="1" smtClean="0">
                            <a:solidFill>
                              <a:schemeClr val="tx1"/>
                            </a:solidFill>
                            <a:latin typeface="Cambria Math" panose="02040503050406030204" pitchFamily="18" charset="0"/>
                          </a:rPr>
                          <m:t>𝑌</m:t>
                        </m:r>
                        <m:r>
                          <a:rPr lang="en-NZ" altLang="ja-JP" sz="1400" b="0" i="1" smtClean="0">
                            <a:solidFill>
                              <a:schemeClr val="tx1"/>
                            </a:solidFill>
                            <a:latin typeface="Cambria Math" panose="02040503050406030204" pitchFamily="18" charset="0"/>
                          </a:rPr>
                          <m:t>,</m:t>
                        </m:r>
                        <m:r>
                          <a:rPr lang="en-NZ" altLang="ja-JP" sz="1400" b="0" i="1" smtClean="0">
                            <a:solidFill>
                              <a:schemeClr val="tx1"/>
                            </a:solidFill>
                            <a:latin typeface="Cambria Math" panose="02040503050406030204" pitchFamily="18" charset="0"/>
                          </a:rPr>
                          <m:t>𝑍</m:t>
                        </m:r>
                      </m:e>
                    </m:d>
                    <m:r>
                      <a:rPr lang="en-NZ" altLang="ja-JP" sz="1400" i="1">
                        <a:solidFill>
                          <a:schemeClr val="tx1"/>
                        </a:solidFill>
                        <a:latin typeface="Cambria Math" panose="02040503050406030204" pitchFamily="18" charset="0"/>
                      </a:rPr>
                      <m:t>=</m:t>
                    </m:r>
                    <m:r>
                      <a:rPr lang="en-NZ" altLang="ja-JP" sz="1400" i="1">
                        <a:solidFill>
                          <a:schemeClr val="tx1"/>
                        </a:solidFill>
                        <a:latin typeface="Cambria Math" panose="02040503050406030204" pitchFamily="18" charset="0"/>
                      </a:rPr>
                      <m:t>𝐶𝑜𝑣</m:t>
                    </m:r>
                    <m:d>
                      <m:dPr>
                        <m:ctrlPr>
                          <a:rPr lang="en-NZ" altLang="ja-JP" sz="1400" i="1">
                            <a:solidFill>
                              <a:schemeClr val="tx1"/>
                            </a:solidFill>
                            <a:latin typeface="Cambria Math" panose="02040503050406030204" pitchFamily="18" charset="0"/>
                          </a:rPr>
                        </m:ctrlPr>
                      </m:dPr>
                      <m:e>
                        <m:r>
                          <a:rPr lang="en-NZ" altLang="ja-JP" sz="1400" b="0" i="1" smtClean="0">
                            <a:solidFill>
                              <a:schemeClr val="tx1"/>
                            </a:solidFill>
                            <a:latin typeface="Cambria Math" panose="02040503050406030204" pitchFamily="18" charset="0"/>
                          </a:rPr>
                          <m:t>𝑍</m:t>
                        </m:r>
                        <m:r>
                          <a:rPr lang="en-NZ" altLang="ja-JP" sz="1400" i="1">
                            <a:solidFill>
                              <a:schemeClr val="tx1"/>
                            </a:solidFill>
                            <a:latin typeface="Cambria Math" panose="02040503050406030204" pitchFamily="18" charset="0"/>
                          </a:rPr>
                          <m:t>,</m:t>
                        </m:r>
                        <m:r>
                          <a:rPr lang="en-NZ" altLang="ja-JP" sz="1400" b="0" i="1" smtClean="0">
                            <a:solidFill>
                              <a:schemeClr val="tx1"/>
                            </a:solidFill>
                            <a:latin typeface="Cambria Math" panose="02040503050406030204" pitchFamily="18" charset="0"/>
                          </a:rPr>
                          <m:t>𝑌</m:t>
                        </m:r>
                      </m:e>
                    </m:d>
                  </m:oMath>
                </a14:m>
                <a:r>
                  <a:rPr lang="en-NZ" altLang="ja-JP" sz="1600" dirty="0">
                    <a:solidFill>
                      <a:schemeClr val="tx1"/>
                    </a:solidFill>
                  </a:rPr>
                  <a:t> ).</a:t>
                </a:r>
                <a:br>
                  <a:rPr lang="en-NZ" altLang="ja-JP" sz="1600" dirty="0">
                    <a:solidFill>
                      <a:schemeClr val="tx1"/>
                    </a:solidFill>
                  </a:rPr>
                </a:br>
                <a:r>
                  <a:rPr lang="en-NZ" altLang="ja-JP" sz="1600" dirty="0">
                    <a:solidFill>
                      <a:schemeClr val="tx1"/>
                    </a:solidFill>
                  </a:rPr>
                  <a:t>Symmetric matrices have the property that their eigenvectors are </a:t>
                </a:r>
                <a:r>
                  <a:rPr lang="en-NZ" altLang="ja-JP" sz="1600" b="1" dirty="0">
                    <a:solidFill>
                      <a:schemeClr val="tx1"/>
                    </a:solidFill>
                  </a:rPr>
                  <a:t>orthonormal</a:t>
                </a:r>
                <a:r>
                  <a:rPr lang="en-NZ" altLang="ja-JP" sz="1600" dirty="0">
                    <a:solidFill>
                      <a:schemeClr val="tx1"/>
                    </a:solidFill>
                  </a:rPr>
                  <a:t>, meaning that they create a perfectly acceptable set of axis vectors.</a:t>
                </a:r>
              </a:p>
            </p:txBody>
          </p:sp>
        </mc:Choice>
        <mc:Fallback xmlns="">
          <p:sp>
            <p:nvSpPr>
              <p:cNvPr id="16" name="Text Placeholder 5">
                <a:extLst>
                  <a:ext uri="{FF2B5EF4-FFF2-40B4-BE49-F238E27FC236}">
                    <a16:creationId xmlns:a16="http://schemas.microsoft.com/office/drawing/2014/main" id="{CC2FAE99-7947-D2AD-87A9-89A177640915}"/>
                  </a:ext>
                </a:extLst>
              </p:cNvPr>
              <p:cNvSpPr txBox="1">
                <a:spLocks noRot="1" noChangeAspect="1" noMove="1" noResize="1" noEditPoints="1" noAdjustHandles="1" noChangeArrowheads="1" noChangeShapeType="1" noTextEdit="1"/>
              </p:cNvSpPr>
              <p:nvPr/>
            </p:nvSpPr>
            <p:spPr>
              <a:xfrm>
                <a:off x="4539018" y="5533040"/>
                <a:ext cx="7090384" cy="711824"/>
              </a:xfrm>
              <a:prstGeom prst="rect">
                <a:avLst/>
              </a:prstGeom>
              <a:blipFill>
                <a:blip r:embed="rId6"/>
                <a:stretch>
                  <a:fillRect l="-344" t="-2586" r="-258" b="-27586"/>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8" name="Text Placeholder 5">
                <a:extLst>
                  <a:ext uri="{FF2B5EF4-FFF2-40B4-BE49-F238E27FC236}">
                    <a16:creationId xmlns:a16="http://schemas.microsoft.com/office/drawing/2014/main" id="{2CE44542-1299-DE9D-27D7-44DA079E027D}"/>
                  </a:ext>
                </a:extLst>
              </p:cNvPr>
              <p:cNvSpPr txBox="1">
                <a:spLocks/>
              </p:cNvSpPr>
              <p:nvPr/>
            </p:nvSpPr>
            <p:spPr>
              <a:xfrm>
                <a:off x="4539018" y="3517340"/>
                <a:ext cx="7550347" cy="173364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 typeface="Arial" panose="020B0604020202020204" pitchFamily="34" charset="0"/>
                  <a:buChar char="•"/>
                  <a:defRPr/>
                </a:pPr>
                <a:r>
                  <a:rPr lang="en-NZ" altLang="ja-JP" sz="1600" dirty="0">
                    <a:solidFill>
                      <a:schemeClr val="tx1"/>
                    </a:solidFill>
                  </a:rPr>
                  <a:t>As correlation is just standardised covariance (i.e. </a:t>
                </a:r>
                <a14:m>
                  <m:oMath xmlns:m="http://schemas.openxmlformats.org/officeDocument/2006/math">
                    <m:r>
                      <a:rPr lang="en-NZ" altLang="ja-JP" sz="1200" b="0" i="1" smtClean="0">
                        <a:solidFill>
                          <a:schemeClr val="tx1"/>
                        </a:solidFill>
                        <a:latin typeface="Cambria Math" panose="02040503050406030204" pitchFamily="18" charset="0"/>
                      </a:rPr>
                      <m:t>𝜌</m:t>
                    </m:r>
                    <m:d>
                      <m:dPr>
                        <m:ctrlPr>
                          <a:rPr lang="en-NZ" altLang="ja-JP" sz="1200" b="0" i="1" smtClean="0">
                            <a:solidFill>
                              <a:schemeClr val="tx1"/>
                            </a:solidFill>
                            <a:latin typeface="Cambria Math" panose="02040503050406030204" pitchFamily="18" charset="0"/>
                          </a:rPr>
                        </m:ctrlPr>
                      </m:dPr>
                      <m:e>
                        <m:r>
                          <a:rPr lang="en-NZ" altLang="ja-JP" sz="1200" b="0" i="1" smtClean="0">
                            <a:solidFill>
                              <a:schemeClr val="tx1"/>
                            </a:solidFill>
                            <a:latin typeface="Cambria Math" panose="02040503050406030204" pitchFamily="18" charset="0"/>
                          </a:rPr>
                          <m:t>𝑌</m:t>
                        </m:r>
                        <m:r>
                          <a:rPr lang="en-NZ" altLang="ja-JP" sz="1200" b="0" i="1" smtClean="0">
                            <a:solidFill>
                              <a:schemeClr val="tx1"/>
                            </a:solidFill>
                            <a:latin typeface="Cambria Math" panose="02040503050406030204" pitchFamily="18" charset="0"/>
                          </a:rPr>
                          <m:t>,</m:t>
                        </m:r>
                        <m:r>
                          <a:rPr lang="en-NZ" altLang="ja-JP" sz="1200" b="0" i="1" smtClean="0">
                            <a:solidFill>
                              <a:schemeClr val="tx1"/>
                            </a:solidFill>
                            <a:latin typeface="Cambria Math" panose="02040503050406030204" pitchFamily="18" charset="0"/>
                          </a:rPr>
                          <m:t>𝑍</m:t>
                        </m:r>
                      </m:e>
                    </m:d>
                    <m:r>
                      <a:rPr lang="en-NZ" altLang="ja-JP" sz="1200" b="0" i="1" smtClean="0">
                        <a:solidFill>
                          <a:schemeClr val="tx1"/>
                        </a:solidFill>
                        <a:latin typeface="Cambria Math" panose="02040503050406030204" pitchFamily="18" charset="0"/>
                      </a:rPr>
                      <m:t>= </m:t>
                    </m:r>
                    <m:f>
                      <m:fPr>
                        <m:type m:val="lin"/>
                        <m:ctrlPr>
                          <a:rPr lang="en-NZ" altLang="ja-JP" sz="1200" b="0" i="1" smtClean="0">
                            <a:solidFill>
                              <a:schemeClr val="tx1"/>
                            </a:solidFill>
                            <a:latin typeface="Cambria Math" panose="02040503050406030204" pitchFamily="18" charset="0"/>
                          </a:rPr>
                        </m:ctrlPr>
                      </m:fPr>
                      <m:num>
                        <m:r>
                          <a:rPr lang="en-NZ" altLang="ja-JP" sz="1200" b="0" i="1" smtClean="0">
                            <a:solidFill>
                              <a:schemeClr val="tx1"/>
                            </a:solidFill>
                            <a:latin typeface="Cambria Math" panose="02040503050406030204" pitchFamily="18" charset="0"/>
                          </a:rPr>
                          <m:t>𝐶𝑜𝑣</m:t>
                        </m:r>
                        <m:d>
                          <m:dPr>
                            <m:ctrlPr>
                              <a:rPr lang="en-NZ" altLang="ja-JP" sz="1200" b="0" i="1" smtClean="0">
                                <a:solidFill>
                                  <a:schemeClr val="tx1"/>
                                </a:solidFill>
                                <a:latin typeface="Cambria Math" panose="02040503050406030204" pitchFamily="18" charset="0"/>
                              </a:rPr>
                            </m:ctrlPr>
                          </m:dPr>
                          <m:e>
                            <m:r>
                              <a:rPr lang="en-NZ" altLang="ja-JP" sz="1200" b="0" i="1" smtClean="0">
                                <a:solidFill>
                                  <a:schemeClr val="tx1"/>
                                </a:solidFill>
                                <a:latin typeface="Cambria Math" panose="02040503050406030204" pitchFamily="18" charset="0"/>
                              </a:rPr>
                              <m:t>𝑌</m:t>
                            </m:r>
                            <m:r>
                              <a:rPr lang="en-NZ" altLang="ja-JP" sz="1200" b="0" i="1" smtClean="0">
                                <a:solidFill>
                                  <a:schemeClr val="tx1"/>
                                </a:solidFill>
                                <a:latin typeface="Cambria Math" panose="02040503050406030204" pitchFamily="18" charset="0"/>
                              </a:rPr>
                              <m:t>,</m:t>
                            </m:r>
                            <m:r>
                              <a:rPr lang="en-NZ" altLang="ja-JP" sz="1200" b="0" i="1" smtClean="0">
                                <a:solidFill>
                                  <a:schemeClr val="tx1"/>
                                </a:solidFill>
                                <a:latin typeface="Cambria Math" panose="02040503050406030204" pitchFamily="18" charset="0"/>
                              </a:rPr>
                              <m:t>𝑍</m:t>
                            </m:r>
                          </m:e>
                        </m:d>
                        <m:r>
                          <a:rPr lang="en-NZ" altLang="ja-JP" sz="1200" b="0" i="1" smtClean="0">
                            <a:solidFill>
                              <a:schemeClr val="tx1"/>
                            </a:solidFill>
                            <a:latin typeface="Cambria Math" panose="02040503050406030204" pitchFamily="18" charset="0"/>
                          </a:rPr>
                          <m:t> </m:t>
                        </m:r>
                      </m:num>
                      <m:den>
                        <m:rad>
                          <m:radPr>
                            <m:degHide m:val="on"/>
                            <m:ctrlPr>
                              <a:rPr lang="en-NZ" altLang="ja-JP" sz="1200" b="0" i="1" smtClean="0">
                                <a:solidFill>
                                  <a:schemeClr val="tx1"/>
                                </a:solidFill>
                                <a:latin typeface="Cambria Math" panose="02040503050406030204" pitchFamily="18" charset="0"/>
                              </a:rPr>
                            </m:ctrlPr>
                          </m:radPr>
                          <m:deg/>
                          <m:e>
                            <m:r>
                              <a:rPr lang="en-NZ" altLang="ja-JP" sz="1200" b="0" i="1" smtClean="0">
                                <a:solidFill>
                                  <a:schemeClr val="tx1"/>
                                </a:solidFill>
                                <a:latin typeface="Cambria Math" panose="02040503050406030204" pitchFamily="18" charset="0"/>
                              </a:rPr>
                              <m:t>𝑉𝑎𝑟</m:t>
                            </m:r>
                            <m:d>
                              <m:dPr>
                                <m:ctrlPr>
                                  <a:rPr lang="en-NZ" altLang="ja-JP" sz="1200" b="0" i="1" smtClean="0">
                                    <a:solidFill>
                                      <a:schemeClr val="tx1"/>
                                    </a:solidFill>
                                    <a:latin typeface="Cambria Math" panose="02040503050406030204" pitchFamily="18" charset="0"/>
                                  </a:rPr>
                                </m:ctrlPr>
                              </m:dPr>
                              <m:e>
                                <m:r>
                                  <a:rPr lang="en-NZ" altLang="ja-JP" sz="1200" b="0" i="1" smtClean="0">
                                    <a:solidFill>
                                      <a:schemeClr val="tx1"/>
                                    </a:solidFill>
                                    <a:latin typeface="Cambria Math" panose="02040503050406030204" pitchFamily="18" charset="0"/>
                                  </a:rPr>
                                  <m:t>𝑌</m:t>
                                </m:r>
                              </m:e>
                            </m:d>
                            <m:r>
                              <a:rPr lang="en-NZ" altLang="ja-JP" sz="1200" b="0" i="1" smtClean="0">
                                <a:solidFill>
                                  <a:schemeClr val="tx1"/>
                                </a:solidFill>
                                <a:latin typeface="Cambria Math" panose="02040503050406030204" pitchFamily="18" charset="0"/>
                              </a:rPr>
                              <m:t> </m:t>
                            </m:r>
                            <m:r>
                              <a:rPr lang="en-NZ" altLang="ja-JP" sz="1200" i="1">
                                <a:solidFill>
                                  <a:schemeClr val="tx1"/>
                                </a:solidFill>
                                <a:latin typeface="Cambria Math" panose="02040503050406030204" pitchFamily="18" charset="0"/>
                              </a:rPr>
                              <m:t>𝑉𝑎𝑟</m:t>
                            </m:r>
                            <m:r>
                              <a:rPr lang="en-NZ" altLang="ja-JP" sz="1200" i="1">
                                <a:solidFill>
                                  <a:schemeClr val="tx1"/>
                                </a:solidFill>
                                <a:latin typeface="Cambria Math" panose="02040503050406030204" pitchFamily="18" charset="0"/>
                              </a:rPr>
                              <m:t>(</m:t>
                            </m:r>
                            <m:r>
                              <a:rPr lang="en-NZ" altLang="ja-JP" sz="1200" b="0" i="1" smtClean="0">
                                <a:solidFill>
                                  <a:schemeClr val="tx1"/>
                                </a:solidFill>
                                <a:latin typeface="Cambria Math" panose="02040503050406030204" pitchFamily="18" charset="0"/>
                              </a:rPr>
                              <m:t>𝑍</m:t>
                            </m:r>
                            <m:r>
                              <a:rPr lang="en-NZ" altLang="ja-JP" sz="1200" b="0" i="1" smtClean="0">
                                <a:solidFill>
                                  <a:schemeClr val="tx1"/>
                                </a:solidFill>
                                <a:latin typeface="Cambria Math" panose="02040503050406030204" pitchFamily="18" charset="0"/>
                              </a:rPr>
                              <m:t>)</m:t>
                            </m:r>
                          </m:e>
                        </m:rad>
                      </m:den>
                    </m:f>
                  </m:oMath>
                </a14:m>
                <a:r>
                  <a:rPr lang="en-NZ" altLang="ja-JP" sz="1200" dirty="0">
                    <a:solidFill>
                      <a:schemeClr val="tx1"/>
                    </a:solidFill>
                  </a:rPr>
                  <a:t> </a:t>
                </a:r>
                <a:r>
                  <a:rPr lang="en-NZ" altLang="ja-JP" sz="1600" dirty="0">
                    <a:solidFill>
                      <a:schemeClr val="tx1"/>
                    </a:solidFill>
                  </a:rPr>
                  <a:t>)</a:t>
                </a:r>
                <a:br>
                  <a:rPr lang="en-NZ" altLang="ja-JP" sz="1600" dirty="0">
                    <a:solidFill>
                      <a:schemeClr val="tx1"/>
                    </a:solidFill>
                  </a:rPr>
                </a:br>
                <a:r>
                  <a:rPr lang="en-NZ" altLang="ja-JP" sz="1600" dirty="0">
                    <a:solidFill>
                      <a:schemeClr val="tx1"/>
                    </a:solidFill>
                  </a:rPr>
                  <a:t>the covariance matrix of the standardised data is always equal to the correlation matrix of the </a:t>
                </a:r>
                <a:r>
                  <a:rPr lang="en-NZ" altLang="ja-JP" sz="1600" b="1" dirty="0">
                    <a:solidFill>
                      <a:schemeClr val="tx1"/>
                    </a:solidFill>
                  </a:rPr>
                  <a:t>unstandardised</a:t>
                </a:r>
                <a:r>
                  <a:rPr lang="en-NZ" altLang="ja-JP" sz="1600" dirty="0">
                    <a:solidFill>
                      <a:schemeClr val="tx1"/>
                    </a:solidFill>
                  </a:rPr>
                  <a:t> data, i.e. </a:t>
                </a:r>
                <a:r>
                  <a:rPr lang="en-NZ" altLang="ja-JP" sz="1600" b="1" dirty="0">
                    <a:solidFill>
                      <a:schemeClr val="tx1"/>
                    </a:solidFill>
                  </a:rPr>
                  <a:t> </a:t>
                </a:r>
              </a:p>
              <a:p>
                <a:pPr lvl="0">
                  <a:lnSpc>
                    <a:spcPct val="100000"/>
                  </a:lnSpc>
                  <a:defRPr/>
                </a:pPr>
                <a:endParaRPr lang="en-NZ" altLang="ja-JP" sz="200" b="1" dirty="0">
                  <a:solidFill>
                    <a:schemeClr val="tx1"/>
                  </a:solidFill>
                </a:endParaRPr>
              </a:p>
              <a:p>
                <a:pPr lvl="0">
                  <a:lnSpc>
                    <a:spcPct val="100000"/>
                  </a:lnSpc>
                  <a:defRPr/>
                </a:pPr>
                <a:endParaRPr lang="en-NZ" altLang="ja-JP" sz="200" b="1" dirty="0">
                  <a:solidFill>
                    <a:schemeClr val="tx1"/>
                  </a:solidFill>
                </a:endParaRPr>
              </a:p>
              <a:p>
                <a:pPr lvl="0">
                  <a:lnSpc>
                    <a:spcPct val="100000"/>
                  </a:lnSpc>
                  <a:defRPr/>
                </a:pPr>
                <a:endParaRPr lang="en-NZ" altLang="ja-JP" sz="200" b="1" dirty="0">
                  <a:solidFill>
                    <a:schemeClr val="tx1"/>
                  </a:solidFill>
                </a:endParaRPr>
              </a:p>
              <a:p>
                <a:pPr lvl="0">
                  <a:lnSpc>
                    <a:spcPct val="100000"/>
                  </a:lnSpc>
                  <a:defRPr/>
                </a:pPr>
                <a:endParaRPr lang="en-NZ" altLang="ja-JP" sz="200" dirty="0">
                  <a:solidFill>
                    <a:schemeClr val="tx1"/>
                  </a:solidFill>
                </a:endParaRPr>
              </a:p>
              <a:p>
                <a:pPr lvl="0">
                  <a:lnSpc>
                    <a:spcPct val="100000"/>
                  </a:lnSpc>
                  <a:defRPr/>
                </a:pPr>
                <a14:m>
                  <m:oMathPara xmlns:m="http://schemas.openxmlformats.org/officeDocument/2006/math">
                    <m:oMathParaPr>
                      <m:jc m:val="centerGroup"/>
                    </m:oMathParaPr>
                    <m:oMath xmlns:m="http://schemas.openxmlformats.org/officeDocument/2006/math">
                      <m:d>
                        <m:dPr>
                          <m:begChr m:val="["/>
                          <m:endChr m:val="]"/>
                          <m:ctrlPr>
                            <a:rPr lang="en-NZ" altLang="ja-JP" sz="1400" i="1">
                              <a:solidFill>
                                <a:schemeClr val="tx1"/>
                              </a:solidFill>
                              <a:latin typeface="Cambria Math" panose="02040503050406030204" pitchFamily="18" charset="0"/>
                            </a:rPr>
                          </m:ctrlPr>
                        </m:dPr>
                        <m:e>
                          <m:m>
                            <m:mPr>
                              <m:mcs>
                                <m:mc>
                                  <m:mcPr>
                                    <m:count m:val="3"/>
                                    <m:mcJc m:val="center"/>
                                  </m:mcPr>
                                </m:mc>
                              </m:mcs>
                              <m:ctrlPr>
                                <a:rPr lang="en-NZ" altLang="ja-JP" sz="1400" i="1">
                                  <a:solidFill>
                                    <a:schemeClr val="tx1"/>
                                  </a:solidFill>
                                  <a:latin typeface="Cambria Math" panose="02040503050406030204" pitchFamily="18" charset="0"/>
                                </a:rPr>
                              </m:ctrlPr>
                            </m:mPr>
                            <m:mr>
                              <m:e>
                                <m:r>
                                  <m:rPr>
                                    <m:brk m:alnAt="7"/>
                                  </m:rPr>
                                  <a:rPr lang="en-NZ" altLang="ja-JP" sz="1400" i="1">
                                    <a:solidFill>
                                      <a:schemeClr val="tx1"/>
                                    </a:solidFill>
                                    <a:latin typeface="Cambria Math" panose="02040503050406030204" pitchFamily="18" charset="0"/>
                                  </a:rPr>
                                  <m:t>𝑐</m:t>
                                </m:r>
                                <m:r>
                                  <a:rPr lang="en-NZ" altLang="ja-JP" sz="1400" i="1">
                                    <a:solidFill>
                                      <a:schemeClr val="tx1"/>
                                    </a:solidFill>
                                    <a:latin typeface="Cambria Math" panose="02040503050406030204" pitchFamily="18" charset="0"/>
                                  </a:rPr>
                                  <m:t>𝑜𝑣</m:t>
                                </m:r>
                                <m:r>
                                  <a:rPr lang="en-NZ" altLang="ja-JP" sz="1400" i="1">
                                    <a:solidFill>
                                      <a:schemeClr val="tx1"/>
                                    </a:solidFill>
                                    <a:latin typeface="Cambria Math" panose="02040503050406030204" pitchFamily="18" charset="0"/>
                                  </a:rPr>
                                  <m:t>(</m:t>
                                </m:r>
                                <m:acc>
                                  <m:accPr>
                                    <m:chr m:val="̂"/>
                                    <m:ctrlPr>
                                      <a:rPr lang="en-NZ" altLang="ja-JP" sz="1400" i="1">
                                        <a:solidFill>
                                          <a:schemeClr val="tx1"/>
                                        </a:solidFill>
                                        <a:latin typeface="Cambria Math" panose="02040503050406030204" pitchFamily="18" charset="0"/>
                                      </a:rPr>
                                    </m:ctrlPr>
                                  </m:accPr>
                                  <m:e>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i="1">
                                            <a:solidFill>
                                              <a:schemeClr val="tx1"/>
                                            </a:solidFill>
                                            <a:latin typeface="Cambria Math" panose="02040503050406030204" pitchFamily="18" charset="0"/>
                                          </a:rPr>
                                          <m:t>1</m:t>
                                        </m:r>
                                      </m:sub>
                                    </m:sSub>
                                  </m:e>
                                </m:acc>
                                <m:r>
                                  <a:rPr lang="en-NZ" altLang="ja-JP" sz="1400" i="1">
                                    <a:solidFill>
                                      <a:schemeClr val="tx1"/>
                                    </a:solidFill>
                                    <a:latin typeface="Cambria Math" panose="02040503050406030204" pitchFamily="18" charset="0"/>
                                  </a:rPr>
                                  <m:t>,</m:t>
                                </m:r>
                                <m:acc>
                                  <m:accPr>
                                    <m:chr m:val="̂"/>
                                    <m:ctrlPr>
                                      <a:rPr lang="en-NZ" altLang="ja-JP" sz="1400" i="1">
                                        <a:solidFill>
                                          <a:schemeClr val="tx1"/>
                                        </a:solidFill>
                                        <a:latin typeface="Cambria Math" panose="02040503050406030204" pitchFamily="18" charset="0"/>
                                      </a:rPr>
                                    </m:ctrlPr>
                                  </m:accPr>
                                  <m:e>
                                    <m:r>
                                      <a:rPr lang="en-NZ" altLang="ja-JP" sz="1400" i="1">
                                        <a:solidFill>
                                          <a:schemeClr val="tx1"/>
                                        </a:solidFill>
                                        <a:latin typeface="Cambria Math" panose="02040503050406030204" pitchFamily="18" charset="0"/>
                                      </a:rPr>
                                      <m:t> </m:t>
                                    </m:r>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i="1">
                                            <a:solidFill>
                                              <a:schemeClr val="tx1"/>
                                            </a:solidFill>
                                            <a:latin typeface="Cambria Math" panose="02040503050406030204" pitchFamily="18" charset="0"/>
                                          </a:rPr>
                                          <m:t>1</m:t>
                                        </m:r>
                                      </m:sub>
                                    </m:sSub>
                                  </m:e>
                                </m:acc>
                                <m:r>
                                  <m:rPr>
                                    <m:brk m:alnAt="7"/>
                                  </m:rPr>
                                  <a:rPr lang="en-NZ" altLang="ja-JP" sz="1400" i="1">
                                    <a:solidFill>
                                      <a:schemeClr val="tx1"/>
                                    </a:solidFill>
                                    <a:latin typeface="Cambria Math" panose="02040503050406030204" pitchFamily="18" charset="0"/>
                                  </a:rPr>
                                  <m:t>)</m:t>
                                </m:r>
                              </m:e>
                              <m:e>
                                <m:r>
                                  <m:rPr>
                                    <m:brk m:alnAt="7"/>
                                  </m:rPr>
                                  <a:rPr lang="en-NZ" altLang="ja-JP" sz="1400" i="1">
                                    <a:solidFill>
                                      <a:schemeClr val="tx1"/>
                                    </a:solidFill>
                                    <a:latin typeface="Cambria Math" panose="02040503050406030204" pitchFamily="18" charset="0"/>
                                  </a:rPr>
                                  <m:t>𝑐</m:t>
                                </m:r>
                                <m:r>
                                  <a:rPr lang="en-NZ" altLang="ja-JP" sz="1400" i="1">
                                    <a:solidFill>
                                      <a:schemeClr val="tx1"/>
                                    </a:solidFill>
                                    <a:latin typeface="Cambria Math" panose="02040503050406030204" pitchFamily="18" charset="0"/>
                                  </a:rPr>
                                  <m:t>𝑜𝑣</m:t>
                                </m:r>
                                <m:r>
                                  <a:rPr lang="en-NZ" altLang="ja-JP" sz="1400" i="1">
                                    <a:solidFill>
                                      <a:schemeClr val="tx1"/>
                                    </a:solidFill>
                                    <a:latin typeface="Cambria Math" panose="02040503050406030204" pitchFamily="18" charset="0"/>
                                  </a:rPr>
                                  <m:t>(</m:t>
                                </m:r>
                                <m:acc>
                                  <m:accPr>
                                    <m:chr m:val="̂"/>
                                    <m:ctrlPr>
                                      <a:rPr lang="en-NZ" altLang="ja-JP" sz="1400" i="1">
                                        <a:solidFill>
                                          <a:schemeClr val="tx1"/>
                                        </a:solidFill>
                                        <a:latin typeface="Cambria Math" panose="02040503050406030204" pitchFamily="18" charset="0"/>
                                      </a:rPr>
                                    </m:ctrlPr>
                                  </m:accPr>
                                  <m:e>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i="1">
                                            <a:solidFill>
                                              <a:schemeClr val="tx1"/>
                                            </a:solidFill>
                                            <a:latin typeface="Cambria Math" panose="02040503050406030204" pitchFamily="18" charset="0"/>
                                          </a:rPr>
                                          <m:t>1</m:t>
                                        </m:r>
                                      </m:sub>
                                    </m:sSub>
                                  </m:e>
                                </m:acc>
                                <m:r>
                                  <a:rPr lang="en-NZ" altLang="ja-JP" sz="1400" i="1">
                                    <a:solidFill>
                                      <a:schemeClr val="tx1"/>
                                    </a:solidFill>
                                    <a:latin typeface="Cambria Math" panose="02040503050406030204" pitchFamily="18" charset="0"/>
                                  </a:rPr>
                                  <m:t>,</m:t>
                                </m:r>
                                <m:acc>
                                  <m:accPr>
                                    <m:chr m:val="̂"/>
                                    <m:ctrlPr>
                                      <a:rPr lang="en-NZ" altLang="ja-JP" sz="1400" i="1">
                                        <a:solidFill>
                                          <a:schemeClr val="tx1"/>
                                        </a:solidFill>
                                        <a:latin typeface="Cambria Math" panose="02040503050406030204" pitchFamily="18" charset="0"/>
                                      </a:rPr>
                                    </m:ctrlPr>
                                  </m:accPr>
                                  <m:e>
                                    <m:r>
                                      <a:rPr lang="en-NZ" altLang="ja-JP" sz="1400" i="1">
                                        <a:solidFill>
                                          <a:schemeClr val="tx1"/>
                                        </a:solidFill>
                                        <a:latin typeface="Cambria Math" panose="02040503050406030204" pitchFamily="18" charset="0"/>
                                      </a:rPr>
                                      <m:t> </m:t>
                                    </m:r>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i="1">
                                            <a:solidFill>
                                              <a:schemeClr val="tx1"/>
                                            </a:solidFill>
                                            <a:latin typeface="Cambria Math" panose="02040503050406030204" pitchFamily="18" charset="0"/>
                                          </a:rPr>
                                          <m:t>2</m:t>
                                        </m:r>
                                      </m:sub>
                                    </m:sSub>
                                  </m:e>
                                </m:acc>
                                <m:r>
                                  <m:rPr>
                                    <m:brk m:alnAt="7"/>
                                  </m:rPr>
                                  <a:rPr lang="en-NZ" altLang="ja-JP" sz="1400" i="1">
                                    <a:solidFill>
                                      <a:schemeClr val="tx1"/>
                                    </a:solidFill>
                                    <a:latin typeface="Cambria Math" panose="02040503050406030204" pitchFamily="18" charset="0"/>
                                  </a:rPr>
                                  <m:t>)</m:t>
                                </m:r>
                              </m:e>
                              <m:e>
                                <m:r>
                                  <m:rPr>
                                    <m:brk m:alnAt="7"/>
                                  </m:rPr>
                                  <a:rPr lang="en-NZ" altLang="ja-JP" sz="1400" i="1">
                                    <a:solidFill>
                                      <a:schemeClr val="tx1"/>
                                    </a:solidFill>
                                    <a:latin typeface="Cambria Math" panose="02040503050406030204" pitchFamily="18" charset="0"/>
                                  </a:rPr>
                                  <m:t>𝑐</m:t>
                                </m:r>
                                <m:r>
                                  <a:rPr lang="en-NZ" altLang="ja-JP" sz="1400" i="1">
                                    <a:solidFill>
                                      <a:schemeClr val="tx1"/>
                                    </a:solidFill>
                                    <a:latin typeface="Cambria Math" panose="02040503050406030204" pitchFamily="18" charset="0"/>
                                  </a:rPr>
                                  <m:t>𝑜𝑣</m:t>
                                </m:r>
                                <m:r>
                                  <a:rPr lang="en-NZ" altLang="ja-JP" sz="1400" i="1">
                                    <a:solidFill>
                                      <a:schemeClr val="tx1"/>
                                    </a:solidFill>
                                    <a:latin typeface="Cambria Math" panose="02040503050406030204" pitchFamily="18" charset="0"/>
                                  </a:rPr>
                                  <m:t>(</m:t>
                                </m:r>
                                <m:acc>
                                  <m:accPr>
                                    <m:chr m:val="̂"/>
                                    <m:ctrlPr>
                                      <a:rPr lang="en-NZ" altLang="ja-JP" sz="1400" i="1">
                                        <a:solidFill>
                                          <a:schemeClr val="tx1"/>
                                        </a:solidFill>
                                        <a:latin typeface="Cambria Math" panose="02040503050406030204" pitchFamily="18" charset="0"/>
                                      </a:rPr>
                                    </m:ctrlPr>
                                  </m:accPr>
                                  <m:e>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i="1">
                                            <a:solidFill>
                                              <a:schemeClr val="tx1"/>
                                            </a:solidFill>
                                            <a:latin typeface="Cambria Math" panose="02040503050406030204" pitchFamily="18" charset="0"/>
                                          </a:rPr>
                                          <m:t>1</m:t>
                                        </m:r>
                                      </m:sub>
                                    </m:sSub>
                                  </m:e>
                                </m:acc>
                                <m:r>
                                  <a:rPr lang="en-NZ" altLang="ja-JP" sz="1400" i="1">
                                    <a:solidFill>
                                      <a:schemeClr val="tx1"/>
                                    </a:solidFill>
                                    <a:latin typeface="Cambria Math" panose="02040503050406030204" pitchFamily="18" charset="0"/>
                                  </a:rPr>
                                  <m:t>,</m:t>
                                </m:r>
                                <m:acc>
                                  <m:accPr>
                                    <m:chr m:val="̂"/>
                                    <m:ctrlPr>
                                      <a:rPr lang="en-NZ" altLang="ja-JP" sz="1400" i="1">
                                        <a:solidFill>
                                          <a:schemeClr val="tx1"/>
                                        </a:solidFill>
                                        <a:latin typeface="Cambria Math" panose="02040503050406030204" pitchFamily="18" charset="0"/>
                                      </a:rPr>
                                    </m:ctrlPr>
                                  </m:accPr>
                                  <m:e>
                                    <m:r>
                                      <a:rPr lang="en-NZ" altLang="ja-JP" sz="1400" i="1">
                                        <a:solidFill>
                                          <a:schemeClr val="tx1"/>
                                        </a:solidFill>
                                        <a:latin typeface="Cambria Math" panose="02040503050406030204" pitchFamily="18" charset="0"/>
                                      </a:rPr>
                                      <m:t> </m:t>
                                    </m:r>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i="1">
                                            <a:solidFill>
                                              <a:schemeClr val="tx1"/>
                                            </a:solidFill>
                                            <a:latin typeface="Cambria Math" panose="02040503050406030204" pitchFamily="18" charset="0"/>
                                          </a:rPr>
                                          <m:t>3</m:t>
                                        </m:r>
                                      </m:sub>
                                    </m:sSub>
                                  </m:e>
                                </m:acc>
                                <m:r>
                                  <m:rPr>
                                    <m:brk m:alnAt="7"/>
                                  </m:rPr>
                                  <a:rPr lang="en-NZ" altLang="ja-JP" sz="1400" i="1">
                                    <a:solidFill>
                                      <a:schemeClr val="tx1"/>
                                    </a:solidFill>
                                    <a:latin typeface="Cambria Math" panose="02040503050406030204" pitchFamily="18" charset="0"/>
                                  </a:rPr>
                                  <m:t>)</m:t>
                                </m:r>
                              </m:e>
                            </m:mr>
                            <m:mr>
                              <m:e>
                                <m:r>
                                  <m:rPr>
                                    <m:brk m:alnAt="7"/>
                                  </m:rPr>
                                  <a:rPr lang="en-NZ" altLang="ja-JP" sz="1400" i="1">
                                    <a:solidFill>
                                      <a:schemeClr val="tx1"/>
                                    </a:solidFill>
                                    <a:latin typeface="Cambria Math" panose="02040503050406030204" pitchFamily="18" charset="0"/>
                                  </a:rPr>
                                  <m:t>𝑐</m:t>
                                </m:r>
                                <m:r>
                                  <a:rPr lang="en-NZ" altLang="ja-JP" sz="1400" i="1">
                                    <a:solidFill>
                                      <a:schemeClr val="tx1"/>
                                    </a:solidFill>
                                    <a:latin typeface="Cambria Math" panose="02040503050406030204" pitchFamily="18" charset="0"/>
                                  </a:rPr>
                                  <m:t>𝑜𝑣</m:t>
                                </m:r>
                                <m:r>
                                  <a:rPr lang="en-NZ" altLang="ja-JP" sz="1400" i="1">
                                    <a:solidFill>
                                      <a:schemeClr val="tx1"/>
                                    </a:solidFill>
                                    <a:latin typeface="Cambria Math" panose="02040503050406030204" pitchFamily="18" charset="0"/>
                                  </a:rPr>
                                  <m:t>(</m:t>
                                </m:r>
                                <m:acc>
                                  <m:accPr>
                                    <m:chr m:val="̂"/>
                                    <m:ctrlPr>
                                      <a:rPr lang="en-NZ" altLang="ja-JP" sz="1400" i="1">
                                        <a:solidFill>
                                          <a:schemeClr val="tx1"/>
                                        </a:solidFill>
                                        <a:latin typeface="Cambria Math" panose="02040503050406030204" pitchFamily="18" charset="0"/>
                                      </a:rPr>
                                    </m:ctrlPr>
                                  </m:accPr>
                                  <m:e>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i="1">
                                            <a:solidFill>
                                              <a:schemeClr val="tx1"/>
                                            </a:solidFill>
                                            <a:latin typeface="Cambria Math" panose="02040503050406030204" pitchFamily="18" charset="0"/>
                                          </a:rPr>
                                          <m:t>2</m:t>
                                        </m:r>
                                      </m:sub>
                                    </m:sSub>
                                  </m:e>
                                </m:acc>
                                <m:r>
                                  <a:rPr lang="en-NZ" altLang="ja-JP" sz="1400" i="1">
                                    <a:solidFill>
                                      <a:schemeClr val="tx1"/>
                                    </a:solidFill>
                                    <a:latin typeface="Cambria Math" panose="02040503050406030204" pitchFamily="18" charset="0"/>
                                  </a:rPr>
                                  <m:t>,</m:t>
                                </m:r>
                                <m:acc>
                                  <m:accPr>
                                    <m:chr m:val="̂"/>
                                    <m:ctrlPr>
                                      <a:rPr lang="en-NZ" altLang="ja-JP" sz="1400" i="1">
                                        <a:solidFill>
                                          <a:schemeClr val="tx1"/>
                                        </a:solidFill>
                                        <a:latin typeface="Cambria Math" panose="02040503050406030204" pitchFamily="18" charset="0"/>
                                      </a:rPr>
                                    </m:ctrlPr>
                                  </m:accPr>
                                  <m:e>
                                    <m:r>
                                      <a:rPr lang="en-NZ" altLang="ja-JP" sz="1400" i="1">
                                        <a:solidFill>
                                          <a:schemeClr val="tx1"/>
                                        </a:solidFill>
                                        <a:latin typeface="Cambria Math" panose="02040503050406030204" pitchFamily="18" charset="0"/>
                                      </a:rPr>
                                      <m:t> </m:t>
                                    </m:r>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i="1">
                                            <a:solidFill>
                                              <a:schemeClr val="tx1"/>
                                            </a:solidFill>
                                            <a:latin typeface="Cambria Math" panose="02040503050406030204" pitchFamily="18" charset="0"/>
                                          </a:rPr>
                                          <m:t>1</m:t>
                                        </m:r>
                                      </m:sub>
                                    </m:sSub>
                                  </m:e>
                                </m:acc>
                                <m:r>
                                  <m:rPr>
                                    <m:brk m:alnAt="7"/>
                                  </m:rPr>
                                  <a:rPr lang="en-NZ" altLang="ja-JP" sz="1400" i="1">
                                    <a:solidFill>
                                      <a:schemeClr val="tx1"/>
                                    </a:solidFill>
                                    <a:latin typeface="Cambria Math" panose="02040503050406030204" pitchFamily="18" charset="0"/>
                                  </a:rPr>
                                  <m:t>)</m:t>
                                </m:r>
                              </m:e>
                              <m:e>
                                <m:r>
                                  <m:rPr>
                                    <m:brk m:alnAt="7"/>
                                  </m:rPr>
                                  <a:rPr lang="en-NZ" altLang="ja-JP" sz="1400" i="1">
                                    <a:solidFill>
                                      <a:schemeClr val="tx1"/>
                                    </a:solidFill>
                                    <a:latin typeface="Cambria Math" panose="02040503050406030204" pitchFamily="18" charset="0"/>
                                  </a:rPr>
                                  <m:t>𝑐</m:t>
                                </m:r>
                                <m:r>
                                  <a:rPr lang="en-NZ" altLang="ja-JP" sz="1400" i="1">
                                    <a:solidFill>
                                      <a:schemeClr val="tx1"/>
                                    </a:solidFill>
                                    <a:latin typeface="Cambria Math" panose="02040503050406030204" pitchFamily="18" charset="0"/>
                                  </a:rPr>
                                  <m:t>𝑜𝑣</m:t>
                                </m:r>
                                <m:r>
                                  <a:rPr lang="en-NZ" altLang="ja-JP" sz="1400" i="1">
                                    <a:solidFill>
                                      <a:schemeClr val="tx1"/>
                                    </a:solidFill>
                                    <a:latin typeface="Cambria Math" panose="02040503050406030204" pitchFamily="18" charset="0"/>
                                  </a:rPr>
                                  <m:t>(</m:t>
                                </m:r>
                                <m:acc>
                                  <m:accPr>
                                    <m:chr m:val="̂"/>
                                    <m:ctrlPr>
                                      <a:rPr lang="en-NZ" altLang="ja-JP" sz="1400" i="1">
                                        <a:solidFill>
                                          <a:schemeClr val="tx1"/>
                                        </a:solidFill>
                                        <a:latin typeface="Cambria Math" panose="02040503050406030204" pitchFamily="18" charset="0"/>
                                      </a:rPr>
                                    </m:ctrlPr>
                                  </m:accPr>
                                  <m:e>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i="1">
                                            <a:solidFill>
                                              <a:schemeClr val="tx1"/>
                                            </a:solidFill>
                                            <a:latin typeface="Cambria Math" panose="02040503050406030204" pitchFamily="18" charset="0"/>
                                          </a:rPr>
                                          <m:t>2</m:t>
                                        </m:r>
                                      </m:sub>
                                    </m:sSub>
                                  </m:e>
                                </m:acc>
                                <m:r>
                                  <a:rPr lang="en-NZ" altLang="ja-JP" sz="1400" i="1">
                                    <a:solidFill>
                                      <a:schemeClr val="tx1"/>
                                    </a:solidFill>
                                    <a:latin typeface="Cambria Math" panose="02040503050406030204" pitchFamily="18" charset="0"/>
                                  </a:rPr>
                                  <m:t>,</m:t>
                                </m:r>
                                <m:acc>
                                  <m:accPr>
                                    <m:chr m:val="̂"/>
                                    <m:ctrlPr>
                                      <a:rPr lang="en-NZ" altLang="ja-JP" sz="1400" i="1">
                                        <a:solidFill>
                                          <a:schemeClr val="tx1"/>
                                        </a:solidFill>
                                        <a:latin typeface="Cambria Math" panose="02040503050406030204" pitchFamily="18" charset="0"/>
                                      </a:rPr>
                                    </m:ctrlPr>
                                  </m:accPr>
                                  <m:e>
                                    <m:r>
                                      <a:rPr lang="en-NZ" altLang="ja-JP" sz="1400" i="1">
                                        <a:solidFill>
                                          <a:schemeClr val="tx1"/>
                                        </a:solidFill>
                                        <a:latin typeface="Cambria Math" panose="02040503050406030204" pitchFamily="18" charset="0"/>
                                      </a:rPr>
                                      <m:t> </m:t>
                                    </m:r>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i="1">
                                            <a:solidFill>
                                              <a:schemeClr val="tx1"/>
                                            </a:solidFill>
                                            <a:latin typeface="Cambria Math" panose="02040503050406030204" pitchFamily="18" charset="0"/>
                                          </a:rPr>
                                          <m:t>2</m:t>
                                        </m:r>
                                      </m:sub>
                                    </m:sSub>
                                  </m:e>
                                </m:acc>
                                <m:r>
                                  <m:rPr>
                                    <m:brk m:alnAt="7"/>
                                  </m:rPr>
                                  <a:rPr lang="en-NZ" altLang="ja-JP" sz="1400" i="1">
                                    <a:solidFill>
                                      <a:schemeClr val="tx1"/>
                                    </a:solidFill>
                                    <a:latin typeface="Cambria Math" panose="02040503050406030204" pitchFamily="18" charset="0"/>
                                  </a:rPr>
                                  <m:t>)</m:t>
                                </m:r>
                              </m:e>
                              <m:e>
                                <m:r>
                                  <m:rPr>
                                    <m:brk m:alnAt="7"/>
                                  </m:rPr>
                                  <a:rPr lang="en-NZ" altLang="ja-JP" sz="1400" i="1">
                                    <a:solidFill>
                                      <a:schemeClr val="tx1"/>
                                    </a:solidFill>
                                    <a:latin typeface="Cambria Math" panose="02040503050406030204" pitchFamily="18" charset="0"/>
                                  </a:rPr>
                                  <m:t>𝑐</m:t>
                                </m:r>
                                <m:r>
                                  <a:rPr lang="en-NZ" altLang="ja-JP" sz="1400" i="1">
                                    <a:solidFill>
                                      <a:schemeClr val="tx1"/>
                                    </a:solidFill>
                                    <a:latin typeface="Cambria Math" panose="02040503050406030204" pitchFamily="18" charset="0"/>
                                  </a:rPr>
                                  <m:t>𝑜𝑣</m:t>
                                </m:r>
                                <m:r>
                                  <a:rPr lang="en-NZ" altLang="ja-JP" sz="1400" i="1">
                                    <a:solidFill>
                                      <a:schemeClr val="tx1"/>
                                    </a:solidFill>
                                    <a:latin typeface="Cambria Math" panose="02040503050406030204" pitchFamily="18" charset="0"/>
                                  </a:rPr>
                                  <m:t>(</m:t>
                                </m:r>
                                <m:acc>
                                  <m:accPr>
                                    <m:chr m:val="̂"/>
                                    <m:ctrlPr>
                                      <a:rPr lang="en-NZ" altLang="ja-JP" sz="1400" i="1">
                                        <a:solidFill>
                                          <a:schemeClr val="tx1"/>
                                        </a:solidFill>
                                        <a:latin typeface="Cambria Math" panose="02040503050406030204" pitchFamily="18" charset="0"/>
                                      </a:rPr>
                                    </m:ctrlPr>
                                  </m:accPr>
                                  <m:e>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i="1">
                                            <a:solidFill>
                                              <a:schemeClr val="tx1"/>
                                            </a:solidFill>
                                            <a:latin typeface="Cambria Math" panose="02040503050406030204" pitchFamily="18" charset="0"/>
                                          </a:rPr>
                                          <m:t>2</m:t>
                                        </m:r>
                                      </m:sub>
                                    </m:sSub>
                                  </m:e>
                                </m:acc>
                                <m:r>
                                  <a:rPr lang="en-NZ" altLang="ja-JP" sz="1400" i="1">
                                    <a:solidFill>
                                      <a:schemeClr val="tx1"/>
                                    </a:solidFill>
                                    <a:latin typeface="Cambria Math" panose="02040503050406030204" pitchFamily="18" charset="0"/>
                                  </a:rPr>
                                  <m:t>,</m:t>
                                </m:r>
                                <m:acc>
                                  <m:accPr>
                                    <m:chr m:val="̂"/>
                                    <m:ctrlPr>
                                      <a:rPr lang="en-NZ" altLang="ja-JP" sz="1400" i="1">
                                        <a:solidFill>
                                          <a:schemeClr val="tx1"/>
                                        </a:solidFill>
                                        <a:latin typeface="Cambria Math" panose="02040503050406030204" pitchFamily="18" charset="0"/>
                                      </a:rPr>
                                    </m:ctrlPr>
                                  </m:accPr>
                                  <m:e>
                                    <m:r>
                                      <a:rPr lang="en-NZ" altLang="ja-JP" sz="1400" i="1">
                                        <a:solidFill>
                                          <a:schemeClr val="tx1"/>
                                        </a:solidFill>
                                        <a:latin typeface="Cambria Math" panose="02040503050406030204" pitchFamily="18" charset="0"/>
                                      </a:rPr>
                                      <m:t> </m:t>
                                    </m:r>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i="1">
                                            <a:solidFill>
                                              <a:schemeClr val="tx1"/>
                                            </a:solidFill>
                                            <a:latin typeface="Cambria Math" panose="02040503050406030204" pitchFamily="18" charset="0"/>
                                          </a:rPr>
                                          <m:t>3</m:t>
                                        </m:r>
                                      </m:sub>
                                    </m:sSub>
                                  </m:e>
                                </m:acc>
                                <m:r>
                                  <m:rPr>
                                    <m:brk m:alnAt="7"/>
                                  </m:rPr>
                                  <a:rPr lang="en-NZ" altLang="ja-JP" sz="1400" i="1">
                                    <a:solidFill>
                                      <a:schemeClr val="tx1"/>
                                    </a:solidFill>
                                    <a:latin typeface="Cambria Math" panose="02040503050406030204" pitchFamily="18" charset="0"/>
                                  </a:rPr>
                                  <m:t>)</m:t>
                                </m:r>
                              </m:e>
                            </m:mr>
                            <m:mr>
                              <m:e>
                                <m:r>
                                  <m:rPr>
                                    <m:brk m:alnAt="7"/>
                                  </m:rPr>
                                  <a:rPr lang="en-NZ" altLang="ja-JP" sz="1400" i="1">
                                    <a:solidFill>
                                      <a:schemeClr val="tx1"/>
                                    </a:solidFill>
                                    <a:latin typeface="Cambria Math" panose="02040503050406030204" pitchFamily="18" charset="0"/>
                                  </a:rPr>
                                  <m:t>𝑐</m:t>
                                </m:r>
                                <m:r>
                                  <a:rPr lang="en-NZ" altLang="ja-JP" sz="1400" i="1">
                                    <a:solidFill>
                                      <a:schemeClr val="tx1"/>
                                    </a:solidFill>
                                    <a:latin typeface="Cambria Math" panose="02040503050406030204" pitchFamily="18" charset="0"/>
                                  </a:rPr>
                                  <m:t>𝑜𝑣</m:t>
                                </m:r>
                                <m:r>
                                  <a:rPr lang="en-NZ" altLang="ja-JP" sz="1400" i="1">
                                    <a:solidFill>
                                      <a:schemeClr val="tx1"/>
                                    </a:solidFill>
                                    <a:latin typeface="Cambria Math" panose="02040503050406030204" pitchFamily="18" charset="0"/>
                                  </a:rPr>
                                  <m:t>(</m:t>
                                </m:r>
                                <m:acc>
                                  <m:accPr>
                                    <m:chr m:val="̂"/>
                                    <m:ctrlPr>
                                      <a:rPr lang="en-NZ" altLang="ja-JP" sz="1400" i="1">
                                        <a:solidFill>
                                          <a:schemeClr val="tx1"/>
                                        </a:solidFill>
                                        <a:latin typeface="Cambria Math" panose="02040503050406030204" pitchFamily="18" charset="0"/>
                                      </a:rPr>
                                    </m:ctrlPr>
                                  </m:accPr>
                                  <m:e>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i="1">
                                            <a:solidFill>
                                              <a:schemeClr val="tx1"/>
                                            </a:solidFill>
                                            <a:latin typeface="Cambria Math" panose="02040503050406030204" pitchFamily="18" charset="0"/>
                                          </a:rPr>
                                          <m:t>3</m:t>
                                        </m:r>
                                      </m:sub>
                                    </m:sSub>
                                  </m:e>
                                </m:acc>
                                <m:r>
                                  <a:rPr lang="en-NZ" altLang="ja-JP" sz="1400" i="1">
                                    <a:solidFill>
                                      <a:schemeClr val="tx1"/>
                                    </a:solidFill>
                                    <a:latin typeface="Cambria Math" panose="02040503050406030204" pitchFamily="18" charset="0"/>
                                  </a:rPr>
                                  <m:t>,</m:t>
                                </m:r>
                                <m:acc>
                                  <m:accPr>
                                    <m:chr m:val="̂"/>
                                    <m:ctrlPr>
                                      <a:rPr lang="en-NZ" altLang="ja-JP" sz="1400" i="1">
                                        <a:solidFill>
                                          <a:schemeClr val="tx1"/>
                                        </a:solidFill>
                                        <a:latin typeface="Cambria Math" panose="02040503050406030204" pitchFamily="18" charset="0"/>
                                      </a:rPr>
                                    </m:ctrlPr>
                                  </m:accPr>
                                  <m:e>
                                    <m:r>
                                      <a:rPr lang="en-NZ" altLang="ja-JP" sz="1400" i="1">
                                        <a:solidFill>
                                          <a:schemeClr val="tx1"/>
                                        </a:solidFill>
                                        <a:latin typeface="Cambria Math" panose="02040503050406030204" pitchFamily="18" charset="0"/>
                                      </a:rPr>
                                      <m:t> </m:t>
                                    </m:r>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i="1">
                                            <a:solidFill>
                                              <a:schemeClr val="tx1"/>
                                            </a:solidFill>
                                            <a:latin typeface="Cambria Math" panose="02040503050406030204" pitchFamily="18" charset="0"/>
                                          </a:rPr>
                                          <m:t>1</m:t>
                                        </m:r>
                                      </m:sub>
                                    </m:sSub>
                                  </m:e>
                                </m:acc>
                                <m:r>
                                  <m:rPr>
                                    <m:brk m:alnAt="7"/>
                                  </m:rPr>
                                  <a:rPr lang="en-NZ" altLang="ja-JP" sz="1400" i="1">
                                    <a:solidFill>
                                      <a:schemeClr val="tx1"/>
                                    </a:solidFill>
                                    <a:latin typeface="Cambria Math" panose="02040503050406030204" pitchFamily="18" charset="0"/>
                                  </a:rPr>
                                  <m:t>)</m:t>
                                </m:r>
                              </m:e>
                              <m:e>
                                <m:r>
                                  <m:rPr>
                                    <m:brk m:alnAt="7"/>
                                  </m:rPr>
                                  <a:rPr lang="en-NZ" altLang="ja-JP" sz="1400" i="1">
                                    <a:solidFill>
                                      <a:schemeClr val="tx1"/>
                                    </a:solidFill>
                                    <a:latin typeface="Cambria Math" panose="02040503050406030204" pitchFamily="18" charset="0"/>
                                  </a:rPr>
                                  <m:t>𝑐</m:t>
                                </m:r>
                                <m:r>
                                  <a:rPr lang="en-NZ" altLang="ja-JP" sz="1400" i="1">
                                    <a:solidFill>
                                      <a:schemeClr val="tx1"/>
                                    </a:solidFill>
                                    <a:latin typeface="Cambria Math" panose="02040503050406030204" pitchFamily="18" charset="0"/>
                                  </a:rPr>
                                  <m:t>𝑜𝑣</m:t>
                                </m:r>
                                <m:r>
                                  <a:rPr lang="en-NZ" altLang="ja-JP" sz="1400" i="1">
                                    <a:solidFill>
                                      <a:schemeClr val="tx1"/>
                                    </a:solidFill>
                                    <a:latin typeface="Cambria Math" panose="02040503050406030204" pitchFamily="18" charset="0"/>
                                  </a:rPr>
                                  <m:t>(</m:t>
                                </m:r>
                                <m:acc>
                                  <m:accPr>
                                    <m:chr m:val="̂"/>
                                    <m:ctrlPr>
                                      <a:rPr lang="en-NZ" altLang="ja-JP" sz="1400" i="1">
                                        <a:solidFill>
                                          <a:schemeClr val="tx1"/>
                                        </a:solidFill>
                                        <a:latin typeface="Cambria Math" panose="02040503050406030204" pitchFamily="18" charset="0"/>
                                      </a:rPr>
                                    </m:ctrlPr>
                                  </m:accPr>
                                  <m:e>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i="1">
                                            <a:solidFill>
                                              <a:schemeClr val="tx1"/>
                                            </a:solidFill>
                                            <a:latin typeface="Cambria Math" panose="02040503050406030204" pitchFamily="18" charset="0"/>
                                          </a:rPr>
                                          <m:t>3</m:t>
                                        </m:r>
                                      </m:sub>
                                    </m:sSub>
                                  </m:e>
                                </m:acc>
                                <m:r>
                                  <a:rPr lang="en-NZ" altLang="ja-JP" sz="1400" i="1">
                                    <a:solidFill>
                                      <a:schemeClr val="tx1"/>
                                    </a:solidFill>
                                    <a:latin typeface="Cambria Math" panose="02040503050406030204" pitchFamily="18" charset="0"/>
                                  </a:rPr>
                                  <m:t>,</m:t>
                                </m:r>
                                <m:acc>
                                  <m:accPr>
                                    <m:chr m:val="̂"/>
                                    <m:ctrlPr>
                                      <a:rPr lang="en-NZ" altLang="ja-JP" sz="1400" i="1">
                                        <a:solidFill>
                                          <a:schemeClr val="tx1"/>
                                        </a:solidFill>
                                        <a:latin typeface="Cambria Math" panose="02040503050406030204" pitchFamily="18" charset="0"/>
                                      </a:rPr>
                                    </m:ctrlPr>
                                  </m:accPr>
                                  <m:e>
                                    <m:r>
                                      <a:rPr lang="en-NZ" altLang="ja-JP" sz="1400" i="1">
                                        <a:solidFill>
                                          <a:schemeClr val="tx1"/>
                                        </a:solidFill>
                                        <a:latin typeface="Cambria Math" panose="02040503050406030204" pitchFamily="18" charset="0"/>
                                      </a:rPr>
                                      <m:t> </m:t>
                                    </m:r>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i="1">
                                            <a:solidFill>
                                              <a:schemeClr val="tx1"/>
                                            </a:solidFill>
                                            <a:latin typeface="Cambria Math" panose="02040503050406030204" pitchFamily="18" charset="0"/>
                                          </a:rPr>
                                          <m:t>2</m:t>
                                        </m:r>
                                      </m:sub>
                                    </m:sSub>
                                  </m:e>
                                </m:acc>
                                <m:r>
                                  <m:rPr>
                                    <m:brk m:alnAt="7"/>
                                  </m:rPr>
                                  <a:rPr lang="en-NZ" altLang="ja-JP" sz="1400" i="1">
                                    <a:solidFill>
                                      <a:schemeClr val="tx1"/>
                                    </a:solidFill>
                                    <a:latin typeface="Cambria Math" panose="02040503050406030204" pitchFamily="18" charset="0"/>
                                  </a:rPr>
                                  <m:t>)</m:t>
                                </m:r>
                              </m:e>
                              <m:e>
                                <m:r>
                                  <m:rPr>
                                    <m:brk m:alnAt="7"/>
                                  </m:rPr>
                                  <a:rPr lang="en-NZ" altLang="ja-JP" sz="1400" i="1">
                                    <a:solidFill>
                                      <a:schemeClr val="tx1"/>
                                    </a:solidFill>
                                    <a:latin typeface="Cambria Math" panose="02040503050406030204" pitchFamily="18" charset="0"/>
                                  </a:rPr>
                                  <m:t>𝑐</m:t>
                                </m:r>
                                <m:r>
                                  <a:rPr lang="en-NZ" altLang="ja-JP" sz="1400" i="1">
                                    <a:solidFill>
                                      <a:schemeClr val="tx1"/>
                                    </a:solidFill>
                                    <a:latin typeface="Cambria Math" panose="02040503050406030204" pitchFamily="18" charset="0"/>
                                  </a:rPr>
                                  <m:t>𝑜𝑣</m:t>
                                </m:r>
                                <m:r>
                                  <a:rPr lang="en-NZ" altLang="ja-JP" sz="1400" i="1">
                                    <a:solidFill>
                                      <a:schemeClr val="tx1"/>
                                    </a:solidFill>
                                    <a:latin typeface="Cambria Math" panose="02040503050406030204" pitchFamily="18" charset="0"/>
                                  </a:rPr>
                                  <m:t>(</m:t>
                                </m:r>
                                <m:acc>
                                  <m:accPr>
                                    <m:chr m:val="̂"/>
                                    <m:ctrlPr>
                                      <a:rPr lang="en-NZ" altLang="ja-JP" sz="1400" i="1">
                                        <a:solidFill>
                                          <a:schemeClr val="tx1"/>
                                        </a:solidFill>
                                        <a:latin typeface="Cambria Math" panose="02040503050406030204" pitchFamily="18" charset="0"/>
                                      </a:rPr>
                                    </m:ctrlPr>
                                  </m:accPr>
                                  <m:e>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i="1">
                                            <a:solidFill>
                                              <a:schemeClr val="tx1"/>
                                            </a:solidFill>
                                            <a:latin typeface="Cambria Math" panose="02040503050406030204" pitchFamily="18" charset="0"/>
                                          </a:rPr>
                                          <m:t>3</m:t>
                                        </m:r>
                                      </m:sub>
                                    </m:sSub>
                                  </m:e>
                                </m:acc>
                                <m:r>
                                  <a:rPr lang="en-NZ" altLang="ja-JP" sz="1400" i="1">
                                    <a:solidFill>
                                      <a:schemeClr val="tx1"/>
                                    </a:solidFill>
                                    <a:latin typeface="Cambria Math" panose="02040503050406030204" pitchFamily="18" charset="0"/>
                                  </a:rPr>
                                  <m:t>,</m:t>
                                </m:r>
                                <m:acc>
                                  <m:accPr>
                                    <m:chr m:val="̂"/>
                                    <m:ctrlPr>
                                      <a:rPr lang="en-NZ" altLang="ja-JP" sz="1400" i="1">
                                        <a:solidFill>
                                          <a:schemeClr val="tx1"/>
                                        </a:solidFill>
                                        <a:latin typeface="Cambria Math" panose="02040503050406030204" pitchFamily="18" charset="0"/>
                                      </a:rPr>
                                    </m:ctrlPr>
                                  </m:accPr>
                                  <m:e>
                                    <m:r>
                                      <a:rPr lang="en-NZ" altLang="ja-JP" sz="1400" i="1">
                                        <a:solidFill>
                                          <a:schemeClr val="tx1"/>
                                        </a:solidFill>
                                        <a:latin typeface="Cambria Math" panose="02040503050406030204" pitchFamily="18" charset="0"/>
                                      </a:rPr>
                                      <m:t> </m:t>
                                    </m:r>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i="1">
                                            <a:solidFill>
                                              <a:schemeClr val="tx1"/>
                                            </a:solidFill>
                                            <a:latin typeface="Cambria Math" panose="02040503050406030204" pitchFamily="18" charset="0"/>
                                          </a:rPr>
                                          <m:t>3</m:t>
                                        </m:r>
                                      </m:sub>
                                    </m:sSub>
                                  </m:e>
                                </m:acc>
                                <m:r>
                                  <m:rPr>
                                    <m:brk m:alnAt="7"/>
                                  </m:rPr>
                                  <a:rPr lang="en-NZ" altLang="ja-JP" sz="1400" i="1">
                                    <a:solidFill>
                                      <a:schemeClr val="tx1"/>
                                    </a:solidFill>
                                    <a:latin typeface="Cambria Math" panose="02040503050406030204" pitchFamily="18" charset="0"/>
                                  </a:rPr>
                                  <m:t>)</m:t>
                                </m:r>
                              </m:e>
                            </m:mr>
                          </m:m>
                        </m:e>
                      </m:d>
                      <m:r>
                        <a:rPr lang="en-NZ" altLang="ja-JP" sz="1400" b="0" i="1" smtClean="0">
                          <a:solidFill>
                            <a:schemeClr val="tx1"/>
                          </a:solidFill>
                          <a:latin typeface="Cambria Math" panose="02040503050406030204" pitchFamily="18" charset="0"/>
                        </a:rPr>
                        <m:t>≡ </m:t>
                      </m:r>
                      <m:d>
                        <m:dPr>
                          <m:begChr m:val="["/>
                          <m:endChr m:val="]"/>
                          <m:ctrlPr>
                            <a:rPr lang="en-NZ" altLang="ja-JP" sz="1400" b="0" i="1" smtClean="0">
                              <a:solidFill>
                                <a:schemeClr val="tx1"/>
                              </a:solidFill>
                              <a:latin typeface="Cambria Math" panose="02040503050406030204" pitchFamily="18" charset="0"/>
                            </a:rPr>
                          </m:ctrlPr>
                        </m:dPr>
                        <m:e>
                          <m:m>
                            <m:mPr>
                              <m:mcs>
                                <m:mc>
                                  <m:mcPr>
                                    <m:count m:val="3"/>
                                    <m:mcJc m:val="center"/>
                                  </m:mcPr>
                                </m:mc>
                              </m:mcs>
                              <m:ctrlPr>
                                <a:rPr lang="en-NZ" altLang="ja-JP" sz="1400" b="0" i="1" smtClean="0">
                                  <a:solidFill>
                                    <a:schemeClr val="tx1"/>
                                  </a:solidFill>
                                  <a:latin typeface="Cambria Math" panose="02040503050406030204" pitchFamily="18" charset="0"/>
                                </a:rPr>
                              </m:ctrlPr>
                            </m:mPr>
                            <m:mr>
                              <m:e>
                                <m:r>
                                  <a:rPr lang="en-NZ" altLang="ja-JP" sz="1400" b="0" i="1" smtClean="0">
                                    <a:solidFill>
                                      <a:schemeClr val="tx1"/>
                                    </a:solidFill>
                                    <a:latin typeface="Cambria Math" panose="02040503050406030204" pitchFamily="18" charset="0"/>
                                  </a:rPr>
                                  <m:t>𝜌</m:t>
                                </m:r>
                                <m:r>
                                  <a:rPr lang="en-NZ" altLang="ja-JP" sz="1400" b="0" i="1" smtClean="0">
                                    <a:solidFill>
                                      <a:schemeClr val="tx1"/>
                                    </a:solidFill>
                                    <a:latin typeface="Cambria Math" panose="02040503050406030204" pitchFamily="18" charset="0"/>
                                  </a:rPr>
                                  <m:t>(</m:t>
                                </m:r>
                                <m:sSub>
                                  <m:sSubPr>
                                    <m:ctrlPr>
                                      <a:rPr lang="en-NZ" altLang="ja-JP" sz="1400" b="0" i="1" smtClean="0">
                                        <a:solidFill>
                                          <a:schemeClr val="tx1"/>
                                        </a:solidFill>
                                        <a:latin typeface="Cambria Math" panose="02040503050406030204" pitchFamily="18" charset="0"/>
                                      </a:rPr>
                                    </m:ctrlPr>
                                  </m:sSubPr>
                                  <m:e>
                                    <m:r>
                                      <a:rPr lang="en-NZ" altLang="ja-JP" sz="1400" b="0" i="1" smtClean="0">
                                        <a:solidFill>
                                          <a:schemeClr val="tx1"/>
                                        </a:solidFill>
                                        <a:latin typeface="Cambria Math" panose="02040503050406030204" pitchFamily="18" charset="0"/>
                                      </a:rPr>
                                      <m:t>𝑋</m:t>
                                    </m:r>
                                  </m:e>
                                  <m:sub>
                                    <m:r>
                                      <a:rPr lang="en-NZ" altLang="ja-JP" sz="1400" b="0" i="1" smtClean="0">
                                        <a:solidFill>
                                          <a:schemeClr val="tx1"/>
                                        </a:solidFill>
                                        <a:latin typeface="Cambria Math" panose="02040503050406030204" pitchFamily="18" charset="0"/>
                                      </a:rPr>
                                      <m:t>1</m:t>
                                    </m:r>
                                  </m:sub>
                                </m:sSub>
                                <m:r>
                                  <a:rPr lang="en-NZ" altLang="ja-JP" sz="1400" b="0" i="1" smtClean="0">
                                    <a:solidFill>
                                      <a:schemeClr val="tx1"/>
                                    </a:solidFill>
                                    <a:latin typeface="Cambria Math" panose="02040503050406030204" pitchFamily="18" charset="0"/>
                                  </a:rPr>
                                  <m:t>,</m:t>
                                </m:r>
                                <m:sSub>
                                  <m:sSubPr>
                                    <m:ctrlPr>
                                      <a:rPr lang="en-NZ" altLang="ja-JP" sz="1400" b="0" i="1" smtClean="0">
                                        <a:solidFill>
                                          <a:schemeClr val="tx1"/>
                                        </a:solidFill>
                                        <a:latin typeface="Cambria Math" panose="02040503050406030204" pitchFamily="18" charset="0"/>
                                      </a:rPr>
                                    </m:ctrlPr>
                                  </m:sSubPr>
                                  <m:e>
                                    <m:r>
                                      <a:rPr lang="en-NZ" altLang="ja-JP" sz="1400" b="0" i="1" smtClean="0">
                                        <a:solidFill>
                                          <a:schemeClr val="tx1"/>
                                        </a:solidFill>
                                        <a:latin typeface="Cambria Math" panose="02040503050406030204" pitchFamily="18" charset="0"/>
                                      </a:rPr>
                                      <m:t>𝑋</m:t>
                                    </m:r>
                                  </m:e>
                                  <m:sub>
                                    <m:r>
                                      <a:rPr lang="en-NZ" altLang="ja-JP" sz="1400" b="0" i="1" smtClean="0">
                                        <a:solidFill>
                                          <a:schemeClr val="tx1"/>
                                        </a:solidFill>
                                        <a:latin typeface="Cambria Math" panose="02040503050406030204" pitchFamily="18" charset="0"/>
                                      </a:rPr>
                                      <m:t>1</m:t>
                                    </m:r>
                                  </m:sub>
                                </m:sSub>
                                <m:r>
                                  <a:rPr lang="en-NZ" altLang="ja-JP" sz="1400" b="0" i="1" smtClean="0">
                                    <a:solidFill>
                                      <a:schemeClr val="tx1"/>
                                    </a:solidFill>
                                    <a:latin typeface="Cambria Math" panose="02040503050406030204" pitchFamily="18" charset="0"/>
                                  </a:rPr>
                                  <m:t>)</m:t>
                                </m:r>
                              </m:e>
                              <m:e>
                                <m:r>
                                  <a:rPr lang="en-NZ" altLang="ja-JP" sz="1400" i="1">
                                    <a:solidFill>
                                      <a:schemeClr val="tx1"/>
                                    </a:solidFill>
                                    <a:latin typeface="Cambria Math" panose="02040503050406030204" pitchFamily="18" charset="0"/>
                                  </a:rPr>
                                  <m:t>𝜌</m:t>
                                </m:r>
                                <m:r>
                                  <a:rPr lang="en-NZ" altLang="ja-JP" sz="1400" i="1">
                                    <a:solidFill>
                                      <a:schemeClr val="tx1"/>
                                    </a:solidFill>
                                    <a:latin typeface="Cambria Math" panose="02040503050406030204" pitchFamily="18" charset="0"/>
                                  </a:rPr>
                                  <m:t>(</m:t>
                                </m:r>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i="1">
                                        <a:solidFill>
                                          <a:schemeClr val="tx1"/>
                                        </a:solidFill>
                                        <a:latin typeface="Cambria Math" panose="02040503050406030204" pitchFamily="18" charset="0"/>
                                      </a:rPr>
                                      <m:t>1</m:t>
                                    </m:r>
                                  </m:sub>
                                </m:sSub>
                                <m:r>
                                  <a:rPr lang="en-NZ" altLang="ja-JP" sz="1400" i="1">
                                    <a:solidFill>
                                      <a:schemeClr val="tx1"/>
                                    </a:solidFill>
                                    <a:latin typeface="Cambria Math" panose="02040503050406030204" pitchFamily="18" charset="0"/>
                                  </a:rPr>
                                  <m:t>,</m:t>
                                </m:r>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b="0" i="1" smtClean="0">
                                        <a:solidFill>
                                          <a:schemeClr val="tx1"/>
                                        </a:solidFill>
                                        <a:latin typeface="Cambria Math" panose="02040503050406030204" pitchFamily="18" charset="0"/>
                                      </a:rPr>
                                      <m:t>2</m:t>
                                    </m:r>
                                  </m:sub>
                                </m:sSub>
                                <m:r>
                                  <a:rPr lang="en-NZ" altLang="ja-JP" sz="1400" i="1">
                                    <a:solidFill>
                                      <a:schemeClr val="tx1"/>
                                    </a:solidFill>
                                    <a:latin typeface="Cambria Math" panose="02040503050406030204" pitchFamily="18" charset="0"/>
                                  </a:rPr>
                                  <m:t>)</m:t>
                                </m:r>
                              </m:e>
                              <m:e>
                                <m:r>
                                  <a:rPr lang="en-NZ" altLang="ja-JP" sz="1400" i="1">
                                    <a:solidFill>
                                      <a:schemeClr val="tx1"/>
                                    </a:solidFill>
                                    <a:latin typeface="Cambria Math" panose="02040503050406030204" pitchFamily="18" charset="0"/>
                                  </a:rPr>
                                  <m:t>𝜌</m:t>
                                </m:r>
                                <m:r>
                                  <a:rPr lang="en-NZ" altLang="ja-JP" sz="1400" i="1">
                                    <a:solidFill>
                                      <a:schemeClr val="tx1"/>
                                    </a:solidFill>
                                    <a:latin typeface="Cambria Math" panose="02040503050406030204" pitchFamily="18" charset="0"/>
                                  </a:rPr>
                                  <m:t>(</m:t>
                                </m:r>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i="1">
                                        <a:solidFill>
                                          <a:schemeClr val="tx1"/>
                                        </a:solidFill>
                                        <a:latin typeface="Cambria Math" panose="02040503050406030204" pitchFamily="18" charset="0"/>
                                      </a:rPr>
                                      <m:t>1</m:t>
                                    </m:r>
                                  </m:sub>
                                </m:sSub>
                                <m:r>
                                  <a:rPr lang="en-NZ" altLang="ja-JP" sz="1400" i="1">
                                    <a:solidFill>
                                      <a:schemeClr val="tx1"/>
                                    </a:solidFill>
                                    <a:latin typeface="Cambria Math" panose="02040503050406030204" pitchFamily="18" charset="0"/>
                                  </a:rPr>
                                  <m:t>,</m:t>
                                </m:r>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b="0" i="1" smtClean="0">
                                        <a:solidFill>
                                          <a:schemeClr val="tx1"/>
                                        </a:solidFill>
                                        <a:latin typeface="Cambria Math" panose="02040503050406030204" pitchFamily="18" charset="0"/>
                                      </a:rPr>
                                      <m:t>3</m:t>
                                    </m:r>
                                  </m:sub>
                                </m:sSub>
                                <m:r>
                                  <a:rPr lang="en-NZ" altLang="ja-JP" sz="1400" i="1">
                                    <a:solidFill>
                                      <a:schemeClr val="tx1"/>
                                    </a:solidFill>
                                    <a:latin typeface="Cambria Math" panose="02040503050406030204" pitchFamily="18" charset="0"/>
                                  </a:rPr>
                                  <m:t>)</m:t>
                                </m:r>
                              </m:e>
                            </m:mr>
                            <m:mr>
                              <m:e>
                                <m:r>
                                  <a:rPr lang="en-NZ" altLang="ja-JP" sz="1400" i="1">
                                    <a:solidFill>
                                      <a:schemeClr val="tx1"/>
                                    </a:solidFill>
                                    <a:latin typeface="Cambria Math" panose="02040503050406030204" pitchFamily="18" charset="0"/>
                                  </a:rPr>
                                  <m:t>𝜌</m:t>
                                </m:r>
                                <m:r>
                                  <a:rPr lang="en-NZ" altLang="ja-JP" sz="1400" i="1">
                                    <a:solidFill>
                                      <a:schemeClr val="tx1"/>
                                    </a:solidFill>
                                    <a:latin typeface="Cambria Math" panose="02040503050406030204" pitchFamily="18" charset="0"/>
                                  </a:rPr>
                                  <m:t>(</m:t>
                                </m:r>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b="0" i="1" smtClean="0">
                                        <a:solidFill>
                                          <a:schemeClr val="tx1"/>
                                        </a:solidFill>
                                        <a:latin typeface="Cambria Math" panose="02040503050406030204" pitchFamily="18" charset="0"/>
                                      </a:rPr>
                                      <m:t>2</m:t>
                                    </m:r>
                                  </m:sub>
                                </m:sSub>
                                <m:r>
                                  <a:rPr lang="en-NZ" altLang="ja-JP" sz="1400" i="1">
                                    <a:solidFill>
                                      <a:schemeClr val="tx1"/>
                                    </a:solidFill>
                                    <a:latin typeface="Cambria Math" panose="02040503050406030204" pitchFamily="18" charset="0"/>
                                  </a:rPr>
                                  <m:t>,</m:t>
                                </m:r>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i="1">
                                        <a:solidFill>
                                          <a:schemeClr val="tx1"/>
                                        </a:solidFill>
                                        <a:latin typeface="Cambria Math" panose="02040503050406030204" pitchFamily="18" charset="0"/>
                                      </a:rPr>
                                      <m:t>1</m:t>
                                    </m:r>
                                  </m:sub>
                                </m:sSub>
                                <m:r>
                                  <a:rPr lang="en-NZ" altLang="ja-JP" sz="1400" i="1">
                                    <a:solidFill>
                                      <a:schemeClr val="tx1"/>
                                    </a:solidFill>
                                    <a:latin typeface="Cambria Math" panose="02040503050406030204" pitchFamily="18" charset="0"/>
                                  </a:rPr>
                                  <m:t>)</m:t>
                                </m:r>
                              </m:e>
                              <m:e>
                                <m:r>
                                  <a:rPr lang="en-NZ" altLang="ja-JP" sz="1400" i="1">
                                    <a:solidFill>
                                      <a:schemeClr val="tx1"/>
                                    </a:solidFill>
                                    <a:latin typeface="Cambria Math" panose="02040503050406030204" pitchFamily="18" charset="0"/>
                                  </a:rPr>
                                  <m:t>𝜌</m:t>
                                </m:r>
                                <m:r>
                                  <a:rPr lang="en-NZ" altLang="ja-JP" sz="1400" i="1">
                                    <a:solidFill>
                                      <a:schemeClr val="tx1"/>
                                    </a:solidFill>
                                    <a:latin typeface="Cambria Math" panose="02040503050406030204" pitchFamily="18" charset="0"/>
                                  </a:rPr>
                                  <m:t>(</m:t>
                                </m:r>
                                <m:sSub>
                                  <m:sSubPr>
                                    <m:ctrlPr>
                                      <a:rPr lang="en-NZ" altLang="ja-JP" sz="1400" i="1" smtClean="0">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b="0" i="1" smtClean="0">
                                        <a:solidFill>
                                          <a:schemeClr val="tx1"/>
                                        </a:solidFill>
                                        <a:latin typeface="Cambria Math" panose="02040503050406030204" pitchFamily="18" charset="0"/>
                                      </a:rPr>
                                      <m:t>2</m:t>
                                    </m:r>
                                  </m:sub>
                                </m:sSub>
                                <m:r>
                                  <a:rPr lang="en-NZ" altLang="ja-JP" sz="1400" i="1">
                                    <a:solidFill>
                                      <a:schemeClr val="tx1"/>
                                    </a:solidFill>
                                    <a:latin typeface="Cambria Math" panose="02040503050406030204" pitchFamily="18" charset="0"/>
                                  </a:rPr>
                                  <m:t>,</m:t>
                                </m:r>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b="0" i="1" smtClean="0">
                                        <a:solidFill>
                                          <a:schemeClr val="tx1"/>
                                        </a:solidFill>
                                        <a:latin typeface="Cambria Math" panose="02040503050406030204" pitchFamily="18" charset="0"/>
                                      </a:rPr>
                                      <m:t>2</m:t>
                                    </m:r>
                                  </m:sub>
                                </m:sSub>
                                <m:r>
                                  <a:rPr lang="en-NZ" altLang="ja-JP" sz="1400" i="1">
                                    <a:solidFill>
                                      <a:schemeClr val="tx1"/>
                                    </a:solidFill>
                                    <a:latin typeface="Cambria Math" panose="02040503050406030204" pitchFamily="18" charset="0"/>
                                  </a:rPr>
                                  <m:t>)</m:t>
                                </m:r>
                              </m:e>
                              <m:e>
                                <m:r>
                                  <a:rPr lang="en-NZ" altLang="ja-JP" sz="1400" i="1">
                                    <a:solidFill>
                                      <a:schemeClr val="tx1"/>
                                    </a:solidFill>
                                    <a:latin typeface="Cambria Math" panose="02040503050406030204" pitchFamily="18" charset="0"/>
                                  </a:rPr>
                                  <m:t>𝜌</m:t>
                                </m:r>
                                <m:r>
                                  <a:rPr lang="en-NZ" altLang="ja-JP" sz="1400" i="1">
                                    <a:solidFill>
                                      <a:schemeClr val="tx1"/>
                                    </a:solidFill>
                                    <a:latin typeface="Cambria Math" panose="02040503050406030204" pitchFamily="18" charset="0"/>
                                  </a:rPr>
                                  <m:t>(</m:t>
                                </m:r>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b="0" i="1" smtClean="0">
                                        <a:solidFill>
                                          <a:schemeClr val="tx1"/>
                                        </a:solidFill>
                                        <a:latin typeface="Cambria Math" panose="02040503050406030204" pitchFamily="18" charset="0"/>
                                      </a:rPr>
                                      <m:t>2</m:t>
                                    </m:r>
                                  </m:sub>
                                </m:sSub>
                                <m:r>
                                  <a:rPr lang="en-NZ" altLang="ja-JP" sz="1400" i="1">
                                    <a:solidFill>
                                      <a:schemeClr val="tx1"/>
                                    </a:solidFill>
                                    <a:latin typeface="Cambria Math" panose="02040503050406030204" pitchFamily="18" charset="0"/>
                                  </a:rPr>
                                  <m:t>,</m:t>
                                </m:r>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b="0" i="1" smtClean="0">
                                        <a:solidFill>
                                          <a:schemeClr val="tx1"/>
                                        </a:solidFill>
                                        <a:latin typeface="Cambria Math" panose="02040503050406030204" pitchFamily="18" charset="0"/>
                                      </a:rPr>
                                      <m:t>3</m:t>
                                    </m:r>
                                  </m:sub>
                                </m:sSub>
                                <m:r>
                                  <a:rPr lang="en-NZ" altLang="ja-JP" sz="1400" i="1">
                                    <a:solidFill>
                                      <a:schemeClr val="tx1"/>
                                    </a:solidFill>
                                    <a:latin typeface="Cambria Math" panose="02040503050406030204" pitchFamily="18" charset="0"/>
                                  </a:rPr>
                                  <m:t>)</m:t>
                                </m:r>
                              </m:e>
                            </m:mr>
                            <m:mr>
                              <m:e>
                                <m:r>
                                  <a:rPr lang="en-NZ" altLang="ja-JP" sz="1400" i="1">
                                    <a:solidFill>
                                      <a:schemeClr val="tx1"/>
                                    </a:solidFill>
                                    <a:latin typeface="Cambria Math" panose="02040503050406030204" pitchFamily="18" charset="0"/>
                                  </a:rPr>
                                  <m:t>𝜌</m:t>
                                </m:r>
                                <m:r>
                                  <a:rPr lang="en-NZ" altLang="ja-JP" sz="1400" i="1">
                                    <a:solidFill>
                                      <a:schemeClr val="tx1"/>
                                    </a:solidFill>
                                    <a:latin typeface="Cambria Math" panose="02040503050406030204" pitchFamily="18" charset="0"/>
                                  </a:rPr>
                                  <m:t>(</m:t>
                                </m:r>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b="0" i="1" smtClean="0">
                                        <a:solidFill>
                                          <a:schemeClr val="tx1"/>
                                        </a:solidFill>
                                        <a:latin typeface="Cambria Math" panose="02040503050406030204" pitchFamily="18" charset="0"/>
                                      </a:rPr>
                                      <m:t>3</m:t>
                                    </m:r>
                                  </m:sub>
                                </m:sSub>
                                <m:r>
                                  <a:rPr lang="en-NZ" altLang="ja-JP" sz="1400" i="1">
                                    <a:solidFill>
                                      <a:schemeClr val="tx1"/>
                                    </a:solidFill>
                                    <a:latin typeface="Cambria Math" panose="02040503050406030204" pitchFamily="18" charset="0"/>
                                  </a:rPr>
                                  <m:t>,</m:t>
                                </m:r>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i="1">
                                        <a:solidFill>
                                          <a:schemeClr val="tx1"/>
                                        </a:solidFill>
                                        <a:latin typeface="Cambria Math" panose="02040503050406030204" pitchFamily="18" charset="0"/>
                                      </a:rPr>
                                      <m:t>1</m:t>
                                    </m:r>
                                  </m:sub>
                                </m:sSub>
                                <m:r>
                                  <a:rPr lang="en-NZ" altLang="ja-JP" sz="1400" i="1">
                                    <a:solidFill>
                                      <a:schemeClr val="tx1"/>
                                    </a:solidFill>
                                    <a:latin typeface="Cambria Math" panose="02040503050406030204" pitchFamily="18" charset="0"/>
                                  </a:rPr>
                                  <m:t>)</m:t>
                                </m:r>
                              </m:e>
                              <m:e>
                                <m:r>
                                  <a:rPr lang="en-NZ" altLang="ja-JP" sz="1400" i="1">
                                    <a:solidFill>
                                      <a:schemeClr val="tx1"/>
                                    </a:solidFill>
                                    <a:latin typeface="Cambria Math" panose="02040503050406030204" pitchFamily="18" charset="0"/>
                                  </a:rPr>
                                  <m:t>𝜌</m:t>
                                </m:r>
                                <m:r>
                                  <a:rPr lang="en-NZ" altLang="ja-JP" sz="1400" i="1">
                                    <a:solidFill>
                                      <a:schemeClr val="tx1"/>
                                    </a:solidFill>
                                    <a:latin typeface="Cambria Math" panose="02040503050406030204" pitchFamily="18" charset="0"/>
                                  </a:rPr>
                                  <m:t>(</m:t>
                                </m:r>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b="0" i="1" smtClean="0">
                                        <a:solidFill>
                                          <a:schemeClr val="tx1"/>
                                        </a:solidFill>
                                        <a:latin typeface="Cambria Math" panose="02040503050406030204" pitchFamily="18" charset="0"/>
                                      </a:rPr>
                                      <m:t>3</m:t>
                                    </m:r>
                                  </m:sub>
                                </m:sSub>
                                <m:r>
                                  <a:rPr lang="en-NZ" altLang="ja-JP" sz="1400" i="1">
                                    <a:solidFill>
                                      <a:schemeClr val="tx1"/>
                                    </a:solidFill>
                                    <a:latin typeface="Cambria Math" panose="02040503050406030204" pitchFamily="18" charset="0"/>
                                  </a:rPr>
                                  <m:t>,</m:t>
                                </m:r>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b="0" i="1" smtClean="0">
                                        <a:solidFill>
                                          <a:schemeClr val="tx1"/>
                                        </a:solidFill>
                                        <a:latin typeface="Cambria Math" panose="02040503050406030204" pitchFamily="18" charset="0"/>
                                      </a:rPr>
                                      <m:t>2</m:t>
                                    </m:r>
                                  </m:sub>
                                </m:sSub>
                                <m:r>
                                  <a:rPr lang="en-NZ" altLang="ja-JP" sz="1400" i="1">
                                    <a:solidFill>
                                      <a:schemeClr val="tx1"/>
                                    </a:solidFill>
                                    <a:latin typeface="Cambria Math" panose="02040503050406030204" pitchFamily="18" charset="0"/>
                                  </a:rPr>
                                  <m:t>)</m:t>
                                </m:r>
                              </m:e>
                              <m:e>
                                <m:r>
                                  <a:rPr lang="en-NZ" altLang="ja-JP" sz="1400" i="1">
                                    <a:solidFill>
                                      <a:schemeClr val="tx1"/>
                                    </a:solidFill>
                                    <a:latin typeface="Cambria Math" panose="02040503050406030204" pitchFamily="18" charset="0"/>
                                  </a:rPr>
                                  <m:t>𝜌</m:t>
                                </m:r>
                                <m:r>
                                  <a:rPr lang="en-NZ" altLang="ja-JP" sz="1400" i="1">
                                    <a:solidFill>
                                      <a:schemeClr val="tx1"/>
                                    </a:solidFill>
                                    <a:latin typeface="Cambria Math" panose="02040503050406030204" pitchFamily="18" charset="0"/>
                                  </a:rPr>
                                  <m:t>(</m:t>
                                </m:r>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b="0" i="1" smtClean="0">
                                        <a:solidFill>
                                          <a:schemeClr val="tx1"/>
                                        </a:solidFill>
                                        <a:latin typeface="Cambria Math" panose="02040503050406030204" pitchFamily="18" charset="0"/>
                                      </a:rPr>
                                      <m:t>3</m:t>
                                    </m:r>
                                  </m:sub>
                                </m:sSub>
                                <m:r>
                                  <a:rPr lang="en-NZ" altLang="ja-JP" sz="1400" i="1">
                                    <a:solidFill>
                                      <a:schemeClr val="tx1"/>
                                    </a:solidFill>
                                    <a:latin typeface="Cambria Math" panose="02040503050406030204" pitchFamily="18" charset="0"/>
                                  </a:rPr>
                                  <m:t>,</m:t>
                                </m:r>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b="0" i="1" smtClean="0">
                                        <a:solidFill>
                                          <a:schemeClr val="tx1"/>
                                        </a:solidFill>
                                        <a:latin typeface="Cambria Math" panose="02040503050406030204" pitchFamily="18" charset="0"/>
                                      </a:rPr>
                                      <m:t>3</m:t>
                                    </m:r>
                                  </m:sub>
                                </m:sSub>
                                <m:r>
                                  <a:rPr lang="en-NZ" altLang="ja-JP" sz="1400" i="1">
                                    <a:solidFill>
                                      <a:schemeClr val="tx1"/>
                                    </a:solidFill>
                                    <a:latin typeface="Cambria Math" panose="02040503050406030204" pitchFamily="18" charset="0"/>
                                  </a:rPr>
                                  <m:t>)</m:t>
                                </m:r>
                              </m:e>
                            </m:mr>
                          </m:m>
                        </m:e>
                      </m:d>
                    </m:oMath>
                  </m:oMathPara>
                </a14:m>
                <a:endParaRPr lang="en-NZ" altLang="ja-JP" sz="1400" dirty="0">
                  <a:solidFill>
                    <a:schemeClr val="tx1"/>
                  </a:solidFill>
                </a:endParaRPr>
              </a:p>
            </p:txBody>
          </p:sp>
        </mc:Choice>
        <mc:Fallback xmlns="">
          <p:sp>
            <p:nvSpPr>
              <p:cNvPr id="18" name="Text Placeholder 5">
                <a:extLst>
                  <a:ext uri="{FF2B5EF4-FFF2-40B4-BE49-F238E27FC236}">
                    <a16:creationId xmlns:a16="http://schemas.microsoft.com/office/drawing/2014/main" id="{2CE44542-1299-DE9D-27D7-44DA079E027D}"/>
                  </a:ext>
                </a:extLst>
              </p:cNvPr>
              <p:cNvSpPr txBox="1">
                <a:spLocks noRot="1" noChangeAspect="1" noMove="1" noResize="1" noEditPoints="1" noAdjustHandles="1" noChangeArrowheads="1" noChangeShapeType="1" noTextEdit="1"/>
              </p:cNvSpPr>
              <p:nvPr/>
            </p:nvSpPr>
            <p:spPr>
              <a:xfrm>
                <a:off x="4539018" y="3517340"/>
                <a:ext cx="7550347" cy="1733640"/>
              </a:xfrm>
              <a:prstGeom prst="rect">
                <a:avLst/>
              </a:prstGeom>
              <a:blipFill>
                <a:blip r:embed="rId7"/>
                <a:stretch>
                  <a:fillRect l="-323" t="-12324"/>
                </a:stretch>
              </a:blipFill>
            </p:spPr>
            <p:txBody>
              <a:bodyPr/>
              <a:lstStyle/>
              <a:p>
                <a:r>
                  <a:rPr lang="en-NZ">
                    <a:noFill/>
                  </a:rPr>
                  <a:t> </a:t>
                </a:r>
              </a:p>
            </p:txBody>
          </p:sp>
        </mc:Fallback>
      </mc:AlternateContent>
    </p:spTree>
    <p:extLst>
      <p:ext uri="{BB962C8B-B14F-4D97-AF65-F5344CB8AC3E}">
        <p14:creationId xmlns:p14="http://schemas.microsoft.com/office/powerpoint/2010/main" val="3255188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1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5">
            <a:extLst>
              <a:ext uri="{FF2B5EF4-FFF2-40B4-BE49-F238E27FC236}">
                <a16:creationId xmlns:a16="http://schemas.microsoft.com/office/drawing/2014/main" id="{C4CBF934-BB94-C893-07E2-5FD3D3BC30F0}"/>
              </a:ext>
            </a:extLst>
          </p:cNvPr>
          <p:cNvSpPr txBox="1">
            <a:spLocks/>
          </p:cNvSpPr>
          <p:nvPr/>
        </p:nvSpPr>
        <p:spPr>
          <a:xfrm>
            <a:off x="608806" y="1927544"/>
            <a:ext cx="3516242" cy="365126"/>
          </a:xfrm>
          <a:prstGeom prst="rect">
            <a:avLst/>
          </a:prstGeom>
          <a:no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1200" b="1" dirty="0">
                <a:solidFill>
                  <a:prstClr val="black"/>
                </a:solidFill>
              </a:rPr>
              <a:t>Illustration of Representing 3-Dimensional Data is the Coordinate System that Best Fits the data</a:t>
            </a:r>
          </a:p>
        </p:txBody>
      </p:sp>
      <p:pic>
        <p:nvPicPr>
          <p:cNvPr id="15" name="Picture 14">
            <a:extLst>
              <a:ext uri="{FF2B5EF4-FFF2-40B4-BE49-F238E27FC236}">
                <a16:creationId xmlns:a16="http://schemas.microsoft.com/office/drawing/2014/main" id="{6AEB8C95-B729-CC8C-E5E6-37125B026D59}"/>
              </a:ext>
            </a:extLst>
          </p:cNvPr>
          <p:cNvPicPr>
            <a:picLocks noChangeAspect="1"/>
          </p:cNvPicPr>
          <p:nvPr/>
        </p:nvPicPr>
        <p:blipFill>
          <a:blip r:embed="rId2"/>
          <a:stretch>
            <a:fillRect/>
          </a:stretch>
        </p:blipFill>
        <p:spPr>
          <a:xfrm>
            <a:off x="319463" y="2433252"/>
            <a:ext cx="4094929" cy="3467954"/>
          </a:xfrm>
          <a:prstGeom prst="rect">
            <a:avLst/>
          </a:prstGeom>
        </p:spPr>
      </p:pic>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Question 2</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Principal Component Analysis Process</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9" name="Text Placeholder 5">
            <a:extLst>
              <a:ext uri="{FF2B5EF4-FFF2-40B4-BE49-F238E27FC236}">
                <a16:creationId xmlns:a16="http://schemas.microsoft.com/office/drawing/2014/main" id="{498B7821-D78D-713F-1426-B800E2622D82}"/>
              </a:ext>
            </a:extLst>
          </p:cNvPr>
          <p:cNvSpPr txBox="1">
            <a:spLocks/>
          </p:cNvSpPr>
          <p:nvPr/>
        </p:nvSpPr>
        <p:spPr>
          <a:xfrm>
            <a:off x="319463" y="1144504"/>
            <a:ext cx="11708764"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 typeface="Arial" panose="020B0604020202020204" pitchFamily="34" charset="0"/>
              <a:buChar char="•"/>
              <a:defRPr/>
            </a:pPr>
            <a:r>
              <a:rPr lang="en-NZ" altLang="ja-JP" sz="1600" dirty="0">
                <a:solidFill>
                  <a:schemeClr val="tx1"/>
                </a:solidFill>
              </a:rPr>
              <a:t>When you arrange the eigenvectors of the covariance / correlation matrix  in descending order of the corresponding eigenvalues…</a:t>
            </a:r>
          </a:p>
        </p:txBody>
      </p:sp>
      <mc:AlternateContent xmlns:mc="http://schemas.openxmlformats.org/markup-compatibility/2006" xmlns:a14="http://schemas.microsoft.com/office/drawing/2010/main">
        <mc:Choice Requires="a14">
          <p:sp>
            <p:nvSpPr>
              <p:cNvPr id="3" name="Text Placeholder 5">
                <a:extLst>
                  <a:ext uri="{FF2B5EF4-FFF2-40B4-BE49-F238E27FC236}">
                    <a16:creationId xmlns:a16="http://schemas.microsoft.com/office/drawing/2014/main" id="{DD5847E0-E50A-218A-8750-0E853963C0EF}"/>
                  </a:ext>
                </a:extLst>
              </p:cNvPr>
              <p:cNvSpPr txBox="1">
                <a:spLocks/>
              </p:cNvSpPr>
              <p:nvPr/>
            </p:nvSpPr>
            <p:spPr>
              <a:xfrm>
                <a:off x="4572000" y="1630997"/>
                <a:ext cx="6973678" cy="278676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 typeface="Wingdings" panose="05000000000000000000" pitchFamily="2" charset="2"/>
                  <a:buChar char="Ø"/>
                  <a:defRPr/>
                </a:pPr>
                <a:r>
                  <a:rPr lang="en-NZ" altLang="ja-JP" sz="1400" dirty="0">
                    <a:solidFill>
                      <a:schemeClr val="tx1"/>
                    </a:solidFill>
                  </a:rPr>
                  <a:t>the first eigenvector </a:t>
                </a:r>
                <a14:m>
                  <m:oMath xmlns:m="http://schemas.openxmlformats.org/officeDocument/2006/math">
                    <m:sSub>
                      <m:sSubPr>
                        <m:ctrlPr>
                          <a:rPr lang="en-NZ" altLang="ja-JP" sz="1400" b="1" i="1" smtClean="0">
                            <a:solidFill>
                              <a:schemeClr val="tx1"/>
                            </a:solidFill>
                            <a:latin typeface="Cambria Math" panose="02040503050406030204" pitchFamily="18" charset="0"/>
                          </a:rPr>
                        </m:ctrlPr>
                      </m:sSubPr>
                      <m:e>
                        <m:r>
                          <a:rPr lang="en-NZ" altLang="ja-JP" sz="1400" b="1" i="1" smtClean="0">
                            <a:solidFill>
                              <a:schemeClr val="tx1"/>
                            </a:solidFill>
                            <a:latin typeface="Cambria Math" panose="02040503050406030204" pitchFamily="18" charset="0"/>
                          </a:rPr>
                          <m:t>𝒗</m:t>
                        </m:r>
                      </m:e>
                      <m:sub>
                        <m:r>
                          <a:rPr lang="en-NZ" altLang="ja-JP" sz="1400" b="1" i="1" smtClean="0">
                            <a:solidFill>
                              <a:schemeClr val="tx1"/>
                            </a:solidFill>
                            <a:latin typeface="Cambria Math" panose="02040503050406030204" pitchFamily="18" charset="0"/>
                          </a:rPr>
                          <m:t>𝟏</m:t>
                        </m:r>
                      </m:sub>
                    </m:sSub>
                  </m:oMath>
                </a14:m>
                <a:r>
                  <a:rPr lang="en-NZ" altLang="ja-JP" sz="1400" dirty="0">
                    <a:solidFill>
                      <a:schemeClr val="tx1"/>
                    </a:solidFill>
                  </a:rPr>
                  <a:t> of the matrix (referred to as the 1</a:t>
                </a:r>
                <a:r>
                  <a:rPr lang="en-NZ" altLang="ja-JP" sz="1400" baseline="30000" dirty="0">
                    <a:solidFill>
                      <a:schemeClr val="tx1"/>
                    </a:solidFill>
                  </a:rPr>
                  <a:t>st</a:t>
                </a:r>
                <a:r>
                  <a:rPr lang="en-NZ" altLang="ja-JP" sz="1400" dirty="0">
                    <a:solidFill>
                      <a:schemeClr val="tx1"/>
                    </a:solidFill>
                  </a:rPr>
                  <a:t>  principal component) </a:t>
                </a:r>
                <a:br>
                  <a:rPr lang="en-NZ" altLang="ja-JP" sz="1400" dirty="0">
                    <a:solidFill>
                      <a:schemeClr val="tx1"/>
                    </a:solidFill>
                  </a:rPr>
                </a:br>
                <a:r>
                  <a:rPr lang="en-NZ" altLang="ja-JP" sz="1400" dirty="0">
                    <a:solidFill>
                      <a:schemeClr val="tx1"/>
                    </a:solidFill>
                  </a:rPr>
                  <a:t>explains the largest amount of the variance in the data.</a:t>
                </a:r>
                <a:br>
                  <a:rPr lang="en-NZ" altLang="ja-JP" sz="1400" dirty="0">
                    <a:solidFill>
                      <a:schemeClr val="tx1"/>
                    </a:solidFill>
                  </a:rPr>
                </a:br>
                <a:endParaRPr lang="en-NZ" altLang="ja-JP" sz="1400" dirty="0">
                  <a:solidFill>
                    <a:schemeClr val="tx1"/>
                  </a:solidFill>
                </a:endParaRPr>
              </a:p>
              <a:p>
                <a:pPr marL="285750" lvl="0" indent="-285750">
                  <a:lnSpc>
                    <a:spcPct val="100000"/>
                  </a:lnSpc>
                  <a:buFont typeface="Wingdings" panose="05000000000000000000" pitchFamily="2" charset="2"/>
                  <a:buChar char="Ø"/>
                  <a:defRPr/>
                </a:pPr>
                <a:r>
                  <a:rPr lang="en-NZ" altLang="ja-JP" sz="1400" dirty="0">
                    <a:solidFill>
                      <a:schemeClr val="tx1"/>
                    </a:solidFill>
                  </a:rPr>
                  <a:t>The second eigenvector </a:t>
                </a:r>
                <a14:m>
                  <m:oMath xmlns:m="http://schemas.openxmlformats.org/officeDocument/2006/math">
                    <m:sSub>
                      <m:sSubPr>
                        <m:ctrlPr>
                          <a:rPr lang="en-NZ" altLang="ja-JP" sz="1400" b="1" i="1" smtClean="0">
                            <a:solidFill>
                              <a:schemeClr val="tx1"/>
                            </a:solidFill>
                            <a:latin typeface="Cambria Math" panose="02040503050406030204" pitchFamily="18" charset="0"/>
                          </a:rPr>
                        </m:ctrlPr>
                      </m:sSubPr>
                      <m:e>
                        <m:r>
                          <a:rPr lang="en-NZ" altLang="ja-JP" sz="1400" b="1" i="1" smtClean="0">
                            <a:solidFill>
                              <a:schemeClr val="tx1"/>
                            </a:solidFill>
                            <a:latin typeface="Cambria Math" panose="02040503050406030204" pitchFamily="18" charset="0"/>
                          </a:rPr>
                          <m:t>𝒗</m:t>
                        </m:r>
                      </m:e>
                      <m:sub>
                        <m:r>
                          <a:rPr lang="en-NZ" altLang="ja-JP" sz="1400" b="1" i="1" smtClean="0">
                            <a:solidFill>
                              <a:schemeClr val="tx1"/>
                            </a:solidFill>
                            <a:latin typeface="Cambria Math" panose="02040503050406030204" pitchFamily="18" charset="0"/>
                          </a:rPr>
                          <m:t>𝟐</m:t>
                        </m:r>
                      </m:sub>
                    </m:sSub>
                  </m:oMath>
                </a14:m>
                <a:r>
                  <a:rPr lang="en-NZ" altLang="ja-JP" sz="1400" dirty="0">
                    <a:solidFill>
                      <a:schemeClr val="tx1"/>
                    </a:solidFill>
                  </a:rPr>
                  <a:t> of the matrix  (referred to as the 2</a:t>
                </a:r>
                <a:r>
                  <a:rPr lang="en-NZ" altLang="ja-JP" sz="1400" baseline="30000" dirty="0">
                    <a:solidFill>
                      <a:schemeClr val="tx1"/>
                    </a:solidFill>
                  </a:rPr>
                  <a:t>nd</a:t>
                </a:r>
                <a:r>
                  <a:rPr lang="en-NZ" altLang="ja-JP" sz="1400" dirty="0">
                    <a:solidFill>
                      <a:schemeClr val="tx1"/>
                    </a:solidFill>
                  </a:rPr>
                  <a:t> principal component) explains the largest amount of the remaining variance after accounting for </a:t>
                </a:r>
                <a14:m>
                  <m:oMath xmlns:m="http://schemas.openxmlformats.org/officeDocument/2006/math">
                    <m:sSub>
                      <m:sSubPr>
                        <m:ctrlPr>
                          <a:rPr lang="en-NZ" altLang="ja-JP" sz="1400" b="1" i="1">
                            <a:solidFill>
                              <a:schemeClr val="tx1"/>
                            </a:solidFill>
                            <a:latin typeface="Cambria Math" panose="02040503050406030204" pitchFamily="18" charset="0"/>
                          </a:rPr>
                        </m:ctrlPr>
                      </m:sSubPr>
                      <m:e>
                        <m:r>
                          <a:rPr lang="en-NZ" altLang="ja-JP" sz="1400" b="1" i="1">
                            <a:solidFill>
                              <a:schemeClr val="tx1"/>
                            </a:solidFill>
                            <a:latin typeface="Cambria Math" panose="02040503050406030204" pitchFamily="18" charset="0"/>
                          </a:rPr>
                          <m:t>𝒗</m:t>
                        </m:r>
                      </m:e>
                      <m:sub>
                        <m:r>
                          <a:rPr lang="en-NZ" altLang="ja-JP" sz="1400" b="1" i="1">
                            <a:solidFill>
                              <a:schemeClr val="tx1"/>
                            </a:solidFill>
                            <a:latin typeface="Cambria Math" panose="02040503050406030204" pitchFamily="18" charset="0"/>
                          </a:rPr>
                          <m:t>𝟏</m:t>
                        </m:r>
                      </m:sub>
                    </m:sSub>
                  </m:oMath>
                </a14:m>
                <a:r>
                  <a:rPr lang="en-NZ" altLang="ja-JP" sz="1400" dirty="0">
                    <a:solidFill>
                      <a:schemeClr val="tx1"/>
                    </a:solidFill>
                  </a:rPr>
                  <a:t>. </a:t>
                </a:r>
                <a:br>
                  <a:rPr lang="en-NZ" altLang="ja-JP" sz="1400" dirty="0">
                    <a:solidFill>
                      <a:schemeClr val="tx1"/>
                    </a:solidFill>
                  </a:rPr>
                </a:br>
                <a:endParaRPr lang="en-NZ" altLang="ja-JP" sz="1400" dirty="0">
                  <a:solidFill>
                    <a:schemeClr val="tx1"/>
                  </a:solidFill>
                </a:endParaRPr>
              </a:p>
              <a:p>
                <a:pPr marL="285750" lvl="0" indent="-285750">
                  <a:lnSpc>
                    <a:spcPct val="100000"/>
                  </a:lnSpc>
                  <a:buFont typeface="Wingdings" panose="05000000000000000000" pitchFamily="2" charset="2"/>
                  <a:buChar char="Ø"/>
                  <a:defRPr/>
                </a:pPr>
                <a:r>
                  <a:rPr lang="en-NZ" altLang="ja-JP" sz="1400" dirty="0">
                    <a:solidFill>
                      <a:schemeClr val="tx1"/>
                    </a:solidFill>
                  </a:rPr>
                  <a:t>The third eigenvector </a:t>
                </a:r>
                <a14:m>
                  <m:oMath xmlns:m="http://schemas.openxmlformats.org/officeDocument/2006/math">
                    <m:sSub>
                      <m:sSubPr>
                        <m:ctrlPr>
                          <a:rPr lang="en-NZ" altLang="ja-JP" sz="1400" b="1" i="1" smtClean="0">
                            <a:solidFill>
                              <a:schemeClr val="tx1"/>
                            </a:solidFill>
                            <a:latin typeface="Cambria Math" panose="02040503050406030204" pitchFamily="18" charset="0"/>
                          </a:rPr>
                        </m:ctrlPr>
                      </m:sSubPr>
                      <m:e>
                        <m:r>
                          <a:rPr lang="en-NZ" altLang="ja-JP" sz="1400" b="1" i="1" smtClean="0">
                            <a:solidFill>
                              <a:schemeClr val="tx1"/>
                            </a:solidFill>
                            <a:latin typeface="Cambria Math" panose="02040503050406030204" pitchFamily="18" charset="0"/>
                          </a:rPr>
                          <m:t>𝒗</m:t>
                        </m:r>
                      </m:e>
                      <m:sub>
                        <m:r>
                          <a:rPr lang="en-NZ" altLang="ja-JP" sz="1400" b="1" i="1" smtClean="0">
                            <a:solidFill>
                              <a:schemeClr val="tx1"/>
                            </a:solidFill>
                            <a:latin typeface="Cambria Math" panose="02040503050406030204" pitchFamily="18" charset="0"/>
                          </a:rPr>
                          <m:t>𝟑</m:t>
                        </m:r>
                      </m:sub>
                    </m:sSub>
                  </m:oMath>
                </a14:m>
                <a:r>
                  <a:rPr lang="en-NZ" altLang="ja-JP" sz="1400" dirty="0">
                    <a:solidFill>
                      <a:schemeClr val="tx1"/>
                    </a:solidFill>
                  </a:rPr>
                  <a:t> of the matrix  (referred to as the 3</a:t>
                </a:r>
                <a:r>
                  <a:rPr lang="en-NZ" altLang="ja-JP" sz="1400" baseline="30000" dirty="0">
                    <a:solidFill>
                      <a:schemeClr val="tx1"/>
                    </a:solidFill>
                  </a:rPr>
                  <a:t>rd</a:t>
                </a:r>
                <a:r>
                  <a:rPr lang="en-NZ" altLang="ja-JP" sz="1400" dirty="0">
                    <a:solidFill>
                      <a:schemeClr val="tx1"/>
                    </a:solidFill>
                  </a:rPr>
                  <a:t>  principal component) explains the largest amount of the remaining variance after accounting for </a:t>
                </a:r>
                <a14:m>
                  <m:oMath xmlns:m="http://schemas.openxmlformats.org/officeDocument/2006/math">
                    <m:sSub>
                      <m:sSubPr>
                        <m:ctrlPr>
                          <a:rPr lang="en-NZ" altLang="ja-JP" sz="1400" b="1" i="1">
                            <a:solidFill>
                              <a:schemeClr val="tx1"/>
                            </a:solidFill>
                            <a:latin typeface="Cambria Math" panose="02040503050406030204" pitchFamily="18" charset="0"/>
                          </a:rPr>
                        </m:ctrlPr>
                      </m:sSubPr>
                      <m:e>
                        <m:r>
                          <a:rPr lang="en-NZ" altLang="ja-JP" sz="1400" b="1" i="1">
                            <a:solidFill>
                              <a:schemeClr val="tx1"/>
                            </a:solidFill>
                            <a:latin typeface="Cambria Math" panose="02040503050406030204" pitchFamily="18" charset="0"/>
                          </a:rPr>
                          <m:t>𝒗</m:t>
                        </m:r>
                      </m:e>
                      <m:sub>
                        <m:r>
                          <a:rPr lang="en-NZ" altLang="ja-JP" sz="1400" b="1" i="1">
                            <a:solidFill>
                              <a:schemeClr val="tx1"/>
                            </a:solidFill>
                            <a:latin typeface="Cambria Math" panose="02040503050406030204" pitchFamily="18" charset="0"/>
                          </a:rPr>
                          <m:t>𝟏</m:t>
                        </m:r>
                      </m:sub>
                    </m:sSub>
                  </m:oMath>
                </a14:m>
                <a:r>
                  <a:rPr lang="en-NZ" altLang="ja-JP" sz="1400" dirty="0">
                    <a:solidFill>
                      <a:schemeClr val="tx1"/>
                    </a:solidFill>
                  </a:rPr>
                  <a:t> and </a:t>
                </a:r>
                <a14:m>
                  <m:oMath xmlns:m="http://schemas.openxmlformats.org/officeDocument/2006/math">
                    <m:sSub>
                      <m:sSubPr>
                        <m:ctrlPr>
                          <a:rPr lang="en-NZ" altLang="ja-JP" sz="1400" b="1" i="1" smtClean="0">
                            <a:solidFill>
                              <a:schemeClr val="tx1"/>
                            </a:solidFill>
                            <a:latin typeface="Cambria Math" panose="02040503050406030204" pitchFamily="18" charset="0"/>
                          </a:rPr>
                        </m:ctrlPr>
                      </m:sSubPr>
                      <m:e>
                        <m:r>
                          <a:rPr lang="en-NZ" altLang="ja-JP" sz="1400" b="1" i="1">
                            <a:solidFill>
                              <a:schemeClr val="tx1"/>
                            </a:solidFill>
                            <a:latin typeface="Cambria Math" panose="02040503050406030204" pitchFamily="18" charset="0"/>
                          </a:rPr>
                          <m:t>𝒗</m:t>
                        </m:r>
                      </m:e>
                      <m:sub>
                        <m:r>
                          <a:rPr lang="en-NZ" altLang="ja-JP" sz="1400" b="1" i="1" smtClean="0">
                            <a:solidFill>
                              <a:schemeClr val="tx1"/>
                            </a:solidFill>
                            <a:latin typeface="Cambria Math" panose="02040503050406030204" pitchFamily="18" charset="0"/>
                          </a:rPr>
                          <m:t>𝟐</m:t>
                        </m:r>
                      </m:sub>
                    </m:sSub>
                  </m:oMath>
                </a14:m>
                <a:r>
                  <a:rPr lang="en-NZ" altLang="ja-JP" sz="1400" dirty="0">
                    <a:solidFill>
                      <a:schemeClr val="tx1"/>
                    </a:solidFill>
                  </a:rPr>
                  <a:t>.</a:t>
                </a:r>
                <a:br>
                  <a:rPr lang="en-NZ" altLang="ja-JP" sz="1400" dirty="0">
                    <a:solidFill>
                      <a:schemeClr val="tx1"/>
                    </a:solidFill>
                  </a:rPr>
                </a:br>
                <a:r>
                  <a:rPr lang="en-NZ" altLang="ja-JP" sz="1400" dirty="0">
                    <a:solidFill>
                      <a:schemeClr val="tx1"/>
                    </a:solidFill>
                  </a:rPr>
                  <a:t>.</a:t>
                </a:r>
                <a:br>
                  <a:rPr lang="en-NZ" altLang="ja-JP" sz="1400" dirty="0">
                    <a:solidFill>
                      <a:schemeClr val="tx1"/>
                    </a:solidFill>
                  </a:rPr>
                </a:br>
                <a:r>
                  <a:rPr lang="en-NZ" altLang="ja-JP" sz="1400" dirty="0">
                    <a:solidFill>
                      <a:schemeClr val="tx1"/>
                    </a:solidFill>
                  </a:rPr>
                  <a:t>.</a:t>
                </a:r>
              </a:p>
              <a:p>
                <a:pPr marL="285750" lvl="0" indent="-285750">
                  <a:lnSpc>
                    <a:spcPct val="100000"/>
                  </a:lnSpc>
                  <a:buFont typeface="Wingdings" panose="05000000000000000000" pitchFamily="2" charset="2"/>
                  <a:buChar char="Ø"/>
                  <a:defRPr/>
                </a:pPr>
                <a:r>
                  <a:rPr lang="en-NZ" altLang="ja-JP" sz="1400" dirty="0">
                    <a:solidFill>
                      <a:schemeClr val="tx1"/>
                    </a:solidFill>
                  </a:rPr>
                  <a:t>The </a:t>
                </a:r>
                <a14:m>
                  <m:oMath xmlns:m="http://schemas.openxmlformats.org/officeDocument/2006/math">
                    <m:sSup>
                      <m:sSupPr>
                        <m:ctrlPr>
                          <a:rPr lang="en-NZ" altLang="ja-JP" sz="1400" b="0" i="1" smtClean="0">
                            <a:solidFill>
                              <a:schemeClr val="tx1"/>
                            </a:solidFill>
                            <a:latin typeface="Cambria Math" panose="02040503050406030204" pitchFamily="18" charset="0"/>
                          </a:rPr>
                        </m:ctrlPr>
                      </m:sSupPr>
                      <m:e>
                        <m:r>
                          <a:rPr lang="en-NZ" altLang="ja-JP" sz="1400" b="0" i="1" smtClean="0">
                            <a:solidFill>
                              <a:schemeClr val="tx1"/>
                            </a:solidFill>
                            <a:latin typeface="Cambria Math" panose="02040503050406030204" pitchFamily="18" charset="0"/>
                          </a:rPr>
                          <m:t>𝑛</m:t>
                        </m:r>
                      </m:e>
                      <m:sup>
                        <m:r>
                          <a:rPr lang="en-NZ" altLang="ja-JP" sz="1400" b="0" i="1" smtClean="0">
                            <a:solidFill>
                              <a:schemeClr val="tx1"/>
                            </a:solidFill>
                            <a:latin typeface="Cambria Math" panose="02040503050406030204" pitchFamily="18" charset="0"/>
                          </a:rPr>
                          <m:t>𝑡h</m:t>
                        </m:r>
                      </m:sup>
                    </m:sSup>
                  </m:oMath>
                </a14:m>
                <a:r>
                  <a:rPr lang="en-NZ" altLang="ja-JP" sz="1400" dirty="0">
                    <a:solidFill>
                      <a:schemeClr val="tx1"/>
                    </a:solidFill>
                  </a:rPr>
                  <a:t> eigenvector </a:t>
                </a:r>
                <a14:m>
                  <m:oMath xmlns:m="http://schemas.openxmlformats.org/officeDocument/2006/math">
                    <m:sSub>
                      <m:sSubPr>
                        <m:ctrlPr>
                          <a:rPr lang="en-NZ" altLang="ja-JP" sz="1400" b="1" i="1" smtClean="0">
                            <a:solidFill>
                              <a:schemeClr val="tx1"/>
                            </a:solidFill>
                            <a:latin typeface="Cambria Math" panose="02040503050406030204" pitchFamily="18" charset="0"/>
                          </a:rPr>
                        </m:ctrlPr>
                      </m:sSubPr>
                      <m:e>
                        <m:r>
                          <a:rPr lang="en-NZ" altLang="ja-JP" sz="1400" b="1" i="1" smtClean="0">
                            <a:solidFill>
                              <a:schemeClr val="tx1"/>
                            </a:solidFill>
                            <a:latin typeface="Cambria Math" panose="02040503050406030204" pitchFamily="18" charset="0"/>
                          </a:rPr>
                          <m:t>𝒗</m:t>
                        </m:r>
                      </m:e>
                      <m:sub>
                        <m:r>
                          <a:rPr lang="en-NZ" altLang="ja-JP" sz="1400" b="1" i="1" smtClean="0">
                            <a:solidFill>
                              <a:schemeClr val="tx1"/>
                            </a:solidFill>
                            <a:latin typeface="Cambria Math" panose="02040503050406030204" pitchFamily="18" charset="0"/>
                          </a:rPr>
                          <m:t>𝒏</m:t>
                        </m:r>
                      </m:sub>
                    </m:sSub>
                  </m:oMath>
                </a14:m>
                <a:r>
                  <a:rPr lang="en-NZ" altLang="ja-JP" sz="1400" dirty="0">
                    <a:solidFill>
                      <a:schemeClr val="tx1"/>
                    </a:solidFill>
                  </a:rPr>
                  <a:t> of the matrix  (referred to as the </a:t>
                </a:r>
                <a14:m>
                  <m:oMath xmlns:m="http://schemas.openxmlformats.org/officeDocument/2006/math">
                    <m:sSup>
                      <m:sSupPr>
                        <m:ctrlPr>
                          <a:rPr lang="en-NZ" altLang="ja-JP" sz="1400" b="0" i="1" smtClean="0">
                            <a:solidFill>
                              <a:schemeClr val="tx1"/>
                            </a:solidFill>
                            <a:latin typeface="Cambria Math" panose="02040503050406030204" pitchFamily="18" charset="0"/>
                          </a:rPr>
                        </m:ctrlPr>
                      </m:sSupPr>
                      <m:e>
                        <m:r>
                          <a:rPr lang="en-NZ" altLang="ja-JP" sz="1400" b="0" i="1" smtClean="0">
                            <a:solidFill>
                              <a:schemeClr val="tx1"/>
                            </a:solidFill>
                            <a:latin typeface="Cambria Math" panose="02040503050406030204" pitchFamily="18" charset="0"/>
                          </a:rPr>
                          <m:t>𝑛</m:t>
                        </m:r>
                      </m:e>
                      <m:sup>
                        <m:r>
                          <a:rPr lang="en-NZ" altLang="ja-JP" sz="1400" b="0" i="1" smtClean="0">
                            <a:solidFill>
                              <a:schemeClr val="tx1"/>
                            </a:solidFill>
                            <a:latin typeface="Cambria Math" panose="02040503050406030204" pitchFamily="18" charset="0"/>
                          </a:rPr>
                          <m:t>𝑡h</m:t>
                        </m:r>
                      </m:sup>
                    </m:sSup>
                  </m:oMath>
                </a14:m>
                <a:r>
                  <a:rPr lang="en-NZ" altLang="ja-JP" sz="1400" dirty="0">
                    <a:solidFill>
                      <a:schemeClr val="tx1"/>
                    </a:solidFill>
                  </a:rPr>
                  <a:t>  principal component) explains the remaining variance.</a:t>
                </a:r>
              </a:p>
            </p:txBody>
          </p:sp>
        </mc:Choice>
        <mc:Fallback xmlns="">
          <p:sp>
            <p:nvSpPr>
              <p:cNvPr id="3" name="Text Placeholder 5">
                <a:extLst>
                  <a:ext uri="{FF2B5EF4-FFF2-40B4-BE49-F238E27FC236}">
                    <a16:creationId xmlns:a16="http://schemas.microsoft.com/office/drawing/2014/main" id="{DD5847E0-E50A-218A-8750-0E853963C0EF}"/>
                  </a:ext>
                </a:extLst>
              </p:cNvPr>
              <p:cNvSpPr txBox="1">
                <a:spLocks noRot="1" noChangeAspect="1" noMove="1" noResize="1" noEditPoints="1" noAdjustHandles="1" noChangeArrowheads="1" noChangeShapeType="1" noTextEdit="1"/>
              </p:cNvSpPr>
              <p:nvPr/>
            </p:nvSpPr>
            <p:spPr>
              <a:xfrm>
                <a:off x="4572000" y="1630997"/>
                <a:ext cx="6973678" cy="2786767"/>
              </a:xfrm>
              <a:prstGeom prst="rect">
                <a:avLst/>
              </a:prstGeom>
              <a:blipFill>
                <a:blip r:embed="rId4"/>
                <a:stretch>
                  <a:fillRect l="-87" t="-438"/>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0" name="Text Placeholder 5">
                <a:extLst>
                  <a:ext uri="{FF2B5EF4-FFF2-40B4-BE49-F238E27FC236}">
                    <a16:creationId xmlns:a16="http://schemas.microsoft.com/office/drawing/2014/main" id="{B7749088-67F2-ACAA-0EA7-86978DC3D439}"/>
                  </a:ext>
                </a:extLst>
              </p:cNvPr>
              <p:cNvSpPr txBox="1">
                <a:spLocks/>
              </p:cNvSpPr>
              <p:nvPr/>
            </p:nvSpPr>
            <p:spPr>
              <a:xfrm>
                <a:off x="4572000" y="4696326"/>
                <a:ext cx="6832295" cy="159348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 typeface="Arial" panose="020B0604020202020204" pitchFamily="34" charset="0"/>
                  <a:buChar char="•"/>
                  <a:defRPr/>
                </a:pPr>
                <a:r>
                  <a:rPr lang="en-NZ" altLang="ja-JP" sz="1600" dirty="0">
                    <a:solidFill>
                      <a:schemeClr val="tx1"/>
                    </a:solidFill>
                  </a:rPr>
                  <a:t>The relative magnitude of the associated eigenvalue </a:t>
                </a:r>
                <a:br>
                  <a:rPr lang="en-NZ" altLang="ja-JP" sz="1600" dirty="0">
                    <a:solidFill>
                      <a:schemeClr val="tx1"/>
                    </a:solidFill>
                  </a:rPr>
                </a:br>
                <a14:m>
                  <m:oMath xmlns:m="http://schemas.openxmlformats.org/officeDocument/2006/math">
                    <m:f>
                      <m:fPr>
                        <m:ctrlPr>
                          <a:rPr lang="en-NZ" altLang="ja-JP" sz="1600" b="1" i="1" smtClean="0">
                            <a:solidFill>
                              <a:schemeClr val="tx1"/>
                            </a:solidFill>
                            <a:latin typeface="Cambria Math" panose="02040503050406030204" pitchFamily="18" charset="0"/>
                          </a:rPr>
                        </m:ctrlPr>
                      </m:fPr>
                      <m:num>
                        <m:d>
                          <m:dPr>
                            <m:begChr m:val="|"/>
                            <m:endChr m:val="|"/>
                            <m:ctrlPr>
                              <a:rPr lang="en-NZ" altLang="ja-JP" sz="1600" b="1" i="1">
                                <a:solidFill>
                                  <a:schemeClr val="tx1"/>
                                </a:solidFill>
                                <a:latin typeface="Cambria Math" panose="02040503050406030204" pitchFamily="18" charset="0"/>
                              </a:rPr>
                            </m:ctrlPr>
                          </m:dPr>
                          <m:e>
                            <m:r>
                              <a:rPr lang="en-NZ" altLang="ja-JP" sz="1600" b="1" i="1">
                                <a:solidFill>
                                  <a:schemeClr val="tx1"/>
                                </a:solidFill>
                                <a:latin typeface="Cambria Math" panose="02040503050406030204" pitchFamily="18" charset="0"/>
                              </a:rPr>
                              <m:t> </m:t>
                            </m:r>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𝝀</m:t>
                                </m:r>
                              </m:e>
                              <m:sub>
                                <m:r>
                                  <a:rPr lang="en-NZ" altLang="ja-JP" sz="1600" b="1" i="1">
                                    <a:solidFill>
                                      <a:schemeClr val="tx1"/>
                                    </a:solidFill>
                                    <a:latin typeface="Cambria Math" panose="02040503050406030204" pitchFamily="18" charset="0"/>
                                  </a:rPr>
                                  <m:t>𝒊</m:t>
                                </m:r>
                              </m:sub>
                            </m:sSub>
                            <m:r>
                              <a:rPr lang="en-NZ" altLang="ja-JP" sz="1600" b="1" i="1">
                                <a:solidFill>
                                  <a:schemeClr val="tx1"/>
                                </a:solidFill>
                                <a:latin typeface="Cambria Math" panose="02040503050406030204" pitchFamily="18" charset="0"/>
                              </a:rPr>
                              <m:t> </m:t>
                            </m:r>
                          </m:e>
                        </m:d>
                      </m:num>
                      <m:den>
                        <m:nary>
                          <m:naryPr>
                            <m:chr m:val="∑"/>
                            <m:ctrlPr>
                              <a:rPr lang="en-NZ" altLang="ja-JP" sz="1600" b="1" i="1" smtClean="0">
                                <a:solidFill>
                                  <a:schemeClr val="tx1"/>
                                </a:solidFill>
                                <a:latin typeface="Cambria Math" panose="02040503050406030204" pitchFamily="18" charset="0"/>
                              </a:rPr>
                            </m:ctrlPr>
                          </m:naryPr>
                          <m:sub>
                            <m:r>
                              <m:rPr>
                                <m:brk m:alnAt="23"/>
                              </m:rPr>
                              <a:rPr lang="en-NZ" altLang="ja-JP" sz="1600" b="1" i="1" smtClean="0">
                                <a:solidFill>
                                  <a:schemeClr val="tx1"/>
                                </a:solidFill>
                                <a:latin typeface="Cambria Math" panose="02040503050406030204" pitchFamily="18" charset="0"/>
                              </a:rPr>
                              <m:t>𝒋</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𝟏</m:t>
                            </m:r>
                          </m:sub>
                          <m:sup>
                            <m:r>
                              <a:rPr lang="en-NZ" altLang="ja-JP" sz="1600" b="1" i="1" smtClean="0">
                                <a:solidFill>
                                  <a:schemeClr val="tx1"/>
                                </a:solidFill>
                                <a:latin typeface="Cambria Math" panose="02040503050406030204" pitchFamily="18" charset="0"/>
                              </a:rPr>
                              <m:t>𝒏</m:t>
                            </m:r>
                          </m:sup>
                          <m:e>
                            <m:d>
                              <m:dPr>
                                <m:begChr m:val="|"/>
                                <m:endChr m:val="|"/>
                                <m:ctrlPr>
                                  <a:rPr lang="en-NZ" altLang="ja-JP" sz="1600" b="1" i="1">
                                    <a:solidFill>
                                      <a:schemeClr val="tx1"/>
                                    </a:solidFill>
                                    <a:latin typeface="Cambria Math" panose="02040503050406030204" pitchFamily="18" charset="0"/>
                                  </a:rPr>
                                </m:ctrlPr>
                              </m:dPr>
                              <m:e>
                                <m:r>
                                  <a:rPr lang="en-NZ" altLang="ja-JP" sz="1600" b="1" i="1">
                                    <a:solidFill>
                                      <a:schemeClr val="tx1"/>
                                    </a:solidFill>
                                    <a:latin typeface="Cambria Math" panose="02040503050406030204" pitchFamily="18" charset="0"/>
                                  </a:rPr>
                                  <m:t> </m:t>
                                </m:r>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𝝀</m:t>
                                    </m:r>
                                  </m:e>
                                  <m:sub>
                                    <m:r>
                                      <a:rPr lang="en-NZ" altLang="ja-JP" sz="1600" b="1" i="1">
                                        <a:solidFill>
                                          <a:schemeClr val="tx1"/>
                                        </a:solidFill>
                                        <a:latin typeface="Cambria Math" panose="02040503050406030204" pitchFamily="18" charset="0"/>
                                      </a:rPr>
                                      <m:t>𝒋</m:t>
                                    </m:r>
                                  </m:sub>
                                </m:sSub>
                                <m:r>
                                  <a:rPr lang="en-NZ" altLang="ja-JP" sz="1600" b="1" i="1">
                                    <a:solidFill>
                                      <a:schemeClr val="tx1"/>
                                    </a:solidFill>
                                    <a:latin typeface="Cambria Math" panose="02040503050406030204" pitchFamily="18" charset="0"/>
                                  </a:rPr>
                                  <m:t> </m:t>
                                </m:r>
                              </m:e>
                            </m:d>
                          </m:e>
                        </m:nary>
                      </m:den>
                    </m:f>
                    <m:r>
                      <a:rPr lang="en-NZ" altLang="ja-JP" sz="1600" b="1" i="1" smtClean="0">
                        <a:solidFill>
                          <a:schemeClr val="tx1"/>
                        </a:solidFill>
                        <a:latin typeface="Cambria Math" panose="02040503050406030204" pitchFamily="18" charset="0"/>
                      </a:rPr>
                      <m:t> = </m:t>
                    </m:r>
                    <m:f>
                      <m:fPr>
                        <m:ctrlPr>
                          <a:rPr lang="en-NZ" altLang="ja-JP" sz="1600" b="1" i="1">
                            <a:solidFill>
                              <a:schemeClr val="tx1"/>
                            </a:solidFill>
                            <a:latin typeface="Cambria Math" panose="02040503050406030204" pitchFamily="18" charset="0"/>
                          </a:rPr>
                        </m:ctrlPr>
                      </m:fPr>
                      <m:num>
                        <m:d>
                          <m:dPr>
                            <m:begChr m:val="|"/>
                            <m:endChr m:val="|"/>
                            <m:ctrlPr>
                              <a:rPr lang="en-NZ" altLang="ja-JP" sz="1600" b="1" i="1">
                                <a:solidFill>
                                  <a:schemeClr val="tx1"/>
                                </a:solidFill>
                                <a:latin typeface="Cambria Math" panose="02040503050406030204" pitchFamily="18" charset="0"/>
                              </a:rPr>
                            </m:ctrlPr>
                          </m:dPr>
                          <m:e>
                            <m:r>
                              <a:rPr lang="en-NZ" altLang="ja-JP" sz="1600" b="1" i="1">
                                <a:solidFill>
                                  <a:schemeClr val="tx1"/>
                                </a:solidFill>
                                <a:latin typeface="Cambria Math" panose="02040503050406030204" pitchFamily="18" charset="0"/>
                              </a:rPr>
                              <m:t> </m:t>
                            </m:r>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𝝀</m:t>
                                </m:r>
                              </m:e>
                              <m:sub>
                                <m:r>
                                  <a:rPr lang="en-NZ" altLang="ja-JP" sz="1600" b="1" i="1">
                                    <a:solidFill>
                                      <a:schemeClr val="tx1"/>
                                    </a:solidFill>
                                    <a:latin typeface="Cambria Math" panose="02040503050406030204" pitchFamily="18" charset="0"/>
                                  </a:rPr>
                                  <m:t>𝒊</m:t>
                                </m:r>
                              </m:sub>
                            </m:sSub>
                            <m:r>
                              <a:rPr lang="en-NZ" altLang="ja-JP" sz="1600" b="1" i="1">
                                <a:solidFill>
                                  <a:schemeClr val="tx1"/>
                                </a:solidFill>
                                <a:latin typeface="Cambria Math" panose="02040503050406030204" pitchFamily="18" charset="0"/>
                              </a:rPr>
                              <m:t> </m:t>
                            </m:r>
                          </m:e>
                        </m:d>
                      </m:num>
                      <m:den>
                        <m:r>
                          <a:rPr lang="en-NZ" altLang="ja-JP" sz="1600" b="1" i="1" smtClean="0">
                            <a:solidFill>
                              <a:schemeClr val="tx1"/>
                            </a:solidFill>
                            <a:latin typeface="Cambria Math" panose="02040503050406030204" pitchFamily="18" charset="0"/>
                          </a:rPr>
                          <m:t>𝒏</m:t>
                        </m:r>
                      </m:den>
                    </m:f>
                  </m:oMath>
                </a14:m>
                <a:br>
                  <a:rPr lang="en-NZ" altLang="ja-JP" sz="1600" dirty="0">
                    <a:solidFill>
                      <a:schemeClr val="tx1"/>
                    </a:solidFill>
                  </a:rPr>
                </a:br>
                <a:r>
                  <a:rPr lang="en-NZ" altLang="ja-JP" sz="1600" dirty="0">
                    <a:solidFill>
                      <a:schemeClr val="tx1"/>
                    </a:solidFill>
                  </a:rPr>
                  <a:t>describes the proportion of the variance in the data explained by the corresponding eigenvector. </a:t>
                </a:r>
              </a:p>
            </p:txBody>
          </p:sp>
        </mc:Choice>
        <mc:Fallback xmlns="">
          <p:sp>
            <p:nvSpPr>
              <p:cNvPr id="10" name="Text Placeholder 5">
                <a:extLst>
                  <a:ext uri="{FF2B5EF4-FFF2-40B4-BE49-F238E27FC236}">
                    <a16:creationId xmlns:a16="http://schemas.microsoft.com/office/drawing/2014/main" id="{B7749088-67F2-ACAA-0EA7-86978DC3D439}"/>
                  </a:ext>
                </a:extLst>
              </p:cNvPr>
              <p:cNvSpPr txBox="1">
                <a:spLocks noRot="1" noChangeAspect="1" noMove="1" noResize="1" noEditPoints="1" noAdjustHandles="1" noChangeArrowheads="1" noChangeShapeType="1" noTextEdit="1"/>
              </p:cNvSpPr>
              <p:nvPr/>
            </p:nvSpPr>
            <p:spPr>
              <a:xfrm>
                <a:off x="4572000" y="4696326"/>
                <a:ext cx="6832295" cy="1593481"/>
              </a:xfrm>
              <a:prstGeom prst="rect">
                <a:avLst/>
              </a:prstGeom>
              <a:blipFill>
                <a:blip r:embed="rId5"/>
                <a:stretch>
                  <a:fillRect l="-357" t="-1145"/>
                </a:stretch>
              </a:blipFill>
            </p:spPr>
            <p:txBody>
              <a:bodyPr/>
              <a:lstStyle/>
              <a:p>
                <a:r>
                  <a:rPr lang="en-NZ">
                    <a:noFill/>
                  </a:rPr>
                  <a:t> </a:t>
                </a:r>
              </a:p>
            </p:txBody>
          </p:sp>
        </mc:Fallback>
      </mc:AlternateContent>
    </p:spTree>
    <p:extLst>
      <p:ext uri="{BB962C8B-B14F-4D97-AF65-F5344CB8AC3E}">
        <p14:creationId xmlns:p14="http://schemas.microsoft.com/office/powerpoint/2010/main" val="146100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38AB93F3-F9E3-058B-B4E8-21A82A9F22A9}"/>
              </a:ext>
            </a:extLst>
          </p:cNvPr>
          <p:cNvPicPr>
            <a:picLocks noChangeAspect="1"/>
          </p:cNvPicPr>
          <p:nvPr/>
        </p:nvPicPr>
        <p:blipFill>
          <a:blip r:embed="rId2"/>
          <a:stretch>
            <a:fillRect/>
          </a:stretch>
        </p:blipFill>
        <p:spPr>
          <a:xfrm>
            <a:off x="362155" y="2883560"/>
            <a:ext cx="4094929" cy="3467954"/>
          </a:xfrm>
          <a:prstGeom prst="rect">
            <a:avLst/>
          </a:prstGeom>
        </p:spPr>
      </p:pic>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Question 2</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Principal Component Analysis Process</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mc:AlternateContent xmlns:mc="http://schemas.openxmlformats.org/markup-compatibility/2006" xmlns:a14="http://schemas.microsoft.com/office/drawing/2010/main">
        <mc:Choice Requires="a14">
          <p:sp>
            <p:nvSpPr>
              <p:cNvPr id="9" name="Text Placeholder 5">
                <a:extLst>
                  <a:ext uri="{FF2B5EF4-FFF2-40B4-BE49-F238E27FC236}">
                    <a16:creationId xmlns:a16="http://schemas.microsoft.com/office/drawing/2014/main" id="{498B7821-D78D-713F-1426-B800E2622D82}"/>
                  </a:ext>
                </a:extLst>
              </p:cNvPr>
              <p:cNvSpPr txBox="1">
                <a:spLocks/>
              </p:cNvSpPr>
              <p:nvPr/>
            </p:nvSpPr>
            <p:spPr>
              <a:xfrm>
                <a:off x="319463" y="817373"/>
                <a:ext cx="11446551" cy="142309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 typeface="Arial" panose="020B0604020202020204" pitchFamily="34" charset="0"/>
                  <a:buChar char="•"/>
                  <a:defRPr/>
                </a:pPr>
                <a:r>
                  <a:rPr lang="en-NZ" altLang="ja-JP" sz="1600" dirty="0">
                    <a:solidFill>
                      <a:schemeClr val="tx1"/>
                    </a:solidFill>
                  </a:rPr>
                  <a:t>Succinctly put… if </a:t>
                </a:r>
                <a14:m>
                  <m:oMath xmlns:m="http://schemas.openxmlformats.org/officeDocument/2006/math">
                    <m:r>
                      <a:rPr lang="en-NZ" sz="1400" b="1" i="1" smtClean="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𝚪</m:t>
                    </m:r>
                    <m: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 = </m:t>
                    </m:r>
                    <m:d>
                      <m:dPr>
                        <m:begChr m:val="{"/>
                        <m:endChr m:val="}"/>
                        <m:ctrlP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dPr>
                      <m:e>
                        <m:m>
                          <m:mPr>
                            <m:mcs>
                              <m:mc>
                                <m:mcPr>
                                  <m:count m:val="3"/>
                                  <m:mcJc m:val="center"/>
                                </m:mcPr>
                              </m:mc>
                            </m:mcs>
                            <m:ctrlP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mPr>
                          <m:mr>
                            <m:e>
                              <m: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 </m:t>
                              </m:r>
                              <m:d>
                                <m:dPr>
                                  <m:ctrlP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dPr>
                                <m:e>
                                  <m:m>
                                    <m:mPr>
                                      <m:mcs>
                                        <m:mc>
                                          <m:mcPr>
                                            <m:count m:val="1"/>
                                            <m:mcJc m:val="center"/>
                                          </m:mcPr>
                                        </m:mc>
                                      </m:mcs>
                                      <m:ctrlP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mPr>
                                    <m:mr>
                                      <m:e>
                                        <m: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𝟏</m:t>
                                        </m:r>
                                      </m:e>
                                    </m:mr>
                                    <m:mr>
                                      <m:e>
                                        <m: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𝟎</m:t>
                                        </m:r>
                                      </m:e>
                                    </m:mr>
                                    <m:mr>
                                      <m:e>
                                        <m:m>
                                          <m:mPr>
                                            <m:mcs>
                                              <m:mc>
                                                <m:mcPr>
                                                  <m:count m:val="1"/>
                                                  <m:mcJc m:val="center"/>
                                                </m:mcPr>
                                              </m:mc>
                                            </m:mcs>
                                            <m:ctrlP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mPr>
                                          <m:mr>
                                            <m:e>
                                              <m: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e>
                                          </m:mr>
                                          <m:mr>
                                            <m:e>
                                              <m: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𝟎</m:t>
                                              </m:r>
                                            </m:e>
                                          </m:mr>
                                        </m:m>
                                      </m:e>
                                    </m:mr>
                                  </m:m>
                                </m:e>
                              </m:d>
                            </m:e>
                            <m:e>
                              <m:d>
                                <m:dPr>
                                  <m:ctrlP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dPr>
                                <m:e>
                                  <m:m>
                                    <m:mPr>
                                      <m:mcs>
                                        <m:mc>
                                          <m:mcPr>
                                            <m:count m:val="1"/>
                                            <m:mcJc m:val="center"/>
                                          </m:mcPr>
                                        </m:mc>
                                      </m:mcs>
                                      <m:ctrlP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mPr>
                                    <m:mr>
                                      <m:e>
                                        <m: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𝟎</m:t>
                                        </m:r>
                                      </m:e>
                                    </m:mr>
                                    <m:mr>
                                      <m:e>
                                        <m: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𝟏</m:t>
                                        </m:r>
                                      </m:e>
                                    </m:mr>
                                    <m:mr>
                                      <m:e>
                                        <m:m>
                                          <m:mPr>
                                            <m:mcs>
                                              <m:mc>
                                                <m:mcPr>
                                                  <m:count m:val="1"/>
                                                  <m:mcJc m:val="center"/>
                                                </m:mcPr>
                                              </m:mc>
                                            </m:mcs>
                                            <m:ctrlP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mPr>
                                          <m:mr>
                                            <m:e>
                                              <m: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e>
                                          </m:mr>
                                          <m:mr>
                                            <m:e>
                                              <m: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𝟎</m:t>
                                              </m:r>
                                            </m:e>
                                          </m:mr>
                                        </m:m>
                                      </m:e>
                                    </m:mr>
                                  </m:m>
                                </m:e>
                              </m:d>
                            </m:e>
                            <m:e>
                              <m:m>
                                <m:mPr>
                                  <m:mcs>
                                    <m:mc>
                                      <m:mcPr>
                                        <m:count m:val="2"/>
                                        <m:mcJc m:val="center"/>
                                      </m:mcPr>
                                    </m:mc>
                                  </m:mcs>
                                  <m:ctrlP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mPr>
                                <m:mr>
                                  <m:e>
                                    <m:m>
                                      <m:mPr>
                                        <m:mcs>
                                          <m:mc>
                                            <m:mcPr>
                                              <m:count m:val="1"/>
                                              <m:mcJc m:val="center"/>
                                            </m:mcPr>
                                          </m:mc>
                                        </m:mcs>
                                        <m:ctrlP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mPr>
                                      <m:mr>
                                        <m:e>
                                          <m: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e>
                                      </m:mr>
                                      <m:mr>
                                        <m:e>
                                          <m: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e>
                                      </m:mr>
                                      <m:mr>
                                        <m:e>
                                          <m:m>
                                            <m:mPr>
                                              <m:mcs>
                                                <m:mc>
                                                  <m:mcPr>
                                                    <m:count m:val="1"/>
                                                    <m:mcJc m:val="center"/>
                                                  </m:mcPr>
                                                </m:mc>
                                              </m:mcs>
                                              <m:ctrlP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mPr>
                                            <m:mr>
                                              <m:e>
                                                <m: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e>
                                            </m:mr>
                                            <m:mr>
                                              <m:e>
                                                <m: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e>
                                            </m:mr>
                                          </m:m>
                                        </m:e>
                                      </m:mr>
                                    </m:m>
                                  </m:e>
                                  <m:e>
                                    <m:d>
                                      <m:dPr>
                                        <m:ctrlP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dPr>
                                      <m:e>
                                        <m:m>
                                          <m:mPr>
                                            <m:mcs>
                                              <m:mc>
                                                <m:mcPr>
                                                  <m:count m:val="1"/>
                                                  <m:mcJc m:val="center"/>
                                                </m:mcPr>
                                              </m:mc>
                                            </m:mcs>
                                            <m:ctrlP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mPr>
                                          <m:mr>
                                            <m:e>
                                              <m: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𝟎</m:t>
                                              </m:r>
                                            </m:e>
                                          </m:mr>
                                          <m:mr>
                                            <m:e>
                                              <m: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𝟎</m:t>
                                              </m:r>
                                            </m:e>
                                          </m:mr>
                                          <m:mr>
                                            <m:e>
                                              <m:m>
                                                <m:mPr>
                                                  <m:mcs>
                                                    <m:mc>
                                                      <m:mcPr>
                                                        <m:count m:val="1"/>
                                                        <m:mcJc m:val="center"/>
                                                      </m:mcPr>
                                                    </m:mc>
                                                  </m:mcs>
                                                  <m:ctrlP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mPr>
                                                <m:mr>
                                                  <m:e>
                                                    <m: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e>
                                                </m:mr>
                                                <m:mr>
                                                  <m:e>
                                                    <m: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𝟏</m:t>
                                                    </m:r>
                                                  </m:e>
                                                </m:mr>
                                              </m:m>
                                            </m:e>
                                          </m:mr>
                                        </m:m>
                                      </m:e>
                                    </m:d>
                                  </m:e>
                                </m:mr>
                              </m:m>
                            </m:e>
                          </m:mr>
                        </m:m>
                        <m: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 </m:t>
                        </m:r>
                      </m:e>
                    </m:d>
                  </m:oMath>
                </a14:m>
                <a:r>
                  <a:rPr lang="en-NZ" altLang="ja-JP" sz="1400" dirty="0">
                    <a:solidFill>
                      <a:schemeClr val="tx1"/>
                    </a:solidFill>
                  </a:rPr>
                  <a:t> </a:t>
                </a:r>
                <a:r>
                  <a:rPr lang="en-NZ" altLang="ja-JP" sz="1600" dirty="0">
                    <a:solidFill>
                      <a:schemeClr val="tx1"/>
                    </a:solidFill>
                  </a:rPr>
                  <a:t>describes the axes of the standard coordinate system</a:t>
                </a:r>
                <a:br>
                  <a:rPr lang="en-NZ" altLang="ja-JP" sz="1600" dirty="0">
                    <a:solidFill>
                      <a:schemeClr val="tx1"/>
                    </a:solidFill>
                  </a:rPr>
                </a:br>
                <a:r>
                  <a:rPr lang="en-NZ" altLang="ja-JP" sz="1600" dirty="0">
                    <a:solidFill>
                      <a:schemeClr val="tx1"/>
                    </a:solidFill>
                  </a:rPr>
                  <a:t>then the vectors </a:t>
                </a:r>
                <a14:m>
                  <m:oMath xmlns:m="http://schemas.openxmlformats.org/officeDocument/2006/math">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𝒗</m:t>
                        </m:r>
                      </m:e>
                      <m:sub>
                        <m:r>
                          <a:rPr lang="en-NZ" altLang="ja-JP" sz="1600" b="1" i="1" smtClean="0">
                            <a:solidFill>
                              <a:schemeClr val="tx1"/>
                            </a:solidFill>
                            <a:latin typeface="Cambria Math" panose="02040503050406030204" pitchFamily="18" charset="0"/>
                          </a:rPr>
                          <m:t>𝟏</m:t>
                        </m:r>
                      </m:sub>
                    </m:sSub>
                    <m:r>
                      <a:rPr lang="en-NZ" altLang="ja-JP" sz="1600" b="1" i="1" smtClean="0">
                        <a:solidFill>
                          <a:schemeClr val="tx1"/>
                        </a:solidFill>
                        <a:latin typeface="Cambria Math" panose="02040503050406030204" pitchFamily="18" charset="0"/>
                      </a:rPr>
                      <m:t>, </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𝒗</m:t>
                        </m:r>
                      </m:e>
                      <m:sub>
                        <m:r>
                          <a:rPr lang="en-NZ" altLang="ja-JP" sz="1600" b="1" i="1" smtClean="0">
                            <a:solidFill>
                              <a:schemeClr val="tx1"/>
                            </a:solidFill>
                            <a:latin typeface="Cambria Math" panose="02040503050406030204" pitchFamily="18" charset="0"/>
                          </a:rPr>
                          <m:t>𝟐</m:t>
                        </m:r>
                      </m:sub>
                    </m:sSub>
                    <m:r>
                      <a:rPr lang="en-NZ" altLang="ja-JP" sz="1600" b="1" i="1" smtClean="0">
                        <a:solidFill>
                          <a:schemeClr val="tx1"/>
                        </a:solidFill>
                        <a:latin typeface="Cambria Math" panose="02040503050406030204" pitchFamily="18" charset="0"/>
                      </a:rPr>
                      <m:t>, …, </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𝒗</m:t>
                        </m:r>
                      </m:e>
                      <m:sub>
                        <m:r>
                          <a:rPr lang="en-NZ" altLang="ja-JP" sz="1600" b="1" i="1" smtClean="0">
                            <a:solidFill>
                              <a:schemeClr val="tx1"/>
                            </a:solidFill>
                            <a:latin typeface="Cambria Math" panose="02040503050406030204" pitchFamily="18" charset="0"/>
                          </a:rPr>
                          <m:t>𝒏</m:t>
                        </m:r>
                      </m:sub>
                    </m:sSub>
                  </m:oMath>
                </a14:m>
                <a:r>
                  <a:rPr lang="en-NZ" altLang="ja-JP" sz="1600" b="1" dirty="0">
                    <a:solidFill>
                      <a:schemeClr val="tx1"/>
                    </a:solidFill>
                  </a:rPr>
                  <a:t> </a:t>
                </a:r>
                <a:r>
                  <a:rPr lang="en-NZ" altLang="ja-JP" sz="1600" dirty="0">
                    <a:solidFill>
                      <a:schemeClr val="tx1"/>
                    </a:solidFill>
                  </a:rPr>
                  <a:t>of the covariance / correlation matrix form a set of orthonormal axes for an alternative coordinate system </a:t>
                </a:r>
                <a14:m>
                  <m:oMath xmlns:m="http://schemas.openxmlformats.org/officeDocument/2006/math">
                    <m:r>
                      <a:rPr lang="en-NZ" altLang="ja-JP" sz="1600" b="1" i="0" smtClean="0">
                        <a:solidFill>
                          <a:schemeClr val="tx1"/>
                        </a:solidFill>
                        <a:latin typeface="Cambria Math" panose="02040503050406030204" pitchFamily="18" charset="0"/>
                      </a:rPr>
                      <m:t>𝚪</m:t>
                    </m:r>
                    <m:r>
                      <a:rPr lang="en-NZ" altLang="ja-JP" sz="1600" b="0" i="1" smtClean="0">
                        <a:solidFill>
                          <a:schemeClr val="tx1"/>
                        </a:solidFill>
                        <a:latin typeface="Cambria Math" panose="02040503050406030204" pitchFamily="18" charset="0"/>
                      </a:rPr>
                      <m:t>′</m:t>
                    </m:r>
                  </m:oMath>
                </a14:m>
                <a:r>
                  <a:rPr lang="en-NZ" altLang="ja-JP" sz="1600" dirty="0">
                    <a:solidFill>
                      <a:schemeClr val="tx1"/>
                    </a:solidFill>
                  </a:rPr>
                  <a:t>. This new co-ordinate system </a:t>
                </a:r>
                <a14:m>
                  <m:oMath xmlns:m="http://schemas.openxmlformats.org/officeDocument/2006/math">
                    <m:r>
                      <a:rPr lang="en-NZ" altLang="ja-JP" sz="1600" b="1">
                        <a:solidFill>
                          <a:schemeClr val="tx1"/>
                        </a:solidFill>
                        <a:latin typeface="Cambria Math" panose="02040503050406030204" pitchFamily="18" charset="0"/>
                      </a:rPr>
                      <m:t>𝚪</m:t>
                    </m:r>
                    <m:r>
                      <a:rPr lang="en-NZ" altLang="ja-JP" sz="1600" b="1" i="1" smtClean="0">
                        <a:solidFill>
                          <a:schemeClr val="tx1"/>
                        </a:solidFill>
                        <a:latin typeface="Cambria Math" panose="02040503050406030204" pitchFamily="18" charset="0"/>
                      </a:rPr>
                      <m:t>′</m:t>
                    </m:r>
                    <m:r>
                      <a:rPr lang="en-NZ" altLang="ja-JP" sz="1600" b="1" i="1">
                        <a:solidFill>
                          <a:schemeClr val="tx1"/>
                        </a:solidFill>
                        <a:latin typeface="Cambria Math" panose="02040503050406030204" pitchFamily="18" charset="0"/>
                      </a:rPr>
                      <m:t> </m:t>
                    </m:r>
                  </m:oMath>
                </a14:m>
                <a:r>
                  <a:rPr lang="en-NZ" altLang="ja-JP" sz="1600" dirty="0">
                    <a:solidFill>
                      <a:schemeClr val="tx1"/>
                    </a:solidFill>
                  </a:rPr>
                  <a:t>can be thought of as the coordinate system that ‘best describes the data’. </a:t>
                </a:r>
              </a:p>
            </p:txBody>
          </p:sp>
        </mc:Choice>
        <mc:Fallback xmlns="">
          <p:sp>
            <p:nvSpPr>
              <p:cNvPr id="9" name="Text Placeholder 5">
                <a:extLst>
                  <a:ext uri="{FF2B5EF4-FFF2-40B4-BE49-F238E27FC236}">
                    <a16:creationId xmlns:a16="http://schemas.microsoft.com/office/drawing/2014/main" id="{498B7821-D78D-713F-1426-B800E2622D82}"/>
                  </a:ext>
                </a:extLst>
              </p:cNvPr>
              <p:cNvSpPr txBox="1">
                <a:spLocks noRot="1" noChangeAspect="1" noMove="1" noResize="1" noEditPoints="1" noAdjustHandles="1" noChangeArrowheads="1" noChangeShapeType="1" noTextEdit="1"/>
              </p:cNvSpPr>
              <p:nvPr/>
            </p:nvSpPr>
            <p:spPr>
              <a:xfrm>
                <a:off x="319463" y="817373"/>
                <a:ext cx="11446551" cy="1423091"/>
              </a:xfrm>
              <a:prstGeom prst="rect">
                <a:avLst/>
              </a:prstGeom>
              <a:blipFill>
                <a:blip r:embed="rId4"/>
                <a:stretch>
                  <a:fillRect l="-213"/>
                </a:stretch>
              </a:blipFill>
            </p:spPr>
            <p:txBody>
              <a:bodyPr/>
              <a:lstStyle/>
              <a:p>
                <a:r>
                  <a:rPr lang="en-NZ">
                    <a:noFill/>
                  </a:rPr>
                  <a:t> </a:t>
                </a:r>
              </a:p>
            </p:txBody>
          </p:sp>
        </mc:Fallback>
      </mc:AlternateContent>
      <p:sp>
        <p:nvSpPr>
          <p:cNvPr id="11" name="Text Placeholder 5">
            <a:extLst>
              <a:ext uri="{FF2B5EF4-FFF2-40B4-BE49-F238E27FC236}">
                <a16:creationId xmlns:a16="http://schemas.microsoft.com/office/drawing/2014/main" id="{C4CBF934-BB94-C893-07E2-5FD3D3BC30F0}"/>
              </a:ext>
            </a:extLst>
          </p:cNvPr>
          <p:cNvSpPr txBox="1">
            <a:spLocks/>
          </p:cNvSpPr>
          <p:nvPr/>
        </p:nvSpPr>
        <p:spPr>
          <a:xfrm>
            <a:off x="651498" y="2447010"/>
            <a:ext cx="3516242" cy="365126"/>
          </a:xfrm>
          <a:prstGeom prst="rect">
            <a:avLst/>
          </a:prstGeom>
          <a:no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1200" b="1" dirty="0">
                <a:solidFill>
                  <a:prstClr val="black"/>
                </a:solidFill>
              </a:rPr>
              <a:t>Illustration of Representing 3-Dimensional Data is the Coordinate System that Best Fits the data</a:t>
            </a:r>
          </a:p>
        </p:txBody>
      </p:sp>
      <mc:AlternateContent xmlns:mc="http://schemas.openxmlformats.org/markup-compatibility/2006" xmlns:a14="http://schemas.microsoft.com/office/drawing/2010/main">
        <mc:Choice Requires="a14">
          <p:sp>
            <p:nvSpPr>
              <p:cNvPr id="16" name="Text Placeholder 5">
                <a:extLst>
                  <a:ext uri="{FF2B5EF4-FFF2-40B4-BE49-F238E27FC236}">
                    <a16:creationId xmlns:a16="http://schemas.microsoft.com/office/drawing/2014/main" id="{E5CCAD34-6F79-8C47-0E37-7FB3D03FB9CA}"/>
                  </a:ext>
                </a:extLst>
              </p:cNvPr>
              <p:cNvSpPr txBox="1">
                <a:spLocks/>
              </p:cNvSpPr>
              <p:nvPr/>
            </p:nvSpPr>
            <p:spPr>
              <a:xfrm>
                <a:off x="4747639" y="2440382"/>
                <a:ext cx="7205031" cy="84230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 typeface="Arial" panose="020B0604020202020204" pitchFamily="34" charset="0"/>
                  <a:buChar char="•"/>
                  <a:defRPr/>
                </a:pPr>
                <a:r>
                  <a:rPr lang="en-NZ" altLang="ja-JP" sz="1600" dirty="0">
                    <a:solidFill>
                      <a:schemeClr val="tx1"/>
                    </a:solidFill>
                  </a:rPr>
                  <a:t>The hope is that the first few vectors of the new coordinate system </a:t>
                </a:r>
                <a14:m>
                  <m:oMath xmlns:m="http://schemas.openxmlformats.org/officeDocument/2006/math">
                    <m:r>
                      <m:rPr>
                        <m:sty m:val="p"/>
                      </m:rPr>
                      <a:rPr lang="en-NZ" altLang="ja-JP" sz="1600" b="0" i="0" smtClean="0">
                        <a:solidFill>
                          <a:schemeClr val="tx1"/>
                        </a:solidFill>
                        <a:latin typeface="Cambria Math" panose="02040503050406030204" pitchFamily="18" charset="0"/>
                      </a:rPr>
                      <m:t>Γ</m:t>
                    </m:r>
                    <m:r>
                      <a:rPr lang="en-NZ" altLang="ja-JP" sz="1600" b="0" i="1" smtClean="0">
                        <a:solidFill>
                          <a:schemeClr val="tx1"/>
                        </a:solidFill>
                        <a:latin typeface="Cambria Math" panose="02040503050406030204" pitchFamily="18" charset="0"/>
                      </a:rPr>
                      <m:t>′</m:t>
                    </m:r>
                  </m:oMath>
                </a14:m>
                <a:r>
                  <a:rPr lang="en-NZ" altLang="ja-JP" sz="1600" dirty="0">
                    <a:solidFill>
                      <a:schemeClr val="tx1"/>
                    </a:solidFill>
                  </a:rPr>
                  <a:t> </a:t>
                </a:r>
                <a:br>
                  <a:rPr lang="en-NZ" altLang="ja-JP" sz="1600" dirty="0">
                    <a:solidFill>
                      <a:schemeClr val="tx1"/>
                    </a:solidFill>
                  </a:rPr>
                </a:br>
                <a:r>
                  <a:rPr lang="en-NZ" altLang="ja-JP" sz="1600" dirty="0">
                    <a:solidFill>
                      <a:schemeClr val="tx1"/>
                    </a:solidFill>
                  </a:rPr>
                  <a:t>(i.e. the first few principal components of the data) explain a sufficiently large proportion of the variance in the data. </a:t>
                </a:r>
              </a:p>
            </p:txBody>
          </p:sp>
        </mc:Choice>
        <mc:Fallback xmlns="">
          <p:sp>
            <p:nvSpPr>
              <p:cNvPr id="16" name="Text Placeholder 5">
                <a:extLst>
                  <a:ext uri="{FF2B5EF4-FFF2-40B4-BE49-F238E27FC236}">
                    <a16:creationId xmlns:a16="http://schemas.microsoft.com/office/drawing/2014/main" id="{E5CCAD34-6F79-8C47-0E37-7FB3D03FB9CA}"/>
                  </a:ext>
                </a:extLst>
              </p:cNvPr>
              <p:cNvSpPr txBox="1">
                <a:spLocks noRot="1" noChangeAspect="1" noMove="1" noResize="1" noEditPoints="1" noAdjustHandles="1" noChangeArrowheads="1" noChangeShapeType="1" noTextEdit="1"/>
              </p:cNvSpPr>
              <p:nvPr/>
            </p:nvSpPr>
            <p:spPr>
              <a:xfrm>
                <a:off x="4747639" y="2440382"/>
                <a:ext cx="7205031" cy="842309"/>
              </a:xfrm>
              <a:prstGeom prst="rect">
                <a:avLst/>
              </a:prstGeom>
              <a:blipFill>
                <a:blip r:embed="rId5"/>
                <a:stretch>
                  <a:fillRect l="-338" t="-2174" b="-7246"/>
                </a:stretch>
              </a:blipFill>
            </p:spPr>
            <p:txBody>
              <a:bodyPr/>
              <a:lstStyle/>
              <a:p>
                <a:r>
                  <a:rPr lang="en-NZ">
                    <a:noFill/>
                  </a:rPr>
                  <a:t> </a:t>
                </a:r>
              </a:p>
            </p:txBody>
          </p:sp>
        </mc:Fallback>
      </mc:AlternateContent>
      <p:sp>
        <p:nvSpPr>
          <p:cNvPr id="18" name="Text Placeholder 5">
            <a:extLst>
              <a:ext uri="{FF2B5EF4-FFF2-40B4-BE49-F238E27FC236}">
                <a16:creationId xmlns:a16="http://schemas.microsoft.com/office/drawing/2014/main" id="{460820DA-71CF-E0B6-74C1-283480E0740C}"/>
              </a:ext>
            </a:extLst>
          </p:cNvPr>
          <p:cNvSpPr txBox="1">
            <a:spLocks/>
          </p:cNvSpPr>
          <p:nvPr/>
        </p:nvSpPr>
        <p:spPr>
          <a:xfrm>
            <a:off x="4747636" y="4326721"/>
            <a:ext cx="7205031"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 typeface="Arial" panose="020B0604020202020204" pitchFamily="34" charset="0"/>
              <a:buChar char="•"/>
              <a:defRPr/>
            </a:pPr>
            <a:r>
              <a:rPr lang="en-NZ" altLang="ja-JP" sz="1600" dirty="0">
                <a:solidFill>
                  <a:schemeClr val="tx1"/>
                </a:solidFill>
              </a:rPr>
              <a:t>In this sense, principal component analysis can be thought of as a dimensionality reduction technique. It is very useful in telecommunication systems (e.g. Zoom).</a:t>
            </a:r>
          </a:p>
        </p:txBody>
      </p:sp>
      <p:sp>
        <p:nvSpPr>
          <p:cNvPr id="21" name="Text Placeholder 5">
            <a:extLst>
              <a:ext uri="{FF2B5EF4-FFF2-40B4-BE49-F238E27FC236}">
                <a16:creationId xmlns:a16="http://schemas.microsoft.com/office/drawing/2014/main" id="{F7B6390F-5416-1462-16C1-9E89E40E912E}"/>
              </a:ext>
            </a:extLst>
          </p:cNvPr>
          <p:cNvSpPr txBox="1">
            <a:spLocks/>
          </p:cNvSpPr>
          <p:nvPr/>
        </p:nvSpPr>
        <p:spPr>
          <a:xfrm>
            <a:off x="4747636" y="3518976"/>
            <a:ext cx="7205031" cy="5714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 typeface="Arial" panose="020B0604020202020204" pitchFamily="34" charset="0"/>
              <a:buChar char="•"/>
              <a:defRPr/>
            </a:pPr>
            <a:r>
              <a:rPr lang="en-NZ" altLang="ja-JP" sz="1600" dirty="0">
                <a:solidFill>
                  <a:schemeClr val="tx1"/>
                </a:solidFill>
              </a:rPr>
              <a:t>If so, we may throw away the other dimensions of the data and reduce the amount of data we have to hold. </a:t>
            </a:r>
          </a:p>
        </p:txBody>
      </p:sp>
      <p:sp>
        <p:nvSpPr>
          <p:cNvPr id="22" name="Text Placeholder 5">
            <a:extLst>
              <a:ext uri="{FF2B5EF4-FFF2-40B4-BE49-F238E27FC236}">
                <a16:creationId xmlns:a16="http://schemas.microsoft.com/office/drawing/2014/main" id="{B3AF8C78-3B1D-5C07-C52D-4F8CADEB914E}"/>
              </a:ext>
            </a:extLst>
          </p:cNvPr>
          <p:cNvSpPr txBox="1">
            <a:spLocks/>
          </p:cNvSpPr>
          <p:nvPr/>
        </p:nvSpPr>
        <p:spPr>
          <a:xfrm>
            <a:off x="4747636" y="5202283"/>
            <a:ext cx="7205031"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 typeface="Arial" panose="020B0604020202020204" pitchFamily="34" charset="0"/>
              <a:buChar char="•"/>
              <a:defRPr/>
            </a:pPr>
            <a:r>
              <a:rPr lang="en-NZ" altLang="ja-JP" sz="1600" dirty="0">
                <a:solidFill>
                  <a:schemeClr val="tx1"/>
                </a:solidFill>
              </a:rPr>
              <a:t>Under certain circumstances, (i.e. the first principal component explaining the vast majority of the variance in the data) it can also be used to condense n-dimensional data into a 1-dimensional score (see Assignment 3).</a:t>
            </a:r>
          </a:p>
        </p:txBody>
      </p:sp>
    </p:spTree>
    <p:extLst>
      <p:ext uri="{BB962C8B-B14F-4D97-AF65-F5344CB8AC3E}">
        <p14:creationId xmlns:p14="http://schemas.microsoft.com/office/powerpoint/2010/main" val="1209935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21" grpId="0"/>
      <p:bldP spid="2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Question 2</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593183"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Question 2: Non-Parametric Bootstrapping</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3" name="Text Placeholder 5">
            <a:extLst>
              <a:ext uri="{FF2B5EF4-FFF2-40B4-BE49-F238E27FC236}">
                <a16:creationId xmlns:a16="http://schemas.microsoft.com/office/drawing/2014/main" id="{13382408-ADFE-DC07-1AB5-39D0A20D1929}"/>
              </a:ext>
            </a:extLst>
          </p:cNvPr>
          <p:cNvSpPr txBox="1">
            <a:spLocks/>
          </p:cNvSpPr>
          <p:nvPr/>
        </p:nvSpPr>
        <p:spPr>
          <a:xfrm>
            <a:off x="3011606" y="6551432"/>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Tutorial 3 – Q2</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3" name="Text Placeholder 5">
            <a:extLst>
              <a:ext uri="{FF2B5EF4-FFF2-40B4-BE49-F238E27FC236}">
                <a16:creationId xmlns:a16="http://schemas.microsoft.com/office/drawing/2014/main" id="{DE55675E-2AFA-64C0-047F-A7B92FFAE943}"/>
              </a:ext>
            </a:extLst>
          </p:cNvPr>
          <p:cNvSpPr txBox="1">
            <a:spLocks/>
          </p:cNvSpPr>
          <p:nvPr/>
        </p:nvSpPr>
        <p:spPr>
          <a:xfrm>
            <a:off x="2710149" y="999836"/>
            <a:ext cx="8813494" cy="537893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lvl="0" indent="-342900">
              <a:lnSpc>
                <a:spcPct val="100000"/>
              </a:lnSpc>
              <a:buFont typeface="+mj-lt"/>
              <a:buAutoNum type="alphaLcParenR"/>
              <a:defRPr/>
            </a:pPr>
            <a:r>
              <a:rPr lang="en-NZ" altLang="ja-JP" sz="1400" dirty="0">
                <a:solidFill>
                  <a:srgbClr val="0070C0"/>
                </a:solidFill>
              </a:rPr>
              <a:t>The data set ‘trees’ is stored by default in R’s memory. Read the data into a current R session and inspect the data.</a:t>
            </a:r>
            <a:br>
              <a:rPr lang="en-NZ" altLang="ja-JP" sz="1400" dirty="0">
                <a:solidFill>
                  <a:srgbClr val="0070C0"/>
                </a:solidFill>
              </a:rPr>
            </a:br>
            <a:r>
              <a:rPr lang="en-NZ" altLang="ja-JP" sz="1400" dirty="0">
                <a:solidFill>
                  <a:srgbClr val="0070C0"/>
                </a:solidFill>
              </a:rPr>
              <a:t>Set the number of rows as a variable named </a:t>
            </a:r>
            <a:r>
              <a:rPr lang="en-NZ" altLang="ja-JP" sz="1400" b="1" i="1" dirty="0">
                <a:solidFill>
                  <a:srgbClr val="0070C0"/>
                </a:solidFill>
              </a:rPr>
              <a:t>n</a:t>
            </a:r>
            <a:r>
              <a:rPr lang="en-NZ" altLang="ja-JP" sz="1400" dirty="0">
                <a:solidFill>
                  <a:srgbClr val="0070C0"/>
                </a:solidFill>
              </a:rPr>
              <a:t>. Set the number of columns as a variable named </a:t>
            </a:r>
            <a:r>
              <a:rPr lang="en-NZ" altLang="ja-JP" sz="1400" b="1" i="1" dirty="0">
                <a:solidFill>
                  <a:srgbClr val="0070C0"/>
                </a:solidFill>
              </a:rPr>
              <a:t>p</a:t>
            </a:r>
            <a:r>
              <a:rPr lang="en-NZ" altLang="ja-JP" sz="1400" dirty="0">
                <a:solidFill>
                  <a:srgbClr val="0070C0"/>
                </a:solidFill>
              </a:rPr>
              <a:t>.</a:t>
            </a:r>
            <a:br>
              <a:rPr lang="en-NZ" altLang="ja-JP" sz="1400" dirty="0">
                <a:solidFill>
                  <a:srgbClr val="0070C0"/>
                </a:solidFill>
              </a:rPr>
            </a:br>
            <a:endParaRPr lang="en-NZ" altLang="ja-JP" sz="1400" dirty="0">
              <a:solidFill>
                <a:srgbClr val="0070C0"/>
              </a:solidFill>
            </a:endParaRPr>
          </a:p>
          <a:p>
            <a:pPr marL="342900" lvl="0" indent="-342900">
              <a:lnSpc>
                <a:spcPct val="100000"/>
              </a:lnSpc>
              <a:buFont typeface="+mj-lt"/>
              <a:buAutoNum type="alphaLcParenR"/>
              <a:defRPr/>
            </a:pPr>
            <a:r>
              <a:rPr lang="en-NZ" altLang="ja-JP" sz="1400" dirty="0">
                <a:solidFill>
                  <a:srgbClr val="0070C0"/>
                </a:solidFill>
              </a:rPr>
              <a:t>Standardise the data and obtain the covariance matrix of the standardised data.</a:t>
            </a:r>
            <a:br>
              <a:rPr lang="en-NZ" altLang="ja-JP" sz="1400" dirty="0">
                <a:solidFill>
                  <a:srgbClr val="0070C0"/>
                </a:solidFill>
              </a:rPr>
            </a:br>
            <a:endParaRPr lang="en-NZ" altLang="ja-JP" sz="1400" dirty="0">
              <a:solidFill>
                <a:srgbClr val="0070C0"/>
              </a:solidFill>
            </a:endParaRPr>
          </a:p>
          <a:p>
            <a:pPr marL="342900" lvl="0" indent="-342900">
              <a:lnSpc>
                <a:spcPct val="100000"/>
              </a:lnSpc>
              <a:buFont typeface="+mj-lt"/>
              <a:buAutoNum type="alphaLcParenR"/>
              <a:defRPr/>
            </a:pPr>
            <a:r>
              <a:rPr lang="en-NZ" altLang="ja-JP" sz="1400" dirty="0">
                <a:solidFill>
                  <a:srgbClr val="0070C0"/>
                </a:solidFill>
              </a:rPr>
              <a:t>Obtain the correlation matrix of the </a:t>
            </a:r>
            <a:r>
              <a:rPr lang="en-NZ" altLang="ja-JP" sz="1400" b="1" dirty="0">
                <a:solidFill>
                  <a:srgbClr val="0070C0"/>
                </a:solidFill>
              </a:rPr>
              <a:t>unstandardised </a:t>
            </a:r>
            <a:r>
              <a:rPr lang="en-NZ" altLang="ja-JP" sz="1400" dirty="0">
                <a:solidFill>
                  <a:srgbClr val="0070C0"/>
                </a:solidFill>
              </a:rPr>
              <a:t>data. Show that this matrix is identical to the matrix </a:t>
            </a:r>
            <a:br>
              <a:rPr lang="en-NZ" altLang="ja-JP" sz="1400" dirty="0">
                <a:solidFill>
                  <a:srgbClr val="0070C0"/>
                </a:solidFill>
              </a:rPr>
            </a:br>
            <a:r>
              <a:rPr lang="en-NZ" altLang="ja-JP" sz="1400" dirty="0">
                <a:solidFill>
                  <a:srgbClr val="0070C0"/>
                </a:solidFill>
              </a:rPr>
              <a:t>produced in part b).</a:t>
            </a:r>
            <a:br>
              <a:rPr lang="en-NZ" altLang="ja-JP" sz="1400" dirty="0">
                <a:solidFill>
                  <a:srgbClr val="0070C0"/>
                </a:solidFill>
              </a:rPr>
            </a:br>
            <a:endParaRPr lang="en-NZ" altLang="ja-JP" sz="1400" dirty="0">
              <a:solidFill>
                <a:srgbClr val="0070C0"/>
              </a:solidFill>
            </a:endParaRPr>
          </a:p>
          <a:p>
            <a:pPr marL="342900" lvl="0" indent="-342900">
              <a:lnSpc>
                <a:spcPct val="100000"/>
              </a:lnSpc>
              <a:buFont typeface="+mj-lt"/>
              <a:buAutoNum type="alphaLcParenR"/>
              <a:defRPr/>
            </a:pPr>
            <a:r>
              <a:rPr lang="en-NZ" altLang="ja-JP" sz="1400" dirty="0">
                <a:solidFill>
                  <a:srgbClr val="0070C0"/>
                </a:solidFill>
              </a:rPr>
              <a:t>Obtain the eigenvectors of the matrix. Show that they are orthonormal and hence form a perfectly </a:t>
            </a:r>
            <a:br>
              <a:rPr lang="en-NZ" altLang="ja-JP" sz="1400" dirty="0">
                <a:solidFill>
                  <a:srgbClr val="0070C0"/>
                </a:solidFill>
              </a:rPr>
            </a:br>
            <a:r>
              <a:rPr lang="en-NZ" altLang="ja-JP" sz="1400" dirty="0">
                <a:solidFill>
                  <a:srgbClr val="0070C0"/>
                </a:solidFill>
              </a:rPr>
              <a:t>acceptable set of axis vectors.</a:t>
            </a:r>
            <a:br>
              <a:rPr lang="en-NZ" altLang="ja-JP" sz="1400" dirty="0">
                <a:solidFill>
                  <a:srgbClr val="0070C0"/>
                </a:solidFill>
              </a:rPr>
            </a:br>
            <a:endParaRPr lang="en-NZ" altLang="ja-JP" sz="1400" dirty="0">
              <a:solidFill>
                <a:srgbClr val="0070C0"/>
              </a:solidFill>
            </a:endParaRPr>
          </a:p>
          <a:p>
            <a:pPr marL="342900" lvl="0" indent="-342900">
              <a:lnSpc>
                <a:spcPct val="100000"/>
              </a:lnSpc>
              <a:buFont typeface="+mj-lt"/>
              <a:buAutoNum type="alphaLcParenR"/>
              <a:defRPr/>
            </a:pPr>
            <a:r>
              <a:rPr lang="en-NZ" altLang="ja-JP" sz="1400" dirty="0">
                <a:solidFill>
                  <a:srgbClr val="0070C0"/>
                </a:solidFill>
              </a:rPr>
              <a:t>Obtain the eigenvalues of the matrix. Calculate the proportion of the variance explained by the first,</a:t>
            </a:r>
            <a:br>
              <a:rPr lang="en-NZ" altLang="ja-JP" sz="1400" dirty="0">
                <a:solidFill>
                  <a:srgbClr val="0070C0"/>
                </a:solidFill>
              </a:rPr>
            </a:br>
            <a:r>
              <a:rPr lang="en-NZ" altLang="ja-JP" sz="1400" dirty="0">
                <a:solidFill>
                  <a:srgbClr val="0070C0"/>
                </a:solidFill>
              </a:rPr>
              <a:t>second and third principal components.</a:t>
            </a:r>
            <a:br>
              <a:rPr lang="en-NZ" altLang="ja-JP" sz="1400" dirty="0">
                <a:solidFill>
                  <a:srgbClr val="0070C0"/>
                </a:solidFill>
              </a:rPr>
            </a:br>
            <a:endParaRPr lang="en-NZ" altLang="ja-JP" sz="1400" dirty="0">
              <a:solidFill>
                <a:srgbClr val="0070C0"/>
              </a:solidFill>
            </a:endParaRPr>
          </a:p>
          <a:p>
            <a:pPr marL="342900" lvl="0" indent="-342900">
              <a:lnSpc>
                <a:spcPct val="100000"/>
              </a:lnSpc>
              <a:buFont typeface="+mj-lt"/>
              <a:buAutoNum type="alphaLcParenR"/>
              <a:defRPr/>
            </a:pPr>
            <a:r>
              <a:rPr lang="en-NZ" altLang="ja-JP" sz="1400" dirty="0">
                <a:solidFill>
                  <a:srgbClr val="0070C0"/>
                </a:solidFill>
              </a:rPr>
              <a:t>Conduct a non-parametric bootstrapping procedure to create a standard 95% bootstrap confidence interval </a:t>
            </a:r>
            <a:br>
              <a:rPr lang="en-NZ" altLang="ja-JP" sz="1400" dirty="0">
                <a:solidFill>
                  <a:srgbClr val="0070C0"/>
                </a:solidFill>
              </a:rPr>
            </a:br>
            <a:r>
              <a:rPr lang="en-NZ" altLang="ja-JP" sz="1400" dirty="0">
                <a:solidFill>
                  <a:srgbClr val="0070C0"/>
                </a:solidFill>
              </a:rPr>
              <a:t>for the proportion of the variance explained by the first principal component.</a:t>
            </a:r>
            <a:br>
              <a:rPr lang="en-NZ" altLang="ja-JP" sz="1400" dirty="0">
                <a:solidFill>
                  <a:srgbClr val="0070C0"/>
                </a:solidFill>
              </a:rPr>
            </a:br>
            <a:endParaRPr lang="en-NZ" altLang="ja-JP" sz="1400" dirty="0">
              <a:solidFill>
                <a:srgbClr val="0070C0"/>
              </a:solidFill>
            </a:endParaRPr>
          </a:p>
          <a:p>
            <a:pPr marL="342900" lvl="0" indent="-342900">
              <a:lnSpc>
                <a:spcPct val="100000"/>
              </a:lnSpc>
              <a:buFont typeface="+mj-lt"/>
              <a:buAutoNum type="alphaLcParenR"/>
              <a:defRPr/>
            </a:pPr>
            <a:r>
              <a:rPr lang="en-NZ" altLang="ja-JP" sz="1400" dirty="0">
                <a:solidFill>
                  <a:srgbClr val="0070C0"/>
                </a:solidFill>
              </a:rPr>
              <a:t>If, after conducting principal component analysis, we were to throw away the data held in the second</a:t>
            </a:r>
            <a:br>
              <a:rPr lang="en-NZ" altLang="ja-JP" sz="1400" dirty="0">
                <a:solidFill>
                  <a:srgbClr val="0070C0"/>
                </a:solidFill>
              </a:rPr>
            </a:br>
            <a:r>
              <a:rPr lang="en-NZ" altLang="ja-JP" sz="1400" dirty="0">
                <a:solidFill>
                  <a:srgbClr val="0070C0"/>
                </a:solidFill>
              </a:rPr>
              <a:t>and third principal components, we would reduce the size of the data set by a factor of 2/3. </a:t>
            </a:r>
            <a:r>
              <a:rPr lang="en-NZ" altLang="ja-JP" sz="1400" b="1" dirty="0">
                <a:solidFill>
                  <a:srgbClr val="0070C0"/>
                </a:solidFill>
              </a:rPr>
              <a:t>Roughly</a:t>
            </a:r>
            <a:r>
              <a:rPr lang="en-NZ" altLang="ja-JP" sz="1400" dirty="0">
                <a:solidFill>
                  <a:srgbClr val="0070C0"/>
                </a:solidFill>
              </a:rPr>
              <a:t> what proportion of the information would we lose in doing so?</a:t>
            </a:r>
            <a:endParaRPr lang="en-US" altLang="ja-JP" sz="1400" dirty="0">
              <a:solidFill>
                <a:srgbClr val="0070C0"/>
              </a:solidFill>
            </a:endParaRPr>
          </a:p>
        </p:txBody>
      </p:sp>
      <p:pic>
        <p:nvPicPr>
          <p:cNvPr id="10" name="Picture 9">
            <a:extLst>
              <a:ext uri="{FF2B5EF4-FFF2-40B4-BE49-F238E27FC236}">
                <a16:creationId xmlns:a16="http://schemas.microsoft.com/office/drawing/2014/main" id="{A74FB3BD-F943-0D3C-8C80-A65AB4396D4C}"/>
              </a:ext>
            </a:extLst>
          </p:cNvPr>
          <p:cNvPicPr>
            <a:picLocks noChangeAspect="1"/>
          </p:cNvPicPr>
          <p:nvPr/>
        </p:nvPicPr>
        <p:blipFill>
          <a:blip r:embed="rId3"/>
          <a:stretch>
            <a:fillRect/>
          </a:stretch>
        </p:blipFill>
        <p:spPr>
          <a:xfrm>
            <a:off x="464602" y="1307391"/>
            <a:ext cx="1876425" cy="4772025"/>
          </a:xfrm>
          <a:prstGeom prst="rect">
            <a:avLst/>
          </a:prstGeom>
        </p:spPr>
      </p:pic>
      <p:sp>
        <p:nvSpPr>
          <p:cNvPr id="12" name="Text Placeholder 5">
            <a:extLst>
              <a:ext uri="{FF2B5EF4-FFF2-40B4-BE49-F238E27FC236}">
                <a16:creationId xmlns:a16="http://schemas.microsoft.com/office/drawing/2014/main" id="{80570E91-9809-D245-6012-6F9911669200}"/>
              </a:ext>
            </a:extLst>
          </p:cNvPr>
          <p:cNvSpPr txBox="1">
            <a:spLocks/>
          </p:cNvSpPr>
          <p:nvPr/>
        </p:nvSpPr>
        <p:spPr>
          <a:xfrm>
            <a:off x="464602" y="1004312"/>
            <a:ext cx="1876425" cy="365126"/>
          </a:xfrm>
          <a:prstGeom prst="rect">
            <a:avLst/>
          </a:prstGeom>
          <a:no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1200" b="1" dirty="0">
                <a:solidFill>
                  <a:prstClr val="black"/>
                </a:solidFill>
              </a:rPr>
              <a:t>The ‘trees’ data set</a:t>
            </a:r>
          </a:p>
        </p:txBody>
      </p:sp>
    </p:spTree>
    <p:extLst>
      <p:ext uri="{BB962C8B-B14F-4D97-AF65-F5344CB8AC3E}">
        <p14:creationId xmlns:p14="http://schemas.microsoft.com/office/powerpoint/2010/main" val="18222143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4851</TotalTime>
  <Words>1353</Words>
  <Application>Microsoft Office PowerPoint</Application>
  <PresentationFormat>Widescreen</PresentationFormat>
  <Paragraphs>90</Paragraphs>
  <Slides>10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Arial</vt:lpstr>
      <vt:lpstr>Calibri</vt:lpstr>
      <vt:lpstr>Calibri Light</vt:lpstr>
      <vt:lpstr>Cambria Math</vt:lpstr>
      <vt:lpstr>Coo Hew</vt:lpstr>
      <vt:lpstr>Gidole</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Adam Ward</dc:creator>
  <cp:lastModifiedBy>Adam Ward</cp:lastModifiedBy>
  <cp:revision>111</cp:revision>
  <dcterms:created xsi:type="dcterms:W3CDTF">2022-02-19T23:15:01Z</dcterms:created>
  <dcterms:modified xsi:type="dcterms:W3CDTF">2022-09-24T09:41:06Z</dcterms:modified>
</cp:coreProperties>
</file>