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5" r:id="rId4"/>
    <p:sldId id="275" r:id="rId5"/>
    <p:sldId id="26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6BA3"/>
    <a:srgbClr val="F3F3FF"/>
    <a:srgbClr val="DEDDDD"/>
    <a:srgbClr val="FF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6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2/10/2022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432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Computational Statistics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Tutorial 4 – Markov Chains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1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1 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940568"/>
                <a:ext cx="11615496" cy="2607850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Consider the discrete state space Markov chain defined by the transition matrix</a:t>
                </a: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2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kumimoji="1" lang="en-US" altLang="ja-JP" sz="2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R="0" lvl="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tabLst/>
                  <a:defRPr/>
                </a:pPr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Draw the weighted directed graph defined by this Markov chain.</a:t>
                </a:r>
                <a:endParaRPr lang="en-US" altLang="ja-JP" sz="18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chain </a:t>
                </a: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reducible or irreducible?</a:t>
                </a: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Is the chain positive recurrent, null recurrent or transient?</a:t>
                </a:r>
              </a:p>
              <a:p>
                <a:pPr marL="342900" marR="0" lvl="0" indent="-342900" algn="just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8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Is the chain periodic or aperiodic?</a:t>
                </a:r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65B06D6C-CCB3-4D8F-9171-6B4779FED5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940568"/>
                <a:ext cx="11615496" cy="2607850"/>
              </a:xfrm>
              <a:prstGeom prst="rect">
                <a:avLst/>
              </a:prstGeom>
              <a:blipFill>
                <a:blip r:embed="rId3"/>
                <a:stretch>
                  <a:fillRect l="-420" t="-1168" b="-467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0837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</a:t>
            </a:r>
            <a:r>
              <a:rPr kumimoji="1" lang="en-US" altLang="ja-JP" sz="1600" dirty="0">
                <a:solidFill>
                  <a:srgbClr val="DEDDDD"/>
                </a:solidFill>
                <a:latin typeface="Gidole"/>
                <a:ea typeface="游ゴシック" panose="020B0400000000000000" pitchFamily="34" charset="-128"/>
              </a:rPr>
              <a:t>2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</a:t>
            </a:r>
            <a:r>
              <a:rPr lang="en-US" altLang="ja-JP" b="1" u="sng" dirty="0">
                <a:solidFill>
                  <a:prstClr val="black"/>
                </a:solidFill>
                <a:latin typeface="Calibri" panose="020F0502020204030204"/>
                <a:ea typeface="游ゴシック Light" panose="020B0300000000000000" pitchFamily="34" charset="-128"/>
              </a:rPr>
              <a:t>2</a:t>
            </a: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940568"/>
            <a:ext cx="11615496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by the weighted directed graph shown below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57A1651E-EB04-03C2-2685-C9E727BAA284}"/>
              </a:ext>
            </a:extLst>
          </p:cNvPr>
          <p:cNvSpPr txBox="1">
            <a:spLocks/>
          </p:cNvSpPr>
          <p:nvPr/>
        </p:nvSpPr>
        <p:spPr>
          <a:xfrm>
            <a:off x="4356520" y="1387764"/>
            <a:ext cx="7742830" cy="124935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Write out the transition matrix defined by this Markov chain.</a:t>
            </a:r>
            <a:endParaRPr lang="en-US" altLang="ja-JP" sz="1800" dirty="0">
              <a:solidFill>
                <a:srgbClr val="0070C0"/>
              </a:solidFill>
              <a:latin typeface="Calibri" panose="020F0502020204030204"/>
              <a:ea typeface="游ゴシック" panose="020B0400000000000000" pitchFamily="34" charset="-128"/>
            </a:endParaRP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Is the chain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reducible or irreducible?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is positive recurrent, </a:t>
            </a:r>
            <a:b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null recurrent or transient?</a:t>
            </a:r>
          </a:p>
          <a:p>
            <a:pPr marL="342900" marR="0" lvl="0" indent="-342900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State whether each communication class </a:t>
            </a:r>
            <a:r>
              <a:rPr lang="en-US" altLang="ja-JP" sz="1800" dirty="0">
                <a:solidFill>
                  <a:srgbClr val="0070C0"/>
                </a:solidFill>
                <a:latin typeface="Calibri" panose="020F0502020204030204"/>
                <a:ea typeface="游ゴシック" panose="020B0400000000000000" pitchFamily="34" charset="-128"/>
              </a:rPr>
              <a:t>periodic or aperiodic?</a:t>
            </a:r>
            <a:endParaRPr kumimoji="1" lang="en-US" altLang="ja-JP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2E4D883-4ED0-B141-B9A7-C9432B88C84B}"/>
              </a:ext>
            </a:extLst>
          </p:cNvPr>
          <p:cNvSpPr/>
          <p:nvPr/>
        </p:nvSpPr>
        <p:spPr>
          <a:xfrm>
            <a:off x="753555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BA5BC0D-81A4-6878-3E1D-BB88BBF0C3F9}"/>
              </a:ext>
            </a:extLst>
          </p:cNvPr>
          <p:cNvSpPr/>
          <p:nvPr/>
        </p:nvSpPr>
        <p:spPr>
          <a:xfrm>
            <a:off x="3016596" y="360481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2E59FC-2B85-87F5-E6AF-915E2BDBF979}"/>
              </a:ext>
            </a:extLst>
          </p:cNvPr>
          <p:cNvSpPr/>
          <p:nvPr/>
        </p:nvSpPr>
        <p:spPr>
          <a:xfrm>
            <a:off x="1880429" y="4709939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14B3AB7-EAF9-F3E9-DE1E-CBCEBD4A518E}"/>
              </a:ext>
            </a:extLst>
          </p:cNvPr>
          <p:cNvCxnSpPr>
            <a:cxnSpLocks/>
            <a:stCxn id="20" idx="6"/>
            <a:endCxn id="13" idx="0"/>
          </p:cNvCxnSpPr>
          <p:nvPr/>
        </p:nvCxnSpPr>
        <p:spPr>
          <a:xfrm>
            <a:off x="2595984" y="1782343"/>
            <a:ext cx="744746" cy="4327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C71AA6D-F8D9-9115-ED8C-157A5E12758D}"/>
              </a:ext>
            </a:extLst>
          </p:cNvPr>
          <p:cNvCxnSpPr>
            <a:cxnSpLocks/>
            <a:stCxn id="8" idx="4"/>
            <a:endCxn id="14" idx="1"/>
          </p:cNvCxnSpPr>
          <p:nvPr/>
        </p:nvCxnSpPr>
        <p:spPr>
          <a:xfrm>
            <a:off x="1082336" y="4490542"/>
            <a:ext cx="894391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E013083-7455-D950-87CB-27944FD31C16}"/>
              </a:ext>
            </a:extLst>
          </p:cNvPr>
          <p:cNvCxnSpPr>
            <a:cxnSpLocks/>
            <a:stCxn id="12" idx="4"/>
            <a:endCxn id="14" idx="7"/>
          </p:cNvCxnSpPr>
          <p:nvPr/>
        </p:nvCxnSpPr>
        <p:spPr>
          <a:xfrm flipH="1">
            <a:off x="2441692" y="4490542"/>
            <a:ext cx="903685" cy="34910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516F5EE-8447-8477-839D-B93FE7DB934F}"/>
              </a:ext>
            </a:extLst>
          </p:cNvPr>
          <p:cNvSpPr/>
          <p:nvPr/>
        </p:nvSpPr>
        <p:spPr>
          <a:xfrm>
            <a:off x="753554" y="2215061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5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F85377-24F2-EB26-65AC-8C82A2160624}"/>
              </a:ext>
            </a:extLst>
          </p:cNvPr>
          <p:cNvSpPr/>
          <p:nvPr/>
        </p:nvSpPr>
        <p:spPr>
          <a:xfrm>
            <a:off x="3011949" y="2215120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2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45BAF42-92D8-3A5D-4619-E7B314CEB055}"/>
              </a:ext>
            </a:extLst>
          </p:cNvPr>
          <p:cNvSpPr/>
          <p:nvPr/>
        </p:nvSpPr>
        <p:spPr>
          <a:xfrm>
            <a:off x="2682674" y="5484532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7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B464A4B-C36B-442E-C825-74E6CEDF4EE6}"/>
              </a:ext>
            </a:extLst>
          </p:cNvPr>
          <p:cNvSpPr/>
          <p:nvPr/>
        </p:nvSpPr>
        <p:spPr>
          <a:xfrm>
            <a:off x="1938423" y="1339477"/>
            <a:ext cx="657561" cy="885732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Z" dirty="0"/>
              <a:t>1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48CE5B9-3DC5-8D9E-96CD-FD58B7448218}"/>
              </a:ext>
            </a:extLst>
          </p:cNvPr>
          <p:cNvCxnSpPr>
            <a:cxnSpLocks/>
            <a:stCxn id="13" idx="4"/>
            <a:endCxn id="12" idx="0"/>
          </p:cNvCxnSpPr>
          <p:nvPr/>
        </p:nvCxnSpPr>
        <p:spPr>
          <a:xfrm>
            <a:off x="3340730" y="3100852"/>
            <a:ext cx="4647" cy="50395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C6887FE-01AB-23C1-627C-DAF25FE05B81}"/>
              </a:ext>
            </a:extLst>
          </p:cNvPr>
          <p:cNvCxnSpPr>
            <a:cxnSpLocks/>
            <a:stCxn id="14" idx="6"/>
            <a:endCxn id="17" idx="0"/>
          </p:cNvCxnSpPr>
          <p:nvPr/>
        </p:nvCxnSpPr>
        <p:spPr>
          <a:xfrm>
            <a:off x="2537990" y="5152805"/>
            <a:ext cx="473465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92AF078-B7D4-C431-EBBC-927109C40107}"/>
              </a:ext>
            </a:extLst>
          </p:cNvPr>
          <p:cNvCxnSpPr>
            <a:cxnSpLocks/>
            <a:stCxn id="17" idx="2"/>
            <a:endCxn id="14" idx="4"/>
          </p:cNvCxnSpPr>
          <p:nvPr/>
        </p:nvCxnSpPr>
        <p:spPr>
          <a:xfrm flipH="1" flipV="1">
            <a:off x="2209210" y="5595671"/>
            <a:ext cx="473464" cy="33172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52D9A20-3722-BAE6-53F7-1FDDAC8F806C}"/>
              </a:ext>
            </a:extLst>
          </p:cNvPr>
          <p:cNvCxnSpPr>
            <a:cxnSpLocks/>
            <a:stCxn id="8" idx="0"/>
            <a:endCxn id="9" idx="4"/>
          </p:cNvCxnSpPr>
          <p:nvPr/>
        </p:nvCxnSpPr>
        <p:spPr>
          <a:xfrm flipH="1" flipV="1">
            <a:off x="1082335" y="3100793"/>
            <a:ext cx="1" cy="50401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4387872-9B96-7F86-DA4D-78C4A8F922B4}"/>
              </a:ext>
            </a:extLst>
          </p:cNvPr>
          <p:cNvCxnSpPr>
            <a:cxnSpLocks/>
            <a:stCxn id="9" idx="0"/>
            <a:endCxn id="20" idx="2"/>
          </p:cNvCxnSpPr>
          <p:nvPr/>
        </p:nvCxnSpPr>
        <p:spPr>
          <a:xfrm flipV="1">
            <a:off x="1082335" y="1782343"/>
            <a:ext cx="856088" cy="4327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063648B-7F1A-D918-3E75-5AAA938BBC0B}"/>
              </a:ext>
            </a:extLst>
          </p:cNvPr>
          <p:cNvCxnSpPr>
            <a:cxnSpLocks/>
            <a:stCxn id="12" idx="2"/>
            <a:endCxn id="9" idx="6"/>
          </p:cNvCxnSpPr>
          <p:nvPr/>
        </p:nvCxnSpPr>
        <p:spPr>
          <a:xfrm flipH="1" flipV="1">
            <a:off x="1411115" y="2657927"/>
            <a:ext cx="1605481" cy="138974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7981F668-3E28-9488-053C-21D2909419F7}"/>
              </a:ext>
            </a:extLst>
          </p:cNvPr>
          <p:cNvCxnSpPr>
            <a:stCxn id="9" idx="2"/>
            <a:endCxn id="9" idx="3"/>
          </p:cNvCxnSpPr>
          <p:nvPr/>
        </p:nvCxnSpPr>
        <p:spPr>
          <a:xfrm rot="10800000" flipH="1" flipV="1">
            <a:off x="753554" y="2657927"/>
            <a:ext cx="96298" cy="313154"/>
          </a:xfrm>
          <a:prstGeom prst="curvedConnector4">
            <a:avLst>
              <a:gd name="adj1" fmla="val -237388"/>
              <a:gd name="adj2" fmla="val 21442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72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3" y="859039"/>
            <a:ext cx="6284610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discrete state space Markov chain defined below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1" lang="en-US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US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.00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0.80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0.20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0.25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0.50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.30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US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.30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.40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US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2" name="Text Placeholder 5">
                <a:extLst>
                  <a:ext uri="{FF2B5EF4-FFF2-40B4-BE49-F238E27FC236}">
                    <a16:creationId xmlns:a16="http://schemas.microsoft.com/office/drawing/2014/main" id="{821F6F52-A425-0203-4963-D33DB0F956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859" y="1555113"/>
                <a:ext cx="4085230" cy="14152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FE8653E7-8E70-F4E1-08CA-D9792B339E49}"/>
              </a:ext>
            </a:extLst>
          </p:cNvPr>
          <p:cNvSpPr txBox="1">
            <a:spLocks/>
          </p:cNvSpPr>
          <p:nvPr/>
        </p:nvSpPr>
        <p:spPr>
          <a:xfrm>
            <a:off x="174760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1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FE5CB15-9C0E-FE0D-2961-0535AB9FE278}"/>
              </a:ext>
            </a:extLst>
          </p:cNvPr>
          <p:cNvSpPr txBox="1">
            <a:spLocks/>
          </p:cNvSpPr>
          <p:nvPr/>
        </p:nvSpPr>
        <p:spPr>
          <a:xfrm>
            <a:off x="2395878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2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3A3E02E9-26D6-CF28-7759-3DD9FD6EA0D5}"/>
              </a:ext>
            </a:extLst>
          </p:cNvPr>
          <p:cNvSpPr txBox="1">
            <a:spLocks/>
          </p:cNvSpPr>
          <p:nvPr/>
        </p:nvSpPr>
        <p:spPr>
          <a:xfrm>
            <a:off x="3076339" y="12378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3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4642364A-7BEE-9ADD-6B41-0C3331B33A04}"/>
              </a:ext>
            </a:extLst>
          </p:cNvPr>
          <p:cNvSpPr txBox="1">
            <a:spLocks/>
          </p:cNvSpPr>
          <p:nvPr/>
        </p:nvSpPr>
        <p:spPr>
          <a:xfrm>
            <a:off x="3756800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4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ECE8E70A-5271-7FF6-EDF9-CB040FCF132C}"/>
              </a:ext>
            </a:extLst>
          </p:cNvPr>
          <p:cNvSpPr txBox="1">
            <a:spLocks/>
          </p:cNvSpPr>
          <p:nvPr/>
        </p:nvSpPr>
        <p:spPr>
          <a:xfrm>
            <a:off x="4405069" y="125641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5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D0E0604C-7573-7D78-9A71-0FB3A528DB23}"/>
              </a:ext>
            </a:extLst>
          </p:cNvPr>
          <p:cNvSpPr txBox="1">
            <a:spLocks/>
          </p:cNvSpPr>
          <p:nvPr/>
        </p:nvSpPr>
        <p:spPr>
          <a:xfrm>
            <a:off x="1247539" y="153658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1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22A22D0A-A2C5-A83D-56C0-C803CD786C07}"/>
              </a:ext>
            </a:extLst>
          </p:cNvPr>
          <p:cNvSpPr txBox="1">
            <a:spLocks/>
          </p:cNvSpPr>
          <p:nvPr/>
        </p:nvSpPr>
        <p:spPr>
          <a:xfrm>
            <a:off x="1247539" y="179642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2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D66AC2D2-9809-3429-5D74-78F145AA3521}"/>
              </a:ext>
            </a:extLst>
          </p:cNvPr>
          <p:cNvSpPr txBox="1">
            <a:spLocks/>
          </p:cNvSpPr>
          <p:nvPr/>
        </p:nvSpPr>
        <p:spPr>
          <a:xfrm>
            <a:off x="1247539" y="2056254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3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CEAE0613-6590-2911-1973-6507FCD4B936}"/>
              </a:ext>
            </a:extLst>
          </p:cNvPr>
          <p:cNvSpPr txBox="1">
            <a:spLocks/>
          </p:cNvSpPr>
          <p:nvPr/>
        </p:nvSpPr>
        <p:spPr>
          <a:xfrm>
            <a:off x="1247539" y="231144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4</a:t>
            </a:r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FFF4E0FB-70AF-1EB2-BD5B-711A81101109}"/>
              </a:ext>
            </a:extLst>
          </p:cNvPr>
          <p:cNvSpPr txBox="1">
            <a:spLocks/>
          </p:cNvSpPr>
          <p:nvPr/>
        </p:nvSpPr>
        <p:spPr>
          <a:xfrm>
            <a:off x="1253574" y="2555067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5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D583274-C45C-63F4-A94A-8F5EFD227638}"/>
              </a:ext>
            </a:extLst>
          </p:cNvPr>
          <p:cNvSpPr/>
          <p:nvPr/>
        </p:nvSpPr>
        <p:spPr>
          <a:xfrm>
            <a:off x="8496995" y="497414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08BCE91-0957-382C-7B26-6B97A86E6D44}"/>
              </a:ext>
            </a:extLst>
          </p:cNvPr>
          <p:cNvSpPr/>
          <p:nvPr/>
        </p:nvSpPr>
        <p:spPr>
          <a:xfrm>
            <a:off x="10041466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2F9F241-4A9D-34B1-7DA8-D6D4425A7EFB}"/>
              </a:ext>
            </a:extLst>
          </p:cNvPr>
          <p:cNvSpPr/>
          <p:nvPr/>
        </p:nvSpPr>
        <p:spPr>
          <a:xfrm>
            <a:off x="9311311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40B1616-E0C0-5FF6-6200-E302F2BC3923}"/>
              </a:ext>
            </a:extLst>
          </p:cNvPr>
          <p:cNvSpPr/>
          <p:nvPr/>
        </p:nvSpPr>
        <p:spPr>
          <a:xfrm>
            <a:off x="7757740" y="2780003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EEE3291-C116-2E71-3867-E28A7DFAA3CA}"/>
              </a:ext>
            </a:extLst>
          </p:cNvPr>
          <p:cNvSpPr/>
          <p:nvPr/>
        </p:nvSpPr>
        <p:spPr>
          <a:xfrm>
            <a:off x="6979818" y="1207097"/>
            <a:ext cx="354842" cy="382136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D9E9D28C-3F8B-62F6-6B77-4A6900C19AF0}"/>
              </a:ext>
            </a:extLst>
          </p:cNvPr>
          <p:cNvCxnSpPr>
            <a:cxnSpLocks/>
          </p:cNvCxnSpPr>
          <p:nvPr/>
        </p:nvCxnSpPr>
        <p:spPr>
          <a:xfrm flipH="1">
            <a:off x="9689246" y="1608682"/>
            <a:ext cx="604699" cy="124673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5B6559-6924-0E21-9376-8B9F9745D25C}"/>
              </a:ext>
            </a:extLst>
          </p:cNvPr>
          <p:cNvCxnSpPr>
            <a:cxnSpLocks/>
            <a:endCxn id="38" idx="3"/>
          </p:cNvCxnSpPr>
          <p:nvPr/>
        </p:nvCxnSpPr>
        <p:spPr>
          <a:xfrm flipV="1">
            <a:off x="9489780" y="1533270"/>
            <a:ext cx="603651" cy="11979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A31F77F-4A98-F9E6-0C19-B793CB7833CE}"/>
              </a:ext>
            </a:extLst>
          </p:cNvPr>
          <p:cNvCxnSpPr>
            <a:cxnSpLocks/>
            <a:stCxn id="40" idx="7"/>
            <a:endCxn id="39" idx="1"/>
          </p:cNvCxnSpPr>
          <p:nvPr/>
        </p:nvCxnSpPr>
        <p:spPr>
          <a:xfrm>
            <a:off x="8060617" y="283596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3499911-8054-6F83-3628-BFC38CE4B6A5}"/>
              </a:ext>
            </a:extLst>
          </p:cNvPr>
          <p:cNvCxnSpPr>
            <a:cxnSpLocks/>
            <a:stCxn id="39" idx="3"/>
            <a:endCxn id="40" idx="5"/>
          </p:cNvCxnSpPr>
          <p:nvPr/>
        </p:nvCxnSpPr>
        <p:spPr>
          <a:xfrm flipH="1">
            <a:off x="8060617" y="3106176"/>
            <a:ext cx="130265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8CE8EA4-E685-EE84-1B09-5FA6627CC859}"/>
              </a:ext>
            </a:extLst>
          </p:cNvPr>
          <p:cNvCxnSpPr>
            <a:cxnSpLocks/>
          </p:cNvCxnSpPr>
          <p:nvPr/>
        </p:nvCxnSpPr>
        <p:spPr>
          <a:xfrm>
            <a:off x="7457490" y="1569111"/>
            <a:ext cx="1853821" cy="10959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D57B54C-C8AE-F003-4AEC-F5C20A5854ED}"/>
              </a:ext>
            </a:extLst>
          </p:cNvPr>
          <p:cNvCxnSpPr>
            <a:cxnSpLocks/>
            <a:stCxn id="40" idx="2"/>
          </p:cNvCxnSpPr>
          <p:nvPr/>
        </p:nvCxnSpPr>
        <p:spPr>
          <a:xfrm flipH="1" flipV="1">
            <a:off x="7079462" y="1596402"/>
            <a:ext cx="678278" cy="13746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46CA938-23EB-2081-50DA-3EAFAE6C45D9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7306445" y="1513147"/>
            <a:ext cx="628716" cy="126685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9532D890-8B8E-51E3-E873-F7C611FDDD30}"/>
              </a:ext>
            </a:extLst>
          </p:cNvPr>
          <p:cNvCxnSpPr>
            <a:cxnSpLocks/>
            <a:stCxn id="41" idx="0"/>
            <a:endCxn id="36" idx="1"/>
          </p:cNvCxnSpPr>
          <p:nvPr/>
        </p:nvCxnSpPr>
        <p:spPr>
          <a:xfrm flipV="1">
            <a:off x="7157239" y="553377"/>
            <a:ext cx="1391721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2B740C-C5ED-5091-A1AC-FF7B5E8CE06C}"/>
              </a:ext>
            </a:extLst>
          </p:cNvPr>
          <p:cNvCxnSpPr>
            <a:cxnSpLocks/>
            <a:stCxn id="36" idx="3"/>
            <a:endCxn id="41" idx="6"/>
          </p:cNvCxnSpPr>
          <p:nvPr/>
        </p:nvCxnSpPr>
        <p:spPr>
          <a:xfrm flipH="1">
            <a:off x="7334660" y="823587"/>
            <a:ext cx="1214300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981E981-6287-7C35-AA9D-020A12BE53AD}"/>
              </a:ext>
            </a:extLst>
          </p:cNvPr>
          <p:cNvCxnSpPr>
            <a:cxnSpLocks/>
            <a:stCxn id="36" idx="7"/>
            <a:endCxn id="38" idx="0"/>
          </p:cNvCxnSpPr>
          <p:nvPr/>
        </p:nvCxnSpPr>
        <p:spPr>
          <a:xfrm>
            <a:off x="8799872" y="553377"/>
            <a:ext cx="1419015" cy="6537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2596BA6A-A1E1-50D8-9F88-24823627BB96}"/>
              </a:ext>
            </a:extLst>
          </p:cNvPr>
          <p:cNvCxnSpPr>
            <a:cxnSpLocks/>
            <a:stCxn id="38" idx="2"/>
            <a:endCxn id="36" idx="5"/>
          </p:cNvCxnSpPr>
          <p:nvPr/>
        </p:nvCxnSpPr>
        <p:spPr>
          <a:xfrm flipH="1" flipV="1">
            <a:off x="8799872" y="823587"/>
            <a:ext cx="1241594" cy="5745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7BDB35D8-9F3D-426C-1CF2-DEB344BB5564}"/>
              </a:ext>
            </a:extLst>
          </p:cNvPr>
          <p:cNvCxnSpPr>
            <a:cxnSpLocks/>
            <a:stCxn id="38" idx="2"/>
          </p:cNvCxnSpPr>
          <p:nvPr/>
        </p:nvCxnSpPr>
        <p:spPr>
          <a:xfrm flipH="1">
            <a:off x="7394761" y="1398165"/>
            <a:ext cx="2646705" cy="532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5C514145-B1BB-5F85-5FCD-B59CC7BBC58A}"/>
              </a:ext>
            </a:extLst>
          </p:cNvPr>
          <p:cNvSpPr txBox="1">
            <a:spLocks/>
          </p:cNvSpPr>
          <p:nvPr/>
        </p:nvSpPr>
        <p:spPr>
          <a:xfrm>
            <a:off x="9363276" y="53913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0.8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B5BC2088-040F-D6B2-723A-2BA468157C54}"/>
              </a:ext>
            </a:extLst>
          </p:cNvPr>
          <p:cNvSpPr txBox="1">
            <a:spLocks/>
          </p:cNvSpPr>
          <p:nvPr/>
        </p:nvSpPr>
        <p:spPr>
          <a:xfrm>
            <a:off x="7910493" y="96436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0.2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AF9613A-3FE7-69EA-9496-3E73FCC788C9}"/>
              </a:ext>
            </a:extLst>
          </p:cNvPr>
          <p:cNvSpPr txBox="1">
            <a:spLocks/>
          </p:cNvSpPr>
          <p:nvPr/>
        </p:nvSpPr>
        <p:spPr>
          <a:xfrm>
            <a:off x="9947765" y="211706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0.25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AB8DB633-A7FE-84C5-121E-5FAC72A1E119}"/>
              </a:ext>
            </a:extLst>
          </p:cNvPr>
          <p:cNvSpPr txBox="1">
            <a:spLocks/>
          </p:cNvSpPr>
          <p:nvPr/>
        </p:nvSpPr>
        <p:spPr>
          <a:xfrm>
            <a:off x="8353690" y="139816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0.25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1386B1A4-587A-F421-80F3-749C6DED08B0}"/>
              </a:ext>
            </a:extLst>
          </p:cNvPr>
          <p:cNvSpPr txBox="1">
            <a:spLocks/>
          </p:cNvSpPr>
          <p:nvPr/>
        </p:nvSpPr>
        <p:spPr>
          <a:xfrm>
            <a:off x="8861110" y="1018768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0.5</a:t>
            </a:r>
          </a:p>
        </p:txBody>
      </p:sp>
      <p:sp>
        <p:nvSpPr>
          <p:cNvPr id="61" name="Text Placeholder 5">
            <a:extLst>
              <a:ext uri="{FF2B5EF4-FFF2-40B4-BE49-F238E27FC236}">
                <a16:creationId xmlns:a16="http://schemas.microsoft.com/office/drawing/2014/main" id="{3988B68F-9992-4A5D-FAFE-C4B961D4B182}"/>
              </a:ext>
            </a:extLst>
          </p:cNvPr>
          <p:cNvSpPr txBox="1">
            <a:spLocks/>
          </p:cNvSpPr>
          <p:nvPr/>
        </p:nvSpPr>
        <p:spPr>
          <a:xfrm>
            <a:off x="9244031" y="18154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0.3</a:t>
            </a:r>
          </a:p>
        </p:txBody>
      </p:sp>
      <p:sp>
        <p:nvSpPr>
          <p:cNvPr id="62" name="Text Placeholder 5">
            <a:extLst>
              <a:ext uri="{FF2B5EF4-FFF2-40B4-BE49-F238E27FC236}">
                <a16:creationId xmlns:a16="http://schemas.microsoft.com/office/drawing/2014/main" id="{355D810A-2DE4-699A-AED1-3946815DEFC1}"/>
              </a:ext>
            </a:extLst>
          </p:cNvPr>
          <p:cNvSpPr txBox="1">
            <a:spLocks/>
          </p:cNvSpPr>
          <p:nvPr/>
        </p:nvSpPr>
        <p:spPr>
          <a:xfrm>
            <a:off x="9788319" y="2944862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0.3</a:t>
            </a:r>
          </a:p>
        </p:txBody>
      </p:sp>
      <p:cxnSp>
        <p:nvCxnSpPr>
          <p:cNvPr id="63" name="Connector: Curved 62">
            <a:extLst>
              <a:ext uri="{FF2B5EF4-FFF2-40B4-BE49-F238E27FC236}">
                <a16:creationId xmlns:a16="http://schemas.microsoft.com/office/drawing/2014/main" id="{E7E271C7-CF60-19D8-AF68-24824C9DBBCC}"/>
              </a:ext>
            </a:extLst>
          </p:cNvPr>
          <p:cNvCxnSpPr>
            <a:cxnSpLocks/>
            <a:stCxn id="39" idx="4"/>
            <a:endCxn id="39" idx="6"/>
          </p:cNvCxnSpPr>
          <p:nvPr/>
        </p:nvCxnSpPr>
        <p:spPr>
          <a:xfrm rot="5400000" flipH="1" flipV="1">
            <a:off x="9481908" y="2977894"/>
            <a:ext cx="191068" cy="177421"/>
          </a:xfrm>
          <a:prstGeom prst="curvedConnector4">
            <a:avLst>
              <a:gd name="adj1" fmla="val -119643"/>
              <a:gd name="adj2" fmla="val 228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924E60DB-0A47-3A16-1FB7-A0F492B2EA4D}"/>
              </a:ext>
            </a:extLst>
          </p:cNvPr>
          <p:cNvSpPr txBox="1">
            <a:spLocks/>
          </p:cNvSpPr>
          <p:nvPr/>
        </p:nvSpPr>
        <p:spPr>
          <a:xfrm>
            <a:off x="8475737" y="3073185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0.4</a:t>
            </a:r>
          </a:p>
        </p:txBody>
      </p:sp>
      <p:sp>
        <p:nvSpPr>
          <p:cNvPr id="2049" name="Text Placeholder 5">
            <a:extLst>
              <a:ext uri="{FF2B5EF4-FFF2-40B4-BE49-F238E27FC236}">
                <a16:creationId xmlns:a16="http://schemas.microsoft.com/office/drawing/2014/main" id="{837367DA-AFB6-081E-660D-090CA06176AE}"/>
              </a:ext>
            </a:extLst>
          </p:cNvPr>
          <p:cNvSpPr txBox="1">
            <a:spLocks/>
          </p:cNvSpPr>
          <p:nvPr/>
        </p:nvSpPr>
        <p:spPr>
          <a:xfrm>
            <a:off x="8360165" y="2486141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0.5</a:t>
            </a:r>
          </a:p>
        </p:txBody>
      </p:sp>
      <p:sp>
        <p:nvSpPr>
          <p:cNvPr id="2051" name="Text Placeholder 5">
            <a:extLst>
              <a:ext uri="{FF2B5EF4-FFF2-40B4-BE49-F238E27FC236}">
                <a16:creationId xmlns:a16="http://schemas.microsoft.com/office/drawing/2014/main" id="{320B4B26-801D-DB12-D99C-26DB22EF218A}"/>
              </a:ext>
            </a:extLst>
          </p:cNvPr>
          <p:cNvSpPr txBox="1">
            <a:spLocks/>
          </p:cNvSpPr>
          <p:nvPr/>
        </p:nvSpPr>
        <p:spPr>
          <a:xfrm>
            <a:off x="7394541" y="580850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0.5</a:t>
            </a:r>
          </a:p>
        </p:txBody>
      </p:sp>
      <p:sp>
        <p:nvSpPr>
          <p:cNvPr id="2052" name="Text Placeholder 5">
            <a:extLst>
              <a:ext uri="{FF2B5EF4-FFF2-40B4-BE49-F238E27FC236}">
                <a16:creationId xmlns:a16="http://schemas.microsoft.com/office/drawing/2014/main" id="{DB68A977-474A-CACD-A557-9302EBA1E96C}"/>
              </a:ext>
            </a:extLst>
          </p:cNvPr>
          <p:cNvSpPr txBox="1">
            <a:spLocks/>
          </p:cNvSpPr>
          <p:nvPr/>
        </p:nvSpPr>
        <p:spPr>
          <a:xfrm>
            <a:off x="8352372" y="1878276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0.25</a:t>
            </a:r>
          </a:p>
        </p:txBody>
      </p:sp>
      <p:sp>
        <p:nvSpPr>
          <p:cNvPr id="2053" name="Text Placeholder 5">
            <a:extLst>
              <a:ext uri="{FF2B5EF4-FFF2-40B4-BE49-F238E27FC236}">
                <a16:creationId xmlns:a16="http://schemas.microsoft.com/office/drawing/2014/main" id="{B87D9889-2A60-1F64-B9BA-60D789C085C3}"/>
              </a:ext>
            </a:extLst>
          </p:cNvPr>
          <p:cNvSpPr txBox="1">
            <a:spLocks/>
          </p:cNvSpPr>
          <p:nvPr/>
        </p:nvSpPr>
        <p:spPr>
          <a:xfrm>
            <a:off x="7646190" y="2093603"/>
            <a:ext cx="648269" cy="2987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0.25</a:t>
            </a:r>
          </a:p>
        </p:txBody>
      </p:sp>
      <p:sp>
        <p:nvSpPr>
          <p:cNvPr id="2054" name="Text Placeholder 5">
            <a:extLst>
              <a:ext uri="{FF2B5EF4-FFF2-40B4-BE49-F238E27FC236}">
                <a16:creationId xmlns:a16="http://schemas.microsoft.com/office/drawing/2014/main" id="{7C7C62E6-A517-B96D-0964-20ECBE8FFFF3}"/>
              </a:ext>
            </a:extLst>
          </p:cNvPr>
          <p:cNvSpPr txBox="1">
            <a:spLocks/>
          </p:cNvSpPr>
          <p:nvPr/>
        </p:nvSpPr>
        <p:spPr>
          <a:xfrm>
            <a:off x="319462" y="3472472"/>
            <a:ext cx="11708765" cy="69337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/>
              <a:tabLst/>
              <a:defRPr/>
            </a:pP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What conditions ensure that a discrete state space Markov chain has a 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stationary distribution</a:t>
            </a: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? </a:t>
            </a:r>
            <a:b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1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Are these conditions satisfied here? If so, find the stationary distribution.</a:t>
            </a:r>
          </a:p>
        </p:txBody>
      </p:sp>
      <p:sp>
        <p:nvSpPr>
          <p:cNvPr id="2056" name="TextBox 2055">
            <a:extLst>
              <a:ext uri="{FF2B5EF4-FFF2-40B4-BE49-F238E27FC236}">
                <a16:creationId xmlns:a16="http://schemas.microsoft.com/office/drawing/2014/main" id="{3CB94BB0-2F15-860E-5706-295701B34259}"/>
              </a:ext>
            </a:extLst>
          </p:cNvPr>
          <p:cNvSpPr txBox="1"/>
          <p:nvPr/>
        </p:nvSpPr>
        <p:spPr>
          <a:xfrm>
            <a:off x="319462" y="4251120"/>
            <a:ext cx="1076305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lphaLcParenR" startAt="2"/>
              <a:tabLst/>
              <a:defRPr/>
            </a:pP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What conditions ensure that a discrete state space Markov chain has a </a:t>
            </a:r>
            <a:r>
              <a:rPr kumimoji="0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limiting distribution</a:t>
            </a: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? </a:t>
            </a:r>
            <a:b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</a:br>
            <a:r>
              <a:rPr kumimoji="0" lang="en-US" altLang="ja-JP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Are these conditions satisfied here? </a:t>
            </a:r>
            <a:endParaRPr kumimoji="0" lang="en-N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07CF4C74-AE19-6726-217A-838C23C32DA7}"/>
                  </a:ext>
                </a:extLst>
              </p:cNvPr>
              <p:cNvSpPr txBox="1"/>
              <p:nvPr/>
            </p:nvSpPr>
            <p:spPr>
              <a:xfrm>
                <a:off x="319462" y="5074073"/>
                <a:ext cx="10804947" cy="4191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3"/>
                  <a:tabLst/>
                  <a:defRPr/>
                </a:pPr>
                <a:r>
                  <a:rPr kumimoji="0" lang="en-US" altLang="ja-JP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Given your answer to the above, 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NZ" altLang="ja-JP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𝒏</m:t>
                            </m:r>
                            <m:r>
                              <m:rPr>
                                <m:lit/>
                              </m:r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 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kumimoji="1" lang="en-NZ" altLang="ja-JP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𝑷</m:t>
                        </m:r>
                        <m:d>
                          <m:dPr>
                            <m:ctrlP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pPr>
                              <m:e>
                                <m:r>
                                  <a:rPr kumimoji="1" lang="en-NZ" altLang="ja-JP" sz="1800" b="1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𝑿</m:t>
                                </m:r>
                              </m:e>
                              <m:sup>
                                <m:d>
                                  <m:dPr>
                                    <m:ctrlP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dPr>
                                  <m:e>
                                    <m:r>
                                      <a:rPr kumimoji="1" lang="en-NZ" altLang="ja-JP" sz="1800" b="1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𝒏</m:t>
                                    </m:r>
                                  </m:e>
                                </m:d>
                              </m:sup>
                            </m:sSup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=</m:t>
                            </m:r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𝒋</m:t>
                            </m:r>
                            <m:r>
                              <a:rPr kumimoji="1" lang="en-NZ" altLang="ja-JP" sz="1800" b="1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 </m:t>
                            </m:r>
                          </m:e>
                        </m:d>
                      </m:e>
                    </m:func>
                  </m:oMath>
                </a14:m>
                <a:r>
                  <a:rPr kumimoji="0" lang="en-N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for each </a:t>
                </a:r>
                <a14:m>
                  <m:oMath xmlns:m="http://schemas.openxmlformats.org/officeDocument/2006/math">
                    <m:r>
                      <a:rPr kumimoji="0" lang="en-NZ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𝑗</m:t>
                    </m:r>
                    <m:r>
                      <a:rPr kumimoji="0" lang="en-NZ" sz="18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=1, …, 5</m:t>
                    </m:r>
                  </m:oMath>
                </a14:m>
                <a:endParaRPr kumimoji="0" lang="en-NZ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057" name="TextBox 2056">
                <a:extLst>
                  <a:ext uri="{FF2B5EF4-FFF2-40B4-BE49-F238E27FC236}">
                    <a16:creationId xmlns:a16="http://schemas.microsoft.com/office/drawing/2014/main" id="{07CF4C74-AE19-6726-217A-838C23C32D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5074073"/>
                <a:ext cx="10804947" cy="419154"/>
              </a:xfrm>
              <a:prstGeom prst="rect">
                <a:avLst/>
              </a:prstGeom>
              <a:blipFill>
                <a:blip r:embed="rId4"/>
                <a:stretch>
                  <a:fillRect l="-451" b="-17391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180BC43B-B59A-60FA-1018-FB271A628AC0}"/>
                  </a:ext>
                </a:extLst>
              </p:cNvPr>
              <p:cNvSpPr txBox="1"/>
              <p:nvPr/>
            </p:nvSpPr>
            <p:spPr>
              <a:xfrm>
                <a:off x="319462" y="5649088"/>
                <a:ext cx="10763055" cy="4528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marR="0" lvl="0" indent="-3429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 startAt="4"/>
                  <a:tabLst/>
                  <a:defRPr/>
                </a:pPr>
                <a:r>
                  <a:rPr kumimoji="0" lang="en-N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Give an expression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NZ" altLang="ja-JP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70C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游ゴシック" panose="020B0400000000000000" pitchFamily="34" charset="-128"/>
                            <a:cs typeface="+mn-cs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kumimoji="1" lang="en-NZ" altLang="ja-JP" sz="1800" b="0" i="0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lim</m:t>
                            </m:r>
                          </m:e>
                          <m:lim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𝒏</m:t>
                            </m:r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</m:ctrlPr>
                          </m:sSupPr>
                          <m:e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𝑷</m:t>
                            </m:r>
                          </m:e>
                          <m:sup>
                            <m:r>
                              <a:rPr kumimoji="1" lang="en-NZ" altLang="ja-JP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70C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  <a:cs typeface="+mn-cs"/>
                              </a:rPr>
                              <m:t>𝒏</m:t>
                            </m:r>
                          </m:sup>
                        </m:sSup>
                      </m:e>
                    </m:func>
                  </m:oMath>
                </a14:m>
                <a:r>
                  <a:rPr kumimoji="0" lang="en-N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. Check your answer by raising the matrix </a:t>
                </a:r>
                <a14:m>
                  <m:oMath xmlns:m="http://schemas.openxmlformats.org/officeDocument/2006/math">
                    <m:r>
                      <a:rPr kumimoji="0" lang="en-NZ" sz="18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𝑷</m:t>
                    </m:r>
                  </m:oMath>
                </a14:m>
                <a:r>
                  <a:rPr kumimoji="0" lang="en-NZ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to successively higher powers in R.</a:t>
                </a:r>
              </a:p>
            </p:txBody>
          </p:sp>
        </mc:Choice>
        <mc:Fallback>
          <p:sp>
            <p:nvSpPr>
              <p:cNvPr id="2058" name="TextBox 2057">
                <a:extLst>
                  <a:ext uri="{FF2B5EF4-FFF2-40B4-BE49-F238E27FC236}">
                    <a16:creationId xmlns:a16="http://schemas.microsoft.com/office/drawing/2014/main" id="{180BC43B-B59A-60FA-1018-FB271A628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2" y="5649088"/>
                <a:ext cx="10763055" cy="452816"/>
              </a:xfrm>
              <a:prstGeom prst="rect">
                <a:avLst/>
              </a:prstGeom>
              <a:blipFill>
                <a:blip r:embed="rId5"/>
                <a:stretch>
                  <a:fillRect l="-453" t="-6757" b="-4054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/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NZ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𝑷</m:t>
                      </m:r>
                      <m:r>
                        <a:rPr kumimoji="0" lang="en-NZ" sz="18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 </m:t>
                      </m:r>
                    </m:oMath>
                  </m:oMathPara>
                </a14:m>
                <a:endParaRPr kumimoji="0" lang="en-NZ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mc:Choice>
        <mc:Fallback>
          <p:sp>
            <p:nvSpPr>
              <p:cNvPr id="2059" name="TextBox 2058">
                <a:extLst>
                  <a:ext uri="{FF2B5EF4-FFF2-40B4-BE49-F238E27FC236}">
                    <a16:creationId xmlns:a16="http://schemas.microsoft.com/office/drawing/2014/main" id="{99AED9A8-6367-32F4-A9F5-6C1873779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0" y="1993609"/>
                <a:ext cx="13670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B8DEF9AC-8B83-4C15-8E36-443DB79FDACC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3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9" name="Title 6">
            <a:extLst>
              <a:ext uri="{FF2B5EF4-FFF2-40B4-BE49-F238E27FC236}">
                <a16:creationId xmlns:a16="http://schemas.microsoft.com/office/drawing/2014/main" id="{9BFE9DDC-B439-CA60-333A-8360ABE2775E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3: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ADD009E-1663-3A78-61C8-59C0B9AC038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Q3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86849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244864"/>
            <a:ext cx="1807633" cy="61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4AD89C-DF1E-4948-B597-5DD47B34A9CA}" type="slidenum">
              <a:rPr kumimoji="1" lang="ja-JP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575454">
                    <a:lumMod val="20000"/>
                    <a:lumOff val="80000"/>
                  </a:srgbClr>
                </a:solidFill>
                <a:effectLst/>
                <a:uLnTx/>
                <a:uFillTx/>
                <a:latin typeface="Coo Hew"/>
                <a:ea typeface="游ゴシック" panose="020B0400000000000000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575454">
                  <a:lumMod val="20000"/>
                  <a:lumOff val="80000"/>
                </a:srgbClr>
              </a:solidFill>
              <a:effectLst/>
              <a:uLnTx/>
              <a:uFillTx/>
              <a:latin typeface="Coo Hew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9444251" y="86139"/>
            <a:ext cx="26451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DEDDDD"/>
                </a:solidFill>
                <a:effectLst/>
                <a:uLnTx/>
                <a:uFillTx/>
                <a:latin typeface="Gidole"/>
                <a:ea typeface="游ゴシック" panose="020B0400000000000000" pitchFamily="34" charset="-128"/>
                <a:cs typeface="+mn-cs"/>
              </a:rPr>
              <a:t>Question 4</a:t>
            </a:r>
            <a:endParaRPr kumimoji="1" lang="ja-JP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DEDDDD"/>
              </a:solidFill>
              <a:effectLst/>
              <a:uLnTx/>
              <a:uFillTx/>
              <a:latin typeface="Gidole"/>
              <a:ea typeface="游ゴシック" panose="020B0400000000000000" pitchFamily="34" charset="-128"/>
              <a:cs typeface="+mn-cs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319464" y="196889"/>
            <a:ext cx="2819522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324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3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游ゴシック Light" panose="020B0300000000000000" pitchFamily="34" charset="-128"/>
                <a:cs typeface="+mj-cs"/>
              </a:rPr>
              <a:t>Question 4:</a:t>
            </a:r>
            <a:endParaRPr kumimoji="1" lang="ja-JP" altLang="en-US" sz="36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游ゴシック Light" panose="020B0300000000000000" pitchFamily="34" charset="-128"/>
              <a:cs typeface="+mj-cs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19464" y="860699"/>
            <a:ext cx="11144655" cy="4471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just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1" lang="en-US" altLang="ja-JP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Consider the following discrete state space Markov chains defined by the following transition matrices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1939074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𝑃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.95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0.05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0.90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.05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0.05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0.95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56" name="Text Placeholder 5">
                <a:extLst>
                  <a:ext uri="{FF2B5EF4-FFF2-40B4-BE49-F238E27FC236}">
                    <a16:creationId xmlns:a16="http://schemas.microsoft.com/office/drawing/2014/main" id="{BE7F2AC8-BE98-8818-EFAD-DF04A239E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1939074"/>
                <a:ext cx="4226256" cy="14714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9464" y="3638417"/>
                <a:ext cx="4226256" cy="1471464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lvl="0" algn="just">
                  <a:lnSpc>
                    <a:spcPct val="10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𝑄</m:t>
                      </m:r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kumimoji="1" lang="en-NZ" altLang="ja-JP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70C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游ゴシック" panose="020B0400000000000000" pitchFamily="34" charset="-128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kumimoji="1" lang="en-NZ" altLang="ja-JP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70C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游ゴシック" panose="020B0400000000000000" pitchFamily="34" charset="-128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</m:t>
                                </m:r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.50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0.25</m:t>
                                </m:r>
                              </m:e>
                              <m:e>
                                <m:r>
                                  <a:rPr kumimoji="1" lang="en-NZ" altLang="ja-JP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70C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34" charset="-128"/>
                                    <a:cs typeface="+mn-cs"/>
                                  </a:rPr>
                                  <m:t>0.50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  <m:r>
                                        <a:rPr lang="en-NZ" altLang="ja-JP" sz="1800" i="1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.00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.15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0.10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</m:t>
                                      </m:r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.25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kumimoji="1" lang="en-NZ" altLang="ja-JP" sz="18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70C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游ゴシック" panose="020B0400000000000000" pitchFamily="34" charset="-128"/>
                                          <a:cs typeface="+mn-cs"/>
                                        </a:rPr>
                                        <m:t>0.00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kumimoji="1" lang="en-NZ" altLang="ja-JP" sz="18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70C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游ゴシック" panose="020B0400000000000000" pitchFamily="34" charset="-128"/>
                                        <a:cs typeface="+mn-cs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.50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0.00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</m:t>
                                            </m:r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.10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0.60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kumimoji="1" lang="en-NZ" altLang="ja-JP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70C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游ゴシック" panose="020B0400000000000000" pitchFamily="34" charset="-128"/>
                                              <a:cs typeface="+mn-cs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  <m:r>
                                              <a:rPr lang="en-NZ" altLang="ja-JP" sz="1800" i="1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.00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0.20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kumimoji="1" lang="en-NZ" altLang="ja-JP" sz="1800" b="0" i="1" u="none" strike="noStrike" kern="120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srgbClr val="0070C0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游ゴシック" panose="020B0400000000000000" pitchFamily="34" charset="-128"/>
                                                <a:cs typeface="+mn-cs"/>
                                              </a:rPr>
                                              <m:t>0.80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kumimoji="1" lang="en-NZ" altLang="ja-JP" sz="1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游ゴシック" panose="020B0400000000000000" pitchFamily="34" charset="-128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1" lang="en-US" altLang="ja-JP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 xmlns="">
          <p:sp>
            <p:nvSpPr>
              <p:cNvPr id="60" name="Text Placeholder 5">
                <a:extLst>
                  <a:ext uri="{FF2B5EF4-FFF2-40B4-BE49-F238E27FC236}">
                    <a16:creationId xmlns:a16="http://schemas.microsoft.com/office/drawing/2014/main" id="{3705C549-2831-B0B5-F5D0-9C8695A7EA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464" y="3638417"/>
                <a:ext cx="4226256" cy="14714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 Placeholder 5">
                <a:extLst>
                  <a:ext uri="{FF2B5EF4-FFF2-40B4-BE49-F238E27FC236}">
                    <a16:creationId xmlns:a16="http://schemas.microsoft.com/office/drawing/2014/main" id="{46BC6CB5-176B-6D67-F09F-370818CF690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90364" y="1369350"/>
                <a:ext cx="6673755" cy="5182082"/>
              </a:xfrm>
              <a:prstGeom prst="rect">
                <a:avLst/>
              </a:prstGeom>
            </p:spPr>
            <p:txBody>
              <a:bodyPr>
                <a:noAutofit/>
              </a:bodyPr>
              <a:lstStyle>
                <a:lvl1pPr marL="0" indent="0" algn="l" defTabSz="914324" rtl="0" eaLnBrk="1" latinLnBrk="0" hangingPunct="1">
                  <a:lnSpc>
                    <a:spcPct val="160000"/>
                  </a:lnSpc>
                  <a:spcBef>
                    <a:spcPts val="0"/>
                  </a:spcBef>
                  <a:buFont typeface="Arial" panose="020B0604020202020204" pitchFamily="34" charset="0"/>
                  <a:buNone/>
                  <a:defRPr kumimoji="1" sz="1067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1pPr>
                <a:lvl2pPr marL="68574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290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067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229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390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553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8714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5876" indent="-228581" algn="l" defTabSz="914324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kumimoji="1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State whether 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reducible or irreducible?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State whether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positive recurrent, null recurrent or transient?</a:t>
                </a:r>
                <a:b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What conditions ensure that a discrete state space Markov chain has a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stationary distribution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? Are these conditions satisfied here?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Find the stationary distribution of the Markov chains defined by </a:t>
                </a:r>
                <a:r>
                  <a:rPr kumimoji="1" lang="en-US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P</a:t>
                </a:r>
                <a:r>
                  <a:rPr kumimoji="1" lang="en-US" altLang="ja-JP" sz="1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and </a:t>
                </a:r>
                <a:r>
                  <a:rPr kumimoji="1" lang="en-US" altLang="ja-JP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Q</a:t>
                </a:r>
                <a:r>
                  <a:rPr kumimoji="1" lang="en-US" altLang="ja-JP" sz="1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.</a:t>
                </a:r>
                <a:br>
                  <a:rPr kumimoji="1" lang="en-US" altLang="ja-JP" sz="1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</a:b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State whether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the Markov chains defined are</a:t>
                </a:r>
                <a:r>
                  <a:rPr kumimoji="1" lang="en-US" altLang="ja-JP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Calibri" panose="020F0502020204030204"/>
                    <a:ea typeface="游ゴシック" panose="020B0400000000000000" pitchFamily="34" charset="-128"/>
                    <a:cs typeface="+mn-cs"/>
                  </a:rPr>
                  <a:t> 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periodic or aperiodic?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What conditions ensure that a discrete state space Markov chain has a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limiting distribution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? Are these conditions satisfied here?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Given your answers to the above, give an expression for </a:t>
                </a:r>
                <a:b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6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funcPr>
                      <m:fNam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𝑋</m:t>
                        </m:r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=</m:t>
                        </m:r>
                        <m:limLow>
                          <m:limLowPr>
                            <m:ctrlPr>
                              <a:rPr lang="en-US" altLang="ja-JP" sz="160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160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𝑛</m:t>
                            </m:r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𝑃</m:t>
                            </m:r>
                          </m:e>
                          <m:sup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游ゴシック" panose="020B0400000000000000" pitchFamily="34" charset="-128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NZ" altLang="ja-JP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Y</m:t>
                    </m:r>
                    <m:r>
                      <a:rPr lang="en-NZ" altLang="ja-JP" sz="16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6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160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NZ" altLang="ja-JP" sz="1600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p>
                            <m:r>
                              <a:rPr lang="en-NZ" altLang="ja-JP" sz="16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</m:oMath>
                </a14:m>
                <a:br>
                  <a:rPr lang="en-NZ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</a:br>
                <a:endParaRPr lang="en-US" altLang="ja-JP" sz="1600" dirty="0">
                  <a:solidFill>
                    <a:srgbClr val="0070C0"/>
                  </a:solidFill>
                  <a:latin typeface="Calibri" panose="020F0502020204030204"/>
                  <a:ea typeface="游ゴシック" panose="020B0400000000000000" pitchFamily="34" charset="-128"/>
                </a:endParaRPr>
              </a:p>
              <a:p>
                <a:pPr marL="342900" lvl="0" indent="-342900">
                  <a:lnSpc>
                    <a:spcPct val="100000"/>
                  </a:lnSpc>
                  <a:buFont typeface="+mj-lt"/>
                  <a:buAutoNum type="alphaLcParenR"/>
                  <a:defRPr/>
                </a:pP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Create a program in R to investigate the </a:t>
                </a:r>
                <a:r>
                  <a:rPr lang="en-US" altLang="ja-JP" sz="1600" b="1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rate</a:t>
                </a:r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at which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𝑃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</m:ctrlPr>
                      </m:sSupPr>
                      <m:e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𝑄</m:t>
                        </m:r>
                      </m:e>
                      <m:sup>
                        <m:r>
                          <a:rPr lang="en-NZ" altLang="ja-JP" sz="16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游ゴシック" panose="020B0400000000000000" pitchFamily="34" charset="-128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ja-JP" sz="1600" dirty="0">
                    <a:solidFill>
                      <a:srgbClr val="0070C0"/>
                    </a:solidFill>
                    <a:latin typeface="Calibri" panose="020F0502020204030204"/>
                    <a:ea typeface="游ゴシック" panose="020B0400000000000000" pitchFamily="34" charset="-128"/>
                  </a:rPr>
                  <a:t> converge</a:t>
                </a:r>
              </a:p>
              <a:p>
                <a:pPr marL="342900" marR="0" lvl="0" indent="-342900" defTabSz="914324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+mj-lt"/>
                  <a:buAutoNum type="alphaLcParenR"/>
                  <a:tabLst/>
                  <a:defRPr/>
                </a:pPr>
                <a:endParaRPr kumimoji="1" lang="en-US" altLang="ja-JP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 panose="020F0502020204030204"/>
                  <a:ea typeface="游ゴシック" panose="020B0400000000000000" pitchFamily="34" charset="-128"/>
                  <a:cs typeface="+mn-cs"/>
                </a:endParaRPr>
              </a:p>
            </p:txBody>
          </p:sp>
        </mc:Choice>
        <mc:Fallback>
          <p:sp>
            <p:nvSpPr>
              <p:cNvPr id="62" name="Text Placeholder 5">
                <a:extLst>
                  <a:ext uri="{FF2B5EF4-FFF2-40B4-BE49-F238E27FC236}">
                    <a16:creationId xmlns:a16="http://schemas.microsoft.com/office/drawing/2014/main" id="{46BC6CB5-176B-6D67-F09F-370818CF6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0364" y="1369350"/>
                <a:ext cx="6673755" cy="5182082"/>
              </a:xfrm>
              <a:prstGeom prst="rect">
                <a:avLst/>
              </a:prstGeom>
              <a:blipFill>
                <a:blip r:embed="rId5"/>
                <a:stretch>
                  <a:fillRect l="-548" t="-353"/>
                </a:stretch>
              </a:blipFill>
            </p:spPr>
            <p:txBody>
              <a:bodyPr/>
              <a:lstStyle/>
              <a:p>
                <a:r>
                  <a:rPr lang="en-N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" name="Text Placeholder 5">
            <a:extLst>
              <a:ext uri="{FF2B5EF4-FFF2-40B4-BE49-F238E27FC236}">
                <a16:creationId xmlns:a16="http://schemas.microsoft.com/office/drawing/2014/main" id="{1137314B-5424-8BB7-A9C7-F0ED401F8E74}"/>
              </a:ext>
            </a:extLst>
          </p:cNvPr>
          <p:cNvSpPr txBox="1">
            <a:spLocks/>
          </p:cNvSpPr>
          <p:nvPr/>
        </p:nvSpPr>
        <p:spPr>
          <a:xfrm>
            <a:off x="3011606" y="6551432"/>
            <a:ext cx="6168789" cy="30855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32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Associated code = </a:t>
            </a:r>
            <a:r>
              <a:rPr kumimoji="1" lang="en-NZ" altLang="ja-JP" sz="1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游ゴシック" panose="020B0400000000000000" pitchFamily="34" charset="-128"/>
                <a:cs typeface="+mn-cs"/>
              </a:rPr>
              <a:t>Tutorial 4 – Q4</a:t>
            </a:r>
            <a:endParaRPr kumimoji="1" lang="en-US" altLang="ja-JP" sz="12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游ゴシック" panose="020B0400000000000000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4437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5154</TotalTime>
  <Words>447</Words>
  <Application>Microsoft Office PowerPoint</Application>
  <PresentationFormat>Widescreen</PresentationFormat>
  <Paragraphs>82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117</cp:revision>
  <dcterms:created xsi:type="dcterms:W3CDTF">2022-02-19T23:15:01Z</dcterms:created>
  <dcterms:modified xsi:type="dcterms:W3CDTF">2022-10-02T01:02:12Z</dcterms:modified>
</cp:coreProperties>
</file>