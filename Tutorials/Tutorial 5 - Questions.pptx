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6BA3"/>
    <a:srgbClr val="F3F3FF"/>
    <a:srgbClr val="DEDDDD"/>
    <a:srgbClr val="FF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70" d="100"/>
          <a:sy n="70" d="100"/>
        </p:scale>
        <p:origin x="76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432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Computational Statistics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Tutorial 5 – Metropolis-Hastings Algorithm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303658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1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2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940568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continuous random variable </a:t>
            </a:r>
            <a:r>
              <a:rPr kumimoji="1" lang="en-US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defined by the following probability density function…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CE0328F-3BE9-D2D0-3941-D4D0E66AE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3287" y="1346900"/>
                <a:ext cx="7105427" cy="12637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d>
                        <m:dPr>
                          <m:begChr m:val="{"/>
                          <m:endChr m:val=""/>
                          <m:ctrlP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num>
                                  <m:den>
                                    <m: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den>
                                </m:f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NZ" altLang="ja-JP" sz="18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8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NZ" altLang="ja-JP" sz="18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NZ" altLang="ja-JP" sz="18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NZ" altLang="ja-JP" sz="18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NZ" altLang="ja-JP" sz="18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r>
                                          <a:rPr lang="en-NZ" altLang="ja-JP" sz="18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∉[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Z" altLang="ja-JP" sz="1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CE0328F-3BE9-D2D0-3941-D4D0E66A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287" y="1346900"/>
                <a:ext cx="7105427" cy="1263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3158F46-5B9B-739F-F519-B1C3809478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2555724"/>
                <a:ext cx="11615496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Analytically calculate the value of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[</m:t>
                    </m:r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]</m:t>
                    </m:r>
                  </m:oMath>
                </a14:m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.</m:t>
                    </m:r>
                  </m:oMath>
                </a14:m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following formulas will help you</a:t>
                </a: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3158F46-5B9B-739F-F519-B1C380947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2555724"/>
                <a:ext cx="11615496" cy="365125"/>
              </a:xfrm>
              <a:prstGeom prst="rect">
                <a:avLst/>
              </a:prstGeom>
              <a:blipFill>
                <a:blip r:embed="rId4"/>
                <a:stretch>
                  <a:fillRect l="-420" t="-6667" b="-2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2B4278F-EC65-5D61-F8CA-BDC4FD9C1F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3816" y="3012898"/>
                <a:ext cx="2917323" cy="111520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𝒂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𝒃</m:t>
                          </m:r>
                        </m:sup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𝒙</m:t>
                              </m:r>
                            </m:e>
                          </m:d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2B4278F-EC65-5D61-F8CA-BDC4FD9C1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6" y="3012898"/>
                <a:ext cx="2917323" cy="11152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1A0EAD6D-A4F9-C445-DB4C-C831214CE9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37339" y="3012897"/>
                <a:ext cx="2917323" cy="111520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𝒂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𝒃</m:t>
                          </m:r>
                        </m:sup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𝒙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𝒙</m:t>
                              </m:r>
                            </m:e>
                          </m:d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1A0EAD6D-A4F9-C445-DB4C-C831214C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339" y="3012897"/>
                <a:ext cx="2917323" cy="1115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31A7B3AC-F501-4143-84DC-FD2580738F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80950" y="3330770"/>
                <a:ext cx="4054010" cy="47945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−</m:t>
                      </m:r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31A7B3AC-F501-4143-84DC-FD2580738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950" y="3330770"/>
                <a:ext cx="4054010" cy="4794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86673E53-1407-D732-94B9-14598FE76E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4369191"/>
                <a:ext cx="11376667" cy="9240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 algn="just">
                  <a:lnSpc>
                    <a:spcPct val="100000"/>
                  </a:lnSpc>
                  <a:buFont typeface="+mj-lt"/>
                  <a:buAutoNum type="alphaLcParenR" startAt="2"/>
                  <a:defRPr/>
                </a:pPr>
                <a:r>
                  <a:rPr lang="en-NZ" altLang="ja-JP" sz="1800" dirty="0">
                    <a:solidFill>
                      <a:srgbClr val="0070C0"/>
                    </a:solidFill>
                  </a:rPr>
                  <a:t>Create a function in R which uses a normal random walk proposal density within the Metropolis-Hastings algorithm to produce a sequence of observations drawn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dirty="0">
                    <a:solidFill>
                      <a:srgbClr val="0070C0"/>
                    </a:solidFill>
                  </a:rPr>
                  <a:t>. Your function must have the following arguments…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86673E53-1407-D732-94B9-14598FE76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4369191"/>
                <a:ext cx="11376667" cy="924086"/>
              </a:xfrm>
              <a:prstGeom prst="rect">
                <a:avLst/>
              </a:prstGeom>
              <a:blipFill>
                <a:blip r:embed="rId8"/>
                <a:stretch>
                  <a:fillRect l="-428" t="-3974" r="-42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3">
            <a:extLst>
              <a:ext uri="{FF2B5EF4-FFF2-40B4-BE49-F238E27FC236}">
                <a16:creationId xmlns:a16="http://schemas.microsoft.com/office/drawing/2014/main" id="{ECA4F7C0-C2FF-BFBE-9852-41E076085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5794" y="5157078"/>
            <a:ext cx="6282836" cy="322224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6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n, start,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proposal_sd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02AE39B0-04AF-72DC-9EAA-CCAF1B38C631}"/>
              </a:ext>
            </a:extLst>
          </p:cNvPr>
          <p:cNvSpPr txBox="1">
            <a:spLocks/>
          </p:cNvSpPr>
          <p:nvPr/>
        </p:nvSpPr>
        <p:spPr>
          <a:xfrm>
            <a:off x="682388" y="5561864"/>
            <a:ext cx="11013743" cy="9240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… w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here ‘</a:t>
            </a:r>
            <a:r>
              <a:rPr kumimoji="1" lang="en-US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n’ </a:t>
            </a:r>
            <a:r>
              <a:rPr kumimoji="1" lang="en-US" altLang="ja-JP" sz="18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 number of observations to be produced,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‘</a:t>
            </a:r>
            <a:r>
              <a:rPr lang="en-US" altLang="ja-JP" sz="1800" i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start</a:t>
            </a:r>
            <a:r>
              <a:rPr kumimoji="1" lang="en-US" altLang="ja-JP" sz="18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 is the starting value of the chain and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‘</a:t>
            </a:r>
            <a:r>
              <a:rPr lang="en-US" altLang="ja-JP" sz="1800" i="1" dirty="0" err="1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proposal_sd</a:t>
            </a:r>
            <a:r>
              <a:rPr kumimoji="1" lang="en-US" altLang="ja-JP" sz="18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 is the standard deviation of the normal proposal density</a:t>
            </a:r>
          </a:p>
        </p:txBody>
      </p:sp>
    </p:spTree>
    <p:extLst>
      <p:ext uri="{BB962C8B-B14F-4D97-AF65-F5344CB8AC3E}">
        <p14:creationId xmlns:p14="http://schemas.microsoft.com/office/powerpoint/2010/main" val="136083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6673E53-1407-D732-94B9-14598FE76E9E}"/>
              </a:ext>
            </a:extLst>
          </p:cNvPr>
          <p:cNvSpPr txBox="1">
            <a:spLocks/>
          </p:cNvSpPr>
          <p:nvPr/>
        </p:nvSpPr>
        <p:spPr>
          <a:xfrm>
            <a:off x="319464" y="962840"/>
            <a:ext cx="11376667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00000"/>
              </a:lnSpc>
              <a:buFont typeface="+mj-lt"/>
              <a:buAutoNum type="alphaLcParenR" startAt="3"/>
              <a:defRPr/>
            </a:pPr>
            <a:r>
              <a:rPr lang="en-NZ" altLang="ja-JP" sz="1800" dirty="0">
                <a:solidFill>
                  <a:srgbClr val="0070C0"/>
                </a:solidFill>
              </a:rPr>
              <a:t>Run your algorithm with the following parameters….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8A135096-B0E9-8E36-AE58-FF03AB39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633" y="1432699"/>
            <a:ext cx="8837620" cy="1257997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lang="en-NZ" sz="16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lang="en-NZ" sz="16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lang="en-NZ" sz="16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lang="en-NZ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6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lang="en-NZ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 =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1.5,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proposal_sd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0.25)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5F4556F5-F456-14D6-19C4-85E6A09014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173829"/>
                <a:ext cx="11376667" cy="249642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4"/>
                  <a:defRPr/>
                </a:pPr>
                <a:r>
                  <a:rPr lang="en-NZ" altLang="ja-JP" sz="1800" dirty="0">
                    <a:solidFill>
                      <a:srgbClr val="0070C0"/>
                    </a:solidFill>
                  </a:rPr>
                  <a:t>Specify the acceptance rate of the algorithm.</a:t>
                </a:r>
                <a:br>
                  <a:rPr lang="en-NZ" altLang="ja-JP" sz="1800" dirty="0">
                    <a:solidFill>
                      <a:srgbClr val="0070C0"/>
                    </a:solidFill>
                  </a:rPr>
                </a:br>
                <a:endParaRPr lang="en-NZ" altLang="ja-JP" sz="1800" dirty="0">
                  <a:solidFill>
                    <a:srgbClr val="0070C0"/>
                  </a:solidFill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4"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Create a time series plot of all elements in the chain AFTER the burn-in.</a:t>
                </a:r>
                <a:b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4"/>
                  <a:defRPr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Create an autocorrelation plot of all elements in the chain AFTER the burn-in.</a:t>
                </a: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4"/>
                  <a:defRPr/>
                </a:pP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4"/>
                  <a:defRPr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Use the post burn-in values of the chain to approximate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[</m:t>
                    </m:r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]</m:t>
                    </m:r>
                  </m:oMath>
                </a14:m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.</m:t>
                    </m:r>
                  </m:oMath>
                </a14:m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US" altLang="ja-JP" sz="1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Comp</a:t>
                </a: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are your results to the actual values calculated in part a). </a:t>
                </a:r>
                <a:endParaRPr kumimoji="1" lang="en-US" altLang="ja-JP" sz="180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5F4556F5-F456-14D6-19C4-85E6A090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173829"/>
                <a:ext cx="11376667" cy="2496427"/>
              </a:xfrm>
              <a:prstGeom prst="rect">
                <a:avLst/>
              </a:prstGeom>
              <a:blipFill>
                <a:blip r:embed="rId3"/>
                <a:stretch>
                  <a:fillRect l="-428" t="-14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732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303658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2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04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7C04F2C-CBC7-C171-1A45-3AFF7C49776D}"/>
              </a:ext>
            </a:extLst>
          </p:cNvPr>
          <p:cNvSpPr txBox="1">
            <a:spLocks/>
          </p:cNvSpPr>
          <p:nvPr/>
        </p:nvSpPr>
        <p:spPr>
          <a:xfrm>
            <a:off x="319466" y="865220"/>
            <a:ext cx="11376667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Save the code you produced for Question 1 as a new (differently named) R file.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2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F60C1096-771F-490C-0F52-EA72F70C77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1532107"/>
                <a:ext cx="11376667" cy="9240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2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Create a function in R which uses a </a:t>
                </a: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uniform independence sampler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within the Metropolis-Hastings algorithm to produce a sequence of observations drawn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𝒇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𝒙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 Your function must have the following arguments…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F60C1096-771F-490C-0F52-EA72F70C7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1532107"/>
                <a:ext cx="11376667" cy="924086"/>
              </a:xfrm>
              <a:prstGeom prst="rect">
                <a:avLst/>
              </a:prstGeom>
              <a:blipFill>
                <a:blip r:embed="rId3"/>
                <a:stretch>
                  <a:fillRect l="-428" t="-3289" r="-42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3">
            <a:extLst>
              <a:ext uri="{FF2B5EF4-FFF2-40B4-BE49-F238E27FC236}">
                <a16:creationId xmlns:a16="http://schemas.microsoft.com/office/drawing/2014/main" id="{ADD37EC3-04EB-38F4-E1FD-A54BF51BB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581" y="2239580"/>
            <a:ext cx="6282836" cy="322224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MetHat1 &lt;- </a:t>
            </a:r>
            <a:r>
              <a:rPr kumimoji="0" lang="en-NZ" sz="1600" b="0" i="0" u="none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kumimoji="0" lang="en-NZ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n, start)</a:t>
            </a:r>
            <a:endParaRPr kumimoji="0" lang="en-NZ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5BBD365-1C1D-636E-6E60-5A5AB4D37A02}"/>
              </a:ext>
            </a:extLst>
          </p:cNvPr>
          <p:cNvSpPr txBox="1">
            <a:spLocks/>
          </p:cNvSpPr>
          <p:nvPr/>
        </p:nvSpPr>
        <p:spPr>
          <a:xfrm>
            <a:off x="682388" y="2656241"/>
            <a:ext cx="11013743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… where ‘</a:t>
            </a:r>
            <a:r>
              <a:rPr kumimoji="1" lang="en-US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n’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 number of observations to be produced and ‘</a:t>
            </a:r>
            <a:r>
              <a:rPr kumimoji="1" lang="en-US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start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 is the starting value of the chain.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6F44FABD-F968-5F3B-D566-58E0EF6A74C5}"/>
              </a:ext>
            </a:extLst>
          </p:cNvPr>
          <p:cNvSpPr txBox="1">
            <a:spLocks/>
          </p:cNvSpPr>
          <p:nvPr/>
        </p:nvSpPr>
        <p:spPr>
          <a:xfrm>
            <a:off x="319464" y="3355049"/>
            <a:ext cx="11376667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3"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Run your algorithm with the following parameters….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0C8BD5FC-0D54-F8DE-56D2-C01D3C4BA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633" y="3824909"/>
            <a:ext cx="8837620" cy="1054208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NZ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MetHat1( n = </a:t>
            </a:r>
            <a:r>
              <a:rPr kumimoji="0" lang="en-NZ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NZ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1.5)</a:t>
            </a:r>
            <a:endParaRPr kumimoji="0" lang="en-NZ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CB2AACE1-C01F-5695-33B1-298D7B8577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193215"/>
                <a:ext cx="11376667" cy="134226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4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Use the post burn-in values of the chain to approximate the integral</a:t>
                </a:r>
                <a:b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𝟑𝟎</m:t>
                        </m:r>
                      </m:num>
                      <m:den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𝟑𝟏</m:t>
                        </m:r>
                      </m:den>
                    </m:f>
                    <m:nary>
                      <m:naryPr>
                        <m:limLoc m:val="undOvr"/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sup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𝒍𝒏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𝒙</m:t>
                            </m:r>
                          </m:e>
                        </m:rad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𝒙</m:t>
                            </m:r>
                          </m:e>
                          <m:sup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−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𝒙</m:t>
                                </m:r>
                              </m:e>
                            </m:d>
                          </m:e>
                          <m:sup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sup>
                        </m:sSup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𝒅𝒙</m:t>
                        </m:r>
                      </m:e>
                    </m:nary>
                  </m:oMath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CB2AACE1-C01F-5695-33B1-298D7B85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193215"/>
                <a:ext cx="11376667" cy="1342268"/>
              </a:xfrm>
              <a:prstGeom prst="rect">
                <a:avLst/>
              </a:prstGeom>
              <a:blipFill>
                <a:blip r:embed="rId4"/>
                <a:stretch>
                  <a:fillRect l="-428" t="-272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152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5392</TotalTime>
  <Words>450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119</cp:revision>
  <dcterms:created xsi:type="dcterms:W3CDTF">2022-02-19T23:15:01Z</dcterms:created>
  <dcterms:modified xsi:type="dcterms:W3CDTF">2022-10-09T06:56:10Z</dcterms:modified>
</cp:coreProperties>
</file>