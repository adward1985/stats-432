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F"/>
    <a:srgbClr val="4B6BA3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6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Tutorial 6 – Convergence Diagnostics </a:t>
            </a:r>
            <a:br>
              <a:rPr lang="en-NZ" sz="2800" dirty="0">
                <a:solidFill>
                  <a:schemeClr val="bg1"/>
                </a:solidFill>
              </a:rPr>
            </a:br>
            <a:r>
              <a:rPr lang="en-NZ" sz="2800" dirty="0">
                <a:solidFill>
                  <a:schemeClr val="bg1"/>
                </a:solidFill>
              </a:rPr>
              <a:t>&amp; Gibbs Sampling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Convergence Diagnostics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continuous random variable 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defined by the probability density function…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3287" y="1346900"/>
                <a:ext cx="7105427" cy="90054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{"/>
                          <m:endChr m:val=""/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den>
                                </m:f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NZ" altLang="ja-JP" sz="16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∉[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Z" altLang="ja-JP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287" y="1346900"/>
                <a:ext cx="7105427" cy="9005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2396DE6-E527-EF3E-4DC0-D5795024294D}"/>
              </a:ext>
            </a:extLst>
          </p:cNvPr>
          <p:cNvSpPr txBox="1">
            <a:spLocks/>
          </p:cNvSpPr>
          <p:nvPr/>
        </p:nvSpPr>
        <p:spPr>
          <a:xfrm>
            <a:off x="319464" y="2555724"/>
            <a:ext cx="11615496" cy="6131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 a function in R which uses a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uniform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random walk proposal density within the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Metropolis-Hastings algorithm to produce a sequence of observations drawn from the above distribution. Your function must have the following arguments…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2BF756BA-A763-B8D5-AF3E-C43C51DD8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3222729"/>
            <a:ext cx="5105400" cy="412541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(n, start,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proposal_width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DF6E3E6-E697-3962-85F8-307FE96A743E}"/>
              </a:ext>
            </a:extLst>
          </p:cNvPr>
          <p:cNvSpPr txBox="1">
            <a:spLocks/>
          </p:cNvSpPr>
          <p:nvPr/>
        </p:nvSpPr>
        <p:spPr>
          <a:xfrm>
            <a:off x="705080" y="3817887"/>
            <a:ext cx="11486920" cy="118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… w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 </a:t>
            </a:r>
          </a:p>
          <a:p>
            <a:pPr marL="971493" lvl="1" indent="-285750" algn="just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defines the number of observations to be drawn</a:t>
            </a:r>
          </a:p>
          <a:p>
            <a:pPr marL="971493" lvl="1" indent="-285750" algn="just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start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defines the starting position of the chain</a:t>
            </a:r>
          </a:p>
          <a:p>
            <a:pPr marL="971493" lvl="1" indent="-28575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1600" b="1" i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</a:t>
            </a:r>
            <a:r>
              <a:rPr kumimoji="1" lang="en-US" altLang="ja-JP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roposal_width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defines the width of the uniform proposal density.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4E30404-247B-A436-E01C-E7F855BAE0D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B90F8A7-EB36-3C3F-CF2E-6A1143A8F09B}"/>
              </a:ext>
            </a:extLst>
          </p:cNvPr>
          <p:cNvSpPr txBox="1">
            <a:spLocks/>
          </p:cNvSpPr>
          <p:nvPr/>
        </p:nvSpPr>
        <p:spPr>
          <a:xfrm>
            <a:off x="705080" y="5217265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See Section 1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3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2396DE6-E527-EF3E-4DC0-D5795024294D}"/>
              </a:ext>
            </a:extLst>
          </p:cNvPr>
          <p:cNvSpPr txBox="1">
            <a:spLocks/>
          </p:cNvSpPr>
          <p:nvPr/>
        </p:nvSpPr>
        <p:spPr>
          <a:xfrm>
            <a:off x="319464" y="805989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the algorithm you produced in Question 1 with the parameters…</a:t>
            </a:r>
            <a:endParaRPr kumimoji="1" lang="en-US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30D1A9D-E809-A7E4-E137-98EA52FAF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716" y="1206347"/>
            <a:ext cx="6884567" cy="112922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5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Met_Hat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 =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1.5,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</a:t>
            </a:r>
            <a:r>
              <a:rPr lang="en-NZ" sz="15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NZ" sz="15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0.15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E7E69D5-6573-D1C4-95F3-BD49548D1DD8}"/>
              </a:ext>
            </a:extLst>
          </p:cNvPr>
          <p:cNvSpPr txBox="1">
            <a:spLocks/>
          </p:cNvSpPr>
          <p:nvPr/>
        </p:nvSpPr>
        <p:spPr>
          <a:xfrm>
            <a:off x="738130" y="2650335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See Section 2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15BD401-9E12-8F1F-3F20-7C8370183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30" y="3108791"/>
            <a:ext cx="9819214" cy="239073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2.1a - Define burn-in and number of elements of the chain to use after the burn-in has occurred.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</a:t>
            </a:r>
            <a:r>
              <a:rPr lang="en-NZ" sz="15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&lt;- </a:t>
            </a:r>
            <a:r>
              <a:rPr lang="en-NZ" sz="15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9000</a:t>
            </a:r>
            <a:br>
              <a:rPr lang="en-NZ" sz="15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NZ" sz="15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2.1b - Running the function / macro defined in the previous section. Results are saved in a list object called </a:t>
            </a:r>
            <a:r>
              <a:rPr lang="en-NZ" sz="1500" dirty="0" err="1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br>
              <a:rPr lang="en-NZ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5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delta = 0.15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 =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start = 1.5,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proposal_width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delta)</a:t>
            </a:r>
            <a:endParaRPr lang="en-NZ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4814E1D-73A3-241A-2565-08940797D283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4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1CEB1B4-6C48-501D-55CA-31F59F33B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21" y="5607333"/>
            <a:ext cx="4695825" cy="8667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8AFD4D-228D-7BA3-C068-931D4EB98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12" y="2202841"/>
            <a:ext cx="4993404" cy="30041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A5A911-329B-9089-5CB7-EFB729719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546" y="2153789"/>
            <a:ext cx="5155698" cy="3222312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9512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Calculate the acceptance rate of the chain.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See Section 3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99D69CC-8C23-A14B-892D-AD562F3ACD2E}"/>
              </a:ext>
            </a:extLst>
          </p:cNvPr>
          <p:cNvSpPr txBox="1">
            <a:spLocks/>
          </p:cNvSpPr>
          <p:nvPr/>
        </p:nvSpPr>
        <p:spPr>
          <a:xfrm>
            <a:off x="683021" y="1304094"/>
            <a:ext cx="83177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Acceptance rate = 0.9813 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D9AE976-6048-1A00-91EA-72B7A9345423}"/>
              </a:ext>
            </a:extLst>
          </p:cNvPr>
          <p:cNvSpPr txBox="1">
            <a:spLocks/>
          </p:cNvSpPr>
          <p:nvPr/>
        </p:nvSpPr>
        <p:spPr>
          <a:xfrm>
            <a:off x="319464" y="1784809"/>
            <a:ext cx="6059302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3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Construct a time series plot of the post-burn-in elements of the chain.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8FC33B9-17B4-7FD4-98E1-2633A5C75FF8}"/>
              </a:ext>
            </a:extLst>
          </p:cNvPr>
          <p:cNvSpPr txBox="1">
            <a:spLocks/>
          </p:cNvSpPr>
          <p:nvPr/>
        </p:nvSpPr>
        <p:spPr>
          <a:xfrm>
            <a:off x="6301648" y="1784809"/>
            <a:ext cx="5633312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4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Construct an autocorrelation plot of </a:t>
            </a: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the post-burn-in elements of the chain.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39158C0-4762-9EA8-0E53-B29123A2E1F3}"/>
              </a:ext>
            </a:extLst>
          </p:cNvPr>
          <p:cNvSpPr txBox="1">
            <a:spLocks/>
          </p:cNvSpPr>
          <p:nvPr/>
        </p:nvSpPr>
        <p:spPr>
          <a:xfrm>
            <a:off x="319464" y="5292073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5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Convert the post-burn-in elements of the chain to an ‘</a:t>
            </a:r>
            <a:r>
              <a:rPr lang="en-NZ" altLang="ja-JP" sz="1500" dirty="0" err="1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mcmc</a:t>
            </a: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’ object and obtain basic summary statistics.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9DD0884-4092-615A-8ADE-07D1061A7AAA}"/>
              </a:ext>
            </a:extLst>
          </p:cNvPr>
          <p:cNvSpPr txBox="1">
            <a:spLocks/>
          </p:cNvSpPr>
          <p:nvPr/>
        </p:nvSpPr>
        <p:spPr>
          <a:xfrm>
            <a:off x="7124097" y="5655498"/>
            <a:ext cx="4695825" cy="8799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and 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can be calculated analytically as...</a:t>
            </a:r>
            <a:b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 1.875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US" altLang="ja-JP" sz="1600" b="1" i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Var[X] 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= 0.684375 </a:t>
            </a:r>
            <a:r>
              <a:rPr lang="en-US" altLang="ja-JP" sz="1600" dirty="0">
                <a:solidFill>
                  <a:prstClr val="black"/>
                </a:solidFill>
              </a:rPr>
              <a:t>=&gt; </a:t>
            </a:r>
            <a:r>
              <a:rPr lang="en-US" altLang="ja-JP" sz="1600" b="1" i="1" dirty="0">
                <a:solidFill>
                  <a:prstClr val="black"/>
                </a:solidFill>
              </a:rPr>
              <a:t>SD[X]</a:t>
            </a:r>
            <a:r>
              <a:rPr lang="en-US" altLang="ja-JP" sz="1600" dirty="0">
                <a:solidFill>
                  <a:prstClr val="black"/>
                </a:solidFill>
              </a:rPr>
              <a:t> = 0.8273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DF80F855-3915-BE8F-707C-EB0FAAFA7968}"/>
              </a:ext>
            </a:extLst>
          </p:cNvPr>
          <p:cNvSpPr/>
          <p:nvPr/>
        </p:nvSpPr>
        <p:spPr>
          <a:xfrm>
            <a:off x="6786390" y="5655498"/>
            <a:ext cx="222669" cy="8186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67A4B564-F25D-0560-7353-8A44A2F12AE5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9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9" grpId="0"/>
      <p:bldP spid="22" grpId="0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C2D23-2AA0-F1FC-AD73-C5CE417F9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080" y="1149039"/>
            <a:ext cx="5031953" cy="3490917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9512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6"/>
              <a:defRPr/>
            </a:pPr>
            <a:r>
              <a:rPr lang="en-NZ" altLang="ja-JP" sz="1500" dirty="0">
                <a:solidFill>
                  <a:srgbClr val="0070C0"/>
                </a:solidFill>
              </a:rPr>
              <a:t>Conduct a </a:t>
            </a:r>
            <a:r>
              <a:rPr lang="en-NZ" altLang="ja-JP" sz="1500" dirty="0" err="1">
                <a:solidFill>
                  <a:srgbClr val="0070C0"/>
                </a:solidFill>
              </a:rPr>
              <a:t>Geweke</a:t>
            </a:r>
            <a:r>
              <a:rPr lang="en-NZ" altLang="ja-JP" sz="1500" dirty="0">
                <a:solidFill>
                  <a:srgbClr val="0070C0"/>
                </a:solidFill>
              </a:rPr>
              <a:t> Time Series Diagnostic test on the post-burn-in elements of the chain and construct the associated </a:t>
            </a:r>
            <a:r>
              <a:rPr lang="en-NZ" altLang="ja-JP" sz="1500" dirty="0" err="1">
                <a:solidFill>
                  <a:srgbClr val="0070C0"/>
                </a:solidFill>
              </a:rPr>
              <a:t>Geweke</a:t>
            </a:r>
            <a:r>
              <a:rPr lang="en-NZ" altLang="ja-JP" sz="1500" dirty="0">
                <a:solidFill>
                  <a:srgbClr val="0070C0"/>
                </a:solidFill>
              </a:rPr>
              <a:t> plot.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See Section 4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85606A5-C869-3C21-69F8-DC3B5352AC62}"/>
              </a:ext>
            </a:extLst>
          </p:cNvPr>
          <p:cNvSpPr txBox="1">
            <a:spLocks/>
          </p:cNvSpPr>
          <p:nvPr/>
        </p:nvSpPr>
        <p:spPr>
          <a:xfrm>
            <a:off x="543591" y="3035937"/>
            <a:ext cx="4101459" cy="1122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Fraction in 1st window = 0.1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Fraction in 2nd window = 0.5 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300" i="1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var1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-2.174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B6F19D6-D7F0-5548-B695-17029F10548B}"/>
              </a:ext>
            </a:extLst>
          </p:cNvPr>
          <p:cNvSpPr txBox="1">
            <a:spLocks/>
          </p:cNvSpPr>
          <p:nvPr/>
        </p:nvSpPr>
        <p:spPr>
          <a:xfrm>
            <a:off x="543591" y="1502009"/>
            <a:ext cx="4101459" cy="1348312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# </a:t>
            </a: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4.1a - Performing the </a:t>
            </a:r>
            <a:r>
              <a:rPr lang="en-NZ" altLang="ja-JP" sz="1400" dirty="0" err="1">
                <a:solidFill>
                  <a:schemeClr val="accent6">
                    <a:lumMod val="75000"/>
                  </a:schemeClr>
                </a:solidFill>
              </a:rPr>
              <a:t>Geweke</a:t>
            </a: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 test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&gt; </a:t>
            </a:r>
            <a:r>
              <a:rPr lang="en-NZ" altLang="ja-JP" sz="1400" dirty="0" err="1">
                <a:solidFill>
                  <a:prstClr val="black"/>
                </a:solidFill>
              </a:rPr>
              <a:t>geweke.diag</a:t>
            </a:r>
            <a:r>
              <a:rPr lang="en-NZ" altLang="ja-JP" sz="1400" dirty="0">
                <a:solidFill>
                  <a:prstClr val="black"/>
                </a:solidFill>
              </a:rPr>
              <a:t>(post_burn0)</a:t>
            </a:r>
          </a:p>
          <a:p>
            <a:pPr lvl="0">
              <a:lnSpc>
                <a:spcPct val="100000"/>
              </a:lnSpc>
              <a:defRPr/>
            </a:pPr>
            <a:endParaRPr kumimoji="1" lang="en-NZ" altLang="ja-JP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# 4.1b - Creating </a:t>
            </a:r>
            <a:r>
              <a:rPr lang="en-US" altLang="ja-JP" sz="1400" dirty="0" err="1">
                <a:solidFill>
                  <a:schemeClr val="accent6">
                    <a:lumMod val="75000"/>
                  </a:schemeClr>
                </a:solidFill>
              </a:rPr>
              <a:t>Geweke</a:t>
            </a: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 plots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&gt; </a:t>
            </a:r>
            <a:r>
              <a:rPr lang="en-NZ" altLang="ja-JP" sz="1400" dirty="0" err="1">
                <a:solidFill>
                  <a:prstClr val="black"/>
                </a:solidFill>
              </a:rPr>
              <a:t>geweke.plot</a:t>
            </a:r>
            <a:r>
              <a:rPr lang="en-NZ" altLang="ja-JP" sz="1400" dirty="0">
                <a:solidFill>
                  <a:prstClr val="black"/>
                </a:solidFill>
              </a:rPr>
              <a:t>(post_burn0)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1B95095-9653-C88E-3F52-704BD9FCE032}"/>
              </a:ext>
            </a:extLst>
          </p:cNvPr>
          <p:cNvSpPr txBox="1">
            <a:spLocks/>
          </p:cNvSpPr>
          <p:nvPr/>
        </p:nvSpPr>
        <p:spPr>
          <a:xfrm>
            <a:off x="543591" y="4505201"/>
            <a:ext cx="11335725" cy="16774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500" dirty="0">
                <a:solidFill>
                  <a:schemeClr val="tx1"/>
                </a:solidFill>
              </a:rPr>
              <a:t>Z-score for the </a:t>
            </a:r>
            <a:r>
              <a:rPr lang="en-NZ" altLang="ja-JP" sz="1500" dirty="0" err="1">
                <a:solidFill>
                  <a:schemeClr val="tx1"/>
                </a:solidFill>
              </a:rPr>
              <a:t>Geweke</a:t>
            </a:r>
            <a:r>
              <a:rPr lang="en-NZ" altLang="ja-JP" sz="1500" dirty="0">
                <a:solidFill>
                  <a:schemeClr val="tx1"/>
                </a:solidFill>
              </a:rPr>
              <a:t> </a:t>
            </a:r>
            <a:r>
              <a:rPr lang="en-NZ" altLang="ja-JP" sz="1500" dirty="0" err="1">
                <a:solidFill>
                  <a:schemeClr val="tx1"/>
                </a:solidFill>
              </a:rPr>
              <a:t>diganostic</a:t>
            </a:r>
            <a:r>
              <a:rPr lang="en-NZ" altLang="ja-JP" sz="1500" dirty="0">
                <a:solidFill>
                  <a:schemeClr val="tx1"/>
                </a:solidFill>
              </a:rPr>
              <a:t> is greater than 2 in absolute value.</a:t>
            </a:r>
            <a:br>
              <a:rPr lang="en-NZ" altLang="ja-JP" sz="1500" dirty="0">
                <a:solidFill>
                  <a:schemeClr val="tx1"/>
                </a:solidFill>
              </a:rPr>
            </a:br>
            <a:r>
              <a:rPr lang="en-NZ" altLang="ja-JP" sz="1500" dirty="0">
                <a:solidFill>
                  <a:schemeClr val="tx1"/>
                </a:solidFill>
              </a:rPr>
              <a:t>=&gt; Evidence against the null hypothesis that the values in the two windows are from the same distribution.</a:t>
            </a:r>
            <a:br>
              <a:rPr lang="en-NZ" altLang="ja-JP" sz="1500" dirty="0">
                <a:solidFill>
                  <a:schemeClr val="tx1"/>
                </a:solidFill>
              </a:rPr>
            </a:br>
            <a:r>
              <a:rPr lang="en-NZ" altLang="ja-JP" sz="1500" dirty="0">
                <a:solidFill>
                  <a:schemeClr val="tx1"/>
                </a:solidFill>
              </a:rPr>
              <a:t>  </a:t>
            </a:r>
          </a:p>
          <a:p>
            <a:pPr>
              <a:lnSpc>
                <a:spcPct val="100000"/>
              </a:lnSpc>
              <a:defRPr/>
            </a:pPr>
            <a:r>
              <a:rPr lang="en-NZ" altLang="ja-JP" sz="1500" dirty="0" err="1">
                <a:solidFill>
                  <a:schemeClr val="tx1"/>
                </a:solidFill>
              </a:rPr>
              <a:t>Geweke</a:t>
            </a:r>
            <a:r>
              <a:rPr lang="en-NZ" altLang="ja-JP" sz="1500" dirty="0">
                <a:solidFill>
                  <a:schemeClr val="tx1"/>
                </a:solidFill>
              </a:rPr>
              <a:t> plot function calculates the value of the </a:t>
            </a:r>
            <a:r>
              <a:rPr lang="en-NZ" altLang="ja-JP" sz="1500" dirty="0" err="1">
                <a:solidFill>
                  <a:schemeClr val="tx1"/>
                </a:solidFill>
              </a:rPr>
              <a:t>Geweke</a:t>
            </a:r>
            <a:r>
              <a:rPr lang="en-NZ" altLang="ja-JP" sz="1500" dirty="0">
                <a:solidFill>
                  <a:schemeClr val="tx1"/>
                </a:solidFill>
              </a:rPr>
              <a:t> Diagnostic with successively more and more points removed from the beginning of the chain. Vast majority of test statistics have z-scores outside the interval [-2,2] suggesting that chain values inside the first and second windows do not arise from the same distribution. However, the fact that the </a:t>
            </a:r>
            <a:r>
              <a:rPr lang="en-NZ" altLang="ja-JP" sz="1500" dirty="0" err="1">
                <a:solidFill>
                  <a:schemeClr val="tx1"/>
                </a:solidFill>
              </a:rPr>
              <a:t>Geweke</a:t>
            </a:r>
            <a:r>
              <a:rPr lang="en-NZ" altLang="ja-JP" sz="1500" dirty="0">
                <a:solidFill>
                  <a:schemeClr val="tx1"/>
                </a:solidFill>
              </a:rPr>
              <a:t> plot seems to trend into the interval [-2,2] suggests that a longer burn-in and overall chain length may be enough for the chain to converge.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500" dirty="0">
              <a:solidFill>
                <a:schemeClr val="tx1"/>
              </a:solidFill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38D76539-9C7D-2482-F3E0-70EEB29A9D15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32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49D4B9A-65EB-FFAF-C8B5-A922A1CBC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804" y="1325515"/>
            <a:ext cx="5777945" cy="3552366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829806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7"/>
              <a:defRPr/>
            </a:pPr>
            <a:r>
              <a:rPr lang="en-NZ" altLang="ja-JP" sz="1500" dirty="0">
                <a:solidFill>
                  <a:srgbClr val="0070C0"/>
                </a:solidFill>
              </a:rPr>
              <a:t>Conduct a Gelman &amp; Rubin Multiple Sequence Diagnostic Test using four separate chains with starting values 0, 1, 2 &amp; 3. </a:t>
            </a:r>
            <a:br>
              <a:rPr lang="en-NZ" altLang="ja-JP" sz="1500" dirty="0">
                <a:solidFill>
                  <a:srgbClr val="0070C0"/>
                </a:solidFill>
              </a:rPr>
            </a:br>
            <a:r>
              <a:rPr lang="en-NZ" altLang="ja-JP" sz="1500" dirty="0">
                <a:solidFill>
                  <a:srgbClr val="0070C0"/>
                </a:solidFill>
              </a:rPr>
              <a:t>Obtain the associated Gelman &amp; Rubin plot.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See Section 5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E2E6EB3-738E-2A42-DDCA-20AD1FE8D35D}"/>
              </a:ext>
            </a:extLst>
          </p:cNvPr>
          <p:cNvSpPr txBox="1">
            <a:spLocks/>
          </p:cNvSpPr>
          <p:nvPr/>
        </p:nvSpPr>
        <p:spPr>
          <a:xfrm>
            <a:off x="643981" y="1705594"/>
            <a:ext cx="4101459" cy="1505596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# </a:t>
            </a: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5.1c - Conducting the Gelman &amp; Rubin multiple sequence diagnostic test</a:t>
            </a:r>
            <a:b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NZ" altLang="ja-JP" sz="1400" dirty="0">
                <a:solidFill>
                  <a:prstClr val="black"/>
                </a:solidFill>
              </a:rPr>
              <a:t>&gt; </a:t>
            </a:r>
            <a:r>
              <a:rPr lang="en-NZ" altLang="ja-JP" sz="1400" dirty="0" err="1">
                <a:solidFill>
                  <a:prstClr val="black"/>
                </a:solidFill>
              </a:rPr>
              <a:t>gelman.diag</a:t>
            </a:r>
            <a:r>
              <a:rPr lang="en-NZ" altLang="ja-JP" sz="1400" dirty="0">
                <a:solidFill>
                  <a:prstClr val="black"/>
                </a:solidFill>
              </a:rPr>
              <a:t>(</a:t>
            </a:r>
            <a:r>
              <a:rPr lang="en-NZ" altLang="ja-JP" sz="1400" dirty="0" err="1">
                <a:solidFill>
                  <a:prstClr val="black"/>
                </a:solidFill>
              </a:rPr>
              <a:t>gel_rub_list</a:t>
            </a:r>
            <a:r>
              <a:rPr lang="en-NZ" altLang="ja-JP" sz="1400" dirty="0">
                <a:solidFill>
                  <a:prstClr val="black"/>
                </a:solidFill>
              </a:rPr>
              <a:t>)</a:t>
            </a:r>
          </a:p>
          <a:p>
            <a:pPr lvl="0">
              <a:lnSpc>
                <a:spcPct val="100000"/>
              </a:lnSpc>
              <a:defRPr/>
            </a:pPr>
            <a:endParaRPr kumimoji="1" lang="en-NZ" altLang="ja-JP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# 5.1d - Producing Gelman-Rubin plot</a:t>
            </a:r>
            <a:b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NZ" altLang="ja-JP" sz="1400" dirty="0">
                <a:solidFill>
                  <a:prstClr val="black"/>
                </a:solidFill>
              </a:rPr>
              <a:t>&gt; </a:t>
            </a:r>
            <a:r>
              <a:rPr lang="en-NZ" altLang="ja-JP" sz="1400" dirty="0" err="1">
                <a:solidFill>
                  <a:prstClr val="black"/>
                </a:solidFill>
              </a:rPr>
              <a:t>gelman.plot</a:t>
            </a:r>
            <a:r>
              <a:rPr lang="en-NZ" altLang="ja-JP" sz="1400" dirty="0">
                <a:solidFill>
                  <a:prstClr val="black"/>
                </a:solidFill>
              </a:rPr>
              <a:t>(</a:t>
            </a:r>
            <a:r>
              <a:rPr lang="en-NZ" altLang="ja-JP" sz="1400" dirty="0" err="1">
                <a:solidFill>
                  <a:prstClr val="black"/>
                </a:solidFill>
              </a:rPr>
              <a:t>gel_rub_list</a:t>
            </a:r>
            <a:r>
              <a:rPr lang="en-NZ" altLang="ja-JP" sz="1400" dirty="0">
                <a:solidFill>
                  <a:prstClr val="black"/>
                </a:solidFill>
              </a:rPr>
              <a:t>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88E4212-4AFF-CAC9-E885-5111057AC6D6}"/>
              </a:ext>
            </a:extLst>
          </p:cNvPr>
          <p:cNvSpPr txBox="1">
            <a:spLocks/>
          </p:cNvSpPr>
          <p:nvPr/>
        </p:nvSpPr>
        <p:spPr>
          <a:xfrm>
            <a:off x="643981" y="3429000"/>
            <a:ext cx="4101459" cy="1122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Potential scale reduction factors: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300" i="1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Point est. 	Upper C.I.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1.29       	1.73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EA19880-178C-69C0-A5E7-D239C15B8D87}"/>
              </a:ext>
            </a:extLst>
          </p:cNvPr>
          <p:cNvSpPr txBox="1">
            <a:spLocks/>
          </p:cNvSpPr>
          <p:nvPr/>
        </p:nvSpPr>
        <p:spPr>
          <a:xfrm>
            <a:off x="643981" y="4875726"/>
            <a:ext cx="6307190" cy="6567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Both the point and upper estimate of the PSRF are in excess of 1.2. </a:t>
            </a:r>
            <a:br>
              <a:rPr lang="en-NZ" altLang="ja-JP" sz="1600" dirty="0">
                <a:solidFill>
                  <a:schemeClr val="tx1"/>
                </a:solidFill>
              </a:rPr>
            </a:br>
            <a:r>
              <a:rPr lang="en-NZ" altLang="ja-JP" sz="1600" dirty="0">
                <a:solidFill>
                  <a:schemeClr val="tx1"/>
                </a:solidFill>
              </a:rPr>
              <a:t>This suggests that the chain has not converged to the target distribution.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60F8B8C9-0AE3-3E77-EA9E-F048FAC7B3B1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79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829806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8"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Perform the Heidelberger &amp; Welch Diagnostic test for convergence.</a:t>
            </a:r>
            <a:endParaRPr lang="en-NZ" altLang="ja-JP" sz="1500" dirty="0">
              <a:solidFill>
                <a:srgbClr val="0070C0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See Section 6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E2E6EB3-738E-2A42-DDCA-20AD1FE8D35D}"/>
              </a:ext>
            </a:extLst>
          </p:cNvPr>
          <p:cNvSpPr txBox="1">
            <a:spLocks/>
          </p:cNvSpPr>
          <p:nvPr/>
        </p:nvSpPr>
        <p:spPr>
          <a:xfrm>
            <a:off x="643981" y="1315312"/>
            <a:ext cx="10516106" cy="1333924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# 6.1a - Converting the original </a:t>
            </a:r>
            <a:r>
              <a:rPr lang="en-US" altLang="ja-JP" sz="1400" dirty="0" err="1">
                <a:solidFill>
                  <a:schemeClr val="accent6">
                    <a:lumMod val="75000"/>
                  </a:schemeClr>
                </a:solidFill>
              </a:rPr>
              <a:t>MH_Output$x</a:t>
            </a: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 chain to an </a:t>
            </a:r>
            <a:r>
              <a:rPr lang="en-US" altLang="ja-JP" sz="1400" dirty="0" err="1">
                <a:solidFill>
                  <a:schemeClr val="accent6">
                    <a:lumMod val="75000"/>
                  </a:schemeClr>
                </a:solidFill>
              </a:rPr>
              <a:t>mcmc</a:t>
            </a: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 object (Heidelberger &amp; Welch test must be run on the whole chain)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&gt; </a:t>
            </a:r>
            <a:r>
              <a:rPr lang="en-US" altLang="ja-JP" sz="1400" dirty="0" err="1">
                <a:solidFill>
                  <a:schemeClr val="tx1"/>
                </a:solidFill>
              </a:rPr>
              <a:t>heidelchain</a:t>
            </a:r>
            <a:r>
              <a:rPr lang="en-US" altLang="ja-JP" sz="1400" dirty="0">
                <a:solidFill>
                  <a:schemeClr val="tx1"/>
                </a:solidFill>
              </a:rPr>
              <a:t> &lt;- </a:t>
            </a:r>
            <a:r>
              <a:rPr lang="en-US" altLang="ja-JP" sz="1400" dirty="0" err="1">
                <a:solidFill>
                  <a:schemeClr val="tx1"/>
                </a:solidFill>
              </a:rPr>
              <a:t>mcmc</a:t>
            </a:r>
            <a:r>
              <a:rPr lang="en-US" altLang="ja-JP" sz="1400" dirty="0">
                <a:solidFill>
                  <a:schemeClr val="tx1"/>
                </a:solidFill>
              </a:rPr>
              <a:t>(</a:t>
            </a:r>
            <a:r>
              <a:rPr lang="en-US" altLang="ja-JP" sz="1400" dirty="0" err="1">
                <a:solidFill>
                  <a:schemeClr val="tx1"/>
                </a:solidFill>
              </a:rPr>
              <a:t>MH_Output$x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lvl="0">
              <a:lnSpc>
                <a:spcPct val="100000"/>
              </a:lnSpc>
              <a:defRPr/>
            </a:pPr>
            <a:endParaRPr lang="en-US" altLang="ja-JP" sz="14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# 6.1b - Conducting the Heidelberger &amp; Welch diagnostic test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&gt; </a:t>
            </a:r>
            <a:r>
              <a:rPr lang="en-US" altLang="ja-JP" sz="1400" dirty="0" err="1">
                <a:solidFill>
                  <a:schemeClr val="tx1"/>
                </a:solidFill>
              </a:rPr>
              <a:t>heidel.diag</a:t>
            </a:r>
            <a:r>
              <a:rPr lang="en-US" altLang="ja-JP" sz="1400" dirty="0">
                <a:solidFill>
                  <a:schemeClr val="tx1"/>
                </a:solidFill>
              </a:rPr>
              <a:t>(</a:t>
            </a:r>
            <a:r>
              <a:rPr lang="en-US" altLang="ja-JP" sz="1400" dirty="0" err="1">
                <a:solidFill>
                  <a:schemeClr val="tx1"/>
                </a:solidFill>
              </a:rPr>
              <a:t>heidelchain</a:t>
            </a:r>
            <a:r>
              <a:rPr lang="en-US" altLang="ja-JP" sz="1400" dirty="0">
                <a:solidFill>
                  <a:schemeClr val="tx1"/>
                </a:solidFill>
              </a:rPr>
              <a:t>, eps = 0.1, </a:t>
            </a:r>
            <a:r>
              <a:rPr lang="en-US" altLang="ja-JP" sz="1400" dirty="0" err="1">
                <a:solidFill>
                  <a:schemeClr val="tx1"/>
                </a:solidFill>
              </a:rPr>
              <a:t>pvalue</a:t>
            </a:r>
            <a:r>
              <a:rPr lang="en-US" altLang="ja-JP" sz="1400" dirty="0">
                <a:solidFill>
                  <a:schemeClr val="tx1"/>
                </a:solidFill>
              </a:rPr>
              <a:t> = 0.05)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EA19880-178C-69C0-A5E7-D239C15B8D87}"/>
              </a:ext>
            </a:extLst>
          </p:cNvPr>
          <p:cNvSpPr txBox="1">
            <a:spLocks/>
          </p:cNvSpPr>
          <p:nvPr/>
        </p:nvSpPr>
        <p:spPr>
          <a:xfrm>
            <a:off x="4852897" y="2827039"/>
            <a:ext cx="6307190" cy="6567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Chain passes the Stationarity Test but fails the Halfwidth Test.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This suggests that the chain has not converged to the target distribution.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2FD7016-AC09-B43D-730A-A3092D2805C1}"/>
              </a:ext>
            </a:extLst>
          </p:cNvPr>
          <p:cNvSpPr txBox="1">
            <a:spLocks/>
          </p:cNvSpPr>
          <p:nvPr/>
        </p:nvSpPr>
        <p:spPr>
          <a:xfrm>
            <a:off x="643982" y="2827039"/>
            <a:ext cx="3972086" cy="19437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 	</a:t>
            </a:r>
            <a:r>
              <a:rPr lang="en-NZ" altLang="ja-JP" sz="1300" b="1" i="1" dirty="0">
                <a:solidFill>
                  <a:schemeClr val="tx1"/>
                </a:solidFill>
              </a:rPr>
              <a:t>Stationarity 	  start     	p-value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b="1" i="1" dirty="0">
                <a:solidFill>
                  <a:schemeClr val="tx1"/>
                </a:solidFill>
              </a:rPr>
              <a:t>     	test         	  iteration        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b="1" i="1" dirty="0">
                <a:solidFill>
                  <a:schemeClr val="tx1"/>
                </a:solidFill>
              </a:rPr>
              <a:t>var1</a:t>
            </a:r>
            <a:r>
              <a:rPr lang="en-NZ" altLang="ja-JP" sz="1300" i="1" dirty="0">
                <a:solidFill>
                  <a:schemeClr val="tx1"/>
                </a:solidFill>
              </a:rPr>
              <a:t> 	passed       	  1        	0.435  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                             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300" i="1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300" i="1" dirty="0">
                <a:solidFill>
                  <a:schemeClr val="tx1"/>
                </a:solidFill>
              </a:rPr>
              <a:t>     	</a:t>
            </a:r>
            <a:r>
              <a:rPr lang="en-NZ" altLang="ja-JP" sz="1300" b="1" i="1" dirty="0">
                <a:solidFill>
                  <a:schemeClr val="tx1"/>
                </a:solidFill>
              </a:rPr>
              <a:t>Halfwidth 	  Mean	Halfwidth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b="1" i="1" dirty="0">
                <a:solidFill>
                  <a:schemeClr val="tx1"/>
                </a:solidFill>
              </a:rPr>
              <a:t>     	test                    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300" b="1" i="1" dirty="0">
                <a:solidFill>
                  <a:schemeClr val="tx1"/>
                </a:solidFill>
              </a:rPr>
              <a:t>Var1</a:t>
            </a:r>
            <a:r>
              <a:rPr lang="en-NZ" altLang="ja-JP" sz="1300" i="1" dirty="0">
                <a:solidFill>
                  <a:schemeClr val="tx1"/>
                </a:solidFill>
              </a:rPr>
              <a:t>	failed    	  1.76 	0.533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6D3E57-EE1C-A5FE-1914-06C9CAC57913}"/>
              </a:ext>
            </a:extLst>
          </p:cNvPr>
          <p:cNvSpPr txBox="1">
            <a:spLocks/>
          </p:cNvSpPr>
          <p:nvPr/>
        </p:nvSpPr>
        <p:spPr>
          <a:xfrm>
            <a:off x="319464" y="5006142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lphaLcParenR" startAt="9"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Based on the answers to the above, what do you conclude?</a:t>
            </a:r>
            <a:endParaRPr lang="en-NZ" altLang="ja-JP" sz="1500" dirty="0">
              <a:solidFill>
                <a:srgbClr val="0070C0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0D1D9E0-0CBD-B8A7-0295-0557210494B4}"/>
              </a:ext>
            </a:extLst>
          </p:cNvPr>
          <p:cNvSpPr txBox="1">
            <a:spLocks/>
          </p:cNvSpPr>
          <p:nvPr/>
        </p:nvSpPr>
        <p:spPr>
          <a:xfrm>
            <a:off x="643981" y="5362546"/>
            <a:ext cx="10868646" cy="8201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The chain fails the </a:t>
            </a:r>
            <a:r>
              <a:rPr lang="en-NZ" altLang="ja-JP" sz="1600" dirty="0" err="1">
                <a:solidFill>
                  <a:schemeClr val="tx1"/>
                </a:solidFill>
              </a:rPr>
              <a:t>Geweke</a:t>
            </a:r>
            <a:r>
              <a:rPr lang="en-NZ" altLang="ja-JP" sz="1600" dirty="0">
                <a:solidFill>
                  <a:schemeClr val="tx1"/>
                </a:solidFill>
              </a:rPr>
              <a:t> Diagnostic, the Gelman &amp; Rubin Diagnostic and the Heidelberger &amp; Welch Diagnostic. </a:t>
            </a:r>
            <a:br>
              <a:rPr lang="en-NZ" altLang="ja-JP" sz="1600" dirty="0">
                <a:solidFill>
                  <a:schemeClr val="tx1"/>
                </a:solidFill>
              </a:rPr>
            </a:br>
            <a:r>
              <a:rPr lang="en-NZ" altLang="ja-JP" sz="1600" dirty="0">
                <a:solidFill>
                  <a:schemeClr val="tx1"/>
                </a:solidFill>
              </a:rPr>
              <a:t>We therefore have a lot of evidence to suggest that the chain has not converged to the target distribution. 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The chain has a very high acceptance rate and is mixing too slowly because the width of the proposal density is too small.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EC55854C-A839-CFA0-DB26-107650A1906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70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  <p:bldP spid="2" grpId="0" animBg="1"/>
      <p:bldP spid="3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3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2396DE6-E527-EF3E-4DC0-D5795024294D}"/>
              </a:ext>
            </a:extLst>
          </p:cNvPr>
          <p:cNvSpPr txBox="1">
            <a:spLocks/>
          </p:cNvSpPr>
          <p:nvPr/>
        </p:nvSpPr>
        <p:spPr>
          <a:xfrm>
            <a:off x="319464" y="805989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the algorithm you produced in Question 1 with the parameters…</a:t>
            </a:r>
            <a:endParaRPr kumimoji="1" lang="en-US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30D1A9D-E809-A7E4-E137-98EA52FAF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716" y="1206347"/>
            <a:ext cx="6884567" cy="112922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Met_Hat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 =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1.5,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proposal_width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4.5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NZ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E7E69D5-6573-D1C4-95F3-BD49548D1DD8}"/>
              </a:ext>
            </a:extLst>
          </p:cNvPr>
          <p:cNvSpPr txBox="1">
            <a:spLocks/>
          </p:cNvSpPr>
          <p:nvPr/>
        </p:nvSpPr>
        <p:spPr>
          <a:xfrm>
            <a:off x="738130" y="2650335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2 of the code</a:t>
            </a:r>
            <a:endParaRPr kumimoji="1" lang="en-US" altLang="ja-JP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15BD401-9E12-8F1F-3F20-7C8370183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30" y="3108791"/>
            <a:ext cx="9819214" cy="239073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2.1a - Define burn-in and number of elements of the chain to use after the burn-in has occurred.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&lt;-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9000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NZ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2.1b - Running the function / macro defined in the previous section. Results are saved in a list object called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delta = 4.5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 =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start = 1.5,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proposal_width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delta)</a:t>
            </a:r>
            <a:endParaRPr kumimoji="0" lang="en-NZ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4814E1D-73A3-241A-2565-08940797D283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43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74F39FA-B9CE-2F33-7210-47939EDC0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46" y="2218606"/>
            <a:ext cx="4695825" cy="3080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A636C7-FF00-8005-378C-F8A813D2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6" y="2117300"/>
            <a:ext cx="5122317" cy="3081553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9512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Calculate the acceptance rate of the chain.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3 of the code</a:t>
            </a:r>
            <a:endParaRPr kumimoji="1" lang="en-US" altLang="ja-JP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99D69CC-8C23-A14B-892D-AD562F3ACD2E}"/>
              </a:ext>
            </a:extLst>
          </p:cNvPr>
          <p:cNvSpPr txBox="1">
            <a:spLocks/>
          </p:cNvSpPr>
          <p:nvPr/>
        </p:nvSpPr>
        <p:spPr>
          <a:xfrm>
            <a:off x="683021" y="1304094"/>
            <a:ext cx="83177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Acceptance rate = 0.4815 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D9AE976-6048-1A00-91EA-72B7A9345423}"/>
              </a:ext>
            </a:extLst>
          </p:cNvPr>
          <p:cNvSpPr txBox="1">
            <a:spLocks/>
          </p:cNvSpPr>
          <p:nvPr/>
        </p:nvSpPr>
        <p:spPr>
          <a:xfrm>
            <a:off x="319464" y="1784809"/>
            <a:ext cx="6059302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3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Construct a time series plot of the post-burn-in elements of the chain.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8FC33B9-17B4-7FD4-98E1-2633A5C75FF8}"/>
              </a:ext>
            </a:extLst>
          </p:cNvPr>
          <p:cNvSpPr txBox="1">
            <a:spLocks/>
          </p:cNvSpPr>
          <p:nvPr/>
        </p:nvSpPr>
        <p:spPr>
          <a:xfrm>
            <a:off x="6301648" y="1784809"/>
            <a:ext cx="5633312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4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Construct an autocorrelation plot of the post-burn-in elements of the chain.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39158C0-4762-9EA8-0E53-B29123A2E1F3}"/>
              </a:ext>
            </a:extLst>
          </p:cNvPr>
          <p:cNvSpPr txBox="1">
            <a:spLocks/>
          </p:cNvSpPr>
          <p:nvPr/>
        </p:nvSpPr>
        <p:spPr>
          <a:xfrm>
            <a:off x="319464" y="5292073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5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Convert the post-burn-in elements of the chain to an ‘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mcmc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object and obtain basic summary statistics.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9DD0884-4092-615A-8ADE-07D1061A7AAA}"/>
              </a:ext>
            </a:extLst>
          </p:cNvPr>
          <p:cNvSpPr txBox="1">
            <a:spLocks/>
          </p:cNvSpPr>
          <p:nvPr/>
        </p:nvSpPr>
        <p:spPr>
          <a:xfrm>
            <a:off x="7124097" y="5655498"/>
            <a:ext cx="4695825" cy="8799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and 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can be calculated analytically as...</a:t>
            </a:r>
            <a:b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 1.875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Var[X]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 0.684375  =&gt; 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SD[X]</a:t>
            </a:r>
            <a:r>
              <a:rPr kumimoji="1" lang="en-US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0.8273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DF80F855-3915-BE8F-707C-EB0FAAFA7968}"/>
              </a:ext>
            </a:extLst>
          </p:cNvPr>
          <p:cNvSpPr/>
          <p:nvPr/>
        </p:nvSpPr>
        <p:spPr>
          <a:xfrm>
            <a:off x="6786390" y="5655498"/>
            <a:ext cx="222669" cy="8186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E7E9C4C-94E5-5ECA-D479-E25A8FE17D0B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3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3C8A6-47D9-748E-0835-C0EE68CC978E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2237EC-6595-EBEE-9C94-B715FA1A2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365" y="5634503"/>
            <a:ext cx="47720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6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9" grpId="0"/>
      <p:bldP spid="22" grpId="0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2F8EDC9-C63F-0C32-9DB6-786019F7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210" y="1266711"/>
            <a:ext cx="5343984" cy="3148883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9512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6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a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Time Series Diagnostic test on the post-burn-in elements of the chain and construct the associated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plot.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4 of the code</a:t>
            </a:r>
            <a:endParaRPr kumimoji="1" lang="en-US" altLang="ja-JP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85606A5-C869-3C21-69F8-DC3B5352AC62}"/>
              </a:ext>
            </a:extLst>
          </p:cNvPr>
          <p:cNvSpPr txBox="1">
            <a:spLocks/>
          </p:cNvSpPr>
          <p:nvPr/>
        </p:nvSpPr>
        <p:spPr>
          <a:xfrm>
            <a:off x="543591" y="3035937"/>
            <a:ext cx="4101459" cy="1122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Fraction in 1st window = 0.1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Fraction in 2nd window = 0.5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3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var1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-1.301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B6F19D6-D7F0-5548-B695-17029F10548B}"/>
              </a:ext>
            </a:extLst>
          </p:cNvPr>
          <p:cNvSpPr txBox="1">
            <a:spLocks/>
          </p:cNvSpPr>
          <p:nvPr/>
        </p:nvSpPr>
        <p:spPr>
          <a:xfrm>
            <a:off x="543591" y="1502009"/>
            <a:ext cx="4101459" cy="1348312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# 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4.1a - Performing the 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test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&gt; 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geweke.diag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(post_burn0)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# 4.1b - Creating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plots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&gt; 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geweke.plot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(post_burn0)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1B95095-9653-C88E-3F52-704BD9FCE032}"/>
              </a:ext>
            </a:extLst>
          </p:cNvPr>
          <p:cNvSpPr txBox="1">
            <a:spLocks/>
          </p:cNvSpPr>
          <p:nvPr/>
        </p:nvSpPr>
        <p:spPr>
          <a:xfrm>
            <a:off x="543591" y="4505201"/>
            <a:ext cx="11335725" cy="16774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Z-score for the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diganostic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less than 2 in absolute value.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</a:t>
            </a:r>
            <a:r>
              <a:rPr lang="en-NZ" altLang="ja-JP" sz="15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No e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vidence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against the null hypothesis that the values in the two windows are from the same distribution.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plot function calculates the value of the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Diagnostic with successively more and more points removed from the beginning of the chain. Vast majority of test statistics have z-scores inside the interval [-2,2].</a:t>
            </a:r>
            <a:r>
              <a:rPr kumimoji="1" lang="en-NZ" altLang="ja-JP" sz="15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No evidence that the chain has not converged to the target distribution.</a:t>
            </a: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4D0345F-4F93-FCD2-D57B-C155AF8E1541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3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7D29D9D-2A70-2F15-D1BB-4A5F3ACAE7F6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60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31A2EAF-322E-4262-C54C-5F824A3D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482" y="1425923"/>
            <a:ext cx="5564150" cy="3570534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829806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7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a Gelman &amp; Rubin Multiple Sequence Diagnostic Test using four separate chains with starting values 0, 1, 2 &amp; 3. 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Obtain the associated Gelman &amp; Rubin plot.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5 of the code</a:t>
            </a:r>
            <a:endParaRPr kumimoji="1" lang="en-US" altLang="ja-JP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E2E6EB3-738E-2A42-DDCA-20AD1FE8D35D}"/>
              </a:ext>
            </a:extLst>
          </p:cNvPr>
          <p:cNvSpPr txBox="1">
            <a:spLocks/>
          </p:cNvSpPr>
          <p:nvPr/>
        </p:nvSpPr>
        <p:spPr>
          <a:xfrm>
            <a:off x="643981" y="1705594"/>
            <a:ext cx="4101459" cy="1505596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# 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5.1c - Conducting the Gelman &amp; Rubin multiple sequence diagnostic test</a:t>
            </a:r>
            <a:b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&gt; 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gelman.diag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gel_rub_list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# 5.1d - Producing Gelman-Rubin plot</a:t>
            </a:r>
            <a:b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&gt; 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gelman.plot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gel_rub_list</a:t>
            </a: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88E4212-4AFF-CAC9-E885-5111057AC6D6}"/>
              </a:ext>
            </a:extLst>
          </p:cNvPr>
          <p:cNvSpPr txBox="1">
            <a:spLocks/>
          </p:cNvSpPr>
          <p:nvPr/>
        </p:nvSpPr>
        <p:spPr>
          <a:xfrm>
            <a:off x="643981" y="3429000"/>
            <a:ext cx="4101459" cy="1122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Potential scale reduction factors: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3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Point est. 	Upper C.I.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1 	1.01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EA19880-178C-69C0-A5E7-D239C15B8D87}"/>
              </a:ext>
            </a:extLst>
          </p:cNvPr>
          <p:cNvSpPr txBox="1">
            <a:spLocks/>
          </p:cNvSpPr>
          <p:nvPr/>
        </p:nvSpPr>
        <p:spPr>
          <a:xfrm>
            <a:off x="643981" y="4875726"/>
            <a:ext cx="6605118" cy="6567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Both the point and upper estimate of the PSRF are less than 1.2. </a:t>
            </a:r>
            <a:b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No evidence that the chain has not converged to the target distribution.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D51143B-DFD9-3965-9BE7-C1E64D6E95F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3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0439E-5149-A548-84A2-FDEDA7184541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65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15AD50-D66D-7CA7-A9D5-C9D3F641FA2D}"/>
              </a:ext>
            </a:extLst>
          </p:cNvPr>
          <p:cNvSpPr txBox="1">
            <a:spLocks/>
          </p:cNvSpPr>
          <p:nvPr/>
        </p:nvSpPr>
        <p:spPr>
          <a:xfrm>
            <a:off x="319464" y="829806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8"/>
              <a:tabLst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Perform the Heidelberger &amp; Welch Diagnostic test for convergence.</a:t>
            </a: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4002CC9-A1B9-A19F-D465-70D89300C5DB}"/>
              </a:ext>
            </a:extLst>
          </p:cNvPr>
          <p:cNvSpPr txBox="1">
            <a:spLocks/>
          </p:cNvSpPr>
          <p:nvPr/>
        </p:nvSpPr>
        <p:spPr>
          <a:xfrm>
            <a:off x="4745440" y="451264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6 of the code</a:t>
            </a:r>
            <a:endParaRPr kumimoji="1" lang="en-US" altLang="ja-JP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B8993B0-DEE4-ED2A-8E51-1E93CDE1AB7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6 - Q1 to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E2E6EB3-738E-2A42-DDCA-20AD1FE8D35D}"/>
              </a:ext>
            </a:extLst>
          </p:cNvPr>
          <p:cNvSpPr txBox="1">
            <a:spLocks/>
          </p:cNvSpPr>
          <p:nvPr/>
        </p:nvSpPr>
        <p:spPr>
          <a:xfrm>
            <a:off x="643981" y="1315312"/>
            <a:ext cx="10516106" cy="1333924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# 6.1a - Converting the original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MH_Output$x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chain to an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mcmc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object (Heidelberger &amp; Welch test must be run on the whole chain)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&gt;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heidelchain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&lt;-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mcmc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MH_Output$x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# 6.1b - Conducting the Heidelberger &amp; Welch diagnostic test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&gt;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heidel.diag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heidelchain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eps = 0.1, </a:t>
            </a:r>
            <a:r>
              <a:rPr kumimoji="1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pvalue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0.05)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EA19880-178C-69C0-A5E7-D239C15B8D87}"/>
              </a:ext>
            </a:extLst>
          </p:cNvPr>
          <p:cNvSpPr txBox="1">
            <a:spLocks/>
          </p:cNvSpPr>
          <p:nvPr/>
        </p:nvSpPr>
        <p:spPr>
          <a:xfrm>
            <a:off x="4852897" y="2827039"/>
            <a:ext cx="6307190" cy="6567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Chain passes both the Stationarity Test and the Halfwidth Test.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No evidence that the chain has not converged to the target distribution.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2FD7016-AC09-B43D-730A-A3092D2805C1}"/>
              </a:ext>
            </a:extLst>
          </p:cNvPr>
          <p:cNvSpPr txBox="1">
            <a:spLocks/>
          </p:cNvSpPr>
          <p:nvPr/>
        </p:nvSpPr>
        <p:spPr>
          <a:xfrm>
            <a:off x="643982" y="2827039"/>
            <a:ext cx="3972086" cy="19437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	</a:t>
            </a:r>
            <a:r>
              <a:rPr kumimoji="1" lang="en-NZ" altLang="ja-JP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Stationarity 	  start     	p-value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   	test         	  iteration       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var1</a:t>
            </a: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	passed       	  1        	0.391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                          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3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   	</a:t>
            </a:r>
            <a:r>
              <a:rPr kumimoji="1" lang="en-NZ" altLang="ja-JP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Halfwidth 	  Mean	Halfwidth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   	test                   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Var1</a:t>
            </a:r>
            <a:r>
              <a:rPr kumimoji="1" lang="en-NZ" altLang="ja-JP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	passed  	  1.85 	0.0364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6D3E57-EE1C-A5FE-1914-06C9CAC57913}"/>
              </a:ext>
            </a:extLst>
          </p:cNvPr>
          <p:cNvSpPr txBox="1">
            <a:spLocks/>
          </p:cNvSpPr>
          <p:nvPr/>
        </p:nvSpPr>
        <p:spPr>
          <a:xfrm>
            <a:off x="319464" y="5006142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9"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Based on the answers to the above</a:t>
            </a:r>
            <a:r>
              <a:rPr lang="en-US" altLang="ja-JP" sz="1500" dirty="0">
                <a:solidFill>
                  <a:srgbClr val="0070C0"/>
                </a:solidFill>
              </a:rPr>
              <a:t>, can we definitively conclude that the chain has converged to its target distribution?</a:t>
            </a: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0D1D9E0-0CBD-B8A7-0295-0557210494B4}"/>
              </a:ext>
            </a:extLst>
          </p:cNvPr>
          <p:cNvSpPr txBox="1">
            <a:spLocks/>
          </p:cNvSpPr>
          <p:nvPr/>
        </p:nvSpPr>
        <p:spPr>
          <a:xfrm>
            <a:off x="643981" y="5362546"/>
            <a:ext cx="10868646" cy="8201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chain passes the </a:t>
            </a:r>
            <a:r>
              <a:rPr kumimoji="1" lang="en-NZ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Diagnostic, the Gelman &amp; Rubin Diagnostic and the Heidelberger &amp; Welch Diagnostic. </a:t>
            </a:r>
            <a:b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exhibits</a:t>
            </a:r>
            <a:r>
              <a:rPr kumimoji="1" lang="en-NZ" altLang="ja-JP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good mixing and there is low correlation between values of the chain for high lag values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  <a:b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However,</a:t>
            </a:r>
            <a:r>
              <a:rPr kumimoji="1" lang="en-NZ" altLang="ja-JP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we still cannot say with 100% certainty that the chain has converged.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3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14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  <p:bldP spid="2" grpId="0" animBg="1"/>
      <p:bldP spid="3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921169"/>
            <a:ext cx="121045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Gibbs Sampling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500" b="1" dirty="0">
                <a:solidFill>
                  <a:srgbClr val="FFC000"/>
                </a:solidFill>
                <a:latin typeface="Calibri" panose="020F0502020204030204"/>
              </a:rPr>
              <a:t>Example on page 79 of the Course Notes</a:t>
            </a:r>
            <a:endParaRPr kumimoji="0" lang="en-NZ" sz="1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873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2D285F1D-A56F-426A-EC94-4C261EAF60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1179326"/>
                <a:ext cx="11417614" cy="92345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NZ" altLang="ja-JP" sz="16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𝚪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kumimoji="1" lang="en-NZ" altLang="ja-JP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𝚪</m:t>
                                    </m:r>
                                    <m:d>
                                      <m:dPr>
                                        <m:ctrlPr>
                                          <a:rPr kumimoji="1" lang="en-NZ" altLang="ja-JP" sz="1600" b="1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𝚪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∉[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</m:m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2D285F1D-A56F-426A-EC94-4C261EAF6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1179326"/>
                <a:ext cx="11417614" cy="923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863647"/>
                <a:ext cx="11417614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random variable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𝑩𝒆𝒕𝒂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𝒂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𝒃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which has the following probability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density function</a:t>
                </a:r>
                <a:endParaRPr kumimoji="1" lang="en-NZ" altLang="ja-JP" sz="160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863647"/>
                <a:ext cx="11417614" cy="365126"/>
              </a:xfrm>
              <a:prstGeom prst="rect">
                <a:avLst/>
              </a:prstGeom>
              <a:blipFill>
                <a:blip r:embed="rId4"/>
                <a:stretch>
                  <a:fillRect l="-267" t="-5000" b="-1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6117A48-6168-3755-5BB0-A572BE720C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2296395"/>
                <a:ext cx="11417614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Also consider the random variable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𝑩𝒊𝒏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which has probability density function</a:t>
                </a: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6117A48-6168-3755-5BB0-A572BE720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2296395"/>
                <a:ext cx="11417614" cy="365126"/>
              </a:xfrm>
              <a:prstGeom prst="rect">
                <a:avLst/>
              </a:prstGeom>
              <a:blipFill>
                <a:blip r:embed="rId5"/>
                <a:stretch>
                  <a:fillRect l="-321" t="-5000" b="-1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8357165E-010B-3B89-5D49-E85AB7902B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2531567"/>
                <a:ext cx="11417614" cy="8149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)=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𝑪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NZ" altLang="ja-JP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8357165E-010B-3B89-5D49-E85AB7902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2531567"/>
                <a:ext cx="11417614" cy="8149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0584F8A-F04E-1190-D1C5-11BC23C51B87}"/>
              </a:ext>
            </a:extLst>
          </p:cNvPr>
          <p:cNvSpPr txBox="1">
            <a:spLocks/>
          </p:cNvSpPr>
          <p:nvPr/>
        </p:nvSpPr>
        <p:spPr>
          <a:xfrm>
            <a:off x="387193" y="3417299"/>
            <a:ext cx="11417614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This gives rise to the joint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8C12FE1-B50E-A335-8CD8-EBFB776196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672165"/>
                <a:ext cx="11417614" cy="8149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)  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 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𝑪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</m:t>
                      </m:r>
                      <m:f>
                        <m:f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num>
                        <m:den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NZ" altLang="ja-JP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den>
                      </m:f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NZ" altLang="ja-JP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8C12FE1-B50E-A335-8CD8-EBFB77619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672165"/>
                <a:ext cx="11417614" cy="8149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D7F3AD17-6254-4489-D756-12D8E278B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4696626"/>
                <a:ext cx="11417614" cy="6120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To derive the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NZ" altLang="ja-JP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NZ" altLang="ja-JP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we pick out all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terms in the joint distribution that involve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treat  all the terms involving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𝒙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as a constant. </a:t>
                </a:r>
                <a: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this way we obtain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D7F3AD17-6254-4489-D756-12D8E278B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4696626"/>
                <a:ext cx="11417614" cy="612025"/>
              </a:xfrm>
              <a:prstGeom prst="rect">
                <a:avLst/>
              </a:prstGeom>
              <a:blipFill>
                <a:blip r:embed="rId8"/>
                <a:stretch>
                  <a:fillRect l="-321" t="-1980" b="-108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6752A30-B37F-C007-5D47-EC16D377F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09" y="5278697"/>
                <a:ext cx="8604407" cy="39997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NZ" altLang="ja-JP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NZ" altLang="ja-JP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1" lang="en-NZ" altLang="ja-JP" sz="160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6752A30-B37F-C007-5D47-EC16D377F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09" y="5278697"/>
                <a:ext cx="8604407" cy="399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C4D61FDF-201A-2ADA-D214-1222D7F7E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93688" y="5164732"/>
                <a:ext cx="2457872" cy="6120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rgbClr val="0070C0"/>
                    </a:solidFill>
                    <a:ea typeface="游ゴシック" panose="020B0400000000000000" pitchFamily="34" charset="-128"/>
                  </a:rPr>
                  <a:t>w</a:t>
                </a:r>
                <a:r>
                  <a:rPr kumimoji="1" lang="en-NZ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here   </a:t>
                </a:r>
                <a:r>
                  <a:rPr kumimoji="1" lang="en-NZ" altLang="ja-JP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3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𝑪</m:t>
                    </m:r>
                    <m:r>
                      <a:rPr kumimoji="1" lang="en-NZ" altLang="ja-JP" sz="13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d>
                      <m:dPr>
                        <m:ctrlPr>
                          <a:rPr lang="en-NZ" altLang="ja-JP" sz="13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3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3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3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mr>
                        </m:m>
                      </m:e>
                    </m:d>
                    <m:r>
                      <a:rPr lang="en-NZ" altLang="ja-JP" sz="13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NZ" altLang="ja-JP" sz="13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altLang="ja-JP" sz="13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num>
                      <m:den>
                        <m:r>
                          <a:rPr lang="en-NZ" altLang="ja-JP" sz="13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𝜞</m:t>
                        </m:r>
                        <m:d>
                          <m:dPr>
                            <m:ctrlP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lang="en-NZ" altLang="ja-JP" sz="13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3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endParaRPr kumimoji="1" lang="en-NZ" altLang="ja-JP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C4D61FDF-201A-2ADA-D214-1222D7F7E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688" y="5164732"/>
                <a:ext cx="2457872" cy="612025"/>
              </a:xfrm>
              <a:prstGeom prst="rect">
                <a:avLst/>
              </a:prstGeom>
              <a:blipFill>
                <a:blip r:embed="rId10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618E7ECD-53DE-DAC1-6DF2-8A1F6C00D9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5757142"/>
                <a:ext cx="11417614" cy="4255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i.e.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𝑩𝒆𝒕𝒂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618E7ECD-53DE-DAC1-6DF2-8A1F6C00D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5757142"/>
                <a:ext cx="11417614" cy="425515"/>
              </a:xfrm>
              <a:prstGeom prst="rect">
                <a:avLst/>
              </a:prstGeom>
              <a:blipFill>
                <a:blip r:embed="rId11"/>
                <a:stretch>
                  <a:fillRect l="-321" t="-42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D0C4C060-FD6D-0BB7-4B61-EFBC55DB8256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691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63647"/>
                <a:ext cx="11708763" cy="954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/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Given that the conditional distributions    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𝑩𝒊𝒏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and    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𝑩𝒆𝒕𝒂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NZ" altLang="ja-JP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</a:t>
                </a:r>
                <a:b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are known and easy to sample from, create </a:t>
                </a:r>
                <a: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 function in R that uses the method of Gibbs sampling to obtain a sequence of observations drawn from the joint probability density function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63647"/>
                <a:ext cx="11708763" cy="954136"/>
              </a:xfrm>
              <a:prstGeom prst="rect">
                <a:avLst/>
              </a:prstGeom>
              <a:blipFill>
                <a:blip r:embed="rId3"/>
                <a:stretch>
                  <a:fillRect l="-260" t="-192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765F948-4494-162F-F403-CB9E101E54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1609637"/>
                <a:ext cx="11417614" cy="8149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)  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 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𝑪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</m:t>
                      </m:r>
                      <m:f>
                        <m:f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num>
                        <m:den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NZ" altLang="ja-JP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den>
                      </m:f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NZ" altLang="ja-JP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NZ" altLang="ja-JP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765F948-4494-162F-F403-CB9E101E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1609637"/>
                <a:ext cx="11417614" cy="814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3">
            <a:extLst>
              <a:ext uri="{FF2B5EF4-FFF2-40B4-BE49-F238E27FC236}">
                <a16:creationId xmlns:a16="http://schemas.microsoft.com/office/drawing/2014/main" id="{39E702AF-2B39-271E-CA08-5B99C7BA4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2680692"/>
            <a:ext cx="5105400" cy="412541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Gibbs_Algorithm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niterations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n, a, b)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84F26B-8EEC-F4E6-0BD1-DDE1DEA66BE2}"/>
              </a:ext>
            </a:extLst>
          </p:cNvPr>
          <p:cNvSpPr txBox="1">
            <a:spLocks/>
          </p:cNvSpPr>
          <p:nvPr/>
        </p:nvSpPr>
        <p:spPr>
          <a:xfrm>
            <a:off x="678342" y="2291860"/>
            <a:ext cx="9655480" cy="412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Your function must contain the following arguments…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6EA7AA56-1A1F-9F26-6122-622B4AD4DE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342" y="3128602"/>
                <a:ext cx="10878352" cy="6487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… where ‘</a:t>
                </a:r>
                <a:r>
                  <a:rPr kumimoji="1" lang="en-NZ" altLang="ja-JP" sz="160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niterations</a:t>
                </a:r>
                <a:r>
                  <a:rPr kumimoji="1" lang="en-NZ" altLang="ja-JP" sz="1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’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the length of the chain to be produced,  </a:t>
                </a:r>
                <a:r>
                  <a:rPr lang="en-NZ" altLang="ja-JP" sz="1600" i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‘n’ </a:t>
                </a:r>
                <a: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the parameter of the binomial distribution and </a:t>
                </a:r>
                <a:r>
                  <a:rPr kumimoji="1" lang="en-NZ" altLang="ja-JP" sz="1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 &amp; b 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are the parameters of the </a:t>
                </a:r>
                <a14:m>
                  <m:oMath xmlns:m="http://schemas.openxmlformats.org/officeDocument/2006/math"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𝐵𝑒𝑡𝑎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𝑎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𝑏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distribution.</a:t>
                </a: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6EA7AA56-1A1F-9F26-6122-622B4AD4D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42" y="3128602"/>
                <a:ext cx="10878352" cy="648755"/>
              </a:xfrm>
              <a:prstGeom prst="rect">
                <a:avLst/>
              </a:prstGeom>
              <a:blipFill>
                <a:blip r:embed="rId5"/>
                <a:stretch>
                  <a:fillRect l="-280" t="-2804" r="-616" b="-93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82F05E8-B026-56E0-C0DB-78516B2E0F6A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890C1D-AF9C-D3AB-9F2E-755BD1DDEF99}"/>
              </a:ext>
            </a:extLst>
          </p:cNvPr>
          <p:cNvSpPr txBox="1">
            <a:spLocks/>
          </p:cNvSpPr>
          <p:nvPr/>
        </p:nvSpPr>
        <p:spPr>
          <a:xfrm>
            <a:off x="734668" y="4109030"/>
            <a:ext cx="2724628" cy="324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1 of the code</a:t>
            </a:r>
            <a:r>
              <a:rPr kumimoji="1" lang="en-NZ" altLang="ja-JP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6523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241207C-69D8-2DAD-B09C-EE4E0575F1A1}"/>
              </a:ext>
            </a:extLst>
          </p:cNvPr>
          <p:cNvSpPr txBox="1">
            <a:spLocks/>
          </p:cNvSpPr>
          <p:nvPr/>
        </p:nvSpPr>
        <p:spPr>
          <a:xfrm>
            <a:off x="319464" y="981320"/>
            <a:ext cx="11708763" cy="341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2"/>
              <a:defRPr/>
            </a:pPr>
            <a:r>
              <a:rPr kumimoji="1" lang="en-NZ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your code with the parameters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1F936F7A-3651-1C10-3DFB-EA5BD32BA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413" y="1370152"/>
            <a:ext cx="6884567" cy="112922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5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Gibbs_Result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Gibbs_Algorithm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niterations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 = 15, a = 3, b = 7)</a:t>
            </a:r>
            <a:endParaRPr lang="en-NZ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3C50B6B1-1D3E-FA4E-F20C-03AF5B1BFC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557014"/>
                <a:ext cx="11708763" cy="80160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3"/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Produce time series plots, autocorrelation plots and histograms of the variables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separately.</a:t>
                </a: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3C50B6B1-1D3E-FA4E-F20C-03AF5B1BF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557014"/>
                <a:ext cx="11708763" cy="801606"/>
              </a:xfrm>
              <a:prstGeom prst="rect">
                <a:avLst/>
              </a:prstGeom>
              <a:blipFill>
                <a:blip r:embed="rId3"/>
                <a:stretch>
                  <a:fillRect l="-260" t="-15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BFF9853-B360-118D-94AC-575C16567608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DC2ADD-B118-1C88-E8E0-FED7E7CDCEA9}"/>
              </a:ext>
            </a:extLst>
          </p:cNvPr>
          <p:cNvSpPr txBox="1">
            <a:spLocks/>
          </p:cNvSpPr>
          <p:nvPr/>
        </p:nvSpPr>
        <p:spPr>
          <a:xfrm>
            <a:off x="580431" y="2767266"/>
            <a:ext cx="4057669" cy="324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2.1a – 2.1b of the code</a:t>
            </a:r>
            <a:r>
              <a:rPr kumimoji="1" lang="en-NZ" altLang="ja-JP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8C55157-3DF5-346B-2AB8-FF00CFBF0A4B}"/>
              </a:ext>
            </a:extLst>
          </p:cNvPr>
          <p:cNvSpPr txBox="1">
            <a:spLocks/>
          </p:cNvSpPr>
          <p:nvPr/>
        </p:nvSpPr>
        <p:spPr>
          <a:xfrm>
            <a:off x="580430" y="4079199"/>
            <a:ext cx="4057669" cy="324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2.1c – 2.1g of the code</a:t>
            </a:r>
            <a:r>
              <a:rPr kumimoji="1" lang="en-NZ" altLang="ja-JP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2479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FC9EBDD-CF24-1232-7CE2-1B70E4F4E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51" y="3822292"/>
            <a:ext cx="8074497" cy="2883418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BFF9853-B360-118D-94AC-575C16567608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6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2BCCD-78FB-6D46-949D-A430C7B96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64" y="1010519"/>
            <a:ext cx="6168789" cy="2691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F1B84-2210-BEB4-CA12-C99F6B0B3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891" y="1022904"/>
            <a:ext cx="5058645" cy="269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4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5765</TotalTime>
  <Words>2312</Words>
  <Application>Microsoft Office PowerPoint</Application>
  <PresentationFormat>Widescreen</PresentationFormat>
  <Paragraphs>208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130</cp:revision>
  <dcterms:created xsi:type="dcterms:W3CDTF">2022-02-19T23:15:01Z</dcterms:created>
  <dcterms:modified xsi:type="dcterms:W3CDTF">2022-10-13T20:34:06Z</dcterms:modified>
</cp:coreProperties>
</file>